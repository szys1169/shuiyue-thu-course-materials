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tif" ContentType="image/tiff"/>
  <Default Extension="vml" ContentType="application/vnd.openxmlformats-officedocument.vmlDrawing"/>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1"/>
  </p:notesMasterIdLst>
  <p:sldIdLst>
    <p:sldId id="285" r:id="rId2"/>
    <p:sldId id="257"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334" r:id="rId18"/>
    <p:sldId id="335" r:id="rId19"/>
    <p:sldId id="336" r:id="rId20"/>
    <p:sldId id="337" r:id="rId21"/>
    <p:sldId id="338" r:id="rId22"/>
    <p:sldId id="339" r:id="rId23"/>
    <p:sldId id="340" r:id="rId24"/>
    <p:sldId id="341" r:id="rId25"/>
    <p:sldId id="342" r:id="rId26"/>
    <p:sldId id="343" r:id="rId27"/>
    <p:sldId id="279" r:id="rId28"/>
    <p:sldId id="280" r:id="rId29"/>
    <p:sldId id="281" r:id="rId30"/>
    <p:sldId id="282" r:id="rId31"/>
    <p:sldId id="283"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9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 Id="rId5" Type="http://schemas.openxmlformats.org/officeDocument/2006/relationships/image" Target="../media/image106.wmf"/><Relationship Id="rId4" Type="http://schemas.openxmlformats.org/officeDocument/2006/relationships/image" Target="../media/image10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9.wmf"/><Relationship Id="rId1" Type="http://schemas.openxmlformats.org/officeDocument/2006/relationships/image" Target="../media/image108.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image" Target="../media/image113.wmf"/><Relationship Id="rId7" Type="http://schemas.openxmlformats.org/officeDocument/2006/relationships/image" Target="../media/image117.wmf"/><Relationship Id="rId2" Type="http://schemas.openxmlformats.org/officeDocument/2006/relationships/image" Target="../media/image112.wmf"/><Relationship Id="rId1" Type="http://schemas.openxmlformats.org/officeDocument/2006/relationships/image" Target="../media/image111.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 Id="rId4" Type="http://schemas.openxmlformats.org/officeDocument/2006/relationships/image" Target="../media/image12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9.wmf"/><Relationship Id="rId1" Type="http://schemas.openxmlformats.org/officeDocument/2006/relationships/image" Target="../media/image128.wmf"/><Relationship Id="rId5" Type="http://schemas.openxmlformats.org/officeDocument/2006/relationships/image" Target="../media/image132.wmf"/><Relationship Id="rId4" Type="http://schemas.openxmlformats.org/officeDocument/2006/relationships/image" Target="../media/image131.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image" Target="../media/image136.wmf"/><Relationship Id="rId7" Type="http://schemas.openxmlformats.org/officeDocument/2006/relationships/image" Target="../media/image140.wmf"/><Relationship Id="rId2" Type="http://schemas.openxmlformats.org/officeDocument/2006/relationships/image" Target="../media/image135.wmf"/><Relationship Id="rId1" Type="http://schemas.openxmlformats.org/officeDocument/2006/relationships/image" Target="../media/image134.wmf"/><Relationship Id="rId6" Type="http://schemas.openxmlformats.org/officeDocument/2006/relationships/image" Target="../media/image139.wmf"/><Relationship Id="rId5" Type="http://schemas.openxmlformats.org/officeDocument/2006/relationships/image" Target="../media/image138.wmf"/><Relationship Id="rId10" Type="http://schemas.openxmlformats.org/officeDocument/2006/relationships/image" Target="../media/image143.wmf"/><Relationship Id="rId4" Type="http://schemas.openxmlformats.org/officeDocument/2006/relationships/image" Target="../media/image137.wmf"/><Relationship Id="rId9" Type="http://schemas.openxmlformats.org/officeDocument/2006/relationships/image" Target="../media/image14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4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49.wmf"/><Relationship Id="rId7" Type="http://schemas.openxmlformats.org/officeDocument/2006/relationships/image" Target="../media/image153.wmf"/><Relationship Id="rId2" Type="http://schemas.openxmlformats.org/officeDocument/2006/relationships/image" Target="../media/image148.wmf"/><Relationship Id="rId1" Type="http://schemas.openxmlformats.org/officeDocument/2006/relationships/image" Target="../media/image147.wmf"/><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 Id="rId5" Type="http://schemas.openxmlformats.org/officeDocument/2006/relationships/image" Target="../media/image169.wmf"/><Relationship Id="rId4" Type="http://schemas.openxmlformats.org/officeDocument/2006/relationships/image" Target="../media/image16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66.wmf"/><Relationship Id="rId1" Type="http://schemas.openxmlformats.org/officeDocument/2006/relationships/image" Target="../media/image16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76.wmf"/><Relationship Id="rId1" Type="http://schemas.openxmlformats.org/officeDocument/2006/relationships/image" Target="../media/image175.wmf"/><Relationship Id="rId5" Type="http://schemas.openxmlformats.org/officeDocument/2006/relationships/image" Target="../media/image178.wmf"/><Relationship Id="rId4" Type="http://schemas.openxmlformats.org/officeDocument/2006/relationships/image" Target="../media/image177.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image" Target="../media/image181.wmf"/><Relationship Id="rId1" Type="http://schemas.openxmlformats.org/officeDocument/2006/relationships/image" Target="../media/image180.wmf"/><Relationship Id="rId6" Type="http://schemas.openxmlformats.org/officeDocument/2006/relationships/image" Target="../media/image183.wmf"/><Relationship Id="rId5" Type="http://schemas.openxmlformats.org/officeDocument/2006/relationships/image" Target="../media/image167.wmf"/><Relationship Id="rId4" Type="http://schemas.openxmlformats.org/officeDocument/2006/relationships/image" Target="../media/image182.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 Id="rId4" Type="http://schemas.openxmlformats.org/officeDocument/2006/relationships/image" Target="../media/image18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97.wmf"/><Relationship Id="rId3" Type="http://schemas.openxmlformats.org/officeDocument/2006/relationships/image" Target="../media/image192.wmf"/><Relationship Id="rId7" Type="http://schemas.openxmlformats.org/officeDocument/2006/relationships/image" Target="../media/image196.wmf"/><Relationship Id="rId2" Type="http://schemas.openxmlformats.org/officeDocument/2006/relationships/image" Target="../media/image191.wmf"/><Relationship Id="rId1" Type="http://schemas.openxmlformats.org/officeDocument/2006/relationships/image" Target="../media/image190.wmf"/><Relationship Id="rId6" Type="http://schemas.openxmlformats.org/officeDocument/2006/relationships/image" Target="../media/image195.wmf"/><Relationship Id="rId5" Type="http://schemas.openxmlformats.org/officeDocument/2006/relationships/image" Target="../media/image194.wmf"/><Relationship Id="rId4" Type="http://schemas.openxmlformats.org/officeDocument/2006/relationships/image" Target="../media/image193.wmf"/><Relationship Id="rId9" Type="http://schemas.openxmlformats.org/officeDocument/2006/relationships/image" Target="../media/image198.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200.wmf"/><Relationship Id="rId7" Type="http://schemas.openxmlformats.org/officeDocument/2006/relationships/image" Target="../media/image204.wmf"/><Relationship Id="rId2" Type="http://schemas.openxmlformats.org/officeDocument/2006/relationships/image" Target="../media/image199.wmf"/><Relationship Id="rId1" Type="http://schemas.openxmlformats.org/officeDocument/2006/relationships/image" Target="../media/image191.wmf"/><Relationship Id="rId6" Type="http://schemas.openxmlformats.org/officeDocument/2006/relationships/image" Target="../media/image203.wmf"/><Relationship Id="rId5" Type="http://schemas.openxmlformats.org/officeDocument/2006/relationships/image" Target="../media/image202.wmf"/><Relationship Id="rId4" Type="http://schemas.openxmlformats.org/officeDocument/2006/relationships/image" Target="../media/image201.wmf"/><Relationship Id="rId9" Type="http://schemas.openxmlformats.org/officeDocument/2006/relationships/image" Target="../media/image206.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19.wmf"/><Relationship Id="rId7" Type="http://schemas.openxmlformats.org/officeDocument/2006/relationships/image" Target="../media/image223.wmf"/><Relationship Id="rId2" Type="http://schemas.openxmlformats.org/officeDocument/2006/relationships/image" Target="../media/image218.wmf"/><Relationship Id="rId1" Type="http://schemas.openxmlformats.org/officeDocument/2006/relationships/image" Target="../media/image217.wmf"/><Relationship Id="rId6" Type="http://schemas.openxmlformats.org/officeDocument/2006/relationships/image" Target="../media/image222.wmf"/><Relationship Id="rId5" Type="http://schemas.openxmlformats.org/officeDocument/2006/relationships/image" Target="../media/image221.wmf"/><Relationship Id="rId4" Type="http://schemas.openxmlformats.org/officeDocument/2006/relationships/image" Target="../media/image220.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31.wmf"/><Relationship Id="rId13" Type="http://schemas.openxmlformats.org/officeDocument/2006/relationships/image" Target="../media/image236.wmf"/><Relationship Id="rId3" Type="http://schemas.openxmlformats.org/officeDocument/2006/relationships/image" Target="../media/image226.wmf"/><Relationship Id="rId7" Type="http://schemas.openxmlformats.org/officeDocument/2006/relationships/image" Target="../media/image230.wmf"/><Relationship Id="rId12" Type="http://schemas.openxmlformats.org/officeDocument/2006/relationships/image" Target="../media/image235.wmf"/><Relationship Id="rId2" Type="http://schemas.openxmlformats.org/officeDocument/2006/relationships/image" Target="../media/image225.wmf"/><Relationship Id="rId16" Type="http://schemas.openxmlformats.org/officeDocument/2006/relationships/image" Target="../media/image217.wmf"/><Relationship Id="rId1" Type="http://schemas.openxmlformats.org/officeDocument/2006/relationships/image" Target="../media/image224.wmf"/><Relationship Id="rId6" Type="http://schemas.openxmlformats.org/officeDocument/2006/relationships/image" Target="../media/image229.wmf"/><Relationship Id="rId11" Type="http://schemas.openxmlformats.org/officeDocument/2006/relationships/image" Target="../media/image234.wmf"/><Relationship Id="rId5" Type="http://schemas.openxmlformats.org/officeDocument/2006/relationships/image" Target="../media/image228.wmf"/><Relationship Id="rId15" Type="http://schemas.openxmlformats.org/officeDocument/2006/relationships/image" Target="../media/image238.wmf"/><Relationship Id="rId10" Type="http://schemas.openxmlformats.org/officeDocument/2006/relationships/image" Target="../media/image233.wmf"/><Relationship Id="rId4" Type="http://schemas.openxmlformats.org/officeDocument/2006/relationships/image" Target="../media/image227.wmf"/><Relationship Id="rId9" Type="http://schemas.openxmlformats.org/officeDocument/2006/relationships/image" Target="../media/image232.wmf"/><Relationship Id="rId14" Type="http://schemas.openxmlformats.org/officeDocument/2006/relationships/image" Target="../media/image237.w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43.wmf"/><Relationship Id="rId3" Type="http://schemas.openxmlformats.org/officeDocument/2006/relationships/image" Target="../media/image235.wmf"/><Relationship Id="rId7" Type="http://schemas.openxmlformats.org/officeDocument/2006/relationships/image" Target="../media/image242.wmf"/><Relationship Id="rId12" Type="http://schemas.openxmlformats.org/officeDocument/2006/relationships/image" Target="../media/image247.wmf"/><Relationship Id="rId2" Type="http://schemas.openxmlformats.org/officeDocument/2006/relationships/image" Target="../media/image234.wmf"/><Relationship Id="rId1" Type="http://schemas.openxmlformats.org/officeDocument/2006/relationships/image" Target="../media/image233.wmf"/><Relationship Id="rId6" Type="http://schemas.openxmlformats.org/officeDocument/2006/relationships/image" Target="../media/image241.wmf"/><Relationship Id="rId11" Type="http://schemas.openxmlformats.org/officeDocument/2006/relationships/image" Target="../media/image246.wmf"/><Relationship Id="rId5" Type="http://schemas.openxmlformats.org/officeDocument/2006/relationships/image" Target="../media/image240.wmf"/><Relationship Id="rId10" Type="http://schemas.openxmlformats.org/officeDocument/2006/relationships/image" Target="../media/image245.wmf"/><Relationship Id="rId4" Type="http://schemas.openxmlformats.org/officeDocument/2006/relationships/image" Target="../media/image239.wmf"/><Relationship Id="rId9" Type="http://schemas.openxmlformats.org/officeDocument/2006/relationships/image" Target="../media/image244.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54.wmf"/><Relationship Id="rId13" Type="http://schemas.openxmlformats.org/officeDocument/2006/relationships/image" Target="../media/image259.wmf"/><Relationship Id="rId3" Type="http://schemas.openxmlformats.org/officeDocument/2006/relationships/image" Target="../media/image249.wmf"/><Relationship Id="rId7" Type="http://schemas.openxmlformats.org/officeDocument/2006/relationships/image" Target="../media/image253.wmf"/><Relationship Id="rId12" Type="http://schemas.openxmlformats.org/officeDocument/2006/relationships/image" Target="../media/image258.wmf"/><Relationship Id="rId2" Type="http://schemas.openxmlformats.org/officeDocument/2006/relationships/image" Target="../media/image248.wmf"/><Relationship Id="rId1" Type="http://schemas.openxmlformats.org/officeDocument/2006/relationships/image" Target="../media/image245.wmf"/><Relationship Id="rId6" Type="http://schemas.openxmlformats.org/officeDocument/2006/relationships/image" Target="../media/image252.wmf"/><Relationship Id="rId11" Type="http://schemas.openxmlformats.org/officeDocument/2006/relationships/image" Target="../media/image257.wmf"/><Relationship Id="rId5" Type="http://schemas.openxmlformats.org/officeDocument/2006/relationships/image" Target="../media/image251.wmf"/><Relationship Id="rId10" Type="http://schemas.openxmlformats.org/officeDocument/2006/relationships/image" Target="../media/image256.wmf"/><Relationship Id="rId4" Type="http://schemas.openxmlformats.org/officeDocument/2006/relationships/image" Target="../media/image250.wmf"/><Relationship Id="rId9" Type="http://schemas.openxmlformats.org/officeDocument/2006/relationships/image" Target="../media/image25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261.wmf"/><Relationship Id="rId2" Type="http://schemas.openxmlformats.org/officeDocument/2006/relationships/image" Target="../media/image260.wmf"/><Relationship Id="rId1" Type="http://schemas.openxmlformats.org/officeDocument/2006/relationships/image" Target="../media/image258.wmf"/><Relationship Id="rId4" Type="http://schemas.openxmlformats.org/officeDocument/2006/relationships/image" Target="../media/image26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65.wmf"/><Relationship Id="rId2" Type="http://schemas.openxmlformats.org/officeDocument/2006/relationships/image" Target="../media/image264.wmf"/><Relationship Id="rId1" Type="http://schemas.openxmlformats.org/officeDocument/2006/relationships/image" Target="../media/image235.wmf"/><Relationship Id="rId5" Type="http://schemas.openxmlformats.org/officeDocument/2006/relationships/image" Target="../media/image267.wmf"/><Relationship Id="rId4" Type="http://schemas.openxmlformats.org/officeDocument/2006/relationships/image" Target="../media/image266.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68.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273.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283.wmf"/><Relationship Id="rId1" Type="http://schemas.openxmlformats.org/officeDocument/2006/relationships/image" Target="../media/image28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3866B-B981-4A7B-A5EA-F7F59B2B4637}" type="datetimeFigureOut">
              <a:rPr lang="zh-CN" altLang="en-US" smtClean="0"/>
              <a:t>2023/5/24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9A87DD-E565-4AD2-8052-56B331D7FDDE}" type="slidenum">
              <a:rPr lang="zh-CN" altLang="en-US" smtClean="0"/>
              <a:t>‹#›</a:t>
            </a:fld>
            <a:endParaRPr lang="zh-CN" altLang="en-US"/>
          </a:p>
        </p:txBody>
      </p:sp>
    </p:spTree>
    <p:extLst>
      <p:ext uri="{BB962C8B-B14F-4D97-AF65-F5344CB8AC3E}">
        <p14:creationId xmlns:p14="http://schemas.microsoft.com/office/powerpoint/2010/main" val="2285841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说起</a:t>
            </a:r>
            <a:r>
              <a:rPr lang="en-US" altLang="zh-CN" dirty="0" err="1" smtClean="0"/>
              <a:t>piv</a:t>
            </a:r>
            <a:r>
              <a:rPr lang="zh-CN" altLang="en-US" dirty="0" smtClean="0"/>
              <a:t>，也许大家都觉得这已经是很平常的测试技术而已，但如果认真探究，会发现要用好</a:t>
            </a:r>
            <a:r>
              <a:rPr lang="en-US" altLang="zh-CN" dirty="0" smtClean="0"/>
              <a:t>PIV</a:t>
            </a:r>
            <a:r>
              <a:rPr lang="zh-CN" altLang="en-US" dirty="0" smtClean="0"/>
              <a:t>并不是一件很简单的事。 大家好！我是徐胜金，我今天想针对风洞实验中，特别是低速风洞实验中，</a:t>
            </a:r>
            <a:r>
              <a:rPr lang="en-US" altLang="zh-CN" dirty="0" smtClean="0"/>
              <a:t>PIV</a:t>
            </a:r>
            <a:r>
              <a:rPr lang="zh-CN" altLang="en-US" dirty="0" smtClean="0"/>
              <a:t>测量谈一点自己的看法。</a:t>
            </a:r>
            <a:endParaRPr lang="zh-CN" altLang="en-US" dirty="0"/>
          </a:p>
        </p:txBody>
      </p:sp>
      <p:sp>
        <p:nvSpPr>
          <p:cNvPr id="4" name="灯片编号占位符 3"/>
          <p:cNvSpPr>
            <a:spLocks noGrp="1"/>
          </p:cNvSpPr>
          <p:nvPr>
            <p:ph type="sldNum" sz="quarter" idx="10"/>
          </p:nvPr>
        </p:nvSpPr>
        <p:spPr/>
        <p:txBody>
          <a:bodyPr/>
          <a:lstStyle/>
          <a:p>
            <a:fld id="{13ABBB3C-C6F8-47B6-BB74-30A47253930E}" type="slidenum">
              <a:rPr lang="zh-CN" altLang="en-US" smtClean="0"/>
              <a:t>1</a:t>
            </a:fld>
            <a:endParaRPr lang="zh-CN" altLang="en-US"/>
          </a:p>
        </p:txBody>
      </p:sp>
    </p:spTree>
    <p:extLst>
      <p:ext uri="{BB962C8B-B14F-4D97-AF65-F5344CB8AC3E}">
        <p14:creationId xmlns:p14="http://schemas.microsoft.com/office/powerpoint/2010/main" val="3819472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4F91966-4866-4824-A4CD-83B2F14A9E82}" type="slidenum">
              <a:rPr lang="zh-CN" altLang="en-US" smtClean="0">
                <a:solidFill>
                  <a:prstClr val="black"/>
                </a:solidFill>
              </a:rPr>
              <a:pPr/>
              <a:t>7</a:t>
            </a:fld>
            <a:endParaRPr lang="zh-CN" altLang="en-US">
              <a:solidFill>
                <a:prstClr val="black"/>
              </a:solidFill>
            </a:endParaRPr>
          </a:p>
        </p:txBody>
      </p:sp>
    </p:spTree>
    <p:extLst>
      <p:ext uri="{BB962C8B-B14F-4D97-AF65-F5344CB8AC3E}">
        <p14:creationId xmlns:p14="http://schemas.microsoft.com/office/powerpoint/2010/main" val="4194323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对流场采用</a:t>
            </a:r>
            <a:r>
              <a:rPr lang="en-US" altLang="zh-CN" sz="1200" kern="1200" dirty="0" smtClean="0">
                <a:solidFill>
                  <a:schemeClr val="tx1"/>
                </a:solidFill>
                <a:effectLst/>
                <a:latin typeface="+mn-lt"/>
                <a:ea typeface="+mn-ea"/>
                <a:cs typeface="+mn-cs"/>
              </a:rPr>
              <a:t>POD</a:t>
            </a:r>
            <a:r>
              <a:rPr lang="zh-CN" altLang="zh-CN" sz="1200" kern="1200" dirty="0" smtClean="0">
                <a:solidFill>
                  <a:schemeClr val="tx1"/>
                </a:solidFill>
                <a:effectLst/>
                <a:latin typeface="+mn-lt"/>
                <a:ea typeface="+mn-ea"/>
                <a:cs typeface="+mn-cs"/>
              </a:rPr>
              <a:t>方法进行分解，可以按照能量大小获得流场的流动模态，便于认识流场中的特征结构</a:t>
            </a:r>
            <a:endParaRPr lang="en-US"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A4C1635A-A788-4F22-A835-678959212870}" type="slidenum">
              <a:rPr lang="zh-CN" altLang="en-US" smtClean="0"/>
              <a:t>15</a:t>
            </a:fld>
            <a:endParaRPr lang="zh-CN" altLang="en-US"/>
          </a:p>
        </p:txBody>
      </p:sp>
    </p:spTree>
    <p:extLst>
      <p:ext uri="{BB962C8B-B14F-4D97-AF65-F5344CB8AC3E}">
        <p14:creationId xmlns:p14="http://schemas.microsoft.com/office/powerpoint/2010/main" val="3457162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B01B59-EC22-4220-AAD1-EF50C1861DDA}" type="slidenum">
              <a:rPr lang="zh-CN" altLang="en-US" smtClean="0"/>
              <a:t>17</a:t>
            </a:fld>
            <a:endParaRPr lang="zh-CN" altLang="en-US"/>
          </a:p>
        </p:txBody>
      </p:sp>
    </p:spTree>
    <p:extLst>
      <p:ext uri="{BB962C8B-B14F-4D97-AF65-F5344CB8AC3E}">
        <p14:creationId xmlns:p14="http://schemas.microsoft.com/office/powerpoint/2010/main" val="4240982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EB01B59-EC22-4220-AAD1-EF50C1861DDA}" type="slidenum">
              <a:rPr lang="zh-CN" altLang="en-US" smtClean="0"/>
              <a:t>22</a:t>
            </a:fld>
            <a:endParaRPr lang="zh-CN" altLang="en-US"/>
          </a:p>
        </p:txBody>
      </p:sp>
    </p:spTree>
    <p:extLst>
      <p:ext uri="{BB962C8B-B14F-4D97-AF65-F5344CB8AC3E}">
        <p14:creationId xmlns:p14="http://schemas.microsoft.com/office/powerpoint/2010/main" val="2345426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p:spPr>
        <p:txBody>
          <a:bodyPr/>
          <a:lstStyle/>
          <a:p>
            <a:r>
              <a:rPr lang="en-US" altLang="zh-CN" smtClean="0"/>
              <a:t>STFT</a:t>
            </a:r>
            <a:r>
              <a:rPr lang="zh-CN" altLang="en-US" smtClean="0"/>
              <a:t>可以刻画在时间为</a:t>
            </a:r>
            <a:r>
              <a:rPr lang="en-US" altLang="zh-CN" smtClean="0"/>
              <a:t>tao</a:t>
            </a:r>
            <a:r>
              <a:rPr lang="zh-CN" altLang="en-US" smtClean="0"/>
              <a:t>时频率成分</a:t>
            </a:r>
            <a:r>
              <a:rPr lang="en-US" altLang="zh-CN" smtClean="0"/>
              <a:t>ω</a:t>
            </a:r>
            <a:r>
              <a:rPr lang="zh-CN" altLang="en-US" smtClean="0"/>
              <a:t>的相对含量；</a:t>
            </a:r>
            <a:endParaRPr lang="en-US" altLang="zh-CN" smtClean="0"/>
          </a:p>
          <a:p>
            <a:r>
              <a:rPr lang="en-US" altLang="zh-CN" smtClean="0"/>
              <a:t>STFT</a:t>
            </a:r>
            <a:r>
              <a:rPr lang="zh-CN" altLang="en-US" smtClean="0"/>
              <a:t>的缺点就是时频窗不是自适应的，给定之后无法伸缩变换，影响信号的分辨率</a:t>
            </a:r>
            <a:endParaRPr lang="en-US" altLang="zh-CN" smtClean="0"/>
          </a:p>
          <a:p>
            <a:r>
              <a:rPr lang="zh-CN" altLang="en-US" smtClean="0"/>
              <a:t>小波变换的思想同样是希望用某种基函数去分解表示原始信号，并且能够克服信号非平稳过程</a:t>
            </a:r>
            <a:endParaRPr lang="en-US" altLang="zh-CN" smtClean="0"/>
          </a:p>
          <a:p>
            <a:endParaRPr lang="en-US" altLang="zh-CN" smtClean="0"/>
          </a:p>
        </p:txBody>
      </p:sp>
      <p:sp>
        <p:nvSpPr>
          <p:cNvPr id="4" name="灯片编号占位符 3"/>
          <p:cNvSpPr>
            <a:spLocks noGrp="1"/>
          </p:cNvSpPr>
          <p:nvPr>
            <p:ph type="sldNum" sz="quarter" idx="5"/>
          </p:nvPr>
        </p:nvSpPr>
        <p:spPr/>
        <p:txBody>
          <a:bodyPr/>
          <a:lstStyle/>
          <a:p>
            <a:pPr>
              <a:defRPr/>
            </a:pPr>
            <a:fld id="{EE5E2FD1-3124-40FE-9E22-3CB2BEC4913F}" type="slidenum">
              <a:rPr lang="en-US" altLang="zh-CN" smtClean="0"/>
              <a:pPr>
                <a:defRPr/>
              </a:pPr>
              <a:t>43</a:t>
            </a:fld>
            <a:endParaRPr lang="en-US" altLang="zh-CN"/>
          </a:p>
        </p:txBody>
      </p:sp>
    </p:spTree>
    <p:extLst>
      <p:ext uri="{BB962C8B-B14F-4D97-AF65-F5344CB8AC3E}">
        <p14:creationId xmlns:p14="http://schemas.microsoft.com/office/powerpoint/2010/main" val="465120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p:spPr>
        <p:txBody>
          <a:bodyPr/>
          <a:lstStyle/>
          <a:p>
            <a:r>
              <a:rPr lang="zh-CN" altLang="en-US" smtClean="0"/>
              <a:t>其实就是先用一个时窗最窄，频窗最宽的母小波去量测原始信号，得到一组相似系数，也就是小波系数；</a:t>
            </a:r>
            <a:endParaRPr lang="en-US" altLang="zh-CN" smtClean="0"/>
          </a:p>
          <a:p>
            <a:r>
              <a:rPr lang="zh-CN" altLang="en-US" smtClean="0"/>
              <a:t>再让母小波做伸缩，再进行一次平移相关过程，得到该时窗拉伸后的相似程度的系数，又是一组小波系数；</a:t>
            </a:r>
            <a:endParaRPr lang="en-US" altLang="zh-CN" smtClean="0"/>
          </a:p>
          <a:p>
            <a:r>
              <a:rPr lang="zh-CN" altLang="en-US" smtClean="0"/>
              <a:t>如此不断地操作下去</a:t>
            </a:r>
            <a:endParaRPr lang="en-US" altLang="zh-CN" smtClean="0"/>
          </a:p>
          <a:p>
            <a:endParaRPr lang="en-US" altLang="zh-CN" smtClean="0"/>
          </a:p>
        </p:txBody>
      </p:sp>
      <p:sp>
        <p:nvSpPr>
          <p:cNvPr id="4" name="灯片编号占位符 3"/>
          <p:cNvSpPr>
            <a:spLocks noGrp="1"/>
          </p:cNvSpPr>
          <p:nvPr>
            <p:ph type="sldNum" sz="quarter" idx="5"/>
          </p:nvPr>
        </p:nvSpPr>
        <p:spPr/>
        <p:txBody>
          <a:bodyPr/>
          <a:lstStyle/>
          <a:p>
            <a:pPr>
              <a:defRPr/>
            </a:pPr>
            <a:fld id="{C3EB5B15-F900-49C3-B461-CDC13F6D21F4}" type="slidenum">
              <a:rPr lang="en-US" altLang="zh-CN" smtClean="0"/>
              <a:pPr>
                <a:defRPr/>
              </a:pPr>
              <a:t>45</a:t>
            </a:fld>
            <a:endParaRPr lang="en-US" altLang="zh-CN"/>
          </a:p>
        </p:txBody>
      </p:sp>
    </p:spTree>
    <p:extLst>
      <p:ext uri="{BB962C8B-B14F-4D97-AF65-F5344CB8AC3E}">
        <p14:creationId xmlns:p14="http://schemas.microsoft.com/office/powerpoint/2010/main" val="3287571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p:spPr>
        <p:txBody>
          <a:bodyPr/>
          <a:lstStyle/>
          <a:p>
            <a:r>
              <a:rPr lang="zh-CN" altLang="en-US" b="1" smtClean="0">
                <a:ea typeface="微软雅黑" panose="020B0503020204020204" pitchFamily="34" charset="-122"/>
              </a:rPr>
              <a:t>序列时间间隔</a:t>
            </a:r>
            <a:r>
              <a:rPr lang="en-US" altLang="zh-CN" b="1" smtClean="0">
                <a:ea typeface="微软雅黑" panose="020B0503020204020204" pitchFamily="34" charset="-122"/>
              </a:rPr>
              <a:t>(</a:t>
            </a:r>
            <a:r>
              <a:rPr lang="zh-CN" altLang="en-US" b="1" smtClean="0">
                <a:ea typeface="微软雅黑" panose="020B0503020204020204" pitchFamily="34" charset="-122"/>
              </a:rPr>
              <a:t>采样频率</a:t>
            </a:r>
            <a:r>
              <a:rPr lang="en-US" altLang="zh-CN" b="1" smtClean="0">
                <a:ea typeface="微软雅黑" panose="020B0503020204020204" pitchFamily="34" charset="-122"/>
              </a:rPr>
              <a:t>)</a:t>
            </a:r>
            <a:r>
              <a:rPr lang="zh-CN" altLang="en-US" b="1" smtClean="0">
                <a:ea typeface="微软雅黑" panose="020B0503020204020204" pitchFamily="34" charset="-122"/>
              </a:rPr>
              <a:t>决定了</a:t>
            </a:r>
            <a:r>
              <a:rPr lang="en-US" altLang="zh-CN" b="1" smtClean="0">
                <a:ea typeface="微软雅黑" panose="020B0503020204020204" pitchFamily="34" charset="-122"/>
              </a:rPr>
              <a:t>DMD</a:t>
            </a:r>
            <a:r>
              <a:rPr lang="zh-CN" altLang="en-US" b="1" smtClean="0">
                <a:ea typeface="微软雅黑" panose="020B0503020204020204" pitchFamily="34" charset="-122"/>
              </a:rPr>
              <a:t>的频率抽取能力，一般采样频率</a:t>
            </a:r>
            <a:r>
              <a:rPr lang="en-US" altLang="zh-CN" b="1" smtClean="0">
                <a:ea typeface="微软雅黑" panose="020B0503020204020204" pitchFamily="34" charset="-122"/>
              </a:rPr>
              <a:t>&gt;6</a:t>
            </a:r>
            <a:r>
              <a:rPr lang="zh-CN" altLang="en-US" b="1" smtClean="0">
                <a:ea typeface="微软雅黑" panose="020B0503020204020204" pitchFamily="34" charset="-122"/>
              </a:rPr>
              <a:t>流场特征目标频率</a:t>
            </a:r>
            <a:r>
              <a:rPr lang="en-US" altLang="zh-CN" b="1" smtClean="0">
                <a:ea typeface="微软雅黑" panose="020B0503020204020204" pitchFamily="34" charset="-122"/>
              </a:rPr>
              <a:t>(Schmid, 2010)</a:t>
            </a:r>
            <a:r>
              <a:rPr lang="zh-CN" altLang="en-US" b="1" smtClean="0">
                <a:ea typeface="微软雅黑" panose="020B0503020204020204" pitchFamily="34" charset="-122"/>
              </a:rPr>
              <a:t>，总序列时长决定了抽取的最低频率</a:t>
            </a:r>
            <a:endParaRPr lang="en-US" altLang="zh-CN" b="1" smtClean="0">
              <a:ea typeface="微软雅黑" panose="020B0503020204020204" pitchFamily="34" charset="-122"/>
            </a:endParaRPr>
          </a:p>
          <a:p>
            <a:endParaRPr lang="en-US" altLang="zh-CN" smtClean="0"/>
          </a:p>
        </p:txBody>
      </p:sp>
      <p:sp>
        <p:nvSpPr>
          <p:cNvPr id="4" name="灯片编号占位符 3"/>
          <p:cNvSpPr>
            <a:spLocks noGrp="1"/>
          </p:cNvSpPr>
          <p:nvPr>
            <p:ph type="sldNum" sz="quarter" idx="5"/>
          </p:nvPr>
        </p:nvSpPr>
        <p:spPr/>
        <p:txBody>
          <a:bodyPr/>
          <a:lstStyle/>
          <a:p>
            <a:pPr>
              <a:defRPr/>
            </a:pPr>
            <a:fld id="{1D4CAC8E-88ED-4008-BAEA-110FD563A41E}" type="slidenum">
              <a:rPr lang="en-US" altLang="zh-CN" smtClean="0"/>
              <a:pPr>
                <a:defRPr/>
              </a:pPr>
              <a:t>59</a:t>
            </a:fld>
            <a:endParaRPr lang="en-US" altLang="zh-CN"/>
          </a:p>
        </p:txBody>
      </p:sp>
    </p:spTree>
    <p:extLst>
      <p:ext uri="{BB962C8B-B14F-4D97-AF65-F5344CB8AC3E}">
        <p14:creationId xmlns:p14="http://schemas.microsoft.com/office/powerpoint/2010/main" val="340469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p:spPr>
        <p:txBody>
          <a:bodyPr/>
          <a:lstStyle/>
          <a:p>
            <a:r>
              <a:rPr lang="zh-CN" altLang="en-US" dirty="0" smtClean="0"/>
              <a:t>参考文献：</a:t>
            </a:r>
            <a:r>
              <a:rPr lang="en-US" altLang="zh-CN" dirty="0" smtClean="0"/>
              <a:t>Symon S, </a:t>
            </a:r>
            <a:r>
              <a:rPr lang="en-US" altLang="zh-CN" dirty="0" err="1" smtClean="0"/>
              <a:t>Dovetta</a:t>
            </a:r>
            <a:r>
              <a:rPr lang="en-US" altLang="zh-CN" dirty="0" smtClean="0"/>
              <a:t> N, McKeon B J, et al. Data assimilation of mean velocity from 2D PIV measurements of flow over an idealized airfoil[J]. Experiments in fluids, 2017, 58(5): 61.</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0048D2A1-40E0-4A92-BE74-CC2E0CB16E07}" type="slidenum">
              <a:rPr lang="en-US" altLang="zh-CN" smtClean="0"/>
              <a:pPr>
                <a:defRPr/>
              </a:pPr>
              <a:t>64</a:t>
            </a:fld>
            <a:endParaRPr lang="en-US" altLang="zh-CN"/>
          </a:p>
        </p:txBody>
      </p:sp>
    </p:spTree>
    <p:extLst>
      <p:ext uri="{BB962C8B-B14F-4D97-AF65-F5344CB8AC3E}">
        <p14:creationId xmlns:p14="http://schemas.microsoft.com/office/powerpoint/2010/main" val="7464196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p:spPr>
        <p:txBody>
          <a:bodyPr/>
          <a:lstStyle/>
          <a:p>
            <a:r>
              <a:rPr lang="zh-CN" altLang="en-US" dirty="0" smtClean="0"/>
              <a:t>参考文献：</a:t>
            </a:r>
            <a:r>
              <a:rPr lang="en-US" altLang="zh-CN" dirty="0" smtClean="0"/>
              <a:t>Deng Z, He C, Wen X, et al. Recovering turbulent flow field from local quantity measurement: turbulence modeling using ensemble-</a:t>
            </a:r>
            <a:r>
              <a:rPr lang="en-US" altLang="zh-CN" dirty="0" err="1" smtClean="0"/>
              <a:t>Kalman</a:t>
            </a:r>
            <a:r>
              <a:rPr lang="en-US" altLang="zh-CN" dirty="0" smtClean="0"/>
              <a:t>-filter-based data assimilation[J]. Journal of Visualization, 2018, 21(6): 1043-1063.</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DCDF3CAF-495C-4572-BC79-232E72B3FC54}" type="slidenum">
              <a:rPr lang="en-US" altLang="zh-CN" smtClean="0"/>
              <a:pPr>
                <a:defRPr/>
              </a:pPr>
              <a:t>65</a:t>
            </a:fld>
            <a:endParaRPr lang="en-US" altLang="zh-CN"/>
          </a:p>
        </p:txBody>
      </p:sp>
    </p:spTree>
    <p:extLst>
      <p:ext uri="{BB962C8B-B14F-4D97-AF65-F5344CB8AC3E}">
        <p14:creationId xmlns:p14="http://schemas.microsoft.com/office/powerpoint/2010/main" val="689994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p:spPr>
        <p:txBody>
          <a:bodyPr/>
          <a:lstStyle/>
          <a:p>
            <a:r>
              <a:rPr lang="zh-CN" altLang="en-US" dirty="0" smtClean="0"/>
              <a:t>参考文献：</a:t>
            </a:r>
            <a:r>
              <a:rPr lang="en-US" altLang="zh-CN" dirty="0" smtClean="0"/>
              <a:t>Deng Z, He C, Wen X, et al. Recovering turbulent flow field from local quantity measurement: turbulence modeling using ensemble-</a:t>
            </a:r>
            <a:r>
              <a:rPr lang="en-US" altLang="zh-CN" dirty="0" err="1" smtClean="0"/>
              <a:t>Kalman</a:t>
            </a:r>
            <a:r>
              <a:rPr lang="en-US" altLang="zh-CN" dirty="0" smtClean="0"/>
              <a:t>-filter-based data assimilation[J]. Journal of Visualization, 2018, 21(6): 1043-1063.</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DCDF3CAF-495C-4572-BC79-232E72B3FC54}" type="slidenum">
              <a:rPr lang="en-US" altLang="zh-CN" smtClean="0"/>
              <a:pPr>
                <a:defRPr/>
              </a:pPr>
              <a:t>66</a:t>
            </a:fld>
            <a:endParaRPr lang="en-US" altLang="zh-CN"/>
          </a:p>
        </p:txBody>
      </p:sp>
    </p:spTree>
    <p:extLst>
      <p:ext uri="{BB962C8B-B14F-4D97-AF65-F5344CB8AC3E}">
        <p14:creationId xmlns:p14="http://schemas.microsoft.com/office/powerpoint/2010/main" val="623947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p:spPr>
        <p:txBody>
          <a:bodyPr/>
          <a:lstStyle/>
          <a:p>
            <a:r>
              <a:rPr lang="zh-CN" altLang="en-US" dirty="0" smtClean="0"/>
              <a:t>参考文献：</a:t>
            </a:r>
            <a:r>
              <a:rPr lang="en-US" altLang="zh-CN" dirty="0" smtClean="0"/>
              <a:t>Deng Z, He C, Wen X, et al. Recovering turbulent flow field from local quantity measurement: turbulence modeling using ensemble-</a:t>
            </a:r>
            <a:r>
              <a:rPr lang="en-US" altLang="zh-CN" dirty="0" err="1" smtClean="0"/>
              <a:t>Kalman</a:t>
            </a:r>
            <a:r>
              <a:rPr lang="en-US" altLang="zh-CN" dirty="0" smtClean="0"/>
              <a:t>-filter-based data assimilation[J]. Journal of Visualization, 2018, 21(6): 1043-1063.</a:t>
            </a:r>
          </a:p>
          <a:p>
            <a:r>
              <a:rPr lang="zh-CN" altLang="en-US" dirty="0" smtClean="0"/>
              <a:t>优化参数没有普适性是最大的缺点</a:t>
            </a:r>
          </a:p>
          <a:p>
            <a:endParaRPr lang="en-US" altLang="zh-CN" dirty="0" smtClean="0"/>
          </a:p>
        </p:txBody>
      </p:sp>
      <p:sp>
        <p:nvSpPr>
          <p:cNvPr id="4" name="灯片编号占位符 3"/>
          <p:cNvSpPr>
            <a:spLocks noGrp="1"/>
          </p:cNvSpPr>
          <p:nvPr>
            <p:ph type="sldNum" sz="quarter" idx="5"/>
          </p:nvPr>
        </p:nvSpPr>
        <p:spPr/>
        <p:txBody>
          <a:bodyPr/>
          <a:lstStyle/>
          <a:p>
            <a:pPr>
              <a:defRPr/>
            </a:pPr>
            <a:fld id="{DCDF3CAF-495C-4572-BC79-232E72B3FC54}" type="slidenum">
              <a:rPr lang="en-US" altLang="zh-CN" smtClean="0"/>
              <a:pPr>
                <a:defRPr/>
              </a:pPr>
              <a:t>67</a:t>
            </a:fld>
            <a:endParaRPr lang="en-US" altLang="zh-CN"/>
          </a:p>
        </p:txBody>
      </p:sp>
    </p:spTree>
    <p:extLst>
      <p:ext uri="{BB962C8B-B14F-4D97-AF65-F5344CB8AC3E}">
        <p14:creationId xmlns:p14="http://schemas.microsoft.com/office/powerpoint/2010/main" val="3622679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p:spPr>
        <p:txBody>
          <a:bodyPr/>
          <a:lstStyle/>
          <a:p>
            <a:r>
              <a:rPr lang="en-US" altLang="zh-CN" dirty="0" smtClean="0"/>
              <a:t>He C, Liu Y, </a:t>
            </a:r>
            <a:r>
              <a:rPr lang="en-US" altLang="zh-CN" dirty="0" err="1" smtClean="0"/>
              <a:t>Gan</a:t>
            </a:r>
            <a:r>
              <a:rPr lang="en-US" altLang="zh-CN" dirty="0" smtClean="0"/>
              <a:t> L. A data assimilation model for turbulent flows using continuous </a:t>
            </a:r>
            <a:r>
              <a:rPr lang="en-US" altLang="zh-CN" dirty="0" err="1" smtClean="0"/>
              <a:t>adjoint</a:t>
            </a:r>
            <a:r>
              <a:rPr lang="en-US" altLang="zh-CN" dirty="0" smtClean="0"/>
              <a:t> formulation[J]. Physics of Fluids, 2018, 30(10): 105108.</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78FF76C1-DCAE-447C-9492-D7CCC673D682}" type="slidenum">
              <a:rPr lang="en-US" altLang="zh-CN" smtClean="0"/>
              <a:pPr>
                <a:defRPr/>
              </a:pPr>
              <a:t>68</a:t>
            </a:fld>
            <a:endParaRPr lang="en-US" altLang="zh-CN"/>
          </a:p>
        </p:txBody>
      </p:sp>
    </p:spTree>
    <p:extLst>
      <p:ext uri="{BB962C8B-B14F-4D97-AF65-F5344CB8AC3E}">
        <p14:creationId xmlns:p14="http://schemas.microsoft.com/office/powerpoint/2010/main" val="1860635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p:spPr>
        <p:txBody>
          <a:bodyPr/>
          <a:lstStyle/>
          <a:p>
            <a:r>
              <a:rPr lang="zh-CN" altLang="en-US" dirty="0" smtClean="0"/>
              <a:t>参考文献：</a:t>
            </a:r>
            <a:r>
              <a:rPr lang="en-US" altLang="zh-CN" dirty="0" smtClean="0"/>
              <a:t>Li Z, Zhang H, Bailey S C </a:t>
            </a:r>
            <a:r>
              <a:rPr lang="en-US" altLang="zh-CN" dirty="0" err="1" smtClean="0"/>
              <a:t>C</a:t>
            </a:r>
            <a:r>
              <a:rPr lang="en-US" altLang="zh-CN" dirty="0" smtClean="0"/>
              <a:t>, et al. A data-driven adaptive Reynolds-averaged </a:t>
            </a:r>
            <a:r>
              <a:rPr lang="en-US" altLang="zh-CN" dirty="0" err="1" smtClean="0"/>
              <a:t>Navier</a:t>
            </a:r>
            <a:r>
              <a:rPr lang="en-US" altLang="zh-CN" dirty="0" smtClean="0"/>
              <a:t>–Stokes k–</a:t>
            </a:r>
            <a:r>
              <a:rPr lang="el-GR" altLang="zh-CN" dirty="0" smtClean="0"/>
              <a:t>ω </a:t>
            </a:r>
            <a:r>
              <a:rPr lang="en-US" altLang="zh-CN" dirty="0" smtClean="0"/>
              <a:t>model for turbulent flow[J]. Journal of Computational Physics, 2017, 345: 111-131.</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A4255EB1-5640-43AC-872C-41AA3C13D2D1}" type="slidenum">
              <a:rPr lang="en-US" altLang="zh-CN" smtClean="0"/>
              <a:pPr>
                <a:defRPr/>
              </a:pPr>
              <a:t>69</a:t>
            </a:fld>
            <a:endParaRPr lang="en-US" altLang="zh-CN"/>
          </a:p>
        </p:txBody>
      </p:sp>
    </p:spTree>
    <p:extLst>
      <p:ext uri="{BB962C8B-B14F-4D97-AF65-F5344CB8AC3E}">
        <p14:creationId xmlns:p14="http://schemas.microsoft.com/office/powerpoint/2010/main" val="5745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p:spPr>
        <p:txBody>
          <a:bodyPr/>
          <a:lstStyle/>
          <a:p>
            <a:r>
              <a:rPr lang="zh-CN" altLang="en-US" dirty="0" smtClean="0"/>
              <a:t>参考文献：</a:t>
            </a:r>
            <a:r>
              <a:rPr lang="en-US" altLang="zh-CN" dirty="0" smtClean="0"/>
              <a:t>Li Z, Zhang H, Bailey S C </a:t>
            </a:r>
            <a:r>
              <a:rPr lang="en-US" altLang="zh-CN" dirty="0" err="1" smtClean="0"/>
              <a:t>C</a:t>
            </a:r>
            <a:r>
              <a:rPr lang="en-US" altLang="zh-CN" dirty="0" smtClean="0"/>
              <a:t>, et al. A data-driven adaptive Reynolds-averaged </a:t>
            </a:r>
            <a:r>
              <a:rPr lang="en-US" altLang="zh-CN" dirty="0" err="1" smtClean="0"/>
              <a:t>Navier</a:t>
            </a:r>
            <a:r>
              <a:rPr lang="en-US" altLang="zh-CN" dirty="0" smtClean="0"/>
              <a:t>–Stokes k–</a:t>
            </a:r>
            <a:r>
              <a:rPr lang="el-GR" altLang="zh-CN" dirty="0" smtClean="0"/>
              <a:t>ω </a:t>
            </a:r>
            <a:r>
              <a:rPr lang="en-US" altLang="zh-CN" dirty="0" smtClean="0"/>
              <a:t>model for turbulent flow[J]. Journal of Computational Physics, 2017, 345: 111-131.</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A4255EB1-5640-43AC-872C-41AA3C13D2D1}" type="slidenum">
              <a:rPr lang="en-US" altLang="zh-CN" smtClean="0"/>
              <a:pPr>
                <a:defRPr/>
              </a:pPr>
              <a:t>70</a:t>
            </a:fld>
            <a:endParaRPr lang="en-US" altLang="zh-CN"/>
          </a:p>
        </p:txBody>
      </p:sp>
    </p:spTree>
    <p:extLst>
      <p:ext uri="{BB962C8B-B14F-4D97-AF65-F5344CB8AC3E}">
        <p14:creationId xmlns:p14="http://schemas.microsoft.com/office/powerpoint/2010/main" val="3819213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p:spPr>
        <p:txBody>
          <a:bodyPr/>
          <a:lstStyle/>
          <a:p>
            <a:r>
              <a:rPr lang="zh-CN" altLang="en-US" dirty="0" smtClean="0"/>
              <a:t>参考文献：</a:t>
            </a:r>
            <a:r>
              <a:rPr lang="en-US" altLang="zh-CN" dirty="0" smtClean="0"/>
              <a:t>Li Z, Zhang H, Bailey S C </a:t>
            </a:r>
            <a:r>
              <a:rPr lang="en-US" altLang="zh-CN" dirty="0" err="1" smtClean="0"/>
              <a:t>C</a:t>
            </a:r>
            <a:r>
              <a:rPr lang="en-US" altLang="zh-CN" dirty="0" smtClean="0"/>
              <a:t>, et al. A data-driven adaptive Reynolds-averaged </a:t>
            </a:r>
            <a:r>
              <a:rPr lang="en-US" altLang="zh-CN" dirty="0" err="1" smtClean="0"/>
              <a:t>Navier</a:t>
            </a:r>
            <a:r>
              <a:rPr lang="en-US" altLang="zh-CN" dirty="0" smtClean="0"/>
              <a:t>–Stokes k–</a:t>
            </a:r>
            <a:r>
              <a:rPr lang="el-GR" altLang="zh-CN" dirty="0" smtClean="0"/>
              <a:t>ω </a:t>
            </a:r>
            <a:r>
              <a:rPr lang="en-US" altLang="zh-CN" dirty="0" smtClean="0"/>
              <a:t>model for turbulent flow[J]. Journal of Computational Physics, 2017, 345: 111-131.</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A4255EB1-5640-43AC-872C-41AA3C13D2D1}" type="slidenum">
              <a:rPr lang="en-US" altLang="zh-CN" smtClean="0"/>
              <a:pPr>
                <a:defRPr/>
              </a:pPr>
              <a:t>71</a:t>
            </a:fld>
            <a:endParaRPr lang="en-US" altLang="zh-CN"/>
          </a:p>
        </p:txBody>
      </p:sp>
    </p:spTree>
    <p:extLst>
      <p:ext uri="{BB962C8B-B14F-4D97-AF65-F5344CB8AC3E}">
        <p14:creationId xmlns:p14="http://schemas.microsoft.com/office/powerpoint/2010/main" val="1703791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p:spPr>
        <p:txBody>
          <a:bodyPr/>
          <a:lstStyle/>
          <a:p>
            <a:r>
              <a:rPr lang="en-US" altLang="zh-CN" dirty="0" err="1" smtClean="0"/>
              <a:t>Brunton</a:t>
            </a:r>
            <a:r>
              <a:rPr lang="en-US" altLang="zh-CN" dirty="0" smtClean="0"/>
              <a:t> S, </a:t>
            </a:r>
            <a:r>
              <a:rPr lang="en-US" altLang="zh-CN" dirty="0" err="1" smtClean="0"/>
              <a:t>Noack</a:t>
            </a:r>
            <a:r>
              <a:rPr lang="en-US" altLang="zh-CN" dirty="0" smtClean="0"/>
              <a:t> B, </a:t>
            </a:r>
            <a:r>
              <a:rPr lang="en-US" altLang="zh-CN" dirty="0" err="1" smtClean="0"/>
              <a:t>Koumoutsakos</a:t>
            </a:r>
            <a:r>
              <a:rPr lang="en-US" altLang="zh-CN" dirty="0" smtClean="0"/>
              <a:t> P. Machine learning for fluid mechanics[J]. </a:t>
            </a:r>
            <a:r>
              <a:rPr lang="en-US" altLang="zh-CN" dirty="0" err="1" smtClean="0"/>
              <a:t>arXiv</a:t>
            </a:r>
            <a:r>
              <a:rPr lang="en-US" altLang="zh-CN" dirty="0" smtClean="0"/>
              <a:t> preprint arXiv:1905.11075, 2019.</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5EA5B7B5-9395-4197-8464-BED7074F8528}" type="slidenum">
              <a:rPr lang="en-US" altLang="zh-CN" smtClean="0"/>
              <a:pPr>
                <a:defRPr/>
              </a:pPr>
              <a:t>74</a:t>
            </a:fld>
            <a:endParaRPr lang="en-US" altLang="zh-CN"/>
          </a:p>
        </p:txBody>
      </p:sp>
    </p:spTree>
    <p:extLst>
      <p:ext uri="{BB962C8B-B14F-4D97-AF65-F5344CB8AC3E}">
        <p14:creationId xmlns:p14="http://schemas.microsoft.com/office/powerpoint/2010/main" val="4189345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noFill/>
        </p:spPr>
        <p:txBody>
          <a:bodyPr/>
          <a:lstStyle/>
          <a:p>
            <a:r>
              <a:rPr lang="en-US" altLang="zh-CN" dirty="0" smtClean="0"/>
              <a:t>Milano M, </a:t>
            </a:r>
            <a:r>
              <a:rPr lang="en-US" altLang="zh-CN" dirty="0" err="1" smtClean="0"/>
              <a:t>Koumoutsakos</a:t>
            </a:r>
            <a:r>
              <a:rPr lang="en-US" altLang="zh-CN" dirty="0" smtClean="0"/>
              <a:t> P. Neural network modeling for near wall turbulent flow[J]. Journal of Computational Physics, 2002, 182(1): 1-26.</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AD21D9D1-11A9-481A-82D5-1F5BFE93C1C2}" type="slidenum">
              <a:rPr lang="en-US" altLang="zh-CN" smtClean="0"/>
              <a:pPr>
                <a:defRPr/>
              </a:pPr>
              <a:t>75</a:t>
            </a:fld>
            <a:endParaRPr lang="en-US" altLang="zh-CN"/>
          </a:p>
        </p:txBody>
      </p:sp>
    </p:spTree>
    <p:extLst>
      <p:ext uri="{BB962C8B-B14F-4D97-AF65-F5344CB8AC3E}">
        <p14:creationId xmlns:p14="http://schemas.microsoft.com/office/powerpoint/2010/main" val="3122526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幻灯片图像占位符 1"/>
          <p:cNvSpPr>
            <a:spLocks noGrp="1" noRot="1" noChangeAspect="1" noTextEdit="1"/>
          </p:cNvSpPr>
          <p:nvPr>
            <p:ph type="sldImg"/>
          </p:nvPr>
        </p:nvSpPr>
        <p:spPr>
          <a:ln/>
        </p:spPr>
      </p:sp>
      <p:sp>
        <p:nvSpPr>
          <p:cNvPr id="142339" name="备注占位符 2"/>
          <p:cNvSpPr>
            <a:spLocks noGrp="1"/>
          </p:cNvSpPr>
          <p:nvPr>
            <p:ph type="body" idx="1"/>
          </p:nvPr>
        </p:nvSpPr>
        <p:spPr>
          <a:noFill/>
        </p:spPr>
        <p:txBody>
          <a:bodyPr/>
          <a:lstStyle/>
          <a:p>
            <a:r>
              <a:rPr lang="en-US" altLang="zh-CN" smtClean="0"/>
              <a:t>Lee C, Kim J, Babcock D, et al. Application of neural networks to turbulence control for drag reduction[J]. Physics of Fluids, 1997, 9(6): 1740-1747.</a:t>
            </a:r>
            <a:endParaRPr lang="zh-CN" altLang="en-US" smtClean="0"/>
          </a:p>
          <a:p>
            <a:endParaRPr lang="en-US" altLang="zh-CN" smtClean="0"/>
          </a:p>
        </p:txBody>
      </p:sp>
      <p:sp>
        <p:nvSpPr>
          <p:cNvPr id="4" name="灯片编号占位符 3"/>
          <p:cNvSpPr>
            <a:spLocks noGrp="1"/>
          </p:cNvSpPr>
          <p:nvPr>
            <p:ph type="sldNum" sz="quarter" idx="5"/>
          </p:nvPr>
        </p:nvSpPr>
        <p:spPr/>
        <p:txBody>
          <a:bodyPr/>
          <a:lstStyle/>
          <a:p>
            <a:pPr>
              <a:defRPr/>
            </a:pPr>
            <a:fld id="{34C0E83C-D9E9-4854-B900-D276CAA03BF5}" type="slidenum">
              <a:rPr lang="en-US" altLang="zh-CN" smtClean="0"/>
              <a:pPr>
                <a:defRPr/>
              </a:pPr>
              <a:t>77</a:t>
            </a:fld>
            <a:endParaRPr lang="en-US" altLang="zh-CN"/>
          </a:p>
        </p:txBody>
      </p:sp>
    </p:spTree>
    <p:extLst>
      <p:ext uri="{BB962C8B-B14F-4D97-AF65-F5344CB8AC3E}">
        <p14:creationId xmlns:p14="http://schemas.microsoft.com/office/powerpoint/2010/main" val="3099488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幻灯片图像占位符 1"/>
          <p:cNvSpPr>
            <a:spLocks noGrp="1" noRot="1" noChangeAspect="1" noTextEdit="1"/>
          </p:cNvSpPr>
          <p:nvPr>
            <p:ph type="sldImg"/>
          </p:nvPr>
        </p:nvSpPr>
        <p:spPr>
          <a:ln/>
        </p:spPr>
      </p:sp>
      <p:sp>
        <p:nvSpPr>
          <p:cNvPr id="144387" name="备注占位符 2"/>
          <p:cNvSpPr>
            <a:spLocks noGrp="1"/>
          </p:cNvSpPr>
          <p:nvPr>
            <p:ph type="body" idx="1"/>
          </p:nvPr>
        </p:nvSpPr>
        <p:spPr>
          <a:noFill/>
        </p:spPr>
        <p:txBody>
          <a:bodyPr/>
          <a:lstStyle/>
          <a:p>
            <a:r>
              <a:rPr lang="en-US" altLang="zh-CN" dirty="0" smtClean="0"/>
              <a:t>Kim H J, Jordan M I, </a:t>
            </a:r>
            <a:r>
              <a:rPr lang="en-US" altLang="zh-CN" dirty="0" err="1" smtClean="0"/>
              <a:t>Sastry</a:t>
            </a:r>
            <a:r>
              <a:rPr lang="en-US" altLang="zh-CN" dirty="0" smtClean="0"/>
              <a:t> S, et al. Autonomous helicopter flight via reinforcement learning[C]//Advances in neural information processing systems. 2004: 799-806.</a:t>
            </a:r>
            <a:endParaRPr lang="zh-CN" altLang="en-US" dirty="0" smtClean="0"/>
          </a:p>
          <a:p>
            <a:endParaRPr lang="en-US" altLang="zh-CN" dirty="0" smtClean="0"/>
          </a:p>
        </p:txBody>
      </p:sp>
      <p:sp>
        <p:nvSpPr>
          <p:cNvPr id="4" name="灯片编号占位符 3"/>
          <p:cNvSpPr>
            <a:spLocks noGrp="1"/>
          </p:cNvSpPr>
          <p:nvPr>
            <p:ph type="sldNum" sz="quarter" idx="5"/>
          </p:nvPr>
        </p:nvSpPr>
        <p:spPr/>
        <p:txBody>
          <a:bodyPr/>
          <a:lstStyle/>
          <a:p>
            <a:pPr>
              <a:defRPr/>
            </a:pPr>
            <a:fld id="{7D69C12B-B878-4F67-873F-24EED062E1CC}" type="slidenum">
              <a:rPr lang="en-US" altLang="zh-CN" smtClean="0"/>
              <a:pPr>
                <a:defRPr/>
              </a:pPr>
              <a:t>78</a:t>
            </a:fld>
            <a:endParaRPr lang="en-US" altLang="zh-CN"/>
          </a:p>
        </p:txBody>
      </p:sp>
    </p:spTree>
    <p:extLst>
      <p:ext uri="{BB962C8B-B14F-4D97-AF65-F5344CB8AC3E}">
        <p14:creationId xmlns:p14="http://schemas.microsoft.com/office/powerpoint/2010/main" val="3868738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3834968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3958454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607065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1991108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3292681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756522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385926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2066819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127567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3100776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8101AF4-D4EF-47B5-A652-957FF4091F98}" type="datetimeFigureOut">
              <a:rPr lang="zh-CN" altLang="en-US" smtClean="0"/>
              <a:t>2023/5/24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1358746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01AF4-D4EF-47B5-A652-957FF4091F98}" type="datetimeFigureOut">
              <a:rPr lang="zh-CN" altLang="en-US" smtClean="0"/>
              <a:t>2023/5/24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C67A2-471B-4F35-AE50-A7EC9A86F37C}" type="slidenum">
              <a:rPr lang="zh-CN" altLang="en-US" smtClean="0"/>
              <a:t>‹#›</a:t>
            </a:fld>
            <a:endParaRPr lang="zh-CN" altLang="en-US"/>
          </a:p>
        </p:txBody>
      </p:sp>
    </p:spTree>
    <p:extLst>
      <p:ext uri="{BB962C8B-B14F-4D97-AF65-F5344CB8AC3E}">
        <p14:creationId xmlns:p14="http://schemas.microsoft.com/office/powerpoint/2010/main" val="1476515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ti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tif"/><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5.wmf"/><Relationship Id="rId4" Type="http://schemas.openxmlformats.org/officeDocument/2006/relationships/image" Target="../media/image14.emf"/></Relationships>
</file>

<file path=ppt/slides/_rels/slide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emf"/><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1.emf"/><Relationship Id="rId5" Type="http://schemas.openxmlformats.org/officeDocument/2006/relationships/image" Target="../media/image20.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2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3.png"/><Relationship Id="rId5" Type="http://schemas.openxmlformats.org/officeDocument/2006/relationships/slideLayout" Target="../slideLayouts/slideLayout1.xml"/><Relationship Id="rId4" Type="http://schemas.openxmlformats.org/officeDocument/2006/relationships/video" Target="../media/media2.mp4"/></Relationships>
</file>

<file path=ppt/slides/_rels/slide9.xml.rels><?xml version="1.0" encoding="UTF-8" standalone="yes"?>
<Relationships xmlns="http://schemas.openxmlformats.org/package/2006/relationships"><Relationship Id="rId8" Type="http://schemas.openxmlformats.org/officeDocument/2006/relationships/image" Target="../media/image31.emf"/><Relationship Id="rId3" Type="http://schemas.openxmlformats.org/officeDocument/2006/relationships/image" Target="../media/image26.emf"/><Relationship Id="rId7" Type="http://schemas.openxmlformats.org/officeDocument/2006/relationships/image" Target="../media/image30.emf"/><Relationship Id="rId2" Type="http://schemas.openxmlformats.org/officeDocument/2006/relationships/image" Target="../media/image25.emf"/><Relationship Id="rId1" Type="http://schemas.openxmlformats.org/officeDocument/2006/relationships/slideLayout" Target="../slideLayouts/slideLayout1.xml"/><Relationship Id="rId6" Type="http://schemas.openxmlformats.org/officeDocument/2006/relationships/image" Target="../media/image29.emf"/><Relationship Id="rId5" Type="http://schemas.openxmlformats.org/officeDocument/2006/relationships/image" Target="../media/image28.emf"/><Relationship Id="rId4" Type="http://schemas.openxmlformats.org/officeDocument/2006/relationships/image" Target="../media/image27.emf"/></Relationships>
</file>

<file path=ppt/slides/_rels/slide1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emf"/><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jpe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56.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58.jpeg"/><Relationship Id="rId4" Type="http://schemas.openxmlformats.org/officeDocument/2006/relationships/image" Target="../media/image57.jpeg"/></Relationships>
</file>

<file path=ppt/slides/_rels/slide18.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60.jpe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 Id="rId9" Type="http://schemas.openxmlformats.org/officeDocument/2006/relationships/image" Target="../media/image1670.png"/></Relationships>
</file>

<file path=ppt/slides/_rels/slide19.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image" Target="../media/image65.jpeg"/><Relationship Id="rId7" Type="http://schemas.openxmlformats.org/officeDocument/2006/relationships/image" Target="../media/image69.jpeg"/><Relationship Id="rId2" Type="http://schemas.openxmlformats.org/officeDocument/2006/relationships/image" Target="../media/image64.jpeg"/><Relationship Id="rId1" Type="http://schemas.openxmlformats.org/officeDocument/2006/relationships/slideLayout" Target="../slideLayouts/slideLayout2.xml"/><Relationship Id="rId6" Type="http://schemas.openxmlformats.org/officeDocument/2006/relationships/image" Target="../media/image68.jpeg"/><Relationship Id="rId11" Type="http://schemas.openxmlformats.org/officeDocument/2006/relationships/image" Target="../media/image73.jpeg"/><Relationship Id="rId5" Type="http://schemas.openxmlformats.org/officeDocument/2006/relationships/image" Target="../media/image67.jpeg"/><Relationship Id="rId10" Type="http://schemas.openxmlformats.org/officeDocument/2006/relationships/image" Target="../media/image72.jpeg"/><Relationship Id="rId4" Type="http://schemas.openxmlformats.org/officeDocument/2006/relationships/image" Target="../media/image66.jpeg"/><Relationship Id="rId9" Type="http://schemas.openxmlformats.org/officeDocument/2006/relationships/image" Target="../media/image71.jpeg"/></Relationships>
</file>

<file path=ppt/slides/_rels/slide20.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82.gif"/><Relationship Id="rId3" Type="http://schemas.openxmlformats.org/officeDocument/2006/relationships/image" Target="../media/image77.gif"/><Relationship Id="rId7" Type="http://schemas.openxmlformats.org/officeDocument/2006/relationships/image" Target="../media/image81.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0.gif"/><Relationship Id="rId5" Type="http://schemas.openxmlformats.org/officeDocument/2006/relationships/image" Target="../media/image79.gif"/><Relationship Id="rId4" Type="http://schemas.openxmlformats.org/officeDocument/2006/relationships/image" Target="../media/image78.gif"/></Relationships>
</file>

<file path=ppt/slides/_rels/slide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91.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5" Type="http://schemas.openxmlformats.org/officeDocument/2006/relationships/image" Target="../media/image95.gif"/><Relationship Id="rId4" Type="http://schemas.openxmlformats.org/officeDocument/2006/relationships/image" Target="../media/image94.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01.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00.wmf"/><Relationship Id="rId5" Type="http://schemas.openxmlformats.org/officeDocument/2006/relationships/oleObject" Target="../embeddings/oleObject6.bin"/><Relationship Id="rId4" Type="http://schemas.openxmlformats.org/officeDocument/2006/relationships/image" Target="../media/image99.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06.wmf"/><Relationship Id="rId3" Type="http://schemas.openxmlformats.org/officeDocument/2006/relationships/oleObject" Target="../embeddings/oleObject7.bin"/><Relationship Id="rId7" Type="http://schemas.openxmlformats.org/officeDocument/2006/relationships/image" Target="../media/image103.wmf"/><Relationship Id="rId12"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8.bin"/><Relationship Id="rId11" Type="http://schemas.openxmlformats.org/officeDocument/2006/relationships/image" Target="../media/image105.wmf"/><Relationship Id="rId5" Type="http://schemas.openxmlformats.org/officeDocument/2006/relationships/image" Target="../media/image107.png"/><Relationship Id="rId10" Type="http://schemas.openxmlformats.org/officeDocument/2006/relationships/oleObject" Target="../embeddings/oleObject10.bin"/><Relationship Id="rId4" Type="http://schemas.openxmlformats.org/officeDocument/2006/relationships/image" Target="../media/image102.wmf"/><Relationship Id="rId9" Type="http://schemas.openxmlformats.org/officeDocument/2006/relationships/image" Target="../media/image104.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109.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3.bin"/><Relationship Id="rId5" Type="http://schemas.openxmlformats.org/officeDocument/2006/relationships/image" Target="../media/image110.png"/><Relationship Id="rId4" Type="http://schemas.openxmlformats.org/officeDocument/2006/relationships/image" Target="../media/image108.wmf"/></Relationships>
</file>

<file path=ppt/slides/_rels/slide32.xml.rels><?xml version="1.0" encoding="UTF-8" standalone="yes"?>
<Relationships xmlns="http://schemas.openxmlformats.org/package/2006/relationships"><Relationship Id="rId8" Type="http://schemas.openxmlformats.org/officeDocument/2006/relationships/image" Target="../media/image113.wmf"/><Relationship Id="rId13" Type="http://schemas.openxmlformats.org/officeDocument/2006/relationships/oleObject" Target="../embeddings/oleObject19.bin"/><Relationship Id="rId18" Type="http://schemas.openxmlformats.org/officeDocument/2006/relationships/image" Target="../media/image118.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115.wmf"/><Relationship Id="rId17" Type="http://schemas.openxmlformats.org/officeDocument/2006/relationships/oleObject" Target="../embeddings/oleObject21.bin"/><Relationship Id="rId2" Type="http://schemas.openxmlformats.org/officeDocument/2006/relationships/slideLayout" Target="../slideLayouts/slideLayout2.xml"/><Relationship Id="rId16" Type="http://schemas.openxmlformats.org/officeDocument/2006/relationships/image" Target="../media/image117.wmf"/><Relationship Id="rId1" Type="http://schemas.openxmlformats.org/officeDocument/2006/relationships/vmlDrawing" Target="../drawings/vmlDrawing8.vml"/><Relationship Id="rId6" Type="http://schemas.openxmlformats.org/officeDocument/2006/relationships/image" Target="../media/image112.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114.wmf"/><Relationship Id="rId4" Type="http://schemas.openxmlformats.org/officeDocument/2006/relationships/image" Target="../media/image111.wmf"/><Relationship Id="rId9" Type="http://schemas.openxmlformats.org/officeDocument/2006/relationships/oleObject" Target="../embeddings/oleObject17.bin"/><Relationship Id="rId14" Type="http://schemas.openxmlformats.org/officeDocument/2006/relationships/image" Target="../media/image11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125.png"/><Relationship Id="rId3" Type="http://schemas.openxmlformats.org/officeDocument/2006/relationships/oleObject" Target="../embeddings/oleObject22.bin"/><Relationship Id="rId7" Type="http://schemas.openxmlformats.org/officeDocument/2006/relationships/image" Target="../media/image123.png"/><Relationship Id="rId12" Type="http://schemas.openxmlformats.org/officeDocument/2006/relationships/image" Target="../media/image124.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20.wmf"/><Relationship Id="rId11" Type="http://schemas.openxmlformats.org/officeDocument/2006/relationships/image" Target="../media/image122.wmf"/><Relationship Id="rId5" Type="http://schemas.openxmlformats.org/officeDocument/2006/relationships/oleObject" Target="../embeddings/oleObject23.bin"/><Relationship Id="rId10" Type="http://schemas.openxmlformats.org/officeDocument/2006/relationships/oleObject" Target="../embeddings/oleObject25.bin"/><Relationship Id="rId4" Type="http://schemas.openxmlformats.org/officeDocument/2006/relationships/image" Target="../media/image119.wmf"/><Relationship Id="rId9" Type="http://schemas.openxmlformats.org/officeDocument/2006/relationships/image" Target="../media/image121.wmf"/></Relationships>
</file>

<file path=ppt/slides/_rels/slide34.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126.wmf"/><Relationship Id="rId4" Type="http://schemas.openxmlformats.org/officeDocument/2006/relationships/oleObject" Target="../embeddings/oleObject26.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132.wmf"/><Relationship Id="rId3" Type="http://schemas.openxmlformats.org/officeDocument/2006/relationships/oleObject" Target="../embeddings/oleObject27.bin"/><Relationship Id="rId7" Type="http://schemas.openxmlformats.org/officeDocument/2006/relationships/image" Target="../media/image133.wmf"/><Relationship Id="rId12"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129.wmf"/><Relationship Id="rId11" Type="http://schemas.openxmlformats.org/officeDocument/2006/relationships/image" Target="../media/image131.wmf"/><Relationship Id="rId5" Type="http://schemas.openxmlformats.org/officeDocument/2006/relationships/oleObject" Target="../embeddings/oleObject28.bin"/><Relationship Id="rId10" Type="http://schemas.openxmlformats.org/officeDocument/2006/relationships/oleObject" Target="../embeddings/oleObject30.bin"/><Relationship Id="rId4" Type="http://schemas.openxmlformats.org/officeDocument/2006/relationships/image" Target="../media/image128.wmf"/><Relationship Id="rId9" Type="http://schemas.openxmlformats.org/officeDocument/2006/relationships/image" Target="../media/image130.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image" Target="../media/image138.wmf"/><Relationship Id="rId18" Type="http://schemas.openxmlformats.org/officeDocument/2006/relationships/image" Target="../media/image140.wmf"/><Relationship Id="rId3" Type="http://schemas.openxmlformats.org/officeDocument/2006/relationships/oleObject" Target="../embeddings/oleObject32.bin"/><Relationship Id="rId21" Type="http://schemas.openxmlformats.org/officeDocument/2006/relationships/oleObject" Target="../embeddings/oleObject40.bin"/><Relationship Id="rId7" Type="http://schemas.openxmlformats.org/officeDocument/2006/relationships/image" Target="../media/image144.wmf"/><Relationship Id="rId12" Type="http://schemas.openxmlformats.org/officeDocument/2006/relationships/oleObject" Target="../embeddings/oleObject36.bin"/><Relationship Id="rId17" Type="http://schemas.openxmlformats.org/officeDocument/2006/relationships/oleObject" Target="../embeddings/oleObject38.bin"/><Relationship Id="rId2" Type="http://schemas.openxmlformats.org/officeDocument/2006/relationships/slideLayout" Target="../slideLayouts/slideLayout2.xml"/><Relationship Id="rId16" Type="http://schemas.openxmlformats.org/officeDocument/2006/relationships/image" Target="../media/image139.wmf"/><Relationship Id="rId20" Type="http://schemas.openxmlformats.org/officeDocument/2006/relationships/image" Target="../media/image141.wmf"/><Relationship Id="rId1" Type="http://schemas.openxmlformats.org/officeDocument/2006/relationships/vmlDrawing" Target="../drawings/vmlDrawing12.vml"/><Relationship Id="rId6" Type="http://schemas.openxmlformats.org/officeDocument/2006/relationships/image" Target="../media/image135.wmf"/><Relationship Id="rId11" Type="http://schemas.openxmlformats.org/officeDocument/2006/relationships/image" Target="../media/image137.wmf"/><Relationship Id="rId24" Type="http://schemas.openxmlformats.org/officeDocument/2006/relationships/image" Target="../media/image143.wmf"/><Relationship Id="rId5" Type="http://schemas.openxmlformats.org/officeDocument/2006/relationships/oleObject" Target="../embeddings/oleObject33.bin"/><Relationship Id="rId15" Type="http://schemas.openxmlformats.org/officeDocument/2006/relationships/oleObject" Target="../embeddings/oleObject37.bin"/><Relationship Id="rId23" Type="http://schemas.openxmlformats.org/officeDocument/2006/relationships/oleObject" Target="../embeddings/oleObject41.bin"/><Relationship Id="rId10" Type="http://schemas.openxmlformats.org/officeDocument/2006/relationships/oleObject" Target="../embeddings/oleObject35.bin"/><Relationship Id="rId19" Type="http://schemas.openxmlformats.org/officeDocument/2006/relationships/oleObject" Target="../embeddings/oleObject39.bin"/><Relationship Id="rId4" Type="http://schemas.openxmlformats.org/officeDocument/2006/relationships/image" Target="../media/image134.wmf"/><Relationship Id="rId9" Type="http://schemas.openxmlformats.org/officeDocument/2006/relationships/image" Target="../media/image136.wmf"/><Relationship Id="rId14" Type="http://schemas.openxmlformats.org/officeDocument/2006/relationships/image" Target="../media/image145.png"/><Relationship Id="rId22" Type="http://schemas.openxmlformats.org/officeDocument/2006/relationships/image" Target="../media/image142.wmf"/></Relationships>
</file>

<file path=ppt/slides/_rels/slide37.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46.wmf"/><Relationship Id="rId4" Type="http://schemas.openxmlformats.org/officeDocument/2006/relationships/oleObject" Target="../embeddings/oleObject42.bin"/></Relationships>
</file>

<file path=ppt/slides/_rels/slide38.x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oleObject" Target="../embeddings/oleObject48.bin"/><Relationship Id="rId18" Type="http://schemas.openxmlformats.org/officeDocument/2006/relationships/image" Target="../media/image155.emf"/><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151.wmf"/><Relationship Id="rId17" Type="http://schemas.openxmlformats.org/officeDocument/2006/relationships/image" Target="../media/image153.wmf"/><Relationship Id="rId2" Type="http://schemas.openxmlformats.org/officeDocument/2006/relationships/slideLayout" Target="../slideLayouts/slideLayout2.xml"/><Relationship Id="rId16" Type="http://schemas.openxmlformats.org/officeDocument/2006/relationships/oleObject" Target="../embeddings/oleObject49.bin"/><Relationship Id="rId1" Type="http://schemas.openxmlformats.org/officeDocument/2006/relationships/vmlDrawing" Target="../drawings/vmlDrawing14.vml"/><Relationship Id="rId6" Type="http://schemas.openxmlformats.org/officeDocument/2006/relationships/image" Target="../media/image148.wmf"/><Relationship Id="rId11" Type="http://schemas.openxmlformats.org/officeDocument/2006/relationships/oleObject" Target="../embeddings/oleObject47.bin"/><Relationship Id="rId5" Type="http://schemas.openxmlformats.org/officeDocument/2006/relationships/oleObject" Target="../embeddings/oleObject44.bin"/><Relationship Id="rId15" Type="http://schemas.openxmlformats.org/officeDocument/2006/relationships/image" Target="../media/image154.emf"/><Relationship Id="rId10" Type="http://schemas.openxmlformats.org/officeDocument/2006/relationships/image" Target="../media/image150.wmf"/><Relationship Id="rId4" Type="http://schemas.openxmlformats.org/officeDocument/2006/relationships/image" Target="../media/image147.wmf"/><Relationship Id="rId9" Type="http://schemas.openxmlformats.org/officeDocument/2006/relationships/oleObject" Target="../embeddings/oleObject46.bin"/><Relationship Id="rId14" Type="http://schemas.openxmlformats.org/officeDocument/2006/relationships/image" Target="../media/image152.wmf"/></Relationships>
</file>

<file path=ppt/slides/_rels/slide3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58.gif"/></Relationships>
</file>

<file path=ppt/slides/_rels/slide40.xml.rels><?xml version="1.0" encoding="UTF-8" standalone="yes"?>
<Relationships xmlns="http://schemas.openxmlformats.org/package/2006/relationships"><Relationship Id="rId2" Type="http://schemas.openxmlformats.org/officeDocument/2006/relationships/image" Target="../media/image16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169.wmf"/><Relationship Id="rId3" Type="http://schemas.openxmlformats.org/officeDocument/2006/relationships/notesSlide" Target="../notesSlides/notesSlide6.xml"/><Relationship Id="rId7" Type="http://schemas.openxmlformats.org/officeDocument/2006/relationships/image" Target="../media/image166.wmf"/><Relationship Id="rId12"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51.bin"/><Relationship Id="rId11" Type="http://schemas.openxmlformats.org/officeDocument/2006/relationships/image" Target="../media/image168.wmf"/><Relationship Id="rId5" Type="http://schemas.openxmlformats.org/officeDocument/2006/relationships/image" Target="../media/image165.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167.wmf"/></Relationships>
</file>

<file path=ppt/slides/_rels/slide44.x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171.wmf"/><Relationship Id="rId5" Type="http://schemas.openxmlformats.org/officeDocument/2006/relationships/oleObject" Target="../embeddings/oleObject56.bin"/><Relationship Id="rId4" Type="http://schemas.openxmlformats.org/officeDocument/2006/relationships/image" Target="../media/image170.wmf"/><Relationship Id="rId9" Type="http://schemas.openxmlformats.org/officeDocument/2006/relationships/image" Target="../media/image173.png"/></Relationships>
</file>

<file path=ppt/slides/_rels/slide45.x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notesSlide" Target="../notesSlides/notesSlide7.xml"/><Relationship Id="rId7"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67.wmf"/><Relationship Id="rId5" Type="http://schemas.openxmlformats.org/officeDocument/2006/relationships/oleObject" Target="../embeddings/oleObject58.bin"/><Relationship Id="rId4" Type="http://schemas.openxmlformats.org/officeDocument/2006/relationships/image" Target="../media/image174.png"/></Relationships>
</file>

<file path=ppt/slides/_rels/slide46.xml.rels><?xml version="1.0" encoding="UTF-8" standalone="yes"?>
<Relationships xmlns="http://schemas.openxmlformats.org/package/2006/relationships"><Relationship Id="rId8" Type="http://schemas.openxmlformats.org/officeDocument/2006/relationships/image" Target="../media/image167.wmf"/><Relationship Id="rId13" Type="http://schemas.openxmlformats.org/officeDocument/2006/relationships/image" Target="../media/image179.png"/><Relationship Id="rId3" Type="http://schemas.openxmlformats.org/officeDocument/2006/relationships/oleObject" Target="../embeddings/oleObject60.bin"/><Relationship Id="rId7" Type="http://schemas.openxmlformats.org/officeDocument/2006/relationships/oleObject" Target="../embeddings/oleObject62.bin"/><Relationship Id="rId12" Type="http://schemas.openxmlformats.org/officeDocument/2006/relationships/image" Target="../media/image178.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76.wmf"/><Relationship Id="rId11" Type="http://schemas.openxmlformats.org/officeDocument/2006/relationships/oleObject" Target="../embeddings/oleObject64.bin"/><Relationship Id="rId5" Type="http://schemas.openxmlformats.org/officeDocument/2006/relationships/oleObject" Target="../embeddings/oleObject61.bin"/><Relationship Id="rId10" Type="http://schemas.openxmlformats.org/officeDocument/2006/relationships/image" Target="../media/image177.wmf"/><Relationship Id="rId4" Type="http://schemas.openxmlformats.org/officeDocument/2006/relationships/image" Target="../media/image175.wmf"/><Relationship Id="rId9" Type="http://schemas.openxmlformats.org/officeDocument/2006/relationships/oleObject" Target="../embeddings/oleObject63.bin"/></Relationships>
</file>

<file path=ppt/slides/_rels/slide47.xml.rels><?xml version="1.0" encoding="UTF-8" standalone="yes"?>
<Relationships xmlns="http://schemas.openxmlformats.org/package/2006/relationships"><Relationship Id="rId8" Type="http://schemas.openxmlformats.org/officeDocument/2006/relationships/image" Target="../media/image166.wmf"/><Relationship Id="rId13" Type="http://schemas.openxmlformats.org/officeDocument/2006/relationships/image" Target="../media/image184.png"/><Relationship Id="rId3" Type="http://schemas.openxmlformats.org/officeDocument/2006/relationships/oleObject" Target="../embeddings/oleObject65.bin"/><Relationship Id="rId7" Type="http://schemas.openxmlformats.org/officeDocument/2006/relationships/oleObject" Target="../embeddings/oleObject67.bin"/><Relationship Id="rId12" Type="http://schemas.openxmlformats.org/officeDocument/2006/relationships/image" Target="../media/image167.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181.wmf"/><Relationship Id="rId11" Type="http://schemas.openxmlformats.org/officeDocument/2006/relationships/oleObject" Target="../embeddings/oleObject69.bin"/><Relationship Id="rId5" Type="http://schemas.openxmlformats.org/officeDocument/2006/relationships/oleObject" Target="../embeddings/oleObject66.bin"/><Relationship Id="rId15" Type="http://schemas.openxmlformats.org/officeDocument/2006/relationships/image" Target="../media/image183.wmf"/><Relationship Id="rId10" Type="http://schemas.openxmlformats.org/officeDocument/2006/relationships/image" Target="../media/image182.wmf"/><Relationship Id="rId4" Type="http://schemas.openxmlformats.org/officeDocument/2006/relationships/image" Target="../media/image180.wmf"/><Relationship Id="rId9" Type="http://schemas.openxmlformats.org/officeDocument/2006/relationships/oleObject" Target="../embeddings/oleObject68.bin"/><Relationship Id="rId14" Type="http://schemas.openxmlformats.org/officeDocument/2006/relationships/oleObject" Target="../embeddings/oleObject70.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oleObject" Target="../embeddings/oleObject71.bin"/><Relationship Id="rId7" Type="http://schemas.openxmlformats.org/officeDocument/2006/relationships/image" Target="../media/image186.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72.bin"/><Relationship Id="rId11" Type="http://schemas.openxmlformats.org/officeDocument/2006/relationships/image" Target="../media/image188.wmf"/><Relationship Id="rId5" Type="http://schemas.openxmlformats.org/officeDocument/2006/relationships/image" Target="../media/image189.png"/><Relationship Id="rId10" Type="http://schemas.openxmlformats.org/officeDocument/2006/relationships/oleObject" Target="../embeddings/oleObject74.bin"/><Relationship Id="rId4" Type="http://schemas.openxmlformats.org/officeDocument/2006/relationships/image" Target="../media/image185.wmf"/><Relationship Id="rId9" Type="http://schemas.openxmlformats.org/officeDocument/2006/relationships/image" Target="../media/image187.wmf"/></Relationships>
</file>

<file path=ppt/slides/_rels/slide49.xml.rels><?xml version="1.0" encoding="UTF-8" standalone="yes"?>
<Relationships xmlns="http://schemas.openxmlformats.org/package/2006/relationships"><Relationship Id="rId8" Type="http://schemas.openxmlformats.org/officeDocument/2006/relationships/image" Target="../media/image192.wmf"/><Relationship Id="rId13" Type="http://schemas.openxmlformats.org/officeDocument/2006/relationships/oleObject" Target="../embeddings/oleObject80.bin"/><Relationship Id="rId18" Type="http://schemas.openxmlformats.org/officeDocument/2006/relationships/image" Target="../media/image197.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194.wmf"/><Relationship Id="rId17" Type="http://schemas.openxmlformats.org/officeDocument/2006/relationships/oleObject" Target="../embeddings/oleObject82.bin"/><Relationship Id="rId2" Type="http://schemas.openxmlformats.org/officeDocument/2006/relationships/slideLayout" Target="../slideLayouts/slideLayout2.xml"/><Relationship Id="rId16" Type="http://schemas.openxmlformats.org/officeDocument/2006/relationships/image" Target="../media/image196.wmf"/><Relationship Id="rId20" Type="http://schemas.openxmlformats.org/officeDocument/2006/relationships/image" Target="../media/image198.wmf"/><Relationship Id="rId1" Type="http://schemas.openxmlformats.org/officeDocument/2006/relationships/vmlDrawing" Target="../drawings/vmlDrawing21.vml"/><Relationship Id="rId6" Type="http://schemas.openxmlformats.org/officeDocument/2006/relationships/image" Target="../media/image191.wmf"/><Relationship Id="rId11" Type="http://schemas.openxmlformats.org/officeDocument/2006/relationships/oleObject" Target="../embeddings/oleObject79.bin"/><Relationship Id="rId5" Type="http://schemas.openxmlformats.org/officeDocument/2006/relationships/oleObject" Target="../embeddings/oleObject76.bin"/><Relationship Id="rId15" Type="http://schemas.openxmlformats.org/officeDocument/2006/relationships/oleObject" Target="../embeddings/oleObject81.bin"/><Relationship Id="rId10" Type="http://schemas.openxmlformats.org/officeDocument/2006/relationships/image" Target="../media/image193.wmf"/><Relationship Id="rId19" Type="http://schemas.openxmlformats.org/officeDocument/2006/relationships/oleObject" Target="../embeddings/oleObject83.bin"/><Relationship Id="rId4" Type="http://schemas.openxmlformats.org/officeDocument/2006/relationships/image" Target="../media/image190.wmf"/><Relationship Id="rId9" Type="http://schemas.openxmlformats.org/officeDocument/2006/relationships/oleObject" Target="../embeddings/oleObject78.bin"/><Relationship Id="rId14" Type="http://schemas.openxmlformats.org/officeDocument/2006/relationships/image" Target="../media/image195.wmf"/></Relationships>
</file>

<file path=ppt/slides/_rels/slide50.xml.rels><?xml version="1.0" encoding="UTF-8" standalone="yes"?>
<Relationships xmlns="http://schemas.openxmlformats.org/package/2006/relationships"><Relationship Id="rId8" Type="http://schemas.openxmlformats.org/officeDocument/2006/relationships/image" Target="../media/image200.wmf"/><Relationship Id="rId13" Type="http://schemas.openxmlformats.org/officeDocument/2006/relationships/oleObject" Target="../embeddings/oleObject89.bin"/><Relationship Id="rId18" Type="http://schemas.openxmlformats.org/officeDocument/2006/relationships/image" Target="../media/image205.wmf"/><Relationship Id="rId3" Type="http://schemas.openxmlformats.org/officeDocument/2006/relationships/oleObject" Target="../embeddings/oleObject84.bin"/><Relationship Id="rId7" Type="http://schemas.openxmlformats.org/officeDocument/2006/relationships/oleObject" Target="../embeddings/oleObject86.bin"/><Relationship Id="rId12" Type="http://schemas.openxmlformats.org/officeDocument/2006/relationships/image" Target="../media/image202.wmf"/><Relationship Id="rId17" Type="http://schemas.openxmlformats.org/officeDocument/2006/relationships/oleObject" Target="../embeddings/oleObject91.bin"/><Relationship Id="rId2" Type="http://schemas.openxmlformats.org/officeDocument/2006/relationships/slideLayout" Target="../slideLayouts/slideLayout2.xml"/><Relationship Id="rId16" Type="http://schemas.openxmlformats.org/officeDocument/2006/relationships/image" Target="../media/image204.wmf"/><Relationship Id="rId20" Type="http://schemas.openxmlformats.org/officeDocument/2006/relationships/image" Target="../media/image206.wmf"/><Relationship Id="rId1" Type="http://schemas.openxmlformats.org/officeDocument/2006/relationships/vmlDrawing" Target="../drawings/vmlDrawing22.vml"/><Relationship Id="rId6" Type="http://schemas.openxmlformats.org/officeDocument/2006/relationships/image" Target="../media/image199.wmf"/><Relationship Id="rId11" Type="http://schemas.openxmlformats.org/officeDocument/2006/relationships/oleObject" Target="../embeddings/oleObject88.bin"/><Relationship Id="rId5" Type="http://schemas.openxmlformats.org/officeDocument/2006/relationships/oleObject" Target="../embeddings/oleObject85.bin"/><Relationship Id="rId15" Type="http://schemas.openxmlformats.org/officeDocument/2006/relationships/oleObject" Target="../embeddings/oleObject90.bin"/><Relationship Id="rId10" Type="http://schemas.openxmlformats.org/officeDocument/2006/relationships/image" Target="../media/image201.wmf"/><Relationship Id="rId19" Type="http://schemas.openxmlformats.org/officeDocument/2006/relationships/oleObject" Target="../embeddings/oleObject92.bin"/><Relationship Id="rId4" Type="http://schemas.openxmlformats.org/officeDocument/2006/relationships/image" Target="../media/image191.wmf"/><Relationship Id="rId9" Type="http://schemas.openxmlformats.org/officeDocument/2006/relationships/oleObject" Target="../embeddings/oleObject87.bin"/><Relationship Id="rId14" Type="http://schemas.openxmlformats.org/officeDocument/2006/relationships/image" Target="../media/image203.wmf"/></Relationships>
</file>

<file path=ppt/slides/_rels/slide5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tif"/><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93.bin"/><Relationship Id="rId5" Type="http://schemas.openxmlformats.org/officeDocument/2006/relationships/image" Target="../media/image15.wmf"/><Relationship Id="rId4" Type="http://schemas.openxmlformats.org/officeDocument/2006/relationships/image" Target="../media/image14.emf"/></Relationships>
</file>

<file path=ppt/slides/_rels/slide52.xml.rels><?xml version="1.0" encoding="UTF-8" standalone="yes"?>
<Relationships xmlns="http://schemas.openxmlformats.org/package/2006/relationships"><Relationship Id="rId8" Type="http://schemas.openxmlformats.org/officeDocument/2006/relationships/image" Target="../media/image209.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208.wmf"/><Relationship Id="rId5" Type="http://schemas.openxmlformats.org/officeDocument/2006/relationships/oleObject" Target="../embeddings/oleObject95.bin"/><Relationship Id="rId4" Type="http://schemas.openxmlformats.org/officeDocument/2006/relationships/image" Target="../media/image207.wmf"/><Relationship Id="rId9" Type="http://schemas.openxmlformats.org/officeDocument/2006/relationships/image" Target="../media/image210.emf"/></Relationships>
</file>

<file path=ppt/slides/_rels/slide53.xml.rels><?xml version="1.0" encoding="UTF-8" standalone="yes"?>
<Relationships xmlns="http://schemas.openxmlformats.org/package/2006/relationships"><Relationship Id="rId3" Type="http://schemas.openxmlformats.org/officeDocument/2006/relationships/image" Target="../media/image212.png"/><Relationship Id="rId7" Type="http://schemas.openxmlformats.org/officeDocument/2006/relationships/image" Target="../media/image216.emf"/><Relationship Id="rId2" Type="http://schemas.openxmlformats.org/officeDocument/2006/relationships/image" Target="../media/image211.emf"/><Relationship Id="rId1" Type="http://schemas.openxmlformats.org/officeDocument/2006/relationships/slideLayout" Target="../slideLayouts/slideLayout2.xml"/><Relationship Id="rId6" Type="http://schemas.openxmlformats.org/officeDocument/2006/relationships/image" Target="../media/image215.emf"/><Relationship Id="rId5" Type="http://schemas.openxmlformats.org/officeDocument/2006/relationships/image" Target="../media/image214.emf"/><Relationship Id="rId4" Type="http://schemas.openxmlformats.org/officeDocument/2006/relationships/image" Target="../media/image213.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219.wmf"/><Relationship Id="rId13" Type="http://schemas.openxmlformats.org/officeDocument/2006/relationships/oleObject" Target="../embeddings/oleObject102.bin"/><Relationship Id="rId3" Type="http://schemas.openxmlformats.org/officeDocument/2006/relationships/oleObject" Target="../embeddings/oleObject97.bin"/><Relationship Id="rId7" Type="http://schemas.openxmlformats.org/officeDocument/2006/relationships/oleObject" Target="../embeddings/oleObject99.bin"/><Relationship Id="rId12" Type="http://schemas.openxmlformats.org/officeDocument/2006/relationships/image" Target="../media/image221.wmf"/><Relationship Id="rId2" Type="http://schemas.openxmlformats.org/officeDocument/2006/relationships/slideLayout" Target="../slideLayouts/slideLayout2.xml"/><Relationship Id="rId16" Type="http://schemas.openxmlformats.org/officeDocument/2006/relationships/image" Target="../media/image223.wmf"/><Relationship Id="rId1" Type="http://schemas.openxmlformats.org/officeDocument/2006/relationships/vmlDrawing" Target="../drawings/vmlDrawing25.vml"/><Relationship Id="rId6" Type="http://schemas.openxmlformats.org/officeDocument/2006/relationships/image" Target="../media/image218.wmf"/><Relationship Id="rId11" Type="http://schemas.openxmlformats.org/officeDocument/2006/relationships/oleObject" Target="../embeddings/oleObject101.bin"/><Relationship Id="rId5" Type="http://schemas.openxmlformats.org/officeDocument/2006/relationships/oleObject" Target="../embeddings/oleObject98.bin"/><Relationship Id="rId15" Type="http://schemas.openxmlformats.org/officeDocument/2006/relationships/oleObject" Target="../embeddings/oleObject103.bin"/><Relationship Id="rId10" Type="http://schemas.openxmlformats.org/officeDocument/2006/relationships/image" Target="../media/image220.wmf"/><Relationship Id="rId4" Type="http://schemas.openxmlformats.org/officeDocument/2006/relationships/image" Target="../media/image217.wmf"/><Relationship Id="rId9" Type="http://schemas.openxmlformats.org/officeDocument/2006/relationships/oleObject" Target="../embeddings/oleObject100.bin"/><Relationship Id="rId14" Type="http://schemas.openxmlformats.org/officeDocument/2006/relationships/image" Target="../media/image222.wmf"/></Relationships>
</file>

<file path=ppt/slides/_rels/slide56.xml.rels><?xml version="1.0" encoding="UTF-8" standalone="yes"?>
<Relationships xmlns="http://schemas.openxmlformats.org/package/2006/relationships"><Relationship Id="rId13" Type="http://schemas.openxmlformats.org/officeDocument/2006/relationships/oleObject" Target="../embeddings/oleObject109.bin"/><Relationship Id="rId18" Type="http://schemas.openxmlformats.org/officeDocument/2006/relationships/image" Target="../media/image231.wmf"/><Relationship Id="rId26" Type="http://schemas.openxmlformats.org/officeDocument/2006/relationships/image" Target="../media/image235.wmf"/><Relationship Id="rId3" Type="http://schemas.openxmlformats.org/officeDocument/2006/relationships/oleObject" Target="../embeddings/oleObject104.bin"/><Relationship Id="rId21" Type="http://schemas.openxmlformats.org/officeDocument/2006/relationships/oleObject" Target="../embeddings/oleObject113.bin"/><Relationship Id="rId34" Type="http://schemas.openxmlformats.org/officeDocument/2006/relationships/image" Target="../media/image217.wmf"/><Relationship Id="rId7" Type="http://schemas.openxmlformats.org/officeDocument/2006/relationships/oleObject" Target="../embeddings/oleObject106.bin"/><Relationship Id="rId12" Type="http://schemas.openxmlformats.org/officeDocument/2006/relationships/image" Target="../media/image228.wmf"/><Relationship Id="rId17" Type="http://schemas.openxmlformats.org/officeDocument/2006/relationships/oleObject" Target="../embeddings/oleObject111.bin"/><Relationship Id="rId25" Type="http://schemas.openxmlformats.org/officeDocument/2006/relationships/oleObject" Target="../embeddings/oleObject115.bin"/><Relationship Id="rId33" Type="http://schemas.openxmlformats.org/officeDocument/2006/relationships/oleObject" Target="../embeddings/oleObject119.bin"/><Relationship Id="rId2" Type="http://schemas.openxmlformats.org/officeDocument/2006/relationships/slideLayout" Target="../slideLayouts/slideLayout2.xml"/><Relationship Id="rId16" Type="http://schemas.openxmlformats.org/officeDocument/2006/relationships/image" Target="../media/image230.wmf"/><Relationship Id="rId20" Type="http://schemas.openxmlformats.org/officeDocument/2006/relationships/image" Target="../media/image232.wmf"/><Relationship Id="rId29" Type="http://schemas.openxmlformats.org/officeDocument/2006/relationships/oleObject" Target="../embeddings/oleObject117.bin"/><Relationship Id="rId1" Type="http://schemas.openxmlformats.org/officeDocument/2006/relationships/vmlDrawing" Target="../drawings/vmlDrawing26.vml"/><Relationship Id="rId6" Type="http://schemas.openxmlformats.org/officeDocument/2006/relationships/image" Target="../media/image225.wmf"/><Relationship Id="rId11" Type="http://schemas.openxmlformats.org/officeDocument/2006/relationships/oleObject" Target="../embeddings/oleObject108.bin"/><Relationship Id="rId24" Type="http://schemas.openxmlformats.org/officeDocument/2006/relationships/image" Target="../media/image234.wmf"/><Relationship Id="rId32" Type="http://schemas.openxmlformats.org/officeDocument/2006/relationships/image" Target="../media/image238.wmf"/><Relationship Id="rId5" Type="http://schemas.openxmlformats.org/officeDocument/2006/relationships/oleObject" Target="../embeddings/oleObject105.bin"/><Relationship Id="rId15" Type="http://schemas.openxmlformats.org/officeDocument/2006/relationships/oleObject" Target="../embeddings/oleObject110.bin"/><Relationship Id="rId23" Type="http://schemas.openxmlformats.org/officeDocument/2006/relationships/oleObject" Target="../embeddings/oleObject114.bin"/><Relationship Id="rId28" Type="http://schemas.openxmlformats.org/officeDocument/2006/relationships/image" Target="../media/image236.wmf"/><Relationship Id="rId10" Type="http://schemas.openxmlformats.org/officeDocument/2006/relationships/image" Target="../media/image227.wmf"/><Relationship Id="rId19" Type="http://schemas.openxmlformats.org/officeDocument/2006/relationships/oleObject" Target="../embeddings/oleObject112.bin"/><Relationship Id="rId31" Type="http://schemas.openxmlformats.org/officeDocument/2006/relationships/oleObject" Target="../embeddings/oleObject118.bin"/><Relationship Id="rId4" Type="http://schemas.openxmlformats.org/officeDocument/2006/relationships/image" Target="../media/image224.wmf"/><Relationship Id="rId9" Type="http://schemas.openxmlformats.org/officeDocument/2006/relationships/oleObject" Target="../embeddings/oleObject107.bin"/><Relationship Id="rId14" Type="http://schemas.openxmlformats.org/officeDocument/2006/relationships/image" Target="../media/image229.wmf"/><Relationship Id="rId22" Type="http://schemas.openxmlformats.org/officeDocument/2006/relationships/image" Target="../media/image233.wmf"/><Relationship Id="rId27" Type="http://schemas.openxmlformats.org/officeDocument/2006/relationships/oleObject" Target="../embeddings/oleObject116.bin"/><Relationship Id="rId30" Type="http://schemas.openxmlformats.org/officeDocument/2006/relationships/image" Target="../media/image237.wmf"/><Relationship Id="rId8" Type="http://schemas.openxmlformats.org/officeDocument/2006/relationships/image" Target="../media/image226.wmf"/></Relationships>
</file>

<file path=ppt/slides/_rels/slide57.xml.rels><?xml version="1.0" encoding="UTF-8" standalone="yes"?>
<Relationships xmlns="http://schemas.openxmlformats.org/package/2006/relationships"><Relationship Id="rId8" Type="http://schemas.openxmlformats.org/officeDocument/2006/relationships/image" Target="../media/image235.wmf"/><Relationship Id="rId13" Type="http://schemas.openxmlformats.org/officeDocument/2006/relationships/oleObject" Target="../embeddings/oleObject125.bin"/><Relationship Id="rId18" Type="http://schemas.openxmlformats.org/officeDocument/2006/relationships/image" Target="../media/image243.wmf"/><Relationship Id="rId26" Type="http://schemas.openxmlformats.org/officeDocument/2006/relationships/image" Target="../media/image247.wmf"/><Relationship Id="rId3" Type="http://schemas.openxmlformats.org/officeDocument/2006/relationships/oleObject" Target="../embeddings/oleObject120.bin"/><Relationship Id="rId21" Type="http://schemas.openxmlformats.org/officeDocument/2006/relationships/oleObject" Target="../embeddings/oleObject129.bin"/><Relationship Id="rId7" Type="http://schemas.openxmlformats.org/officeDocument/2006/relationships/oleObject" Target="../embeddings/oleObject122.bin"/><Relationship Id="rId12" Type="http://schemas.openxmlformats.org/officeDocument/2006/relationships/image" Target="../media/image240.wmf"/><Relationship Id="rId17" Type="http://schemas.openxmlformats.org/officeDocument/2006/relationships/oleObject" Target="../embeddings/oleObject127.bin"/><Relationship Id="rId25" Type="http://schemas.openxmlformats.org/officeDocument/2006/relationships/oleObject" Target="../embeddings/oleObject131.bin"/><Relationship Id="rId2" Type="http://schemas.openxmlformats.org/officeDocument/2006/relationships/slideLayout" Target="../slideLayouts/slideLayout2.xml"/><Relationship Id="rId16" Type="http://schemas.openxmlformats.org/officeDocument/2006/relationships/image" Target="../media/image242.wmf"/><Relationship Id="rId20" Type="http://schemas.openxmlformats.org/officeDocument/2006/relationships/image" Target="../media/image244.wmf"/><Relationship Id="rId1" Type="http://schemas.openxmlformats.org/officeDocument/2006/relationships/vmlDrawing" Target="../drawings/vmlDrawing27.vml"/><Relationship Id="rId6" Type="http://schemas.openxmlformats.org/officeDocument/2006/relationships/image" Target="../media/image234.wmf"/><Relationship Id="rId11" Type="http://schemas.openxmlformats.org/officeDocument/2006/relationships/oleObject" Target="../embeddings/oleObject124.bin"/><Relationship Id="rId24" Type="http://schemas.openxmlformats.org/officeDocument/2006/relationships/image" Target="../media/image246.wmf"/><Relationship Id="rId5" Type="http://schemas.openxmlformats.org/officeDocument/2006/relationships/oleObject" Target="../embeddings/oleObject121.bin"/><Relationship Id="rId15" Type="http://schemas.openxmlformats.org/officeDocument/2006/relationships/oleObject" Target="../embeddings/oleObject126.bin"/><Relationship Id="rId23" Type="http://schemas.openxmlformats.org/officeDocument/2006/relationships/oleObject" Target="../embeddings/oleObject130.bin"/><Relationship Id="rId10" Type="http://schemas.openxmlformats.org/officeDocument/2006/relationships/image" Target="../media/image239.wmf"/><Relationship Id="rId19" Type="http://schemas.openxmlformats.org/officeDocument/2006/relationships/oleObject" Target="../embeddings/oleObject128.bin"/><Relationship Id="rId4" Type="http://schemas.openxmlformats.org/officeDocument/2006/relationships/image" Target="../media/image233.wmf"/><Relationship Id="rId9" Type="http://schemas.openxmlformats.org/officeDocument/2006/relationships/oleObject" Target="../embeddings/oleObject123.bin"/><Relationship Id="rId14" Type="http://schemas.openxmlformats.org/officeDocument/2006/relationships/image" Target="../media/image241.wmf"/><Relationship Id="rId22" Type="http://schemas.openxmlformats.org/officeDocument/2006/relationships/image" Target="../media/image245.wmf"/></Relationships>
</file>

<file path=ppt/slides/_rels/slide58.xml.rels><?xml version="1.0" encoding="UTF-8" standalone="yes"?>
<Relationships xmlns="http://schemas.openxmlformats.org/package/2006/relationships"><Relationship Id="rId8" Type="http://schemas.openxmlformats.org/officeDocument/2006/relationships/image" Target="../media/image249.wmf"/><Relationship Id="rId13" Type="http://schemas.openxmlformats.org/officeDocument/2006/relationships/oleObject" Target="../embeddings/oleObject137.bin"/><Relationship Id="rId18" Type="http://schemas.openxmlformats.org/officeDocument/2006/relationships/oleObject" Target="../embeddings/oleObject140.bin"/><Relationship Id="rId26" Type="http://schemas.openxmlformats.org/officeDocument/2006/relationships/oleObject" Target="../embeddings/oleObject144.bin"/><Relationship Id="rId3" Type="http://schemas.openxmlformats.org/officeDocument/2006/relationships/oleObject" Target="../embeddings/oleObject132.bin"/><Relationship Id="rId21" Type="http://schemas.openxmlformats.org/officeDocument/2006/relationships/image" Target="../media/image255.wmf"/><Relationship Id="rId7" Type="http://schemas.openxmlformats.org/officeDocument/2006/relationships/oleObject" Target="../embeddings/oleObject134.bin"/><Relationship Id="rId12" Type="http://schemas.openxmlformats.org/officeDocument/2006/relationships/image" Target="../media/image251.wmf"/><Relationship Id="rId17" Type="http://schemas.openxmlformats.org/officeDocument/2006/relationships/image" Target="../media/image253.wmf"/><Relationship Id="rId25" Type="http://schemas.openxmlformats.org/officeDocument/2006/relationships/image" Target="../media/image257.wmf"/><Relationship Id="rId2" Type="http://schemas.openxmlformats.org/officeDocument/2006/relationships/slideLayout" Target="../slideLayouts/slideLayout2.xml"/><Relationship Id="rId16" Type="http://schemas.openxmlformats.org/officeDocument/2006/relationships/oleObject" Target="../embeddings/oleObject139.bin"/><Relationship Id="rId20" Type="http://schemas.openxmlformats.org/officeDocument/2006/relationships/oleObject" Target="../embeddings/oleObject141.bin"/><Relationship Id="rId29" Type="http://schemas.openxmlformats.org/officeDocument/2006/relationships/image" Target="../media/image259.wmf"/><Relationship Id="rId1" Type="http://schemas.openxmlformats.org/officeDocument/2006/relationships/vmlDrawing" Target="../drawings/vmlDrawing28.vml"/><Relationship Id="rId6" Type="http://schemas.openxmlformats.org/officeDocument/2006/relationships/image" Target="../media/image248.wmf"/><Relationship Id="rId11" Type="http://schemas.openxmlformats.org/officeDocument/2006/relationships/oleObject" Target="../embeddings/oleObject136.bin"/><Relationship Id="rId24" Type="http://schemas.openxmlformats.org/officeDocument/2006/relationships/oleObject" Target="../embeddings/oleObject143.bin"/><Relationship Id="rId5" Type="http://schemas.openxmlformats.org/officeDocument/2006/relationships/oleObject" Target="../embeddings/oleObject133.bin"/><Relationship Id="rId15" Type="http://schemas.openxmlformats.org/officeDocument/2006/relationships/image" Target="../media/image252.wmf"/><Relationship Id="rId23" Type="http://schemas.openxmlformats.org/officeDocument/2006/relationships/image" Target="../media/image256.wmf"/><Relationship Id="rId28" Type="http://schemas.openxmlformats.org/officeDocument/2006/relationships/oleObject" Target="../embeddings/oleObject145.bin"/><Relationship Id="rId10" Type="http://schemas.openxmlformats.org/officeDocument/2006/relationships/image" Target="../media/image250.wmf"/><Relationship Id="rId19" Type="http://schemas.openxmlformats.org/officeDocument/2006/relationships/image" Target="../media/image254.wmf"/><Relationship Id="rId4" Type="http://schemas.openxmlformats.org/officeDocument/2006/relationships/image" Target="../media/image245.wmf"/><Relationship Id="rId9" Type="http://schemas.openxmlformats.org/officeDocument/2006/relationships/oleObject" Target="../embeddings/oleObject135.bin"/><Relationship Id="rId14" Type="http://schemas.openxmlformats.org/officeDocument/2006/relationships/oleObject" Target="../embeddings/oleObject138.bin"/><Relationship Id="rId22" Type="http://schemas.openxmlformats.org/officeDocument/2006/relationships/oleObject" Target="../embeddings/oleObject142.bin"/><Relationship Id="rId27" Type="http://schemas.openxmlformats.org/officeDocument/2006/relationships/image" Target="../media/image258.wmf"/></Relationships>
</file>

<file path=ppt/slides/_rels/slide59.xml.rels><?xml version="1.0" encoding="UTF-8" standalone="yes"?>
<Relationships xmlns="http://schemas.openxmlformats.org/package/2006/relationships"><Relationship Id="rId8" Type="http://schemas.openxmlformats.org/officeDocument/2006/relationships/image" Target="../media/image263.png"/><Relationship Id="rId3" Type="http://schemas.openxmlformats.org/officeDocument/2006/relationships/notesSlide" Target="../notesSlides/notesSlide8.xml"/><Relationship Id="rId7" Type="http://schemas.openxmlformats.org/officeDocument/2006/relationships/image" Target="../media/image260.wmf"/><Relationship Id="rId12" Type="http://schemas.openxmlformats.org/officeDocument/2006/relationships/image" Target="../media/image262.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147.bin"/><Relationship Id="rId11" Type="http://schemas.openxmlformats.org/officeDocument/2006/relationships/oleObject" Target="../embeddings/oleObject149.bin"/><Relationship Id="rId5" Type="http://schemas.openxmlformats.org/officeDocument/2006/relationships/image" Target="../media/image258.wmf"/><Relationship Id="rId10" Type="http://schemas.openxmlformats.org/officeDocument/2006/relationships/image" Target="../media/image261.wmf"/><Relationship Id="rId4" Type="http://schemas.openxmlformats.org/officeDocument/2006/relationships/oleObject" Target="../embeddings/oleObject146.bin"/><Relationship Id="rId9" Type="http://schemas.openxmlformats.org/officeDocument/2006/relationships/oleObject" Target="../embeddings/oleObject148.bin"/></Relationships>
</file>

<file path=ppt/slides/_rels/slide60.xml.rels><?xml version="1.0" encoding="UTF-8" standalone="yes"?>
<Relationships xmlns="http://schemas.openxmlformats.org/package/2006/relationships"><Relationship Id="rId8" Type="http://schemas.openxmlformats.org/officeDocument/2006/relationships/image" Target="../media/image265.wmf"/><Relationship Id="rId13" Type="http://schemas.openxmlformats.org/officeDocument/2006/relationships/oleObject" Target="../embeddings/oleObject155.bin"/><Relationship Id="rId3" Type="http://schemas.openxmlformats.org/officeDocument/2006/relationships/oleObject" Target="../embeddings/oleObject150.bin"/><Relationship Id="rId7" Type="http://schemas.openxmlformats.org/officeDocument/2006/relationships/oleObject" Target="../embeddings/oleObject152.bin"/><Relationship Id="rId12" Type="http://schemas.openxmlformats.org/officeDocument/2006/relationships/image" Target="../media/image267.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264.wmf"/><Relationship Id="rId11" Type="http://schemas.openxmlformats.org/officeDocument/2006/relationships/oleObject" Target="../embeddings/oleObject154.bin"/><Relationship Id="rId5" Type="http://schemas.openxmlformats.org/officeDocument/2006/relationships/oleObject" Target="../embeddings/oleObject151.bin"/><Relationship Id="rId10" Type="http://schemas.openxmlformats.org/officeDocument/2006/relationships/image" Target="../media/image266.wmf"/><Relationship Id="rId4" Type="http://schemas.openxmlformats.org/officeDocument/2006/relationships/image" Target="../media/image235.wmf"/><Relationship Id="rId9" Type="http://schemas.openxmlformats.org/officeDocument/2006/relationships/oleObject" Target="../embeddings/oleObject153.bin"/></Relationships>
</file>

<file path=ppt/slides/_rels/slide61.xml.rels><?xml version="1.0" encoding="UTF-8" standalone="yes"?>
<Relationships xmlns="http://schemas.openxmlformats.org/package/2006/relationships"><Relationship Id="rId8" Type="http://schemas.openxmlformats.org/officeDocument/2006/relationships/image" Target="../media/image272.emf"/><Relationship Id="rId3" Type="http://schemas.openxmlformats.org/officeDocument/2006/relationships/oleObject" Target="../embeddings/oleObject156.bin"/><Relationship Id="rId7" Type="http://schemas.openxmlformats.org/officeDocument/2006/relationships/image" Target="../media/image271.e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270.emf"/><Relationship Id="rId5" Type="http://schemas.openxmlformats.org/officeDocument/2006/relationships/image" Target="../media/image269.emf"/><Relationship Id="rId4" Type="http://schemas.openxmlformats.org/officeDocument/2006/relationships/image" Target="../media/image268.wmf"/></Relationships>
</file>

<file path=ppt/slides/_rels/slide62.xml.rels><?xml version="1.0" encoding="UTF-8" standalone="yes"?>
<Relationships xmlns="http://schemas.openxmlformats.org/package/2006/relationships"><Relationship Id="rId8" Type="http://schemas.openxmlformats.org/officeDocument/2006/relationships/image" Target="../media/image277.emf"/><Relationship Id="rId3" Type="http://schemas.openxmlformats.org/officeDocument/2006/relationships/image" Target="../media/image274.emf"/><Relationship Id="rId7" Type="http://schemas.openxmlformats.org/officeDocument/2006/relationships/image" Target="../media/image276.emf"/><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273.wmf"/><Relationship Id="rId5" Type="http://schemas.openxmlformats.org/officeDocument/2006/relationships/oleObject" Target="../embeddings/oleObject157.bin"/><Relationship Id="rId10" Type="http://schemas.openxmlformats.org/officeDocument/2006/relationships/image" Target="../media/image279.emf"/><Relationship Id="rId4" Type="http://schemas.openxmlformats.org/officeDocument/2006/relationships/image" Target="../media/image275.emf"/><Relationship Id="rId9" Type="http://schemas.openxmlformats.org/officeDocument/2006/relationships/image" Target="../media/image278.emf"/></Relationships>
</file>

<file path=ppt/slides/_rels/slide63.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283.wmf"/><Relationship Id="rId3" Type="http://schemas.openxmlformats.org/officeDocument/2006/relationships/notesSlide" Target="../notesSlides/notesSlide10.xml"/><Relationship Id="rId7" Type="http://schemas.openxmlformats.org/officeDocument/2006/relationships/oleObject" Target="../embeddings/oleObject159.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282.wmf"/><Relationship Id="rId5" Type="http://schemas.openxmlformats.org/officeDocument/2006/relationships/oleObject" Target="../embeddings/oleObject158.bin"/><Relationship Id="rId4" Type="http://schemas.openxmlformats.org/officeDocument/2006/relationships/image" Target="../media/image284.png"/></Relationships>
</file>

<file path=ppt/slides/_rels/slide66.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87.emf"/><Relationship Id="rId4" Type="http://schemas.openxmlformats.org/officeDocument/2006/relationships/image" Target="../media/image286.png"/></Relationships>
</file>

<file path=ppt/slides/_rels/slide67.xml.rels><?xml version="1.0" encoding="UTF-8" standalone="yes"?>
<Relationships xmlns="http://schemas.openxmlformats.org/package/2006/relationships"><Relationship Id="rId3" Type="http://schemas.openxmlformats.org/officeDocument/2006/relationships/image" Target="../media/image288.e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90.emf"/><Relationship Id="rId4" Type="http://schemas.openxmlformats.org/officeDocument/2006/relationships/image" Target="../media/image289.png"/></Relationships>
</file>

<file path=ppt/slides/_rels/slide68.xml.rels><?xml version="1.0" encoding="UTF-8" standalone="yes"?>
<Relationships xmlns="http://schemas.openxmlformats.org/package/2006/relationships"><Relationship Id="rId8" Type="http://schemas.openxmlformats.org/officeDocument/2006/relationships/image" Target="../media/image296.png"/><Relationship Id="rId3" Type="http://schemas.openxmlformats.org/officeDocument/2006/relationships/image" Target="../media/image291.png"/><Relationship Id="rId7" Type="http://schemas.openxmlformats.org/officeDocument/2006/relationships/image" Target="../media/image29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94.png"/><Relationship Id="rId5" Type="http://schemas.openxmlformats.org/officeDocument/2006/relationships/image" Target="../media/image293.png"/><Relationship Id="rId4" Type="http://schemas.openxmlformats.org/officeDocument/2006/relationships/image" Target="../media/image292.png"/><Relationship Id="rId9" Type="http://schemas.openxmlformats.org/officeDocument/2006/relationships/image" Target="../media/image297.png"/></Relationships>
</file>

<file path=ppt/slides/_rels/slide69.xml.rels><?xml version="1.0" encoding="UTF-8" standalone="yes"?>
<Relationships xmlns="http://schemas.openxmlformats.org/package/2006/relationships"><Relationship Id="rId3" Type="http://schemas.openxmlformats.org/officeDocument/2006/relationships/image" Target="../media/image298.png"/><Relationship Id="rId7" Type="http://schemas.openxmlformats.org/officeDocument/2006/relationships/image" Target="../media/image30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01.png"/><Relationship Id="rId5" Type="http://schemas.openxmlformats.org/officeDocument/2006/relationships/image" Target="../media/image300.png"/><Relationship Id="rId4" Type="http://schemas.openxmlformats.org/officeDocument/2006/relationships/image" Target="../media/image299.png"/></Relationships>
</file>

<file path=ppt/slides/_rels/slide70.xml.rels><?xml version="1.0" encoding="UTF-8" standalone="yes"?>
<Relationships xmlns="http://schemas.openxmlformats.org/package/2006/relationships"><Relationship Id="rId3" Type="http://schemas.openxmlformats.org/officeDocument/2006/relationships/image" Target="../media/image303.png"/><Relationship Id="rId7" Type="http://schemas.openxmlformats.org/officeDocument/2006/relationships/image" Target="../media/image30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06.png"/><Relationship Id="rId5" Type="http://schemas.openxmlformats.org/officeDocument/2006/relationships/image" Target="../media/image305.emf"/><Relationship Id="rId4" Type="http://schemas.openxmlformats.org/officeDocument/2006/relationships/image" Target="../media/image304.emf"/></Relationships>
</file>

<file path=ppt/slides/_rels/slide71.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11.png"/><Relationship Id="rId5" Type="http://schemas.openxmlformats.org/officeDocument/2006/relationships/image" Target="../media/image310.png"/><Relationship Id="rId4" Type="http://schemas.openxmlformats.org/officeDocument/2006/relationships/image" Target="../media/image30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1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16.png"/><Relationship Id="rId4" Type="http://schemas.openxmlformats.org/officeDocument/2006/relationships/image" Target="../media/image315.png"/></Relationships>
</file>

<file path=ppt/slides/_rels/slide76.xml.rels><?xml version="1.0" encoding="UTF-8" standalone="yes"?>
<Relationships xmlns="http://schemas.openxmlformats.org/package/2006/relationships"><Relationship Id="rId2" Type="http://schemas.openxmlformats.org/officeDocument/2006/relationships/image" Target="../media/image31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1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21.png"/><Relationship Id="rId5" Type="http://schemas.openxmlformats.org/officeDocument/2006/relationships/image" Target="../media/image320.png"/><Relationship Id="rId4" Type="http://schemas.openxmlformats.org/officeDocument/2006/relationships/image" Target="../media/image319.png"/></Relationships>
</file>

<file path=ppt/slides/_rels/slide78.xml.rels><?xml version="1.0" encoding="UTF-8" standalone="yes"?>
<Relationships xmlns="http://schemas.openxmlformats.org/package/2006/relationships"><Relationship Id="rId3" Type="http://schemas.openxmlformats.org/officeDocument/2006/relationships/image" Target="../media/image32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24.png"/><Relationship Id="rId4" Type="http://schemas.openxmlformats.org/officeDocument/2006/relationships/image" Target="../media/image32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205677" y="1015444"/>
            <a:ext cx="9310629" cy="2387600"/>
          </a:xfrm>
        </p:spPr>
        <p:txBody>
          <a:bodyPr>
            <a:normAutofit/>
          </a:bodyPr>
          <a:lstStyle/>
          <a:p>
            <a:r>
              <a:rPr lang="zh-CN" altLang="en-US" sz="2800" dirty="0" smtClean="0">
                <a:solidFill>
                  <a:srgbClr val="7030A0"/>
                </a:solidFill>
                <a:latin typeface="微软雅黑" panose="020B0503020204020204" pitchFamily="34" charset="-122"/>
                <a:ea typeface="微软雅黑" panose="020B0503020204020204" pitchFamily="34" charset="-122"/>
              </a:rPr>
              <a:t>实验流体力学</a:t>
            </a:r>
            <a:r>
              <a:rPr lang="en-US" altLang="zh-CN" sz="2800" dirty="0" smtClean="0">
                <a:solidFill>
                  <a:srgbClr val="7030A0"/>
                </a:solidFill>
                <a:latin typeface="微软雅黑" panose="020B0503020204020204" pitchFamily="34" charset="-122"/>
                <a:ea typeface="微软雅黑" panose="020B0503020204020204" pitchFamily="34" charset="-122"/>
              </a:rPr>
              <a:t/>
            </a:r>
            <a:br>
              <a:rPr lang="en-US" altLang="zh-CN" sz="2800" dirty="0" smtClean="0">
                <a:solidFill>
                  <a:srgbClr val="7030A0"/>
                </a:solidFill>
                <a:latin typeface="微软雅黑" panose="020B0503020204020204" pitchFamily="34" charset="-122"/>
                <a:ea typeface="微软雅黑" panose="020B0503020204020204" pitchFamily="34" charset="-122"/>
              </a:rPr>
            </a:br>
            <a:r>
              <a:rPr lang="en-US" altLang="zh-CN" sz="4400" b="1" dirty="0" smtClean="0">
                <a:solidFill>
                  <a:srgbClr val="7030A0"/>
                </a:solidFill>
                <a:latin typeface="微软雅黑" panose="020B0503020204020204" pitchFamily="34" charset="-122"/>
                <a:ea typeface="微软雅黑" panose="020B0503020204020204" pitchFamily="34" charset="-122"/>
              </a:rPr>
              <a:t/>
            </a:r>
            <a:br>
              <a:rPr lang="en-US" altLang="zh-CN" sz="4400" b="1" dirty="0" smtClean="0">
                <a:solidFill>
                  <a:srgbClr val="7030A0"/>
                </a:solidFill>
                <a:latin typeface="微软雅黑" panose="020B0503020204020204" pitchFamily="34" charset="-122"/>
                <a:ea typeface="微软雅黑" panose="020B0503020204020204" pitchFamily="34" charset="-122"/>
              </a:rPr>
            </a:br>
            <a:r>
              <a:rPr lang="zh-CN" altLang="en-US" sz="4400" b="1" dirty="0" smtClean="0">
                <a:solidFill>
                  <a:srgbClr val="7030A0"/>
                </a:solidFill>
                <a:latin typeface="微软雅黑" panose="020B0503020204020204" pitchFamily="34" charset="-122"/>
                <a:ea typeface="微软雅黑" panose="020B0503020204020204" pitchFamily="34" charset="-122"/>
              </a:rPr>
              <a:t>流动显示与</a:t>
            </a:r>
            <a:r>
              <a:rPr lang="en-US" altLang="zh-CN" sz="4400" b="1" dirty="0" smtClean="0">
                <a:solidFill>
                  <a:srgbClr val="7030A0"/>
                </a:solidFill>
                <a:latin typeface="微软雅黑" panose="020B0503020204020204" pitchFamily="34" charset="-122"/>
                <a:ea typeface="微软雅黑" panose="020B0503020204020204" pitchFamily="34" charset="-122"/>
              </a:rPr>
              <a:t>PIV</a:t>
            </a:r>
            <a:endParaRPr lang="zh-CN" altLang="en-US" sz="4400" b="1" dirty="0">
              <a:solidFill>
                <a:srgbClr val="7030A0"/>
              </a:solidFill>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a:xfrm>
            <a:off x="2089931" y="3783591"/>
            <a:ext cx="9144000" cy="2167226"/>
          </a:xfrm>
        </p:spPr>
        <p:txBody>
          <a:bodyPr>
            <a:normAutofit/>
          </a:bodyPr>
          <a:lstStyle/>
          <a:p>
            <a:endParaRPr lang="en-US" altLang="zh-CN" b="1" dirty="0" smtClean="0"/>
          </a:p>
          <a:p>
            <a:r>
              <a:rPr lang="zh-CN" altLang="en-US" b="1" dirty="0" smtClean="0"/>
              <a:t>徐胜金</a:t>
            </a:r>
            <a:endParaRPr lang="en-US" altLang="zh-CN" b="1" dirty="0"/>
          </a:p>
          <a:p>
            <a:r>
              <a:rPr lang="zh-CN" altLang="en-US" b="1" dirty="0" smtClean="0"/>
              <a:t>航天航空学院</a:t>
            </a:r>
            <a:endParaRPr lang="en-US" altLang="zh-CN" b="1" dirty="0" smtClean="0"/>
          </a:p>
          <a:p>
            <a:r>
              <a:rPr lang="en-US" altLang="zh-CN" dirty="0" smtClean="0">
                <a:latin typeface="Times New Roman" panose="02020603050405020304" pitchFamily="18" charset="0"/>
                <a:cs typeface="Times New Roman" panose="02020603050405020304" pitchFamily="18" charset="0"/>
              </a:rPr>
              <a:t>E-mail: xu_shengjin@Tsinghua.edu.cn</a:t>
            </a:r>
          </a:p>
          <a:p>
            <a:endParaRPr lang="en-US" altLang="zh-CN" sz="2000" b="1" dirty="0" smtClean="0"/>
          </a:p>
        </p:txBody>
      </p:sp>
      <p:pic>
        <p:nvPicPr>
          <p:cNvPr id="8" name="图片 7"/>
          <p:cNvPicPr>
            <a:picLocks noChangeAspect="1"/>
          </p:cNvPicPr>
          <p:nvPr/>
        </p:nvPicPr>
        <p:blipFill>
          <a:blip r:embed="rId3"/>
          <a:stretch>
            <a:fillRect/>
          </a:stretch>
        </p:blipFill>
        <p:spPr>
          <a:xfrm>
            <a:off x="0" y="1871611"/>
            <a:ext cx="1964668" cy="3062867"/>
          </a:xfrm>
          <a:prstGeom prst="rect">
            <a:avLst/>
          </a:prstGeom>
        </p:spPr>
      </p:pic>
      <p:cxnSp>
        <p:nvCxnSpPr>
          <p:cNvPr id="5" name="直接连接符 4"/>
          <p:cNvCxnSpPr/>
          <p:nvPr/>
        </p:nvCxnSpPr>
        <p:spPr>
          <a:xfrm>
            <a:off x="6503670" y="1199660"/>
            <a:ext cx="5097780" cy="0"/>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7069015" y="861106"/>
            <a:ext cx="4651131" cy="646331"/>
          </a:xfrm>
          <a:prstGeom prst="rect">
            <a:avLst/>
          </a:prstGeom>
          <a:noFill/>
        </p:spPr>
        <p:txBody>
          <a:bodyPr wrap="square" rtlCol="0">
            <a:spAutoFit/>
          </a:bodyPr>
          <a:lstStyle/>
          <a:p>
            <a:r>
              <a:rPr lang="en-US" altLang="zh-CN" b="1" dirty="0" smtClean="0">
                <a:latin typeface="Times New Roman" panose="02020603050405020304" pitchFamily="18" charset="0"/>
                <a:cs typeface="Times New Roman" panose="02020603050405020304" pitchFamily="18" charset="0"/>
              </a:rPr>
              <a:t>Nature </a:t>
            </a:r>
            <a:r>
              <a:rPr lang="en-US" altLang="zh-CN" b="1" dirty="0">
                <a:latin typeface="Times New Roman" panose="02020603050405020304" pitchFamily="18" charset="0"/>
                <a:cs typeface="Times New Roman" panose="02020603050405020304" pitchFamily="18" charset="0"/>
              </a:rPr>
              <a:t>and nature's laws, hidden in the dark</a:t>
            </a:r>
            <a:r>
              <a:rPr lang="en-US" altLang="zh-CN" b="1" dirty="0" smtClean="0">
                <a:latin typeface="Times New Roman" panose="02020603050405020304" pitchFamily="18" charset="0"/>
                <a:cs typeface="Times New Roman" panose="02020603050405020304" pitchFamily="18" charset="0"/>
              </a:rPr>
              <a:t>. </a:t>
            </a:r>
            <a:r>
              <a:rPr lang="en-US" altLang="zh-CN" dirty="0"/>
              <a:t>Alexander Pope</a:t>
            </a:r>
            <a:endParaRPr lang="zh-CN" altLang="en-US" sz="16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96144035"/>
      </p:ext>
    </p:extLst>
  </p:cSld>
  <p:clrMapOvr>
    <a:masterClrMapping/>
  </p:clrMapOvr>
  <mc:AlternateContent xmlns:mc="http://schemas.openxmlformats.org/markup-compatibility/2006" xmlns:p14="http://schemas.microsoft.com/office/powerpoint/2010/main">
    <mc:Choice Requires="p14">
      <p:transition spd="slow" p14:dur="2000" advTm="3088"/>
    </mc:Choice>
    <mc:Fallback xmlns="">
      <p:transition spd="slow" advTm="3088"/>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2453" y="850486"/>
            <a:ext cx="10515600" cy="1325563"/>
          </a:xfrm>
        </p:spPr>
        <p:txBody>
          <a:bodyPr>
            <a:normAutofit/>
          </a:bodyPr>
          <a:lstStyle/>
          <a:p>
            <a:r>
              <a:rPr lang="zh-CN" altLang="en-US" sz="2400" dirty="0" smtClean="0">
                <a:solidFill>
                  <a:srgbClr val="7030A0"/>
                </a:solidFill>
                <a:latin typeface="微软雅黑" panose="020B0503020204020204" pitchFamily="34" charset="-122"/>
                <a:ea typeface="微软雅黑" panose="020B0503020204020204" pitchFamily="34" charset="-122"/>
              </a:rPr>
              <a:t>   </a:t>
            </a:r>
            <a:r>
              <a:rPr lang="zh-CN" altLang="en-US" sz="2000" dirty="0" smtClean="0">
                <a:solidFill>
                  <a:srgbClr val="7030A0"/>
                </a:solidFill>
                <a:latin typeface="微软雅黑" panose="020B0503020204020204" pitchFamily="34" charset="-122"/>
                <a:ea typeface="微软雅黑" panose="020B0503020204020204" pitchFamily="34" charset="-122"/>
              </a:rPr>
              <a:t>流动显示与</a:t>
            </a:r>
            <a:r>
              <a:rPr lang="en-US" altLang="zh-CN" sz="2000" dirty="0" smtClean="0">
                <a:solidFill>
                  <a:srgbClr val="7030A0"/>
                </a:solidFill>
                <a:latin typeface="微软雅黑" panose="020B0503020204020204" pitchFamily="34" charset="-122"/>
                <a:ea typeface="微软雅黑" panose="020B0503020204020204" pitchFamily="34" charset="-122"/>
              </a:rPr>
              <a:t>PIV</a:t>
            </a:r>
            <a:endParaRPr lang="zh-CN" altLang="en-US" sz="2000" dirty="0">
              <a:solidFill>
                <a:srgbClr val="7030A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883130" y="1773525"/>
            <a:ext cx="5161384" cy="2800767"/>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方法：激光照明烟线、雾滴，散射</a:t>
            </a:r>
            <a:r>
              <a:rPr lang="zh-CN" altLang="en-US" sz="1600" dirty="0">
                <a:latin typeface="微软雅黑" panose="020B0503020204020204" pitchFamily="34" charset="-122"/>
                <a:ea typeface="微软雅黑" panose="020B0503020204020204" pitchFamily="34" charset="-122"/>
              </a:rPr>
              <a:t>形成</a:t>
            </a:r>
            <a:r>
              <a:rPr lang="zh-CN" altLang="en-US" sz="1600" dirty="0" smtClean="0">
                <a:latin typeface="微软雅黑" panose="020B0503020204020204" pitchFamily="34" charset="-122"/>
                <a:ea typeface="微软雅黑" panose="020B0503020204020204" pitchFamily="34" charset="-122"/>
              </a:rPr>
              <a:t>光斑；激光诱导荧光染色剂，油膜，升华法等。</a:t>
            </a:r>
            <a:endParaRPr lang="en-US" altLang="zh-CN" sz="1600" dirty="0" smtClean="0">
              <a:latin typeface="微软雅黑" panose="020B0503020204020204" pitchFamily="34" charset="-122"/>
              <a:ea typeface="微软雅黑" panose="020B0503020204020204" pitchFamily="34" charset="-122"/>
            </a:endParaRPr>
          </a:p>
          <a:p>
            <a:endParaRPr lang="en-US" altLang="zh-CN" sz="1600" dirty="0">
              <a:latin typeface="微软雅黑" panose="020B0503020204020204" pitchFamily="34" charset="-122"/>
              <a:ea typeface="微软雅黑" panose="020B0503020204020204" pitchFamily="34" charset="-122"/>
            </a:endParaRPr>
          </a:p>
          <a:p>
            <a:r>
              <a:rPr lang="zh-CN" altLang="en-US" sz="1600" dirty="0" smtClean="0">
                <a:latin typeface="微软雅黑" panose="020B0503020204020204" pitchFamily="34" charset="-122"/>
                <a:ea typeface="微软雅黑" panose="020B0503020204020204" pitchFamily="34" charset="-122"/>
              </a:rPr>
              <a:t>特点：</a:t>
            </a:r>
            <a:endParaRPr lang="en-US" altLang="zh-CN" sz="1600" dirty="0" smtClean="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600" dirty="0" smtClean="0">
                <a:latin typeface="微软雅黑" panose="020B0503020204020204" pitchFamily="34" charset="-122"/>
                <a:ea typeface="微软雅黑" panose="020B0503020204020204" pitchFamily="34" charset="-122"/>
              </a:rPr>
              <a:t>存在介入，需撒播示踪粒子。壁面附近示踪粒子进入存在难度</a:t>
            </a:r>
            <a:endParaRPr lang="en-US" altLang="zh-CN" sz="1600" dirty="0" smtClean="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600" dirty="0" smtClean="0">
                <a:latin typeface="微软雅黑" panose="020B0503020204020204" pitchFamily="34" charset="-122"/>
                <a:ea typeface="微软雅黑" panose="020B0503020204020204" pitchFamily="34" charset="-122"/>
              </a:rPr>
              <a:t>产生轨迹的是脉线，与流线有区别，近壁区域脉线不能真实反映流动分离、卷曲，以及涡量集中等物理问题，更不能反映物体受力</a:t>
            </a:r>
            <a:endParaRPr lang="en-US" altLang="zh-CN" sz="1600" dirty="0" smtClean="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p"/>
            </a:pPr>
            <a:r>
              <a:rPr lang="zh-CN" altLang="en-US" sz="1600" dirty="0" smtClean="0">
                <a:latin typeface="微软雅黑" panose="020B0503020204020204" pitchFamily="34" charset="-122"/>
                <a:ea typeface="微软雅黑" panose="020B0503020204020204" pitchFamily="34" charset="-122"/>
              </a:rPr>
              <a:t>可定性地反映一些物理事实，如利用奈升华方法判断转捩边界；油膜的聚集反映摩擦力强弱等。</a:t>
            </a:r>
            <a:endParaRPr lang="en-US" altLang="zh-CN" sz="1600" dirty="0" smtClean="0">
              <a:latin typeface="微软雅黑" panose="020B0503020204020204" pitchFamily="34" charset="-122"/>
              <a:ea typeface="微软雅黑" panose="020B0503020204020204" pitchFamily="34" charset="-122"/>
            </a:endParaRPr>
          </a:p>
        </p:txBody>
      </p:sp>
      <p:pic>
        <p:nvPicPr>
          <p:cNvPr id="8"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21980" y="3952824"/>
            <a:ext cx="3712643" cy="2998673"/>
          </a:xfrm>
        </p:spPr>
      </p:pic>
      <p:pic>
        <p:nvPicPr>
          <p:cNvPr id="9" name="Picture 2" descr="J:\横流转捩\升华法实验\5.jpg"/>
          <p:cNvPicPr>
            <a:picLocks noChangeAspect="1" noChangeArrowheads="1"/>
          </p:cNvPicPr>
          <p:nvPr/>
        </p:nvPicPr>
        <p:blipFill>
          <a:blip r:embed="rId3"/>
          <a:srcRect/>
          <a:stretch>
            <a:fillRect/>
          </a:stretch>
        </p:blipFill>
        <p:spPr bwMode="auto">
          <a:xfrm>
            <a:off x="7585788" y="1337122"/>
            <a:ext cx="3768012" cy="2512889"/>
          </a:xfrm>
          <a:prstGeom prst="rect">
            <a:avLst/>
          </a:prstGeom>
          <a:noFill/>
          <a:ln w="9525">
            <a:noFill/>
            <a:miter lim="800000"/>
            <a:headEnd/>
            <a:tailEnd/>
          </a:ln>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2988" y="6032174"/>
            <a:ext cx="3060442" cy="763376"/>
          </a:xfrm>
          <a:prstGeom prst="rect">
            <a:avLst/>
          </a:prstGeom>
        </p:spPr>
      </p:pic>
      <p:pic>
        <p:nvPicPr>
          <p:cNvPr id="11"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24781" y="4822008"/>
            <a:ext cx="2897199" cy="204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34277" y="4822008"/>
            <a:ext cx="3287962" cy="186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图片 3" descr="IMG_20191205_150539"/>
          <p:cNvPicPr>
            <a:picLocks noChangeAspect="1" noChangeArrowheads="1"/>
          </p:cNvPicPr>
          <p:nvPr/>
        </p:nvPicPr>
        <p:blipFill>
          <a:blip r:embed="rId7" cstate="print">
            <a:extLst>
              <a:ext uri="{28A0092B-C50C-407E-A947-70E740481C1C}">
                <a14:useLocalDpi xmlns:a14="http://schemas.microsoft.com/office/drawing/2010/main" val="0"/>
              </a:ext>
            </a:extLst>
          </a:blip>
          <a:srcRect t="36462" b="33223"/>
          <a:stretch>
            <a:fillRect/>
          </a:stretch>
        </p:blipFill>
        <p:spPr bwMode="auto">
          <a:xfrm rot="10800000">
            <a:off x="6044514" y="1294199"/>
            <a:ext cx="3354927" cy="938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0" descr="IMG_20191205_152359"/>
          <p:cNvPicPr>
            <a:picLocks noChangeAspect="1" noChangeArrowheads="1"/>
          </p:cNvPicPr>
          <p:nvPr/>
        </p:nvPicPr>
        <p:blipFill>
          <a:blip r:embed="rId8" cstate="print">
            <a:extLst>
              <a:ext uri="{28A0092B-C50C-407E-A947-70E740481C1C}">
                <a14:useLocalDpi xmlns:a14="http://schemas.microsoft.com/office/drawing/2010/main" val="0"/>
              </a:ext>
            </a:extLst>
          </a:blip>
          <a:srcRect t="35812" r="38652" b="35323"/>
          <a:stretch>
            <a:fillRect/>
          </a:stretch>
        </p:blipFill>
        <p:spPr bwMode="auto">
          <a:xfrm rot="10800000">
            <a:off x="6044517" y="120257"/>
            <a:ext cx="3354925" cy="113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97243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670249" y="1734944"/>
            <a:ext cx="8218487" cy="4670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dirty="0" smtClean="0"/>
              <a:t>平面速度测量</a:t>
            </a:r>
            <a:endParaRPr lang="en-US" altLang="zh-CN" sz="2400" dirty="0" smtClean="0"/>
          </a:p>
          <a:p>
            <a:r>
              <a:rPr lang="en-US" altLang="zh-CN" sz="1800" dirty="0" smtClean="0">
                <a:ea typeface="楷体_GB2312"/>
              </a:rPr>
              <a:t>PIV(</a:t>
            </a:r>
            <a:r>
              <a:rPr lang="zh-CN" altLang="en-US" sz="1800" dirty="0" smtClean="0">
                <a:ea typeface="楷体_GB2312"/>
              </a:rPr>
              <a:t>粒子成像测速）</a:t>
            </a:r>
          </a:p>
          <a:p>
            <a:pPr lvl="1"/>
            <a:endParaRPr lang="zh-CN" altLang="en-US" sz="1800" dirty="0" smtClean="0">
              <a:ea typeface="楷体_GB2312"/>
            </a:endParaRPr>
          </a:p>
          <a:p>
            <a:pPr lvl="1"/>
            <a:endParaRPr lang="zh-CN" altLang="en-US" sz="1800" dirty="0" smtClean="0">
              <a:ea typeface="楷体_GB2312"/>
            </a:endParaRPr>
          </a:p>
          <a:p>
            <a:pPr lvl="1"/>
            <a:endParaRPr lang="zh-CN" altLang="en-US" sz="1800" dirty="0" smtClean="0">
              <a:ea typeface="楷体_GB2312"/>
            </a:endParaRPr>
          </a:p>
          <a:p>
            <a:pPr lvl="1"/>
            <a:endParaRPr lang="zh-CN" altLang="en-US" sz="1800" dirty="0" smtClean="0">
              <a:ea typeface="楷体_GB2312"/>
            </a:endParaRPr>
          </a:p>
          <a:p>
            <a:pPr lvl="1"/>
            <a:endParaRPr lang="zh-CN" altLang="en-US" sz="1800" dirty="0" smtClean="0">
              <a:ea typeface="楷体_GB2312"/>
            </a:endParaRPr>
          </a:p>
          <a:p>
            <a:pPr>
              <a:buFontTx/>
              <a:buNone/>
            </a:pPr>
            <a:endParaRPr lang="zh-CN" altLang="en-US" sz="2000" dirty="0" smtClean="0"/>
          </a:p>
          <a:p>
            <a:endParaRPr lang="zh-CN" altLang="en-US" sz="2400" dirty="0" smtClean="0"/>
          </a:p>
          <a:p>
            <a:endParaRPr lang="en-US" altLang="zh-CN" sz="2400" dirty="0"/>
          </a:p>
        </p:txBody>
      </p:sp>
      <p:pic>
        <p:nvPicPr>
          <p:cNvPr id="5" name="Picture 4" descr="overvei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0" y="2420939"/>
            <a:ext cx="5111750" cy="372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9599193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870597" y="1579519"/>
            <a:ext cx="4611732" cy="449348"/>
          </a:xfrm>
          <a:prstGeom prst="rect">
            <a:avLst/>
          </a:prstGeom>
          <a:noFill/>
          <a:effectLst>
            <a:outerShdw blurRad="50800" dist="38100" dir="16200000" rotWithShape="0">
              <a:prstClr val="black">
                <a:alpha val="40000"/>
              </a:prstClr>
            </a:outerShdw>
            <a:softEdge rad="12700"/>
          </a:effectLst>
        </p:spPr>
        <p:txBody>
          <a:bodyPr wrap="square" lIns="79242" tIns="39621" rIns="79242" bIns="39621" rtlCol="0">
            <a:spAutoFit/>
          </a:bodyPr>
          <a:lstStyle/>
          <a:p>
            <a:pPr marL="342900" indent="-342900">
              <a:buFont typeface="Wingdings" panose="05000000000000000000" pitchFamily="2" charset="2"/>
              <a:buChar char="l"/>
            </a:pPr>
            <a:r>
              <a:rPr lang="zh-CN" altLang="en-US" sz="2400" spc="50" dirty="0" smtClean="0">
                <a:solidFill>
                  <a:srgbClr val="C00000"/>
                </a:solidFill>
                <a:latin typeface="Times New Roman" panose="02020603050405020304" pitchFamily="18" charset="0"/>
                <a:ea typeface="微软雅黑" pitchFamily="34" charset="-122"/>
                <a:cs typeface="Times New Roman" panose="02020603050405020304" pitchFamily="18" charset="0"/>
              </a:rPr>
              <a:t>流动</a:t>
            </a:r>
            <a:endParaRPr lang="en-US" altLang="zh-CN" sz="2400" spc="50" dirty="0">
              <a:latin typeface="Times New Roman" panose="02020603050405020304" pitchFamily="18" charset="0"/>
              <a:ea typeface="微软雅黑" pitchFamily="34" charset="-122"/>
              <a:cs typeface="Times New Roman" panose="02020603050405020304" pitchFamily="18" charset="0"/>
            </a:endParaRPr>
          </a:p>
        </p:txBody>
      </p:sp>
      <p:sp>
        <p:nvSpPr>
          <p:cNvPr id="14" name="矩形 13"/>
          <p:cNvSpPr/>
          <p:nvPr/>
        </p:nvSpPr>
        <p:spPr>
          <a:xfrm>
            <a:off x="6005738" y="1579519"/>
            <a:ext cx="3416320" cy="369332"/>
          </a:xfrm>
          <a:prstGeom prst="rect">
            <a:avLst/>
          </a:prstGeom>
        </p:spPr>
        <p:txBody>
          <a:bodyPr wrap="none">
            <a:spAutoFit/>
          </a:bodyPr>
          <a:lstStyle/>
          <a:p>
            <a:r>
              <a:rPr lang="zh-CN" altLang="en-US" dirty="0" smtClean="0">
                <a:latin typeface="华文细黑" panose="02010600040101010101" pitchFamily="2" charset="-122"/>
                <a:ea typeface="华文细黑" panose="02010600040101010101" pitchFamily="2" charset="-122"/>
              </a:rPr>
              <a:t>流动速度的时间、空间变化信息</a:t>
            </a:r>
            <a:endParaRPr lang="zh-CN" altLang="en-US" dirty="0"/>
          </a:p>
        </p:txBody>
      </p:sp>
      <p:pic>
        <p:nvPicPr>
          <p:cNvPr id="17" name="图片 16" descr="1.emf"/>
          <p:cNvPicPr/>
          <p:nvPr/>
        </p:nvPicPr>
        <p:blipFill>
          <a:blip r:embed="rId2">
            <a:extLst>
              <a:ext uri="{28A0092B-C50C-407E-A947-70E740481C1C}">
                <a14:useLocalDpi xmlns:a14="http://schemas.microsoft.com/office/drawing/2010/main" val="0"/>
              </a:ext>
            </a:extLst>
          </a:blip>
          <a:srcRect/>
          <a:stretch>
            <a:fillRect/>
          </a:stretch>
        </p:blipFill>
        <p:spPr bwMode="auto">
          <a:xfrm>
            <a:off x="718197" y="2542818"/>
            <a:ext cx="4100786" cy="3965813"/>
          </a:xfrm>
          <a:prstGeom prst="rect">
            <a:avLst/>
          </a:prstGeom>
          <a:noFill/>
          <a:ln>
            <a:noFill/>
          </a:ln>
        </p:spPr>
      </p:pic>
      <p:pic>
        <p:nvPicPr>
          <p:cNvPr id="19" name="图片 18"/>
          <p:cNvPicPr/>
          <p:nvPr/>
        </p:nvPicPr>
        <p:blipFill>
          <a:blip r:embed="rId3">
            <a:extLst>
              <a:ext uri="{28A0092B-C50C-407E-A947-70E740481C1C}">
                <a14:useLocalDpi xmlns:a14="http://schemas.microsoft.com/office/drawing/2010/main" val="0"/>
              </a:ext>
            </a:extLst>
          </a:blip>
          <a:stretch>
            <a:fillRect/>
          </a:stretch>
        </p:blipFill>
        <p:spPr>
          <a:xfrm>
            <a:off x="5038724" y="2305805"/>
            <a:ext cx="4963685" cy="4439837"/>
          </a:xfrm>
          <a:prstGeom prst="rect">
            <a:avLst/>
          </a:prstGeom>
        </p:spPr>
      </p:pic>
      <p:sp>
        <p:nvSpPr>
          <p:cNvPr id="24" name="矩形 23"/>
          <p:cNvSpPr/>
          <p:nvPr/>
        </p:nvSpPr>
        <p:spPr>
          <a:xfrm>
            <a:off x="10222150" y="4182985"/>
            <a:ext cx="1338828" cy="1200329"/>
          </a:xfrm>
          <a:prstGeom prst="rect">
            <a:avLst/>
          </a:prstGeom>
        </p:spPr>
        <p:txBody>
          <a:bodyPr wrap="none">
            <a:spAutoFit/>
          </a:bodyPr>
          <a:lstStyle/>
          <a:p>
            <a:r>
              <a:rPr lang="zh-CN" altLang="en-US" dirty="0" smtClean="0">
                <a:latin typeface="华文细黑" panose="02010600040101010101" pitchFamily="2" charset="-122"/>
                <a:ea typeface="华文细黑" panose="02010600040101010101" pitchFamily="2" charset="-122"/>
              </a:rPr>
              <a:t>几何特征</a:t>
            </a:r>
            <a:endParaRPr lang="en-US" altLang="zh-CN" dirty="0" smtClean="0">
              <a:latin typeface="华文细黑" panose="02010600040101010101" pitchFamily="2" charset="-122"/>
              <a:ea typeface="华文细黑" panose="02010600040101010101" pitchFamily="2" charset="-122"/>
            </a:endParaRPr>
          </a:p>
          <a:p>
            <a:r>
              <a:rPr lang="zh-CN" altLang="en-US" dirty="0" smtClean="0">
                <a:latin typeface="华文细黑" panose="02010600040101010101" pitchFamily="2" charset="-122"/>
                <a:ea typeface="华文细黑" panose="02010600040101010101" pitchFamily="2" charset="-122"/>
              </a:rPr>
              <a:t>运动特征</a:t>
            </a:r>
            <a:endParaRPr lang="en-US" altLang="zh-CN" dirty="0" smtClean="0">
              <a:latin typeface="华文细黑" panose="02010600040101010101" pitchFamily="2" charset="-122"/>
              <a:ea typeface="华文细黑" panose="02010600040101010101" pitchFamily="2" charset="-122"/>
            </a:endParaRPr>
          </a:p>
          <a:p>
            <a:r>
              <a:rPr lang="zh-CN" altLang="en-US" dirty="0" smtClean="0">
                <a:latin typeface="华文细黑" panose="02010600040101010101" pitchFamily="2" charset="-122"/>
                <a:ea typeface="华文细黑" panose="02010600040101010101" pitchFamily="2" charset="-122"/>
              </a:rPr>
              <a:t>动力学特征</a:t>
            </a:r>
            <a:endParaRPr lang="en-US" altLang="zh-CN" dirty="0" smtClean="0">
              <a:latin typeface="华文细黑" panose="02010600040101010101" pitchFamily="2" charset="-122"/>
              <a:ea typeface="华文细黑" panose="02010600040101010101" pitchFamily="2" charset="-122"/>
            </a:endParaRPr>
          </a:p>
          <a:p>
            <a:endParaRPr lang="zh-CN" altLang="en-US" dirty="0"/>
          </a:p>
        </p:txBody>
      </p:sp>
      <p:sp>
        <p:nvSpPr>
          <p:cNvPr id="2" name="灯片编号占位符 1"/>
          <p:cNvSpPr>
            <a:spLocks noGrp="1"/>
          </p:cNvSpPr>
          <p:nvPr>
            <p:ph type="sldNum" sz="quarter" idx="12"/>
          </p:nvPr>
        </p:nvSpPr>
        <p:spPr/>
        <p:txBody>
          <a:bodyPr/>
          <a:lstStyle/>
          <a:p>
            <a:fld id="{16D8DD02-547D-47A5-AAEA-525C7BEEAE57}" type="slidenum">
              <a:rPr lang="zh-CN" altLang="en-US" smtClean="0"/>
              <a:t>4</a:t>
            </a:fld>
            <a:endParaRPr lang="zh-CN" altLang="en-US"/>
          </a:p>
        </p:txBody>
      </p:sp>
    </p:spTree>
    <p:extLst>
      <p:ext uri="{BB962C8B-B14F-4D97-AF65-F5344CB8AC3E}">
        <p14:creationId xmlns:p14="http://schemas.microsoft.com/office/powerpoint/2010/main" val="3407933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870597" y="1579519"/>
            <a:ext cx="4611732" cy="449348"/>
          </a:xfrm>
          <a:prstGeom prst="rect">
            <a:avLst/>
          </a:prstGeom>
          <a:noFill/>
          <a:effectLst>
            <a:outerShdw blurRad="50800" dist="38100" dir="16200000" rotWithShape="0">
              <a:prstClr val="black">
                <a:alpha val="40000"/>
              </a:prstClr>
            </a:outerShdw>
            <a:softEdge rad="12700"/>
          </a:effectLst>
        </p:spPr>
        <p:txBody>
          <a:bodyPr wrap="square" lIns="79242" tIns="39621" rIns="79242" bIns="39621" rtlCol="0">
            <a:spAutoFit/>
          </a:bodyPr>
          <a:lstStyle/>
          <a:p>
            <a:pPr marL="342900" indent="-342900">
              <a:buFont typeface="Wingdings" panose="05000000000000000000" pitchFamily="2" charset="2"/>
              <a:buChar char="l"/>
            </a:pPr>
            <a:r>
              <a:rPr lang="zh-CN" altLang="en-US" sz="2400" spc="50" dirty="0" smtClean="0">
                <a:solidFill>
                  <a:srgbClr val="C00000"/>
                </a:solidFill>
                <a:latin typeface="Times New Roman" panose="02020603050405020304" pitchFamily="18" charset="0"/>
                <a:ea typeface="微软雅黑" pitchFamily="34" charset="-122"/>
                <a:cs typeface="Times New Roman" panose="02020603050405020304" pitchFamily="18" charset="0"/>
              </a:rPr>
              <a:t>流动</a:t>
            </a:r>
            <a:endParaRPr lang="en-US" altLang="zh-CN" sz="2400" spc="50" dirty="0">
              <a:latin typeface="Times New Roman" panose="02020603050405020304" pitchFamily="18" charset="0"/>
              <a:ea typeface="微软雅黑" pitchFamily="34" charset="-122"/>
              <a:cs typeface="Times New Roman" panose="02020603050405020304" pitchFamily="18" charset="0"/>
            </a:endParaRPr>
          </a:p>
        </p:txBody>
      </p:sp>
      <p:pic>
        <p:nvPicPr>
          <p:cNvPr id="6" name="图片 5"/>
          <p:cNvPicPr/>
          <p:nvPr/>
        </p:nvPicPr>
        <p:blipFill>
          <a:blip r:embed="rId3">
            <a:extLst>
              <a:ext uri="{28A0092B-C50C-407E-A947-70E740481C1C}">
                <a14:useLocalDpi xmlns:a14="http://schemas.microsoft.com/office/drawing/2010/main" val="0"/>
              </a:ext>
            </a:extLst>
          </a:blip>
          <a:stretch>
            <a:fillRect/>
          </a:stretch>
        </p:blipFill>
        <p:spPr>
          <a:xfrm>
            <a:off x="0" y="2290605"/>
            <a:ext cx="5705475" cy="3630150"/>
          </a:xfrm>
          <a:prstGeom prst="rect">
            <a:avLst/>
          </a:prstGeom>
        </p:spPr>
      </p:pic>
      <p:pic>
        <p:nvPicPr>
          <p:cNvPr id="11" name="图片 10" descr="K:\D形截面振动研究\多棱柱流致振动实验\多棱柱vortex formation length\投稿\Figure\16-1.emf"/>
          <p:cNvPicPr/>
          <p:nvPr/>
        </p:nvPicPr>
        <p:blipFill rotWithShape="1">
          <a:blip r:embed="rId4">
            <a:extLst>
              <a:ext uri="{28A0092B-C50C-407E-A947-70E740481C1C}">
                <a14:useLocalDpi xmlns:a14="http://schemas.microsoft.com/office/drawing/2010/main" val="0"/>
              </a:ext>
            </a:extLst>
          </a:blip>
          <a:srcRect r="50000"/>
          <a:stretch/>
        </p:blipFill>
        <p:spPr bwMode="auto">
          <a:xfrm>
            <a:off x="5611965" y="2985089"/>
            <a:ext cx="3330370" cy="3105345"/>
          </a:xfrm>
          <a:prstGeom prst="rect">
            <a:avLst/>
          </a:prstGeom>
          <a:noFill/>
          <a:ln>
            <a:noFill/>
          </a:ln>
        </p:spPr>
      </p:pic>
      <p:pic>
        <p:nvPicPr>
          <p:cNvPr id="12"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77150" y="1477040"/>
            <a:ext cx="2340260" cy="46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对象 12"/>
          <p:cNvGraphicFramePr>
            <a:graphicFrameLocks noChangeAspect="1"/>
          </p:cNvGraphicFramePr>
          <p:nvPr>
            <p:extLst/>
          </p:nvPr>
        </p:nvGraphicFramePr>
        <p:xfrm>
          <a:off x="6387652" y="2075005"/>
          <a:ext cx="4995555" cy="585989"/>
        </p:xfrm>
        <a:graphic>
          <a:graphicData uri="http://schemas.openxmlformats.org/presentationml/2006/ole">
            <mc:AlternateContent xmlns:mc="http://schemas.openxmlformats.org/markup-compatibility/2006">
              <mc:Choice xmlns:v="urn:schemas-microsoft-com:vml" Requires="v">
                <p:oleObj spid="_x0000_s1031" name="Equation" r:id="rId6" imgW="3251200" imgH="381000" progId="Equation.DSMT4">
                  <p:embed/>
                </p:oleObj>
              </mc:Choice>
              <mc:Fallback>
                <p:oleObj name="Equation" r:id="rId6" imgW="3251200" imgH="381000" progId="Equation.DSMT4">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87652" y="2075005"/>
                        <a:ext cx="4995555" cy="585989"/>
                      </a:xfrm>
                      <a:prstGeom prst="rect">
                        <a:avLst/>
                      </a:prstGeom>
                      <a:noFill/>
                    </p:spPr>
                  </p:pic>
                </p:oleObj>
              </mc:Fallback>
            </mc:AlternateContent>
          </a:graphicData>
        </a:graphic>
      </p:graphicFrame>
      <p:grpSp>
        <p:nvGrpSpPr>
          <p:cNvPr id="14" name="组合 13"/>
          <p:cNvGrpSpPr/>
          <p:nvPr/>
        </p:nvGrpSpPr>
        <p:grpSpPr>
          <a:xfrm>
            <a:off x="8895090" y="3286125"/>
            <a:ext cx="3296910" cy="2804309"/>
            <a:chOff x="5247075" y="3879050"/>
            <a:chExt cx="3330370" cy="2790310"/>
          </a:xfrm>
        </p:grpSpPr>
        <p:pic>
          <p:nvPicPr>
            <p:cNvPr id="15" name="图片 14" descr="K:\D形截面振动研究\多棱柱流致振动实验\多棱柱vortex formation length\投稿\Figure\16-1.emf"/>
            <p:cNvPicPr/>
            <p:nvPr/>
          </p:nvPicPr>
          <p:blipFill rotWithShape="1">
            <a:blip r:embed="rId4">
              <a:extLst>
                <a:ext uri="{28A0092B-C50C-407E-A947-70E740481C1C}">
                  <a14:useLocalDpi xmlns:a14="http://schemas.microsoft.com/office/drawing/2010/main" val="0"/>
                </a:ext>
              </a:extLst>
            </a:blip>
            <a:srcRect l="50000" t="10112"/>
            <a:stretch/>
          </p:blipFill>
          <p:spPr bwMode="auto">
            <a:xfrm>
              <a:off x="5247075" y="3879050"/>
              <a:ext cx="3330370" cy="2790310"/>
            </a:xfrm>
            <a:prstGeom prst="rect">
              <a:avLst/>
            </a:prstGeom>
            <a:noFill/>
            <a:ln>
              <a:noFill/>
            </a:ln>
          </p:spPr>
        </p:pic>
        <p:pic>
          <p:nvPicPr>
            <p:cNvPr id="1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27295" y="4149080"/>
              <a:ext cx="918135" cy="1457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 name="灯片编号占位符 1"/>
          <p:cNvSpPr>
            <a:spLocks noGrp="1"/>
          </p:cNvSpPr>
          <p:nvPr>
            <p:ph type="sldNum" sz="quarter" idx="12"/>
          </p:nvPr>
        </p:nvSpPr>
        <p:spPr/>
        <p:txBody>
          <a:bodyPr/>
          <a:lstStyle/>
          <a:p>
            <a:fld id="{16D8DD02-547D-47A5-AAEA-525C7BEEAE57}" type="slidenum">
              <a:rPr lang="zh-CN" altLang="en-US" smtClean="0"/>
              <a:t>5</a:t>
            </a:fld>
            <a:endParaRPr lang="zh-CN" altLang="en-US"/>
          </a:p>
        </p:txBody>
      </p:sp>
    </p:spTree>
    <p:extLst>
      <p:ext uri="{BB962C8B-B14F-4D97-AF65-F5344CB8AC3E}">
        <p14:creationId xmlns:p14="http://schemas.microsoft.com/office/powerpoint/2010/main" val="529843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84872" y="1417793"/>
            <a:ext cx="4611732" cy="449348"/>
          </a:xfrm>
          <a:prstGeom prst="rect">
            <a:avLst/>
          </a:prstGeom>
          <a:noFill/>
          <a:effectLst>
            <a:outerShdw blurRad="50800" dist="38100" dir="16200000" rotWithShape="0">
              <a:prstClr val="black">
                <a:alpha val="40000"/>
              </a:prstClr>
            </a:outerShdw>
            <a:softEdge rad="12700"/>
          </a:effectLst>
        </p:spPr>
        <p:txBody>
          <a:bodyPr wrap="square" lIns="79242" tIns="39621" rIns="79242" bIns="39621" rtlCol="0">
            <a:spAutoFit/>
          </a:bodyPr>
          <a:lstStyle/>
          <a:p>
            <a:pPr marL="342900" indent="-342900">
              <a:buFont typeface="Wingdings" panose="05000000000000000000" pitchFamily="2" charset="2"/>
              <a:buChar char="l"/>
            </a:pPr>
            <a:r>
              <a:rPr lang="zh-CN" altLang="en-US" sz="2400" spc="50" dirty="0" smtClean="0">
                <a:solidFill>
                  <a:srgbClr val="C00000"/>
                </a:solidFill>
                <a:latin typeface="Times New Roman" panose="02020603050405020304" pitchFamily="18" charset="0"/>
                <a:ea typeface="微软雅黑" pitchFamily="34" charset="-122"/>
                <a:cs typeface="Times New Roman" panose="02020603050405020304" pitchFamily="18" charset="0"/>
              </a:rPr>
              <a:t>流动</a:t>
            </a:r>
            <a:endParaRPr lang="en-US" altLang="zh-CN" sz="2400" spc="50" dirty="0">
              <a:latin typeface="Times New Roman" panose="02020603050405020304" pitchFamily="18" charset="0"/>
              <a:ea typeface="微软雅黑" pitchFamily="34" charset="-122"/>
              <a:cs typeface="Times New Roman" panose="02020603050405020304" pitchFamily="18" charset="0"/>
            </a:endParaRPr>
          </a:p>
        </p:txBody>
      </p:sp>
      <p:pic>
        <p:nvPicPr>
          <p:cNvPr id="10" name="图片 9" descr="K:\D形截面振动研究\多棱柱流致振动实验\多棱柱vortex formation length\投稿\Figure\徐老师要求图\fig14_final.emf"/>
          <p:cNvPicPr/>
          <p:nvPr/>
        </p:nvPicPr>
        <p:blipFill rotWithShape="1">
          <a:blip r:embed="rId2" cstate="print">
            <a:extLst>
              <a:ext uri="{28A0092B-C50C-407E-A947-70E740481C1C}">
                <a14:useLocalDpi xmlns:a14="http://schemas.microsoft.com/office/drawing/2010/main" val="0"/>
              </a:ext>
            </a:extLst>
          </a:blip>
          <a:srcRect l="2339" r="2792"/>
          <a:stretch/>
        </p:blipFill>
        <p:spPr bwMode="auto">
          <a:xfrm>
            <a:off x="843052" y="1878856"/>
            <a:ext cx="5040560" cy="3624498"/>
          </a:xfrm>
          <a:prstGeom prst="rect">
            <a:avLst/>
          </a:prstGeom>
          <a:noFill/>
          <a:ln>
            <a:noFill/>
          </a:ln>
          <a:extLst>
            <a:ext uri="{53640926-AAD7-44D8-BBD7-CCE9431645EC}">
              <a14:shadowObscured xmlns:a14="http://schemas.microsoft.com/office/drawing/2010/main"/>
            </a:ext>
          </a:extLst>
        </p:spPr>
      </p:pic>
      <p:sp>
        <p:nvSpPr>
          <p:cNvPr id="16" name="矩形 15"/>
          <p:cNvSpPr/>
          <p:nvPr/>
        </p:nvSpPr>
        <p:spPr>
          <a:xfrm>
            <a:off x="6296343" y="2333658"/>
            <a:ext cx="4979400" cy="2862322"/>
          </a:xfrm>
          <a:prstGeom prst="rect">
            <a:avLst/>
          </a:prstGeom>
        </p:spPr>
        <p:txBody>
          <a:bodyPr wrap="square">
            <a:spAutoFit/>
          </a:bodyPr>
          <a:lstStyle/>
          <a:p>
            <a:pPr marL="342900" indent="-342900" algn="just">
              <a:buFontTx/>
              <a:buAutoNum type="alphaLcParenBoth"/>
            </a:pPr>
            <a:r>
              <a:rPr lang="en-US" altLang="zh-CN" dirty="0">
                <a:solidFill>
                  <a:prstClr val="black"/>
                </a:solidFill>
                <a:latin typeface="Times New Roman" panose="02020603050405020304" pitchFamily="18" charset="0"/>
                <a:cs typeface="Times New Roman" panose="02020603050405020304" pitchFamily="18" charset="0"/>
              </a:rPr>
              <a:t>raw vortex;</a:t>
            </a:r>
          </a:p>
          <a:p>
            <a:pPr marL="342900" indent="-342900" algn="just">
              <a:buFontTx/>
              <a:buAutoNum type="alphaLcParenBoth"/>
            </a:pPr>
            <a:endParaRPr lang="en-US" altLang="zh-CN" dirty="0">
              <a:solidFill>
                <a:prstClr val="black"/>
              </a:solidFill>
              <a:latin typeface="Times New Roman" panose="02020603050405020304" pitchFamily="18" charset="0"/>
              <a:cs typeface="Times New Roman" panose="02020603050405020304" pitchFamily="18" charset="0"/>
            </a:endParaRPr>
          </a:p>
          <a:p>
            <a:pPr algn="just"/>
            <a:r>
              <a:rPr lang="en-US" altLang="zh-CN" dirty="0">
                <a:solidFill>
                  <a:prstClr val="black"/>
                </a:solidFill>
                <a:latin typeface="Times New Roman" panose="02020603050405020304" pitchFamily="18" charset="0"/>
                <a:cs typeface="Times New Roman" panose="02020603050405020304" pitchFamily="18" charset="0"/>
              </a:rPr>
              <a:t> (b) reduced order re-constructed vortex;</a:t>
            </a:r>
          </a:p>
          <a:p>
            <a:pPr algn="just"/>
            <a:endParaRPr lang="en-US" altLang="zh-CN" dirty="0">
              <a:solidFill>
                <a:prstClr val="black"/>
              </a:solidFill>
              <a:latin typeface="Times New Roman" panose="02020603050405020304" pitchFamily="18" charset="0"/>
              <a:cs typeface="Times New Roman" panose="02020603050405020304" pitchFamily="18" charset="0"/>
            </a:endParaRPr>
          </a:p>
          <a:p>
            <a:pPr algn="just"/>
            <a:r>
              <a:rPr lang="en-US" altLang="zh-CN" dirty="0">
                <a:solidFill>
                  <a:prstClr val="black"/>
                </a:solidFill>
                <a:latin typeface="Times New Roman" panose="02020603050405020304" pitchFamily="18" charset="0"/>
                <a:cs typeface="Times New Roman" panose="02020603050405020304" pitchFamily="18" charset="0"/>
              </a:rPr>
              <a:t> (c) filtered by </a:t>
            </a:r>
            <a:r>
              <a:rPr lang="en-US" altLang="zh-CN" i="1" dirty="0" err="1">
                <a:solidFill>
                  <a:prstClr val="black"/>
                </a:solidFill>
                <a:latin typeface="Times New Roman" panose="02020603050405020304" pitchFamily="18" charset="0"/>
                <a:cs typeface="Times New Roman" panose="02020603050405020304" pitchFamily="18" charset="0"/>
              </a:rPr>
              <a:t>λ</a:t>
            </a:r>
            <a:r>
              <a:rPr lang="en-US" altLang="zh-CN" baseline="-25000" dirty="0" err="1">
                <a:solidFill>
                  <a:prstClr val="black"/>
                </a:solidFill>
                <a:latin typeface="Times New Roman" panose="02020603050405020304" pitchFamily="18" charset="0"/>
                <a:cs typeface="Times New Roman" panose="02020603050405020304" pitchFamily="18" charset="0"/>
              </a:rPr>
              <a:t>ci</a:t>
            </a:r>
            <a:r>
              <a:rPr lang="en-US" altLang="zh-CN" i="1" dirty="0" err="1">
                <a:solidFill>
                  <a:prstClr val="black"/>
                </a:solidFill>
                <a:latin typeface="Times New Roman" panose="02020603050405020304" pitchFamily="18" charset="0"/>
                <a:cs typeface="Times New Roman" panose="02020603050405020304" pitchFamily="18" charset="0"/>
              </a:rPr>
              <a:t>D</a:t>
            </a:r>
            <a:r>
              <a:rPr lang="en-US" altLang="zh-CN" dirty="0">
                <a:solidFill>
                  <a:prstClr val="black"/>
                </a:solidFill>
                <a:latin typeface="Times New Roman" panose="02020603050405020304" pitchFamily="18" charset="0"/>
                <a:cs typeface="Times New Roman" panose="02020603050405020304" pitchFamily="18" charset="0"/>
              </a:rPr>
              <a:t>/</a:t>
            </a:r>
            <a:r>
              <a:rPr lang="en-US" altLang="zh-CN" i="1" dirty="0">
                <a:solidFill>
                  <a:prstClr val="black"/>
                </a:solidFill>
                <a:latin typeface="Times New Roman" panose="02020603050405020304" pitchFamily="18" charset="0"/>
                <a:cs typeface="Times New Roman" panose="02020603050405020304" pitchFamily="18" charset="0"/>
              </a:rPr>
              <a:t>U</a:t>
            </a:r>
            <a:r>
              <a:rPr lang="en-US" altLang="zh-CN" baseline="-25000" dirty="0">
                <a:solidFill>
                  <a:prstClr val="black"/>
                </a:solidFill>
                <a:latin typeface="Times New Roman" panose="02020603050405020304" pitchFamily="18" charset="0"/>
                <a:cs typeface="Times New Roman" panose="02020603050405020304" pitchFamily="18" charset="0"/>
              </a:rPr>
              <a:t>0</a:t>
            </a:r>
            <a:r>
              <a:rPr lang="en-US" altLang="zh-CN" dirty="0">
                <a:solidFill>
                  <a:prstClr val="black"/>
                </a:solidFill>
                <a:latin typeface="Times New Roman" panose="02020603050405020304" pitchFamily="18" charset="0"/>
                <a:cs typeface="Times New Roman" panose="02020603050405020304" pitchFamily="18" charset="0"/>
              </a:rPr>
              <a:t> &gt; 0.13; </a:t>
            </a:r>
          </a:p>
          <a:p>
            <a:pPr algn="just"/>
            <a:endParaRPr lang="en-US" altLang="zh-CN" dirty="0">
              <a:solidFill>
                <a:prstClr val="black"/>
              </a:solidFill>
              <a:latin typeface="Times New Roman" panose="02020603050405020304" pitchFamily="18" charset="0"/>
              <a:cs typeface="Times New Roman" panose="02020603050405020304" pitchFamily="18" charset="0"/>
            </a:endParaRPr>
          </a:p>
          <a:p>
            <a:pPr algn="just"/>
            <a:r>
              <a:rPr lang="en-US" altLang="zh-CN" dirty="0">
                <a:solidFill>
                  <a:prstClr val="black"/>
                </a:solidFill>
                <a:latin typeface="Times New Roman" panose="02020603050405020304" pitchFamily="18" charset="0"/>
                <a:cs typeface="Times New Roman" panose="02020603050405020304" pitchFamily="18" charset="0"/>
              </a:rPr>
              <a:t>(d) the boundary of the identified coherent vortices following a </a:t>
            </a:r>
            <a:r>
              <a:rPr lang="en-US" altLang="zh-CN" b="1" dirty="0">
                <a:solidFill>
                  <a:srgbClr val="C00000"/>
                </a:solidFill>
                <a:latin typeface="Times New Roman" panose="02020603050405020304" pitchFamily="18" charset="0"/>
                <a:cs typeface="Times New Roman" panose="02020603050405020304" pitchFamily="18" charset="0"/>
              </a:rPr>
              <a:t>standard watershed segmentation</a:t>
            </a:r>
            <a:r>
              <a:rPr lang="en-US" altLang="zh-CN" dirty="0">
                <a:solidFill>
                  <a:prstClr val="black"/>
                </a:solidFill>
                <a:latin typeface="Times New Roman" panose="02020603050405020304" pitchFamily="18" charset="0"/>
                <a:cs typeface="Times New Roman" panose="02020603050405020304" pitchFamily="18" charset="0"/>
              </a:rPr>
              <a:t> on (c). The </a:t>
            </a:r>
            <a:r>
              <a:rPr lang="en-US" altLang="zh-CN" dirty="0" err="1">
                <a:solidFill>
                  <a:prstClr val="black"/>
                </a:solidFill>
                <a:latin typeface="Times New Roman" panose="02020603050405020304" pitchFamily="18" charset="0"/>
                <a:cs typeface="Times New Roman" panose="02020603050405020304" pitchFamily="18" charset="0"/>
              </a:rPr>
              <a:t>λ</a:t>
            </a:r>
            <a:r>
              <a:rPr lang="en-US" altLang="zh-CN" baseline="-25000" dirty="0" err="1">
                <a:solidFill>
                  <a:prstClr val="black"/>
                </a:solidFill>
                <a:latin typeface="Times New Roman" panose="02020603050405020304" pitchFamily="18" charset="0"/>
                <a:cs typeface="Times New Roman" panose="02020603050405020304" pitchFamily="18" charset="0"/>
              </a:rPr>
              <a:t>ci</a:t>
            </a:r>
            <a:r>
              <a:rPr lang="en-US" altLang="zh-CN" dirty="0">
                <a:solidFill>
                  <a:prstClr val="black"/>
                </a:solidFill>
                <a:latin typeface="Times New Roman" panose="02020603050405020304" pitchFamily="18" charset="0"/>
                <a:cs typeface="Times New Roman" panose="02020603050405020304" pitchFamily="18" charset="0"/>
              </a:rPr>
              <a:t> weighted centroids for the vortices identified in (d) are marked as asterisks in (a).</a:t>
            </a:r>
            <a:endParaRPr lang="zh-CN" altLang="en-US" dirty="0">
              <a:solidFill>
                <a:prstClr val="black"/>
              </a:solidFill>
              <a:latin typeface="Times New Roman" panose="02020603050405020304" pitchFamily="18" charset="0"/>
              <a:cs typeface="Times New Roman" panose="02020603050405020304" pitchFamily="18" charset="0"/>
            </a:endParaRPr>
          </a:p>
        </p:txBody>
      </p:sp>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01049" y="5713819"/>
            <a:ext cx="1460366" cy="9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61415" y="5710442"/>
            <a:ext cx="1530170" cy="9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p:cNvSpPr/>
          <p:nvPr/>
        </p:nvSpPr>
        <p:spPr>
          <a:xfrm>
            <a:off x="4745757" y="5987714"/>
            <a:ext cx="6529986" cy="369332"/>
          </a:xfrm>
          <a:prstGeom prst="rect">
            <a:avLst/>
          </a:prstGeom>
        </p:spPr>
        <p:txBody>
          <a:bodyPr wrap="square">
            <a:spAutoFit/>
          </a:bodyPr>
          <a:lstStyle/>
          <a:p>
            <a:r>
              <a:rPr lang="en-US" altLang="zh-CN" dirty="0">
                <a:solidFill>
                  <a:prstClr val="black"/>
                </a:solidFill>
                <a:latin typeface="Times New Roman" panose="02020603050405020304" pitchFamily="18" charset="0"/>
                <a:cs typeface="Times New Roman" panose="02020603050405020304" pitchFamily="18" charset="0"/>
              </a:rPr>
              <a:t>Vortex center position can been  calculated based on the left formula</a:t>
            </a:r>
            <a:endParaRPr lang="zh-CN" altLang="en-US" i="1" dirty="0">
              <a:solidFill>
                <a:prstClr val="black"/>
              </a:solidFill>
              <a:latin typeface="Times New Roman" panose="02020603050405020304" pitchFamily="18" charset="0"/>
              <a:cs typeface="Times New Roman" panose="02020603050405020304" pitchFamily="18" charset="0"/>
            </a:endParaRPr>
          </a:p>
        </p:txBody>
      </p:sp>
      <p:sp>
        <p:nvSpPr>
          <p:cNvPr id="20" name="矩形 19"/>
          <p:cNvSpPr/>
          <p:nvPr/>
        </p:nvSpPr>
        <p:spPr>
          <a:xfrm>
            <a:off x="1414407" y="5626340"/>
            <a:ext cx="3244708" cy="10861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矩形 20"/>
          <p:cNvSpPr/>
          <p:nvPr/>
        </p:nvSpPr>
        <p:spPr>
          <a:xfrm>
            <a:off x="6296343" y="1636308"/>
            <a:ext cx="3442438" cy="461665"/>
          </a:xfrm>
          <a:prstGeom prst="rect">
            <a:avLst/>
          </a:prstGeom>
        </p:spPr>
        <p:txBody>
          <a:bodyPr wrap="square">
            <a:spAutoFit/>
          </a:bodyPr>
          <a:lstStyle/>
          <a:p>
            <a:r>
              <a:rPr lang="en-US" altLang="zh-CN" sz="2400" b="1" dirty="0">
                <a:solidFill>
                  <a:prstClr val="black"/>
                </a:solidFill>
              </a:rPr>
              <a:t>Re-constructed Vortices</a:t>
            </a:r>
            <a:endParaRPr lang="zh-CN" altLang="en-US" sz="2400" b="1" dirty="0">
              <a:solidFill>
                <a:prstClr val="black"/>
              </a:solidFill>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6</a:t>
            </a:fld>
            <a:endParaRPr lang="zh-CN" altLang="en-US"/>
          </a:p>
        </p:txBody>
      </p:sp>
    </p:spTree>
    <p:extLst>
      <p:ext uri="{BB962C8B-B14F-4D97-AF65-F5344CB8AC3E}">
        <p14:creationId xmlns:p14="http://schemas.microsoft.com/office/powerpoint/2010/main" val="13558448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24001" y="9678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graphicFrame>
        <p:nvGraphicFramePr>
          <p:cNvPr id="6" name="对象 5"/>
          <p:cNvGraphicFramePr>
            <a:graphicFrameLocks noChangeAspect="1"/>
          </p:cNvGraphicFramePr>
          <p:nvPr>
            <p:extLst/>
          </p:nvPr>
        </p:nvGraphicFramePr>
        <p:xfrm>
          <a:off x="1839913" y="4986571"/>
          <a:ext cx="3733800" cy="765175"/>
        </p:xfrm>
        <a:graphic>
          <a:graphicData uri="http://schemas.openxmlformats.org/presentationml/2006/ole">
            <mc:AlternateContent xmlns:mc="http://schemas.openxmlformats.org/markup-compatibility/2006">
              <mc:Choice xmlns:v="urn:schemas-microsoft-com:vml" Requires="v">
                <p:oleObj spid="_x0000_s2055" name="Equation" r:id="rId4" imgW="2831760" imgH="583920" progId="Equation.DSMT4">
                  <p:embed/>
                </p:oleObj>
              </mc:Choice>
              <mc:Fallback>
                <p:oleObj name="Equation" r:id="rId4" imgW="2831760" imgH="583920" progId="Equation.DSMT4">
                  <p:embed/>
                  <p:pic>
                    <p:nvPicPr>
                      <p:cNvPr id="6" name="对象 5"/>
                      <p:cNvPicPr>
                        <a:picLocks noChangeAspect="1" noChangeArrowheads="1"/>
                      </p:cNvPicPr>
                      <p:nvPr/>
                    </p:nvPicPr>
                    <p:blipFill>
                      <a:blip r:embed="rId5"/>
                      <a:srcRect/>
                      <a:stretch>
                        <a:fillRect/>
                      </a:stretch>
                    </p:blipFill>
                    <p:spPr bwMode="auto">
                      <a:xfrm>
                        <a:off x="1839913" y="4986571"/>
                        <a:ext cx="3733800" cy="765175"/>
                      </a:xfrm>
                      <a:prstGeom prst="rect">
                        <a:avLst/>
                      </a:prstGeom>
                      <a:noFill/>
                    </p:spPr>
                  </p:pic>
                </p:oleObj>
              </mc:Fallback>
            </mc:AlternateContent>
          </a:graphicData>
        </a:graphic>
      </p:graphicFrame>
      <p:sp>
        <p:nvSpPr>
          <p:cNvPr id="23" name="矩形 22"/>
          <p:cNvSpPr/>
          <p:nvPr/>
        </p:nvSpPr>
        <p:spPr>
          <a:xfrm>
            <a:off x="2090555" y="4740831"/>
            <a:ext cx="3303138" cy="307777"/>
          </a:xfrm>
          <a:prstGeom prst="rect">
            <a:avLst/>
          </a:prstGeom>
        </p:spPr>
        <p:txBody>
          <a:bodyPr wrap="square">
            <a:spAutoFit/>
          </a:bodyPr>
          <a:lstStyle/>
          <a:p>
            <a:r>
              <a:rPr lang="en-US" altLang="zh-CN" sz="1400" dirty="0">
                <a:solidFill>
                  <a:prstClr val="black"/>
                </a:solidFill>
                <a:latin typeface="Times New Roman" panose="02020603050405020304" pitchFamily="18" charset="0"/>
                <a:cs typeface="Times New Roman" panose="02020603050405020304" pitchFamily="18" charset="0"/>
              </a:rPr>
              <a:t>(</a:t>
            </a:r>
            <a:r>
              <a:rPr lang="en-US" altLang="zh-CN" sz="1400" i="1" dirty="0">
                <a:solidFill>
                  <a:prstClr val="black"/>
                </a:solidFill>
                <a:latin typeface="Times New Roman" panose="02020603050405020304" pitchFamily="18" charset="0"/>
                <a:cs typeface="Times New Roman" panose="02020603050405020304" pitchFamily="18" charset="0"/>
              </a:rPr>
              <a:t>C</a:t>
            </a:r>
            <a:r>
              <a:rPr lang="en-US" altLang="zh-CN" sz="1400" i="1" baseline="-25000" dirty="0">
                <a:solidFill>
                  <a:prstClr val="black"/>
                </a:solidFill>
                <a:latin typeface="Times New Roman" panose="02020603050405020304" pitchFamily="18" charset="0"/>
                <a:cs typeface="Times New Roman" panose="02020603050405020304" pitchFamily="18" charset="0"/>
              </a:rPr>
              <a:t>L</a:t>
            </a:r>
            <a:r>
              <a:rPr lang="en-US" altLang="zh-CN" sz="1400" dirty="0">
                <a:solidFill>
                  <a:prstClr val="black"/>
                </a:solidFill>
                <a:latin typeface="Times New Roman" panose="02020603050405020304" pitchFamily="18" charset="0"/>
                <a:cs typeface="Times New Roman" panose="02020603050405020304" pitchFamily="18" charset="0"/>
              </a:rPr>
              <a:t> is obtained from </a:t>
            </a:r>
            <a:r>
              <a:rPr lang="en-US" altLang="zh-CN" sz="1400" dirty="0" err="1">
                <a:solidFill>
                  <a:prstClr val="black"/>
                </a:solidFill>
                <a:latin typeface="Times New Roman" panose="02020603050405020304" pitchFamily="18" charset="0"/>
                <a:cs typeface="Times New Roman" panose="02020603050405020304" pitchFamily="18" charset="0"/>
              </a:rPr>
              <a:t>Xu</a:t>
            </a:r>
            <a:r>
              <a:rPr lang="en-US" altLang="zh-CN" sz="1400" dirty="0">
                <a:solidFill>
                  <a:prstClr val="black"/>
                </a:solidFill>
                <a:latin typeface="Times New Roman" panose="02020603050405020304" pitchFamily="18" charset="0"/>
                <a:cs typeface="Times New Roman" panose="02020603050405020304" pitchFamily="18" charset="0"/>
              </a:rPr>
              <a:t> </a:t>
            </a:r>
            <a:r>
              <a:rPr lang="en-US" altLang="zh-CN" sz="1400" i="1" dirty="0">
                <a:solidFill>
                  <a:prstClr val="black"/>
                </a:solidFill>
                <a:latin typeface="Times New Roman" panose="02020603050405020304" pitchFamily="18" charset="0"/>
                <a:cs typeface="Times New Roman" panose="02020603050405020304" pitchFamily="18" charset="0"/>
              </a:rPr>
              <a:t>et al</a:t>
            </a:r>
            <a:r>
              <a:rPr lang="en-US" altLang="zh-CN" sz="1400" dirty="0">
                <a:solidFill>
                  <a:prstClr val="black"/>
                </a:solidFill>
                <a:latin typeface="Times New Roman" panose="02020603050405020304" pitchFamily="18" charset="0"/>
                <a:cs typeface="Times New Roman" panose="02020603050405020304" pitchFamily="18" charset="0"/>
              </a:rPr>
              <a:t>, JFM, 2017.)</a:t>
            </a:r>
          </a:p>
        </p:txBody>
      </p:sp>
      <p:cxnSp>
        <p:nvCxnSpPr>
          <p:cNvPr id="9" name="直接连接符 8"/>
          <p:cNvCxnSpPr/>
          <p:nvPr/>
        </p:nvCxnSpPr>
        <p:spPr>
          <a:xfrm>
            <a:off x="4115780" y="5640931"/>
            <a:ext cx="0" cy="2251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115780" y="5866045"/>
            <a:ext cx="1080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5195900" y="5640931"/>
            <a:ext cx="0" cy="2251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3471008" y="5842436"/>
            <a:ext cx="2540952" cy="338554"/>
          </a:xfrm>
          <a:prstGeom prst="rect">
            <a:avLst/>
          </a:prstGeom>
        </p:spPr>
        <p:txBody>
          <a:bodyPr wrap="none">
            <a:spAutoFit/>
          </a:bodyPr>
          <a:lstStyle/>
          <a:p>
            <a:r>
              <a:rPr lang="en-US" altLang="zh-CN" sz="1600" dirty="0">
                <a:solidFill>
                  <a:prstClr val="black"/>
                </a:solidFill>
                <a:latin typeface="Times New Roman" panose="02020603050405020304" pitchFamily="18" charset="0"/>
                <a:cs typeface="Times New Roman" panose="02020603050405020304" pitchFamily="18" charset="0"/>
              </a:rPr>
              <a:t>Kelvin’s circulation theorem</a:t>
            </a:r>
            <a:endParaRPr lang="zh-CN" altLang="en-US" sz="1600" dirty="0">
              <a:solidFill>
                <a:prstClr val="black"/>
              </a:solidFill>
              <a:latin typeface="Times New Roman" panose="02020603050405020304" pitchFamily="18" charset="0"/>
              <a:cs typeface="Times New Roman" panose="02020603050405020304" pitchFamily="18" charset="0"/>
            </a:endParaRPr>
          </a:p>
        </p:txBody>
      </p:sp>
      <p:pic>
        <p:nvPicPr>
          <p:cNvPr id="405669" name="图片 45" descr="6C_5F_final2"/>
          <p:cNvPicPr>
            <a:picLocks noChangeAspect="1" noChangeArrowheads="1"/>
          </p:cNvPicPr>
          <p:nvPr/>
        </p:nvPicPr>
        <p:blipFill>
          <a:blip r:embed="rId6" cstate="print">
            <a:extLst>
              <a:ext uri="{28A0092B-C50C-407E-A947-70E740481C1C}">
                <a14:useLocalDpi xmlns:a14="http://schemas.microsoft.com/office/drawing/2010/main" val="0"/>
              </a:ext>
            </a:extLst>
          </a:blip>
          <a:srcRect t="43613" b="28902"/>
          <a:stretch>
            <a:fillRect/>
          </a:stretch>
        </p:blipFill>
        <p:spPr bwMode="auto">
          <a:xfrm>
            <a:off x="1337552" y="2489925"/>
            <a:ext cx="4809144" cy="203623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66"/>
          <p:cNvSpPr>
            <a:spLocks noChangeArrowheads="1"/>
          </p:cNvSpPr>
          <p:nvPr/>
        </p:nvSpPr>
        <p:spPr bwMode="auto">
          <a:xfrm>
            <a:off x="1524001" y="11964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4" name="Rectangle 167"/>
          <p:cNvSpPr>
            <a:spLocks noChangeArrowheads="1"/>
          </p:cNvSpPr>
          <p:nvPr/>
        </p:nvSpPr>
        <p:spPr bwMode="auto">
          <a:xfrm>
            <a:off x="1524001" y="37682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sp>
        <p:nvSpPr>
          <p:cNvPr id="8" name="Rectangle 168"/>
          <p:cNvSpPr>
            <a:spLocks noChangeArrowheads="1"/>
          </p:cNvSpPr>
          <p:nvPr/>
        </p:nvSpPr>
        <p:spPr bwMode="auto">
          <a:xfrm>
            <a:off x="1524001" y="6139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solidFill>
                <a:prstClr val="black"/>
              </a:solidFill>
            </a:endParaRPr>
          </a:p>
        </p:txBody>
      </p:sp>
      <p:pic>
        <p:nvPicPr>
          <p:cNvPr id="22" name="图片 21" descr="K:\D形截面振动研究\多棱柱流致振动实验\多棱柱vortex formation length\投稿\Figure\徐老师要求图\tecplot\6C_5F_final2.emf"/>
          <p:cNvPicPr/>
          <p:nvPr/>
        </p:nvPicPr>
        <p:blipFill rotWithShape="1">
          <a:blip r:embed="rId6" cstate="print">
            <a:extLst>
              <a:ext uri="{28A0092B-C50C-407E-A947-70E740481C1C}">
                <a14:useLocalDpi xmlns:a14="http://schemas.microsoft.com/office/drawing/2010/main" val="0"/>
              </a:ext>
            </a:extLst>
          </a:blip>
          <a:srcRect l="7508" t="1492" r="15525" b="56530"/>
          <a:stretch/>
        </p:blipFill>
        <p:spPr bwMode="auto">
          <a:xfrm>
            <a:off x="6696735" y="2455960"/>
            <a:ext cx="4022915" cy="2993830"/>
          </a:xfrm>
          <a:prstGeom prst="rect">
            <a:avLst/>
          </a:prstGeom>
          <a:noFill/>
          <a:ln>
            <a:noFill/>
          </a:ln>
          <a:extLst>
            <a:ext uri="{53640926-AAD7-44D8-BBD7-CCE9431645EC}">
              <a14:shadowObscured xmlns:a14="http://schemas.microsoft.com/office/drawing/2010/main"/>
            </a:ext>
          </a:extLst>
        </p:spPr>
      </p:pic>
      <p:sp>
        <p:nvSpPr>
          <p:cNvPr id="21" name="文本框 20"/>
          <p:cNvSpPr txBox="1"/>
          <p:nvPr/>
        </p:nvSpPr>
        <p:spPr>
          <a:xfrm>
            <a:off x="784872" y="1417793"/>
            <a:ext cx="4611732" cy="449348"/>
          </a:xfrm>
          <a:prstGeom prst="rect">
            <a:avLst/>
          </a:prstGeom>
          <a:noFill/>
          <a:effectLst>
            <a:outerShdw blurRad="50800" dist="38100" dir="16200000" rotWithShape="0">
              <a:prstClr val="black">
                <a:alpha val="40000"/>
              </a:prstClr>
            </a:outerShdw>
            <a:softEdge rad="12700"/>
          </a:effectLst>
        </p:spPr>
        <p:txBody>
          <a:bodyPr wrap="square" lIns="79242" tIns="39621" rIns="79242" bIns="39621" rtlCol="0">
            <a:spAutoFit/>
          </a:bodyPr>
          <a:lstStyle/>
          <a:p>
            <a:pPr marL="342900" indent="-342900">
              <a:buFont typeface="Wingdings" panose="05000000000000000000" pitchFamily="2" charset="2"/>
              <a:buChar char="l"/>
            </a:pPr>
            <a:r>
              <a:rPr lang="zh-CN" altLang="en-US" sz="2400" spc="50" dirty="0" smtClean="0">
                <a:solidFill>
                  <a:srgbClr val="C00000"/>
                </a:solidFill>
                <a:latin typeface="Times New Roman" panose="02020603050405020304" pitchFamily="18" charset="0"/>
                <a:ea typeface="微软雅黑" pitchFamily="34" charset="-122"/>
                <a:cs typeface="Times New Roman" panose="02020603050405020304" pitchFamily="18" charset="0"/>
              </a:rPr>
              <a:t>流动</a:t>
            </a:r>
            <a:endParaRPr lang="en-US" altLang="zh-CN" sz="2400" spc="50" dirty="0">
              <a:latin typeface="Times New Roman" panose="02020603050405020304" pitchFamily="18" charset="0"/>
              <a:ea typeface="微软雅黑" pitchFamily="34" charset="-122"/>
              <a:cs typeface="Times New Roman" panose="02020603050405020304" pitchFamily="18" charset="0"/>
            </a:endParaRPr>
          </a:p>
        </p:txBody>
      </p:sp>
      <p:sp>
        <p:nvSpPr>
          <p:cNvPr id="26" name="矩形 25"/>
          <p:cNvSpPr/>
          <p:nvPr/>
        </p:nvSpPr>
        <p:spPr>
          <a:xfrm>
            <a:off x="3546385" y="1801999"/>
            <a:ext cx="6300700" cy="461665"/>
          </a:xfrm>
          <a:prstGeom prst="rect">
            <a:avLst/>
          </a:prstGeom>
        </p:spPr>
        <p:txBody>
          <a:bodyPr wrap="square">
            <a:spAutoFit/>
          </a:bodyPr>
          <a:lstStyle/>
          <a:p>
            <a:r>
              <a:rPr lang="en-US" altLang="zh-CN" sz="2400" b="1" dirty="0" smtClean="0">
                <a:solidFill>
                  <a:prstClr val="black"/>
                </a:solidFill>
              </a:rPr>
              <a:t>C</a:t>
            </a:r>
            <a:r>
              <a:rPr lang="en-US" altLang="zh-CN" sz="2400" b="1" baseline="-25000" dirty="0" smtClean="0">
                <a:solidFill>
                  <a:prstClr val="black"/>
                </a:solidFill>
              </a:rPr>
              <a:t>L</a:t>
            </a:r>
            <a:r>
              <a:rPr lang="en-US" altLang="zh-CN" sz="2400" b="1" dirty="0" smtClean="0">
                <a:solidFill>
                  <a:prstClr val="black"/>
                </a:solidFill>
              </a:rPr>
              <a:t> obtained based on circulation</a:t>
            </a:r>
            <a:endParaRPr lang="zh-CN" altLang="en-US" sz="2400" b="1" dirty="0">
              <a:solidFill>
                <a:prstClr val="black"/>
              </a:solidFill>
            </a:endParaRPr>
          </a:p>
        </p:txBody>
      </p:sp>
      <p:pic>
        <p:nvPicPr>
          <p:cNvPr id="29" name="图片 2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81900" y="5540308"/>
            <a:ext cx="3686175" cy="784292"/>
          </a:xfrm>
          <a:prstGeom prst="rect">
            <a:avLst/>
          </a:prstGeom>
        </p:spPr>
      </p:pic>
      <p:sp>
        <p:nvSpPr>
          <p:cNvPr id="30" name="矩形 29"/>
          <p:cNvSpPr/>
          <p:nvPr/>
        </p:nvSpPr>
        <p:spPr>
          <a:xfrm>
            <a:off x="6453150" y="5678269"/>
            <a:ext cx="1277857" cy="461665"/>
          </a:xfrm>
          <a:prstGeom prst="rect">
            <a:avLst/>
          </a:prstGeom>
        </p:spPr>
        <p:txBody>
          <a:bodyPr wrap="square">
            <a:spAutoFit/>
          </a:bodyPr>
          <a:lstStyle/>
          <a:p>
            <a:r>
              <a:rPr lang="en-US" altLang="zh-CN" sz="2400" b="1" dirty="0" smtClean="0">
                <a:solidFill>
                  <a:prstClr val="black"/>
                </a:solidFill>
              </a:rPr>
              <a:t>Review:</a:t>
            </a:r>
            <a:endParaRPr lang="zh-CN" altLang="en-US" sz="2400" b="1" dirty="0">
              <a:solidFill>
                <a:prstClr val="black"/>
              </a:solidFill>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7</a:t>
            </a:fld>
            <a:endParaRPr lang="zh-CN" altLang="en-US"/>
          </a:p>
        </p:txBody>
      </p:sp>
    </p:spTree>
    <p:extLst>
      <p:ext uri="{BB962C8B-B14F-4D97-AF65-F5344CB8AC3E}">
        <p14:creationId xmlns:p14="http://schemas.microsoft.com/office/powerpoint/2010/main" val="315348588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WeChat_2020082722384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90846" y="2265575"/>
            <a:ext cx="5632581" cy="3191796"/>
          </a:xfrm>
          <a:prstGeom prst="rect">
            <a:avLst/>
          </a:prstGeom>
        </p:spPr>
      </p:pic>
      <p:pic>
        <p:nvPicPr>
          <p:cNvPr id="2" name="WeChat_20200827224035">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6197598" y="2265575"/>
            <a:ext cx="5632582" cy="3191796"/>
          </a:xfrm>
          <a:prstGeom prst="rect">
            <a:avLst/>
          </a:prstGeom>
        </p:spPr>
      </p:pic>
      <p:sp>
        <p:nvSpPr>
          <p:cNvPr id="4" name="标题 1"/>
          <p:cNvSpPr txBox="1">
            <a:spLocks/>
          </p:cNvSpPr>
          <p:nvPr/>
        </p:nvSpPr>
        <p:spPr>
          <a:xfrm>
            <a:off x="1118118" y="-19991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自动</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PIV</a:t>
            </a:r>
            <a:endParaRPr lang="zh-CN" altLang="en-US" sz="3200" dirty="0"/>
          </a:p>
        </p:txBody>
      </p:sp>
      <p:sp>
        <p:nvSpPr>
          <p:cNvPr id="3" name="日期占位符 2"/>
          <p:cNvSpPr>
            <a:spLocks noGrp="1"/>
          </p:cNvSpPr>
          <p:nvPr>
            <p:ph type="dt" sz="half" idx="10"/>
          </p:nvPr>
        </p:nvSpPr>
        <p:spPr/>
        <p:txBody>
          <a:bodyPr/>
          <a:lstStyle/>
          <a:p>
            <a:fld id="{4D381641-C216-4636-9A56-8621461ECA6B}" type="datetime1">
              <a:rPr lang="zh-CN" altLang="en-US" smtClean="0"/>
              <a:t>2023/5/24</a:t>
            </a:fld>
            <a:endParaRPr lang="zh-CN" altLang="en-US"/>
          </a:p>
        </p:txBody>
      </p:sp>
      <p:sp>
        <p:nvSpPr>
          <p:cNvPr id="5" name="灯片编号占位符 4"/>
          <p:cNvSpPr>
            <a:spLocks noGrp="1"/>
          </p:cNvSpPr>
          <p:nvPr>
            <p:ph type="sldNum" sz="quarter" idx="12"/>
          </p:nvPr>
        </p:nvSpPr>
        <p:spPr/>
        <p:txBody>
          <a:bodyPr/>
          <a:lstStyle/>
          <a:p>
            <a:fld id="{16D8DD02-547D-47A5-AAEA-525C7BEEAE57}" type="slidenum">
              <a:rPr lang="zh-CN" altLang="en-US" smtClean="0"/>
              <a:t>8</a:t>
            </a:fld>
            <a:endParaRPr lang="zh-CN" altLang="en-US"/>
          </a:p>
        </p:txBody>
      </p:sp>
    </p:spTree>
    <p:extLst>
      <p:ext uri="{BB962C8B-B14F-4D97-AF65-F5344CB8AC3E}">
        <p14:creationId xmlns:p14="http://schemas.microsoft.com/office/powerpoint/2010/main" val="31904055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01" fill="hold"/>
                                        <p:tgtEl>
                                          <p:spTgt spid="6"/>
                                        </p:tgtEl>
                                      </p:cBhvr>
                                    </p:cmd>
                                  </p:childTnLst>
                                </p:cTn>
                              </p:par>
                            </p:childTnLst>
                          </p:cTn>
                        </p:par>
                        <p:par>
                          <p:cTn id="7" fill="hold">
                            <p:stCondLst>
                              <p:cond delay="3001"/>
                            </p:stCondLst>
                            <p:childTnLst>
                              <p:par>
                                <p:cTn id="8" presetID="1" presetClass="mediacall" presetSubtype="0" fill="hold" nodeType="afterEffect">
                                  <p:stCondLst>
                                    <p:cond delay="0"/>
                                  </p:stCondLst>
                                  <p:childTnLst>
                                    <p:cmd type="call" cmd="playFrom(0.0)">
                                      <p:cBhvr>
                                        <p:cTn id="9" dur="2097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6"/>
                </p:tgtEl>
              </p:cMediaNode>
            </p:video>
            <p:seq concurrent="1" nextAc="seek">
              <p:cTn id="11" restart="whenNotActive" fill="hold" evtFilter="cancelBubble" nodeType="interactiveSeq">
                <p:stCondLst>
                  <p:cond evt="onClick" delay="0">
                    <p:tgtEl>
                      <p:spTgt spid="6"/>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6"/>
                                        </p:tgtEl>
                                      </p:cBhvr>
                                    </p:cmd>
                                  </p:childTnLst>
                                </p:cTn>
                              </p:par>
                            </p:childTnLst>
                          </p:cTn>
                        </p:par>
                      </p:childTnLst>
                    </p:cTn>
                  </p:par>
                </p:childTnLst>
              </p:cTn>
              <p:nextCondLst>
                <p:cond evt="onClick" delay="0">
                  <p:tgtEl>
                    <p:spTgt spid="6"/>
                  </p:tgtEl>
                </p:cond>
              </p:nextCondLst>
            </p:seq>
            <p:video>
              <p:cMediaNode vol="80000">
                <p:cTn id="16" fill="hold" display="0">
                  <p:stCondLst>
                    <p:cond delay="indefinite"/>
                  </p:stCondLst>
                </p:cTn>
                <p:tgtEl>
                  <p:spTgt spid="2"/>
                </p:tgtEl>
              </p:cMediaNode>
            </p:video>
            <p:seq concurrent="1" nextAc="seek">
              <p:cTn id="17" restart="whenNotActive" fill="hold" evtFilter="cancelBubble" nodeType="interactiveSeq">
                <p:stCondLst>
                  <p:cond evt="onClick" delay="0">
                    <p:tgtEl>
                      <p:spTgt spid="2"/>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111422" y="1880287"/>
            <a:ext cx="5050263" cy="4159905"/>
            <a:chOff x="791615" y="1956215"/>
            <a:chExt cx="5469484" cy="4829751"/>
          </a:xfrm>
        </p:grpSpPr>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615" y="1998220"/>
              <a:ext cx="2564705" cy="2269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7626" y="1956215"/>
              <a:ext cx="2613473" cy="2353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615" y="4446035"/>
              <a:ext cx="2611173" cy="2339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7625" y="4443364"/>
              <a:ext cx="2613473" cy="2334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2"/>
            <p:cNvSpPr txBox="1"/>
            <p:nvPr/>
          </p:nvSpPr>
          <p:spPr>
            <a:xfrm>
              <a:off x="1177037" y="2091744"/>
              <a:ext cx="1019544" cy="374095"/>
            </a:xfrm>
            <a:prstGeom prst="rect">
              <a:avLst/>
            </a:prstGeom>
            <a:solidFill>
              <a:schemeClr val="bg1"/>
            </a:solidFill>
          </p:spPr>
          <p:txBody>
            <a:bodyPr wrap="square" rtlCol="0">
              <a:spAutoFit/>
            </a:bodyPr>
            <a:lstStyle/>
            <a:p>
              <a:pPr algn="ctr"/>
              <a:r>
                <a:rPr lang="en-US" altLang="zh-CN" dirty="0" smtClean="0">
                  <a:latin typeface="Times New Roman" pitchFamily="18" charset="0"/>
                  <a:cs typeface="Times New Roman" pitchFamily="18" charset="0"/>
                </a:rPr>
                <a:t>t = 0.2s</a:t>
              </a:r>
              <a:endParaRPr lang="zh-CN" altLang="en-US" dirty="0">
                <a:latin typeface="Times New Roman" pitchFamily="18" charset="0"/>
                <a:cs typeface="Times New Roman" pitchFamily="18" charset="0"/>
              </a:endParaRPr>
            </a:p>
          </p:txBody>
        </p:sp>
        <p:sp>
          <p:nvSpPr>
            <p:cNvPr id="11" name="TextBox 2"/>
            <p:cNvSpPr txBox="1"/>
            <p:nvPr/>
          </p:nvSpPr>
          <p:spPr>
            <a:xfrm>
              <a:off x="3997798" y="2097235"/>
              <a:ext cx="1019544" cy="374095"/>
            </a:xfrm>
            <a:prstGeom prst="rect">
              <a:avLst/>
            </a:prstGeom>
            <a:solidFill>
              <a:schemeClr val="bg1"/>
            </a:solidFill>
          </p:spPr>
          <p:txBody>
            <a:bodyPr wrap="square" rtlCol="0">
              <a:spAutoFit/>
            </a:bodyPr>
            <a:lstStyle/>
            <a:p>
              <a:pPr algn="ctr"/>
              <a:r>
                <a:rPr lang="en-US" altLang="zh-CN" dirty="0" smtClean="0">
                  <a:latin typeface="Times New Roman" pitchFamily="18" charset="0"/>
                  <a:cs typeface="Times New Roman" pitchFamily="18" charset="0"/>
                </a:rPr>
                <a:t>t = 0.4s</a:t>
              </a:r>
              <a:endParaRPr lang="zh-CN" altLang="en-US" dirty="0">
                <a:latin typeface="Times New Roman" pitchFamily="18" charset="0"/>
                <a:cs typeface="Times New Roman" pitchFamily="18" charset="0"/>
              </a:endParaRPr>
            </a:p>
          </p:txBody>
        </p:sp>
        <p:sp>
          <p:nvSpPr>
            <p:cNvPr id="12" name="TextBox 2"/>
            <p:cNvSpPr txBox="1"/>
            <p:nvPr/>
          </p:nvSpPr>
          <p:spPr>
            <a:xfrm>
              <a:off x="1127079" y="4577478"/>
              <a:ext cx="1019544" cy="374095"/>
            </a:xfrm>
            <a:prstGeom prst="rect">
              <a:avLst/>
            </a:prstGeom>
            <a:solidFill>
              <a:schemeClr val="bg1"/>
            </a:solidFill>
          </p:spPr>
          <p:txBody>
            <a:bodyPr wrap="square" rtlCol="0">
              <a:spAutoFit/>
            </a:bodyPr>
            <a:lstStyle/>
            <a:p>
              <a:pPr algn="ctr"/>
              <a:r>
                <a:rPr lang="en-US" altLang="zh-CN" dirty="0" smtClean="0">
                  <a:latin typeface="Times New Roman" pitchFamily="18" charset="0"/>
                  <a:cs typeface="Times New Roman" pitchFamily="18" charset="0"/>
                </a:rPr>
                <a:t>t = 0.6s</a:t>
              </a:r>
              <a:endParaRPr lang="zh-CN" altLang="en-US" dirty="0">
                <a:latin typeface="Times New Roman" pitchFamily="18" charset="0"/>
                <a:cs typeface="Times New Roman" pitchFamily="18" charset="0"/>
              </a:endParaRPr>
            </a:p>
          </p:txBody>
        </p:sp>
        <p:sp>
          <p:nvSpPr>
            <p:cNvPr id="13" name="TextBox 2"/>
            <p:cNvSpPr txBox="1"/>
            <p:nvPr/>
          </p:nvSpPr>
          <p:spPr>
            <a:xfrm>
              <a:off x="3974279" y="4544855"/>
              <a:ext cx="1019544" cy="374095"/>
            </a:xfrm>
            <a:prstGeom prst="rect">
              <a:avLst/>
            </a:prstGeom>
            <a:solidFill>
              <a:schemeClr val="bg1"/>
            </a:solidFill>
          </p:spPr>
          <p:txBody>
            <a:bodyPr wrap="square" rtlCol="0">
              <a:spAutoFit/>
            </a:bodyPr>
            <a:lstStyle/>
            <a:p>
              <a:pPr algn="ctr"/>
              <a:r>
                <a:rPr lang="en-US" altLang="zh-CN" dirty="0" smtClean="0">
                  <a:latin typeface="Times New Roman" pitchFamily="18" charset="0"/>
                  <a:cs typeface="Times New Roman" pitchFamily="18" charset="0"/>
                </a:rPr>
                <a:t>t = 0.8s</a:t>
              </a:r>
              <a:endParaRPr lang="zh-CN" altLang="en-US" dirty="0">
                <a:latin typeface="Times New Roman" pitchFamily="18" charset="0"/>
                <a:cs typeface="Times New Roman" pitchFamily="18" charset="0"/>
              </a:endParaRPr>
            </a:p>
          </p:txBody>
        </p:sp>
      </p:grpSp>
      <p:grpSp>
        <p:nvGrpSpPr>
          <p:cNvPr id="15" name="组合 14"/>
          <p:cNvGrpSpPr/>
          <p:nvPr/>
        </p:nvGrpSpPr>
        <p:grpSpPr>
          <a:xfrm>
            <a:off x="984738" y="1732085"/>
            <a:ext cx="5115138" cy="4749536"/>
            <a:chOff x="7188744" y="1310017"/>
            <a:chExt cx="5625556" cy="5674982"/>
          </a:xfrm>
        </p:grpSpPr>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4430" y="2945815"/>
              <a:ext cx="5609869" cy="21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88744" y="1310017"/>
              <a:ext cx="5587456" cy="193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91731" y="4840726"/>
              <a:ext cx="5622569" cy="2144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9" name="直接连接符 18"/>
            <p:cNvCxnSpPr/>
            <p:nvPr/>
          </p:nvCxnSpPr>
          <p:spPr>
            <a:xfrm>
              <a:off x="8890000" y="1422400"/>
              <a:ext cx="0" cy="5016915"/>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9575800" y="1422400"/>
              <a:ext cx="0" cy="4975182"/>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0274300" y="1422400"/>
              <a:ext cx="0" cy="4975182"/>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0960100" y="1451433"/>
              <a:ext cx="0" cy="4975182"/>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grpSp>
      <p:sp>
        <p:nvSpPr>
          <p:cNvPr id="2" name="日期占位符 1"/>
          <p:cNvSpPr>
            <a:spLocks noGrp="1"/>
          </p:cNvSpPr>
          <p:nvPr>
            <p:ph type="dt" sz="half" idx="10"/>
          </p:nvPr>
        </p:nvSpPr>
        <p:spPr/>
        <p:txBody>
          <a:bodyPr/>
          <a:lstStyle/>
          <a:p>
            <a:fld id="{0A6D73E6-4516-4224-94BA-FEAF68E9D28F}" type="datetime1">
              <a:rPr lang="zh-CN" altLang="en-US" smtClean="0"/>
              <a:t>2023/5/24</a:t>
            </a:fld>
            <a:endParaRPr lang="zh-CN" altLang="en-US"/>
          </a:p>
        </p:txBody>
      </p:sp>
      <p:sp>
        <p:nvSpPr>
          <p:cNvPr id="3" name="灯片编号占位符 2"/>
          <p:cNvSpPr>
            <a:spLocks noGrp="1"/>
          </p:cNvSpPr>
          <p:nvPr>
            <p:ph type="sldNum" sz="quarter" idx="12"/>
          </p:nvPr>
        </p:nvSpPr>
        <p:spPr/>
        <p:txBody>
          <a:bodyPr/>
          <a:lstStyle/>
          <a:p>
            <a:fld id="{16D8DD02-547D-47A5-AAEA-525C7BEEAE57}" type="slidenum">
              <a:rPr lang="zh-CN" altLang="en-US" smtClean="0"/>
              <a:t>9</a:t>
            </a:fld>
            <a:endParaRPr lang="zh-CN" altLang="en-US"/>
          </a:p>
        </p:txBody>
      </p:sp>
      <p:sp>
        <p:nvSpPr>
          <p:cNvPr id="24" name="标题 1"/>
          <p:cNvSpPr txBox="1">
            <a:spLocks/>
          </p:cNvSpPr>
          <p:nvPr/>
        </p:nvSpPr>
        <p:spPr>
          <a:xfrm>
            <a:off x="1118118" y="-19991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自动</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PIV</a:t>
            </a:r>
            <a:endParaRPr lang="zh-CN" altLang="en-US" sz="3200" dirty="0"/>
          </a:p>
        </p:txBody>
      </p:sp>
    </p:spTree>
    <p:extLst>
      <p:ext uri="{BB962C8B-B14F-4D97-AF65-F5344CB8AC3E}">
        <p14:creationId xmlns:p14="http://schemas.microsoft.com/office/powerpoint/2010/main" val="40950641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757022" y="1391981"/>
            <a:ext cx="5126083" cy="369332"/>
          </a:xfrm>
          <a:prstGeom prst="rect">
            <a:avLst/>
          </a:prstGeom>
          <a:noFill/>
        </p:spPr>
        <p:txBody>
          <a:bodyPr wrap="none" rtlCol="0">
            <a:spAutoFit/>
          </a:bodyPr>
          <a:lstStyle/>
          <a:p>
            <a:pPr marL="285750" indent="-285750">
              <a:buFont typeface="Wingdings" pitchFamily="2" charset="2"/>
              <a:buChar char="Ø"/>
            </a:pPr>
            <a:r>
              <a:rPr lang="zh-CN" altLang="en-US" dirty="0" smtClean="0"/>
              <a:t>汽车周围流场</a:t>
            </a:r>
            <a:r>
              <a:rPr lang="en-US" altLang="zh-CN" dirty="0" smtClean="0"/>
              <a:t>PIV</a:t>
            </a:r>
            <a:r>
              <a:rPr lang="zh-CN" altLang="en-US" dirty="0"/>
              <a:t>空间全自动</a:t>
            </a:r>
            <a:r>
              <a:rPr lang="zh-CN" altLang="en-US" dirty="0" smtClean="0"/>
              <a:t>扫描（</a:t>
            </a:r>
            <a:r>
              <a:rPr lang="en-US" altLang="zh-CN" dirty="0" smtClean="0"/>
              <a:t>Auto-PIV</a:t>
            </a:r>
            <a:r>
              <a:rPr lang="zh-CN" altLang="en-US" dirty="0" smtClean="0"/>
              <a:t>）</a:t>
            </a:r>
            <a:endParaRPr lang="zh-CN" altLang="en-US" dirty="0"/>
          </a:p>
        </p:txBody>
      </p:sp>
      <p:pic>
        <p:nvPicPr>
          <p:cNvPr id="13" name="图片 12"/>
          <p:cNvPicPr>
            <a:picLocks noChangeAspect="1"/>
          </p:cNvPicPr>
          <p:nvPr/>
        </p:nvPicPr>
        <p:blipFill rotWithShape="1">
          <a:blip r:embed="rId2"/>
          <a:srcRect l="3017" r="3482"/>
          <a:stretch/>
        </p:blipFill>
        <p:spPr>
          <a:xfrm>
            <a:off x="522513" y="1947415"/>
            <a:ext cx="7329716" cy="3994365"/>
          </a:xfrm>
          <a:prstGeom prst="rect">
            <a:avLst/>
          </a:prstGeom>
        </p:spPr>
      </p:pic>
      <p:pic>
        <p:nvPicPr>
          <p:cNvPr id="14" name="Picture 4" descr="https://timgsa.baidu.com/timg?image&amp;quality=80&amp;size=b9999_10000&amp;sec=1561402866719&amp;di=4580f215e38098b8879fe41bf02fc440&amp;imgtype=0&amp;src=http%3A%2F%2Fimg005.hc360.cn%2Fm6%2FM08%2F26%2FA0%2FwKhQolUwhm6EFzuuAAAAAF0rf2852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74" y="3528952"/>
            <a:ext cx="1569605" cy="205703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https://timgsa.baidu.com/timg?image&amp;quality=80&amp;size=b9999_10000&amp;sec=1561403183931&amp;di=96cc2897f6710ee8da7364c9bc3a9b21&amp;imgtype=0&amp;src=http%3A%2F%2Fbohrlaser.com%2Fuploadfiles%2F20160119021056847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6313" y="1393039"/>
            <a:ext cx="3982475" cy="2169315"/>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p:cNvPicPr>
            <a:picLocks noChangeAspect="1"/>
          </p:cNvPicPr>
          <p:nvPr/>
        </p:nvPicPr>
        <p:blipFill>
          <a:blip r:embed="rId5"/>
          <a:stretch>
            <a:fillRect/>
          </a:stretch>
        </p:blipFill>
        <p:spPr>
          <a:xfrm>
            <a:off x="6243165" y="4926318"/>
            <a:ext cx="3956230" cy="1799535"/>
          </a:xfrm>
          <a:prstGeom prst="rect">
            <a:avLst/>
          </a:prstGeom>
        </p:spPr>
      </p:pic>
      <p:sp>
        <p:nvSpPr>
          <p:cNvPr id="17" name="文本框 16"/>
          <p:cNvSpPr txBox="1"/>
          <p:nvPr/>
        </p:nvSpPr>
        <p:spPr>
          <a:xfrm>
            <a:off x="7603712" y="1394764"/>
            <a:ext cx="1868362" cy="369332"/>
          </a:xfrm>
          <a:prstGeom prst="rect">
            <a:avLst/>
          </a:prstGeom>
          <a:noFill/>
        </p:spPr>
        <p:txBody>
          <a:bodyPr wrap="square" rtlCol="0">
            <a:spAutoFit/>
          </a:bodyPr>
          <a:lstStyle/>
          <a:p>
            <a:pPr algn="ctr"/>
            <a:r>
              <a:rPr lang="en-US" altLang="zh-CN" dirty="0" smtClean="0"/>
              <a:t>PIV</a:t>
            </a:r>
            <a:r>
              <a:rPr lang="zh-CN" altLang="en-US" dirty="0" smtClean="0"/>
              <a:t>：</a:t>
            </a:r>
            <a:endParaRPr lang="zh-CN" altLang="en-US" dirty="0"/>
          </a:p>
        </p:txBody>
      </p:sp>
      <p:sp>
        <p:nvSpPr>
          <p:cNvPr id="18" name="文本框 17"/>
          <p:cNvSpPr txBox="1"/>
          <p:nvPr/>
        </p:nvSpPr>
        <p:spPr>
          <a:xfrm>
            <a:off x="8968706" y="3762908"/>
            <a:ext cx="1777687" cy="369332"/>
          </a:xfrm>
          <a:prstGeom prst="rect">
            <a:avLst/>
          </a:prstGeom>
          <a:noFill/>
        </p:spPr>
        <p:txBody>
          <a:bodyPr wrap="square" rtlCol="0">
            <a:spAutoFit/>
          </a:bodyPr>
          <a:lstStyle/>
          <a:p>
            <a:pPr algn="ctr"/>
            <a:r>
              <a:rPr lang="zh-CN" altLang="en-US" dirty="0" smtClean="0"/>
              <a:t>三维移测机构：</a:t>
            </a:r>
            <a:endParaRPr lang="zh-CN" altLang="en-US" dirty="0"/>
          </a:p>
        </p:txBody>
      </p:sp>
      <p:sp>
        <p:nvSpPr>
          <p:cNvPr id="19" name="文本框 18"/>
          <p:cNvSpPr txBox="1"/>
          <p:nvPr/>
        </p:nvSpPr>
        <p:spPr>
          <a:xfrm>
            <a:off x="6228651" y="4497486"/>
            <a:ext cx="2896064" cy="369332"/>
          </a:xfrm>
          <a:prstGeom prst="rect">
            <a:avLst/>
          </a:prstGeom>
          <a:noFill/>
        </p:spPr>
        <p:txBody>
          <a:bodyPr wrap="square" rtlCol="0">
            <a:spAutoFit/>
          </a:bodyPr>
          <a:lstStyle/>
          <a:p>
            <a:pPr algn="ctr"/>
            <a:r>
              <a:rPr lang="en-US" altLang="zh-CN" dirty="0" smtClean="0"/>
              <a:t>PIV</a:t>
            </a:r>
            <a:r>
              <a:rPr lang="zh-CN" altLang="en-US" dirty="0" smtClean="0"/>
              <a:t>技术在整车测试的应用：</a:t>
            </a:r>
            <a:endParaRPr lang="zh-CN" altLang="en-US" dirty="0"/>
          </a:p>
        </p:txBody>
      </p:sp>
      <p:sp>
        <p:nvSpPr>
          <p:cNvPr id="11" name="矩形 10"/>
          <p:cNvSpPr/>
          <p:nvPr/>
        </p:nvSpPr>
        <p:spPr>
          <a:xfrm>
            <a:off x="7212680" y="6646853"/>
            <a:ext cx="2986715" cy="276999"/>
          </a:xfrm>
          <a:prstGeom prst="rect">
            <a:avLst/>
          </a:prstGeom>
        </p:spPr>
        <p:txBody>
          <a:bodyPr wrap="none">
            <a:spAutoFit/>
          </a:bodyPr>
          <a:lstStyle/>
          <a:p>
            <a:r>
              <a:rPr lang="en-US" altLang="zh-CN" sz="1200" dirty="0">
                <a:latin typeface="HelveticaLTStd-Roman"/>
              </a:rPr>
              <a:t>Meas. Sci. Technol. </a:t>
            </a:r>
            <a:r>
              <a:rPr lang="en-US" altLang="zh-CN" sz="1200" b="1" dirty="0">
                <a:latin typeface="Helvetica-Bold"/>
              </a:rPr>
              <a:t>29 </a:t>
            </a:r>
            <a:r>
              <a:rPr lang="en-US" altLang="zh-CN" sz="1200" dirty="0">
                <a:latin typeface="HelveticaLTStd-Roman"/>
              </a:rPr>
              <a:t>(</a:t>
            </a:r>
            <a:r>
              <a:rPr lang="en-US" altLang="zh-CN" sz="1200" dirty="0">
                <a:latin typeface="Helvetica" panose="020B0604020202020204" pitchFamily="34" charset="0"/>
              </a:rPr>
              <a:t>2018</a:t>
            </a:r>
            <a:r>
              <a:rPr lang="en-US" altLang="zh-CN" sz="1200" dirty="0">
                <a:latin typeface="HelveticaLTStd-Roman"/>
              </a:rPr>
              <a:t>) 074009</a:t>
            </a:r>
            <a:endParaRPr lang="zh-CN" altLang="en-US" sz="3600" dirty="0"/>
          </a:p>
        </p:txBody>
      </p:sp>
      <p:sp>
        <p:nvSpPr>
          <p:cNvPr id="2" name="日期占位符 1"/>
          <p:cNvSpPr>
            <a:spLocks noGrp="1"/>
          </p:cNvSpPr>
          <p:nvPr>
            <p:ph type="dt" sz="half" idx="10"/>
          </p:nvPr>
        </p:nvSpPr>
        <p:spPr/>
        <p:txBody>
          <a:bodyPr/>
          <a:lstStyle/>
          <a:p>
            <a:fld id="{E5E997FA-EEC6-4C3C-AB5D-BD3C84A719A4}" type="datetime1">
              <a:rPr lang="zh-CN" altLang="en-US" smtClean="0"/>
              <a:t>2023/5/24</a:t>
            </a:fld>
            <a:endParaRPr lang="zh-CN" altLang="en-US"/>
          </a:p>
        </p:txBody>
      </p:sp>
      <p:sp>
        <p:nvSpPr>
          <p:cNvPr id="3" name="灯片编号占位符 2"/>
          <p:cNvSpPr>
            <a:spLocks noGrp="1"/>
          </p:cNvSpPr>
          <p:nvPr>
            <p:ph type="sldNum" sz="quarter" idx="12"/>
          </p:nvPr>
        </p:nvSpPr>
        <p:spPr/>
        <p:txBody>
          <a:bodyPr/>
          <a:lstStyle/>
          <a:p>
            <a:fld id="{16D8DD02-547D-47A5-AAEA-525C7BEEAE57}" type="slidenum">
              <a:rPr lang="zh-CN" altLang="en-US" smtClean="0"/>
              <a:t>10</a:t>
            </a:fld>
            <a:endParaRPr lang="zh-CN" altLang="en-US"/>
          </a:p>
        </p:txBody>
      </p:sp>
      <p:sp>
        <p:nvSpPr>
          <p:cNvPr id="20" name="标题 1"/>
          <p:cNvSpPr txBox="1">
            <a:spLocks/>
          </p:cNvSpPr>
          <p:nvPr/>
        </p:nvSpPr>
        <p:spPr>
          <a:xfrm>
            <a:off x="1118118" y="-19991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zh-CN" altLang="en-US" sz="3200" b="1" dirty="0" smtClean="0">
                <a:latin typeface="Times New Roman" panose="02020603050405020304" pitchFamily="18" charset="0"/>
                <a:ea typeface="黑体" panose="02010609060101010101" pitchFamily="49" charset="-122"/>
                <a:cs typeface="Times New Roman" panose="02020603050405020304" pitchFamily="18" charset="0"/>
              </a:rPr>
              <a:t>自动</a:t>
            </a:r>
            <a:r>
              <a:rPr lang="en-US" altLang="zh-CN" sz="3200" b="1" dirty="0" smtClean="0">
                <a:latin typeface="Times New Roman" panose="02020603050405020304" pitchFamily="18" charset="0"/>
                <a:ea typeface="黑体" panose="02010609060101010101" pitchFamily="49" charset="-122"/>
                <a:cs typeface="Times New Roman" panose="02020603050405020304" pitchFamily="18" charset="0"/>
              </a:rPr>
              <a:t>PIV</a:t>
            </a:r>
            <a:endParaRPr lang="zh-CN" altLang="en-US" sz="3200" dirty="0"/>
          </a:p>
        </p:txBody>
      </p:sp>
    </p:spTree>
    <p:extLst>
      <p:ext uri="{BB962C8B-B14F-4D97-AF65-F5344CB8AC3E}">
        <p14:creationId xmlns:p14="http://schemas.microsoft.com/office/powerpoint/2010/main" val="22577290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89193" y="1394316"/>
            <a:ext cx="7113550" cy="400110"/>
          </a:xfrm>
          <a:prstGeom prst="rect">
            <a:avLst/>
          </a:prstGeom>
          <a:noFill/>
        </p:spPr>
        <p:txBody>
          <a:bodyPr wrap="none" rtlCol="0">
            <a:spAutoFit/>
          </a:bodyPr>
          <a:lstStyle/>
          <a:p>
            <a:r>
              <a:rPr lang="zh-CN" altLang="en-US" sz="2000" b="1" dirty="0" smtClean="0"/>
              <a:t>使用</a:t>
            </a:r>
            <a:r>
              <a:rPr lang="en-US" altLang="zh-CN" sz="2000" b="1" dirty="0" smtClean="0"/>
              <a:t>Auto-PIV</a:t>
            </a:r>
            <a:r>
              <a:rPr lang="zh-CN" altLang="en-US" sz="2000" b="1" dirty="0" smtClean="0"/>
              <a:t>的实验技术对</a:t>
            </a:r>
            <a:r>
              <a:rPr lang="en-US" altLang="zh-CN" sz="2000" b="1" dirty="0" err="1" smtClean="0"/>
              <a:t>DrivAer</a:t>
            </a:r>
            <a:r>
              <a:rPr lang="zh-CN" altLang="en-US" sz="2000" b="1" dirty="0" smtClean="0"/>
              <a:t>模型尾流场进行测试与分析</a:t>
            </a:r>
            <a:endParaRPr lang="zh-CN" altLang="en-US" sz="2000" b="1" dirty="0">
              <a:solidFill>
                <a:srgbClr val="C00000"/>
              </a:solidFill>
            </a:endParaRPr>
          </a:p>
        </p:txBody>
      </p:sp>
      <p:sp>
        <p:nvSpPr>
          <p:cNvPr id="6" name="矩形 5"/>
          <p:cNvSpPr/>
          <p:nvPr/>
        </p:nvSpPr>
        <p:spPr>
          <a:xfrm>
            <a:off x="1021510" y="2043668"/>
            <a:ext cx="2856872" cy="369332"/>
          </a:xfrm>
          <a:prstGeom prst="rect">
            <a:avLst/>
          </a:prstGeom>
        </p:spPr>
        <p:txBody>
          <a:bodyPr wrap="none">
            <a:spAutoFit/>
          </a:bodyPr>
          <a:lstStyle/>
          <a:p>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）二维切片速度场分析</a:t>
            </a:r>
            <a:endParaRPr lang="zh-CN" altLang="en-US" dirty="0"/>
          </a:p>
        </p:txBody>
      </p:sp>
      <p:sp>
        <p:nvSpPr>
          <p:cNvPr id="11" name="矩形 10"/>
          <p:cNvSpPr/>
          <p:nvPr/>
        </p:nvSpPr>
        <p:spPr>
          <a:xfrm>
            <a:off x="4690537" y="6226156"/>
            <a:ext cx="6299198" cy="584775"/>
          </a:xfrm>
          <a:prstGeom prst="rect">
            <a:avLst/>
          </a:prstGeom>
        </p:spPr>
        <p:txBody>
          <a:bodyPr wrap="square">
            <a:spAutoFit/>
          </a:bodyPr>
          <a:lstStyle/>
          <a:p>
            <a:pPr marL="285750" indent="-285750">
              <a:buFont typeface="Wingdings" panose="05000000000000000000" pitchFamily="2" charset="2"/>
              <a:buChar char="Ø"/>
            </a:pPr>
            <a:r>
              <a:rPr lang="zh-CN" altLang="en-US" sz="1600" dirty="0" smtClean="0">
                <a:latin typeface="Times New Roman" panose="02020603050405020304" pitchFamily="18" charset="0"/>
                <a:cs typeface="Times New Roman" panose="02020603050405020304" pitchFamily="18" charset="0"/>
              </a:rPr>
              <a:t>尾流场具有很强的三维效应</a:t>
            </a:r>
            <a:endParaRPr lang="en-US" altLang="zh-CN" sz="16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en-US" sz="1600" dirty="0" smtClean="0"/>
              <a:t>行李舱后方存在回流区，位于背部下洗气流与底盘上卷气流之间</a:t>
            </a:r>
            <a:endParaRPr lang="zh-CN" altLang="en-US" sz="1600" dirty="0"/>
          </a:p>
        </p:txBody>
      </p:sp>
      <p:pic>
        <p:nvPicPr>
          <p:cNvPr id="12" name="图片 11" descr="C:\Users\Administrator\Desktop\new\zzh\图2 (2).jpg"/>
          <p:cNvPicPr>
            <a:picLocks noChangeAspect="1"/>
          </p:cNvPicPr>
          <p:nvPr/>
        </p:nvPicPr>
        <p:blipFill rotWithShape="1">
          <a:blip r:embed="rId2" cstate="print">
            <a:extLst>
              <a:ext uri="{28A0092B-C50C-407E-A947-70E740481C1C}">
                <a14:useLocalDpi xmlns:a14="http://schemas.microsoft.com/office/drawing/2010/main" val="0"/>
              </a:ext>
            </a:extLst>
          </a:blip>
          <a:srcRect b="46448"/>
          <a:stretch/>
        </p:blipFill>
        <p:spPr bwMode="auto">
          <a:xfrm>
            <a:off x="1120775" y="2782332"/>
            <a:ext cx="4152900" cy="3292560"/>
          </a:xfrm>
          <a:prstGeom prst="rect">
            <a:avLst/>
          </a:prstGeom>
          <a:noFill/>
          <a:ln>
            <a:noFill/>
          </a:ln>
          <a:extLst>
            <a:ext uri="{53640926-AAD7-44D8-BBD7-CCE9431645EC}">
              <a14:shadowObscured xmlns:a14="http://schemas.microsoft.com/office/drawing/2010/main"/>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6362" y="2799518"/>
            <a:ext cx="4320934" cy="310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324939" y="2413000"/>
            <a:ext cx="1209675" cy="369332"/>
          </a:xfrm>
          <a:prstGeom prst="rect">
            <a:avLst/>
          </a:prstGeom>
          <a:noFill/>
        </p:spPr>
        <p:txBody>
          <a:bodyPr wrap="square" rtlCol="0">
            <a:spAutoFit/>
          </a:bodyPr>
          <a:lstStyle/>
          <a:p>
            <a:r>
              <a:rPr lang="zh-CN" altLang="en-US" b="1" dirty="0" smtClean="0">
                <a:latin typeface="黑体" pitchFamily="49" charset="-122"/>
                <a:ea typeface="黑体" pitchFamily="49" charset="-122"/>
              </a:rPr>
              <a:t>时均流场：</a:t>
            </a:r>
            <a:endParaRPr lang="zh-CN" altLang="en-US" b="1" dirty="0">
              <a:latin typeface="黑体" pitchFamily="49" charset="-122"/>
              <a:ea typeface="黑体" pitchFamily="49" charset="-122"/>
            </a:endParaRPr>
          </a:p>
        </p:txBody>
      </p:sp>
      <p:sp>
        <p:nvSpPr>
          <p:cNvPr id="3" name="日期占位符 2"/>
          <p:cNvSpPr>
            <a:spLocks noGrp="1"/>
          </p:cNvSpPr>
          <p:nvPr>
            <p:ph type="dt" sz="half" idx="10"/>
          </p:nvPr>
        </p:nvSpPr>
        <p:spPr/>
        <p:txBody>
          <a:bodyPr/>
          <a:lstStyle/>
          <a:p>
            <a:fld id="{3C7C9486-AD61-4D46-A241-080F83354137}" type="datetime1">
              <a:rPr lang="zh-CN" altLang="en-US" smtClean="0"/>
              <a:t>2023/5/24</a:t>
            </a:fld>
            <a:endParaRPr lang="zh-CN" altLang="en-US"/>
          </a:p>
        </p:txBody>
      </p:sp>
      <p:sp>
        <p:nvSpPr>
          <p:cNvPr id="7" name="灯片编号占位符 6"/>
          <p:cNvSpPr>
            <a:spLocks noGrp="1"/>
          </p:cNvSpPr>
          <p:nvPr>
            <p:ph type="sldNum" sz="quarter" idx="12"/>
          </p:nvPr>
        </p:nvSpPr>
        <p:spPr/>
        <p:txBody>
          <a:bodyPr/>
          <a:lstStyle/>
          <a:p>
            <a:fld id="{16D8DD02-547D-47A5-AAEA-525C7BEEAE57}" type="slidenum">
              <a:rPr lang="zh-CN" altLang="en-US" smtClean="0"/>
              <a:t>11</a:t>
            </a:fld>
            <a:endParaRPr lang="zh-CN" altLang="en-US"/>
          </a:p>
        </p:txBody>
      </p:sp>
    </p:spTree>
    <p:extLst>
      <p:ext uri="{BB962C8B-B14F-4D97-AF65-F5344CB8AC3E}">
        <p14:creationId xmlns:p14="http://schemas.microsoft.com/office/powerpoint/2010/main" val="3952766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57760" y="1485494"/>
            <a:ext cx="2856872" cy="369332"/>
          </a:xfrm>
          <a:prstGeom prst="rect">
            <a:avLst/>
          </a:prstGeom>
        </p:spPr>
        <p:txBody>
          <a:bodyPr wrap="none">
            <a:spAutoFit/>
          </a:bodyPr>
          <a:lstStyle/>
          <a:p>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1</a:t>
            </a:r>
            <a:r>
              <a:rPr lang="zh-CN" altLang="en-US" b="1" dirty="0" smtClean="0">
                <a:latin typeface="Times New Roman" panose="02020603050405020304" pitchFamily="18" charset="0"/>
                <a:cs typeface="Times New Roman" panose="02020603050405020304" pitchFamily="18" charset="0"/>
              </a:rPr>
              <a:t>）二维切片速度场分析</a:t>
            </a:r>
            <a:endParaRPr lang="zh-CN" altLang="en-US" dirty="0"/>
          </a:p>
        </p:txBody>
      </p:sp>
      <p:sp>
        <p:nvSpPr>
          <p:cNvPr id="2" name="TextBox 1"/>
          <p:cNvSpPr txBox="1"/>
          <p:nvPr/>
        </p:nvSpPr>
        <p:spPr>
          <a:xfrm>
            <a:off x="512139" y="2041688"/>
            <a:ext cx="1209675" cy="369332"/>
          </a:xfrm>
          <a:prstGeom prst="rect">
            <a:avLst/>
          </a:prstGeom>
          <a:noFill/>
        </p:spPr>
        <p:txBody>
          <a:bodyPr wrap="square" rtlCol="0">
            <a:spAutoFit/>
          </a:bodyPr>
          <a:lstStyle/>
          <a:p>
            <a:r>
              <a:rPr lang="zh-CN" altLang="en-US" b="1" dirty="0" smtClean="0">
                <a:latin typeface="黑体" pitchFamily="49" charset="-122"/>
                <a:ea typeface="黑体" pitchFamily="49" charset="-122"/>
              </a:rPr>
              <a:t>雷诺应力：</a:t>
            </a:r>
            <a:endParaRPr lang="zh-CN" altLang="en-US" b="1" dirty="0">
              <a:latin typeface="黑体" pitchFamily="49" charset="-122"/>
              <a:ea typeface="黑体" pitchFamily="49" charset="-122"/>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268" y="2761174"/>
            <a:ext cx="3309015" cy="2523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9983" y="2782332"/>
            <a:ext cx="3119318" cy="2481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9913" y="1439143"/>
            <a:ext cx="3417887" cy="2563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9913" y="4075910"/>
            <a:ext cx="3417887" cy="2692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497866" y="5393068"/>
            <a:ext cx="6633532" cy="1446550"/>
          </a:xfrm>
          <a:prstGeom prst="rect">
            <a:avLst/>
          </a:prstGeom>
        </p:spPr>
        <p:txBody>
          <a:bodyPr wrap="square">
            <a:spAutoFit/>
          </a:bodyPr>
          <a:lstStyle/>
          <a:p>
            <a:pPr marL="285750" indent="-285750">
              <a:buFont typeface="Wingdings" panose="05000000000000000000" pitchFamily="2" charset="2"/>
              <a:buChar char="Ø"/>
            </a:pPr>
            <a:r>
              <a:rPr lang="zh-CN" altLang="en-US" dirty="0"/>
              <a:t>尾流场速度脉动主要位于背部气流、底盘上卷气流与回流区形成的剪切带</a:t>
            </a:r>
            <a:r>
              <a:rPr lang="zh-CN" altLang="en-US" dirty="0" smtClean="0"/>
              <a:t>区域；</a:t>
            </a:r>
            <a:endParaRPr lang="en-US" altLang="zh-CN" dirty="0" smtClean="0"/>
          </a:p>
          <a:p>
            <a:pPr marL="285750" indent="-285750">
              <a:buFont typeface="Wingdings" panose="05000000000000000000" pitchFamily="2" charset="2"/>
              <a:buChar char="Ø"/>
            </a:pPr>
            <a:r>
              <a:rPr lang="zh-CN" altLang="en-US" dirty="0"/>
              <a:t>雷诺应力的分布基本以展向中心平面对称，引起的侧向力矩、偏航力矩并不</a:t>
            </a:r>
            <a:r>
              <a:rPr lang="zh-CN" altLang="en-US" dirty="0" smtClean="0"/>
              <a:t>大。</a:t>
            </a:r>
            <a:endParaRPr lang="en-US" altLang="zh-CN" dirty="0" smtClean="0"/>
          </a:p>
          <a:p>
            <a:pPr marL="285750" indent="-285750">
              <a:buFont typeface="Wingdings" panose="05000000000000000000" pitchFamily="2" charset="2"/>
              <a:buChar char="Ø"/>
            </a:pPr>
            <a:endParaRPr lang="zh-CN" altLang="en-US" sz="1600" dirty="0"/>
          </a:p>
        </p:txBody>
      </p:sp>
      <p:sp>
        <p:nvSpPr>
          <p:cNvPr id="3" name="日期占位符 2"/>
          <p:cNvSpPr>
            <a:spLocks noGrp="1"/>
          </p:cNvSpPr>
          <p:nvPr>
            <p:ph type="dt" sz="half" idx="10"/>
          </p:nvPr>
        </p:nvSpPr>
        <p:spPr/>
        <p:txBody>
          <a:bodyPr/>
          <a:lstStyle/>
          <a:p>
            <a:fld id="{752B7836-AFC3-4B7C-B15F-322A690DCD9C}" type="datetime1">
              <a:rPr lang="zh-CN" altLang="en-US" smtClean="0"/>
              <a:t>2023/5/24</a:t>
            </a:fld>
            <a:endParaRPr lang="zh-CN" altLang="en-US"/>
          </a:p>
        </p:txBody>
      </p:sp>
      <p:sp>
        <p:nvSpPr>
          <p:cNvPr id="5" name="灯片编号占位符 4"/>
          <p:cNvSpPr>
            <a:spLocks noGrp="1"/>
          </p:cNvSpPr>
          <p:nvPr>
            <p:ph type="sldNum" sz="quarter" idx="12"/>
          </p:nvPr>
        </p:nvSpPr>
        <p:spPr/>
        <p:txBody>
          <a:bodyPr/>
          <a:lstStyle/>
          <a:p>
            <a:fld id="{16D8DD02-547D-47A5-AAEA-525C7BEEAE57}" type="slidenum">
              <a:rPr lang="zh-CN" altLang="en-US" smtClean="0"/>
              <a:t>12</a:t>
            </a:fld>
            <a:endParaRPr lang="zh-CN" altLang="en-US"/>
          </a:p>
        </p:txBody>
      </p:sp>
    </p:spTree>
    <p:extLst>
      <p:ext uri="{BB962C8B-B14F-4D97-AF65-F5344CB8AC3E}">
        <p14:creationId xmlns:p14="http://schemas.microsoft.com/office/powerpoint/2010/main" val="36736915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97876" y="1472481"/>
            <a:ext cx="2856872" cy="369332"/>
          </a:xfrm>
          <a:prstGeom prst="rect">
            <a:avLst/>
          </a:prstGeom>
        </p:spPr>
        <p:txBody>
          <a:bodyPr wrap="none">
            <a:spAutoFit/>
          </a:bodyPr>
          <a:lstStyle/>
          <a:p>
            <a:r>
              <a:rPr lang="zh-CN" altLang="en-US"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cs typeface="Times New Roman" panose="02020603050405020304" pitchFamily="18" charset="0"/>
              </a:rPr>
              <a:t>2</a:t>
            </a:r>
            <a:r>
              <a:rPr lang="zh-CN" altLang="en-US" b="1" dirty="0" smtClean="0">
                <a:latin typeface="Times New Roman" panose="02020603050405020304" pitchFamily="18" charset="0"/>
                <a:cs typeface="Times New Roman" panose="02020603050405020304" pitchFamily="18" charset="0"/>
              </a:rPr>
              <a:t>）三维重构速度场分析</a:t>
            </a:r>
            <a:endParaRPr lang="zh-CN" altLang="en-US" dirty="0"/>
          </a:p>
        </p:txBody>
      </p:sp>
      <p:sp>
        <p:nvSpPr>
          <p:cNvPr id="2" name="TextBox 1"/>
          <p:cNvSpPr txBox="1"/>
          <p:nvPr/>
        </p:nvSpPr>
        <p:spPr>
          <a:xfrm>
            <a:off x="93039" y="2357740"/>
            <a:ext cx="1209675" cy="369332"/>
          </a:xfrm>
          <a:prstGeom prst="rect">
            <a:avLst/>
          </a:prstGeom>
          <a:noFill/>
        </p:spPr>
        <p:txBody>
          <a:bodyPr wrap="square" rtlCol="0">
            <a:spAutoFit/>
          </a:bodyPr>
          <a:lstStyle/>
          <a:p>
            <a:r>
              <a:rPr lang="zh-CN" altLang="en-US" b="1" dirty="0" smtClean="0">
                <a:latin typeface="黑体" pitchFamily="49" charset="-122"/>
                <a:ea typeface="黑体" pitchFamily="49" charset="-122"/>
              </a:rPr>
              <a:t>流向切面：</a:t>
            </a:r>
            <a:endParaRPr lang="zh-CN" altLang="en-US" b="1" dirty="0">
              <a:latin typeface="黑体" pitchFamily="49" charset="-122"/>
              <a:ea typeface="黑体" pitchFamily="49" charset="-122"/>
            </a:endParaRPr>
          </a:p>
        </p:txBody>
      </p:sp>
      <p:sp>
        <p:nvSpPr>
          <p:cNvPr id="15" name="矩形 14"/>
          <p:cNvSpPr/>
          <p:nvPr/>
        </p:nvSpPr>
        <p:spPr>
          <a:xfrm>
            <a:off x="772525" y="6155800"/>
            <a:ext cx="6474849" cy="369332"/>
          </a:xfrm>
          <a:prstGeom prst="rect">
            <a:avLst/>
          </a:prstGeom>
        </p:spPr>
        <p:txBody>
          <a:bodyPr wrap="none">
            <a:spAutoFit/>
          </a:bodyPr>
          <a:lstStyle/>
          <a:p>
            <a:pPr marL="285750" indent="-285750">
              <a:buFont typeface="Wingdings" panose="05000000000000000000" pitchFamily="2" charset="2"/>
              <a:buChar char="Ø"/>
            </a:pPr>
            <a:r>
              <a:rPr lang="zh-CN" altLang="en-US" dirty="0" smtClean="0"/>
              <a:t>获得实验难以测得的流向切面速度场，以及三维流线分布。</a:t>
            </a:r>
            <a:endParaRPr lang="en-US" altLang="zh-CN" dirty="0" smtClean="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90537" y="1429013"/>
            <a:ext cx="2832101" cy="156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830" y="3031871"/>
            <a:ext cx="3171831" cy="2733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8382" y="3031871"/>
            <a:ext cx="3368992" cy="2733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2299" y="2826463"/>
            <a:ext cx="3683002" cy="3144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8242299" y="2146994"/>
            <a:ext cx="1209675" cy="369332"/>
          </a:xfrm>
          <a:prstGeom prst="rect">
            <a:avLst/>
          </a:prstGeom>
          <a:noFill/>
        </p:spPr>
        <p:txBody>
          <a:bodyPr wrap="square" rtlCol="0">
            <a:spAutoFit/>
          </a:bodyPr>
          <a:lstStyle/>
          <a:p>
            <a:r>
              <a:rPr lang="zh-CN" altLang="en-US" b="1" dirty="0" smtClean="0">
                <a:latin typeface="黑体" pitchFamily="49" charset="-122"/>
                <a:ea typeface="黑体" pitchFamily="49" charset="-122"/>
              </a:rPr>
              <a:t>三维流线：</a:t>
            </a:r>
            <a:endParaRPr lang="zh-CN" altLang="en-US" b="1" dirty="0">
              <a:latin typeface="黑体" pitchFamily="49" charset="-122"/>
              <a:ea typeface="黑体" pitchFamily="49" charset="-122"/>
            </a:endParaRPr>
          </a:p>
        </p:txBody>
      </p:sp>
      <p:sp>
        <p:nvSpPr>
          <p:cNvPr id="3" name="日期占位符 2"/>
          <p:cNvSpPr>
            <a:spLocks noGrp="1"/>
          </p:cNvSpPr>
          <p:nvPr>
            <p:ph type="dt" sz="half" idx="10"/>
          </p:nvPr>
        </p:nvSpPr>
        <p:spPr/>
        <p:txBody>
          <a:bodyPr/>
          <a:lstStyle/>
          <a:p>
            <a:fld id="{6F181411-F6F0-46C7-921D-512D9A7D1891}" type="datetime1">
              <a:rPr lang="zh-CN" altLang="en-US" smtClean="0"/>
              <a:t>2023/5/24</a:t>
            </a:fld>
            <a:endParaRPr lang="zh-CN" altLang="en-US"/>
          </a:p>
        </p:txBody>
      </p:sp>
      <p:sp>
        <p:nvSpPr>
          <p:cNvPr id="5" name="灯片编号占位符 4"/>
          <p:cNvSpPr>
            <a:spLocks noGrp="1"/>
          </p:cNvSpPr>
          <p:nvPr>
            <p:ph type="sldNum" sz="quarter" idx="12"/>
          </p:nvPr>
        </p:nvSpPr>
        <p:spPr/>
        <p:txBody>
          <a:bodyPr/>
          <a:lstStyle/>
          <a:p>
            <a:fld id="{16D8DD02-547D-47A5-AAEA-525C7BEEAE57}" type="slidenum">
              <a:rPr lang="zh-CN" altLang="en-US" smtClean="0"/>
              <a:t>13</a:t>
            </a:fld>
            <a:endParaRPr lang="zh-CN" altLang="en-US"/>
          </a:p>
        </p:txBody>
      </p:sp>
    </p:spTree>
    <p:extLst>
      <p:ext uri="{BB962C8B-B14F-4D97-AF65-F5344CB8AC3E}">
        <p14:creationId xmlns:p14="http://schemas.microsoft.com/office/powerpoint/2010/main" val="36598216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78635" y="1409298"/>
            <a:ext cx="4197862" cy="369332"/>
          </a:xfrm>
          <a:prstGeom prst="rect">
            <a:avLst/>
          </a:prstGeom>
        </p:spPr>
        <p:txBody>
          <a:bodyPr wrap="square">
            <a:spAutoFit/>
          </a:bodyPr>
          <a:lstStyle/>
          <a:p>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）三维重构速度场分析</a:t>
            </a:r>
            <a:endParaRPr lang="zh-CN" altLang="en-US" dirty="0"/>
          </a:p>
        </p:txBody>
      </p:sp>
      <p:sp>
        <p:nvSpPr>
          <p:cNvPr id="20" name="Rectangle 9"/>
          <p:cNvSpPr>
            <a:spLocks noChangeArrowheads="1"/>
          </p:cNvSpPr>
          <p:nvPr/>
        </p:nvSpPr>
        <p:spPr bwMode="auto">
          <a:xfrm>
            <a:off x="0" y="4451162"/>
            <a:ext cx="276436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zh-CN" altLang="en-US"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行李舱背部存在另外一对旋转方向相同的流向涡，在下游逐渐向</a:t>
            </a:r>
            <a:r>
              <a:rPr kumimoji="0" lang="en-US" altLang="zh-CN"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柱涡靠近。</a:t>
            </a:r>
            <a:endParaRPr kumimoji="0" lang="zh-CN" altLang="en-US" b="0" i="0" u="none" strike="noStrike" cap="none" normalizeH="0" baseline="0" dirty="0" smtClean="0">
              <a:ln>
                <a:noFill/>
              </a:ln>
              <a:solidFill>
                <a:schemeClr val="tx1"/>
              </a:solidFill>
              <a:effectLst/>
              <a:latin typeface="Arial" panose="020B0604020202020204" pitchFamily="34" charset="0"/>
            </a:endParaRPr>
          </a:p>
        </p:txBody>
      </p:sp>
      <p:pic>
        <p:nvPicPr>
          <p:cNvPr id="1055" name="Picture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7566" y="2156983"/>
            <a:ext cx="2964738" cy="451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6"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797" y="2109546"/>
            <a:ext cx="2268537" cy="240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7"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7438" y="4579357"/>
            <a:ext cx="2500905" cy="2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8" name="Picture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0503" y="2100866"/>
            <a:ext cx="3001083" cy="4628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273797" y="2349651"/>
            <a:ext cx="1642089" cy="369332"/>
          </a:xfrm>
          <a:prstGeom prst="rect">
            <a:avLst/>
          </a:prstGeom>
          <a:noFill/>
        </p:spPr>
        <p:txBody>
          <a:bodyPr wrap="square" rtlCol="0">
            <a:spAutoFit/>
          </a:bodyPr>
          <a:lstStyle/>
          <a:p>
            <a:r>
              <a:rPr lang="zh-CN" altLang="en-US" b="1" dirty="0" smtClean="0">
                <a:latin typeface="黑体" pitchFamily="49" charset="-122"/>
                <a:ea typeface="黑体" pitchFamily="49" charset="-122"/>
              </a:rPr>
              <a:t>三维涡结构：</a:t>
            </a:r>
            <a:endParaRPr lang="zh-CN" altLang="en-US" b="1" dirty="0">
              <a:latin typeface="黑体" pitchFamily="49" charset="-122"/>
              <a:ea typeface="黑体" pitchFamily="49" charset="-122"/>
            </a:endParaRPr>
          </a:p>
        </p:txBody>
      </p:sp>
      <p:sp>
        <p:nvSpPr>
          <p:cNvPr id="2" name="日期占位符 1"/>
          <p:cNvSpPr>
            <a:spLocks noGrp="1"/>
          </p:cNvSpPr>
          <p:nvPr>
            <p:ph type="dt" sz="half" idx="10"/>
          </p:nvPr>
        </p:nvSpPr>
        <p:spPr/>
        <p:txBody>
          <a:bodyPr/>
          <a:lstStyle/>
          <a:p>
            <a:fld id="{BD9C8853-0003-4266-BBDF-CEF05E99F9D0}" type="datetime1">
              <a:rPr lang="zh-CN" altLang="en-US" smtClean="0"/>
              <a:t>2023/5/24</a:t>
            </a:fld>
            <a:endParaRPr lang="zh-CN" altLang="en-US"/>
          </a:p>
        </p:txBody>
      </p:sp>
      <p:sp>
        <p:nvSpPr>
          <p:cNvPr id="3" name="灯片编号占位符 2"/>
          <p:cNvSpPr>
            <a:spLocks noGrp="1"/>
          </p:cNvSpPr>
          <p:nvPr>
            <p:ph type="sldNum" sz="quarter" idx="12"/>
          </p:nvPr>
        </p:nvSpPr>
        <p:spPr/>
        <p:txBody>
          <a:bodyPr/>
          <a:lstStyle/>
          <a:p>
            <a:fld id="{16D8DD02-547D-47A5-AAEA-525C7BEEAE57}" type="slidenum">
              <a:rPr lang="zh-CN" altLang="en-US" smtClean="0"/>
              <a:t>14</a:t>
            </a:fld>
            <a:endParaRPr lang="zh-CN" altLang="en-US"/>
          </a:p>
        </p:txBody>
      </p:sp>
    </p:spTree>
    <p:extLst>
      <p:ext uri="{BB962C8B-B14F-4D97-AF65-F5344CB8AC3E}">
        <p14:creationId xmlns:p14="http://schemas.microsoft.com/office/powerpoint/2010/main" val="1176979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6175" y="1900022"/>
            <a:ext cx="6096000" cy="369332"/>
          </a:xfrm>
          <a:prstGeom prst="rect">
            <a:avLst/>
          </a:prstGeom>
        </p:spPr>
        <p:txBody>
          <a:bodyPr>
            <a:spAutoFit/>
          </a:bodyPr>
          <a:lstStyle/>
          <a:p>
            <a:r>
              <a:rPr lang="zh-CN" altLang="en-US" dirty="0">
                <a:latin typeface="Times New Roman" panose="02020603050405020304" pitchFamily="18" charset="0"/>
              </a:rPr>
              <a:t>展</a:t>
            </a:r>
            <a:r>
              <a:rPr lang="zh-CN" altLang="en-US" dirty="0" smtClean="0">
                <a:latin typeface="Times New Roman" panose="02020603050405020304" pitchFamily="18" charset="0"/>
              </a:rPr>
              <a:t>向不同</a:t>
            </a:r>
            <a:r>
              <a:rPr lang="zh-CN" altLang="zh-CN" dirty="0" smtClean="0">
                <a:latin typeface="Times New Roman" panose="02020603050405020304" pitchFamily="18" charset="0"/>
                <a:cs typeface="Times New Roman" panose="02020603050405020304" pitchFamily="18" charset="0"/>
              </a:rPr>
              <a:t>切面</a:t>
            </a:r>
            <a:r>
              <a:rPr lang="zh-CN" altLang="zh-CN" dirty="0">
                <a:latin typeface="Times New Roman" panose="02020603050405020304" pitchFamily="18" charset="0"/>
                <a:cs typeface="Times New Roman" panose="02020603050405020304" pitchFamily="18" charset="0"/>
              </a:rPr>
              <a:t>处</a:t>
            </a:r>
            <a:r>
              <a:rPr lang="en-US" altLang="zh-CN" dirty="0">
                <a:latin typeface="Times New Roman" panose="02020603050405020304" pitchFamily="18" charset="0"/>
              </a:rPr>
              <a:t>POD</a:t>
            </a:r>
            <a:r>
              <a:rPr lang="zh-CN" altLang="zh-CN" dirty="0" smtClean="0">
                <a:latin typeface="Times New Roman" panose="02020603050405020304" pitchFamily="18" charset="0"/>
                <a:cs typeface="Times New Roman" panose="02020603050405020304" pitchFamily="18" charset="0"/>
              </a:rPr>
              <a:t>模态</a:t>
            </a:r>
            <a:r>
              <a:rPr lang="zh-CN" altLang="en-US" dirty="0">
                <a:latin typeface="Times New Roman" panose="02020603050405020304" pitchFamily="18" charset="0"/>
                <a:cs typeface="Times New Roman" panose="02020603050405020304" pitchFamily="18" charset="0"/>
              </a:rPr>
              <a:t>：</a:t>
            </a:r>
            <a:endParaRPr lang="zh-CN" altLang="en-US" dirty="0"/>
          </a:p>
        </p:txBody>
      </p:sp>
      <p:sp>
        <p:nvSpPr>
          <p:cNvPr id="12" name="矩形 11"/>
          <p:cNvSpPr/>
          <p:nvPr/>
        </p:nvSpPr>
        <p:spPr>
          <a:xfrm>
            <a:off x="2913382" y="6497006"/>
            <a:ext cx="1800493" cy="369332"/>
          </a:xfrm>
          <a:prstGeom prst="rect">
            <a:avLst/>
          </a:prstGeom>
        </p:spPr>
        <p:txBody>
          <a:bodyPr wrap="none">
            <a:spAutoFit/>
          </a:bodyPr>
          <a:lstStyle/>
          <a:p>
            <a:r>
              <a:rPr lang="zh-CN" altLang="en-US" dirty="0" smtClean="0">
                <a:latin typeface="Times New Roman" panose="02020603050405020304" pitchFamily="18" charset="0"/>
              </a:rPr>
              <a:t>前</a:t>
            </a:r>
            <a:r>
              <a:rPr lang="zh-CN" altLang="en-US" dirty="0">
                <a:latin typeface="Times New Roman" panose="02020603050405020304" pitchFamily="18" charset="0"/>
              </a:rPr>
              <a:t>四阶</a:t>
            </a:r>
            <a:r>
              <a:rPr lang="en-US" altLang="zh-CN" dirty="0" smtClean="0">
                <a:latin typeface="Times New Roman" panose="02020603050405020304" pitchFamily="18" charset="0"/>
              </a:rPr>
              <a:t>POD</a:t>
            </a:r>
            <a:r>
              <a:rPr lang="zh-CN" altLang="zh-CN" dirty="0" smtClean="0">
                <a:latin typeface="Times New Roman" panose="02020603050405020304" pitchFamily="18" charset="0"/>
                <a:cs typeface="Times New Roman" panose="02020603050405020304" pitchFamily="18" charset="0"/>
              </a:rPr>
              <a:t>模态</a:t>
            </a:r>
            <a:endParaRPr lang="zh-CN" altLang="en-US" dirty="0"/>
          </a:p>
        </p:txBody>
      </p:sp>
      <p:pic>
        <p:nvPicPr>
          <p:cNvPr id="14" name="图片 13"/>
          <p:cNvPicPr/>
          <p:nvPr/>
        </p:nvPicPr>
        <p:blipFill>
          <a:blip r:embed="rId3" cstate="print">
            <a:extLst>
              <a:ext uri="{28A0092B-C50C-407E-A947-70E740481C1C}">
                <a14:useLocalDpi xmlns:a14="http://schemas.microsoft.com/office/drawing/2010/main" val="0"/>
              </a:ext>
            </a:extLst>
          </a:blip>
          <a:stretch>
            <a:fillRect/>
          </a:stretch>
        </p:blipFill>
        <p:spPr>
          <a:xfrm>
            <a:off x="8155947" y="254903"/>
            <a:ext cx="4036053" cy="1986455"/>
          </a:xfrm>
          <a:prstGeom prst="rect">
            <a:avLst/>
          </a:prstGeom>
        </p:spPr>
      </p:pic>
      <p:sp>
        <p:nvSpPr>
          <p:cNvPr id="2" name="矩形 1"/>
          <p:cNvSpPr/>
          <p:nvPr/>
        </p:nvSpPr>
        <p:spPr>
          <a:xfrm>
            <a:off x="2303920" y="6497006"/>
            <a:ext cx="609462" cy="369332"/>
          </a:xfrm>
          <a:prstGeom prst="rect">
            <a:avLst/>
          </a:prstGeom>
        </p:spPr>
        <p:txBody>
          <a:bodyPr wrap="none">
            <a:spAutoFit/>
          </a:bodyPr>
          <a:lstStyle/>
          <a:p>
            <a:r>
              <a:rPr lang="en-US" altLang="zh-CN" i="1" dirty="0">
                <a:latin typeface="Times New Roman" panose="02020603050405020304" pitchFamily="18" charset="0"/>
              </a:rPr>
              <a:t>y</a:t>
            </a:r>
            <a:r>
              <a:rPr lang="en-US" altLang="zh-CN" i="1" baseline="30000" dirty="0">
                <a:latin typeface="Times New Roman" panose="02020603050405020304" pitchFamily="18" charset="0"/>
              </a:rPr>
              <a:t>*</a:t>
            </a:r>
            <a:r>
              <a:rPr lang="en-US" altLang="zh-CN" dirty="0">
                <a:latin typeface="Times New Roman" panose="02020603050405020304" pitchFamily="18" charset="0"/>
              </a:rPr>
              <a:t>=0</a:t>
            </a:r>
            <a:endParaRPr lang="zh-CN" altLang="en-US" dirty="0"/>
          </a:p>
        </p:txBody>
      </p:sp>
      <p:sp>
        <p:nvSpPr>
          <p:cNvPr id="16" name="矩形 15"/>
          <p:cNvSpPr/>
          <p:nvPr/>
        </p:nvSpPr>
        <p:spPr>
          <a:xfrm>
            <a:off x="8713337" y="6468778"/>
            <a:ext cx="1800493" cy="369332"/>
          </a:xfrm>
          <a:prstGeom prst="rect">
            <a:avLst/>
          </a:prstGeom>
        </p:spPr>
        <p:txBody>
          <a:bodyPr wrap="none">
            <a:spAutoFit/>
          </a:bodyPr>
          <a:lstStyle/>
          <a:p>
            <a:r>
              <a:rPr lang="zh-CN" altLang="en-US" dirty="0" smtClean="0">
                <a:latin typeface="Times New Roman" panose="02020603050405020304" pitchFamily="18" charset="0"/>
              </a:rPr>
              <a:t>前</a:t>
            </a:r>
            <a:r>
              <a:rPr lang="zh-CN" altLang="en-US" dirty="0">
                <a:latin typeface="Times New Roman" panose="02020603050405020304" pitchFamily="18" charset="0"/>
              </a:rPr>
              <a:t>四阶</a:t>
            </a:r>
            <a:r>
              <a:rPr lang="en-US" altLang="zh-CN" dirty="0" smtClean="0">
                <a:latin typeface="Times New Roman" panose="02020603050405020304" pitchFamily="18" charset="0"/>
              </a:rPr>
              <a:t>POD</a:t>
            </a:r>
            <a:r>
              <a:rPr lang="zh-CN" altLang="zh-CN" dirty="0" smtClean="0">
                <a:latin typeface="Times New Roman" panose="02020603050405020304" pitchFamily="18" charset="0"/>
                <a:cs typeface="Times New Roman" panose="02020603050405020304" pitchFamily="18" charset="0"/>
              </a:rPr>
              <a:t>模态</a:t>
            </a:r>
            <a:endParaRPr lang="zh-CN" altLang="en-US" dirty="0"/>
          </a:p>
        </p:txBody>
      </p:sp>
      <p:sp>
        <p:nvSpPr>
          <p:cNvPr id="17" name="矩形 16"/>
          <p:cNvSpPr/>
          <p:nvPr/>
        </p:nvSpPr>
        <p:spPr>
          <a:xfrm>
            <a:off x="7851622" y="6468778"/>
            <a:ext cx="898003" cy="369332"/>
          </a:xfrm>
          <a:prstGeom prst="rect">
            <a:avLst/>
          </a:prstGeom>
        </p:spPr>
        <p:txBody>
          <a:bodyPr wrap="none">
            <a:spAutoFit/>
          </a:bodyPr>
          <a:lstStyle/>
          <a:p>
            <a:r>
              <a:rPr lang="en-US" altLang="zh-CN" i="1" dirty="0">
                <a:latin typeface="Times New Roman" panose="02020603050405020304" pitchFamily="18" charset="0"/>
              </a:rPr>
              <a:t>y</a:t>
            </a:r>
            <a:r>
              <a:rPr lang="en-US" altLang="zh-CN" i="1" baseline="30000" dirty="0">
                <a:latin typeface="Times New Roman" panose="02020603050405020304" pitchFamily="18" charset="0"/>
              </a:rPr>
              <a:t>*</a:t>
            </a:r>
            <a:r>
              <a:rPr lang="en-US" altLang="zh-CN" dirty="0">
                <a:latin typeface="Times New Roman" panose="02020603050405020304" pitchFamily="18" charset="0"/>
              </a:rPr>
              <a:t>=</a:t>
            </a:r>
            <a:r>
              <a:rPr lang="en-US" altLang="zh-CN" dirty="0" smtClean="0">
                <a:latin typeface="Times New Roman" panose="02020603050405020304" pitchFamily="18" charset="0"/>
              </a:rPr>
              <a:t>0.35</a:t>
            </a:r>
            <a:endParaRPr lang="zh-CN" altLang="en-US" dirty="0"/>
          </a:p>
        </p:txBody>
      </p:sp>
      <p:sp>
        <p:nvSpPr>
          <p:cNvPr id="11" name="矩形 10"/>
          <p:cNvSpPr/>
          <p:nvPr/>
        </p:nvSpPr>
        <p:spPr>
          <a:xfrm>
            <a:off x="6190941" y="1000547"/>
            <a:ext cx="1965006" cy="923330"/>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展</a:t>
            </a:r>
            <a:r>
              <a:rPr lang="zh-CN" altLang="zh-CN" dirty="0" smtClean="0">
                <a:latin typeface="Times New Roman" panose="02020603050405020304" pitchFamily="18" charset="0"/>
                <a:cs typeface="Times New Roman" panose="02020603050405020304" pitchFamily="18" charset="0"/>
              </a:rPr>
              <a:t>向</a:t>
            </a:r>
            <a:r>
              <a:rPr lang="zh-CN" altLang="zh-CN" dirty="0">
                <a:latin typeface="Times New Roman" panose="02020603050405020304" pitchFamily="18" charset="0"/>
                <a:cs typeface="Times New Roman" panose="02020603050405020304" pitchFamily="18" charset="0"/>
              </a:rPr>
              <a:t>不同位置处的第一阶</a:t>
            </a:r>
            <a:r>
              <a:rPr lang="en-US" altLang="zh-CN" dirty="0">
                <a:latin typeface="Times New Roman" panose="02020603050405020304" pitchFamily="18" charset="0"/>
              </a:rPr>
              <a:t>POD</a:t>
            </a:r>
            <a:r>
              <a:rPr lang="zh-CN" altLang="zh-CN" dirty="0">
                <a:latin typeface="Times New Roman" panose="02020603050405020304" pitchFamily="18" charset="0"/>
                <a:cs typeface="Times New Roman" panose="02020603050405020304" pitchFamily="18" charset="0"/>
              </a:rPr>
              <a:t>模态的能量占</a:t>
            </a:r>
            <a:r>
              <a:rPr lang="zh-CN" altLang="zh-CN" dirty="0" smtClean="0">
                <a:latin typeface="Times New Roman" panose="02020603050405020304" pitchFamily="18" charset="0"/>
                <a:cs typeface="Times New Roman" panose="02020603050405020304" pitchFamily="18" charset="0"/>
              </a:rPr>
              <a:t>比</a:t>
            </a:r>
            <a:r>
              <a:rPr lang="zh-CN" altLang="en-US" dirty="0" smtClean="0">
                <a:latin typeface="Times New Roman" panose="02020603050405020304" pitchFamily="18" charset="0"/>
                <a:cs typeface="Times New Roman" panose="02020603050405020304" pitchFamily="18" charset="0"/>
              </a:rPr>
              <a:t>：</a:t>
            </a:r>
            <a:endParaRPr lang="zh-CN" altLang="en-US" dirty="0"/>
          </a:p>
        </p:txBody>
      </p:sp>
      <p:sp>
        <p:nvSpPr>
          <p:cNvPr id="3" name="矩形 2"/>
          <p:cNvSpPr/>
          <p:nvPr/>
        </p:nvSpPr>
        <p:spPr>
          <a:xfrm>
            <a:off x="838200" y="1462212"/>
            <a:ext cx="2353529" cy="369332"/>
          </a:xfrm>
          <a:prstGeom prst="rect">
            <a:avLst/>
          </a:prstGeom>
        </p:spPr>
        <p:txBody>
          <a:bodyPr wrap="none">
            <a:spAutoFit/>
          </a:bodyPr>
          <a:lstStyle/>
          <a:p>
            <a:r>
              <a:rPr lang="zh-CN" altLang="en-US" b="1" dirty="0" smtClean="0"/>
              <a:t>（</a:t>
            </a:r>
            <a:r>
              <a:rPr lang="en-US" altLang="zh-CN" b="1" dirty="0" smtClean="0"/>
              <a:t>3</a:t>
            </a:r>
            <a:r>
              <a:rPr lang="zh-CN" altLang="en-US" b="1" dirty="0" smtClean="0"/>
              <a:t>）尾流</a:t>
            </a:r>
            <a:r>
              <a:rPr lang="zh-CN" altLang="en-US" b="1" dirty="0"/>
              <a:t>场</a:t>
            </a:r>
            <a:r>
              <a:rPr lang="en-US" altLang="zh-CN" b="1" dirty="0"/>
              <a:t>POD</a:t>
            </a:r>
            <a:r>
              <a:rPr lang="zh-CN" altLang="en-US" b="1" dirty="0"/>
              <a:t>分析</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263846"/>
            <a:ext cx="4328886" cy="4262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26132" y="2312982"/>
            <a:ext cx="4174097" cy="4296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日期占位符 4"/>
          <p:cNvSpPr>
            <a:spLocks noGrp="1"/>
          </p:cNvSpPr>
          <p:nvPr>
            <p:ph type="dt" sz="half" idx="10"/>
          </p:nvPr>
        </p:nvSpPr>
        <p:spPr/>
        <p:txBody>
          <a:bodyPr/>
          <a:lstStyle/>
          <a:p>
            <a:fld id="{AA38F2FC-0058-43D1-8D11-9B9FD3C81AB3}" type="datetime1">
              <a:rPr lang="zh-CN" altLang="en-US" smtClean="0"/>
              <a:t>2023/5/24</a:t>
            </a:fld>
            <a:endParaRPr lang="zh-CN" altLang="en-US"/>
          </a:p>
        </p:txBody>
      </p:sp>
      <p:sp>
        <p:nvSpPr>
          <p:cNvPr id="6" name="灯片编号占位符 5"/>
          <p:cNvSpPr>
            <a:spLocks noGrp="1"/>
          </p:cNvSpPr>
          <p:nvPr>
            <p:ph type="sldNum" sz="quarter" idx="12"/>
          </p:nvPr>
        </p:nvSpPr>
        <p:spPr/>
        <p:txBody>
          <a:bodyPr/>
          <a:lstStyle/>
          <a:p>
            <a:fld id="{16D8DD02-547D-47A5-AAEA-525C7BEEAE57}" type="slidenum">
              <a:rPr lang="zh-CN" altLang="en-US" smtClean="0"/>
              <a:t>15</a:t>
            </a:fld>
            <a:endParaRPr lang="zh-CN" altLang="en-US"/>
          </a:p>
        </p:txBody>
      </p:sp>
    </p:spTree>
    <p:extLst>
      <p:ext uri="{BB962C8B-B14F-4D97-AF65-F5344CB8AC3E}">
        <p14:creationId xmlns:p14="http://schemas.microsoft.com/office/powerpoint/2010/main" val="28445774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96175" y="1883979"/>
            <a:ext cx="5678046" cy="369332"/>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法</a:t>
            </a:r>
            <a:r>
              <a:rPr lang="zh-CN" altLang="en-US" dirty="0" smtClean="0">
                <a:latin typeface="Times New Roman" panose="02020603050405020304" pitchFamily="18" charset="0"/>
                <a:cs typeface="Times New Roman" panose="02020603050405020304" pitchFamily="18" charset="0"/>
              </a:rPr>
              <a:t>向不同位置</a:t>
            </a:r>
            <a:r>
              <a:rPr lang="zh-CN" altLang="zh-CN" dirty="0" smtClean="0">
                <a:latin typeface="Times New Roman" panose="02020603050405020304" pitchFamily="18" charset="0"/>
                <a:cs typeface="Times New Roman" panose="02020603050405020304" pitchFamily="18" charset="0"/>
              </a:rPr>
              <a:t>处</a:t>
            </a:r>
            <a:r>
              <a:rPr lang="en-US" altLang="zh-CN" dirty="0">
                <a:latin typeface="Times New Roman" panose="02020603050405020304" pitchFamily="18" charset="0"/>
                <a:cs typeface="Times New Roman" panose="02020603050405020304" pitchFamily="18" charset="0"/>
              </a:rPr>
              <a:t>POD</a:t>
            </a:r>
            <a:r>
              <a:rPr lang="zh-CN" altLang="zh-CN" dirty="0" smtClean="0">
                <a:latin typeface="Times New Roman" panose="02020603050405020304" pitchFamily="18" charset="0"/>
                <a:cs typeface="Times New Roman" panose="02020603050405020304" pitchFamily="18" charset="0"/>
              </a:rPr>
              <a:t>模态</a:t>
            </a:r>
            <a:r>
              <a:rPr lang="en-US" altLang="zh-CN" dirty="0" smtClean="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12" name="矩形 11"/>
          <p:cNvSpPr/>
          <p:nvPr/>
        </p:nvSpPr>
        <p:spPr>
          <a:xfrm>
            <a:off x="2509274" y="6476686"/>
            <a:ext cx="2443298" cy="369332"/>
          </a:xfrm>
          <a:prstGeom prst="rect">
            <a:avLst/>
          </a:prstGeom>
        </p:spPr>
        <p:txBody>
          <a:bodyPr wrap="none">
            <a:spAutoFit/>
          </a:bodyPr>
          <a:lstStyle/>
          <a:p>
            <a:r>
              <a:rPr lang="en-US" altLang="zh-CN" i="1" dirty="0">
                <a:latin typeface="Times New Roman" panose="02020603050405020304" pitchFamily="18" charset="0"/>
                <a:cs typeface="Times New Roman" panose="02020603050405020304" pitchFamily="18" charset="0"/>
              </a:rPr>
              <a:t>z</a:t>
            </a:r>
            <a:r>
              <a:rPr lang="en-US" altLang="zh-CN" i="1" baseline="3000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0.3 </a:t>
            </a:r>
            <a:r>
              <a:rPr lang="zh-CN" altLang="en-US" dirty="0" smtClean="0">
                <a:latin typeface="Times New Roman" panose="02020603050405020304" pitchFamily="18" charset="0"/>
              </a:rPr>
              <a:t>前</a:t>
            </a:r>
            <a:r>
              <a:rPr lang="zh-CN" altLang="en-US" dirty="0">
                <a:latin typeface="Times New Roman" panose="02020603050405020304" pitchFamily="18" charset="0"/>
              </a:rPr>
              <a:t>四阶</a:t>
            </a:r>
            <a:r>
              <a:rPr lang="en-US" altLang="zh-CN" dirty="0" smtClean="0">
                <a:latin typeface="Times New Roman" panose="02020603050405020304" pitchFamily="18" charset="0"/>
              </a:rPr>
              <a:t>POD</a:t>
            </a:r>
            <a:r>
              <a:rPr lang="zh-CN" altLang="zh-CN" dirty="0" smtClean="0">
                <a:latin typeface="Times New Roman" panose="02020603050405020304" pitchFamily="18" charset="0"/>
                <a:cs typeface="Times New Roman" panose="02020603050405020304" pitchFamily="18" charset="0"/>
              </a:rPr>
              <a:t>模态</a:t>
            </a:r>
            <a:endParaRPr lang="zh-CN" altLang="en-US" dirty="0"/>
          </a:p>
        </p:txBody>
      </p:sp>
      <p:pic>
        <p:nvPicPr>
          <p:cNvPr id="15" name="图片 14"/>
          <p:cNvPicPr/>
          <p:nvPr/>
        </p:nvPicPr>
        <p:blipFill>
          <a:blip r:embed="rId2" cstate="print">
            <a:extLst>
              <a:ext uri="{28A0092B-C50C-407E-A947-70E740481C1C}">
                <a14:useLocalDpi xmlns:a14="http://schemas.microsoft.com/office/drawing/2010/main" val="0"/>
              </a:ext>
            </a:extLst>
          </a:blip>
          <a:stretch>
            <a:fillRect/>
          </a:stretch>
        </p:blipFill>
        <p:spPr>
          <a:xfrm>
            <a:off x="8006185" y="185694"/>
            <a:ext cx="3794226" cy="2067617"/>
          </a:xfrm>
          <a:prstGeom prst="rect">
            <a:avLst/>
          </a:prstGeom>
        </p:spPr>
      </p:pic>
      <p:sp>
        <p:nvSpPr>
          <p:cNvPr id="11" name="矩形 10"/>
          <p:cNvSpPr/>
          <p:nvPr/>
        </p:nvSpPr>
        <p:spPr>
          <a:xfrm>
            <a:off x="6013747" y="862047"/>
            <a:ext cx="1855954" cy="923330"/>
          </a:xfrm>
          <a:prstGeom prst="rect">
            <a:avLst/>
          </a:prstGeom>
        </p:spPr>
        <p:txBody>
          <a:bodyPr wrap="square">
            <a:spAutoFit/>
          </a:bodyPr>
          <a:lstStyle/>
          <a:p>
            <a:r>
              <a:rPr lang="zh-CN" altLang="en-US" dirty="0">
                <a:latin typeface="Times New Roman" panose="02020603050405020304" pitchFamily="18" charset="0"/>
                <a:cs typeface="Times New Roman" panose="02020603050405020304" pitchFamily="18" charset="0"/>
              </a:rPr>
              <a:t>法向</a:t>
            </a:r>
            <a:r>
              <a:rPr lang="zh-CN" altLang="zh-CN" dirty="0" smtClean="0">
                <a:latin typeface="Times New Roman" panose="02020603050405020304" pitchFamily="18" charset="0"/>
                <a:cs typeface="Times New Roman" panose="02020603050405020304" pitchFamily="18" charset="0"/>
              </a:rPr>
              <a:t>不同</a:t>
            </a:r>
            <a:r>
              <a:rPr lang="zh-CN" altLang="zh-CN" dirty="0">
                <a:latin typeface="Times New Roman" panose="02020603050405020304" pitchFamily="18" charset="0"/>
                <a:cs typeface="Times New Roman" panose="02020603050405020304" pitchFamily="18" charset="0"/>
              </a:rPr>
              <a:t>位置处的第一阶</a:t>
            </a:r>
            <a:r>
              <a:rPr lang="en-US" altLang="zh-CN" dirty="0">
                <a:latin typeface="Times New Roman" panose="02020603050405020304" pitchFamily="18" charset="0"/>
              </a:rPr>
              <a:t>POD</a:t>
            </a:r>
            <a:r>
              <a:rPr lang="zh-CN" altLang="zh-CN" dirty="0">
                <a:latin typeface="Times New Roman" panose="02020603050405020304" pitchFamily="18" charset="0"/>
                <a:cs typeface="Times New Roman" panose="02020603050405020304" pitchFamily="18" charset="0"/>
              </a:rPr>
              <a:t>模态的能量占</a:t>
            </a:r>
            <a:r>
              <a:rPr lang="zh-CN" altLang="zh-CN" dirty="0" smtClean="0">
                <a:latin typeface="Times New Roman" panose="02020603050405020304" pitchFamily="18" charset="0"/>
                <a:cs typeface="Times New Roman" panose="02020603050405020304" pitchFamily="18" charset="0"/>
              </a:rPr>
              <a:t>比</a:t>
            </a:r>
            <a:r>
              <a:rPr lang="zh-CN" altLang="en-US" dirty="0" smtClean="0">
                <a:latin typeface="Times New Roman" panose="02020603050405020304" pitchFamily="18" charset="0"/>
                <a:cs typeface="Times New Roman" panose="02020603050405020304" pitchFamily="18" charset="0"/>
              </a:rPr>
              <a:t>：</a:t>
            </a:r>
            <a:endParaRPr lang="zh-CN" altLang="en-US" dirty="0"/>
          </a:p>
        </p:txBody>
      </p:sp>
      <p:sp>
        <p:nvSpPr>
          <p:cNvPr id="17" name="矩形 16"/>
          <p:cNvSpPr/>
          <p:nvPr/>
        </p:nvSpPr>
        <p:spPr>
          <a:xfrm>
            <a:off x="8006185" y="6489324"/>
            <a:ext cx="2443298" cy="369332"/>
          </a:xfrm>
          <a:prstGeom prst="rect">
            <a:avLst/>
          </a:prstGeom>
        </p:spPr>
        <p:txBody>
          <a:bodyPr wrap="none">
            <a:spAutoFit/>
          </a:bodyPr>
          <a:lstStyle/>
          <a:p>
            <a:r>
              <a:rPr lang="en-US" altLang="zh-CN" i="1" dirty="0">
                <a:latin typeface="Times New Roman" panose="02020603050405020304" pitchFamily="18" charset="0"/>
                <a:cs typeface="Times New Roman" panose="02020603050405020304" pitchFamily="18" charset="0"/>
              </a:rPr>
              <a:t>z</a:t>
            </a:r>
            <a:r>
              <a:rPr lang="en-US" altLang="zh-CN" i="1" baseline="30000"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0.5 </a:t>
            </a:r>
            <a:r>
              <a:rPr lang="zh-CN" altLang="en-US" dirty="0" smtClean="0">
                <a:latin typeface="Times New Roman" panose="02020603050405020304" pitchFamily="18" charset="0"/>
              </a:rPr>
              <a:t>前</a:t>
            </a:r>
            <a:r>
              <a:rPr lang="zh-CN" altLang="en-US" dirty="0">
                <a:latin typeface="Times New Roman" panose="02020603050405020304" pitchFamily="18" charset="0"/>
              </a:rPr>
              <a:t>四阶</a:t>
            </a:r>
            <a:r>
              <a:rPr lang="en-US" altLang="zh-CN" dirty="0" smtClean="0">
                <a:latin typeface="Times New Roman" panose="02020603050405020304" pitchFamily="18" charset="0"/>
              </a:rPr>
              <a:t>POD</a:t>
            </a:r>
            <a:r>
              <a:rPr lang="zh-CN" altLang="zh-CN" dirty="0" smtClean="0">
                <a:latin typeface="Times New Roman" panose="02020603050405020304" pitchFamily="18" charset="0"/>
                <a:cs typeface="Times New Roman" panose="02020603050405020304" pitchFamily="18" charset="0"/>
              </a:rPr>
              <a:t>模态</a:t>
            </a:r>
            <a:endParaRPr lang="zh-CN" altLang="en-US" dirty="0"/>
          </a:p>
        </p:txBody>
      </p:sp>
      <p:sp>
        <p:nvSpPr>
          <p:cNvPr id="18" name="矩形 17"/>
          <p:cNvSpPr/>
          <p:nvPr/>
        </p:nvSpPr>
        <p:spPr>
          <a:xfrm>
            <a:off x="838200" y="1462212"/>
            <a:ext cx="2353529" cy="369332"/>
          </a:xfrm>
          <a:prstGeom prst="rect">
            <a:avLst/>
          </a:prstGeom>
        </p:spPr>
        <p:txBody>
          <a:bodyPr wrap="none">
            <a:spAutoFit/>
          </a:bodyPr>
          <a:lstStyle/>
          <a:p>
            <a:r>
              <a:rPr lang="zh-CN" altLang="en-US" b="1" dirty="0" smtClean="0"/>
              <a:t>（</a:t>
            </a:r>
            <a:r>
              <a:rPr lang="en-US" altLang="zh-CN" b="1" dirty="0"/>
              <a:t>3</a:t>
            </a:r>
            <a:r>
              <a:rPr lang="zh-CN" altLang="en-US" b="1" dirty="0" smtClean="0"/>
              <a:t>）尾流</a:t>
            </a:r>
            <a:r>
              <a:rPr lang="zh-CN" altLang="en-US" b="1" dirty="0"/>
              <a:t>场</a:t>
            </a:r>
            <a:r>
              <a:rPr lang="en-US" altLang="zh-CN" b="1" dirty="0"/>
              <a:t>POD</a:t>
            </a:r>
            <a:r>
              <a:rPr lang="zh-CN" altLang="en-US" b="1" dirty="0"/>
              <a:t>分析</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3912" y="2253311"/>
            <a:ext cx="4255634" cy="4093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1724" y="2289777"/>
            <a:ext cx="4190733" cy="4020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日期占位符 1"/>
          <p:cNvSpPr>
            <a:spLocks noGrp="1"/>
          </p:cNvSpPr>
          <p:nvPr>
            <p:ph type="dt" sz="half" idx="10"/>
          </p:nvPr>
        </p:nvSpPr>
        <p:spPr/>
        <p:txBody>
          <a:bodyPr/>
          <a:lstStyle/>
          <a:p>
            <a:fld id="{8A030D73-4049-4EBB-98A3-1AFF5C1FA330}" type="datetime1">
              <a:rPr lang="zh-CN" altLang="en-US" smtClean="0"/>
              <a:t>2023/5/24</a:t>
            </a:fld>
            <a:endParaRPr lang="zh-CN" altLang="en-US"/>
          </a:p>
        </p:txBody>
      </p:sp>
      <p:sp>
        <p:nvSpPr>
          <p:cNvPr id="3" name="灯片编号占位符 2"/>
          <p:cNvSpPr>
            <a:spLocks noGrp="1"/>
          </p:cNvSpPr>
          <p:nvPr>
            <p:ph type="sldNum" sz="quarter" idx="12"/>
          </p:nvPr>
        </p:nvSpPr>
        <p:spPr/>
        <p:txBody>
          <a:bodyPr/>
          <a:lstStyle/>
          <a:p>
            <a:fld id="{16D8DD02-547D-47A5-AAEA-525C7BEEAE57}" type="slidenum">
              <a:rPr lang="zh-CN" altLang="en-US" smtClean="0"/>
              <a:t>16</a:t>
            </a:fld>
            <a:endParaRPr lang="zh-CN" altLang="en-US"/>
          </a:p>
        </p:txBody>
      </p:sp>
    </p:spTree>
    <p:extLst>
      <p:ext uri="{BB962C8B-B14F-4D97-AF65-F5344CB8AC3E}">
        <p14:creationId xmlns:p14="http://schemas.microsoft.com/office/powerpoint/2010/main" val="3665003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t="-4802" r="-1548"/>
          <a:stretch/>
        </p:blipFill>
        <p:spPr>
          <a:xfrm>
            <a:off x="1890414" y="3863005"/>
            <a:ext cx="3600000" cy="2994995"/>
          </a:xfrm>
          <a:prstGeom prst="rect">
            <a:avLst/>
          </a:prstGeom>
        </p:spPr>
      </p:pic>
      <p:pic>
        <p:nvPicPr>
          <p:cNvPr id="8" name="Picture 2" descr="时间序列"/>
          <p:cNvPicPr>
            <a:picLocks noChangeAspect="1" noChangeArrowheads="1"/>
          </p:cNvPicPr>
          <p:nvPr/>
        </p:nvPicPr>
        <p:blipFill>
          <a:blip r:embed="rId5" cstate="print">
            <a:extLst>
              <a:ext uri="{28A0092B-C50C-407E-A947-70E740481C1C}">
                <a14:useLocalDpi xmlns:a14="http://schemas.microsoft.com/office/drawing/2010/main" val="0"/>
              </a:ext>
            </a:extLst>
          </a:blip>
          <a:srcRect l="4169" r="3816"/>
          <a:stretch>
            <a:fillRect/>
          </a:stretch>
        </p:blipFill>
        <p:spPr bwMode="auto">
          <a:xfrm>
            <a:off x="6696269" y="3509750"/>
            <a:ext cx="3600000" cy="3254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右弧形箭头 23"/>
          <p:cNvSpPr/>
          <p:nvPr/>
        </p:nvSpPr>
        <p:spPr>
          <a:xfrm rot="3948187" flipH="1" flipV="1">
            <a:off x="5082341" y="2947953"/>
            <a:ext cx="535059" cy="2755603"/>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5" name="TextBox 24"/>
          <p:cNvSpPr txBox="1"/>
          <p:nvPr/>
        </p:nvSpPr>
        <p:spPr>
          <a:xfrm>
            <a:off x="6544578" y="3161428"/>
            <a:ext cx="3594254" cy="338554"/>
          </a:xfrm>
          <a:prstGeom prst="rect">
            <a:avLst/>
          </a:prstGeom>
          <a:noFill/>
        </p:spPr>
        <p:txBody>
          <a:bodyPr wrap="none" rtlCol="0">
            <a:spAutoFit/>
          </a:bodyPr>
          <a:lstStyle/>
          <a:p>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2</a:t>
            </a:r>
            <a:r>
              <a:rPr lang="zh-CN" altLang="en-US" sz="1600" dirty="0">
                <a:latin typeface="Times New Roman" pitchFamily="18" charset="0"/>
                <a:cs typeface="Times New Roman" pitchFamily="18" charset="0"/>
              </a:rPr>
              <a:t>）</a:t>
            </a:r>
            <a:r>
              <a:rPr lang="en-US" altLang="zh-CN" sz="1600" b="1" i="1" dirty="0">
                <a:solidFill>
                  <a:srgbClr val="FF0000"/>
                </a:solidFill>
                <a:latin typeface="Times New Roman" pitchFamily="18" charset="0"/>
                <a:cs typeface="Times New Roman" pitchFamily="18" charset="0"/>
              </a:rPr>
              <a:t>Re</a:t>
            </a:r>
            <a:r>
              <a:rPr lang="en-US" altLang="zh-CN" sz="1600" b="1" dirty="0">
                <a:solidFill>
                  <a:srgbClr val="FF0000"/>
                </a:solidFill>
                <a:latin typeface="Times New Roman" pitchFamily="18" charset="0"/>
                <a:cs typeface="Times New Roman" pitchFamily="18" charset="0"/>
              </a:rPr>
              <a:t>=823</a:t>
            </a:r>
            <a:r>
              <a:rPr lang="zh-CN" altLang="en-US" sz="1600" dirty="0">
                <a:latin typeface="Times New Roman" pitchFamily="18" charset="0"/>
                <a:cs typeface="Times New Roman" pitchFamily="18" charset="0"/>
              </a:rPr>
              <a:t>，速度信号首次出现波动</a:t>
            </a:r>
          </a:p>
        </p:txBody>
      </p:sp>
      <p:sp>
        <p:nvSpPr>
          <p:cNvPr id="26" name="TextBox 25"/>
          <p:cNvSpPr txBox="1"/>
          <p:nvPr/>
        </p:nvSpPr>
        <p:spPr>
          <a:xfrm>
            <a:off x="1890414" y="3137649"/>
            <a:ext cx="3233578" cy="338554"/>
          </a:xfrm>
          <a:prstGeom prst="rect">
            <a:avLst/>
          </a:prstGeom>
          <a:noFill/>
        </p:spPr>
        <p:txBody>
          <a:bodyPr wrap="none" rtlCol="0">
            <a:spAutoFit/>
          </a:bodyPr>
          <a:lstStyle/>
          <a:p>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1</a:t>
            </a:r>
            <a:r>
              <a:rPr lang="zh-CN" altLang="en-US" sz="1600" dirty="0">
                <a:latin typeface="Times New Roman" pitchFamily="18" charset="0"/>
                <a:cs typeface="Times New Roman" pitchFamily="18" charset="0"/>
              </a:rPr>
              <a:t>）</a:t>
            </a:r>
            <a:r>
              <a:rPr lang="en-US" altLang="zh-CN" sz="1600" i="1" dirty="0" err="1">
                <a:latin typeface="Times New Roman" pitchFamily="18" charset="0"/>
                <a:cs typeface="Times New Roman" pitchFamily="18" charset="0"/>
              </a:rPr>
              <a:t>C</a:t>
            </a:r>
            <a:r>
              <a:rPr lang="en-US" altLang="zh-CN" sz="1600" i="1" baseline="-25000" dirty="0" err="1">
                <a:latin typeface="Times New Roman" pitchFamily="18" charset="0"/>
                <a:cs typeface="Times New Roman" pitchFamily="18" charset="0"/>
              </a:rPr>
              <a:t>f</a:t>
            </a:r>
            <a:r>
              <a:rPr lang="en-US" altLang="zh-CN" sz="1600" i="1" dirty="0">
                <a:latin typeface="Times New Roman" pitchFamily="18" charset="0"/>
                <a:cs typeface="Times New Roman" pitchFamily="18" charset="0"/>
              </a:rPr>
              <a:t>-Re</a:t>
            </a:r>
            <a:r>
              <a:rPr lang="zh-CN" altLang="en-US" sz="1600" dirty="0">
                <a:latin typeface="Times New Roman" pitchFamily="18" charset="0"/>
                <a:cs typeface="Times New Roman" pitchFamily="18" charset="0"/>
              </a:rPr>
              <a:t>曲线偏离层流解</a:t>
            </a:r>
            <a:r>
              <a:rPr lang="en-US" altLang="zh-CN" sz="1600" b="1" i="1" dirty="0">
                <a:solidFill>
                  <a:srgbClr val="FF0000"/>
                </a:solidFill>
                <a:latin typeface="Times New Roman" pitchFamily="18" charset="0"/>
                <a:cs typeface="Times New Roman" pitchFamily="18" charset="0"/>
              </a:rPr>
              <a:t>Re</a:t>
            </a:r>
            <a:r>
              <a:rPr lang="en-US" altLang="zh-CN" sz="1600" b="1" dirty="0">
                <a:solidFill>
                  <a:srgbClr val="FF0000"/>
                </a:solidFill>
                <a:latin typeface="Times New Roman" pitchFamily="18" charset="0"/>
                <a:cs typeface="Times New Roman" pitchFamily="18" charset="0"/>
              </a:rPr>
              <a:t>=980</a:t>
            </a:r>
          </a:p>
        </p:txBody>
      </p:sp>
      <p:sp>
        <p:nvSpPr>
          <p:cNvPr id="27" name="Rectangle 4"/>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latin typeface="Times New Roman" panose="02020603050405020304" pitchFamily="18" charset="0"/>
              <a:cs typeface="Times New Roman" panose="02020603050405020304" pitchFamily="18" charset="0"/>
            </a:endParaRPr>
          </a:p>
        </p:txBody>
      </p:sp>
      <p:graphicFrame>
        <p:nvGraphicFramePr>
          <p:cNvPr id="11" name="对象 10"/>
          <p:cNvGraphicFramePr>
            <a:graphicFrameLocks noChangeAspect="1"/>
          </p:cNvGraphicFramePr>
          <p:nvPr>
            <p:extLst/>
          </p:nvPr>
        </p:nvGraphicFramePr>
        <p:xfrm>
          <a:off x="2587198" y="1420717"/>
          <a:ext cx="7460250" cy="1677534"/>
        </p:xfrm>
        <a:graphic>
          <a:graphicData uri="http://schemas.openxmlformats.org/presentationml/2006/ole">
            <mc:AlternateContent xmlns:mc="http://schemas.openxmlformats.org/markup-compatibility/2006">
              <mc:Choice xmlns:v="urn:schemas-microsoft-com:vml" Requires="v">
                <p:oleObj spid="_x0000_s33795" name="Visio" r:id="rId6" imgW="5029808" imgH="1132641" progId="Visio.Drawing.11">
                  <p:embed/>
                </p:oleObj>
              </mc:Choice>
              <mc:Fallback>
                <p:oleObj name="Visio" r:id="rId6" imgW="5029808" imgH="1132641" progId="Visio.Drawing.11">
                  <p:embed/>
                  <p:pic>
                    <p:nvPicPr>
                      <p:cNvPr id="11"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7198" y="1420717"/>
                        <a:ext cx="7460250" cy="1677534"/>
                      </a:xfrm>
                      <a:prstGeom prst="rect">
                        <a:avLst/>
                      </a:prstGeom>
                      <a:noFill/>
                    </p:spPr>
                  </p:pic>
                </p:oleObj>
              </mc:Fallback>
            </mc:AlternateContent>
          </a:graphicData>
        </a:graphic>
      </p:graphicFrame>
      <p:sp>
        <p:nvSpPr>
          <p:cNvPr id="37" name="TextBox 24"/>
          <p:cNvSpPr txBox="1"/>
          <p:nvPr/>
        </p:nvSpPr>
        <p:spPr>
          <a:xfrm>
            <a:off x="2382120" y="3508084"/>
            <a:ext cx="2990175" cy="307777"/>
          </a:xfrm>
          <a:prstGeom prst="rect">
            <a:avLst/>
          </a:prstGeom>
          <a:noFill/>
        </p:spPr>
        <p:txBody>
          <a:bodyPr wrap="square" rtlCol="0">
            <a:spAutoFit/>
          </a:bodyPr>
          <a:lstStyle/>
          <a:p>
            <a:r>
              <a:rPr lang="zh-CN" altLang="en-US" sz="1400" dirty="0">
                <a:latin typeface="Times New Roman" pitchFamily="18" charset="0"/>
                <a:cs typeface="Times New Roman" pitchFamily="18" charset="0"/>
              </a:rPr>
              <a:t>摩阻曲线难以判断准确的转捩位置</a:t>
            </a:r>
          </a:p>
        </p:txBody>
      </p:sp>
      <p:sp>
        <p:nvSpPr>
          <p:cNvPr id="12" name="椭圆 11"/>
          <p:cNvSpPr/>
          <p:nvPr/>
        </p:nvSpPr>
        <p:spPr>
          <a:xfrm>
            <a:off x="8271069" y="4368296"/>
            <a:ext cx="165100" cy="469900"/>
          </a:xfrm>
          <a:prstGeom prst="ellipse">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7851969" y="4368296"/>
            <a:ext cx="165100" cy="469900"/>
          </a:xfrm>
          <a:prstGeom prst="ellipse">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24"/>
          <p:cNvSpPr txBox="1"/>
          <p:nvPr/>
        </p:nvSpPr>
        <p:spPr>
          <a:xfrm>
            <a:off x="7889061" y="3755337"/>
            <a:ext cx="2031325" cy="369332"/>
          </a:xfrm>
          <a:prstGeom prst="rect">
            <a:avLst/>
          </a:prstGeom>
          <a:solidFill>
            <a:schemeClr val="bg1"/>
          </a:solidFill>
        </p:spPr>
        <p:txBody>
          <a:bodyPr wrap="none" rtlCol="0">
            <a:spAutoFit/>
          </a:bodyPr>
          <a:lstStyle/>
          <a:p>
            <a:r>
              <a:rPr lang="zh-CN" altLang="en-US" dirty="0">
                <a:solidFill>
                  <a:srgbClr val="FF0000"/>
                </a:solidFill>
                <a:latin typeface="Times New Roman" pitchFamily="18" charset="0"/>
                <a:cs typeface="Times New Roman" pitchFamily="18" charset="0"/>
              </a:rPr>
              <a:t>湍流结构随机出现</a:t>
            </a:r>
          </a:p>
        </p:txBody>
      </p:sp>
      <p:sp>
        <p:nvSpPr>
          <p:cNvPr id="28" name="文本框 27"/>
          <p:cNvSpPr txBox="1"/>
          <p:nvPr/>
        </p:nvSpPr>
        <p:spPr>
          <a:xfrm>
            <a:off x="672916" y="772765"/>
            <a:ext cx="8852084" cy="584775"/>
          </a:xfrm>
          <a:prstGeom prst="rect">
            <a:avLst/>
          </a:prstGeom>
          <a:noFill/>
        </p:spPr>
        <p:txBody>
          <a:bodyPr wrap="square" rtlCol="0">
            <a:spAutoFit/>
          </a:bodyPr>
          <a:lstStyle/>
          <a:p>
            <a:r>
              <a:rPr lang="en-US" altLang="zh-CN" sz="3200" b="1" dirty="0" smtClean="0">
                <a:latin typeface="华文细黑" panose="02010600040101010101" pitchFamily="2" charset="-122"/>
                <a:ea typeface="华文细黑" panose="02010600040101010101" pitchFamily="2" charset="-122"/>
              </a:rPr>
              <a:t> </a:t>
            </a:r>
            <a:r>
              <a:rPr lang="zh-CN" altLang="en-US" sz="3200" b="1" dirty="0" smtClean="0">
                <a:latin typeface="华文细黑" panose="02010600040101010101" pitchFamily="2" charset="-122"/>
                <a:ea typeface="华文细黑" panose="02010600040101010101" pitchFamily="2" charset="-122"/>
              </a:rPr>
              <a:t>反馈控制</a:t>
            </a:r>
            <a:r>
              <a:rPr lang="en-US" altLang="zh-CN" sz="3200" b="1" dirty="0" smtClean="0">
                <a:latin typeface="华文细黑" panose="02010600040101010101" pitchFamily="2" charset="-122"/>
                <a:ea typeface="华文细黑" panose="02010600040101010101" pitchFamily="2" charset="-122"/>
              </a:rPr>
              <a:t>PIV </a:t>
            </a:r>
            <a:r>
              <a:rPr lang="zh-CN" altLang="en-US" sz="3200" b="1" dirty="0" smtClean="0">
                <a:latin typeface="华文细黑" panose="02010600040101010101" pitchFamily="2" charset="-122"/>
                <a:ea typeface="华文细黑" panose="02010600040101010101" pitchFamily="2" charset="-122"/>
              </a:rPr>
              <a:t>：</a:t>
            </a:r>
            <a:r>
              <a:rPr lang="zh-CN" altLang="en-US" sz="3200" b="1" dirty="0" smtClean="0">
                <a:latin typeface="华文细黑" panose="02010600040101010101" pitchFamily="2" charset="-122"/>
                <a:ea typeface="华文细黑" panose="02010600040101010101" pitchFamily="2" charset="-122"/>
              </a:rPr>
              <a:t>一</a:t>
            </a:r>
            <a:r>
              <a:rPr lang="zh-CN" altLang="en-US" sz="3200" b="1" dirty="0" smtClean="0">
                <a:latin typeface="华文细黑" panose="02010600040101010101" pitchFamily="2" charset="-122"/>
                <a:ea typeface="华文细黑" panose="02010600040101010101" pitchFamily="2" charset="-122"/>
              </a:rPr>
              <a:t>个槽道湍流实验研究例子</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17</a:t>
            </a:fld>
            <a:endParaRPr lang="zh-CN" altLang="en-US"/>
          </a:p>
        </p:txBody>
      </p:sp>
    </p:spTree>
    <p:extLst>
      <p:ext uri="{BB962C8B-B14F-4D97-AF65-F5344CB8AC3E}">
        <p14:creationId xmlns:p14="http://schemas.microsoft.com/office/powerpoint/2010/main" val="26977008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8"/>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12" grpId="0" animBg="1"/>
      <p:bldP spid="38" grpId="0" animBg="1"/>
      <p:bldP spid="3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图片 24" descr="说明: G:\Plate poiseuille flow\槽道平台小论文\xutao\figure\U time\st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662" y="271574"/>
            <a:ext cx="3895326" cy="2759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图片 18" descr="说明: C:\Users\Administrator\Desktop\PDF.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5458" y="3512075"/>
            <a:ext cx="4322685" cy="3050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图片 16" descr="说明: C:\Users\Administrator\Desktop\TF.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91041" y="3754579"/>
            <a:ext cx="3843502" cy="29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时间序列"/>
          <p:cNvPicPr>
            <a:picLocks noChangeAspect="1" noChangeArrowheads="1"/>
          </p:cNvPicPr>
          <p:nvPr/>
        </p:nvPicPr>
        <p:blipFill>
          <a:blip r:embed="rId6" cstate="print">
            <a:extLst>
              <a:ext uri="{28A0092B-C50C-407E-A947-70E740481C1C}">
                <a14:useLocalDpi xmlns:a14="http://schemas.microsoft.com/office/drawing/2010/main" val="0"/>
              </a:ext>
            </a:extLst>
          </a:blip>
          <a:srcRect l="4169" r="3816"/>
          <a:stretch>
            <a:fillRect/>
          </a:stretch>
        </p:blipFill>
        <p:spPr bwMode="auto">
          <a:xfrm>
            <a:off x="2224862" y="420777"/>
            <a:ext cx="3410000" cy="308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247758" y="3459786"/>
            <a:ext cx="3595856" cy="307777"/>
          </a:xfrm>
          <a:prstGeom prst="rect">
            <a:avLst/>
          </a:prstGeom>
          <a:noFill/>
        </p:spPr>
        <p:txBody>
          <a:bodyPr wrap="none" rtlCol="0">
            <a:spAutoFit/>
          </a:bodyPr>
          <a:lstStyle/>
          <a:p>
            <a:r>
              <a:rPr lang="zh-CN" altLang="en-US" sz="1400" dirty="0">
                <a:latin typeface="Times New Roman" panose="02020603050405020304" pitchFamily="18" charset="0"/>
                <a:cs typeface="Times New Roman" pitchFamily="18" charset="0"/>
              </a:rPr>
              <a:t>图：添加扰动不同雷诺数下的时序速度信号</a:t>
            </a:r>
            <a:endParaRPr lang="zh-CN" altLang="en-US" sz="1400" i="1" dirty="0">
              <a:latin typeface="Times New Roman" pitchFamily="18" charset="0"/>
              <a:cs typeface="Times New Roman" pitchFamily="18" charset="0"/>
            </a:endParaRPr>
          </a:p>
        </p:txBody>
      </p:sp>
      <p:sp>
        <p:nvSpPr>
          <p:cNvPr id="8" name="TextBox 7"/>
          <p:cNvSpPr txBox="1"/>
          <p:nvPr/>
        </p:nvSpPr>
        <p:spPr>
          <a:xfrm>
            <a:off x="6752384" y="3093953"/>
            <a:ext cx="3236784" cy="307777"/>
          </a:xfrm>
          <a:prstGeom prst="rect">
            <a:avLst/>
          </a:prstGeom>
          <a:noFill/>
        </p:spPr>
        <p:txBody>
          <a:bodyPr wrap="none" rtlCol="0">
            <a:spAutoFit/>
          </a:bodyPr>
          <a:lstStyle/>
          <a:p>
            <a:r>
              <a:rPr lang="zh-CN" altLang="en-US" sz="1400" dirty="0">
                <a:latin typeface="Times New Roman" panose="02020603050405020304" pitchFamily="18" charset="0"/>
                <a:cs typeface="Times New Roman" pitchFamily="18" charset="0"/>
              </a:rPr>
              <a:t>图：速度信号的标准差随雷诺数的变化</a:t>
            </a:r>
            <a:endParaRPr lang="zh-CN" altLang="en-US" sz="1400" i="1" dirty="0">
              <a:latin typeface="Times New Roman" pitchFamily="18" charset="0"/>
              <a:cs typeface="Times New Roman" pitchFamily="18" charset="0"/>
            </a:endParaRPr>
          </a:p>
        </p:txBody>
      </p:sp>
      <p:sp>
        <p:nvSpPr>
          <p:cNvPr id="9" name="TextBox 8"/>
          <p:cNvSpPr txBox="1"/>
          <p:nvPr/>
        </p:nvSpPr>
        <p:spPr>
          <a:xfrm>
            <a:off x="7071692" y="6515055"/>
            <a:ext cx="2847254" cy="307777"/>
          </a:xfrm>
          <a:prstGeom prst="rect">
            <a:avLst/>
          </a:prstGeom>
          <a:noFill/>
        </p:spPr>
        <p:txBody>
          <a:bodyPr wrap="none" rtlCol="0">
            <a:spAutoFit/>
          </a:bodyPr>
          <a:lstStyle/>
          <a:p>
            <a:r>
              <a:rPr lang="zh-CN" altLang="en-US" sz="1400" dirty="0">
                <a:latin typeface="Times New Roman" pitchFamily="18" charset="0"/>
                <a:cs typeface="Times New Roman" pitchFamily="18" charset="0"/>
              </a:rPr>
              <a:t>图：不同雷诺数下速度信号的</a:t>
            </a:r>
            <a:r>
              <a:rPr lang="en-US" altLang="zh-CN" sz="1400" dirty="0">
                <a:latin typeface="Times New Roman" pitchFamily="18" charset="0"/>
                <a:cs typeface="Times New Roman" pitchFamily="18" charset="0"/>
              </a:rPr>
              <a:t>PDF</a:t>
            </a:r>
            <a:endParaRPr lang="zh-CN" altLang="en-US" sz="1400" i="1" dirty="0">
              <a:latin typeface="Times New Roman" pitchFamily="18" charset="0"/>
              <a:cs typeface="Times New Roman" pitchFamily="18" charset="0"/>
            </a:endParaRPr>
          </a:p>
        </p:txBody>
      </p:sp>
      <p:sp>
        <p:nvSpPr>
          <p:cNvPr id="10" name="TextBox 9"/>
          <p:cNvSpPr txBox="1"/>
          <p:nvPr/>
        </p:nvSpPr>
        <p:spPr>
          <a:xfrm>
            <a:off x="2539808" y="6584652"/>
            <a:ext cx="2847254" cy="307777"/>
          </a:xfrm>
          <a:prstGeom prst="rect">
            <a:avLst/>
          </a:prstGeom>
          <a:noFill/>
        </p:spPr>
        <p:txBody>
          <a:bodyPr wrap="none" rtlCol="0">
            <a:spAutoFit/>
          </a:bodyPr>
          <a:lstStyle/>
          <a:p>
            <a:r>
              <a:rPr lang="zh-CN" altLang="en-US" sz="1400" dirty="0">
                <a:latin typeface="Times New Roman" pitchFamily="18" charset="0"/>
                <a:cs typeface="Times New Roman" pitchFamily="18" charset="0"/>
              </a:rPr>
              <a:t>图：不同雷诺数下速度信号的</a:t>
            </a:r>
            <a:r>
              <a:rPr lang="en-US" altLang="zh-CN" sz="1400" dirty="0">
                <a:latin typeface="Times New Roman" pitchFamily="18" charset="0"/>
                <a:cs typeface="Times New Roman" pitchFamily="18" charset="0"/>
              </a:rPr>
              <a:t>PDF</a:t>
            </a:r>
            <a:endParaRPr lang="zh-CN" altLang="en-US" sz="1400" i="1" dirty="0">
              <a:latin typeface="Times New Roman" pitchFamily="18" charset="0"/>
              <a:cs typeface="Times New Roman" pitchFamily="18" charset="0"/>
            </a:endParaRPr>
          </a:p>
        </p:txBody>
      </p:sp>
      <p:cxnSp>
        <p:nvCxnSpPr>
          <p:cNvPr id="3" name="直接箭头连接符 2"/>
          <p:cNvCxnSpPr/>
          <p:nvPr/>
        </p:nvCxnSpPr>
        <p:spPr>
          <a:xfrm flipH="1">
            <a:off x="8820641" y="3692183"/>
            <a:ext cx="420913"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8246800" y="3692183"/>
            <a:ext cx="513367"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虚尾箭头 11"/>
          <p:cNvSpPr/>
          <p:nvPr/>
        </p:nvSpPr>
        <p:spPr>
          <a:xfrm>
            <a:off x="5814586" y="1787884"/>
            <a:ext cx="406104" cy="396324"/>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6995493" y="1816100"/>
            <a:ext cx="941593" cy="355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16" name="直接连接符 15"/>
          <p:cNvCxnSpPr/>
          <p:nvPr/>
        </p:nvCxnSpPr>
        <p:spPr>
          <a:xfrm>
            <a:off x="6972633" y="2420620"/>
            <a:ext cx="1063513" cy="0"/>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9" name="右弧形箭头 18"/>
          <p:cNvSpPr/>
          <p:nvPr/>
        </p:nvSpPr>
        <p:spPr>
          <a:xfrm>
            <a:off x="9989168" y="2715551"/>
            <a:ext cx="349146" cy="767496"/>
          </a:xfrm>
          <a:prstGeom prst="curvedLeftArrow">
            <a:avLst>
              <a:gd name="adj1" fmla="val 29817"/>
              <a:gd name="adj2" fmla="val 99103"/>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4" name="虚尾箭头 23"/>
          <p:cNvSpPr/>
          <p:nvPr/>
        </p:nvSpPr>
        <p:spPr>
          <a:xfrm rot="10800000">
            <a:off x="5734542" y="5378468"/>
            <a:ext cx="406104" cy="396324"/>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TextBox 24"/>
          <p:cNvSpPr txBox="1"/>
          <p:nvPr/>
        </p:nvSpPr>
        <p:spPr>
          <a:xfrm>
            <a:off x="8880967" y="3772877"/>
            <a:ext cx="1590675" cy="307777"/>
          </a:xfrm>
          <a:prstGeom prst="rect">
            <a:avLst/>
          </a:prstGeom>
          <a:solidFill>
            <a:schemeClr val="bg1"/>
          </a:solidFill>
        </p:spPr>
        <p:txBody>
          <a:bodyPr wrap="square" rtlCol="0">
            <a:spAutoFit/>
          </a:bodyPr>
          <a:lstStyle/>
          <a:p>
            <a:r>
              <a:rPr lang="en-US" altLang="zh-CN" sz="1400" dirty="0">
                <a:solidFill>
                  <a:srgbClr val="FF0000"/>
                </a:solidFill>
                <a:latin typeface="Times New Roman" panose="02020603050405020304" pitchFamily="18" charset="0"/>
                <a:cs typeface="Times New Roman" pitchFamily="18" charset="0"/>
              </a:rPr>
              <a:t>±3 </a:t>
            </a:r>
            <a:r>
              <a:rPr lang="en-US" altLang="zh-CN" sz="1400" i="1" dirty="0">
                <a:solidFill>
                  <a:srgbClr val="FF0000"/>
                </a:solidFill>
                <a:latin typeface="Times New Roman" panose="02020603050405020304" pitchFamily="18" charset="0"/>
                <a:cs typeface="Times New Roman" pitchFamily="18" charset="0"/>
                <a:sym typeface="Symbol" panose="05050102010706020507" pitchFamily="18" charset="2"/>
              </a:rPr>
              <a:t></a:t>
            </a:r>
            <a:r>
              <a:rPr lang="en-US" altLang="zh-CN" sz="1400" baseline="-25000" dirty="0">
                <a:solidFill>
                  <a:srgbClr val="FF0000"/>
                </a:solidFill>
                <a:latin typeface="Times New Roman" panose="02020603050405020304" pitchFamily="18" charset="0"/>
                <a:cs typeface="Times New Roman" pitchFamily="18" charset="0"/>
                <a:sym typeface="Symbol" panose="05050102010706020507" pitchFamily="18" charset="2"/>
              </a:rPr>
              <a:t>0  </a:t>
            </a:r>
            <a:r>
              <a:rPr lang="zh-CN" altLang="en-US" sz="1400" dirty="0">
                <a:solidFill>
                  <a:srgbClr val="FF0000"/>
                </a:solidFill>
                <a:latin typeface="Times New Roman" panose="02020603050405020304" pitchFamily="18" charset="0"/>
                <a:cs typeface="Times New Roman" pitchFamily="18" charset="0"/>
                <a:sym typeface="Symbol" panose="05050102010706020507" pitchFamily="18" charset="2"/>
              </a:rPr>
              <a:t>内</a:t>
            </a:r>
            <a:r>
              <a:rPr lang="zh-CN" altLang="en-US" sz="1400" dirty="0">
                <a:solidFill>
                  <a:srgbClr val="FF0000"/>
                </a:solidFill>
                <a:latin typeface="Times New Roman" panose="02020603050405020304" pitchFamily="18" charset="0"/>
                <a:cs typeface="Times New Roman" pitchFamily="18" charset="0"/>
              </a:rPr>
              <a:t>层流成分</a:t>
            </a:r>
          </a:p>
        </p:txBody>
      </p:sp>
      <p:sp>
        <p:nvSpPr>
          <p:cNvPr id="26" name="矩形 25"/>
          <p:cNvSpPr/>
          <p:nvPr/>
        </p:nvSpPr>
        <p:spPr>
          <a:xfrm>
            <a:off x="2690192" y="5173697"/>
            <a:ext cx="1368194" cy="20477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8" name="任意多边形 27"/>
          <p:cNvSpPr/>
          <p:nvPr/>
        </p:nvSpPr>
        <p:spPr>
          <a:xfrm>
            <a:off x="2546841" y="4123268"/>
            <a:ext cx="2947988" cy="2101321"/>
          </a:xfrm>
          <a:custGeom>
            <a:avLst/>
            <a:gdLst>
              <a:gd name="connsiteX0" fmla="*/ 0 w 2947988"/>
              <a:gd name="connsiteY0" fmla="*/ 2101321 h 2101321"/>
              <a:gd name="connsiteX1" fmla="*/ 947738 w 2947988"/>
              <a:gd name="connsiteY1" fmla="*/ 2096558 h 2101321"/>
              <a:gd name="connsiteX2" fmla="*/ 1228725 w 2947988"/>
              <a:gd name="connsiteY2" fmla="*/ 2010833 h 2101321"/>
              <a:gd name="connsiteX3" fmla="*/ 1462088 w 2947988"/>
              <a:gd name="connsiteY3" fmla="*/ 1748896 h 2101321"/>
              <a:gd name="connsiteX4" fmla="*/ 1628775 w 2947988"/>
              <a:gd name="connsiteY4" fmla="*/ 1329796 h 2101321"/>
              <a:gd name="connsiteX5" fmla="*/ 1776413 w 2947988"/>
              <a:gd name="connsiteY5" fmla="*/ 872596 h 2101321"/>
              <a:gd name="connsiteX6" fmla="*/ 1876425 w 2947988"/>
              <a:gd name="connsiteY6" fmla="*/ 553508 h 2101321"/>
              <a:gd name="connsiteX7" fmla="*/ 2033588 w 2947988"/>
              <a:gd name="connsiteY7" fmla="*/ 258233 h 2101321"/>
              <a:gd name="connsiteX8" fmla="*/ 2181225 w 2947988"/>
              <a:gd name="connsiteY8" fmla="*/ 115358 h 2101321"/>
              <a:gd name="connsiteX9" fmla="*/ 2466975 w 2947988"/>
              <a:gd name="connsiteY9" fmla="*/ 15346 h 2101321"/>
              <a:gd name="connsiteX10" fmla="*/ 2728913 w 2947988"/>
              <a:gd name="connsiteY10" fmla="*/ 1058 h 2101321"/>
              <a:gd name="connsiteX11" fmla="*/ 2947988 w 2947988"/>
              <a:gd name="connsiteY11" fmla="*/ 1058 h 2101321"/>
              <a:gd name="connsiteX12" fmla="*/ 2947988 w 2947988"/>
              <a:gd name="connsiteY12" fmla="*/ 1058 h 210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47988" h="2101321">
                <a:moveTo>
                  <a:pt x="0" y="2101321"/>
                </a:moveTo>
                <a:lnTo>
                  <a:pt x="947738" y="2096558"/>
                </a:lnTo>
                <a:cubicBezTo>
                  <a:pt x="1152525" y="2081477"/>
                  <a:pt x="1143000" y="2068777"/>
                  <a:pt x="1228725" y="2010833"/>
                </a:cubicBezTo>
                <a:cubicBezTo>
                  <a:pt x="1314450" y="1952889"/>
                  <a:pt x="1395413" y="1862402"/>
                  <a:pt x="1462088" y="1748896"/>
                </a:cubicBezTo>
                <a:cubicBezTo>
                  <a:pt x="1528763" y="1635390"/>
                  <a:pt x="1576388" y="1475846"/>
                  <a:pt x="1628775" y="1329796"/>
                </a:cubicBezTo>
                <a:cubicBezTo>
                  <a:pt x="1681162" y="1183746"/>
                  <a:pt x="1735138" y="1001977"/>
                  <a:pt x="1776413" y="872596"/>
                </a:cubicBezTo>
                <a:cubicBezTo>
                  <a:pt x="1817688" y="743215"/>
                  <a:pt x="1833563" y="655902"/>
                  <a:pt x="1876425" y="553508"/>
                </a:cubicBezTo>
                <a:cubicBezTo>
                  <a:pt x="1919287" y="451114"/>
                  <a:pt x="1982788" y="331258"/>
                  <a:pt x="2033588" y="258233"/>
                </a:cubicBezTo>
                <a:cubicBezTo>
                  <a:pt x="2084388" y="185208"/>
                  <a:pt x="2108994" y="155839"/>
                  <a:pt x="2181225" y="115358"/>
                </a:cubicBezTo>
                <a:cubicBezTo>
                  <a:pt x="2253456" y="74877"/>
                  <a:pt x="2375694" y="34396"/>
                  <a:pt x="2466975" y="15346"/>
                </a:cubicBezTo>
                <a:cubicBezTo>
                  <a:pt x="2558256" y="-3704"/>
                  <a:pt x="2648744" y="3439"/>
                  <a:pt x="2728913" y="1058"/>
                </a:cubicBezTo>
                <a:cubicBezTo>
                  <a:pt x="2809082" y="-1323"/>
                  <a:pt x="2947988" y="1058"/>
                  <a:pt x="2947988" y="1058"/>
                </a:cubicBezTo>
                <a:lnTo>
                  <a:pt x="2947988" y="1058"/>
                </a:lnTo>
              </a:path>
            </a:pathLst>
          </a:cu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2" name="TextBox 31"/>
          <p:cNvSpPr txBox="1"/>
          <p:nvPr/>
        </p:nvSpPr>
        <p:spPr>
          <a:xfrm>
            <a:off x="502358" y="1674065"/>
            <a:ext cx="1165704" cy="369332"/>
          </a:xfrm>
          <a:prstGeom prst="rect">
            <a:avLst/>
          </a:prstGeom>
        </p:spPr>
        <p:txBody>
          <a:bodyPr wrap="none" rtlCol="0">
            <a:spAutoFit/>
          </a:bodyPr>
          <a:lstStyle/>
          <a:p>
            <a:r>
              <a:rPr lang="en-US" altLang="zh-CN" dirty="0" smtClean="0">
                <a:latin typeface="Times New Roman" pitchFamily="18" charset="0"/>
                <a:cs typeface="Times New Roman" pitchFamily="18" charset="0"/>
              </a:rPr>
              <a:t> </a:t>
            </a:r>
            <a:r>
              <a:rPr lang="zh-CN" altLang="en-US" dirty="0">
                <a:latin typeface="Times New Roman" pitchFamily="18" charset="0"/>
                <a:cs typeface="Times New Roman" pitchFamily="18" charset="0"/>
              </a:rPr>
              <a:t>湍流分数</a:t>
            </a:r>
          </a:p>
        </p:txBody>
      </p:sp>
      <p:graphicFrame>
        <p:nvGraphicFramePr>
          <p:cNvPr id="2" name="对象 1"/>
          <p:cNvGraphicFramePr>
            <a:graphicFrameLocks noChangeAspect="1"/>
          </p:cNvGraphicFramePr>
          <p:nvPr>
            <p:extLst/>
          </p:nvPr>
        </p:nvGraphicFramePr>
        <p:xfrm>
          <a:off x="7512541" y="3352800"/>
          <a:ext cx="914400" cy="198438"/>
        </p:xfrm>
        <a:graphic>
          <a:graphicData uri="http://schemas.openxmlformats.org/presentationml/2006/ole">
            <mc:AlternateContent xmlns:mc="http://schemas.openxmlformats.org/markup-compatibility/2006">
              <mc:Choice xmlns:v="urn:schemas-microsoft-com:vml" Requires="v">
                <p:oleObj spid="_x0000_s34819" name="Equation" r:id="rId7" imgW="914400" imgH="198720" progId="Equation.DSMT4">
                  <p:embed/>
                </p:oleObj>
              </mc:Choice>
              <mc:Fallback>
                <p:oleObj name="Equation" r:id="rId7" imgW="914400" imgH="198720" progId="Equation.DSMT4">
                  <p:embed/>
                  <p:pic>
                    <p:nvPicPr>
                      <p:cNvPr id="2" name="对象 1"/>
                      <p:cNvPicPr/>
                      <p:nvPr/>
                    </p:nvPicPr>
                    <p:blipFill>
                      <a:blip r:embed="rId8"/>
                      <a:stretch>
                        <a:fillRect/>
                      </a:stretch>
                    </p:blipFill>
                    <p:spPr>
                      <a:xfrm>
                        <a:off x="7512541" y="3352800"/>
                        <a:ext cx="914400" cy="19843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5" name="文本框 4"/>
              <p:cNvSpPr txBox="1"/>
              <p:nvPr/>
            </p:nvSpPr>
            <p:spPr>
              <a:xfrm>
                <a:off x="4214753" y="5803369"/>
                <a:ext cx="2368982" cy="474425"/>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1300" i="1">
                          <a:latin typeface="Cambria Math" panose="02040503050406030204" pitchFamily="18" charset="0"/>
                          <a:sym typeface="Symbol" panose="05050102010706020507" pitchFamily="18" charset="2"/>
                        </a:rPr>
                        <m:t></m:t>
                      </m:r>
                      <m:r>
                        <a:rPr lang="en-US" altLang="zh-CN" sz="1300" i="1">
                          <a:latin typeface="Cambria Math" panose="02040503050406030204" pitchFamily="18" charset="0"/>
                          <a:sym typeface="Symbol" panose="05050102010706020507" pitchFamily="18" charset="2"/>
                        </a:rPr>
                        <m:t>=</m:t>
                      </m:r>
                      <m:nary>
                        <m:naryPr>
                          <m:ctrlPr>
                            <a:rPr lang="en-US" altLang="zh-CN" sz="1300" i="1">
                              <a:latin typeface="Cambria Math" panose="02040503050406030204" pitchFamily="18" charset="0"/>
                              <a:sym typeface="Symbol" panose="05050102010706020507" pitchFamily="18" charset="2"/>
                            </a:rPr>
                          </m:ctrlPr>
                        </m:naryPr>
                        <m:sub>
                          <m:r>
                            <m:rPr>
                              <m:brk m:alnAt="23"/>
                            </m:rPr>
                            <a:rPr lang="en-US" altLang="zh-CN" sz="1300" i="1">
                              <a:latin typeface="Cambria Math" panose="02040503050406030204" pitchFamily="18" charset="0"/>
                              <a:sym typeface="Symbol" panose="05050102010706020507" pitchFamily="18" charset="2"/>
                            </a:rPr>
                            <m:t>−</m:t>
                          </m:r>
                          <m:r>
                            <a:rPr lang="en-US" altLang="zh-CN" sz="1300" i="1">
                              <a:latin typeface="Cambria Math" panose="02040503050406030204" pitchFamily="18" charset="0"/>
                              <a:ea typeface="Cambria Math" panose="02040503050406030204" pitchFamily="18" charset="0"/>
                              <a:sym typeface="Symbol" panose="05050102010706020507" pitchFamily="18" charset="2"/>
                            </a:rPr>
                            <m:t>∞</m:t>
                          </m:r>
                        </m:sub>
                        <m:sup>
                          <m:r>
                            <a:rPr lang="en-US" altLang="zh-CN" sz="1300" i="1">
                              <a:latin typeface="Cambria Math" panose="02040503050406030204" pitchFamily="18" charset="0"/>
                              <a:sym typeface="Symbol" panose="05050102010706020507" pitchFamily="18" charset="2"/>
                            </a:rPr>
                            <m:t>−3</m:t>
                          </m:r>
                          <m:sSub>
                            <m:sSubPr>
                              <m:ctrlPr>
                                <a:rPr lang="en-US" altLang="zh-CN" sz="1300" i="1">
                                  <a:latin typeface="Cambria Math" panose="02040503050406030204" pitchFamily="18" charset="0"/>
                                  <a:sym typeface="Symbol" panose="05050102010706020507" pitchFamily="18" charset="2"/>
                                </a:rPr>
                              </m:ctrlPr>
                            </m:sSubPr>
                            <m:e>
                              <m:r>
                                <a:rPr lang="zh-CN" altLang="en-US" sz="1300" i="1">
                                  <a:latin typeface="Cambria Math" panose="02040503050406030204" pitchFamily="18" charset="0"/>
                                  <a:sym typeface="Symbol" panose="05050102010706020507" pitchFamily="18" charset="2"/>
                                </a:rPr>
                                <m:t>𝜎</m:t>
                              </m:r>
                            </m:e>
                            <m:sub>
                              <m:r>
                                <a:rPr lang="en-US" altLang="zh-CN" sz="1300" i="1">
                                  <a:latin typeface="Cambria Math" panose="02040503050406030204" pitchFamily="18" charset="0"/>
                                  <a:sym typeface="Symbol" panose="05050102010706020507" pitchFamily="18" charset="2"/>
                                </a:rPr>
                                <m:t>0</m:t>
                              </m:r>
                            </m:sub>
                          </m:sSub>
                        </m:sup>
                        <m:e>
                          <m:r>
                            <a:rPr lang="en-US" altLang="zh-CN" sz="1300" i="1">
                              <a:latin typeface="Cambria Math" panose="02040503050406030204" pitchFamily="18" charset="0"/>
                              <a:sym typeface="Symbol" panose="05050102010706020507" pitchFamily="18" charset="2"/>
                            </a:rPr>
                            <m:t>𝑓</m:t>
                          </m:r>
                          <m:d>
                            <m:dPr>
                              <m:ctrlPr>
                                <a:rPr lang="en-US" altLang="zh-CN" sz="1300" i="1">
                                  <a:latin typeface="Cambria Math" panose="02040503050406030204" pitchFamily="18" charset="0"/>
                                  <a:sym typeface="Symbol" panose="05050102010706020507" pitchFamily="18" charset="2"/>
                                </a:rPr>
                              </m:ctrlPr>
                            </m:dPr>
                            <m:e>
                              <m:r>
                                <a:rPr lang="en-US" altLang="zh-CN" sz="1300" i="1">
                                  <a:latin typeface="Cambria Math" panose="02040503050406030204" pitchFamily="18" charset="0"/>
                                  <a:sym typeface="Symbol" panose="05050102010706020507" pitchFamily="18" charset="2"/>
                                </a:rPr>
                                <m:t>𝑥</m:t>
                              </m:r>
                            </m:e>
                          </m:d>
                          <m:r>
                            <a:rPr lang="en-US" altLang="zh-CN" sz="1300" i="1">
                              <a:latin typeface="Cambria Math" panose="02040503050406030204" pitchFamily="18" charset="0"/>
                              <a:sym typeface="Symbol" panose="05050102010706020507" pitchFamily="18" charset="2"/>
                            </a:rPr>
                            <m:t>𝑑𝑥</m:t>
                          </m:r>
                          <m:r>
                            <a:rPr lang="en-US" altLang="zh-CN" sz="1300" i="1">
                              <a:latin typeface="Cambria Math" panose="02040503050406030204" pitchFamily="18" charset="0"/>
                              <a:sym typeface="Symbol" panose="05050102010706020507" pitchFamily="18" charset="2"/>
                            </a:rPr>
                            <m:t>+</m:t>
                          </m:r>
                          <m:nary>
                            <m:naryPr>
                              <m:ctrlPr>
                                <a:rPr lang="en-US" altLang="zh-CN" sz="1300" i="1">
                                  <a:latin typeface="Cambria Math" panose="02040503050406030204" pitchFamily="18" charset="0"/>
                                  <a:sym typeface="Symbol" panose="05050102010706020507" pitchFamily="18" charset="2"/>
                                </a:rPr>
                              </m:ctrlPr>
                            </m:naryPr>
                            <m:sub>
                              <m:r>
                                <a:rPr lang="en-US" altLang="zh-CN" sz="1300" i="1">
                                  <a:latin typeface="Cambria Math" panose="02040503050406030204" pitchFamily="18" charset="0"/>
                                  <a:sym typeface="Symbol" panose="05050102010706020507" pitchFamily="18" charset="2"/>
                                </a:rPr>
                                <m:t>3</m:t>
                              </m:r>
                              <m:sSub>
                                <m:sSubPr>
                                  <m:ctrlPr>
                                    <a:rPr lang="en-US" altLang="zh-CN" sz="1300" i="1">
                                      <a:latin typeface="Cambria Math" panose="02040503050406030204" pitchFamily="18" charset="0"/>
                                      <a:sym typeface="Symbol" panose="05050102010706020507" pitchFamily="18" charset="2"/>
                                    </a:rPr>
                                  </m:ctrlPr>
                                </m:sSubPr>
                                <m:e>
                                  <m:r>
                                    <a:rPr lang="zh-CN" altLang="en-US" sz="1300" i="1">
                                      <a:latin typeface="Cambria Math" panose="02040503050406030204" pitchFamily="18" charset="0"/>
                                      <a:sym typeface="Symbol" panose="05050102010706020507" pitchFamily="18" charset="2"/>
                                    </a:rPr>
                                    <m:t>𝜎</m:t>
                                  </m:r>
                                </m:e>
                                <m:sub>
                                  <m:r>
                                    <a:rPr lang="en-US" altLang="zh-CN" sz="1300" i="1">
                                      <a:latin typeface="Cambria Math" panose="02040503050406030204" pitchFamily="18" charset="0"/>
                                      <a:sym typeface="Symbol" panose="05050102010706020507" pitchFamily="18" charset="2"/>
                                    </a:rPr>
                                    <m:t>0</m:t>
                                  </m:r>
                                </m:sub>
                              </m:sSub>
                            </m:sub>
                            <m:sup>
                              <m:r>
                                <a:rPr lang="en-US" altLang="zh-CN" sz="1300" i="1">
                                  <a:latin typeface="Cambria Math" panose="02040503050406030204" pitchFamily="18" charset="0"/>
                                  <a:ea typeface="Cambria Math" panose="02040503050406030204" pitchFamily="18" charset="0"/>
                                  <a:sym typeface="Symbol" panose="05050102010706020507" pitchFamily="18" charset="2"/>
                                </a:rPr>
                                <m:t>+∞</m:t>
                              </m:r>
                            </m:sup>
                            <m:e>
                              <m:r>
                                <a:rPr lang="en-US" altLang="zh-CN" sz="1300" i="1">
                                  <a:latin typeface="Cambria Math" panose="02040503050406030204" pitchFamily="18" charset="0"/>
                                  <a:sym typeface="Symbol" panose="05050102010706020507" pitchFamily="18" charset="2"/>
                                </a:rPr>
                                <m:t>𝑓</m:t>
                              </m:r>
                              <m:d>
                                <m:dPr>
                                  <m:ctrlPr>
                                    <a:rPr lang="en-US" altLang="zh-CN" sz="1300" i="1">
                                      <a:latin typeface="Cambria Math" panose="02040503050406030204" pitchFamily="18" charset="0"/>
                                      <a:sym typeface="Symbol" panose="05050102010706020507" pitchFamily="18" charset="2"/>
                                    </a:rPr>
                                  </m:ctrlPr>
                                </m:dPr>
                                <m:e>
                                  <m:r>
                                    <a:rPr lang="en-US" altLang="zh-CN" sz="1300" i="1">
                                      <a:latin typeface="Cambria Math" panose="02040503050406030204" pitchFamily="18" charset="0"/>
                                      <a:sym typeface="Symbol" panose="05050102010706020507" pitchFamily="18" charset="2"/>
                                    </a:rPr>
                                    <m:t>𝑥</m:t>
                                  </m:r>
                                </m:e>
                              </m:d>
                              <m:r>
                                <a:rPr lang="en-US" altLang="zh-CN" sz="1300" i="1">
                                  <a:latin typeface="Cambria Math" panose="02040503050406030204" pitchFamily="18" charset="0"/>
                                  <a:sym typeface="Symbol" panose="05050102010706020507" pitchFamily="18" charset="2"/>
                                </a:rPr>
                                <m:t>𝑑𝑥</m:t>
                              </m:r>
                            </m:e>
                          </m:nary>
                        </m:e>
                      </m:nary>
                    </m:oMath>
                  </m:oMathPara>
                </a14:m>
                <a:endParaRPr lang="zh-CN" altLang="en-US" sz="1300" dirty="0"/>
              </a:p>
            </p:txBody>
          </p:sp>
        </mc:Choice>
        <mc:Fallback xmlns="">
          <p:sp>
            <p:nvSpPr>
              <p:cNvPr id="5" name="文本框 4"/>
              <p:cNvSpPr txBox="1">
                <a:spLocks noRot="1" noChangeAspect="1" noMove="1" noResize="1" noEditPoints="1" noAdjustHandles="1" noChangeArrowheads="1" noChangeShapeType="1" noTextEdit="1"/>
              </p:cNvSpPr>
              <p:nvPr/>
            </p:nvSpPr>
            <p:spPr>
              <a:xfrm>
                <a:off x="4214753" y="5803369"/>
                <a:ext cx="2368982" cy="474425"/>
              </a:xfrm>
              <a:prstGeom prst="rect">
                <a:avLst/>
              </a:prstGeom>
              <a:blipFill>
                <a:blip r:embed="rId9"/>
                <a:stretch>
                  <a:fillRect l="-15938" t="-174359" r="-9512" b="-247436"/>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16D8DD02-547D-47A5-AAEA-525C7BEEAE57}" type="slidenum">
              <a:rPr lang="zh-CN" altLang="en-US" smtClean="0"/>
              <a:t>18</a:t>
            </a:fld>
            <a:endParaRPr lang="zh-CN" altLang="en-US"/>
          </a:p>
        </p:txBody>
      </p:sp>
    </p:spTree>
    <p:extLst>
      <p:ext uri="{BB962C8B-B14F-4D97-AF65-F5344CB8AC3E}">
        <p14:creationId xmlns:p14="http://schemas.microsoft.com/office/powerpoint/2010/main" val="1100114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4099"/>
                                        </p:tgtEl>
                                        <p:attrNameLst>
                                          <p:attrName>style.visibility</p:attrName>
                                        </p:attrNameLst>
                                      </p:cBhvr>
                                      <p:to>
                                        <p:strVal val="visible"/>
                                      </p:to>
                                    </p:set>
                                    <p:animEffect transition="in" filter="fade">
                                      <p:cBhvr>
                                        <p:cTn id="10" dur="500"/>
                                        <p:tgtEl>
                                          <p:spTgt spid="409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nodeType="withEffect">
                                  <p:stCondLst>
                                    <p:cond delay="0"/>
                                  </p:stCondLst>
                                  <p:childTnLst>
                                    <p:set>
                                      <p:cBhvr>
                                        <p:cTn id="28" dur="1" fill="hold">
                                          <p:stCondLst>
                                            <p:cond delay="0"/>
                                          </p:stCondLst>
                                        </p:cTn>
                                        <p:tgtEl>
                                          <p:spTgt spid="4100"/>
                                        </p:tgtEl>
                                        <p:attrNameLst>
                                          <p:attrName>style.visibility</p:attrName>
                                        </p:attrNameLst>
                                      </p:cBhvr>
                                      <p:to>
                                        <p:strVal val="visible"/>
                                      </p:to>
                                    </p:set>
                                    <p:animEffect transition="in" filter="fade">
                                      <p:cBhvr>
                                        <p:cTn id="29" dur="500"/>
                                        <p:tgtEl>
                                          <p:spTgt spid="410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par>
                                <p:cTn id="38" presetID="10"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fade">
                                      <p:cBhvr>
                                        <p:cTn id="51" dur="500"/>
                                        <p:tgtEl>
                                          <p:spTgt spid="5"/>
                                        </p:tgtEl>
                                      </p:cBhvr>
                                    </p:animEffect>
                                  </p:childTnLst>
                                </p:cTn>
                              </p:par>
                              <p:par>
                                <p:cTn id="52" presetID="10" presetClass="entr" presetSubtype="0" fill="hold" nodeType="withEffect">
                                  <p:stCondLst>
                                    <p:cond delay="0"/>
                                  </p:stCondLst>
                                  <p:childTnLst>
                                    <p:set>
                                      <p:cBhvr>
                                        <p:cTn id="53" dur="1" fill="hold">
                                          <p:stCondLst>
                                            <p:cond delay="0"/>
                                          </p:stCondLst>
                                        </p:cTn>
                                        <p:tgtEl>
                                          <p:spTgt spid="4101"/>
                                        </p:tgtEl>
                                        <p:attrNameLst>
                                          <p:attrName>style.visibility</p:attrName>
                                        </p:attrNameLst>
                                      </p:cBhvr>
                                      <p:to>
                                        <p:strVal val="visible"/>
                                      </p:to>
                                    </p:set>
                                    <p:animEffect transition="in" filter="fade">
                                      <p:cBhvr>
                                        <p:cTn id="54" dur="500"/>
                                        <p:tgtEl>
                                          <p:spTgt spid="410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fade">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down)">
                                      <p:cBhvr>
                                        <p:cTn id="6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animBg="1"/>
      <p:bldP spid="13" grpId="0" animBg="1"/>
      <p:bldP spid="19" grpId="0" animBg="1"/>
      <p:bldP spid="24" grpId="0" animBg="1"/>
      <p:bldP spid="25" grpId="0" animBg="1"/>
      <p:bldP spid="26" grpId="0" animBg="1"/>
      <p:bldP spid="28"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29175" y="2105563"/>
            <a:ext cx="8280000" cy="3653236"/>
          </a:xfrm>
          <a:prstGeom prst="rect">
            <a:avLst/>
          </a:prstGeom>
        </p:spPr>
      </p:pic>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29175" y="2101750"/>
            <a:ext cx="8280000" cy="3653237"/>
          </a:xfrm>
          <a:prstGeom prst="rect">
            <a:avLst/>
          </a:prstGeom>
        </p:spPr>
      </p:pic>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29176" y="2109817"/>
            <a:ext cx="8280000" cy="3653236"/>
          </a:xfrm>
          <a:prstGeom prst="rect">
            <a:avLst/>
          </a:prstGeom>
        </p:spPr>
      </p:pic>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29176" y="2116976"/>
            <a:ext cx="8280000" cy="3653236"/>
          </a:xfrm>
          <a:prstGeom prst="rect">
            <a:avLst/>
          </a:prstGeom>
        </p:spPr>
      </p:pic>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9176" y="2110082"/>
            <a:ext cx="8280000" cy="3653236"/>
          </a:xfrm>
          <a:prstGeom prst="rect">
            <a:avLst/>
          </a:prstGeom>
        </p:spPr>
      </p:pic>
      <p:pic>
        <p:nvPicPr>
          <p:cNvPr id="22" name="图片 2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29176" y="2109230"/>
            <a:ext cx="8280000" cy="3653236"/>
          </a:xfrm>
          <a:prstGeom prst="rect">
            <a:avLst/>
          </a:prstGeom>
        </p:spPr>
      </p:pic>
      <p:pic>
        <p:nvPicPr>
          <p:cNvPr id="23" name="图片 2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29176" y="2110970"/>
            <a:ext cx="8280000" cy="3653236"/>
          </a:xfrm>
          <a:prstGeom prst="rect">
            <a:avLst/>
          </a:prstGeom>
        </p:spPr>
      </p:pic>
      <p:pic>
        <p:nvPicPr>
          <p:cNvPr id="24" name="图片 2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929176" y="2110268"/>
            <a:ext cx="8280000" cy="3653236"/>
          </a:xfrm>
          <a:prstGeom prst="rect">
            <a:avLst/>
          </a:prstGeom>
        </p:spPr>
      </p:pic>
      <p:pic>
        <p:nvPicPr>
          <p:cNvPr id="25" name="图片 2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929176" y="2109348"/>
            <a:ext cx="8280000" cy="3653236"/>
          </a:xfrm>
          <a:prstGeom prst="rect">
            <a:avLst/>
          </a:prstGeom>
        </p:spPr>
      </p:pic>
      <p:pic>
        <p:nvPicPr>
          <p:cNvPr id="26" name="图片 2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29176" y="2108849"/>
            <a:ext cx="8280000" cy="3653236"/>
          </a:xfrm>
          <a:prstGeom prst="rect">
            <a:avLst/>
          </a:prstGeom>
        </p:spPr>
      </p:pic>
      <p:sp>
        <p:nvSpPr>
          <p:cNvPr id="31" name="TextBox 27"/>
          <p:cNvSpPr txBox="1"/>
          <p:nvPr/>
        </p:nvSpPr>
        <p:spPr>
          <a:xfrm>
            <a:off x="4846421" y="5662583"/>
            <a:ext cx="2986715" cy="307777"/>
          </a:xfrm>
          <a:prstGeom prst="rect">
            <a:avLst/>
          </a:prstGeom>
          <a:noFill/>
        </p:spPr>
        <p:txBody>
          <a:bodyPr wrap="none" rtlCol="0">
            <a:spAutoFit/>
          </a:bodyPr>
          <a:lstStyle/>
          <a:p>
            <a:r>
              <a:rPr lang="zh-CN" altLang="en-US" sz="1400" dirty="0">
                <a:latin typeface="Times New Roman" pitchFamily="18" charset="0"/>
                <a:cs typeface="Times New Roman" pitchFamily="18" charset="0"/>
              </a:rPr>
              <a:t>图：槽道流随机湍斑的</a:t>
            </a:r>
            <a:r>
              <a:rPr lang="en-US" altLang="zh-CN" sz="1400" dirty="0">
                <a:latin typeface="Times New Roman" pitchFamily="18" charset="0"/>
                <a:cs typeface="Times New Roman" pitchFamily="18" charset="0"/>
              </a:rPr>
              <a:t>PIV</a:t>
            </a:r>
            <a:r>
              <a:rPr lang="zh-CN" altLang="en-US" sz="1400" dirty="0">
                <a:latin typeface="Times New Roman" pitchFamily="18" charset="0"/>
                <a:cs typeface="Times New Roman" pitchFamily="18" charset="0"/>
              </a:rPr>
              <a:t>捕捉方法</a:t>
            </a:r>
          </a:p>
        </p:txBody>
      </p:sp>
      <p:sp>
        <p:nvSpPr>
          <p:cNvPr id="2" name="矩形 1"/>
          <p:cNvSpPr/>
          <p:nvPr/>
        </p:nvSpPr>
        <p:spPr>
          <a:xfrm>
            <a:off x="3160382" y="2612326"/>
            <a:ext cx="2518638" cy="307777"/>
          </a:xfrm>
          <a:prstGeom prst="rect">
            <a:avLst/>
          </a:prstGeom>
        </p:spPr>
        <p:txBody>
          <a:bodyPr wrap="none">
            <a:spAutoFit/>
          </a:bodyPr>
          <a:lstStyle/>
          <a:p>
            <a:r>
              <a:rPr lang="zh-CN" altLang="en-US" sz="1400" dirty="0"/>
              <a:t>判断局部湍流结构能否自维持</a:t>
            </a:r>
          </a:p>
        </p:txBody>
      </p:sp>
      <p:sp>
        <p:nvSpPr>
          <p:cNvPr id="3" name="灯片编号占位符 2"/>
          <p:cNvSpPr>
            <a:spLocks noGrp="1"/>
          </p:cNvSpPr>
          <p:nvPr>
            <p:ph type="sldNum" sz="quarter" idx="12"/>
          </p:nvPr>
        </p:nvSpPr>
        <p:spPr/>
        <p:txBody>
          <a:bodyPr/>
          <a:lstStyle/>
          <a:p>
            <a:fld id="{16D8DD02-547D-47A5-AAEA-525C7BEEAE57}" type="slidenum">
              <a:rPr lang="zh-CN" altLang="en-US" smtClean="0"/>
              <a:t>19</a:t>
            </a:fld>
            <a:endParaRPr lang="zh-CN" altLang="en-US"/>
          </a:p>
        </p:txBody>
      </p:sp>
    </p:spTree>
    <p:extLst>
      <p:ext uri="{BB962C8B-B14F-4D97-AF65-F5344CB8AC3E}">
        <p14:creationId xmlns:p14="http://schemas.microsoft.com/office/powerpoint/2010/main" val="11185418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6"/>
                                        </p:tgtEl>
                                        <p:attrNameLst>
                                          <p:attrName>style.visibility</p:attrName>
                                        </p:attrNameLst>
                                      </p:cBhvr>
                                      <p:to>
                                        <p:strVal val="visible"/>
                                      </p:to>
                                    </p:set>
                                    <p:animEffect transition="in" filter="fade">
                                      <p:cBhvr>
                                        <p:cTn id="5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ands"/>
          <p:cNvPicPr>
            <a:picLocks noChangeAspect="1" noChangeArrowheads="1"/>
          </p:cNvPicPr>
          <p:nvPr/>
        </p:nvPicPr>
        <p:blipFill rotWithShape="1">
          <a:blip r:embed="rId2">
            <a:extLst>
              <a:ext uri="{28A0092B-C50C-407E-A947-70E740481C1C}">
                <a14:useLocalDpi xmlns:a14="http://schemas.microsoft.com/office/drawing/2010/main" val="0"/>
              </a:ext>
            </a:extLst>
          </a:blip>
          <a:srcRect b="62899"/>
          <a:stretch/>
        </p:blipFill>
        <p:spPr bwMode="auto">
          <a:xfrm>
            <a:off x="1155672" y="1357540"/>
            <a:ext cx="4578708" cy="307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bands"/>
          <p:cNvPicPr>
            <a:picLocks noChangeAspect="1" noChangeArrowheads="1"/>
          </p:cNvPicPr>
          <p:nvPr/>
        </p:nvPicPr>
        <p:blipFill rotWithShape="1">
          <a:blip r:embed="rId2">
            <a:extLst>
              <a:ext uri="{28A0092B-C50C-407E-A947-70E740481C1C}">
                <a14:useLocalDpi xmlns:a14="http://schemas.microsoft.com/office/drawing/2010/main" val="0"/>
              </a:ext>
            </a:extLst>
          </a:blip>
          <a:srcRect t="36522"/>
          <a:stretch/>
        </p:blipFill>
        <p:spPr bwMode="auto">
          <a:xfrm>
            <a:off x="6447018" y="1357540"/>
            <a:ext cx="4302746" cy="493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250302" y="6247821"/>
            <a:ext cx="8976049" cy="584775"/>
          </a:xfrm>
          <a:prstGeom prst="rect">
            <a:avLst/>
          </a:prstGeom>
        </p:spPr>
        <p:txBody>
          <a:bodyPr wrap="square">
            <a:spAutoFit/>
          </a:bodyPr>
          <a:lstStyle/>
          <a:p>
            <a:pPr algn="ctr"/>
            <a:r>
              <a:rPr lang="zh-CN" altLang="zh-CN" sz="1600" dirty="0" smtClean="0">
                <a:latin typeface="Times New Roman" pitchFamily="18" charset="0"/>
                <a:cs typeface="Times New Roman" pitchFamily="18" charset="0"/>
              </a:rPr>
              <a:t>图</a:t>
            </a:r>
            <a:r>
              <a:rPr lang="zh-CN" altLang="en-US" sz="1600" dirty="0" smtClean="0">
                <a:latin typeface="Times New Roman" pitchFamily="18" charset="0"/>
                <a:cs typeface="Times New Roman" pitchFamily="18" charset="0"/>
              </a:rPr>
              <a:t>：</a:t>
            </a:r>
            <a:r>
              <a:rPr lang="zh-CN" altLang="zh-CN" sz="1600" dirty="0" smtClean="0">
                <a:latin typeface="Times New Roman" pitchFamily="18" charset="0"/>
                <a:cs typeface="Times New Roman" pitchFamily="18" charset="0"/>
              </a:rPr>
              <a:t>（</a:t>
            </a:r>
            <a:r>
              <a:rPr lang="en-US" altLang="zh-CN" sz="1600" dirty="0">
                <a:latin typeface="Times New Roman" pitchFamily="18" charset="0"/>
                <a:cs typeface="Times New Roman" pitchFamily="18" charset="0"/>
              </a:rPr>
              <a:t>a</a:t>
            </a:r>
            <a:r>
              <a:rPr lang="zh-CN" altLang="zh-CN" sz="1600" dirty="0">
                <a:latin typeface="Times New Roman" pitchFamily="18" charset="0"/>
                <a:cs typeface="Times New Roman" pitchFamily="18" charset="0"/>
              </a:rPr>
              <a:t>）流向中心平面速度</a:t>
            </a:r>
            <a:r>
              <a:rPr lang="en-US" altLang="zh-CN" sz="1600" i="1" dirty="0" err="1">
                <a:latin typeface="Times New Roman" pitchFamily="18" charset="0"/>
                <a:cs typeface="Times New Roman" pitchFamily="18" charset="0"/>
              </a:rPr>
              <a:t>U</a:t>
            </a:r>
            <a:r>
              <a:rPr lang="en-US" altLang="zh-CN" sz="1600" baseline="-25000" dirty="0" err="1">
                <a:latin typeface="Times New Roman" pitchFamily="18" charset="0"/>
                <a:cs typeface="Times New Roman" pitchFamily="18" charset="0"/>
              </a:rPr>
              <a:t>c</a:t>
            </a:r>
            <a:r>
              <a:rPr lang="zh-CN" altLang="zh-CN"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x </a:t>
            </a:r>
            <a:r>
              <a:rPr lang="en-US" altLang="zh-CN"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 h</a:t>
            </a:r>
            <a:r>
              <a:rPr lang="en-US" altLang="zh-CN" sz="1600" dirty="0">
                <a:latin typeface="Times New Roman" pitchFamily="18" charset="0"/>
                <a:cs typeface="Times New Roman" pitchFamily="18" charset="0"/>
              </a:rPr>
              <a:t> = 890</a:t>
            </a:r>
            <a:r>
              <a:rPr lang="zh-CN" altLang="zh-CN" sz="1600" dirty="0">
                <a:latin typeface="Times New Roman" pitchFamily="18" charset="0"/>
                <a:cs typeface="Times New Roman" pitchFamily="18" charset="0"/>
              </a:rPr>
              <a:t>）</a:t>
            </a:r>
            <a:r>
              <a:rPr lang="zh-CN" altLang="en-US" sz="1600" dirty="0">
                <a:latin typeface="Times New Roman" pitchFamily="18" charset="0"/>
                <a:cs typeface="Times New Roman" pitchFamily="18" charset="0"/>
              </a:rPr>
              <a:t>；</a:t>
            </a:r>
            <a:r>
              <a:rPr lang="zh-CN" altLang="zh-CN"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b</a:t>
            </a:r>
            <a:r>
              <a:rPr lang="zh-CN" altLang="zh-CN"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x </a:t>
            </a:r>
            <a:r>
              <a:rPr lang="en-US" altLang="zh-CN"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 h</a:t>
            </a:r>
            <a:r>
              <a:rPr lang="en-US" altLang="zh-CN" sz="1600" dirty="0">
                <a:latin typeface="Times New Roman" pitchFamily="18" charset="0"/>
                <a:cs typeface="Times New Roman" pitchFamily="18" charset="0"/>
              </a:rPr>
              <a:t> = 660/740</a:t>
            </a:r>
            <a:r>
              <a:rPr lang="zh-CN" altLang="zh-CN" sz="1600" dirty="0">
                <a:latin typeface="Times New Roman" pitchFamily="18" charset="0"/>
                <a:cs typeface="Times New Roman" pitchFamily="18" charset="0"/>
              </a:rPr>
              <a:t>处的壁面静压信号</a:t>
            </a:r>
            <a:r>
              <a:rPr lang="zh-CN" altLang="en-US" sz="1600" dirty="0">
                <a:latin typeface="Times New Roman" pitchFamily="18" charset="0"/>
                <a:cs typeface="Times New Roman" pitchFamily="18" charset="0"/>
              </a:rPr>
              <a:t>；</a:t>
            </a:r>
            <a:r>
              <a:rPr lang="zh-CN" altLang="zh-CN"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c</a:t>
            </a:r>
            <a:r>
              <a:rPr lang="zh-CN" altLang="zh-CN" sz="1600" dirty="0">
                <a:latin typeface="Times New Roman" pitchFamily="18" charset="0"/>
                <a:cs typeface="Times New Roman" pitchFamily="18" charset="0"/>
              </a:rPr>
              <a:t>）局部湍流结构的</a:t>
            </a:r>
            <a:r>
              <a:rPr lang="zh-CN" altLang="en-US" sz="1600" dirty="0">
                <a:latin typeface="Times New Roman" pitchFamily="18" charset="0"/>
                <a:cs typeface="Times New Roman" pitchFamily="18" charset="0"/>
              </a:rPr>
              <a:t>流向</a:t>
            </a:r>
            <a:r>
              <a:rPr lang="zh-CN" altLang="zh-CN" sz="1600" dirty="0">
                <a:latin typeface="Times New Roman" pitchFamily="18" charset="0"/>
                <a:cs typeface="Times New Roman" pitchFamily="18" charset="0"/>
              </a:rPr>
              <a:t>速度云图</a:t>
            </a:r>
            <a:r>
              <a:rPr lang="zh-CN" altLang="en-US" sz="1600" dirty="0">
                <a:latin typeface="Times New Roman" pitchFamily="18" charset="0"/>
                <a:cs typeface="Times New Roman" pitchFamily="18" charset="0"/>
              </a:rPr>
              <a:t>。（</a:t>
            </a:r>
            <a:r>
              <a:rPr lang="en-US" altLang="zh-CN" sz="1600" i="1" dirty="0">
                <a:latin typeface="Times New Roman" pitchFamily="18" charset="0"/>
                <a:cs typeface="Times New Roman" pitchFamily="18" charset="0"/>
              </a:rPr>
              <a:t>Re</a:t>
            </a:r>
            <a:r>
              <a:rPr lang="en-US" altLang="zh-CN" sz="1600" dirty="0">
                <a:latin typeface="Times New Roman" pitchFamily="18" charset="0"/>
                <a:cs typeface="Times New Roman" pitchFamily="18" charset="0"/>
              </a:rPr>
              <a:t>=823</a:t>
            </a:r>
            <a:r>
              <a:rPr lang="zh-CN" altLang="en-US" sz="1600" dirty="0">
                <a:latin typeface="Times New Roman" pitchFamily="18" charset="0"/>
                <a:cs typeface="Times New Roman" pitchFamily="18" charset="0"/>
              </a:rPr>
              <a:t>）</a:t>
            </a:r>
            <a:endParaRPr lang="zh-CN" altLang="zh-CN" sz="1600" dirty="0">
              <a:latin typeface="Times New Roman" pitchFamily="18" charset="0"/>
              <a:cs typeface="Times New Roman" pitchFamily="18" charset="0"/>
            </a:endParaRPr>
          </a:p>
        </p:txBody>
      </p:sp>
      <p:sp>
        <p:nvSpPr>
          <p:cNvPr id="24" name="Rectangle 6"/>
          <p:cNvSpPr>
            <a:spLocks noChangeArrowheads="1"/>
          </p:cNvSpPr>
          <p:nvPr/>
        </p:nvSpPr>
        <p:spPr bwMode="auto">
          <a:xfrm>
            <a:off x="3844352" y="4501313"/>
            <a:ext cx="18818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altLang="zh-CN" dirty="0">
                <a:latin typeface="Times New Roman" panose="02020603050405020304" pitchFamily="18" charset="0"/>
                <a:ea typeface="宋体" pitchFamily="2" charset="-122"/>
                <a:cs typeface="Times New Roman" pitchFamily="18" charset="0"/>
              </a:rPr>
              <a:t> </a:t>
            </a:r>
            <a:r>
              <a:rPr lang="en-US" altLang="zh-CN" dirty="0">
                <a:latin typeface="Times New Roman" pitchFamily="18" charset="0"/>
                <a:ea typeface="宋体" pitchFamily="2" charset="-122"/>
                <a:cs typeface="Times New Roman" pitchFamily="18" charset="0"/>
                <a:sym typeface="Symbol"/>
              </a:rPr>
              <a:t></a:t>
            </a:r>
            <a:r>
              <a:rPr lang="en-US" altLang="zh-CN" i="1" dirty="0">
                <a:latin typeface="Times New Roman" pitchFamily="18" charset="0"/>
                <a:ea typeface="宋体" pitchFamily="2" charset="-122"/>
                <a:cs typeface="Times New Roman" pitchFamily="18" charset="0"/>
                <a:sym typeface="Symbol"/>
              </a:rPr>
              <a:t>t</a:t>
            </a:r>
            <a:r>
              <a:rPr lang="en-US" altLang="zh-CN" baseline="30000" dirty="0">
                <a:latin typeface="Times New Roman" pitchFamily="18" charset="0"/>
                <a:ea typeface="宋体" pitchFamily="2" charset="-122"/>
                <a:cs typeface="Times New Roman" pitchFamily="18" charset="0"/>
                <a:sym typeface="Symbol"/>
              </a:rPr>
              <a:t>*</a:t>
            </a:r>
            <a:r>
              <a:rPr lang="en-US" altLang="zh-CN" baseline="-25000" dirty="0">
                <a:latin typeface="Times New Roman" pitchFamily="18" charset="0"/>
                <a:ea typeface="宋体" pitchFamily="2" charset="-122"/>
                <a:cs typeface="Times New Roman" pitchFamily="18" charset="0"/>
                <a:sym typeface="Symbol"/>
              </a:rPr>
              <a:t>660</a:t>
            </a:r>
            <a:r>
              <a:rPr lang="en-US" altLang="zh-CN" dirty="0">
                <a:latin typeface="Times New Roman" pitchFamily="18" charset="0"/>
                <a:ea typeface="宋体" pitchFamily="2" charset="-122"/>
                <a:cs typeface="Times New Roman" pitchFamily="18" charset="0"/>
                <a:sym typeface="Symbol"/>
              </a:rPr>
              <a:t>=</a:t>
            </a:r>
            <a:r>
              <a:rPr lang="en-US" altLang="zh-CN" dirty="0">
                <a:latin typeface="Times New Roman" pitchFamily="18" charset="0"/>
                <a:cs typeface="Times New Roman" pitchFamily="18" charset="0"/>
              </a:rPr>
              <a:t>48.41</a:t>
            </a:r>
            <a:r>
              <a:rPr lang="en-US" altLang="zh-CN" i="1" dirty="0">
                <a:latin typeface="Times New Roman" pitchFamily="18" charset="0"/>
                <a:cs typeface="Times New Roman" pitchFamily="18" charset="0"/>
              </a:rPr>
              <a:t>h</a:t>
            </a:r>
            <a:endParaRPr lang="en-US" altLang="zh-CN" dirty="0">
              <a:latin typeface="Times New Roman" pitchFamily="18" charset="0"/>
              <a:ea typeface="宋体" pitchFamily="2" charset="-122"/>
              <a:cs typeface="Times New Roman" pitchFamily="18" charset="0"/>
            </a:endParaRPr>
          </a:p>
        </p:txBody>
      </p:sp>
      <p:sp>
        <p:nvSpPr>
          <p:cNvPr id="23" name="下箭头 22"/>
          <p:cNvSpPr/>
          <p:nvPr/>
        </p:nvSpPr>
        <p:spPr>
          <a:xfrm>
            <a:off x="2693593" y="4372370"/>
            <a:ext cx="319449" cy="39337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Rectangle 6"/>
          <p:cNvSpPr>
            <a:spLocks noChangeArrowheads="1"/>
          </p:cNvSpPr>
          <p:nvPr/>
        </p:nvSpPr>
        <p:spPr bwMode="auto">
          <a:xfrm>
            <a:off x="1912386" y="4825099"/>
            <a:ext cx="18818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zh-CN" altLang="en-US" dirty="0">
                <a:latin typeface="Times New Roman" pitchFamily="18" charset="0"/>
                <a:ea typeface="宋体" pitchFamily="2" charset="-122"/>
                <a:cs typeface="Times New Roman" pitchFamily="18" charset="0"/>
              </a:rPr>
              <a:t>湍流结构流向长度约为</a:t>
            </a:r>
            <a:r>
              <a:rPr lang="en-US" altLang="zh-CN" dirty="0">
                <a:latin typeface="Times New Roman" pitchFamily="18" charset="0"/>
                <a:ea typeface="宋体" pitchFamily="2" charset="-122"/>
                <a:cs typeface="Times New Roman" pitchFamily="18" charset="0"/>
              </a:rPr>
              <a:t>110</a:t>
            </a:r>
            <a:r>
              <a:rPr lang="en-US" altLang="zh-CN" i="1" dirty="0">
                <a:latin typeface="Times New Roman" pitchFamily="18" charset="0"/>
                <a:ea typeface="宋体" pitchFamily="2" charset="-122"/>
                <a:cs typeface="Times New Roman" pitchFamily="18" charset="0"/>
              </a:rPr>
              <a:t>h</a:t>
            </a:r>
          </a:p>
        </p:txBody>
      </p:sp>
      <p:cxnSp>
        <p:nvCxnSpPr>
          <p:cNvPr id="28" name="直接连接符 27"/>
          <p:cNvCxnSpPr/>
          <p:nvPr/>
        </p:nvCxnSpPr>
        <p:spPr>
          <a:xfrm>
            <a:off x="2660028" y="1587042"/>
            <a:ext cx="0" cy="2107865"/>
          </a:xfrm>
          <a:prstGeom prst="line">
            <a:avLst/>
          </a:prstGeom>
          <a:ln w="28575">
            <a:solidFill>
              <a:srgbClr val="EE0000"/>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3073680" y="1594302"/>
            <a:ext cx="0" cy="2107865"/>
          </a:xfrm>
          <a:prstGeom prst="line">
            <a:avLst/>
          </a:prstGeom>
          <a:ln w="28575">
            <a:solidFill>
              <a:srgbClr val="EE0000"/>
            </a:solidFill>
            <a:prstDash val="dash"/>
          </a:ln>
        </p:spPr>
        <p:style>
          <a:lnRef idx="1">
            <a:schemeClr val="accent1"/>
          </a:lnRef>
          <a:fillRef idx="0">
            <a:schemeClr val="accent1"/>
          </a:fillRef>
          <a:effectRef idx="0">
            <a:schemeClr val="accent1"/>
          </a:effectRef>
          <a:fontRef idx="minor">
            <a:schemeClr val="tx1"/>
          </a:fontRef>
        </p:style>
      </p:cxnSp>
      <p:sp>
        <p:nvSpPr>
          <p:cNvPr id="31" name="Rectangle 6"/>
          <p:cNvSpPr>
            <a:spLocks noChangeArrowheads="1"/>
          </p:cNvSpPr>
          <p:nvPr/>
        </p:nvSpPr>
        <p:spPr bwMode="auto">
          <a:xfrm>
            <a:off x="3844351" y="4981217"/>
            <a:ext cx="18818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altLang="zh-CN" dirty="0">
                <a:latin typeface="Times New Roman" panose="02020603050405020304" pitchFamily="18" charset="0"/>
                <a:ea typeface="宋体" pitchFamily="2" charset="-122"/>
                <a:cs typeface="Times New Roman" pitchFamily="18" charset="0"/>
              </a:rPr>
              <a:t> </a:t>
            </a:r>
            <a:r>
              <a:rPr lang="en-US" altLang="zh-CN" dirty="0">
                <a:latin typeface="Times New Roman" pitchFamily="18" charset="0"/>
                <a:ea typeface="宋体" pitchFamily="2" charset="-122"/>
                <a:cs typeface="Times New Roman" pitchFamily="18" charset="0"/>
                <a:sym typeface="Symbol"/>
              </a:rPr>
              <a:t></a:t>
            </a:r>
            <a:r>
              <a:rPr lang="en-US" altLang="zh-CN" i="1" dirty="0">
                <a:latin typeface="Times New Roman" pitchFamily="18" charset="0"/>
                <a:ea typeface="宋体" pitchFamily="2" charset="-122"/>
                <a:cs typeface="Times New Roman" pitchFamily="18" charset="0"/>
                <a:sym typeface="Symbol"/>
              </a:rPr>
              <a:t>t</a:t>
            </a:r>
            <a:r>
              <a:rPr lang="en-US" altLang="zh-CN" baseline="30000" dirty="0">
                <a:latin typeface="Times New Roman" pitchFamily="18" charset="0"/>
                <a:ea typeface="宋体" pitchFamily="2" charset="-122"/>
                <a:cs typeface="Times New Roman" pitchFamily="18" charset="0"/>
                <a:sym typeface="Symbol"/>
              </a:rPr>
              <a:t>*</a:t>
            </a:r>
            <a:r>
              <a:rPr lang="en-US" altLang="zh-CN" baseline="-25000" dirty="0">
                <a:latin typeface="Times New Roman" pitchFamily="18" charset="0"/>
                <a:ea typeface="宋体" pitchFamily="2" charset="-122"/>
                <a:cs typeface="Times New Roman" pitchFamily="18" charset="0"/>
                <a:sym typeface="Symbol"/>
              </a:rPr>
              <a:t>740</a:t>
            </a:r>
            <a:r>
              <a:rPr lang="en-US" altLang="zh-CN" dirty="0">
                <a:latin typeface="Times New Roman" pitchFamily="18" charset="0"/>
                <a:ea typeface="宋体" pitchFamily="2" charset="-122"/>
                <a:cs typeface="Times New Roman" pitchFamily="18" charset="0"/>
                <a:sym typeface="Symbol"/>
              </a:rPr>
              <a:t>=</a:t>
            </a:r>
            <a:r>
              <a:rPr lang="en-US" altLang="zh-CN" dirty="0">
                <a:latin typeface="Times New Roman" pitchFamily="18" charset="0"/>
                <a:cs typeface="Times New Roman" pitchFamily="18" charset="0"/>
              </a:rPr>
              <a:t>50.53</a:t>
            </a:r>
            <a:r>
              <a:rPr lang="en-US" altLang="zh-CN" i="1" dirty="0">
                <a:latin typeface="Times New Roman" pitchFamily="18" charset="0"/>
                <a:cs typeface="Times New Roman" pitchFamily="18" charset="0"/>
              </a:rPr>
              <a:t>h</a:t>
            </a:r>
            <a:endParaRPr lang="en-US" altLang="zh-CN" dirty="0">
              <a:latin typeface="Times New Roman" pitchFamily="18" charset="0"/>
              <a:ea typeface="宋体" pitchFamily="2" charset="-122"/>
              <a:cs typeface="Times New Roman" pitchFamily="18" charset="0"/>
            </a:endParaRPr>
          </a:p>
        </p:txBody>
      </p:sp>
      <p:sp>
        <p:nvSpPr>
          <p:cNvPr id="32" name="Rectangle 6"/>
          <p:cNvSpPr>
            <a:spLocks noChangeArrowheads="1"/>
          </p:cNvSpPr>
          <p:nvPr/>
        </p:nvSpPr>
        <p:spPr bwMode="auto">
          <a:xfrm rot="16200000">
            <a:off x="4453642" y="4802161"/>
            <a:ext cx="5131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lang="en-US" altLang="zh-CN" b="1" dirty="0">
                <a:latin typeface="Times New Roman" panose="02020603050405020304" pitchFamily="18" charset="0"/>
                <a:ea typeface="宋体" pitchFamily="2" charset="-122"/>
                <a:cs typeface="Times New Roman" pitchFamily="18" charset="0"/>
              </a:rPr>
              <a:t> &gt;</a:t>
            </a:r>
          </a:p>
        </p:txBody>
      </p:sp>
      <p:sp>
        <p:nvSpPr>
          <p:cNvPr id="29" name="矩形 28"/>
          <p:cNvSpPr/>
          <p:nvPr/>
        </p:nvSpPr>
        <p:spPr>
          <a:xfrm>
            <a:off x="3632928" y="5433067"/>
            <a:ext cx="2145139" cy="646331"/>
          </a:xfrm>
          <a:prstGeom prst="rect">
            <a:avLst/>
          </a:prstGeom>
        </p:spPr>
        <p:txBody>
          <a:bodyPr wrap="none">
            <a:spAutoFit/>
          </a:bodyPr>
          <a:lstStyle/>
          <a:p>
            <a:pPr algn="ctr"/>
            <a:r>
              <a:rPr lang="zh-CN" altLang="en-US" b="1" dirty="0">
                <a:solidFill>
                  <a:srgbClr val="FF0000"/>
                </a:solidFill>
                <a:latin typeface="Times New Roman" pitchFamily="18" charset="0"/>
                <a:ea typeface="宋体" pitchFamily="2" charset="-122"/>
                <a:cs typeface="Times New Roman" pitchFamily="18" charset="0"/>
              </a:rPr>
              <a:t>沿流向增长</a:t>
            </a:r>
            <a:endParaRPr lang="en-US" altLang="zh-CN" b="1" dirty="0">
              <a:solidFill>
                <a:srgbClr val="FF0000"/>
              </a:solidFill>
              <a:latin typeface="Times New Roman" pitchFamily="18" charset="0"/>
              <a:ea typeface="宋体" pitchFamily="2" charset="-122"/>
              <a:cs typeface="Times New Roman" pitchFamily="18" charset="0"/>
            </a:endParaRPr>
          </a:p>
          <a:p>
            <a:pPr algn="ctr"/>
            <a:r>
              <a:rPr lang="zh-CN" altLang="en-US" b="1" dirty="0">
                <a:solidFill>
                  <a:srgbClr val="FF0000"/>
                </a:solidFill>
                <a:latin typeface="Times New Roman" pitchFamily="18" charset="0"/>
                <a:ea typeface="宋体" pitchFamily="2" charset="-122"/>
                <a:cs typeface="Times New Roman" pitchFamily="18" charset="0"/>
              </a:rPr>
              <a:t>迁移速度</a:t>
            </a:r>
            <a:r>
              <a:rPr lang="en-US" altLang="zh-CN" b="1" i="1" dirty="0">
                <a:solidFill>
                  <a:srgbClr val="FF0000"/>
                </a:solidFill>
                <a:latin typeface="Times New Roman" pitchFamily="18" charset="0"/>
                <a:ea typeface="宋体" pitchFamily="2" charset="-122"/>
                <a:cs typeface="Times New Roman" pitchFamily="18" charset="0"/>
              </a:rPr>
              <a:t>U</a:t>
            </a:r>
            <a:r>
              <a:rPr lang="en-US" altLang="zh-CN" b="1" i="1" baseline="-25000" dirty="0">
                <a:solidFill>
                  <a:srgbClr val="FF0000"/>
                </a:solidFill>
                <a:latin typeface="Times New Roman" pitchFamily="18" charset="0"/>
                <a:ea typeface="宋体" pitchFamily="2" charset="-122"/>
                <a:cs typeface="Times New Roman" pitchFamily="18" charset="0"/>
              </a:rPr>
              <a:t>s </a:t>
            </a:r>
            <a:r>
              <a:rPr lang="zh-CN" altLang="en-US" b="1" i="1" dirty="0">
                <a:solidFill>
                  <a:srgbClr val="FF0000"/>
                </a:solidFill>
                <a:latin typeface="Times New Roman" pitchFamily="18" charset="0"/>
                <a:ea typeface="宋体" pitchFamily="2" charset="-122"/>
                <a:cs typeface="Times New Roman" pitchFamily="18" charset="0"/>
              </a:rPr>
              <a:t>≈  </a:t>
            </a:r>
            <a:r>
              <a:rPr lang="en-US" altLang="zh-CN" b="1" dirty="0">
                <a:solidFill>
                  <a:srgbClr val="FF0000"/>
                </a:solidFill>
                <a:latin typeface="Times New Roman" pitchFamily="18" charset="0"/>
                <a:ea typeface="宋体" pitchFamily="2" charset="-122"/>
                <a:cs typeface="Times New Roman" pitchFamily="18" charset="0"/>
              </a:rPr>
              <a:t>0.8</a:t>
            </a:r>
            <a:r>
              <a:rPr lang="en-US" altLang="zh-CN" b="1" i="1" dirty="0">
                <a:solidFill>
                  <a:srgbClr val="FF0000"/>
                </a:solidFill>
                <a:latin typeface="Times New Roman" pitchFamily="18" charset="0"/>
                <a:ea typeface="宋体" pitchFamily="2" charset="-122"/>
                <a:cs typeface="Times New Roman" pitchFamily="18" charset="0"/>
              </a:rPr>
              <a:t>U</a:t>
            </a:r>
            <a:r>
              <a:rPr lang="en-US" altLang="zh-CN" b="1" i="1" baseline="-25000" dirty="0">
                <a:solidFill>
                  <a:srgbClr val="FF0000"/>
                </a:solidFill>
                <a:latin typeface="Times New Roman" pitchFamily="18" charset="0"/>
                <a:ea typeface="宋体" pitchFamily="2" charset="-122"/>
                <a:cs typeface="Times New Roman" pitchFamily="18" charset="0"/>
              </a:rPr>
              <a:t>c</a:t>
            </a:r>
            <a:endParaRPr lang="zh-CN" altLang="en-US" b="1" i="1" baseline="-25000" dirty="0">
              <a:solidFill>
                <a:srgbClr val="FF0000"/>
              </a:solidFill>
              <a:latin typeface="Times New Roman" panose="02020603050405020304" pitchFamily="18" charset="0"/>
              <a:cs typeface="Times New Roman" panose="02020603050405020304" pitchFamily="18" charset="0"/>
            </a:endParaRPr>
          </a:p>
        </p:txBody>
      </p:sp>
      <p:sp>
        <p:nvSpPr>
          <p:cNvPr id="26" name="文本框 25"/>
          <p:cNvSpPr txBox="1"/>
          <p:nvPr/>
        </p:nvSpPr>
        <p:spPr>
          <a:xfrm>
            <a:off x="672916" y="772765"/>
            <a:ext cx="8852084" cy="584775"/>
          </a:xfrm>
          <a:prstGeom prst="rect">
            <a:avLst/>
          </a:prstGeom>
          <a:noFill/>
        </p:spPr>
        <p:txBody>
          <a:bodyPr wrap="square" rtlCol="0">
            <a:spAutoFit/>
          </a:bodyPr>
          <a:lstStyle/>
          <a:p>
            <a:r>
              <a:rPr lang="en-US" altLang="zh-CN" sz="3200" b="1" dirty="0" smtClean="0">
                <a:latin typeface="华文细黑" panose="02010600040101010101" pitchFamily="2" charset="-122"/>
                <a:ea typeface="华文细黑" panose="02010600040101010101" pitchFamily="2" charset="-122"/>
              </a:rPr>
              <a:t> </a:t>
            </a:r>
            <a:r>
              <a:rPr lang="zh-CN" altLang="en-US" sz="3200" b="1" dirty="0" smtClean="0">
                <a:latin typeface="华文细黑" panose="02010600040101010101" pitchFamily="2" charset="-122"/>
                <a:ea typeface="华文细黑" panose="02010600040101010101" pitchFamily="2" charset="-122"/>
              </a:rPr>
              <a:t>一个槽道湍流实验研究例子</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20</a:t>
            </a:fld>
            <a:endParaRPr lang="zh-CN" altLang="en-US"/>
          </a:p>
        </p:txBody>
      </p:sp>
    </p:spTree>
    <p:extLst>
      <p:ext uri="{BB962C8B-B14F-4D97-AF65-F5344CB8AC3E}">
        <p14:creationId xmlns:p14="http://schemas.microsoft.com/office/powerpoint/2010/main" val="15993727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00"/>
                                        <p:tgtEl>
                                          <p:spTgt spid="2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3" grpId="0" animBg="1"/>
      <p:bldP spid="27" grpId="0"/>
      <p:bldP spid="31" grpId="0"/>
      <p:bldP spid="32"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LJS_data\亚临界转捩数据PIV数据\Case2_825\34_4243\pic\B184.png"/>
          <p:cNvPicPr>
            <a:picLocks noChangeAspect="1" noChangeArrowheads="1"/>
          </p:cNvPicPr>
          <p:nvPr/>
        </p:nvPicPr>
        <p:blipFill rotWithShape="1">
          <a:blip r:embed="rId2">
            <a:extLst>
              <a:ext uri="{28A0092B-C50C-407E-A947-70E740481C1C}">
                <a14:useLocalDpi xmlns:a14="http://schemas.microsoft.com/office/drawing/2010/main" val="0"/>
              </a:ext>
            </a:extLst>
          </a:blip>
          <a:srcRect l="1024" t="5585" r="17449" b="2361"/>
          <a:stretch/>
        </p:blipFill>
        <p:spPr bwMode="auto">
          <a:xfrm>
            <a:off x="1993056" y="1668364"/>
            <a:ext cx="3975944" cy="398948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E:\LJS_data\亚临界转捩数据PIV数据\Case2_825\48_2284\pic\B257.png"/>
          <p:cNvPicPr>
            <a:picLocks noChangeAspect="1" noChangeArrowheads="1"/>
          </p:cNvPicPr>
          <p:nvPr/>
        </p:nvPicPr>
        <p:blipFill rotWithShape="1">
          <a:blip r:embed="rId3">
            <a:extLst>
              <a:ext uri="{28A0092B-C50C-407E-A947-70E740481C1C}">
                <a14:useLocalDpi xmlns:a14="http://schemas.microsoft.com/office/drawing/2010/main" val="0"/>
              </a:ext>
            </a:extLst>
          </a:blip>
          <a:srcRect l="751" t="4101" r="14578" b="3025"/>
          <a:stretch/>
        </p:blipFill>
        <p:spPr bwMode="auto">
          <a:xfrm>
            <a:off x="6248399" y="1611404"/>
            <a:ext cx="4136470" cy="4032000"/>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6"/>
          <p:cNvSpPr>
            <a:spLocks noChangeArrowheads="1"/>
          </p:cNvSpPr>
          <p:nvPr/>
        </p:nvSpPr>
        <p:spPr bwMode="auto">
          <a:xfrm>
            <a:off x="2463221" y="5716443"/>
            <a:ext cx="25193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lang="zh-CN" altLang="en-US" sz="2000" dirty="0">
                <a:latin typeface="Times New Roman" pitchFamily="18" charset="0"/>
                <a:ea typeface="宋体" pitchFamily="2" charset="-122"/>
                <a:cs typeface="Times New Roman" pitchFamily="18" charset="0"/>
              </a:rPr>
              <a:t>湍斑结构</a:t>
            </a:r>
            <a:endParaRPr lang="en-US" altLang="zh-CN" sz="2000" dirty="0">
              <a:latin typeface="Times New Roman" pitchFamily="18" charset="0"/>
              <a:ea typeface="宋体" pitchFamily="2" charset="-122"/>
              <a:cs typeface="Times New Roman" pitchFamily="18" charset="0"/>
            </a:endParaRPr>
          </a:p>
          <a:p>
            <a:pPr lvl="0" algn="ctr" fontAlgn="base">
              <a:spcBef>
                <a:spcPct val="0"/>
              </a:spcBef>
              <a:spcAft>
                <a:spcPct val="0"/>
              </a:spcAft>
            </a:pPr>
            <a:r>
              <a:rPr lang="zh-CN" altLang="en-US" sz="2000" dirty="0">
                <a:latin typeface="Times New Roman" pitchFamily="18" charset="0"/>
                <a:ea typeface="宋体" pitchFamily="2" charset="-122"/>
                <a:cs typeface="Times New Roman" pitchFamily="18" charset="0"/>
              </a:rPr>
              <a:t>（</a:t>
            </a:r>
            <a:r>
              <a:rPr lang="en-US" altLang="zh-CN" sz="2000" dirty="0">
                <a:latin typeface="Times New Roman" pitchFamily="18" charset="0"/>
                <a:ea typeface="宋体" pitchFamily="2" charset="-122"/>
                <a:cs typeface="Times New Roman" pitchFamily="18" charset="0"/>
              </a:rPr>
              <a:t>Turbulent spot</a:t>
            </a:r>
            <a:r>
              <a:rPr lang="zh-CN" altLang="en-US" sz="2000" dirty="0">
                <a:latin typeface="Times New Roman" pitchFamily="18" charset="0"/>
                <a:ea typeface="宋体" pitchFamily="2" charset="-122"/>
                <a:cs typeface="Times New Roman" pitchFamily="18" charset="0"/>
              </a:rPr>
              <a:t>）</a:t>
            </a:r>
            <a:endParaRPr lang="en-US" altLang="zh-CN" sz="2000" dirty="0">
              <a:latin typeface="Times New Roman" pitchFamily="18" charset="0"/>
              <a:ea typeface="宋体" pitchFamily="2" charset="-122"/>
              <a:cs typeface="Times New Roman" pitchFamily="18" charset="0"/>
            </a:endParaRPr>
          </a:p>
        </p:txBody>
      </p:sp>
      <p:sp>
        <p:nvSpPr>
          <p:cNvPr id="26" name="Rectangle 6"/>
          <p:cNvSpPr>
            <a:spLocks noChangeArrowheads="1"/>
          </p:cNvSpPr>
          <p:nvPr/>
        </p:nvSpPr>
        <p:spPr bwMode="auto">
          <a:xfrm>
            <a:off x="6882862" y="5684207"/>
            <a:ext cx="25193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lang="zh-CN" altLang="en-US" sz="2000" dirty="0">
                <a:latin typeface="Times New Roman" pitchFamily="18" charset="0"/>
                <a:ea typeface="宋体" pitchFamily="2" charset="-122"/>
                <a:cs typeface="Times New Roman" pitchFamily="18" charset="0"/>
              </a:rPr>
              <a:t>条带结构</a:t>
            </a:r>
            <a:endParaRPr lang="en-US" altLang="zh-CN" sz="2000" dirty="0">
              <a:latin typeface="Times New Roman" pitchFamily="18" charset="0"/>
              <a:ea typeface="宋体" pitchFamily="2" charset="-122"/>
              <a:cs typeface="Times New Roman" pitchFamily="18" charset="0"/>
            </a:endParaRPr>
          </a:p>
          <a:p>
            <a:pPr lvl="0" algn="ctr" fontAlgn="base">
              <a:spcBef>
                <a:spcPct val="0"/>
              </a:spcBef>
              <a:spcAft>
                <a:spcPct val="0"/>
              </a:spcAft>
            </a:pPr>
            <a:r>
              <a:rPr lang="zh-CN" altLang="en-US" sz="2000" dirty="0">
                <a:latin typeface="Times New Roman" pitchFamily="18" charset="0"/>
                <a:ea typeface="宋体" pitchFamily="2" charset="-122"/>
                <a:cs typeface="Times New Roman" pitchFamily="18" charset="0"/>
              </a:rPr>
              <a:t>（</a:t>
            </a:r>
            <a:r>
              <a:rPr lang="en-US" altLang="zh-CN" sz="2000" dirty="0">
                <a:latin typeface="Times New Roman" pitchFamily="18" charset="0"/>
                <a:ea typeface="宋体" pitchFamily="2" charset="-122"/>
                <a:cs typeface="Times New Roman" pitchFamily="18" charset="0"/>
              </a:rPr>
              <a:t>Turbulent band</a:t>
            </a:r>
            <a:r>
              <a:rPr lang="zh-CN" altLang="en-US" sz="2000" dirty="0">
                <a:latin typeface="Times New Roman" pitchFamily="18" charset="0"/>
                <a:ea typeface="宋体" pitchFamily="2" charset="-122"/>
                <a:cs typeface="Times New Roman" pitchFamily="18" charset="0"/>
              </a:rPr>
              <a:t>）</a:t>
            </a:r>
            <a:endParaRPr lang="en-US" altLang="zh-CN" sz="2000" dirty="0">
              <a:latin typeface="Times New Roman" pitchFamily="18" charset="0"/>
              <a:ea typeface="宋体" pitchFamily="2" charset="-122"/>
              <a:cs typeface="Times New Roman" pitchFamily="18" charset="0"/>
            </a:endParaRPr>
          </a:p>
        </p:txBody>
      </p:sp>
      <p:sp>
        <p:nvSpPr>
          <p:cNvPr id="21" name="文本框 20"/>
          <p:cNvSpPr txBox="1"/>
          <p:nvPr/>
        </p:nvSpPr>
        <p:spPr>
          <a:xfrm>
            <a:off x="672916" y="772765"/>
            <a:ext cx="8852084"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一个槽道湍流实验研究例子</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21</a:t>
            </a:fld>
            <a:endParaRPr lang="zh-CN" altLang="en-US"/>
          </a:p>
        </p:txBody>
      </p:sp>
    </p:spTree>
    <p:extLst>
      <p:ext uri="{BB962C8B-B14F-4D97-AF65-F5344CB8AC3E}">
        <p14:creationId xmlns:p14="http://schemas.microsoft.com/office/powerpoint/2010/main" val="17680013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7313" y="4096966"/>
            <a:ext cx="2566800" cy="2560645"/>
          </a:xfrm>
          <a:prstGeom prst="rect">
            <a:avLst/>
          </a:prstGeom>
        </p:spPr>
      </p:pic>
      <p:pic>
        <p:nvPicPr>
          <p:cNvPr id="19" name="图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29084" y="4123592"/>
            <a:ext cx="2538000" cy="2525680"/>
          </a:xfrm>
          <a:prstGeom prst="rect">
            <a:avLst/>
          </a:prstGeom>
        </p:spPr>
      </p:pic>
      <p:pic>
        <p:nvPicPr>
          <p:cNvPr id="13" name="图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8388" y="1429951"/>
            <a:ext cx="2568505" cy="2538000"/>
          </a:xfrm>
          <a:prstGeom prst="rect">
            <a:avLst/>
          </a:prstGeom>
        </p:spPr>
      </p:pic>
      <p:pic>
        <p:nvPicPr>
          <p:cNvPr id="4" name="图片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43091" y="1445107"/>
            <a:ext cx="2520000" cy="2513883"/>
          </a:xfrm>
          <a:prstGeom prst="rect">
            <a:avLst/>
          </a:prstGeom>
        </p:spPr>
      </p:pic>
      <p:pic>
        <p:nvPicPr>
          <p:cNvPr id="6" name="图片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8623" y="1455327"/>
            <a:ext cx="2502000" cy="2495898"/>
          </a:xfrm>
          <a:prstGeom prst="rect">
            <a:avLst/>
          </a:prstGeom>
        </p:spPr>
      </p:pic>
      <p:pic>
        <p:nvPicPr>
          <p:cNvPr id="21" name="图片 2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22326" y="4118142"/>
            <a:ext cx="2520000" cy="2526146"/>
          </a:xfrm>
          <a:prstGeom prst="rect">
            <a:avLst/>
          </a:prstGeom>
        </p:spPr>
      </p:pic>
      <p:sp>
        <p:nvSpPr>
          <p:cNvPr id="45" name="标题 1"/>
          <p:cNvSpPr txBox="1">
            <a:spLocks/>
          </p:cNvSpPr>
          <p:nvPr/>
        </p:nvSpPr>
        <p:spPr>
          <a:xfrm>
            <a:off x="472783" y="2969884"/>
            <a:ext cx="1656301" cy="45162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a:latin typeface="+mn-ea"/>
                <a:ea typeface="+mn-ea"/>
                <a:cs typeface="Times New Roman" panose="02020603050405020304" pitchFamily="18" charset="0"/>
              </a:rPr>
              <a:t>条带</a:t>
            </a:r>
            <a:r>
              <a:rPr lang="zh-CN" altLang="en-US" sz="2200" dirty="0" smtClean="0">
                <a:latin typeface="+mn-ea"/>
                <a:ea typeface="+mn-ea"/>
                <a:cs typeface="Times New Roman" panose="02020603050405020304" pitchFamily="18" charset="0"/>
              </a:rPr>
              <a:t>结构</a:t>
            </a:r>
            <a:endParaRPr lang="en-US" altLang="zh-CN" sz="2200" dirty="0" smtClean="0">
              <a:latin typeface="+mn-ea"/>
              <a:ea typeface="+mn-ea"/>
              <a:cs typeface="Times New Roman" panose="02020603050405020304" pitchFamily="18" charset="0"/>
            </a:endParaRPr>
          </a:p>
          <a:p>
            <a:pPr algn="ct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Re</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=823</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8" name="Rectangle 6"/>
          <p:cNvSpPr>
            <a:spLocks noChangeArrowheads="1"/>
          </p:cNvSpPr>
          <p:nvPr/>
        </p:nvSpPr>
        <p:spPr bwMode="auto">
          <a:xfrm>
            <a:off x="5969508" y="868650"/>
            <a:ext cx="18818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altLang="zh-CN" sz="2000" dirty="0">
                <a:latin typeface="Times New Roman" panose="02020603050405020304" pitchFamily="18" charset="0"/>
                <a:ea typeface="宋体" pitchFamily="2" charset="-122"/>
                <a:cs typeface="Times New Roman" pitchFamily="18" charset="0"/>
              </a:rPr>
              <a:t> </a:t>
            </a:r>
          </a:p>
        </p:txBody>
      </p:sp>
      <p:sp>
        <p:nvSpPr>
          <p:cNvPr id="22" name="文本框 21"/>
          <p:cNvSpPr txBox="1"/>
          <p:nvPr/>
        </p:nvSpPr>
        <p:spPr>
          <a:xfrm>
            <a:off x="672916" y="772765"/>
            <a:ext cx="8852084"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一个槽道湍流实验研究例子</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22</a:t>
            </a:fld>
            <a:endParaRPr lang="zh-CN" altLang="en-US"/>
          </a:p>
        </p:txBody>
      </p:sp>
    </p:spTree>
    <p:extLst>
      <p:ext uri="{BB962C8B-B14F-4D97-AF65-F5344CB8AC3E}">
        <p14:creationId xmlns:p14="http://schemas.microsoft.com/office/powerpoint/2010/main" val="5575327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文本框 47"/>
          <p:cNvSpPr txBox="1"/>
          <p:nvPr/>
        </p:nvSpPr>
        <p:spPr>
          <a:xfrm>
            <a:off x="672916" y="772765"/>
            <a:ext cx="8852084" cy="584775"/>
          </a:xfrm>
          <a:prstGeom prst="rect">
            <a:avLst/>
          </a:prstGeom>
          <a:noFill/>
        </p:spPr>
        <p:txBody>
          <a:bodyPr wrap="square" rtlCol="0">
            <a:spAutoFit/>
          </a:bodyPr>
          <a:lstStyle/>
          <a:p>
            <a:r>
              <a:rPr lang="en-US" altLang="zh-CN" sz="3200" b="1" dirty="0" smtClean="0">
                <a:latin typeface="华文细黑" panose="02010600040101010101" pitchFamily="2" charset="-122"/>
                <a:ea typeface="华文细黑" panose="02010600040101010101" pitchFamily="2" charset="-122"/>
              </a:rPr>
              <a:t> </a:t>
            </a:r>
            <a:r>
              <a:rPr lang="zh-CN" altLang="en-US" sz="3200" b="1" dirty="0" smtClean="0">
                <a:latin typeface="华文细黑" panose="02010600040101010101" pitchFamily="2" charset="-122"/>
                <a:ea typeface="华文细黑" panose="02010600040101010101" pitchFamily="2" charset="-122"/>
              </a:rPr>
              <a:t>一个槽道湍流实验研究例子</a:t>
            </a:r>
            <a:endParaRPr lang="zh-CN" altLang="en-US" sz="3200" b="1" dirty="0">
              <a:latin typeface="华文细黑" panose="02010600040101010101" pitchFamily="2" charset="-122"/>
              <a:ea typeface="华文细黑" panose="02010600040101010101" pitchFamily="2" charset="-122"/>
            </a:endParaRPr>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770" y="2409596"/>
            <a:ext cx="2713284" cy="273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descr="E:\LJS_data\亚临界转捩数据PIV数据\Case2_825\48_2284\pic\B257.png"/>
          <p:cNvPicPr>
            <a:picLocks noChangeAspect="1" noChangeArrowheads="1"/>
          </p:cNvPicPr>
          <p:nvPr/>
        </p:nvPicPr>
        <p:blipFill rotWithShape="1">
          <a:blip r:embed="rId3">
            <a:extLst>
              <a:ext uri="{28A0092B-C50C-407E-A947-70E740481C1C}">
                <a14:useLocalDpi xmlns:a14="http://schemas.microsoft.com/office/drawing/2010/main" val="0"/>
              </a:ext>
            </a:extLst>
          </a:blip>
          <a:srcRect l="751" t="4101" r="14578" b="3025"/>
          <a:stretch/>
        </p:blipFill>
        <p:spPr bwMode="auto">
          <a:xfrm>
            <a:off x="2010662" y="1357540"/>
            <a:ext cx="2618502" cy="2552369"/>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0054" y="3537550"/>
            <a:ext cx="3076340" cy="3313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直接连接符 2"/>
          <p:cNvCxnSpPr/>
          <p:nvPr/>
        </p:nvCxnSpPr>
        <p:spPr>
          <a:xfrm>
            <a:off x="6656039" y="5822214"/>
            <a:ext cx="594546" cy="0"/>
          </a:xfrm>
          <a:prstGeom prst="line">
            <a:avLst/>
          </a:prstGeom>
          <a:ln w="57150">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512499" y="6064508"/>
            <a:ext cx="877163" cy="369332"/>
          </a:xfrm>
          <a:prstGeom prst="rect">
            <a:avLst/>
          </a:prstGeom>
        </p:spPr>
        <p:txBody>
          <a:bodyPr wrap="none">
            <a:spAutoFit/>
          </a:bodyPr>
          <a:lstStyle/>
          <a:p>
            <a:r>
              <a:rPr lang="zh-CN" altLang="en-US" dirty="0">
                <a:latin typeface="楷体" panose="02010609060101010101" pitchFamily="49" charset="-122"/>
                <a:ea typeface="楷体" panose="02010609060101010101" pitchFamily="49" charset="-122"/>
                <a:cs typeface="Times New Roman" panose="02020603050405020304" pitchFamily="18" charset="0"/>
              </a:rPr>
              <a:t>自相关</a:t>
            </a:r>
          </a:p>
        </p:txBody>
      </p:sp>
      <p:cxnSp>
        <p:nvCxnSpPr>
          <p:cNvPr id="41" name="直接连接符 40"/>
          <p:cNvCxnSpPr/>
          <p:nvPr/>
        </p:nvCxnSpPr>
        <p:spPr>
          <a:xfrm>
            <a:off x="3436491" y="4256271"/>
            <a:ext cx="594546" cy="0"/>
          </a:xfrm>
          <a:prstGeom prst="line">
            <a:avLst/>
          </a:prstGeom>
          <a:ln w="57150">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43" name="矩形 42"/>
          <p:cNvSpPr/>
          <p:nvPr/>
        </p:nvSpPr>
        <p:spPr>
          <a:xfrm>
            <a:off x="2870381" y="4435065"/>
            <a:ext cx="1800493" cy="369332"/>
          </a:xfrm>
          <a:prstGeom prst="rect">
            <a:avLst/>
          </a:prstGeom>
        </p:spPr>
        <p:txBody>
          <a:bodyPr wrap="none">
            <a:spAutoFit/>
          </a:bodyPr>
          <a:lstStyle/>
          <a:p>
            <a:r>
              <a:rPr lang="zh-CN" altLang="en-US" dirty="0">
                <a:latin typeface="楷体" panose="02010609060101010101" pitchFamily="49" charset="-122"/>
                <a:ea typeface="楷体" panose="02010609060101010101" pitchFamily="49" charset="-122"/>
                <a:cs typeface="Times New Roman" panose="02020603050405020304" pitchFamily="18" charset="0"/>
              </a:rPr>
              <a:t>流向脉动速度场</a:t>
            </a:r>
          </a:p>
        </p:txBody>
      </p:sp>
      <p:grpSp>
        <p:nvGrpSpPr>
          <p:cNvPr id="15" name="组合 14"/>
          <p:cNvGrpSpPr/>
          <p:nvPr/>
        </p:nvGrpSpPr>
        <p:grpSpPr>
          <a:xfrm>
            <a:off x="8357868" y="4078327"/>
            <a:ext cx="1895470" cy="1986181"/>
            <a:chOff x="6737424" y="3943588"/>
            <a:chExt cx="1895470" cy="1986181"/>
          </a:xfrm>
        </p:grpSpPr>
        <p:cxnSp>
          <p:nvCxnSpPr>
            <p:cNvPr id="6" name="直接连接符 5"/>
            <p:cNvCxnSpPr/>
            <p:nvPr/>
          </p:nvCxnSpPr>
          <p:spPr>
            <a:xfrm>
              <a:off x="6737424" y="3948569"/>
              <a:ext cx="1895470" cy="198120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173652" y="4367449"/>
              <a:ext cx="1010136" cy="0"/>
            </a:xfrm>
            <a:prstGeom prst="line">
              <a:avLst/>
            </a:prstGeom>
            <a:ln w="28575">
              <a:solidFill>
                <a:srgbClr val="FF0000"/>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14" name="任意多边形 13"/>
            <p:cNvSpPr/>
            <p:nvPr/>
          </p:nvSpPr>
          <p:spPr>
            <a:xfrm>
              <a:off x="7353438" y="4381500"/>
              <a:ext cx="97631" cy="190500"/>
            </a:xfrm>
            <a:custGeom>
              <a:avLst/>
              <a:gdLst>
                <a:gd name="connsiteX0" fmla="*/ 0 w 76105"/>
                <a:gd name="connsiteY0" fmla="*/ 190500 h 190500"/>
                <a:gd name="connsiteX1" fmla="*/ 69056 w 76105"/>
                <a:gd name="connsiteY1" fmla="*/ 104775 h 190500"/>
                <a:gd name="connsiteX2" fmla="*/ 73819 w 76105"/>
                <a:gd name="connsiteY2" fmla="*/ 0 h 190500"/>
                <a:gd name="connsiteX3" fmla="*/ 73819 w 76105"/>
                <a:gd name="connsiteY3" fmla="*/ 0 h 190500"/>
              </a:gdLst>
              <a:ahLst/>
              <a:cxnLst>
                <a:cxn ang="0">
                  <a:pos x="connsiteX0" y="connsiteY0"/>
                </a:cxn>
                <a:cxn ang="0">
                  <a:pos x="connsiteX1" y="connsiteY1"/>
                </a:cxn>
                <a:cxn ang="0">
                  <a:pos x="connsiteX2" y="connsiteY2"/>
                </a:cxn>
                <a:cxn ang="0">
                  <a:pos x="connsiteX3" y="connsiteY3"/>
                </a:cxn>
              </a:cxnLst>
              <a:rect l="l" t="t" r="r" b="b"/>
              <a:pathLst>
                <a:path w="76105" h="190500">
                  <a:moveTo>
                    <a:pt x="0" y="190500"/>
                  </a:moveTo>
                  <a:cubicBezTo>
                    <a:pt x="28376" y="163512"/>
                    <a:pt x="56753" y="136525"/>
                    <a:pt x="69056" y="104775"/>
                  </a:cubicBezTo>
                  <a:cubicBezTo>
                    <a:pt x="81359" y="73025"/>
                    <a:pt x="73819" y="0"/>
                    <a:pt x="73819" y="0"/>
                  </a:cubicBezTo>
                  <a:lnTo>
                    <a:pt x="73819" y="0"/>
                  </a:lnTo>
                </a:path>
              </a:pathLst>
            </a:cu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5" name="矩形 44"/>
            <p:cNvSpPr/>
            <p:nvPr/>
          </p:nvSpPr>
          <p:spPr>
            <a:xfrm>
              <a:off x="7472847" y="4312920"/>
              <a:ext cx="647934" cy="369332"/>
            </a:xfrm>
            <a:prstGeom prst="rect">
              <a:avLst/>
            </a:prstGeom>
          </p:spPr>
          <p:txBody>
            <a:bodyPr wrap="non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43°</a:t>
              </a:r>
              <a:endParaRPr lang="zh-CN" altLang="en-US" b="1" dirty="0">
                <a:solidFill>
                  <a:srgbClr val="FF0000"/>
                </a:solidFill>
                <a:latin typeface="Times New Roman" panose="02020603050405020304" pitchFamily="18" charset="0"/>
                <a:cs typeface="Times New Roman" panose="02020603050405020304" pitchFamily="18" charset="0"/>
              </a:endParaRPr>
            </a:p>
          </p:txBody>
        </p:sp>
        <p:sp>
          <p:nvSpPr>
            <p:cNvPr id="46" name="矩形 45"/>
            <p:cNvSpPr/>
            <p:nvPr/>
          </p:nvSpPr>
          <p:spPr>
            <a:xfrm>
              <a:off x="7463814" y="3943588"/>
              <a:ext cx="671979" cy="369332"/>
            </a:xfrm>
            <a:prstGeom prst="rect">
              <a:avLst/>
            </a:prstGeom>
          </p:spPr>
          <p:txBody>
            <a:bodyPr wrap="none">
              <a:spAutoFit/>
            </a:bodyPr>
            <a:lstStyle/>
            <a:p>
              <a:r>
                <a:rPr lang="en-US" altLang="zh-CN" b="1" dirty="0">
                  <a:solidFill>
                    <a:srgbClr val="FF0000"/>
                  </a:solidFill>
                  <a:latin typeface="Times New Roman" pitchFamily="18" charset="0"/>
                  <a:cs typeface="Times New Roman" pitchFamily="18" charset="0"/>
                </a:rPr>
                <a:t>Flow</a:t>
              </a:r>
              <a:endParaRPr lang="zh-CN" altLang="en-US" b="1" dirty="0">
                <a:solidFill>
                  <a:srgbClr val="FF0000"/>
                </a:solidFill>
                <a:latin typeface="Times New Roman" pitchFamily="18" charset="0"/>
                <a:cs typeface="Times New Roman" pitchFamily="18" charset="0"/>
              </a:endParaRPr>
            </a:p>
          </p:txBody>
        </p:sp>
      </p:grpSp>
      <p:pic>
        <p:nvPicPr>
          <p:cNvPr id="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0171" y="6156651"/>
            <a:ext cx="3285275" cy="556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标题 1"/>
          <p:cNvSpPr txBox="1">
            <a:spLocks/>
          </p:cNvSpPr>
          <p:nvPr/>
        </p:nvSpPr>
        <p:spPr>
          <a:xfrm>
            <a:off x="8038246" y="3050203"/>
            <a:ext cx="2059157" cy="45162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zh-CN" altLang="en-US" sz="2400" dirty="0">
                <a:latin typeface="+mn-ea"/>
                <a:ea typeface="+mn-ea"/>
                <a:cs typeface="Times New Roman" panose="02020603050405020304" pitchFamily="18" charset="0"/>
              </a:rPr>
              <a:t>条带倾斜角度</a:t>
            </a:r>
          </a:p>
        </p:txBody>
      </p:sp>
      <p:grpSp>
        <p:nvGrpSpPr>
          <p:cNvPr id="8" name="组合 7"/>
          <p:cNvGrpSpPr/>
          <p:nvPr/>
        </p:nvGrpSpPr>
        <p:grpSpPr>
          <a:xfrm>
            <a:off x="2158106" y="5380736"/>
            <a:ext cx="4022032" cy="656896"/>
            <a:chOff x="576956" y="5128454"/>
            <a:chExt cx="4022032" cy="656896"/>
          </a:xfrm>
        </p:grpSpPr>
        <p:pic>
          <p:nvPicPr>
            <p:cNvPr id="2"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r="5127"/>
            <a:stretch/>
          </p:blipFill>
          <p:spPr bwMode="auto">
            <a:xfrm>
              <a:off x="576956" y="5128454"/>
              <a:ext cx="4022032" cy="656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2204622" y="5262351"/>
              <a:ext cx="76200" cy="1707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2841280" y="5262351"/>
              <a:ext cx="76200" cy="1707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104605" y="5176728"/>
              <a:ext cx="273204" cy="307777"/>
            </a:xfrm>
            <a:prstGeom prst="rect">
              <a:avLst/>
            </a:prstGeom>
            <a:noFill/>
          </p:spPr>
          <p:txBody>
            <a:bodyPr wrap="square" rtlCol="0">
              <a:spAutoFit/>
            </a:bodyPr>
            <a:lstStyle/>
            <a:p>
              <a:r>
                <a:rPr lang="en-US" altLang="zh-CN" sz="1400" i="1" dirty="0">
                  <a:solidFill>
                    <a:schemeClr val="tx1">
                      <a:lumMod val="65000"/>
                      <a:lumOff val="35000"/>
                    </a:schemeClr>
                  </a:solidFill>
                  <a:latin typeface="Times New Roman" panose="02020603050405020304" pitchFamily="18" charset="0"/>
                  <a:cs typeface="Times New Roman" panose="02020603050405020304" pitchFamily="18" charset="0"/>
                </a:rPr>
                <a:t>u</a:t>
              </a:r>
              <a:endParaRPr lang="zh-CN" altLang="en-US" sz="1400" i="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2747546" y="5171963"/>
              <a:ext cx="273204" cy="307777"/>
            </a:xfrm>
            <a:prstGeom prst="rect">
              <a:avLst/>
            </a:prstGeom>
            <a:noFill/>
          </p:spPr>
          <p:txBody>
            <a:bodyPr wrap="square" rtlCol="0">
              <a:spAutoFit/>
            </a:bodyPr>
            <a:lstStyle/>
            <a:p>
              <a:r>
                <a:rPr lang="en-US" altLang="zh-CN" sz="1400" i="1" dirty="0">
                  <a:solidFill>
                    <a:schemeClr val="tx1">
                      <a:lumMod val="65000"/>
                      <a:lumOff val="35000"/>
                    </a:schemeClr>
                  </a:solidFill>
                  <a:latin typeface="Times New Roman" panose="02020603050405020304" pitchFamily="18" charset="0"/>
                  <a:cs typeface="Times New Roman" panose="02020603050405020304" pitchFamily="18" charset="0"/>
                </a:rPr>
                <a:t>u</a:t>
              </a:r>
              <a:endParaRPr lang="zh-CN" altLang="en-US" sz="1400" i="1"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grpSp>
      <p:sp>
        <p:nvSpPr>
          <p:cNvPr id="9" name="灯片编号占位符 8"/>
          <p:cNvSpPr>
            <a:spLocks noGrp="1"/>
          </p:cNvSpPr>
          <p:nvPr>
            <p:ph type="sldNum" sz="quarter" idx="12"/>
          </p:nvPr>
        </p:nvSpPr>
        <p:spPr/>
        <p:txBody>
          <a:bodyPr/>
          <a:lstStyle/>
          <a:p>
            <a:fld id="{16D8DD02-547D-47A5-AAEA-525C7BEEAE57}" type="slidenum">
              <a:rPr lang="zh-CN" altLang="en-US" smtClean="0"/>
              <a:t>23</a:t>
            </a:fld>
            <a:endParaRPr lang="zh-CN" altLang="en-US"/>
          </a:p>
        </p:txBody>
      </p:sp>
    </p:spTree>
    <p:extLst>
      <p:ext uri="{BB962C8B-B14F-4D97-AF65-F5344CB8AC3E}">
        <p14:creationId xmlns:p14="http://schemas.microsoft.com/office/powerpoint/2010/main" val="227060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E:\LJS_data\亚临界转捩数据PIV数据\Case2_825\23_1021\pic\B187.png"/>
          <p:cNvPicPr>
            <a:picLocks noChangeAspect="1" noChangeArrowheads="1"/>
          </p:cNvPicPr>
          <p:nvPr/>
        </p:nvPicPr>
        <p:blipFill rotWithShape="1">
          <a:blip r:embed="rId2">
            <a:extLst>
              <a:ext uri="{28A0092B-C50C-407E-A947-70E740481C1C}">
                <a14:useLocalDpi xmlns:a14="http://schemas.microsoft.com/office/drawing/2010/main" val="0"/>
              </a:ext>
            </a:extLst>
          </a:blip>
          <a:srcRect l="1009" t="7141" r="35933" b="2548"/>
          <a:stretch/>
        </p:blipFill>
        <p:spPr bwMode="auto">
          <a:xfrm>
            <a:off x="4707414" y="1480593"/>
            <a:ext cx="2043112" cy="2600325"/>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E:\LJS_data\亚临界转捩数据PIV数据\Case2_825\48_2284\pic\B257.png"/>
          <p:cNvPicPr>
            <a:picLocks noChangeAspect="1" noChangeArrowheads="1"/>
          </p:cNvPicPr>
          <p:nvPr/>
        </p:nvPicPr>
        <p:blipFill rotWithShape="1">
          <a:blip r:embed="rId3">
            <a:extLst>
              <a:ext uri="{28A0092B-C50C-407E-A947-70E740481C1C}">
                <a14:useLocalDpi xmlns:a14="http://schemas.microsoft.com/office/drawing/2010/main" val="0"/>
              </a:ext>
            </a:extLst>
          </a:blip>
          <a:srcRect l="751" t="4101" r="14578" b="3025"/>
          <a:stretch/>
        </p:blipFill>
        <p:spPr bwMode="auto">
          <a:xfrm>
            <a:off x="7307201" y="1442824"/>
            <a:ext cx="2618502" cy="255236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E:\LJS_data\亚临界转捩数据PIV数据\Case2_825\8_1315\pic\B245.png"/>
          <p:cNvPicPr>
            <a:picLocks noChangeAspect="1" noChangeArrowheads="1"/>
          </p:cNvPicPr>
          <p:nvPr/>
        </p:nvPicPr>
        <p:blipFill rotWithShape="1">
          <a:blip r:embed="rId4">
            <a:extLst>
              <a:ext uri="{28A0092B-C50C-407E-A947-70E740481C1C}">
                <a14:useLocalDpi xmlns:a14="http://schemas.microsoft.com/office/drawing/2010/main" val="0"/>
              </a:ext>
            </a:extLst>
          </a:blip>
          <a:srcRect l="881" t="6207" r="36030" b="2501"/>
          <a:stretch/>
        </p:blipFill>
        <p:spPr bwMode="auto">
          <a:xfrm>
            <a:off x="2084375" y="1452349"/>
            <a:ext cx="2044065" cy="2628569"/>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E:\LJS_data\亚临界转捩数据PIV数据\Case2_825\58_2131\pic\B221.png"/>
          <p:cNvPicPr>
            <a:picLocks noChangeAspect="1" noChangeArrowheads="1"/>
          </p:cNvPicPr>
          <p:nvPr/>
        </p:nvPicPr>
        <p:blipFill rotWithShape="1">
          <a:blip r:embed="rId5">
            <a:extLst>
              <a:ext uri="{28A0092B-C50C-407E-A947-70E740481C1C}">
                <a14:useLocalDpi xmlns:a14="http://schemas.microsoft.com/office/drawing/2010/main" val="0"/>
              </a:ext>
            </a:extLst>
          </a:blip>
          <a:srcRect l="826" t="7504" r="36042" b="2847"/>
          <a:stretch/>
        </p:blipFill>
        <p:spPr bwMode="auto">
          <a:xfrm>
            <a:off x="2072468" y="4119134"/>
            <a:ext cx="2045495" cy="25812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E:\LJS_data\亚临界转捩数据PIV数据\Case2_825\19_4458\pic\B420.png"/>
          <p:cNvPicPr>
            <a:picLocks noChangeAspect="1" noChangeArrowheads="1"/>
          </p:cNvPicPr>
          <p:nvPr/>
        </p:nvPicPr>
        <p:blipFill rotWithShape="1">
          <a:blip r:embed="rId6">
            <a:extLst>
              <a:ext uri="{28A0092B-C50C-407E-A947-70E740481C1C}">
                <a14:useLocalDpi xmlns:a14="http://schemas.microsoft.com/office/drawing/2010/main" val="0"/>
              </a:ext>
            </a:extLst>
          </a:blip>
          <a:srcRect l="1316" t="7761" r="35625" b="3251"/>
          <a:stretch/>
        </p:blipFill>
        <p:spPr bwMode="auto">
          <a:xfrm>
            <a:off x="4707414" y="4119134"/>
            <a:ext cx="2043112" cy="2562225"/>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组合 44"/>
          <p:cNvGrpSpPr/>
          <p:nvPr/>
        </p:nvGrpSpPr>
        <p:grpSpPr>
          <a:xfrm>
            <a:off x="7753474" y="2010654"/>
            <a:ext cx="1371600" cy="1521911"/>
            <a:chOff x="6944794" y="4166578"/>
            <a:chExt cx="1371600" cy="1521911"/>
          </a:xfrm>
        </p:grpSpPr>
        <p:cxnSp>
          <p:nvCxnSpPr>
            <p:cNvPr id="47" name="直接连接符 46"/>
            <p:cNvCxnSpPr/>
            <p:nvPr/>
          </p:nvCxnSpPr>
          <p:spPr>
            <a:xfrm>
              <a:off x="6944794" y="4166578"/>
              <a:ext cx="1371600" cy="1521911"/>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7173652" y="4367449"/>
              <a:ext cx="1010136" cy="0"/>
            </a:xfrm>
            <a:prstGeom prst="line">
              <a:avLst/>
            </a:prstGeom>
            <a:ln w="28575">
              <a:solidFill>
                <a:srgbClr val="FF0000"/>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53" name="任意多边形 52"/>
            <p:cNvSpPr/>
            <p:nvPr/>
          </p:nvSpPr>
          <p:spPr>
            <a:xfrm>
              <a:off x="7353438" y="4381500"/>
              <a:ext cx="97631" cy="190500"/>
            </a:xfrm>
            <a:custGeom>
              <a:avLst/>
              <a:gdLst>
                <a:gd name="connsiteX0" fmla="*/ 0 w 76105"/>
                <a:gd name="connsiteY0" fmla="*/ 190500 h 190500"/>
                <a:gd name="connsiteX1" fmla="*/ 69056 w 76105"/>
                <a:gd name="connsiteY1" fmla="*/ 104775 h 190500"/>
                <a:gd name="connsiteX2" fmla="*/ 73819 w 76105"/>
                <a:gd name="connsiteY2" fmla="*/ 0 h 190500"/>
                <a:gd name="connsiteX3" fmla="*/ 73819 w 76105"/>
                <a:gd name="connsiteY3" fmla="*/ 0 h 190500"/>
              </a:gdLst>
              <a:ahLst/>
              <a:cxnLst>
                <a:cxn ang="0">
                  <a:pos x="connsiteX0" y="connsiteY0"/>
                </a:cxn>
                <a:cxn ang="0">
                  <a:pos x="connsiteX1" y="connsiteY1"/>
                </a:cxn>
                <a:cxn ang="0">
                  <a:pos x="connsiteX2" y="connsiteY2"/>
                </a:cxn>
                <a:cxn ang="0">
                  <a:pos x="connsiteX3" y="connsiteY3"/>
                </a:cxn>
              </a:cxnLst>
              <a:rect l="l" t="t" r="r" b="b"/>
              <a:pathLst>
                <a:path w="76105" h="190500">
                  <a:moveTo>
                    <a:pt x="0" y="190500"/>
                  </a:moveTo>
                  <a:cubicBezTo>
                    <a:pt x="28376" y="163512"/>
                    <a:pt x="56753" y="136525"/>
                    <a:pt x="69056" y="104775"/>
                  </a:cubicBezTo>
                  <a:cubicBezTo>
                    <a:pt x="81359" y="73025"/>
                    <a:pt x="73819" y="0"/>
                    <a:pt x="73819" y="0"/>
                  </a:cubicBezTo>
                  <a:lnTo>
                    <a:pt x="73819" y="0"/>
                  </a:lnTo>
                </a:path>
              </a:pathLst>
            </a:cu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4" name="矩形 53"/>
            <p:cNvSpPr/>
            <p:nvPr/>
          </p:nvSpPr>
          <p:spPr>
            <a:xfrm>
              <a:off x="7472847" y="4312920"/>
              <a:ext cx="647934" cy="369332"/>
            </a:xfrm>
            <a:prstGeom prst="rect">
              <a:avLst/>
            </a:prstGeom>
          </p:spPr>
          <p:txBody>
            <a:bodyPr wrap="non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43°</a:t>
              </a:r>
              <a:endParaRPr lang="zh-CN" altLang="en-US" b="1" dirty="0">
                <a:solidFill>
                  <a:srgbClr val="FF0000"/>
                </a:solidFill>
                <a:latin typeface="Times New Roman" panose="02020603050405020304" pitchFamily="18" charset="0"/>
                <a:cs typeface="Times New Roman" panose="02020603050405020304" pitchFamily="18" charset="0"/>
              </a:endParaRPr>
            </a:p>
          </p:txBody>
        </p:sp>
      </p:grpSp>
      <p:grpSp>
        <p:nvGrpSpPr>
          <p:cNvPr id="61" name="组合 60"/>
          <p:cNvGrpSpPr/>
          <p:nvPr/>
        </p:nvGrpSpPr>
        <p:grpSpPr>
          <a:xfrm>
            <a:off x="5191450" y="4111013"/>
            <a:ext cx="1446364" cy="1408304"/>
            <a:chOff x="6737424" y="3948569"/>
            <a:chExt cx="1446364" cy="1408304"/>
          </a:xfrm>
        </p:grpSpPr>
        <p:cxnSp>
          <p:nvCxnSpPr>
            <p:cNvPr id="62" name="直接连接符 61"/>
            <p:cNvCxnSpPr/>
            <p:nvPr/>
          </p:nvCxnSpPr>
          <p:spPr>
            <a:xfrm>
              <a:off x="6737424" y="3948569"/>
              <a:ext cx="1446364" cy="1408304"/>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173652" y="4367449"/>
              <a:ext cx="1010136" cy="0"/>
            </a:xfrm>
            <a:prstGeom prst="line">
              <a:avLst/>
            </a:prstGeom>
            <a:ln w="28575">
              <a:solidFill>
                <a:srgbClr val="FF0000"/>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64" name="任意多边形 63"/>
            <p:cNvSpPr/>
            <p:nvPr/>
          </p:nvSpPr>
          <p:spPr>
            <a:xfrm>
              <a:off x="7353438" y="4381500"/>
              <a:ext cx="97631" cy="190500"/>
            </a:xfrm>
            <a:custGeom>
              <a:avLst/>
              <a:gdLst>
                <a:gd name="connsiteX0" fmla="*/ 0 w 76105"/>
                <a:gd name="connsiteY0" fmla="*/ 190500 h 190500"/>
                <a:gd name="connsiteX1" fmla="*/ 69056 w 76105"/>
                <a:gd name="connsiteY1" fmla="*/ 104775 h 190500"/>
                <a:gd name="connsiteX2" fmla="*/ 73819 w 76105"/>
                <a:gd name="connsiteY2" fmla="*/ 0 h 190500"/>
                <a:gd name="connsiteX3" fmla="*/ 73819 w 76105"/>
                <a:gd name="connsiteY3" fmla="*/ 0 h 190500"/>
              </a:gdLst>
              <a:ahLst/>
              <a:cxnLst>
                <a:cxn ang="0">
                  <a:pos x="connsiteX0" y="connsiteY0"/>
                </a:cxn>
                <a:cxn ang="0">
                  <a:pos x="connsiteX1" y="connsiteY1"/>
                </a:cxn>
                <a:cxn ang="0">
                  <a:pos x="connsiteX2" y="connsiteY2"/>
                </a:cxn>
                <a:cxn ang="0">
                  <a:pos x="connsiteX3" y="connsiteY3"/>
                </a:cxn>
              </a:cxnLst>
              <a:rect l="l" t="t" r="r" b="b"/>
              <a:pathLst>
                <a:path w="76105" h="190500">
                  <a:moveTo>
                    <a:pt x="0" y="190500"/>
                  </a:moveTo>
                  <a:cubicBezTo>
                    <a:pt x="28376" y="163512"/>
                    <a:pt x="56753" y="136525"/>
                    <a:pt x="69056" y="104775"/>
                  </a:cubicBezTo>
                  <a:cubicBezTo>
                    <a:pt x="81359" y="73025"/>
                    <a:pt x="73819" y="0"/>
                    <a:pt x="73819" y="0"/>
                  </a:cubicBezTo>
                  <a:lnTo>
                    <a:pt x="73819" y="0"/>
                  </a:lnTo>
                </a:path>
              </a:pathLst>
            </a:cu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5" name="矩形 64"/>
            <p:cNvSpPr/>
            <p:nvPr/>
          </p:nvSpPr>
          <p:spPr>
            <a:xfrm>
              <a:off x="7472847" y="4312920"/>
              <a:ext cx="647934" cy="369332"/>
            </a:xfrm>
            <a:prstGeom prst="rect">
              <a:avLst/>
            </a:prstGeom>
          </p:spPr>
          <p:txBody>
            <a:bodyPr wrap="non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41°</a:t>
              </a:r>
              <a:endParaRPr lang="zh-CN" altLang="en-US" b="1" dirty="0">
                <a:solidFill>
                  <a:srgbClr val="FF0000"/>
                </a:solidFill>
                <a:latin typeface="Times New Roman" panose="02020603050405020304" pitchFamily="18" charset="0"/>
                <a:cs typeface="Times New Roman" panose="02020603050405020304" pitchFamily="18" charset="0"/>
              </a:endParaRPr>
            </a:p>
          </p:txBody>
        </p:sp>
      </p:grpSp>
      <p:cxnSp>
        <p:nvCxnSpPr>
          <p:cNvPr id="68" name="直接连接符 67"/>
          <p:cNvCxnSpPr/>
          <p:nvPr/>
        </p:nvCxnSpPr>
        <p:spPr>
          <a:xfrm flipV="1">
            <a:off x="2812809" y="2498618"/>
            <a:ext cx="1176554" cy="1289219"/>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073799" y="3532564"/>
            <a:ext cx="1010136" cy="0"/>
          </a:xfrm>
          <a:prstGeom prst="line">
            <a:avLst/>
          </a:prstGeom>
          <a:ln w="28575">
            <a:solidFill>
              <a:srgbClr val="FF0000"/>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71" name="矩形 70"/>
          <p:cNvSpPr/>
          <p:nvPr/>
        </p:nvSpPr>
        <p:spPr>
          <a:xfrm>
            <a:off x="3338223" y="3129873"/>
            <a:ext cx="647934" cy="369332"/>
          </a:xfrm>
          <a:prstGeom prst="rect">
            <a:avLst/>
          </a:prstGeom>
        </p:spPr>
        <p:txBody>
          <a:bodyPr wrap="non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41°</a:t>
            </a:r>
            <a:endParaRPr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72" name="直接连接符 71"/>
          <p:cNvCxnSpPr/>
          <p:nvPr/>
        </p:nvCxnSpPr>
        <p:spPr>
          <a:xfrm flipV="1">
            <a:off x="5231946" y="1854008"/>
            <a:ext cx="1136058" cy="1033946"/>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5231946" y="2887954"/>
            <a:ext cx="1230630" cy="0"/>
          </a:xfrm>
          <a:prstGeom prst="line">
            <a:avLst/>
          </a:prstGeom>
          <a:ln w="28575">
            <a:solidFill>
              <a:srgbClr val="FF0000"/>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74" name="矩形 73"/>
          <p:cNvSpPr/>
          <p:nvPr/>
        </p:nvSpPr>
        <p:spPr>
          <a:xfrm>
            <a:off x="5716864" y="2485263"/>
            <a:ext cx="647934" cy="369332"/>
          </a:xfrm>
          <a:prstGeom prst="rect">
            <a:avLst/>
          </a:prstGeom>
        </p:spPr>
        <p:txBody>
          <a:bodyPr wrap="non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39°</a:t>
            </a:r>
            <a:endParaRPr lang="zh-CN" altLang="en-US" b="1" dirty="0">
              <a:solidFill>
                <a:srgbClr val="FF0000"/>
              </a:solidFill>
              <a:latin typeface="Times New Roman" panose="02020603050405020304" pitchFamily="18" charset="0"/>
              <a:cs typeface="Times New Roman" panose="02020603050405020304" pitchFamily="18" charset="0"/>
            </a:endParaRPr>
          </a:p>
        </p:txBody>
      </p:sp>
      <p:cxnSp>
        <p:nvCxnSpPr>
          <p:cNvPr id="75" name="直接连接符 74"/>
          <p:cNvCxnSpPr/>
          <p:nvPr/>
        </p:nvCxnSpPr>
        <p:spPr>
          <a:xfrm flipV="1">
            <a:off x="2503464" y="4143058"/>
            <a:ext cx="1311840" cy="1266713"/>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2505864" y="5400246"/>
            <a:ext cx="1178701" cy="9525"/>
          </a:xfrm>
          <a:prstGeom prst="line">
            <a:avLst/>
          </a:prstGeom>
          <a:ln w="28575">
            <a:solidFill>
              <a:srgbClr val="FF0000"/>
            </a:solidFill>
            <a:prstDash val="dash"/>
            <a:headEnd type="none" w="med" len="med"/>
            <a:tailEnd type="stealth" w="lg" len="lg"/>
          </a:ln>
        </p:spPr>
        <p:style>
          <a:lnRef idx="1">
            <a:schemeClr val="accent1"/>
          </a:lnRef>
          <a:fillRef idx="0">
            <a:schemeClr val="accent1"/>
          </a:fillRef>
          <a:effectRef idx="0">
            <a:schemeClr val="accent1"/>
          </a:effectRef>
          <a:fontRef idx="minor">
            <a:schemeClr val="tx1"/>
          </a:fontRef>
        </p:style>
      </p:cxnSp>
      <p:sp>
        <p:nvSpPr>
          <p:cNvPr id="77" name="矩形 76"/>
          <p:cNvSpPr/>
          <p:nvPr/>
        </p:nvSpPr>
        <p:spPr>
          <a:xfrm>
            <a:off x="3012653" y="4992337"/>
            <a:ext cx="647934" cy="369332"/>
          </a:xfrm>
          <a:prstGeom prst="rect">
            <a:avLst/>
          </a:prstGeom>
        </p:spPr>
        <p:txBody>
          <a:bodyPr wrap="non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42°</a:t>
            </a:r>
            <a:endParaRPr lang="zh-CN" altLang="en-US" b="1" dirty="0">
              <a:solidFill>
                <a:srgbClr val="FF0000"/>
              </a:solidFill>
              <a:latin typeface="Times New Roman" panose="02020603050405020304" pitchFamily="18" charset="0"/>
              <a:cs typeface="Times New Roman" panose="02020603050405020304" pitchFamily="18" charset="0"/>
            </a:endParaRPr>
          </a:p>
        </p:txBody>
      </p:sp>
      <p:pic>
        <p:nvPicPr>
          <p:cNvPr id="78"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43495" y="4218108"/>
            <a:ext cx="2889686" cy="2390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 name="矩形 78"/>
          <p:cNvSpPr/>
          <p:nvPr/>
        </p:nvSpPr>
        <p:spPr>
          <a:xfrm>
            <a:off x="7958227" y="6581001"/>
            <a:ext cx="1648656" cy="276999"/>
          </a:xfrm>
          <a:prstGeom prst="rect">
            <a:avLst/>
          </a:prstGeom>
        </p:spPr>
        <p:txBody>
          <a:bodyPr wrap="none">
            <a:spAutoFit/>
          </a:bodyPr>
          <a:lstStyle/>
          <a:p>
            <a:r>
              <a:rPr lang="en-US" altLang="zh-CN" sz="1200" dirty="0">
                <a:latin typeface="Times New Roman" pitchFamily="18" charset="0"/>
                <a:cs typeface="Times New Roman" pitchFamily="18" charset="0"/>
              </a:rPr>
              <a:t>2015-POF-Xiong&amp;Tao</a:t>
            </a:r>
            <a:endParaRPr lang="zh-CN" altLang="en-US" sz="1200" dirty="0">
              <a:latin typeface="Times New Roman" pitchFamily="18" charset="0"/>
              <a:cs typeface="Times New Roman" pitchFamily="18" charset="0"/>
            </a:endParaRPr>
          </a:p>
        </p:txBody>
      </p:sp>
      <p:sp>
        <p:nvSpPr>
          <p:cNvPr id="42" name="文本框 41"/>
          <p:cNvSpPr txBox="1"/>
          <p:nvPr/>
        </p:nvSpPr>
        <p:spPr>
          <a:xfrm>
            <a:off x="672916" y="772765"/>
            <a:ext cx="8852084" cy="584775"/>
          </a:xfrm>
          <a:prstGeom prst="rect">
            <a:avLst/>
          </a:prstGeom>
          <a:noFill/>
        </p:spPr>
        <p:txBody>
          <a:bodyPr wrap="square" rtlCol="0">
            <a:spAutoFit/>
          </a:bodyPr>
          <a:lstStyle/>
          <a:p>
            <a:r>
              <a:rPr lang="en-US" altLang="zh-CN" sz="3200" b="1" dirty="0" smtClean="0">
                <a:latin typeface="华文细黑" panose="02010600040101010101" pitchFamily="2" charset="-122"/>
                <a:ea typeface="华文细黑" panose="02010600040101010101" pitchFamily="2" charset="-122"/>
              </a:rPr>
              <a:t> </a:t>
            </a:r>
            <a:r>
              <a:rPr lang="zh-CN" altLang="en-US" sz="3200" b="1" dirty="0" smtClean="0">
                <a:latin typeface="华文细黑" panose="02010600040101010101" pitchFamily="2" charset="-122"/>
                <a:ea typeface="华文细黑" panose="02010600040101010101" pitchFamily="2" charset="-122"/>
              </a:rPr>
              <a:t>一个槽道湍流实验研究例子</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24</a:t>
            </a:fld>
            <a:endParaRPr lang="zh-CN" altLang="en-US"/>
          </a:p>
        </p:txBody>
      </p:sp>
    </p:spTree>
    <p:extLst>
      <p:ext uri="{BB962C8B-B14F-4D97-AF65-F5344CB8AC3E}">
        <p14:creationId xmlns:p14="http://schemas.microsoft.com/office/powerpoint/2010/main" val="20289878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l="1297" t="6301" r="16977" b="2121"/>
          <a:stretch/>
        </p:blipFill>
        <p:spPr>
          <a:xfrm>
            <a:off x="6979230" y="4371977"/>
            <a:ext cx="2500393" cy="2491399"/>
          </a:xfrm>
          <a:prstGeom prst="rect">
            <a:avLst/>
          </a:prstGeom>
        </p:spPr>
      </p:pic>
      <p:pic>
        <p:nvPicPr>
          <p:cNvPr id="20" name="图片 19"/>
          <p:cNvPicPr>
            <a:picLocks noChangeAspect="1"/>
          </p:cNvPicPr>
          <p:nvPr/>
        </p:nvPicPr>
        <p:blipFill rotWithShape="1">
          <a:blip r:embed="rId3">
            <a:extLst>
              <a:ext uri="{28A0092B-C50C-407E-A947-70E740481C1C}">
                <a14:useLocalDpi xmlns:a14="http://schemas.microsoft.com/office/drawing/2010/main" val="0"/>
              </a:ext>
            </a:extLst>
          </a:blip>
          <a:srcRect l="1343" t="5915" r="18988" b="2783"/>
          <a:stretch/>
        </p:blipFill>
        <p:spPr>
          <a:xfrm>
            <a:off x="3304071" y="4371976"/>
            <a:ext cx="2439505" cy="2484515"/>
          </a:xfrm>
          <a:prstGeom prst="rect">
            <a:avLst/>
          </a:prstGeom>
        </p:spPr>
      </p:pic>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2937" y="1598318"/>
            <a:ext cx="2450638" cy="2450638"/>
          </a:xfrm>
          <a:prstGeom prst="rect">
            <a:avLst/>
          </a:prstGeom>
        </p:spPr>
      </p:pic>
      <p:pic>
        <p:nvPicPr>
          <p:cNvPr id="22" name="图片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3652" y="1622745"/>
            <a:ext cx="2425443" cy="2416687"/>
          </a:xfrm>
          <a:prstGeom prst="rect">
            <a:avLst/>
          </a:prstGeom>
        </p:spPr>
      </p:pic>
      <p:sp>
        <p:nvSpPr>
          <p:cNvPr id="38" name="右箭头 37"/>
          <p:cNvSpPr/>
          <p:nvPr/>
        </p:nvSpPr>
        <p:spPr>
          <a:xfrm>
            <a:off x="6057894" y="2624445"/>
            <a:ext cx="504825" cy="276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右箭头 38"/>
          <p:cNvSpPr/>
          <p:nvPr/>
        </p:nvSpPr>
        <p:spPr>
          <a:xfrm>
            <a:off x="6045351" y="5458656"/>
            <a:ext cx="504825" cy="2762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标题 1"/>
          <p:cNvSpPr txBox="1">
            <a:spLocks/>
          </p:cNvSpPr>
          <p:nvPr/>
        </p:nvSpPr>
        <p:spPr>
          <a:xfrm>
            <a:off x="3719992" y="1270882"/>
            <a:ext cx="1427155" cy="45162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速度场</a:t>
            </a:r>
          </a:p>
        </p:txBody>
      </p:sp>
      <p:sp>
        <p:nvSpPr>
          <p:cNvPr id="44" name="标题 1"/>
          <p:cNvSpPr txBox="1">
            <a:spLocks/>
          </p:cNvSpPr>
          <p:nvPr/>
        </p:nvSpPr>
        <p:spPr>
          <a:xfrm>
            <a:off x="7377613" y="1282164"/>
            <a:ext cx="1427155" cy="451620"/>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涡量场</a:t>
            </a:r>
          </a:p>
        </p:txBody>
      </p:sp>
      <p:sp>
        <p:nvSpPr>
          <p:cNvPr id="23" name="文本框 22"/>
          <p:cNvSpPr txBox="1"/>
          <p:nvPr/>
        </p:nvSpPr>
        <p:spPr>
          <a:xfrm>
            <a:off x="672916" y="772765"/>
            <a:ext cx="8852084" cy="584775"/>
          </a:xfrm>
          <a:prstGeom prst="rect">
            <a:avLst/>
          </a:prstGeom>
          <a:noFill/>
        </p:spPr>
        <p:txBody>
          <a:bodyPr wrap="square" rtlCol="0">
            <a:spAutoFit/>
          </a:bodyPr>
          <a:lstStyle/>
          <a:p>
            <a:r>
              <a:rPr lang="en-US" altLang="zh-CN" sz="3200" b="1" dirty="0" smtClean="0">
                <a:latin typeface="华文细黑" panose="02010600040101010101" pitchFamily="2" charset="-122"/>
                <a:ea typeface="华文细黑" panose="02010600040101010101" pitchFamily="2" charset="-122"/>
              </a:rPr>
              <a:t> </a:t>
            </a:r>
            <a:r>
              <a:rPr lang="zh-CN" altLang="en-US" sz="3200" b="1" dirty="0" smtClean="0">
                <a:latin typeface="华文细黑" panose="02010600040101010101" pitchFamily="2" charset="-122"/>
                <a:ea typeface="华文细黑" panose="02010600040101010101" pitchFamily="2" charset="-122"/>
              </a:rPr>
              <a:t>一个槽道湍流实验研究例子</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25</a:t>
            </a:fld>
            <a:endParaRPr lang="zh-CN" altLang="en-US"/>
          </a:p>
        </p:txBody>
      </p:sp>
    </p:spTree>
    <p:extLst>
      <p:ext uri="{BB962C8B-B14F-4D97-AF65-F5344CB8AC3E}">
        <p14:creationId xmlns:p14="http://schemas.microsoft.com/office/powerpoint/2010/main" val="35635658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本章小结</a:t>
            </a:r>
            <a:endParaRPr lang="zh-CN" altLang="en-US" dirty="0"/>
          </a:p>
        </p:txBody>
      </p:sp>
      <p:sp>
        <p:nvSpPr>
          <p:cNvPr id="3" name="内容占位符 2"/>
          <p:cNvSpPr>
            <a:spLocks noGrp="1"/>
          </p:cNvSpPr>
          <p:nvPr>
            <p:ph idx="1"/>
          </p:nvPr>
        </p:nvSpPr>
        <p:spPr/>
        <p:txBody>
          <a:bodyPr/>
          <a:lstStyle/>
          <a:p>
            <a:r>
              <a:rPr lang="zh-CN" altLang="en-US" dirty="0" smtClean="0"/>
              <a:t>？</a:t>
            </a:r>
            <a:endParaRPr lang="zh-CN" altLang="en-US" dirty="0"/>
          </a:p>
        </p:txBody>
      </p:sp>
    </p:spTree>
    <p:extLst>
      <p:ext uri="{BB962C8B-B14F-4D97-AF65-F5344CB8AC3E}">
        <p14:creationId xmlns:p14="http://schemas.microsoft.com/office/powerpoint/2010/main" val="4204897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文本框 4"/>
          <p:cNvSpPr txBox="1">
            <a:spLocks noChangeArrowheads="1"/>
          </p:cNvSpPr>
          <p:nvPr/>
        </p:nvSpPr>
        <p:spPr bwMode="auto">
          <a:xfrm>
            <a:off x="1111682" y="1722899"/>
            <a:ext cx="8136592"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2800" dirty="0" smtClean="0">
                <a:solidFill>
                  <a:srgbClr val="000000"/>
                </a:solidFill>
                <a:latin typeface="Times New Roman" panose="02020603050405020304" pitchFamily="18" charset="0"/>
                <a:ea typeface="微软雅黑" panose="020B0503020204020204" pitchFamily="34" charset="-122"/>
              </a:rPr>
              <a:t>几何形态与运动学分析</a:t>
            </a:r>
            <a:endParaRPr lang="en-US" altLang="zh-CN" sz="2800" dirty="0" smtClean="0">
              <a:solidFill>
                <a:srgbClr val="000000"/>
              </a:solidFill>
              <a:latin typeface="Times New Roman" panose="02020603050405020304" pitchFamily="18" charset="0"/>
              <a:ea typeface="微软雅黑" panose="020B0503020204020204" pitchFamily="34" charset="-122"/>
            </a:endParaRPr>
          </a:p>
          <a:p>
            <a:pPr>
              <a:lnSpc>
                <a:spcPct val="120000"/>
              </a:lnSpc>
              <a:buFont typeface="Arial" panose="020B0604020202020204" pitchFamily="34" charset="0"/>
              <a:buChar char="•"/>
            </a:pPr>
            <a:r>
              <a:rPr lang="zh-CN" altLang="en-US" sz="2800" dirty="0" smtClean="0">
                <a:solidFill>
                  <a:srgbClr val="000000"/>
                </a:solidFill>
                <a:latin typeface="Times New Roman" panose="02020603050405020304" pitchFamily="18" charset="0"/>
                <a:ea typeface="微软雅黑" panose="020B0503020204020204" pitchFamily="34" charset="-122"/>
              </a:rPr>
              <a:t>统计分析方法</a:t>
            </a:r>
            <a:endParaRPr lang="en-US" altLang="zh-CN" sz="2800" dirty="0" smtClean="0">
              <a:solidFill>
                <a:srgbClr val="000000"/>
              </a:solidFill>
              <a:latin typeface="Times New Roman" panose="02020603050405020304" pitchFamily="18" charset="0"/>
              <a:ea typeface="微软雅黑" panose="020B0503020204020204" pitchFamily="34" charset="-122"/>
            </a:endParaRPr>
          </a:p>
          <a:p>
            <a:pPr>
              <a:lnSpc>
                <a:spcPct val="120000"/>
              </a:lnSpc>
              <a:buFont typeface="Arial" panose="020B0604020202020204" pitchFamily="34" charset="0"/>
              <a:buChar char="•"/>
            </a:pPr>
            <a:r>
              <a:rPr lang="zh-CN" altLang="en-US" sz="2800" dirty="0" smtClean="0">
                <a:solidFill>
                  <a:srgbClr val="000000"/>
                </a:solidFill>
                <a:latin typeface="Times New Roman" panose="02020603050405020304" pitchFamily="18" charset="0"/>
                <a:ea typeface="微软雅黑" panose="020B0503020204020204" pitchFamily="34" charset="-122"/>
              </a:rPr>
              <a:t>时频特性分析：傅里叶变化、小波变换</a:t>
            </a:r>
            <a:endParaRPr lang="en-US" altLang="zh-CN" sz="2800" dirty="0" smtClean="0">
              <a:solidFill>
                <a:srgbClr val="000000"/>
              </a:solidFill>
              <a:latin typeface="Times New Roman" panose="02020603050405020304" pitchFamily="18" charset="0"/>
              <a:ea typeface="微软雅黑" panose="020B0503020204020204" pitchFamily="34" charset="-122"/>
            </a:endParaRPr>
          </a:p>
          <a:p>
            <a:pPr>
              <a:lnSpc>
                <a:spcPct val="120000"/>
              </a:lnSpc>
              <a:buFont typeface="Arial" panose="020B0604020202020204" pitchFamily="34" charset="0"/>
              <a:buChar char="•"/>
            </a:pPr>
            <a:r>
              <a:rPr lang="zh-CN" altLang="en-US" sz="2800" dirty="0" smtClean="0">
                <a:solidFill>
                  <a:srgbClr val="000000"/>
                </a:solidFill>
                <a:latin typeface="Times New Roman" panose="02020603050405020304" pitchFamily="18" charset="0"/>
                <a:ea typeface="微软雅黑" panose="020B0503020204020204" pitchFamily="34" charset="-122"/>
              </a:rPr>
              <a:t>能量分析方法：</a:t>
            </a:r>
            <a:r>
              <a:rPr lang="en-US" altLang="zh-CN" sz="2800" dirty="0" smtClean="0">
                <a:solidFill>
                  <a:srgbClr val="000000"/>
                </a:solidFill>
                <a:latin typeface="Times New Roman" panose="02020603050405020304" pitchFamily="18" charset="0"/>
                <a:ea typeface="微软雅黑" panose="020B0503020204020204" pitchFamily="34" charset="-122"/>
              </a:rPr>
              <a:t>POD</a:t>
            </a:r>
            <a:r>
              <a:rPr lang="zh-CN" altLang="en-US" sz="2800" dirty="0" smtClean="0">
                <a:solidFill>
                  <a:srgbClr val="000000"/>
                </a:solidFill>
                <a:latin typeface="Times New Roman" panose="02020603050405020304" pitchFamily="18" charset="0"/>
                <a:ea typeface="微软雅黑" panose="020B0503020204020204" pitchFamily="34" charset="-122"/>
              </a:rPr>
              <a:t>、</a:t>
            </a:r>
            <a:r>
              <a:rPr lang="en-US" altLang="zh-CN" sz="2800" dirty="0" smtClean="0">
                <a:solidFill>
                  <a:srgbClr val="000000"/>
                </a:solidFill>
                <a:latin typeface="Times New Roman" panose="02020603050405020304" pitchFamily="18" charset="0"/>
                <a:ea typeface="微软雅黑" panose="020B0503020204020204" pitchFamily="34" charset="-122"/>
              </a:rPr>
              <a:t>DMD</a:t>
            </a:r>
            <a:r>
              <a:rPr lang="zh-CN" altLang="en-US" sz="2800" dirty="0" smtClean="0">
                <a:solidFill>
                  <a:srgbClr val="000000"/>
                </a:solidFill>
                <a:latin typeface="Times New Roman" panose="02020603050405020304" pitchFamily="18" charset="0"/>
                <a:ea typeface="微软雅黑" panose="020B0503020204020204" pitchFamily="34" charset="-122"/>
              </a:rPr>
              <a:t>方法</a:t>
            </a:r>
            <a:endParaRPr lang="en-US" altLang="zh-CN" sz="2800" dirty="0" smtClean="0">
              <a:solidFill>
                <a:srgbClr val="000000"/>
              </a:solidFill>
              <a:latin typeface="Times New Roman" panose="02020603050405020304" pitchFamily="18" charset="0"/>
              <a:ea typeface="微软雅黑" panose="020B0503020204020204" pitchFamily="34" charset="-122"/>
            </a:endParaRPr>
          </a:p>
          <a:p>
            <a:pPr>
              <a:lnSpc>
                <a:spcPct val="120000"/>
              </a:lnSpc>
              <a:buFont typeface="Arial" panose="020B0604020202020204" pitchFamily="34" charset="0"/>
              <a:buChar char="•"/>
            </a:pPr>
            <a:r>
              <a:rPr lang="zh-CN" altLang="en-US" sz="2800" dirty="0" smtClean="0">
                <a:solidFill>
                  <a:srgbClr val="C00000"/>
                </a:solidFill>
                <a:latin typeface="Times New Roman" panose="02020603050405020304" pitchFamily="18" charset="0"/>
                <a:ea typeface="微软雅黑" panose="020B0503020204020204" pitchFamily="34" charset="-122"/>
              </a:rPr>
              <a:t>数据同化</a:t>
            </a:r>
            <a:endParaRPr lang="en-US" altLang="zh-CN" sz="2800" dirty="0" smtClean="0">
              <a:solidFill>
                <a:srgbClr val="C00000"/>
              </a:solidFill>
              <a:latin typeface="Times New Roman" panose="02020603050405020304" pitchFamily="18" charset="0"/>
              <a:ea typeface="微软雅黑" panose="020B0503020204020204" pitchFamily="34" charset="-122"/>
            </a:endParaRPr>
          </a:p>
          <a:p>
            <a:pPr>
              <a:lnSpc>
                <a:spcPct val="120000"/>
              </a:lnSpc>
              <a:buFont typeface="Arial" panose="020B0604020202020204" pitchFamily="34" charset="0"/>
              <a:buChar char="•"/>
            </a:pPr>
            <a:r>
              <a:rPr lang="zh-CN" altLang="en-US" sz="2800" dirty="0">
                <a:solidFill>
                  <a:srgbClr val="C00000"/>
                </a:solidFill>
                <a:latin typeface="Times New Roman" panose="02020603050405020304" pitchFamily="18" charset="0"/>
                <a:ea typeface="微软雅黑" panose="020B0503020204020204" pitchFamily="34" charset="-122"/>
              </a:rPr>
              <a:t>人工智能</a:t>
            </a:r>
            <a:endParaRPr lang="en-US" altLang="zh-CN" sz="2800" dirty="0">
              <a:solidFill>
                <a:srgbClr val="C00000"/>
              </a:solidFill>
              <a:latin typeface="Times New Roman" panose="02020603050405020304" pitchFamily="18" charset="0"/>
              <a:ea typeface="微软雅黑" panose="020B0503020204020204" pitchFamily="34" charset="-122"/>
            </a:endParaRPr>
          </a:p>
        </p:txBody>
      </p:sp>
      <p:sp>
        <p:nvSpPr>
          <p:cNvPr id="11" name="文本框 10"/>
          <p:cNvSpPr txBox="1"/>
          <p:nvPr/>
        </p:nvSpPr>
        <p:spPr>
          <a:xfrm>
            <a:off x="735024" y="734016"/>
            <a:ext cx="6474298"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附录： 流动</a:t>
            </a:r>
            <a:r>
              <a:rPr lang="zh-CN" altLang="en-US" sz="3200" b="1" dirty="0" smtClean="0">
                <a:latin typeface="华文细黑" panose="02010600040101010101" pitchFamily="2" charset="-122"/>
                <a:ea typeface="华文细黑" panose="02010600040101010101" pitchFamily="2" charset="-122"/>
              </a:rPr>
              <a:t>信号处理</a:t>
            </a:r>
            <a:r>
              <a:rPr lang="zh-CN" altLang="en-US" sz="3200" b="1" dirty="0" smtClean="0">
                <a:latin typeface="华文细黑" panose="02010600040101010101" pitchFamily="2" charset="-122"/>
                <a:ea typeface="华文细黑" panose="02010600040101010101" pitchFamily="2" charset="-122"/>
              </a:rPr>
              <a:t>方法</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27</a:t>
            </a:fld>
            <a:endParaRPr lang="zh-CN" altLang="en-US"/>
          </a:p>
        </p:txBody>
      </p:sp>
    </p:spTree>
    <p:extLst>
      <p:ext uri="{BB962C8B-B14F-4D97-AF65-F5344CB8AC3E}">
        <p14:creationId xmlns:p14="http://schemas.microsoft.com/office/powerpoint/2010/main" val="100354753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文本框 4"/>
          <p:cNvSpPr txBox="1">
            <a:spLocks noChangeArrowheads="1"/>
          </p:cNvSpPr>
          <p:nvPr/>
        </p:nvSpPr>
        <p:spPr bwMode="auto">
          <a:xfrm>
            <a:off x="670524" y="1546436"/>
            <a:ext cx="1068327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2400" dirty="0" smtClean="0">
                <a:solidFill>
                  <a:srgbClr val="000000"/>
                </a:solidFill>
                <a:latin typeface="Times New Roman" panose="02020603050405020304" pitchFamily="18" charset="0"/>
                <a:ea typeface="微软雅黑" panose="020B0503020204020204" pitchFamily="34" charset="-122"/>
              </a:rPr>
              <a:t>抓住流动结构，考察其几何特征，随时间、空间的变化，运动</a:t>
            </a:r>
            <a:endParaRPr lang="en-US" altLang="zh-CN" sz="2400" dirty="0" smtClean="0">
              <a:solidFill>
                <a:srgbClr val="000000"/>
              </a:solidFill>
              <a:latin typeface="Times New Roman" panose="02020603050405020304" pitchFamily="18" charset="0"/>
              <a:ea typeface="微软雅黑" panose="020B0503020204020204" pitchFamily="34" charset="-122"/>
            </a:endParaRPr>
          </a:p>
        </p:txBody>
      </p:sp>
      <p:sp>
        <p:nvSpPr>
          <p:cNvPr id="11" name="文本框 10"/>
          <p:cNvSpPr txBox="1"/>
          <p:nvPr/>
        </p:nvSpPr>
        <p:spPr>
          <a:xfrm>
            <a:off x="735024" y="734016"/>
            <a:ext cx="6474298" cy="632866"/>
          </a:xfrm>
          <a:prstGeom prst="rect">
            <a:avLst/>
          </a:prstGeom>
          <a:noFill/>
        </p:spPr>
        <p:txBody>
          <a:bodyPr wrap="square" rtlCol="0">
            <a:spAutoFit/>
          </a:bodyPr>
          <a:lstStyle/>
          <a:p>
            <a:pPr>
              <a:lnSpc>
                <a:spcPct val="120000"/>
              </a:lnSpc>
            </a:pPr>
            <a:r>
              <a:rPr lang="zh-CN" altLang="en-US" sz="3200" dirty="0">
                <a:solidFill>
                  <a:srgbClr val="000000"/>
                </a:solidFill>
                <a:latin typeface="Times New Roman" panose="02020603050405020304" pitchFamily="18" charset="0"/>
                <a:ea typeface="微软雅黑" panose="020B0503020204020204" pitchFamily="34" charset="-122"/>
              </a:rPr>
              <a:t>几何形态与运动学分析</a:t>
            </a:r>
            <a:endParaRPr lang="en-US" altLang="zh-CN" sz="3200" dirty="0">
              <a:solidFill>
                <a:srgbClr val="000000"/>
              </a:solidFill>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28</a:t>
            </a:fld>
            <a:endParaRPr lang="zh-CN" altLang="en-US"/>
          </a:p>
        </p:txBody>
      </p:sp>
      <p:pic>
        <p:nvPicPr>
          <p:cNvPr id="5" name="图片 4" descr="C:\Users\ADMINI~1\AppData\Local\Temp\1567342506(1).png"/>
          <p:cNvPicPr/>
          <p:nvPr/>
        </p:nvPicPr>
        <p:blipFill>
          <a:blip r:embed="rId2">
            <a:extLst>
              <a:ext uri="{28A0092B-C50C-407E-A947-70E740481C1C}">
                <a14:useLocalDpi xmlns:a14="http://schemas.microsoft.com/office/drawing/2010/main" val="0"/>
              </a:ext>
            </a:extLst>
          </a:blip>
          <a:srcRect/>
          <a:stretch>
            <a:fillRect/>
          </a:stretch>
        </p:blipFill>
        <p:spPr bwMode="auto">
          <a:xfrm>
            <a:off x="735024" y="2530475"/>
            <a:ext cx="4859655" cy="3825875"/>
          </a:xfrm>
          <a:prstGeom prst="rect">
            <a:avLst/>
          </a:prstGeom>
          <a:noFill/>
          <a:ln>
            <a:noFill/>
          </a:ln>
        </p:spPr>
      </p:pic>
      <p:pic>
        <p:nvPicPr>
          <p:cNvPr id="6" name="图片 5" descr="C:\Users\ADMINI~1\AppData\Local\Temp\1567348837(1).png"/>
          <p:cNvPicPr/>
          <p:nvPr/>
        </p:nvPicPr>
        <p:blipFill>
          <a:blip r:embed="rId3">
            <a:extLst>
              <a:ext uri="{28A0092B-C50C-407E-A947-70E740481C1C}">
                <a14:useLocalDpi xmlns:a14="http://schemas.microsoft.com/office/drawing/2010/main" val="0"/>
              </a:ext>
            </a:extLst>
          </a:blip>
          <a:srcRect/>
          <a:stretch>
            <a:fillRect/>
          </a:stretch>
        </p:blipFill>
        <p:spPr bwMode="auto">
          <a:xfrm>
            <a:off x="6402572" y="2081967"/>
            <a:ext cx="5274310" cy="2414905"/>
          </a:xfrm>
          <a:prstGeom prst="rect">
            <a:avLst/>
          </a:prstGeom>
          <a:noFill/>
          <a:ln>
            <a:noFill/>
          </a:ln>
        </p:spPr>
      </p:pic>
      <p:pic>
        <p:nvPicPr>
          <p:cNvPr id="7" name="图片 6" descr="C:\Users\ADMINI~1\AppData\Local\Temp\1567349022(1).png"/>
          <p:cNvPicPr/>
          <p:nvPr/>
        </p:nvPicPr>
        <p:blipFill>
          <a:blip r:embed="rId4">
            <a:extLst>
              <a:ext uri="{28A0092B-C50C-407E-A947-70E740481C1C}">
                <a14:useLocalDpi xmlns:a14="http://schemas.microsoft.com/office/drawing/2010/main" val="0"/>
              </a:ext>
            </a:extLst>
          </a:blip>
          <a:srcRect/>
          <a:stretch>
            <a:fillRect/>
          </a:stretch>
        </p:blipFill>
        <p:spPr bwMode="auto">
          <a:xfrm>
            <a:off x="6739572" y="4496872"/>
            <a:ext cx="3742055" cy="2268220"/>
          </a:xfrm>
          <a:prstGeom prst="rect">
            <a:avLst/>
          </a:prstGeom>
          <a:noFill/>
          <a:ln>
            <a:noFill/>
          </a:ln>
        </p:spPr>
      </p:pic>
    </p:spTree>
    <p:extLst>
      <p:ext uri="{BB962C8B-B14F-4D97-AF65-F5344CB8AC3E}">
        <p14:creationId xmlns:p14="http://schemas.microsoft.com/office/powerpoint/2010/main" val="20323072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文本框 4"/>
          <p:cNvSpPr txBox="1">
            <a:spLocks noChangeArrowheads="1"/>
          </p:cNvSpPr>
          <p:nvPr/>
        </p:nvSpPr>
        <p:spPr bwMode="auto">
          <a:xfrm>
            <a:off x="672916" y="1481860"/>
            <a:ext cx="464742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2800" dirty="0" smtClean="0">
                <a:solidFill>
                  <a:srgbClr val="000000"/>
                </a:solidFill>
                <a:latin typeface="Times New Roman" panose="02020603050405020304" pitchFamily="18" charset="0"/>
                <a:ea typeface="微软雅黑" panose="020B0503020204020204" pitchFamily="34" charset="-122"/>
              </a:rPr>
              <a:t>时间平均</a:t>
            </a:r>
            <a:endParaRPr lang="en-US" altLang="zh-CN" sz="2800" dirty="0">
              <a:solidFill>
                <a:srgbClr val="000000"/>
              </a:solidFill>
              <a:latin typeface="Times New Roman" panose="02020603050405020304" pitchFamily="18" charset="0"/>
              <a:ea typeface="微软雅黑" panose="020B0503020204020204" pitchFamily="34" charset="-122"/>
            </a:endParaRPr>
          </a:p>
        </p:txBody>
      </p:sp>
      <p:graphicFrame>
        <p:nvGraphicFramePr>
          <p:cNvPr id="76804" name="对象 5"/>
          <p:cNvGraphicFramePr>
            <a:graphicFrameLocks noChangeAspect="1"/>
          </p:cNvGraphicFramePr>
          <p:nvPr>
            <p:extLst/>
          </p:nvPr>
        </p:nvGraphicFramePr>
        <p:xfrm>
          <a:off x="2162175" y="2190750"/>
          <a:ext cx="1917700" cy="722313"/>
        </p:xfrm>
        <a:graphic>
          <a:graphicData uri="http://schemas.openxmlformats.org/presentationml/2006/ole">
            <mc:AlternateContent xmlns:mc="http://schemas.openxmlformats.org/markup-compatibility/2006">
              <mc:Choice xmlns:v="urn:schemas-microsoft-com:vml" Requires="v">
                <p:oleObj spid="_x0000_s3084" name="Equation" r:id="rId3" imgW="1054080" imgH="393480" progId="Equation.DSMT4">
                  <p:embed/>
                </p:oleObj>
              </mc:Choice>
              <mc:Fallback>
                <p:oleObj name="Equation" r:id="rId3" imgW="1054080" imgH="393480" progId="Equation.DSMT4">
                  <p:embed/>
                  <p:pic>
                    <p:nvPicPr>
                      <p:cNvPr id="76804" name="对象 5"/>
                      <p:cNvPicPr>
                        <a:picLocks noChangeAspect="1" noChangeArrowheads="1"/>
                      </p:cNvPicPr>
                      <p:nvPr/>
                    </p:nvPicPr>
                    <p:blipFill>
                      <a:blip r:embed="rId4"/>
                      <a:srcRect/>
                      <a:stretch>
                        <a:fillRect/>
                      </a:stretch>
                    </p:blipFill>
                    <p:spPr bwMode="auto">
                      <a:xfrm>
                        <a:off x="2162175" y="2190750"/>
                        <a:ext cx="1917700" cy="722313"/>
                      </a:xfrm>
                      <a:prstGeom prst="rect">
                        <a:avLst/>
                      </a:prstGeom>
                      <a:noFill/>
                      <a:ln>
                        <a:noFill/>
                      </a:ln>
                      <a:extLst/>
                    </p:spPr>
                  </p:pic>
                </p:oleObj>
              </mc:Fallback>
            </mc:AlternateContent>
          </a:graphicData>
        </a:graphic>
      </p:graphicFrame>
      <p:sp>
        <p:nvSpPr>
          <p:cNvPr id="11" name="文本框 10"/>
          <p:cNvSpPr txBox="1"/>
          <p:nvPr/>
        </p:nvSpPr>
        <p:spPr>
          <a:xfrm>
            <a:off x="735024" y="734016"/>
            <a:ext cx="6474298"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时间平均、空间平均和系综平均</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29</a:t>
            </a:fld>
            <a:endParaRPr lang="zh-CN" altLang="en-US"/>
          </a:p>
        </p:txBody>
      </p:sp>
      <p:sp>
        <p:nvSpPr>
          <p:cNvPr id="12" name="文本框 4"/>
          <p:cNvSpPr txBox="1">
            <a:spLocks noChangeArrowheads="1"/>
          </p:cNvSpPr>
          <p:nvPr/>
        </p:nvSpPr>
        <p:spPr bwMode="auto">
          <a:xfrm>
            <a:off x="672916" y="2973262"/>
            <a:ext cx="464742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2800" dirty="0" smtClean="0">
                <a:solidFill>
                  <a:srgbClr val="000000"/>
                </a:solidFill>
                <a:latin typeface="Times New Roman" panose="02020603050405020304" pitchFamily="18" charset="0"/>
                <a:ea typeface="微软雅黑" panose="020B0503020204020204" pitchFamily="34" charset="-122"/>
              </a:rPr>
              <a:t>空间平均</a:t>
            </a:r>
            <a:endParaRPr lang="en-US" altLang="zh-CN" sz="2800" dirty="0">
              <a:solidFill>
                <a:srgbClr val="000000"/>
              </a:solidFill>
              <a:latin typeface="Times New Roman" panose="02020603050405020304" pitchFamily="18" charset="0"/>
              <a:ea typeface="微软雅黑" panose="020B0503020204020204" pitchFamily="34" charset="-122"/>
            </a:endParaRPr>
          </a:p>
        </p:txBody>
      </p:sp>
      <p:graphicFrame>
        <p:nvGraphicFramePr>
          <p:cNvPr id="13" name="对象 5"/>
          <p:cNvGraphicFramePr>
            <a:graphicFrameLocks noChangeAspect="1"/>
          </p:cNvGraphicFramePr>
          <p:nvPr>
            <p:extLst/>
          </p:nvPr>
        </p:nvGraphicFramePr>
        <p:xfrm>
          <a:off x="2162175" y="3642859"/>
          <a:ext cx="2865438" cy="698500"/>
        </p:xfrm>
        <a:graphic>
          <a:graphicData uri="http://schemas.openxmlformats.org/presentationml/2006/ole">
            <mc:AlternateContent xmlns:mc="http://schemas.openxmlformats.org/markup-compatibility/2006">
              <mc:Choice xmlns:v="urn:schemas-microsoft-com:vml" Requires="v">
                <p:oleObj spid="_x0000_s3085" name="Equation" r:id="rId5" imgW="1574640" imgH="380880" progId="Equation.DSMT4">
                  <p:embed/>
                </p:oleObj>
              </mc:Choice>
              <mc:Fallback>
                <p:oleObj name="Equation" r:id="rId5" imgW="1574640" imgH="380880" progId="Equation.DSMT4">
                  <p:embed/>
                  <p:pic>
                    <p:nvPicPr>
                      <p:cNvPr id="13" name="对象 5"/>
                      <p:cNvPicPr>
                        <a:picLocks noChangeAspect="1" noChangeArrowheads="1"/>
                      </p:cNvPicPr>
                      <p:nvPr/>
                    </p:nvPicPr>
                    <p:blipFill>
                      <a:blip r:embed="rId6"/>
                      <a:srcRect/>
                      <a:stretch>
                        <a:fillRect/>
                      </a:stretch>
                    </p:blipFill>
                    <p:spPr bwMode="auto">
                      <a:xfrm>
                        <a:off x="2162175" y="3642859"/>
                        <a:ext cx="2865438" cy="698500"/>
                      </a:xfrm>
                      <a:prstGeom prst="rect">
                        <a:avLst/>
                      </a:prstGeom>
                      <a:noFill/>
                      <a:ln>
                        <a:noFill/>
                      </a:ln>
                      <a:extLst/>
                    </p:spPr>
                  </p:pic>
                </p:oleObj>
              </mc:Fallback>
            </mc:AlternateContent>
          </a:graphicData>
        </a:graphic>
      </p:graphicFrame>
      <p:sp>
        <p:nvSpPr>
          <p:cNvPr id="14" name="文本框 4"/>
          <p:cNvSpPr txBox="1">
            <a:spLocks noChangeArrowheads="1"/>
          </p:cNvSpPr>
          <p:nvPr/>
        </p:nvSpPr>
        <p:spPr bwMode="auto">
          <a:xfrm>
            <a:off x="672915" y="4464664"/>
            <a:ext cx="7643311"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2800" b="1" dirty="0">
                <a:solidFill>
                  <a:srgbClr val="C00000"/>
                </a:solidFill>
                <a:latin typeface="华文细黑" panose="02010600040101010101" pitchFamily="2" charset="-122"/>
                <a:ea typeface="华文细黑" panose="02010600040101010101" pitchFamily="2" charset="-122"/>
              </a:rPr>
              <a:t>系综</a:t>
            </a:r>
            <a:r>
              <a:rPr lang="zh-CN" altLang="en-US" sz="2800" dirty="0" smtClean="0">
                <a:solidFill>
                  <a:srgbClr val="C00000"/>
                </a:solidFill>
                <a:latin typeface="Times New Roman" panose="02020603050405020304" pitchFamily="18" charset="0"/>
                <a:ea typeface="微软雅黑" panose="020B0503020204020204" pitchFamily="34" charset="-122"/>
              </a:rPr>
              <a:t>平均？</a:t>
            </a:r>
            <a:endParaRPr lang="en-US" altLang="zh-CN" sz="2800" dirty="0" smtClean="0">
              <a:solidFill>
                <a:srgbClr val="C00000"/>
              </a:solidFill>
              <a:latin typeface="Times New Roman" panose="02020603050405020304" pitchFamily="18" charset="0"/>
              <a:ea typeface="微软雅黑" panose="020B0503020204020204" pitchFamily="34" charset="-122"/>
            </a:endParaRPr>
          </a:p>
          <a:p>
            <a:pPr marL="0" indent="0">
              <a:lnSpc>
                <a:spcPct val="120000"/>
              </a:lnSpc>
            </a:pPr>
            <a:r>
              <a:rPr lang="zh-CN" altLang="en-US" sz="2400" dirty="0" smtClean="0">
                <a:latin typeface="Times New Roman" panose="02020603050405020304" pitchFamily="18" charset="0"/>
                <a:ea typeface="微软雅黑" panose="020B0503020204020204" pitchFamily="34" charset="-122"/>
              </a:rPr>
              <a:t>同一系统，初边值不变，多次测量结果的平均</a:t>
            </a:r>
            <a:endParaRPr lang="en-US" altLang="zh-CN" sz="2400" dirty="0">
              <a:latin typeface="Times New Roman" panose="02020603050405020304" pitchFamily="18" charset="0"/>
              <a:ea typeface="微软雅黑" panose="020B0503020204020204" pitchFamily="34" charset="-122"/>
            </a:endParaRPr>
          </a:p>
        </p:txBody>
      </p:sp>
      <p:sp>
        <p:nvSpPr>
          <p:cNvPr id="15" name="文本框 4"/>
          <p:cNvSpPr txBox="1">
            <a:spLocks noChangeArrowheads="1"/>
          </p:cNvSpPr>
          <p:nvPr/>
        </p:nvSpPr>
        <p:spPr bwMode="auto">
          <a:xfrm>
            <a:off x="6922920" y="1481860"/>
            <a:ext cx="4647426" cy="282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2400" dirty="0" smtClean="0">
                <a:solidFill>
                  <a:srgbClr val="000000"/>
                </a:solidFill>
                <a:latin typeface="Times New Roman" panose="02020603050405020304" pitchFamily="18" charset="0"/>
                <a:ea typeface="微软雅黑" panose="020B0503020204020204" pitchFamily="34" charset="-122"/>
              </a:rPr>
              <a:t>时间平均</a:t>
            </a:r>
            <a:r>
              <a:rPr lang="en-US" altLang="zh-CN" sz="2400" dirty="0" smtClean="0">
                <a:solidFill>
                  <a:srgbClr val="000000"/>
                </a:solidFill>
                <a:latin typeface="Times New Roman" panose="02020603050405020304" pitchFamily="18" charset="0"/>
                <a:ea typeface="微软雅黑" panose="020B0503020204020204" pitchFamily="34" charset="-122"/>
              </a:rPr>
              <a:t>=</a:t>
            </a:r>
            <a:r>
              <a:rPr lang="zh-CN" altLang="en-US" sz="2400" dirty="0" smtClean="0">
                <a:solidFill>
                  <a:srgbClr val="000000"/>
                </a:solidFill>
                <a:latin typeface="Times New Roman" panose="02020603050405020304" pitchFamily="18" charset="0"/>
                <a:ea typeface="微软雅黑" panose="020B0503020204020204" pitchFamily="34" charset="-122"/>
              </a:rPr>
              <a:t>空间平均</a:t>
            </a:r>
            <a:r>
              <a:rPr lang="en-US" altLang="zh-CN" sz="2400" dirty="0" smtClean="0">
                <a:solidFill>
                  <a:srgbClr val="000000"/>
                </a:solidFill>
                <a:latin typeface="Times New Roman" panose="02020603050405020304" pitchFamily="18" charset="0"/>
                <a:ea typeface="微软雅黑" panose="020B0503020204020204" pitchFamily="34" charset="-122"/>
              </a:rPr>
              <a:t>=</a:t>
            </a:r>
            <a:r>
              <a:rPr lang="zh-CN" altLang="en-US" sz="2400" dirty="0" smtClean="0">
                <a:solidFill>
                  <a:srgbClr val="000000"/>
                </a:solidFill>
                <a:latin typeface="Times New Roman" panose="02020603050405020304" pitchFamily="18" charset="0"/>
                <a:ea typeface="微软雅黑" panose="020B0503020204020204" pitchFamily="34" charset="-122"/>
              </a:rPr>
              <a:t>系综</a:t>
            </a:r>
            <a:r>
              <a:rPr lang="zh-CN" altLang="en-US" sz="2400" dirty="0">
                <a:solidFill>
                  <a:srgbClr val="000000"/>
                </a:solidFill>
                <a:latin typeface="Times New Roman" panose="02020603050405020304" pitchFamily="18" charset="0"/>
                <a:ea typeface="微软雅黑" panose="020B0503020204020204" pitchFamily="34" charset="-122"/>
              </a:rPr>
              <a:t>平均？</a:t>
            </a:r>
            <a:r>
              <a:rPr lang="zh-CN" altLang="en-US" sz="2400" dirty="0">
                <a:solidFill>
                  <a:srgbClr val="C00000"/>
                </a:solidFill>
                <a:latin typeface="Times New Roman" panose="02020603050405020304" pitchFamily="18" charset="0"/>
                <a:ea typeface="微软雅黑" panose="020B0503020204020204" pitchFamily="34" charset="-122"/>
              </a:rPr>
              <a:t>各态历经</a:t>
            </a:r>
            <a:endParaRPr lang="en-US" altLang="zh-CN" sz="2400" dirty="0" smtClean="0">
              <a:solidFill>
                <a:srgbClr val="C00000"/>
              </a:solidFill>
              <a:latin typeface="Times New Roman" panose="02020603050405020304" pitchFamily="18" charset="0"/>
              <a:ea typeface="微软雅黑" panose="020B0503020204020204" pitchFamily="34" charset="-122"/>
            </a:endParaRPr>
          </a:p>
          <a:p>
            <a:pPr marL="0" indent="0">
              <a:lnSpc>
                <a:spcPct val="120000"/>
              </a:lnSpc>
            </a:pPr>
            <a:r>
              <a:rPr lang="zh-CN" altLang="en-US" sz="2000" dirty="0" smtClean="0">
                <a:solidFill>
                  <a:srgbClr val="000000"/>
                </a:solidFill>
                <a:latin typeface="Times New Roman" panose="02020603050405020304" pitchFamily="18" charset="0"/>
                <a:ea typeface="微软雅黑" panose="020B0503020204020204" pitchFamily="34" charset="-122"/>
              </a:rPr>
              <a:t>一个随机变量重复多次的实验中出现的所有可能的状态能够在一次长时间的实验或者一个大范围空间内实验中以相同概率出现</a:t>
            </a:r>
            <a:endParaRPr lang="en-US" altLang="zh-CN" sz="2000" dirty="0" smtClean="0">
              <a:solidFill>
                <a:srgbClr val="000000"/>
              </a:solidFill>
              <a:latin typeface="Times New Roman" panose="02020603050405020304" pitchFamily="18" charset="0"/>
              <a:ea typeface="微软雅黑" panose="020B0503020204020204" pitchFamily="34" charset="-122"/>
            </a:endParaRPr>
          </a:p>
          <a:p>
            <a:pPr marL="0" indent="0">
              <a:lnSpc>
                <a:spcPct val="120000"/>
              </a:lnSpc>
            </a:pPr>
            <a:endParaRPr lang="en-US" altLang="zh-CN" sz="2000" dirty="0">
              <a:solidFill>
                <a:srgbClr val="000000"/>
              </a:solidFill>
              <a:latin typeface="Times New Roman" panose="02020603050405020304" pitchFamily="18" charset="0"/>
              <a:ea typeface="微软雅黑" panose="020B0503020204020204" pitchFamily="34" charset="-122"/>
            </a:endParaRPr>
          </a:p>
        </p:txBody>
      </p:sp>
      <p:sp>
        <p:nvSpPr>
          <p:cNvPr id="10" name="文本框 4"/>
          <p:cNvSpPr txBox="1">
            <a:spLocks noChangeArrowheads="1"/>
          </p:cNvSpPr>
          <p:nvPr/>
        </p:nvSpPr>
        <p:spPr bwMode="auto">
          <a:xfrm>
            <a:off x="672914" y="5826766"/>
            <a:ext cx="7643311"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indent="0">
              <a:lnSpc>
                <a:spcPct val="120000"/>
              </a:lnSpc>
            </a:pPr>
            <a:r>
              <a:rPr lang="zh-CN" altLang="en-US" sz="2400" dirty="0" smtClean="0">
                <a:latin typeface="Times New Roman" panose="02020603050405020304" pitchFamily="18" charset="0"/>
                <a:ea typeface="微软雅黑" panose="020B0503020204020204" pitchFamily="34" charset="-122"/>
              </a:rPr>
              <a:t>此外，还有</a:t>
            </a:r>
            <a:r>
              <a:rPr lang="zh-CN" altLang="en-US" sz="2400" dirty="0" smtClean="0">
                <a:solidFill>
                  <a:srgbClr val="C00000"/>
                </a:solidFill>
                <a:latin typeface="Times New Roman" panose="02020603050405020304" pitchFamily="18" charset="0"/>
                <a:ea typeface="微软雅黑" panose="020B0503020204020204" pitchFamily="34" charset="-122"/>
              </a:rPr>
              <a:t>时间相关、空间相关，各种积分变换</a:t>
            </a:r>
            <a:endParaRPr lang="en-US" altLang="zh-CN" sz="2400" dirty="0" smtClean="0">
              <a:solidFill>
                <a:srgbClr val="C00000"/>
              </a:solidFill>
              <a:latin typeface="Times New Roman" panose="02020603050405020304" pitchFamily="18" charset="0"/>
              <a:ea typeface="微软雅黑" panose="020B0503020204020204" pitchFamily="34" charset="-122"/>
            </a:endParaRPr>
          </a:p>
          <a:p>
            <a:pPr marL="0" indent="0">
              <a:lnSpc>
                <a:spcPct val="120000"/>
              </a:lnSpc>
            </a:pPr>
            <a:r>
              <a:rPr lang="zh-CN" altLang="en-US" sz="2400" dirty="0" smtClean="0">
                <a:solidFill>
                  <a:srgbClr val="C00000"/>
                </a:solidFill>
                <a:latin typeface="Times New Roman" panose="02020603050405020304" pitchFamily="18" charset="0"/>
                <a:ea typeface="微软雅黑" panose="020B0503020204020204" pitchFamily="34" charset="-122"/>
              </a:rPr>
              <a:t>需要有系综平均的样本数</a:t>
            </a:r>
            <a:endParaRPr lang="en-US" altLang="zh-CN" sz="2400" dirty="0">
              <a:solidFill>
                <a:srgbClr val="C00000"/>
              </a:solidFill>
              <a:latin typeface="Times New Roman" panose="02020603050405020304" pitchFamily="18" charset="0"/>
              <a:ea typeface="微软雅黑" panose="020B0503020204020204" pitchFamily="34" charset="-122"/>
            </a:endParaRPr>
          </a:p>
        </p:txBody>
      </p:sp>
      <p:pic>
        <p:nvPicPr>
          <p:cNvPr id="1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23220" y="4224651"/>
            <a:ext cx="4565650" cy="2214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039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735024" y="734016"/>
            <a:ext cx="6474298"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时间平均、空间平均和系综平均</a:t>
            </a:r>
            <a:endParaRPr lang="zh-CN" altLang="en-US" sz="3200" b="1" dirty="0">
              <a:latin typeface="华文细黑" panose="02010600040101010101" pitchFamily="2" charset="-122"/>
              <a:ea typeface="华文细黑" panose="02010600040101010101" pitchFamily="2" charset="-122"/>
            </a:endParaRPr>
          </a:p>
        </p:txBody>
      </p:sp>
      <p:graphicFrame>
        <p:nvGraphicFramePr>
          <p:cNvPr id="18" name="Object 4"/>
          <p:cNvGraphicFramePr>
            <a:graphicFrameLocks noChangeAspect="1"/>
          </p:cNvGraphicFramePr>
          <p:nvPr>
            <p:extLst/>
          </p:nvPr>
        </p:nvGraphicFramePr>
        <p:xfrm>
          <a:off x="6191752" y="2110952"/>
          <a:ext cx="3851275" cy="3187700"/>
        </p:xfrm>
        <a:graphic>
          <a:graphicData uri="http://schemas.openxmlformats.org/presentationml/2006/ole">
            <mc:AlternateContent xmlns:mc="http://schemas.openxmlformats.org/markup-compatibility/2006">
              <mc:Choice xmlns:v="urn:schemas-microsoft-com:vml" Requires="v">
                <p:oleObj spid="_x0000_s4123" name="Graph" r:id="rId3" imgW="3850234" imgH="3188208" progId="Origin50.Graph">
                  <p:embed/>
                </p:oleObj>
              </mc:Choice>
              <mc:Fallback>
                <p:oleObj name="Graph" r:id="rId3" imgW="3850234" imgH="3188208" progId="Origin50.Graph">
                  <p:embed/>
                  <p:pic>
                    <p:nvPicPr>
                      <p:cNvPr id="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752" y="2110952"/>
                        <a:ext cx="3851275" cy="318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8501" y="2183977"/>
            <a:ext cx="196215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0" name="Object 6"/>
          <p:cNvGraphicFramePr>
            <a:graphicFrameLocks noChangeAspect="1"/>
          </p:cNvGraphicFramePr>
          <p:nvPr>
            <p:extLst/>
          </p:nvPr>
        </p:nvGraphicFramePr>
        <p:xfrm>
          <a:off x="2157915" y="3334916"/>
          <a:ext cx="1584325" cy="376237"/>
        </p:xfrm>
        <a:graphic>
          <a:graphicData uri="http://schemas.openxmlformats.org/presentationml/2006/ole">
            <mc:AlternateContent xmlns:mc="http://schemas.openxmlformats.org/markup-compatibility/2006">
              <mc:Choice xmlns:v="urn:schemas-microsoft-com:vml" Requires="v">
                <p:oleObj spid="_x0000_s4124" name="公式" r:id="rId6" imgW="965200" imgH="228600" progId="Equation.3">
                  <p:embed/>
                </p:oleObj>
              </mc:Choice>
              <mc:Fallback>
                <p:oleObj name="公式" r:id="rId6" imgW="965200" imgH="228600" progId="Equation.3">
                  <p:embed/>
                  <p:pic>
                    <p:nvPicPr>
                      <p:cNvPr id="2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57915" y="3334916"/>
                        <a:ext cx="1584325" cy="376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Text Box 7"/>
          <p:cNvSpPr txBox="1">
            <a:spLocks noChangeArrowheads="1"/>
          </p:cNvSpPr>
          <p:nvPr/>
        </p:nvSpPr>
        <p:spPr bwMode="auto">
          <a:xfrm>
            <a:off x="1953126" y="2158578"/>
            <a:ext cx="2895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ea typeface="宋体" panose="02010600030101010101" pitchFamily="2" charset="-122"/>
              </a:defRPr>
            </a:lvl1pPr>
            <a:lvl2pPr marL="742950" indent="-285750">
              <a:defRPr sz="1700">
                <a:solidFill>
                  <a:schemeClr val="tx1"/>
                </a:solidFill>
                <a:latin typeface="Arial" panose="020B0604020202020204" pitchFamily="34" charset="0"/>
                <a:ea typeface="宋体" panose="02010600030101010101" pitchFamily="2" charset="-122"/>
              </a:defRPr>
            </a:lvl2pPr>
            <a:lvl3pPr marL="1143000" indent="-228600">
              <a:defRPr sz="1700">
                <a:solidFill>
                  <a:schemeClr val="tx1"/>
                </a:solidFill>
                <a:latin typeface="Arial" panose="020B0604020202020204" pitchFamily="34" charset="0"/>
                <a:ea typeface="宋体" panose="02010600030101010101" pitchFamily="2" charset="-122"/>
              </a:defRPr>
            </a:lvl3pPr>
            <a:lvl4pPr marL="1600200" indent="-228600">
              <a:defRPr sz="1700">
                <a:solidFill>
                  <a:schemeClr val="tx1"/>
                </a:solidFill>
                <a:latin typeface="Arial" panose="020B0604020202020204" pitchFamily="34" charset="0"/>
                <a:ea typeface="宋体" panose="02010600030101010101" pitchFamily="2" charset="-122"/>
              </a:defRPr>
            </a:lvl4pPr>
            <a:lvl5pPr marL="2057400" indent="-228600">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dirty="0">
                <a:latin typeface="楷体_GB2312"/>
                <a:ea typeface="楷体_GB2312"/>
                <a:cs typeface="楷体_GB2312"/>
              </a:rPr>
              <a:t>速度分解：</a:t>
            </a:r>
          </a:p>
        </p:txBody>
      </p:sp>
      <p:sp>
        <p:nvSpPr>
          <p:cNvPr id="22" name="Text Box 8"/>
          <p:cNvSpPr txBox="1">
            <a:spLocks noChangeArrowheads="1"/>
          </p:cNvSpPr>
          <p:nvPr/>
        </p:nvSpPr>
        <p:spPr bwMode="auto">
          <a:xfrm>
            <a:off x="1799139" y="4992265"/>
            <a:ext cx="7543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ea typeface="宋体" panose="02010600030101010101" pitchFamily="2" charset="-122"/>
              </a:defRPr>
            </a:lvl1pPr>
            <a:lvl2pPr marL="742950" indent="-285750">
              <a:defRPr sz="1700">
                <a:solidFill>
                  <a:schemeClr val="tx1"/>
                </a:solidFill>
                <a:latin typeface="Arial" panose="020B0604020202020204" pitchFamily="34" charset="0"/>
                <a:ea typeface="宋体" panose="02010600030101010101" pitchFamily="2" charset="-122"/>
              </a:defRPr>
            </a:lvl2pPr>
            <a:lvl3pPr marL="1143000" indent="-228600">
              <a:defRPr sz="1700">
                <a:solidFill>
                  <a:schemeClr val="tx1"/>
                </a:solidFill>
                <a:latin typeface="Arial" panose="020B0604020202020204" pitchFamily="34" charset="0"/>
                <a:ea typeface="宋体" panose="02010600030101010101" pitchFamily="2" charset="-122"/>
              </a:defRPr>
            </a:lvl3pPr>
            <a:lvl4pPr marL="1600200" indent="-228600">
              <a:defRPr sz="1700">
                <a:solidFill>
                  <a:schemeClr val="tx1"/>
                </a:solidFill>
                <a:latin typeface="Arial" panose="020B0604020202020204" pitchFamily="34" charset="0"/>
                <a:ea typeface="宋体" panose="02010600030101010101" pitchFamily="2" charset="-122"/>
              </a:defRPr>
            </a:lvl4pPr>
            <a:lvl5pPr marL="2057400" indent="-228600">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dirty="0">
                <a:latin typeface="楷体_GB2312"/>
                <a:ea typeface="楷体_GB2312"/>
                <a:cs typeface="楷体_GB2312"/>
              </a:rPr>
              <a:t>脉动压力</a:t>
            </a:r>
            <a:r>
              <a:rPr lang="en-US" altLang="zh-CN" dirty="0">
                <a:latin typeface="楷体_GB2312"/>
                <a:ea typeface="楷体_GB2312"/>
                <a:cs typeface="楷体_GB2312"/>
              </a:rPr>
              <a:t>p</a:t>
            </a:r>
            <a:r>
              <a:rPr lang="zh-CN" altLang="en-US" dirty="0">
                <a:latin typeface="楷体_GB2312"/>
                <a:ea typeface="楷体_GB2312"/>
                <a:cs typeface="楷体_GB2312"/>
              </a:rPr>
              <a:t>，脉动速的关联，湍流度</a:t>
            </a:r>
            <a:r>
              <a:rPr lang="en-US" altLang="zh-CN" dirty="0">
                <a:latin typeface="楷体_GB2312"/>
                <a:ea typeface="楷体_GB2312"/>
                <a:cs typeface="楷体_GB2312"/>
              </a:rPr>
              <a:t>,</a:t>
            </a:r>
            <a:r>
              <a:rPr lang="zh-CN" altLang="en-US" dirty="0">
                <a:latin typeface="楷体_GB2312"/>
                <a:ea typeface="楷体_GB2312"/>
                <a:cs typeface="楷体_GB2312"/>
              </a:rPr>
              <a:t>雷诺应力</a:t>
            </a:r>
            <a:r>
              <a:rPr lang="en-US" altLang="zh-CN" dirty="0">
                <a:latin typeface="楷体_GB2312"/>
                <a:ea typeface="楷体_GB2312"/>
                <a:cs typeface="楷体_GB2312"/>
              </a:rPr>
              <a:t>,</a:t>
            </a:r>
            <a:r>
              <a:rPr lang="zh-CN" altLang="en-US" dirty="0">
                <a:latin typeface="楷体_GB2312"/>
                <a:ea typeface="楷体_GB2312"/>
                <a:cs typeface="楷体_GB2312"/>
              </a:rPr>
              <a:t>偏袒因子</a:t>
            </a:r>
            <a:r>
              <a:rPr lang="en-US" altLang="zh-CN" dirty="0">
                <a:ea typeface="楷体_GB2312"/>
                <a:cs typeface="楷体_GB2312"/>
              </a:rPr>
              <a:t>…</a:t>
            </a:r>
            <a:endParaRPr lang="en-US" altLang="zh-CN" dirty="0">
              <a:latin typeface="楷体_GB2312"/>
              <a:ea typeface="楷体_GB2312"/>
              <a:cs typeface="楷体_GB2312"/>
            </a:endParaRPr>
          </a:p>
        </p:txBody>
      </p:sp>
      <p:graphicFrame>
        <p:nvGraphicFramePr>
          <p:cNvPr id="23" name="Object 9"/>
          <p:cNvGraphicFramePr>
            <a:graphicFrameLocks noGrp="1" noChangeAspect="1"/>
          </p:cNvGraphicFramePr>
          <p:nvPr>
            <p:ph sz="half" idx="4294967295"/>
            <p:extLst/>
          </p:nvPr>
        </p:nvGraphicFramePr>
        <p:xfrm>
          <a:off x="2026151" y="5419302"/>
          <a:ext cx="3924300" cy="508000"/>
        </p:xfrm>
        <a:graphic>
          <a:graphicData uri="http://schemas.openxmlformats.org/presentationml/2006/ole">
            <mc:AlternateContent xmlns:mc="http://schemas.openxmlformats.org/markup-compatibility/2006">
              <mc:Choice xmlns:v="urn:schemas-microsoft-com:vml" Requires="v">
                <p:oleObj spid="_x0000_s4125" name="公式" r:id="rId8" imgW="1954951" imgH="266584" progId="Equation.3">
                  <p:embed/>
                </p:oleObj>
              </mc:Choice>
              <mc:Fallback>
                <p:oleObj name="公式" r:id="rId8" imgW="1954951" imgH="266584" progId="Equation.3">
                  <p:embed/>
                  <p:pic>
                    <p:nvPicPr>
                      <p:cNvPr id="23"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26151" y="5419302"/>
                        <a:ext cx="39243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0"/>
          <p:cNvGraphicFramePr>
            <a:graphicFrameLocks noChangeAspect="1"/>
          </p:cNvGraphicFramePr>
          <p:nvPr>
            <p:extLst/>
          </p:nvPr>
        </p:nvGraphicFramePr>
        <p:xfrm>
          <a:off x="6334627" y="5424065"/>
          <a:ext cx="1368425" cy="442912"/>
        </p:xfrm>
        <a:graphic>
          <a:graphicData uri="http://schemas.openxmlformats.org/presentationml/2006/ole">
            <mc:AlternateContent xmlns:mc="http://schemas.openxmlformats.org/markup-compatibility/2006">
              <mc:Choice xmlns:v="urn:schemas-microsoft-com:vml" Requires="v">
                <p:oleObj spid="_x0000_s4126" name="公式" r:id="rId10" imgW="825142" imgH="266584" progId="Equation.3">
                  <p:embed/>
                </p:oleObj>
              </mc:Choice>
              <mc:Fallback>
                <p:oleObj name="公式" r:id="rId10" imgW="825142" imgH="266584" progId="Equation.3">
                  <p:embed/>
                  <p:pic>
                    <p:nvPicPr>
                      <p:cNvPr id="24"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34627" y="5424065"/>
                        <a:ext cx="1368425"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1"/>
          <p:cNvGraphicFramePr>
            <a:graphicFrameLocks noChangeAspect="1"/>
          </p:cNvGraphicFramePr>
          <p:nvPr>
            <p:extLst/>
          </p:nvPr>
        </p:nvGraphicFramePr>
        <p:xfrm>
          <a:off x="8207877" y="5424066"/>
          <a:ext cx="1152525" cy="504825"/>
        </p:xfrm>
        <a:graphic>
          <a:graphicData uri="http://schemas.openxmlformats.org/presentationml/2006/ole">
            <mc:AlternateContent xmlns:mc="http://schemas.openxmlformats.org/markup-compatibility/2006">
              <mc:Choice xmlns:v="urn:schemas-microsoft-com:vml" Requires="v">
                <p:oleObj spid="_x0000_s4127" name="公式" r:id="rId12" imgW="609336" imgH="266584" progId="Equation.3">
                  <p:embed/>
                </p:oleObj>
              </mc:Choice>
              <mc:Fallback>
                <p:oleObj name="公式" r:id="rId12" imgW="609336" imgH="266584" progId="Equation.3">
                  <p:embed/>
                  <p:pic>
                    <p:nvPicPr>
                      <p:cNvPr id="25"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07877" y="5424066"/>
                        <a:ext cx="115252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 name="Line 12"/>
          <p:cNvSpPr>
            <a:spLocks noChangeShapeType="1"/>
          </p:cNvSpPr>
          <p:nvPr/>
        </p:nvSpPr>
        <p:spPr bwMode="auto">
          <a:xfrm>
            <a:off x="3454901" y="3550815"/>
            <a:ext cx="719138" cy="0"/>
          </a:xfrm>
          <a:prstGeom prst="line">
            <a:avLst/>
          </a:prstGeom>
          <a:noFill/>
          <a:ln w="57150">
            <a:solidFill>
              <a:srgbClr val="3366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Text Box 13"/>
          <p:cNvSpPr txBox="1">
            <a:spLocks noChangeArrowheads="1"/>
          </p:cNvSpPr>
          <p:nvPr/>
        </p:nvSpPr>
        <p:spPr bwMode="auto">
          <a:xfrm>
            <a:off x="3383464" y="3119015"/>
            <a:ext cx="10080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ea typeface="宋体" panose="02010600030101010101" pitchFamily="2" charset="-122"/>
              </a:defRPr>
            </a:lvl1pPr>
            <a:lvl2pPr marL="742950" indent="-285750">
              <a:defRPr sz="1700">
                <a:solidFill>
                  <a:schemeClr val="tx1"/>
                </a:solidFill>
                <a:latin typeface="Arial" panose="020B0604020202020204" pitchFamily="34" charset="0"/>
                <a:ea typeface="宋体" panose="02010600030101010101" pitchFamily="2" charset="-122"/>
              </a:defRPr>
            </a:lvl2pPr>
            <a:lvl3pPr marL="1143000" indent="-228600">
              <a:defRPr sz="1700">
                <a:solidFill>
                  <a:schemeClr val="tx1"/>
                </a:solidFill>
                <a:latin typeface="Arial" panose="020B0604020202020204" pitchFamily="34" charset="0"/>
                <a:ea typeface="宋体" panose="02010600030101010101" pitchFamily="2" charset="-122"/>
              </a:defRPr>
            </a:lvl3pPr>
            <a:lvl4pPr marL="1600200" indent="-228600">
              <a:defRPr sz="1700">
                <a:solidFill>
                  <a:schemeClr val="tx1"/>
                </a:solidFill>
                <a:latin typeface="Arial" panose="020B0604020202020204" pitchFamily="34" charset="0"/>
                <a:ea typeface="宋体" panose="02010600030101010101" pitchFamily="2" charset="-122"/>
              </a:defRPr>
            </a:lvl4pPr>
            <a:lvl5pPr marL="2057400" indent="-228600">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1600" i="1">
                <a:solidFill>
                  <a:srgbClr val="CC3300"/>
                </a:solidFill>
                <a:latin typeface="Times New Roman" panose="02020603050405020304" pitchFamily="18" charset="0"/>
                <a:ea typeface="楷体_GB2312"/>
                <a:cs typeface="楷体_GB2312"/>
              </a:rPr>
              <a:t>u</a:t>
            </a:r>
            <a:r>
              <a:rPr lang="zh-CN" altLang="en-US" sz="1600">
                <a:solidFill>
                  <a:srgbClr val="CC3300"/>
                </a:solidFill>
                <a:latin typeface="Times New Roman" panose="02020603050405020304" pitchFamily="18" charset="0"/>
                <a:ea typeface="楷体_GB2312"/>
                <a:cs typeface="楷体_GB2312"/>
              </a:rPr>
              <a:t>替代</a:t>
            </a:r>
            <a:r>
              <a:rPr lang="en-US" altLang="zh-CN" sz="1600" i="1">
                <a:solidFill>
                  <a:srgbClr val="CC3300"/>
                </a:solidFill>
                <a:latin typeface="Times New Roman" panose="02020603050405020304" pitchFamily="18" charset="0"/>
                <a:ea typeface="楷体_GB2312"/>
                <a:cs typeface="楷体_GB2312"/>
              </a:rPr>
              <a:t>x</a:t>
            </a:r>
          </a:p>
        </p:txBody>
      </p:sp>
      <p:sp>
        <p:nvSpPr>
          <p:cNvPr id="28" name="Rectangle 14"/>
          <p:cNvSpPr>
            <a:spLocks noChangeArrowheads="1"/>
          </p:cNvSpPr>
          <p:nvPr/>
        </p:nvSpPr>
        <p:spPr bwMode="auto">
          <a:xfrm>
            <a:off x="4247065" y="2183977"/>
            <a:ext cx="1944687" cy="2808288"/>
          </a:xfrm>
          <a:prstGeom prst="rect">
            <a:avLst/>
          </a:prstGeom>
          <a:noFill/>
          <a:ln w="25400">
            <a:solidFill>
              <a:srgbClr val="993366"/>
            </a:solidFill>
            <a:prstDash val="dashDot"/>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ea typeface="宋体" panose="02010600030101010101" pitchFamily="2" charset="-122"/>
              </a:defRPr>
            </a:lvl1pPr>
            <a:lvl2pPr marL="742950" indent="-285750">
              <a:defRPr sz="1700">
                <a:solidFill>
                  <a:schemeClr val="tx1"/>
                </a:solidFill>
                <a:latin typeface="Arial" panose="020B0604020202020204" pitchFamily="34" charset="0"/>
                <a:ea typeface="宋体" panose="02010600030101010101" pitchFamily="2" charset="-122"/>
              </a:defRPr>
            </a:lvl2pPr>
            <a:lvl3pPr marL="1143000" indent="-228600">
              <a:defRPr sz="1700">
                <a:solidFill>
                  <a:schemeClr val="tx1"/>
                </a:solidFill>
                <a:latin typeface="Arial" panose="020B0604020202020204" pitchFamily="34" charset="0"/>
                <a:ea typeface="宋体" panose="02010600030101010101" pitchFamily="2" charset="-122"/>
              </a:defRPr>
            </a:lvl3pPr>
            <a:lvl4pPr marL="1600200" indent="-228600">
              <a:defRPr sz="1700">
                <a:solidFill>
                  <a:schemeClr val="tx1"/>
                </a:solidFill>
                <a:latin typeface="Arial" panose="020B0604020202020204" pitchFamily="34" charset="0"/>
                <a:ea typeface="宋体" panose="02010600030101010101" pitchFamily="2" charset="-122"/>
              </a:defRPr>
            </a:lvl4pPr>
            <a:lvl5pPr marL="2057400" indent="-228600">
              <a:defRPr sz="17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1700">
                <a:solidFill>
                  <a:schemeClr val="tx1"/>
                </a:solidFill>
                <a:latin typeface="Arial" panose="020B0604020202020204" pitchFamily="34"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2107302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3"/>
          <p:cNvSpPr>
            <a:spLocks noChangeArrowheads="1"/>
          </p:cNvSpPr>
          <p:nvPr/>
        </p:nvSpPr>
        <p:spPr bwMode="auto">
          <a:xfrm>
            <a:off x="672916" y="1384302"/>
            <a:ext cx="4647426" cy="400110"/>
          </a:xfrm>
          <a:prstGeom prst="rect">
            <a:avLst/>
          </a:prstGeom>
          <a:noFill/>
          <a:extLst/>
        </p:spPr>
        <p:txBody>
          <a:bodyPr wrap="square" rtlCol="0">
            <a:spAutoFit/>
          </a:bodyPr>
          <a:lstStyle/>
          <a:p>
            <a:r>
              <a:rPr lang="zh-CN" altLang="en-US" sz="2000" dirty="0">
                <a:latin typeface="华文细黑" panose="02010600040101010101" pitchFamily="2" charset="-122"/>
                <a:ea typeface="华文细黑" panose="02010600040101010101" pitchFamily="2" charset="-122"/>
              </a:rPr>
              <a:t>连续时间域的</a:t>
            </a:r>
            <a:r>
              <a:rPr lang="en-US" altLang="zh-CN" sz="2000" dirty="0">
                <a:latin typeface="华文细黑" panose="02010600040101010101" pitchFamily="2" charset="-122"/>
                <a:ea typeface="华文细黑" panose="02010600040101010101" pitchFamily="2" charset="-122"/>
              </a:rPr>
              <a:t>Fourier</a:t>
            </a:r>
            <a:r>
              <a:rPr lang="zh-CN" altLang="en-US" sz="2000" dirty="0">
                <a:latin typeface="华文细黑" panose="02010600040101010101" pitchFamily="2" charset="-122"/>
                <a:ea typeface="华文细黑" panose="02010600040101010101" pitchFamily="2" charset="-122"/>
              </a:rPr>
              <a:t>级数与</a:t>
            </a:r>
            <a:r>
              <a:rPr lang="en-US" altLang="zh-CN" sz="2000" dirty="0">
                <a:latin typeface="华文细黑" panose="02010600040101010101" pitchFamily="2" charset="-122"/>
                <a:ea typeface="华文细黑" panose="02010600040101010101" pitchFamily="2" charset="-122"/>
              </a:rPr>
              <a:t>Fourier</a:t>
            </a:r>
            <a:r>
              <a:rPr lang="zh-CN" altLang="en-US" sz="2000" dirty="0">
                <a:latin typeface="华文细黑" panose="02010600040101010101" pitchFamily="2" charset="-122"/>
                <a:ea typeface="华文细黑" panose="02010600040101010101" pitchFamily="2" charset="-122"/>
              </a:rPr>
              <a:t>变换</a:t>
            </a:r>
            <a:endParaRPr lang="en-US" altLang="zh-CN" sz="2000" dirty="0">
              <a:latin typeface="华文细黑" panose="02010600040101010101" pitchFamily="2" charset="-122"/>
              <a:ea typeface="华文细黑" panose="02010600040101010101" pitchFamily="2" charset="-122"/>
            </a:endParaRPr>
          </a:p>
        </p:txBody>
      </p:sp>
      <p:sp>
        <p:nvSpPr>
          <p:cNvPr id="76803" name="文本框 4"/>
          <p:cNvSpPr txBox="1">
            <a:spLocks noChangeArrowheads="1"/>
          </p:cNvSpPr>
          <p:nvPr/>
        </p:nvSpPr>
        <p:spPr bwMode="auto">
          <a:xfrm>
            <a:off x="672917" y="1830450"/>
            <a:ext cx="4647426"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en-US" altLang="zh-CN" sz="1600" dirty="0">
                <a:solidFill>
                  <a:srgbClr val="000000"/>
                </a:solidFill>
                <a:latin typeface="Times New Roman" panose="02020603050405020304" pitchFamily="18" charset="0"/>
                <a:ea typeface="微软雅黑" panose="020B0503020204020204" pitchFamily="34" charset="-122"/>
              </a:rPr>
              <a:t>Fourier</a:t>
            </a:r>
            <a:r>
              <a:rPr lang="zh-CN" altLang="en-US" sz="1600" dirty="0">
                <a:solidFill>
                  <a:srgbClr val="000000"/>
                </a:solidFill>
                <a:latin typeface="Times New Roman" panose="02020603050405020304" pitchFamily="18" charset="0"/>
                <a:ea typeface="微软雅黑" panose="020B0503020204020204" pitchFamily="34" charset="-122"/>
              </a:rPr>
              <a:t>级数：将时域周期信号分解成不同频率的正弦或余弦信号的叠加</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graphicFrame>
        <p:nvGraphicFramePr>
          <p:cNvPr id="76804" name="对象 5"/>
          <p:cNvGraphicFramePr>
            <a:graphicFrameLocks noChangeAspect="1"/>
          </p:cNvGraphicFramePr>
          <p:nvPr>
            <p:extLst/>
          </p:nvPr>
        </p:nvGraphicFramePr>
        <p:xfrm>
          <a:off x="1289274" y="2461759"/>
          <a:ext cx="4165600" cy="1084263"/>
        </p:xfrm>
        <a:graphic>
          <a:graphicData uri="http://schemas.openxmlformats.org/presentationml/2006/ole">
            <mc:AlternateContent xmlns:mc="http://schemas.openxmlformats.org/markup-compatibility/2006">
              <mc:Choice xmlns:v="urn:schemas-microsoft-com:vml" Requires="v">
                <p:oleObj spid="_x0000_s5132" name="Equation" r:id="rId3" imgW="2654280" imgH="685800" progId="Equation.DSMT4">
                  <p:embed/>
                </p:oleObj>
              </mc:Choice>
              <mc:Fallback>
                <p:oleObj name="Equation" r:id="rId3" imgW="2654280" imgH="685800" progId="Equation.DSMT4">
                  <p:embed/>
                  <p:pic>
                    <p:nvPicPr>
                      <p:cNvPr id="76804"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9274" y="2461759"/>
                        <a:ext cx="416560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05" name="文本框 6"/>
          <p:cNvSpPr txBox="1">
            <a:spLocks noChangeArrowheads="1"/>
          </p:cNvSpPr>
          <p:nvPr/>
        </p:nvSpPr>
        <p:spPr bwMode="auto">
          <a:xfrm>
            <a:off x="672916" y="3546022"/>
            <a:ext cx="5023034"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a:lnSpc>
                <a:spcPct val="120000"/>
              </a:lnSpc>
              <a:buFont typeface="Arial" panose="020B0604020202020204" pitchFamily="34" charset="0"/>
              <a:buChar char="•"/>
              <a:defRPr sz="1600">
                <a:solidFill>
                  <a:srgbClr val="00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zh-CN" altLang="en-US" dirty="0"/>
              <a:t>信号分解的一种，基函数便是三角函数，基函数具有正交性</a:t>
            </a:r>
            <a:endParaRPr lang="en-US" altLang="zh-CN" dirty="0"/>
          </a:p>
        </p:txBody>
      </p:sp>
      <p:sp>
        <p:nvSpPr>
          <p:cNvPr id="76806" name="文本框 7"/>
          <p:cNvSpPr txBox="1">
            <a:spLocks noChangeArrowheads="1"/>
          </p:cNvSpPr>
          <p:nvPr/>
        </p:nvSpPr>
        <p:spPr bwMode="auto">
          <a:xfrm>
            <a:off x="682440" y="4607018"/>
            <a:ext cx="4914795"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en-US" altLang="zh-CN" sz="1600" dirty="0">
                <a:solidFill>
                  <a:srgbClr val="000000"/>
                </a:solidFill>
                <a:latin typeface="Times New Roman" panose="02020603050405020304" pitchFamily="18" charset="0"/>
                <a:ea typeface="微软雅黑" panose="020B0503020204020204" pitchFamily="34" charset="-122"/>
              </a:rPr>
              <a:t>FS</a:t>
            </a:r>
            <a:r>
              <a:rPr lang="zh-CN" altLang="en-US" sz="1600" dirty="0">
                <a:solidFill>
                  <a:srgbClr val="000000"/>
                </a:solidFill>
                <a:latin typeface="Times New Roman" panose="02020603050405020304" pitchFamily="18" charset="0"/>
                <a:ea typeface="微软雅黑" panose="020B0503020204020204" pitchFamily="34" charset="-122"/>
              </a:rPr>
              <a:t>级数系数反映了各阶叠加信号的</a:t>
            </a:r>
            <a:r>
              <a:rPr lang="zh-CN" altLang="en-US" sz="1600" b="1" dirty="0">
                <a:solidFill>
                  <a:srgbClr val="FF0000"/>
                </a:solidFill>
                <a:latin typeface="Times New Roman" panose="02020603050405020304" pitchFamily="18" charset="0"/>
                <a:ea typeface="微软雅黑" panose="020B0503020204020204" pitchFamily="34" charset="-122"/>
              </a:rPr>
              <a:t>强度</a:t>
            </a:r>
            <a:r>
              <a:rPr lang="zh-CN" altLang="en-US" sz="1600" dirty="0">
                <a:solidFill>
                  <a:srgbClr val="000000"/>
                </a:solidFill>
                <a:latin typeface="Times New Roman" panose="02020603050405020304" pitchFamily="18" charset="0"/>
                <a:ea typeface="微软雅黑" panose="020B0503020204020204" pitchFamily="34" charset="-122"/>
              </a:rPr>
              <a:t>，是</a:t>
            </a:r>
            <a:r>
              <a:rPr lang="zh-CN" altLang="en-US" sz="1600" b="1" dirty="0">
                <a:solidFill>
                  <a:srgbClr val="000000"/>
                </a:solidFill>
                <a:latin typeface="Times New Roman" panose="02020603050405020304" pitchFamily="18" charset="0"/>
                <a:ea typeface="微软雅黑" panose="020B0503020204020204" pitchFamily="34" charset="-122"/>
              </a:rPr>
              <a:t>能量</a:t>
            </a:r>
            <a:r>
              <a:rPr lang="zh-CN" altLang="en-US" sz="1600" dirty="0">
                <a:solidFill>
                  <a:srgbClr val="000000"/>
                </a:solidFill>
                <a:latin typeface="Times New Roman" panose="02020603050405020304" pitchFamily="18" charset="0"/>
                <a:ea typeface="微软雅黑" panose="020B0503020204020204" pitchFamily="34" charset="-122"/>
              </a:rPr>
              <a:t>在</a:t>
            </a:r>
            <a:r>
              <a:rPr lang="zh-CN" altLang="en-US" sz="1600" b="1" dirty="0">
                <a:solidFill>
                  <a:srgbClr val="FF0000"/>
                </a:solidFill>
                <a:latin typeface="Times New Roman" panose="02020603050405020304" pitchFamily="18" charset="0"/>
                <a:ea typeface="微软雅黑" panose="020B0503020204020204" pitchFamily="34" charset="-122"/>
              </a:rPr>
              <a:t>频域</a:t>
            </a:r>
            <a:r>
              <a:rPr lang="zh-CN" altLang="en-US" sz="1600" dirty="0">
                <a:solidFill>
                  <a:srgbClr val="000000"/>
                </a:solidFill>
                <a:latin typeface="Times New Roman" panose="02020603050405020304" pitchFamily="18" charset="0"/>
                <a:ea typeface="微软雅黑" panose="020B0503020204020204" pitchFamily="34" charset="-122"/>
              </a:rPr>
              <a:t>的反映，主要周期成分</a:t>
            </a:r>
            <a:r>
              <a:rPr lang="en-US" altLang="zh-CN" sz="1600" dirty="0">
                <a:solidFill>
                  <a:srgbClr val="000000"/>
                </a:solidFill>
                <a:latin typeface="Times New Roman" panose="02020603050405020304" pitchFamily="18" charset="0"/>
                <a:ea typeface="微软雅黑" panose="020B0503020204020204" pitchFamily="34" charset="-122"/>
              </a:rPr>
              <a:t>FS</a:t>
            </a:r>
            <a:r>
              <a:rPr lang="zh-CN" altLang="en-US" sz="1600" dirty="0">
                <a:solidFill>
                  <a:srgbClr val="000000"/>
                </a:solidFill>
                <a:latin typeface="Times New Roman" panose="02020603050405020304" pitchFamily="18" charset="0"/>
                <a:ea typeface="微软雅黑" panose="020B0503020204020204" pitchFamily="34" charset="-122"/>
              </a:rPr>
              <a:t>系数占主导，取大值</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pic>
        <p:nvPicPr>
          <p:cNvPr id="76807" name="图片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95950" y="1932620"/>
            <a:ext cx="6356600" cy="4769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6809" name="对象 10"/>
          <p:cNvGraphicFramePr>
            <a:graphicFrameLocks noChangeAspect="1"/>
          </p:cNvGraphicFramePr>
          <p:nvPr>
            <p:extLst/>
          </p:nvPr>
        </p:nvGraphicFramePr>
        <p:xfrm>
          <a:off x="4350380" y="6358214"/>
          <a:ext cx="1080602" cy="392625"/>
        </p:xfrm>
        <a:graphic>
          <a:graphicData uri="http://schemas.openxmlformats.org/presentationml/2006/ole">
            <mc:AlternateContent xmlns:mc="http://schemas.openxmlformats.org/markup-compatibility/2006">
              <mc:Choice xmlns:v="urn:schemas-microsoft-com:vml" Requires="v">
                <p:oleObj spid="_x0000_s5133" name="Equation" r:id="rId6" imgW="1193760" imgH="431640" progId="Equation.DSMT4">
                  <p:embed/>
                </p:oleObj>
              </mc:Choice>
              <mc:Fallback>
                <p:oleObj name="Equation" r:id="rId6" imgW="1193760" imgH="431640" progId="Equation.DSMT4">
                  <p:embed/>
                  <p:pic>
                    <p:nvPicPr>
                      <p:cNvPr id="76809"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0380" y="6358214"/>
                        <a:ext cx="1080602" cy="392625"/>
                      </a:xfrm>
                      <a:prstGeom prst="rect">
                        <a:avLst/>
                      </a:prstGeom>
                      <a:noFill/>
                      <a:ln>
                        <a:noFill/>
                      </a:ln>
                      <a:extLst/>
                    </p:spPr>
                  </p:pic>
                </p:oleObj>
              </mc:Fallback>
            </mc:AlternateContent>
          </a:graphicData>
        </a:graphic>
      </p:graphicFrame>
      <p:sp>
        <p:nvSpPr>
          <p:cNvPr id="76810" name="文本框 11"/>
          <p:cNvSpPr txBox="1">
            <a:spLocks noChangeArrowheads="1"/>
          </p:cNvSpPr>
          <p:nvPr/>
        </p:nvSpPr>
        <p:spPr bwMode="auto">
          <a:xfrm>
            <a:off x="735024" y="6406793"/>
            <a:ext cx="3529342" cy="295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100" b="1" dirty="0">
                <a:solidFill>
                  <a:srgbClr val="000000"/>
                </a:solidFill>
                <a:latin typeface="Times New Roman" panose="02020603050405020304" pitchFamily="18" charset="0"/>
                <a:ea typeface="微软雅黑" panose="020B0503020204020204" pitchFamily="34" charset="-122"/>
              </a:rPr>
              <a:t>*信号分解的思想：</a:t>
            </a:r>
            <a:r>
              <a:rPr lang="zh-CN" altLang="en-US" sz="1100" b="1" dirty="0">
                <a:solidFill>
                  <a:srgbClr val="3333FF"/>
                </a:solidFill>
                <a:latin typeface="Times New Roman" panose="02020603050405020304" pitchFamily="18" charset="0"/>
                <a:ea typeface="微软雅黑" panose="020B0503020204020204" pitchFamily="34" charset="-122"/>
              </a:rPr>
              <a:t>用一组简单的函数来表示原始信号</a:t>
            </a:r>
            <a:endParaRPr lang="en-US" altLang="zh-CN" sz="1100" b="1" dirty="0">
              <a:solidFill>
                <a:srgbClr val="3333FF"/>
              </a:solidFill>
              <a:latin typeface="Times New Roman" panose="02020603050405020304" pitchFamily="18" charset="0"/>
              <a:ea typeface="微软雅黑" panose="020B0503020204020204" pitchFamily="34" charset="-122"/>
            </a:endParaRPr>
          </a:p>
        </p:txBody>
      </p:sp>
      <p:sp>
        <p:nvSpPr>
          <p:cNvPr id="11" name="文本框 10"/>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31</a:t>
            </a:fld>
            <a:endParaRPr lang="zh-CN" altLang="en-US"/>
          </a:p>
        </p:txBody>
      </p:sp>
    </p:spTree>
    <p:extLst>
      <p:ext uri="{BB962C8B-B14F-4D97-AF65-F5344CB8AC3E}">
        <p14:creationId xmlns:p14="http://schemas.microsoft.com/office/powerpoint/2010/main" val="3019221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文本框 5"/>
          <p:cNvSpPr txBox="1">
            <a:spLocks noChangeArrowheads="1"/>
          </p:cNvSpPr>
          <p:nvPr/>
        </p:nvSpPr>
        <p:spPr bwMode="auto">
          <a:xfrm>
            <a:off x="672916" y="1817016"/>
            <a:ext cx="6988175"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a:lnSpc>
                <a:spcPct val="120000"/>
              </a:lnSpc>
              <a:buFont typeface="Arial" panose="020B0604020202020204" pitchFamily="34" charset="0"/>
              <a:buChar char="•"/>
              <a:defRPr sz="1600">
                <a:solidFill>
                  <a:srgbClr val="00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en-US" altLang="zh-CN" dirty="0"/>
              <a:t>Fourier</a:t>
            </a:r>
            <a:r>
              <a:rPr lang="zh-CN" altLang="en-US" dirty="0"/>
              <a:t>变换：经典</a:t>
            </a:r>
            <a:r>
              <a:rPr lang="en-US" altLang="zh-CN" dirty="0"/>
              <a:t>Fourier</a:t>
            </a:r>
            <a:r>
              <a:rPr lang="zh-CN" altLang="en-US" dirty="0"/>
              <a:t>变换针对非周期信号，是对</a:t>
            </a:r>
            <a:r>
              <a:rPr lang="en-US" altLang="zh-CN" dirty="0"/>
              <a:t>Fourier</a:t>
            </a:r>
            <a:r>
              <a:rPr lang="zh-CN" altLang="en-US" dirty="0"/>
              <a:t>级数的拓展</a:t>
            </a:r>
            <a:endParaRPr lang="en-US" altLang="zh-CN" dirty="0"/>
          </a:p>
        </p:txBody>
      </p:sp>
      <p:graphicFrame>
        <p:nvGraphicFramePr>
          <p:cNvPr id="77829" name="对象 6"/>
          <p:cNvGraphicFramePr>
            <a:graphicFrameLocks noChangeAspect="1"/>
          </p:cNvGraphicFramePr>
          <p:nvPr>
            <p:extLst/>
          </p:nvPr>
        </p:nvGraphicFramePr>
        <p:xfrm>
          <a:off x="1624107" y="2097658"/>
          <a:ext cx="3405187" cy="557212"/>
        </p:xfrm>
        <a:graphic>
          <a:graphicData uri="http://schemas.openxmlformats.org/presentationml/2006/ole">
            <mc:AlternateContent xmlns:mc="http://schemas.openxmlformats.org/markup-compatibility/2006">
              <mc:Choice xmlns:v="urn:schemas-microsoft-com:vml" Requires="v">
                <p:oleObj spid="_x0000_s7202" name="Equation" r:id="rId3" imgW="2654280" imgH="431640" progId="Equation.DSMT4">
                  <p:embed/>
                </p:oleObj>
              </mc:Choice>
              <mc:Fallback>
                <p:oleObj name="Equation" r:id="rId3" imgW="2654280" imgH="431640" progId="Equation.DSMT4">
                  <p:embed/>
                  <p:pic>
                    <p:nvPicPr>
                      <p:cNvPr id="77829"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4107" y="2097658"/>
                        <a:ext cx="3405187"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0" name="对象 7"/>
          <p:cNvGraphicFramePr>
            <a:graphicFrameLocks noChangeAspect="1"/>
          </p:cNvGraphicFramePr>
          <p:nvPr>
            <p:extLst/>
          </p:nvPr>
        </p:nvGraphicFramePr>
        <p:xfrm>
          <a:off x="6669881" y="2095201"/>
          <a:ext cx="2746375" cy="569912"/>
        </p:xfrm>
        <a:graphic>
          <a:graphicData uri="http://schemas.openxmlformats.org/presentationml/2006/ole">
            <mc:AlternateContent xmlns:mc="http://schemas.openxmlformats.org/markup-compatibility/2006">
              <mc:Choice xmlns:v="urn:schemas-microsoft-com:vml" Requires="v">
                <p:oleObj spid="_x0000_s7203" name="Equation" r:id="rId5" imgW="2095200" imgH="431640" progId="Equation.DSMT4">
                  <p:embed/>
                </p:oleObj>
              </mc:Choice>
              <mc:Fallback>
                <p:oleObj name="Equation" r:id="rId5" imgW="2095200" imgH="431640" progId="Equation.DSMT4">
                  <p:embed/>
                  <p:pic>
                    <p:nvPicPr>
                      <p:cNvPr id="7783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9881" y="2095201"/>
                        <a:ext cx="27463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下箭头 8"/>
          <p:cNvSpPr/>
          <p:nvPr/>
        </p:nvSpPr>
        <p:spPr bwMode="auto">
          <a:xfrm>
            <a:off x="5505450" y="2692477"/>
            <a:ext cx="381000" cy="396875"/>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77832" name="对象 9"/>
          <p:cNvGraphicFramePr>
            <a:graphicFrameLocks noChangeAspect="1"/>
          </p:cNvGraphicFramePr>
          <p:nvPr/>
        </p:nvGraphicFramePr>
        <p:xfrm>
          <a:off x="4381501" y="3152776"/>
          <a:ext cx="3044825" cy="569913"/>
        </p:xfrm>
        <a:graphic>
          <a:graphicData uri="http://schemas.openxmlformats.org/presentationml/2006/ole">
            <mc:AlternateContent xmlns:mc="http://schemas.openxmlformats.org/markup-compatibility/2006">
              <mc:Choice xmlns:v="urn:schemas-microsoft-com:vml" Requires="v">
                <p:oleObj spid="_x0000_s7204" name="Equation" r:id="rId7" imgW="2323800" imgH="431640" progId="Equation.DSMT4">
                  <p:embed/>
                </p:oleObj>
              </mc:Choice>
              <mc:Fallback>
                <p:oleObj name="Equation" r:id="rId7" imgW="2323800" imgH="431640" progId="Equation.DSMT4">
                  <p:embed/>
                  <p:pic>
                    <p:nvPicPr>
                      <p:cNvPr id="77832"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81501" y="3152776"/>
                        <a:ext cx="3044825"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3" name="对象 10"/>
          <p:cNvGraphicFramePr>
            <a:graphicFrameLocks noChangeAspect="1"/>
          </p:cNvGraphicFramePr>
          <p:nvPr>
            <p:extLst/>
          </p:nvPr>
        </p:nvGraphicFramePr>
        <p:xfrm>
          <a:off x="6112958" y="2794001"/>
          <a:ext cx="615950" cy="233363"/>
        </p:xfrm>
        <a:graphic>
          <a:graphicData uri="http://schemas.openxmlformats.org/presentationml/2006/ole">
            <mc:AlternateContent xmlns:mc="http://schemas.openxmlformats.org/markup-compatibility/2006">
              <mc:Choice xmlns:v="urn:schemas-microsoft-com:vml" Requires="v">
                <p:oleObj spid="_x0000_s7205" name="Equation" r:id="rId9" imgW="469800" imgH="177480" progId="Equation.DSMT4">
                  <p:embed/>
                </p:oleObj>
              </mc:Choice>
              <mc:Fallback>
                <p:oleObj name="Equation" r:id="rId9" imgW="469800" imgH="177480" progId="Equation.DSMT4">
                  <p:embed/>
                  <p:pic>
                    <p:nvPicPr>
                      <p:cNvPr id="77833"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12958" y="2794001"/>
                        <a:ext cx="61595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4" name="对象 11"/>
          <p:cNvGraphicFramePr>
            <a:graphicFrameLocks noChangeAspect="1"/>
          </p:cNvGraphicFramePr>
          <p:nvPr>
            <p:extLst/>
          </p:nvPr>
        </p:nvGraphicFramePr>
        <p:xfrm>
          <a:off x="1238250" y="3235100"/>
          <a:ext cx="2662238" cy="536575"/>
        </p:xfrm>
        <a:graphic>
          <a:graphicData uri="http://schemas.openxmlformats.org/presentationml/2006/ole">
            <mc:AlternateContent xmlns:mc="http://schemas.openxmlformats.org/markup-compatibility/2006">
              <mc:Choice xmlns:v="urn:schemas-microsoft-com:vml" Requires="v">
                <p:oleObj spid="_x0000_s7206" name="Equation" r:id="rId11" imgW="2031840" imgH="406080" progId="Equation.DSMT4">
                  <p:embed/>
                </p:oleObj>
              </mc:Choice>
              <mc:Fallback>
                <p:oleObj name="Equation" r:id="rId11" imgW="2031840" imgH="406080" progId="Equation.DSMT4">
                  <p:embed/>
                  <p:pic>
                    <p:nvPicPr>
                      <p:cNvPr id="77834" name="对象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38250" y="3235100"/>
                        <a:ext cx="2662238" cy="5365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5" name="对象 12"/>
          <p:cNvGraphicFramePr>
            <a:graphicFrameLocks noChangeAspect="1"/>
          </p:cNvGraphicFramePr>
          <p:nvPr>
            <p:extLst/>
          </p:nvPr>
        </p:nvGraphicFramePr>
        <p:xfrm>
          <a:off x="8043068" y="4284663"/>
          <a:ext cx="2513013" cy="519113"/>
        </p:xfrm>
        <a:graphic>
          <a:graphicData uri="http://schemas.openxmlformats.org/presentationml/2006/ole">
            <mc:AlternateContent xmlns:mc="http://schemas.openxmlformats.org/markup-compatibility/2006">
              <mc:Choice xmlns:v="urn:schemas-microsoft-com:vml" Requires="v">
                <p:oleObj spid="_x0000_s7207" name="Equation" r:id="rId13" imgW="1917360" imgH="393480" progId="Equation.DSMT4">
                  <p:embed/>
                </p:oleObj>
              </mc:Choice>
              <mc:Fallback>
                <p:oleObj name="Equation" r:id="rId13" imgW="1917360" imgH="393480" progId="Equation.DSMT4">
                  <p:embed/>
                  <p:pic>
                    <p:nvPicPr>
                      <p:cNvPr id="77835" name="对象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43068" y="4284663"/>
                        <a:ext cx="2513013"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7836" name="对象 13"/>
          <p:cNvGraphicFramePr>
            <a:graphicFrameLocks noChangeAspect="1"/>
          </p:cNvGraphicFramePr>
          <p:nvPr/>
        </p:nvGraphicFramePr>
        <p:xfrm>
          <a:off x="4298951" y="4241801"/>
          <a:ext cx="3211513" cy="569913"/>
        </p:xfrm>
        <a:graphic>
          <a:graphicData uri="http://schemas.openxmlformats.org/presentationml/2006/ole">
            <mc:AlternateContent xmlns:mc="http://schemas.openxmlformats.org/markup-compatibility/2006">
              <mc:Choice xmlns:v="urn:schemas-microsoft-com:vml" Requires="v">
                <p:oleObj spid="_x0000_s7208" name="Equation" r:id="rId15" imgW="2450880" imgH="431640" progId="Equation.DSMT4">
                  <p:embed/>
                </p:oleObj>
              </mc:Choice>
              <mc:Fallback>
                <p:oleObj name="Equation" r:id="rId15" imgW="2450880" imgH="431640" progId="Equation.DSMT4">
                  <p:embed/>
                  <p:pic>
                    <p:nvPicPr>
                      <p:cNvPr id="77836" name="对象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98951" y="4241801"/>
                        <a:ext cx="32115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下箭头 14"/>
          <p:cNvSpPr/>
          <p:nvPr/>
        </p:nvSpPr>
        <p:spPr bwMode="auto">
          <a:xfrm>
            <a:off x="5522913" y="3794125"/>
            <a:ext cx="381000" cy="395288"/>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77838" name="对象 15"/>
          <p:cNvGraphicFramePr>
            <a:graphicFrameLocks noChangeAspect="1"/>
          </p:cNvGraphicFramePr>
          <p:nvPr/>
        </p:nvGraphicFramePr>
        <p:xfrm>
          <a:off x="4022726" y="5160964"/>
          <a:ext cx="4759325" cy="1106487"/>
        </p:xfrm>
        <a:graphic>
          <a:graphicData uri="http://schemas.openxmlformats.org/presentationml/2006/ole">
            <mc:AlternateContent xmlns:mc="http://schemas.openxmlformats.org/markup-compatibility/2006">
              <mc:Choice xmlns:v="urn:schemas-microsoft-com:vml" Requires="v">
                <p:oleObj spid="_x0000_s7209" name="Equation" r:id="rId17" imgW="3632040" imgH="838080" progId="Equation.DSMT4">
                  <p:embed/>
                </p:oleObj>
              </mc:Choice>
              <mc:Fallback>
                <p:oleObj name="Equation" r:id="rId17" imgW="3632040" imgH="838080" progId="Equation.DSMT4">
                  <p:embed/>
                  <p:pic>
                    <p:nvPicPr>
                      <p:cNvPr id="77838" name="对象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22726" y="5160964"/>
                        <a:ext cx="4759325" cy="110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下箭头 16"/>
          <p:cNvSpPr/>
          <p:nvPr/>
        </p:nvSpPr>
        <p:spPr bwMode="auto">
          <a:xfrm>
            <a:off x="5522913" y="4764089"/>
            <a:ext cx="381000" cy="396875"/>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77840" name="矩形 17"/>
          <p:cNvSpPr>
            <a:spLocks noChangeArrowheads="1"/>
          </p:cNvSpPr>
          <p:nvPr/>
        </p:nvSpPr>
        <p:spPr bwMode="auto">
          <a:xfrm>
            <a:off x="6539709" y="5860482"/>
            <a:ext cx="1293812"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dirty="0">
                <a:solidFill>
                  <a:srgbClr val="000000"/>
                </a:solidFill>
                <a:latin typeface="Times New Roman" panose="02020603050405020304" pitchFamily="18" charset="0"/>
                <a:ea typeface="微软雅黑" panose="020B0503020204020204" pitchFamily="34" charset="-122"/>
              </a:rPr>
              <a:t>Fourier</a:t>
            </a:r>
            <a:r>
              <a:rPr lang="zh-CN" altLang="en-US" sz="1400" b="1" dirty="0">
                <a:solidFill>
                  <a:srgbClr val="000000"/>
                </a:solidFill>
                <a:latin typeface="Times New Roman" panose="02020603050405020304" pitchFamily="18" charset="0"/>
                <a:ea typeface="微软雅黑" panose="020B0503020204020204" pitchFamily="34" charset="-122"/>
              </a:rPr>
              <a:t>变换</a:t>
            </a:r>
            <a:endParaRPr lang="en-US" altLang="zh-CN" sz="1400" b="1" dirty="0">
              <a:solidFill>
                <a:srgbClr val="000000"/>
              </a:solidFill>
              <a:latin typeface="Times New Roman" panose="02020603050405020304" pitchFamily="18" charset="0"/>
              <a:ea typeface="微软雅黑" panose="020B0503020204020204" pitchFamily="34" charset="-122"/>
            </a:endParaRPr>
          </a:p>
        </p:txBody>
      </p:sp>
      <p:sp>
        <p:nvSpPr>
          <p:cNvPr id="77841" name="矩形 18"/>
          <p:cNvSpPr>
            <a:spLocks noChangeArrowheads="1"/>
          </p:cNvSpPr>
          <p:nvPr/>
        </p:nvSpPr>
        <p:spPr bwMode="auto">
          <a:xfrm>
            <a:off x="8782051" y="5264150"/>
            <a:ext cx="148431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a:solidFill>
                  <a:srgbClr val="000000"/>
                </a:solidFill>
                <a:latin typeface="Times New Roman" panose="02020603050405020304" pitchFamily="18" charset="0"/>
                <a:ea typeface="微软雅黑" panose="020B0503020204020204" pitchFamily="34" charset="-122"/>
              </a:rPr>
              <a:t>Fourier</a:t>
            </a:r>
            <a:r>
              <a:rPr lang="zh-CN" altLang="en-US" sz="1400" b="1">
                <a:solidFill>
                  <a:srgbClr val="000000"/>
                </a:solidFill>
                <a:latin typeface="Times New Roman" panose="02020603050405020304" pitchFamily="18" charset="0"/>
                <a:ea typeface="微软雅黑" panose="020B0503020204020204" pitchFamily="34" charset="-122"/>
              </a:rPr>
              <a:t>反变换</a:t>
            </a:r>
            <a:endParaRPr lang="en-US" altLang="zh-CN" sz="1400" b="1">
              <a:solidFill>
                <a:srgbClr val="000000"/>
              </a:solidFill>
              <a:latin typeface="Times New Roman" panose="02020603050405020304" pitchFamily="18" charset="0"/>
              <a:ea typeface="微软雅黑" panose="020B0503020204020204" pitchFamily="34" charset="-122"/>
            </a:endParaRPr>
          </a:p>
        </p:txBody>
      </p:sp>
      <p:sp>
        <p:nvSpPr>
          <p:cNvPr id="77842" name="矩形 19"/>
          <p:cNvSpPr>
            <a:spLocks noChangeArrowheads="1"/>
          </p:cNvSpPr>
          <p:nvPr/>
        </p:nvSpPr>
        <p:spPr bwMode="auto">
          <a:xfrm>
            <a:off x="8221664" y="6057902"/>
            <a:ext cx="307737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a:solidFill>
                  <a:srgbClr val="000000"/>
                </a:solidFill>
                <a:latin typeface="Times New Roman" panose="02020603050405020304" pitchFamily="18" charset="0"/>
                <a:ea typeface="微软雅黑" panose="020B0503020204020204" pitchFamily="34" charset="-122"/>
              </a:rPr>
              <a:t>是能量在频域</a:t>
            </a:r>
            <a:r>
              <a:rPr lang="zh-CN" altLang="en-US" sz="1400" b="1">
                <a:solidFill>
                  <a:srgbClr val="FF0000"/>
                </a:solidFill>
                <a:latin typeface="Times New Roman" panose="02020603050405020304" pitchFamily="18" charset="0"/>
                <a:ea typeface="微软雅黑" panose="020B0503020204020204" pitchFamily="34" charset="-122"/>
              </a:rPr>
              <a:t>密度</a:t>
            </a:r>
            <a:r>
              <a:rPr lang="zh-CN" altLang="en-US" sz="1400" b="1">
                <a:solidFill>
                  <a:srgbClr val="000000"/>
                </a:solidFill>
                <a:latin typeface="Times New Roman" panose="02020603050405020304" pitchFamily="18" charset="0"/>
                <a:ea typeface="微软雅黑" panose="020B0503020204020204" pitchFamily="34" charset="-122"/>
              </a:rPr>
              <a:t>的反映，与</a:t>
            </a:r>
            <a:r>
              <a:rPr lang="en-US" altLang="zh-CN" sz="1400" b="1">
                <a:solidFill>
                  <a:srgbClr val="000000"/>
                </a:solidFill>
                <a:latin typeface="Times New Roman" panose="02020603050405020304" pitchFamily="18" charset="0"/>
                <a:ea typeface="微软雅黑" panose="020B0503020204020204" pitchFamily="34" charset="-122"/>
              </a:rPr>
              <a:t>FS</a:t>
            </a:r>
            <a:r>
              <a:rPr lang="zh-CN" altLang="en-US" sz="1400" b="1">
                <a:solidFill>
                  <a:srgbClr val="000000"/>
                </a:solidFill>
                <a:latin typeface="Times New Roman" panose="02020603050405020304" pitchFamily="18" charset="0"/>
                <a:ea typeface="微软雅黑" panose="020B0503020204020204" pitchFamily="34" charset="-122"/>
              </a:rPr>
              <a:t>系数为能量</a:t>
            </a:r>
            <a:r>
              <a:rPr lang="zh-CN" altLang="en-US" sz="1400" b="1">
                <a:solidFill>
                  <a:srgbClr val="FF0000"/>
                </a:solidFill>
                <a:latin typeface="Times New Roman" panose="02020603050405020304" pitchFamily="18" charset="0"/>
                <a:ea typeface="微软雅黑" panose="020B0503020204020204" pitchFamily="34" charset="-122"/>
              </a:rPr>
              <a:t>强度</a:t>
            </a:r>
            <a:r>
              <a:rPr lang="zh-CN" altLang="en-US" sz="1400" b="1">
                <a:solidFill>
                  <a:srgbClr val="000000"/>
                </a:solidFill>
                <a:latin typeface="Times New Roman" panose="02020603050405020304" pitchFamily="18" charset="0"/>
                <a:ea typeface="微软雅黑" panose="020B0503020204020204" pitchFamily="34" charset="-122"/>
              </a:rPr>
              <a:t>在频域的反映略有区别</a:t>
            </a:r>
            <a:endParaRPr lang="en-US" altLang="zh-CN" sz="1400" b="1">
              <a:solidFill>
                <a:srgbClr val="000000"/>
              </a:solidFill>
              <a:latin typeface="Times New Roman" panose="02020603050405020304" pitchFamily="18" charset="0"/>
              <a:ea typeface="微软雅黑" panose="020B0503020204020204" pitchFamily="34" charset="-122"/>
            </a:endParaRPr>
          </a:p>
        </p:txBody>
      </p:sp>
      <p:sp>
        <p:nvSpPr>
          <p:cNvPr id="21" name="椭圆 20"/>
          <p:cNvSpPr/>
          <p:nvPr/>
        </p:nvSpPr>
        <p:spPr bwMode="auto">
          <a:xfrm>
            <a:off x="7943850" y="5160963"/>
            <a:ext cx="552450" cy="552450"/>
          </a:xfrm>
          <a:prstGeom prst="ellipse">
            <a:avLst/>
          </a:prstGeom>
          <a:noFill/>
          <a:ln w="19050" cap="flat" cmpd="sng" algn="ctr">
            <a:solidFill>
              <a:srgbClr val="000000"/>
            </a:solidFill>
            <a:prstDash val="sysDash"/>
            <a:round/>
            <a:headEnd type="none" w="med" len="med"/>
            <a:tailEnd type="none" w="med" len="med"/>
          </a:ln>
          <a:effectLs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cxnSp>
        <p:nvCxnSpPr>
          <p:cNvPr id="77844" name="直接箭头连接符 21"/>
          <p:cNvCxnSpPr>
            <a:cxnSpLocks noChangeShapeType="1"/>
            <a:stCxn id="21" idx="5"/>
          </p:cNvCxnSpPr>
          <p:nvPr/>
        </p:nvCxnSpPr>
        <p:spPr bwMode="auto">
          <a:xfrm>
            <a:off x="8415338" y="5632451"/>
            <a:ext cx="366712" cy="365125"/>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845" name="直接箭头连接符 22"/>
          <p:cNvCxnSpPr>
            <a:cxnSpLocks noChangeShapeType="1"/>
          </p:cNvCxnSpPr>
          <p:nvPr/>
        </p:nvCxnSpPr>
        <p:spPr bwMode="auto">
          <a:xfrm flipH="1" flipV="1">
            <a:off x="7837489" y="6378477"/>
            <a:ext cx="357188" cy="6349"/>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7846" name="矩形 23"/>
          <p:cNvSpPr>
            <a:spLocks noChangeArrowheads="1"/>
          </p:cNvSpPr>
          <p:nvPr/>
        </p:nvSpPr>
        <p:spPr bwMode="auto">
          <a:xfrm>
            <a:off x="889000" y="6191250"/>
            <a:ext cx="70548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dirty="0">
                <a:solidFill>
                  <a:srgbClr val="000000"/>
                </a:solidFill>
                <a:latin typeface="Times New Roman" panose="02020603050405020304" pitchFamily="18" charset="0"/>
                <a:ea typeface="微软雅黑" panose="020B0503020204020204" pitchFamily="34" charset="-122"/>
              </a:rPr>
              <a:t>高峰值频率处对应高能量密度，</a:t>
            </a:r>
            <a:r>
              <a:rPr lang="zh-CN" altLang="en-US" sz="1400" b="1" dirty="0">
                <a:solidFill>
                  <a:srgbClr val="FF0000"/>
                </a:solidFill>
                <a:latin typeface="Times New Roman" panose="02020603050405020304" pitchFamily="18" charset="0"/>
                <a:ea typeface="微软雅黑" panose="020B0503020204020204" pitchFamily="34" charset="-122"/>
              </a:rPr>
              <a:t>抽取主导频率成分</a:t>
            </a:r>
            <a:r>
              <a:rPr lang="zh-CN" altLang="en-US" sz="1400" dirty="0">
                <a:solidFill>
                  <a:srgbClr val="000000"/>
                </a:solidFill>
                <a:latin typeface="Times New Roman" panose="02020603050405020304" pitchFamily="18" charset="0"/>
                <a:ea typeface="微软雅黑" panose="020B0503020204020204" pitchFamily="34" charset="-122"/>
              </a:rPr>
              <a:t>，非周期信号往往是宽频信号，没有主导峰值</a:t>
            </a:r>
            <a:endParaRPr lang="en-US" altLang="zh-CN" sz="1400" dirty="0">
              <a:solidFill>
                <a:srgbClr val="000000"/>
              </a:solidFill>
              <a:latin typeface="Times New Roman" panose="02020603050405020304" pitchFamily="18" charset="0"/>
              <a:ea typeface="微软雅黑" panose="020B0503020204020204" pitchFamily="34" charset="-122"/>
            </a:endParaRPr>
          </a:p>
        </p:txBody>
      </p:sp>
      <p:sp>
        <p:nvSpPr>
          <p:cNvPr id="23" name="矩形 3"/>
          <p:cNvSpPr>
            <a:spLocks noChangeArrowheads="1"/>
          </p:cNvSpPr>
          <p:nvPr/>
        </p:nvSpPr>
        <p:spPr bwMode="auto">
          <a:xfrm>
            <a:off x="672916" y="1384302"/>
            <a:ext cx="4647426" cy="400110"/>
          </a:xfrm>
          <a:prstGeom prst="rect">
            <a:avLst/>
          </a:prstGeom>
          <a:noFill/>
          <a:extLst/>
        </p:spPr>
        <p:txBody>
          <a:bodyPr wrap="square" rtlCol="0">
            <a:spAutoFit/>
          </a:bodyPr>
          <a:lstStyle/>
          <a:p>
            <a:r>
              <a:rPr lang="zh-CN" altLang="en-US" sz="2000" dirty="0">
                <a:latin typeface="华文细黑" panose="02010600040101010101" pitchFamily="2" charset="-122"/>
                <a:ea typeface="华文细黑" panose="02010600040101010101" pitchFamily="2" charset="-122"/>
              </a:rPr>
              <a:t>连续时间域的</a:t>
            </a:r>
            <a:r>
              <a:rPr lang="en-US" altLang="zh-CN" sz="2000" dirty="0">
                <a:latin typeface="华文细黑" panose="02010600040101010101" pitchFamily="2" charset="-122"/>
                <a:ea typeface="华文细黑" panose="02010600040101010101" pitchFamily="2" charset="-122"/>
              </a:rPr>
              <a:t>Fourier</a:t>
            </a:r>
            <a:r>
              <a:rPr lang="zh-CN" altLang="en-US" sz="2000" dirty="0">
                <a:latin typeface="华文细黑" panose="02010600040101010101" pitchFamily="2" charset="-122"/>
                <a:ea typeface="华文细黑" panose="02010600040101010101" pitchFamily="2" charset="-122"/>
              </a:rPr>
              <a:t>级数与</a:t>
            </a:r>
            <a:r>
              <a:rPr lang="en-US" altLang="zh-CN" sz="2000" dirty="0">
                <a:latin typeface="华文细黑" panose="02010600040101010101" pitchFamily="2" charset="-122"/>
                <a:ea typeface="华文细黑" panose="02010600040101010101" pitchFamily="2" charset="-122"/>
              </a:rPr>
              <a:t>Fourier</a:t>
            </a:r>
            <a:r>
              <a:rPr lang="zh-CN" altLang="en-US" sz="2000" dirty="0">
                <a:latin typeface="华文细黑" panose="02010600040101010101" pitchFamily="2" charset="-122"/>
                <a:ea typeface="华文细黑" panose="02010600040101010101" pitchFamily="2" charset="-122"/>
              </a:rPr>
              <a:t>变换</a:t>
            </a:r>
            <a:endParaRPr lang="en-US" altLang="zh-CN" sz="2000" dirty="0">
              <a:latin typeface="华文细黑" panose="02010600040101010101" pitchFamily="2" charset="-122"/>
              <a:ea typeface="华文细黑" panose="02010600040101010101" pitchFamily="2" charset="-122"/>
            </a:endParaRPr>
          </a:p>
        </p:txBody>
      </p:sp>
      <p:sp>
        <p:nvSpPr>
          <p:cNvPr id="25" name="文本框 24"/>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32</a:t>
            </a:fld>
            <a:endParaRPr lang="zh-CN" altLang="en-US"/>
          </a:p>
        </p:txBody>
      </p:sp>
    </p:spTree>
    <p:extLst>
      <p:ext uri="{BB962C8B-B14F-4D97-AF65-F5344CB8AC3E}">
        <p14:creationId xmlns:p14="http://schemas.microsoft.com/office/powerpoint/2010/main" val="29135438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文本框 4"/>
          <p:cNvSpPr txBox="1">
            <a:spLocks noChangeArrowheads="1"/>
          </p:cNvSpPr>
          <p:nvPr/>
        </p:nvSpPr>
        <p:spPr bwMode="auto">
          <a:xfrm>
            <a:off x="716756" y="1775771"/>
            <a:ext cx="4732338"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a:lnSpc>
                <a:spcPct val="120000"/>
              </a:lnSpc>
              <a:buFont typeface="Arial" panose="020B0604020202020204" pitchFamily="34" charset="0"/>
              <a:buChar char="•"/>
              <a:defRPr sz="1600">
                <a:solidFill>
                  <a:srgbClr val="00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zh-CN" altLang="en-US" dirty="0"/>
              <a:t>利用</a:t>
            </a:r>
            <a:r>
              <a:rPr lang="en-US" altLang="zh-CN" dirty="0"/>
              <a:t>Dirac δ</a:t>
            </a:r>
            <a:r>
              <a:rPr lang="zh-CN" altLang="en-US" dirty="0"/>
              <a:t>函数对周期信号做</a:t>
            </a:r>
            <a:r>
              <a:rPr lang="en-US" altLang="zh-CN" dirty="0"/>
              <a:t>Fourier</a:t>
            </a:r>
            <a:r>
              <a:rPr lang="zh-CN" altLang="en-US" dirty="0"/>
              <a:t>变换</a:t>
            </a:r>
            <a:endParaRPr lang="en-US" altLang="zh-CN" dirty="0"/>
          </a:p>
        </p:txBody>
      </p:sp>
      <p:graphicFrame>
        <p:nvGraphicFramePr>
          <p:cNvPr id="78852" name="对象 5"/>
          <p:cNvGraphicFramePr>
            <a:graphicFrameLocks noChangeAspect="1"/>
          </p:cNvGraphicFramePr>
          <p:nvPr>
            <p:extLst/>
          </p:nvPr>
        </p:nvGraphicFramePr>
        <p:xfrm>
          <a:off x="4340623" y="3632647"/>
          <a:ext cx="1727200" cy="508000"/>
        </p:xfrm>
        <a:graphic>
          <a:graphicData uri="http://schemas.openxmlformats.org/presentationml/2006/ole">
            <mc:AlternateContent xmlns:mc="http://schemas.openxmlformats.org/markup-compatibility/2006">
              <mc:Choice xmlns:v="urn:schemas-microsoft-com:vml" Requires="v">
                <p:oleObj spid="_x0000_s8210" name="Equation" r:id="rId3" imgW="1346040" imgH="393480" progId="Equation.DSMT4">
                  <p:embed/>
                </p:oleObj>
              </mc:Choice>
              <mc:Fallback>
                <p:oleObj name="Equation" r:id="rId3" imgW="1346040" imgH="393480" progId="Equation.DSMT4">
                  <p:embed/>
                  <p:pic>
                    <p:nvPicPr>
                      <p:cNvPr id="78852"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0623" y="3632647"/>
                        <a:ext cx="17272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8853" name="对象 6"/>
          <p:cNvGraphicFramePr>
            <a:graphicFrameLocks noChangeAspect="1"/>
          </p:cNvGraphicFramePr>
          <p:nvPr>
            <p:extLst/>
          </p:nvPr>
        </p:nvGraphicFramePr>
        <p:xfrm>
          <a:off x="4465639" y="2127478"/>
          <a:ext cx="1247775" cy="803275"/>
        </p:xfrm>
        <a:graphic>
          <a:graphicData uri="http://schemas.openxmlformats.org/presentationml/2006/ole">
            <mc:AlternateContent xmlns:mc="http://schemas.openxmlformats.org/markup-compatibility/2006">
              <mc:Choice xmlns:v="urn:schemas-microsoft-com:vml" Requires="v">
                <p:oleObj spid="_x0000_s8211" name="Equation" r:id="rId5" imgW="952200" imgH="609480" progId="Equation.DSMT4">
                  <p:embed/>
                </p:oleObj>
              </mc:Choice>
              <mc:Fallback>
                <p:oleObj name="Equation" r:id="rId5" imgW="952200" imgH="609480" progId="Equation.DSMT4">
                  <p:embed/>
                  <p:pic>
                    <p:nvPicPr>
                      <p:cNvPr id="78853"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5639" y="2127478"/>
                        <a:ext cx="124777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8854" name="图片 7"/>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196410" y="1373538"/>
            <a:ext cx="2814733" cy="211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5" name="文本框 8"/>
          <p:cNvSpPr txBox="1">
            <a:spLocks noChangeArrowheads="1"/>
          </p:cNvSpPr>
          <p:nvPr/>
        </p:nvSpPr>
        <p:spPr bwMode="auto">
          <a:xfrm>
            <a:off x="746919" y="2954338"/>
            <a:ext cx="217170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a:lnSpc>
                <a:spcPct val="120000"/>
              </a:lnSpc>
              <a:buFont typeface="Arial" panose="020B0604020202020204" pitchFamily="34" charset="0"/>
              <a:buChar char="•"/>
              <a:defRPr sz="1600">
                <a:solidFill>
                  <a:srgbClr val="00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zh-CN" altLang="en-US" dirty="0"/>
              <a:t>以余弦信号为例</a:t>
            </a:r>
            <a:endParaRPr lang="en-US" altLang="zh-CN" dirty="0"/>
          </a:p>
        </p:txBody>
      </p:sp>
      <p:graphicFrame>
        <p:nvGraphicFramePr>
          <p:cNvPr id="78856" name="对象 9"/>
          <p:cNvGraphicFramePr>
            <a:graphicFrameLocks noChangeAspect="1"/>
          </p:cNvGraphicFramePr>
          <p:nvPr>
            <p:extLst/>
          </p:nvPr>
        </p:nvGraphicFramePr>
        <p:xfrm>
          <a:off x="1640287" y="3694561"/>
          <a:ext cx="1271587" cy="327025"/>
        </p:xfrm>
        <a:graphic>
          <a:graphicData uri="http://schemas.openxmlformats.org/presentationml/2006/ole">
            <mc:AlternateContent xmlns:mc="http://schemas.openxmlformats.org/markup-compatibility/2006">
              <mc:Choice xmlns:v="urn:schemas-microsoft-com:vml" Requires="v">
                <p:oleObj spid="_x0000_s8212" name="Equation" r:id="rId8" imgW="990360" imgH="253800" progId="Equation.DSMT4">
                  <p:embed/>
                </p:oleObj>
              </mc:Choice>
              <mc:Fallback>
                <p:oleObj name="Equation" r:id="rId8" imgW="990360" imgH="253800" progId="Equation.DSMT4">
                  <p:embed/>
                  <p:pic>
                    <p:nvPicPr>
                      <p:cNvPr id="78856"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40287" y="3694561"/>
                        <a:ext cx="127158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下箭头 10"/>
          <p:cNvSpPr/>
          <p:nvPr/>
        </p:nvSpPr>
        <p:spPr bwMode="auto">
          <a:xfrm rot="16200000">
            <a:off x="3423049" y="3688210"/>
            <a:ext cx="381000" cy="396875"/>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78858" name="矩形 11"/>
          <p:cNvSpPr>
            <a:spLocks noChangeArrowheads="1"/>
          </p:cNvSpPr>
          <p:nvPr/>
        </p:nvSpPr>
        <p:spPr bwMode="auto">
          <a:xfrm>
            <a:off x="3099199" y="3342136"/>
            <a:ext cx="113982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a:solidFill>
                  <a:srgbClr val="000000"/>
                </a:solidFill>
                <a:latin typeface="Times New Roman" panose="02020603050405020304" pitchFamily="18" charset="0"/>
                <a:ea typeface="微软雅黑" panose="020B0503020204020204" pitchFamily="34" charset="-122"/>
              </a:rPr>
              <a:t>Fourier</a:t>
            </a:r>
            <a:r>
              <a:rPr lang="zh-CN" altLang="en-US" sz="1400" b="1">
                <a:solidFill>
                  <a:srgbClr val="000000"/>
                </a:solidFill>
                <a:latin typeface="Times New Roman" panose="02020603050405020304" pitchFamily="18" charset="0"/>
                <a:ea typeface="微软雅黑" panose="020B0503020204020204" pitchFamily="34" charset="-122"/>
              </a:rPr>
              <a:t>级数</a:t>
            </a:r>
            <a:endParaRPr lang="en-US" altLang="zh-CN" sz="1400" b="1">
              <a:solidFill>
                <a:srgbClr val="000000"/>
              </a:solidFill>
              <a:latin typeface="Times New Roman" panose="02020603050405020304" pitchFamily="18" charset="0"/>
              <a:ea typeface="微软雅黑" panose="020B0503020204020204" pitchFamily="34" charset="-122"/>
            </a:endParaRPr>
          </a:p>
        </p:txBody>
      </p:sp>
      <p:graphicFrame>
        <p:nvGraphicFramePr>
          <p:cNvPr id="78859" name="对象 12"/>
          <p:cNvGraphicFramePr>
            <a:graphicFrameLocks noChangeAspect="1"/>
          </p:cNvGraphicFramePr>
          <p:nvPr>
            <p:extLst/>
          </p:nvPr>
        </p:nvGraphicFramePr>
        <p:xfrm>
          <a:off x="2522936" y="5211838"/>
          <a:ext cx="4692650" cy="1049337"/>
        </p:xfrm>
        <a:graphic>
          <a:graphicData uri="http://schemas.openxmlformats.org/presentationml/2006/ole">
            <mc:AlternateContent xmlns:mc="http://schemas.openxmlformats.org/markup-compatibility/2006">
              <mc:Choice xmlns:v="urn:schemas-microsoft-com:vml" Requires="v">
                <p:oleObj spid="_x0000_s8213" name="Equation" r:id="rId10" imgW="3657600" imgH="812520" progId="Equation.DSMT4">
                  <p:embed/>
                </p:oleObj>
              </mc:Choice>
              <mc:Fallback>
                <p:oleObj name="Equation" r:id="rId10" imgW="3657600" imgH="812520" progId="Equation.DSMT4">
                  <p:embed/>
                  <p:pic>
                    <p:nvPicPr>
                      <p:cNvPr id="78859" name="对象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2936" y="5211838"/>
                        <a:ext cx="4692650" cy="104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下箭头 13"/>
          <p:cNvSpPr/>
          <p:nvPr/>
        </p:nvSpPr>
        <p:spPr bwMode="auto">
          <a:xfrm>
            <a:off x="4888541" y="4580604"/>
            <a:ext cx="381000" cy="396875"/>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78861" name="矩形 14"/>
          <p:cNvSpPr>
            <a:spLocks noChangeArrowheads="1"/>
          </p:cNvSpPr>
          <p:nvPr/>
        </p:nvSpPr>
        <p:spPr bwMode="auto">
          <a:xfrm>
            <a:off x="5320342" y="4602828"/>
            <a:ext cx="13366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a:solidFill>
                  <a:srgbClr val="000000"/>
                </a:solidFill>
                <a:latin typeface="Times New Roman" panose="02020603050405020304" pitchFamily="18" charset="0"/>
                <a:ea typeface="微软雅黑" panose="020B0503020204020204" pitchFamily="34" charset="-122"/>
              </a:rPr>
              <a:t>“Fourier</a:t>
            </a:r>
            <a:r>
              <a:rPr lang="zh-CN" altLang="en-US" sz="1400" b="1">
                <a:solidFill>
                  <a:srgbClr val="000000"/>
                </a:solidFill>
                <a:latin typeface="Times New Roman" panose="02020603050405020304" pitchFamily="18" charset="0"/>
                <a:ea typeface="微软雅黑" panose="020B0503020204020204" pitchFamily="34" charset="-122"/>
              </a:rPr>
              <a:t>变换</a:t>
            </a:r>
            <a:r>
              <a:rPr lang="en-US" altLang="zh-CN" sz="1400" b="1">
                <a:solidFill>
                  <a:srgbClr val="000000"/>
                </a:solidFill>
                <a:latin typeface="Times New Roman" panose="02020603050405020304" pitchFamily="18" charset="0"/>
                <a:ea typeface="微软雅黑" panose="020B0503020204020204" pitchFamily="34" charset="-122"/>
              </a:rPr>
              <a:t>”</a:t>
            </a:r>
          </a:p>
        </p:txBody>
      </p:sp>
      <p:pic>
        <p:nvPicPr>
          <p:cNvPr id="78862" name="图片 15"/>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469711" y="3829151"/>
            <a:ext cx="3393283" cy="292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63" name="图片 16"/>
          <p:cNvPicPr>
            <a:picLocks noChangeAspect="1"/>
          </p:cNvPicPr>
          <p:nvPr/>
        </p:nvPicPr>
        <p:blipFill rotWithShape="1">
          <a:blip r:embed="rId13" cstate="print">
            <a:extLst>
              <a:ext uri="{28A0092B-C50C-407E-A947-70E740481C1C}">
                <a14:useLocalDpi xmlns:a14="http://schemas.microsoft.com/office/drawing/2010/main" val="0"/>
              </a:ext>
            </a:extLst>
          </a:blip>
          <a:srcRect t="4553"/>
          <a:stretch/>
        </p:blipFill>
        <p:spPr bwMode="auto">
          <a:xfrm>
            <a:off x="8966297" y="1427018"/>
            <a:ext cx="2620961" cy="203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64" name="矩形 17"/>
          <p:cNvSpPr>
            <a:spLocks noChangeArrowheads="1"/>
          </p:cNvSpPr>
          <p:nvPr/>
        </p:nvSpPr>
        <p:spPr bwMode="auto">
          <a:xfrm>
            <a:off x="9268119" y="3457228"/>
            <a:ext cx="20621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dirty="0">
                <a:solidFill>
                  <a:srgbClr val="000000"/>
                </a:solidFill>
                <a:latin typeface="Times New Roman" panose="02020603050405020304" pitchFamily="18" charset="0"/>
                <a:ea typeface="微软雅黑" panose="020B0503020204020204" pitchFamily="34" charset="-122"/>
              </a:rPr>
              <a:t>余弦时域信号，</a:t>
            </a:r>
            <a:r>
              <a:rPr lang="en-US" altLang="zh-CN" sz="1400" b="1" dirty="0">
                <a:solidFill>
                  <a:srgbClr val="000000"/>
                </a:solidFill>
                <a:latin typeface="Times New Roman" panose="02020603050405020304" pitchFamily="18" charset="0"/>
                <a:ea typeface="微软雅黑" panose="020B0503020204020204" pitchFamily="34" charset="-122"/>
              </a:rPr>
              <a:t>f=1.5Hz</a:t>
            </a:r>
          </a:p>
        </p:txBody>
      </p:sp>
      <p:sp>
        <p:nvSpPr>
          <p:cNvPr id="78865" name="矩形 18"/>
          <p:cNvSpPr>
            <a:spLocks noChangeArrowheads="1"/>
          </p:cNvSpPr>
          <p:nvPr/>
        </p:nvSpPr>
        <p:spPr bwMode="auto">
          <a:xfrm>
            <a:off x="9634936" y="6507162"/>
            <a:ext cx="1295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dirty="0">
                <a:solidFill>
                  <a:srgbClr val="000000"/>
                </a:solidFill>
                <a:latin typeface="Times New Roman" panose="02020603050405020304" pitchFamily="18" charset="0"/>
                <a:ea typeface="微软雅黑" panose="020B0503020204020204" pitchFamily="34" charset="-122"/>
              </a:rPr>
              <a:t>余弦频域线谱</a:t>
            </a:r>
            <a:endParaRPr lang="en-US" altLang="zh-CN" sz="1400" b="1" dirty="0">
              <a:solidFill>
                <a:srgbClr val="000000"/>
              </a:solidFill>
              <a:latin typeface="Times New Roman" panose="02020603050405020304" pitchFamily="18" charset="0"/>
              <a:ea typeface="微软雅黑" panose="020B0503020204020204" pitchFamily="34" charset="-122"/>
            </a:endParaRPr>
          </a:p>
        </p:txBody>
      </p:sp>
      <p:sp>
        <p:nvSpPr>
          <p:cNvPr id="19" name="矩形 3"/>
          <p:cNvSpPr>
            <a:spLocks noChangeArrowheads="1"/>
          </p:cNvSpPr>
          <p:nvPr/>
        </p:nvSpPr>
        <p:spPr bwMode="auto">
          <a:xfrm>
            <a:off x="672916" y="1384302"/>
            <a:ext cx="4647426" cy="400110"/>
          </a:xfrm>
          <a:prstGeom prst="rect">
            <a:avLst/>
          </a:prstGeom>
          <a:noFill/>
          <a:extLst/>
        </p:spPr>
        <p:txBody>
          <a:bodyPr wrap="square" rtlCol="0">
            <a:spAutoFit/>
          </a:bodyPr>
          <a:lstStyle/>
          <a:p>
            <a:r>
              <a:rPr lang="zh-CN" altLang="en-US" sz="2000" dirty="0">
                <a:latin typeface="华文细黑" panose="02010600040101010101" pitchFamily="2" charset="-122"/>
                <a:ea typeface="华文细黑" panose="02010600040101010101" pitchFamily="2" charset="-122"/>
              </a:rPr>
              <a:t>连续时间域的</a:t>
            </a:r>
            <a:r>
              <a:rPr lang="en-US" altLang="zh-CN" sz="2000" dirty="0">
                <a:latin typeface="华文细黑" panose="02010600040101010101" pitchFamily="2" charset="-122"/>
                <a:ea typeface="华文细黑" panose="02010600040101010101" pitchFamily="2" charset="-122"/>
              </a:rPr>
              <a:t>Fourier</a:t>
            </a:r>
            <a:r>
              <a:rPr lang="zh-CN" altLang="en-US" sz="2000" dirty="0">
                <a:latin typeface="华文细黑" panose="02010600040101010101" pitchFamily="2" charset="-122"/>
                <a:ea typeface="华文细黑" panose="02010600040101010101" pitchFamily="2" charset="-122"/>
              </a:rPr>
              <a:t>级数与</a:t>
            </a:r>
            <a:r>
              <a:rPr lang="en-US" altLang="zh-CN" sz="2000" dirty="0">
                <a:latin typeface="华文细黑" panose="02010600040101010101" pitchFamily="2" charset="-122"/>
                <a:ea typeface="华文细黑" panose="02010600040101010101" pitchFamily="2" charset="-122"/>
              </a:rPr>
              <a:t>Fourier</a:t>
            </a:r>
            <a:r>
              <a:rPr lang="zh-CN" altLang="en-US" sz="2000" dirty="0">
                <a:latin typeface="华文细黑" panose="02010600040101010101" pitchFamily="2" charset="-122"/>
                <a:ea typeface="华文细黑" panose="02010600040101010101" pitchFamily="2" charset="-122"/>
              </a:rPr>
              <a:t>变换</a:t>
            </a:r>
            <a:endParaRPr lang="en-US" altLang="zh-CN" sz="2000" dirty="0">
              <a:latin typeface="华文细黑" panose="02010600040101010101" pitchFamily="2" charset="-122"/>
              <a:ea typeface="华文细黑" panose="02010600040101010101" pitchFamily="2" charset="-122"/>
            </a:endParaRPr>
          </a:p>
        </p:txBody>
      </p:sp>
      <p:sp>
        <p:nvSpPr>
          <p:cNvPr id="21" name="矩形 17"/>
          <p:cNvSpPr>
            <a:spLocks noChangeArrowheads="1"/>
          </p:cNvSpPr>
          <p:nvPr/>
        </p:nvSpPr>
        <p:spPr bwMode="auto">
          <a:xfrm>
            <a:off x="6815139" y="3457228"/>
            <a:ext cx="2062162" cy="32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dirty="0" smtClean="0">
                <a:solidFill>
                  <a:srgbClr val="000000"/>
                </a:solidFill>
                <a:latin typeface="Times New Roman" panose="02020603050405020304" pitchFamily="18" charset="0"/>
                <a:ea typeface="微软雅黑" panose="020B0503020204020204" pitchFamily="34" charset="-122"/>
              </a:rPr>
              <a:t>Dirac δ</a:t>
            </a:r>
            <a:r>
              <a:rPr lang="zh-CN" altLang="en-US" sz="1400" b="1" dirty="0" smtClean="0">
                <a:solidFill>
                  <a:srgbClr val="000000"/>
                </a:solidFill>
                <a:latin typeface="Times New Roman" panose="02020603050405020304" pitchFamily="18" charset="0"/>
                <a:ea typeface="微软雅黑" panose="020B0503020204020204" pitchFamily="34" charset="-122"/>
              </a:rPr>
              <a:t>冲击信号函数</a:t>
            </a:r>
            <a:endParaRPr lang="en-US" altLang="zh-CN" sz="1400" b="1" dirty="0">
              <a:solidFill>
                <a:srgbClr val="000000"/>
              </a:solidFill>
              <a:latin typeface="Times New Roman" panose="02020603050405020304" pitchFamily="18" charset="0"/>
              <a:ea typeface="微软雅黑" panose="020B0503020204020204" pitchFamily="34" charset="-122"/>
            </a:endParaRPr>
          </a:p>
        </p:txBody>
      </p:sp>
      <p:sp>
        <p:nvSpPr>
          <p:cNvPr id="22" name="文本框 21"/>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33</a:t>
            </a:fld>
            <a:endParaRPr lang="zh-CN" altLang="en-US"/>
          </a:p>
        </p:txBody>
      </p:sp>
    </p:spTree>
    <p:extLst>
      <p:ext uri="{BB962C8B-B14F-4D97-AF65-F5344CB8AC3E}">
        <p14:creationId xmlns:p14="http://schemas.microsoft.com/office/powerpoint/2010/main" val="23864109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文本框 5"/>
          <p:cNvSpPr txBox="1">
            <a:spLocks noChangeArrowheads="1"/>
          </p:cNvSpPr>
          <p:nvPr/>
        </p:nvSpPr>
        <p:spPr bwMode="auto">
          <a:xfrm>
            <a:off x="4784725" y="1636714"/>
            <a:ext cx="297382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时间抽取基</a:t>
            </a:r>
            <a:r>
              <a:rPr lang="en-US" altLang="zh-CN" dirty="0">
                <a:solidFill>
                  <a:srgbClr val="000000"/>
                </a:solidFill>
                <a:latin typeface="Times New Roman" panose="02020603050405020304" pitchFamily="18" charset="0"/>
                <a:ea typeface="微软雅黑" panose="020B0503020204020204" pitchFamily="34" charset="-122"/>
              </a:rPr>
              <a:t>2</a:t>
            </a:r>
            <a:r>
              <a:rPr lang="zh-CN" altLang="en-US" dirty="0">
                <a:solidFill>
                  <a:srgbClr val="000000"/>
                </a:solidFill>
                <a:latin typeface="Times New Roman" panose="02020603050405020304" pitchFamily="18" charset="0"/>
                <a:ea typeface="微软雅黑" panose="020B0503020204020204" pitchFamily="34" charset="-122"/>
              </a:rPr>
              <a:t>算法</a:t>
            </a:r>
            <a:endParaRPr lang="en-US" altLang="zh-CN" dirty="0">
              <a:solidFill>
                <a:srgbClr val="000000"/>
              </a:solidFill>
              <a:latin typeface="Times New Roman" panose="02020603050405020304" pitchFamily="18" charset="0"/>
              <a:ea typeface="微软雅黑" panose="020B0503020204020204" pitchFamily="34" charset="-122"/>
            </a:endParaRPr>
          </a:p>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频率抽取基</a:t>
            </a:r>
            <a:r>
              <a:rPr lang="en-US" altLang="zh-CN" dirty="0">
                <a:solidFill>
                  <a:srgbClr val="000000"/>
                </a:solidFill>
                <a:latin typeface="Times New Roman" panose="02020603050405020304" pitchFamily="18" charset="0"/>
                <a:ea typeface="微软雅黑" panose="020B0503020204020204" pitchFamily="34" charset="-122"/>
              </a:rPr>
              <a:t>2</a:t>
            </a:r>
            <a:r>
              <a:rPr lang="zh-CN" altLang="en-US" dirty="0">
                <a:solidFill>
                  <a:srgbClr val="000000"/>
                </a:solidFill>
                <a:latin typeface="Times New Roman" panose="02020603050405020304" pitchFamily="18" charset="0"/>
                <a:ea typeface="微软雅黑" panose="020B0503020204020204" pitchFamily="34" charset="-122"/>
              </a:rPr>
              <a:t>算法</a:t>
            </a:r>
            <a:endParaRPr lang="en-US" altLang="zh-CN" dirty="0">
              <a:solidFill>
                <a:srgbClr val="000000"/>
              </a:solidFill>
              <a:latin typeface="Times New Roman" panose="02020603050405020304" pitchFamily="18" charset="0"/>
              <a:ea typeface="微软雅黑" panose="020B0503020204020204" pitchFamily="34" charset="-122"/>
            </a:endParaRPr>
          </a:p>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分裂基（基</a:t>
            </a:r>
            <a:r>
              <a:rPr lang="en-US" altLang="zh-CN" dirty="0">
                <a:solidFill>
                  <a:srgbClr val="000000"/>
                </a:solidFill>
                <a:latin typeface="Times New Roman" panose="02020603050405020304" pitchFamily="18" charset="0"/>
                <a:ea typeface="微软雅黑" panose="020B0503020204020204" pitchFamily="34" charset="-122"/>
              </a:rPr>
              <a:t>4</a:t>
            </a:r>
            <a:r>
              <a:rPr lang="zh-CN" altLang="en-US" dirty="0">
                <a:solidFill>
                  <a:srgbClr val="000000"/>
                </a:solidFill>
                <a:latin typeface="Times New Roman" panose="02020603050405020304" pitchFamily="18" charset="0"/>
                <a:ea typeface="微软雅黑" panose="020B0503020204020204" pitchFamily="34" charset="-122"/>
              </a:rPr>
              <a:t>）算法</a:t>
            </a:r>
            <a:endParaRPr lang="en-US" altLang="zh-CN" dirty="0">
              <a:solidFill>
                <a:srgbClr val="000000"/>
              </a:solidFill>
              <a:latin typeface="Times New Roman" panose="02020603050405020304" pitchFamily="18" charset="0"/>
              <a:ea typeface="微软雅黑" panose="020B0503020204020204" pitchFamily="34" charset="-122"/>
            </a:endParaRPr>
          </a:p>
        </p:txBody>
      </p:sp>
      <p:sp>
        <p:nvSpPr>
          <p:cNvPr id="79877" name="文本框 6"/>
          <p:cNvSpPr txBox="1">
            <a:spLocks noChangeArrowheads="1"/>
          </p:cNvSpPr>
          <p:nvPr/>
        </p:nvSpPr>
        <p:spPr bwMode="auto">
          <a:xfrm>
            <a:off x="745331" y="2725739"/>
            <a:ext cx="10809360"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思想：针对离散信号的</a:t>
            </a:r>
            <a:r>
              <a:rPr lang="en-US" altLang="zh-CN" dirty="0">
                <a:solidFill>
                  <a:srgbClr val="000000"/>
                </a:solidFill>
                <a:latin typeface="Times New Roman" panose="02020603050405020304" pitchFamily="18" charset="0"/>
                <a:ea typeface="微软雅黑" panose="020B0503020204020204" pitchFamily="34" charset="-122"/>
              </a:rPr>
              <a:t>FT</a:t>
            </a:r>
            <a:r>
              <a:rPr lang="zh-CN" altLang="en-US" dirty="0">
                <a:solidFill>
                  <a:srgbClr val="000000"/>
                </a:solidFill>
                <a:latin typeface="Times New Roman" panose="02020603050405020304" pitchFamily="18" charset="0"/>
                <a:ea typeface="微软雅黑" panose="020B0503020204020204" pitchFamily="34" charset="-122"/>
              </a:rPr>
              <a:t>过程中信号点的使用存在一定的规律性，可以实现合理的分层，最终转化为</a:t>
            </a:r>
            <a:r>
              <a:rPr lang="en-US" altLang="zh-CN" dirty="0">
                <a:solidFill>
                  <a:srgbClr val="000000"/>
                </a:solidFill>
                <a:latin typeface="Times New Roman" panose="02020603050405020304" pitchFamily="18" charset="0"/>
                <a:ea typeface="微软雅黑" panose="020B0503020204020204" pitchFamily="34" charset="-122"/>
              </a:rPr>
              <a:t>2</a:t>
            </a:r>
            <a:r>
              <a:rPr lang="zh-CN" altLang="en-US" dirty="0">
                <a:solidFill>
                  <a:srgbClr val="000000"/>
                </a:solidFill>
                <a:latin typeface="Times New Roman" panose="02020603050405020304" pitchFamily="18" charset="0"/>
                <a:ea typeface="微软雅黑" panose="020B0503020204020204" pitchFamily="34" charset="-122"/>
              </a:rPr>
              <a:t>点或</a:t>
            </a:r>
            <a:r>
              <a:rPr lang="en-US" altLang="zh-CN" dirty="0">
                <a:solidFill>
                  <a:srgbClr val="000000"/>
                </a:solidFill>
                <a:latin typeface="Times New Roman" panose="02020603050405020304" pitchFamily="18" charset="0"/>
                <a:ea typeface="微软雅黑" panose="020B0503020204020204" pitchFamily="34" charset="-122"/>
              </a:rPr>
              <a:t>4</a:t>
            </a:r>
            <a:r>
              <a:rPr lang="zh-CN" altLang="en-US" dirty="0">
                <a:solidFill>
                  <a:srgbClr val="000000"/>
                </a:solidFill>
                <a:latin typeface="Times New Roman" panose="02020603050405020304" pitchFamily="18" charset="0"/>
                <a:ea typeface="微软雅黑" panose="020B0503020204020204" pitchFamily="34" charset="-122"/>
              </a:rPr>
              <a:t>点的离散</a:t>
            </a:r>
            <a:r>
              <a:rPr lang="en-US" altLang="zh-CN" dirty="0">
                <a:solidFill>
                  <a:srgbClr val="000000"/>
                </a:solidFill>
                <a:latin typeface="Times New Roman" panose="02020603050405020304" pitchFamily="18" charset="0"/>
                <a:ea typeface="微软雅黑" panose="020B0503020204020204" pitchFamily="34" charset="-122"/>
              </a:rPr>
              <a:t>FT</a:t>
            </a:r>
            <a:r>
              <a:rPr lang="zh-CN" altLang="en-US" dirty="0">
                <a:solidFill>
                  <a:srgbClr val="000000"/>
                </a:solidFill>
                <a:latin typeface="Times New Roman" panose="02020603050405020304" pitchFamily="18" charset="0"/>
                <a:ea typeface="微软雅黑" panose="020B0503020204020204" pitchFamily="34" charset="-122"/>
              </a:rPr>
              <a:t>，大幅缩小计算量</a:t>
            </a:r>
            <a:endParaRPr lang="en-US" altLang="zh-CN" dirty="0">
              <a:solidFill>
                <a:srgbClr val="000000"/>
              </a:solidFill>
              <a:latin typeface="Times New Roman" panose="02020603050405020304" pitchFamily="18" charset="0"/>
              <a:ea typeface="微软雅黑" panose="020B0503020204020204" pitchFamily="34" charset="-122"/>
            </a:endParaRPr>
          </a:p>
        </p:txBody>
      </p:sp>
      <p:pic>
        <p:nvPicPr>
          <p:cNvPr id="79878" name="Picture 7" descr="5-2-2"/>
          <p:cNvPicPr>
            <a:picLocks noChangeAspect="1" noChangeArrowheads="1"/>
          </p:cNvPicPr>
          <p:nvPr/>
        </p:nvPicPr>
        <p:blipFill>
          <a:blip r:embed="rId3">
            <a:extLst>
              <a:ext uri="{28A0092B-C50C-407E-A947-70E740481C1C}">
                <a14:useLocalDpi xmlns:a14="http://schemas.microsoft.com/office/drawing/2010/main" val="0"/>
              </a:ext>
            </a:extLst>
          </a:blip>
          <a:srcRect b="13753"/>
          <a:stretch>
            <a:fillRect/>
          </a:stretch>
        </p:blipFill>
        <p:spPr bwMode="auto">
          <a:xfrm>
            <a:off x="2014105" y="3482976"/>
            <a:ext cx="7697610" cy="2903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9" name="矩形 8"/>
          <p:cNvSpPr>
            <a:spLocks noChangeArrowheads="1"/>
          </p:cNvSpPr>
          <p:nvPr/>
        </p:nvSpPr>
        <p:spPr bwMode="auto">
          <a:xfrm>
            <a:off x="4784725" y="6507163"/>
            <a:ext cx="336073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a:solidFill>
                  <a:srgbClr val="000000"/>
                </a:solidFill>
                <a:latin typeface="Times New Roman" panose="02020603050405020304" pitchFamily="18" charset="0"/>
                <a:ea typeface="微软雅黑" panose="020B0503020204020204" pitchFamily="34" charset="-122"/>
              </a:rPr>
              <a:t>8</a:t>
            </a:r>
            <a:r>
              <a:rPr lang="zh-CN" altLang="en-US" sz="1400" b="1">
                <a:solidFill>
                  <a:srgbClr val="000000"/>
                </a:solidFill>
                <a:latin typeface="Times New Roman" panose="02020603050405020304" pitchFamily="18" charset="0"/>
                <a:ea typeface="微软雅黑" panose="020B0503020204020204" pitchFamily="34" charset="-122"/>
              </a:rPr>
              <a:t>点离散</a:t>
            </a:r>
            <a:r>
              <a:rPr lang="en-US" altLang="zh-CN" sz="1400" b="1">
                <a:solidFill>
                  <a:srgbClr val="000000"/>
                </a:solidFill>
                <a:latin typeface="Times New Roman" panose="02020603050405020304" pitchFamily="18" charset="0"/>
                <a:ea typeface="微软雅黑" panose="020B0503020204020204" pitchFamily="34" charset="-122"/>
              </a:rPr>
              <a:t>FT</a:t>
            </a:r>
            <a:r>
              <a:rPr lang="zh-CN" altLang="en-US" sz="1400" b="1">
                <a:solidFill>
                  <a:srgbClr val="000000"/>
                </a:solidFill>
                <a:latin typeface="Times New Roman" panose="02020603050405020304" pitchFamily="18" charset="0"/>
                <a:ea typeface="微软雅黑" panose="020B0503020204020204" pitchFamily="34" charset="-122"/>
              </a:rPr>
              <a:t>时间抽取基</a:t>
            </a:r>
            <a:r>
              <a:rPr lang="en-US" altLang="zh-CN" sz="1400" b="1">
                <a:solidFill>
                  <a:srgbClr val="000000"/>
                </a:solidFill>
                <a:latin typeface="Times New Roman" panose="02020603050405020304" pitchFamily="18" charset="0"/>
                <a:ea typeface="微软雅黑" panose="020B0503020204020204" pitchFamily="34" charset="-122"/>
              </a:rPr>
              <a:t>2</a:t>
            </a:r>
            <a:r>
              <a:rPr lang="zh-CN" altLang="en-US" sz="1400" b="1">
                <a:solidFill>
                  <a:srgbClr val="000000"/>
                </a:solidFill>
                <a:latin typeface="Times New Roman" panose="02020603050405020304" pitchFamily="18" charset="0"/>
                <a:ea typeface="微软雅黑" panose="020B0503020204020204" pitchFamily="34" charset="-122"/>
              </a:rPr>
              <a:t>算法蝶形分层</a:t>
            </a:r>
            <a:endParaRPr lang="en-US" altLang="zh-CN" sz="1400" b="1">
              <a:solidFill>
                <a:srgbClr val="000000"/>
              </a:solidFill>
              <a:latin typeface="Times New Roman" panose="02020603050405020304" pitchFamily="18" charset="0"/>
              <a:ea typeface="微软雅黑" panose="020B0503020204020204" pitchFamily="34" charset="-122"/>
            </a:endParaRPr>
          </a:p>
        </p:txBody>
      </p:sp>
      <p:graphicFrame>
        <p:nvGraphicFramePr>
          <p:cNvPr id="79880" name="对象 9"/>
          <p:cNvGraphicFramePr>
            <a:graphicFrameLocks noChangeAspect="1"/>
          </p:cNvGraphicFramePr>
          <p:nvPr>
            <p:extLst/>
          </p:nvPr>
        </p:nvGraphicFramePr>
        <p:xfrm>
          <a:off x="10079132" y="4759326"/>
          <a:ext cx="1180141" cy="560819"/>
        </p:xfrm>
        <a:graphic>
          <a:graphicData uri="http://schemas.openxmlformats.org/presentationml/2006/ole">
            <mc:AlternateContent xmlns:mc="http://schemas.openxmlformats.org/markup-compatibility/2006">
              <mc:Choice xmlns:v="urn:schemas-microsoft-com:vml" Requires="v">
                <p:oleObj spid="_x0000_s9222" name="Equation" r:id="rId4" imgW="723600" imgH="342720" progId="Equation.DSMT4">
                  <p:embed/>
                </p:oleObj>
              </mc:Choice>
              <mc:Fallback>
                <p:oleObj name="Equation" r:id="rId4" imgW="723600" imgH="342720" progId="Equation.DSMT4">
                  <p:embed/>
                  <p:pic>
                    <p:nvPicPr>
                      <p:cNvPr id="7988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79132" y="4759326"/>
                        <a:ext cx="1180141" cy="560819"/>
                      </a:xfrm>
                      <a:prstGeom prst="rect">
                        <a:avLst/>
                      </a:prstGeom>
                      <a:solidFill>
                        <a:srgbClr val="FFFF00"/>
                      </a:solidFill>
                      <a:ln>
                        <a:noFill/>
                      </a:ln>
                      <a:extLst/>
                    </p:spPr>
                  </p:pic>
                </p:oleObj>
              </mc:Fallback>
            </mc:AlternateContent>
          </a:graphicData>
        </a:graphic>
      </p:graphicFrame>
      <p:sp>
        <p:nvSpPr>
          <p:cNvPr id="9" name="矩形 3"/>
          <p:cNvSpPr>
            <a:spLocks noChangeArrowheads="1"/>
          </p:cNvSpPr>
          <p:nvPr/>
        </p:nvSpPr>
        <p:spPr bwMode="auto">
          <a:xfrm>
            <a:off x="672916" y="1384302"/>
            <a:ext cx="4647426" cy="400110"/>
          </a:xfrm>
          <a:prstGeom prst="rect">
            <a:avLst/>
          </a:prstGeom>
          <a:noFill/>
          <a:extLst/>
        </p:spPr>
        <p:txBody>
          <a:bodyPr wrap="square" rtlCol="0">
            <a:spAutoFit/>
          </a:bodyPr>
          <a:lstStyle/>
          <a:p>
            <a:r>
              <a:rPr lang="en-US" altLang="zh-CN" sz="2000" dirty="0" smtClean="0">
                <a:latin typeface="华文细黑" panose="02010600040101010101" pitchFamily="2" charset="-122"/>
                <a:ea typeface="华文细黑" panose="02010600040101010101" pitchFamily="2" charset="-122"/>
              </a:rPr>
              <a:t>Fourier</a:t>
            </a:r>
            <a:r>
              <a:rPr lang="zh-CN" altLang="en-US" sz="2000" dirty="0" smtClean="0">
                <a:latin typeface="华文细黑" panose="02010600040101010101" pitchFamily="2" charset="-122"/>
                <a:ea typeface="华文细黑" panose="02010600040101010101" pitchFamily="2" charset="-122"/>
              </a:rPr>
              <a:t>变换快速算法</a:t>
            </a:r>
            <a:r>
              <a:rPr lang="en-US" altLang="zh-CN" sz="2000" dirty="0" smtClean="0">
                <a:latin typeface="华文细黑" panose="02010600040101010101" pitchFamily="2" charset="-122"/>
                <a:ea typeface="华文细黑" panose="02010600040101010101" pitchFamily="2" charset="-122"/>
              </a:rPr>
              <a:t>(FFT)</a:t>
            </a:r>
            <a:endParaRPr lang="en-US" altLang="zh-CN" sz="2000" dirty="0">
              <a:latin typeface="华文细黑" panose="02010600040101010101" pitchFamily="2" charset="-122"/>
              <a:ea typeface="华文细黑" panose="02010600040101010101" pitchFamily="2" charset="-122"/>
            </a:endParaRPr>
          </a:p>
        </p:txBody>
      </p:sp>
      <p:sp>
        <p:nvSpPr>
          <p:cNvPr id="11" name="文本框 10"/>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34</a:t>
            </a:fld>
            <a:endParaRPr lang="zh-CN" altLang="en-US"/>
          </a:p>
        </p:txBody>
      </p:sp>
    </p:spTree>
    <p:extLst>
      <p:ext uri="{BB962C8B-B14F-4D97-AF65-F5344CB8AC3E}">
        <p14:creationId xmlns:p14="http://schemas.microsoft.com/office/powerpoint/2010/main" val="19463570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文本框 5"/>
          <p:cNvSpPr txBox="1">
            <a:spLocks noChangeArrowheads="1"/>
          </p:cNvSpPr>
          <p:nvPr/>
        </p:nvSpPr>
        <p:spPr bwMode="auto">
          <a:xfrm>
            <a:off x="672916" y="1789241"/>
            <a:ext cx="675312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a:lnSpc>
                <a:spcPct val="120000"/>
              </a:lnSpc>
              <a:buFont typeface="Arial" panose="020B0604020202020204" pitchFamily="34" charset="0"/>
              <a:buChar char="•"/>
              <a:defRPr sz="1600">
                <a:solidFill>
                  <a:srgbClr val="00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zh-CN" altLang="en-US" dirty="0"/>
              <a:t>所有有限长的信号都应看作是一无限长的信号和一矩形窗相乘的结果</a:t>
            </a:r>
            <a:endParaRPr lang="en-US" altLang="zh-CN" dirty="0"/>
          </a:p>
        </p:txBody>
      </p:sp>
      <p:graphicFrame>
        <p:nvGraphicFramePr>
          <p:cNvPr id="80901" name="对象 6"/>
          <p:cNvGraphicFramePr>
            <a:graphicFrameLocks noChangeAspect="1"/>
          </p:cNvGraphicFramePr>
          <p:nvPr>
            <p:extLst/>
          </p:nvPr>
        </p:nvGraphicFramePr>
        <p:xfrm>
          <a:off x="4357688" y="2096292"/>
          <a:ext cx="2692400" cy="785813"/>
        </p:xfrm>
        <a:graphic>
          <a:graphicData uri="http://schemas.openxmlformats.org/presentationml/2006/ole">
            <mc:AlternateContent xmlns:mc="http://schemas.openxmlformats.org/markup-compatibility/2006">
              <mc:Choice xmlns:v="urn:schemas-microsoft-com:vml" Requires="v">
                <p:oleObj spid="_x0000_s10262" name="Equation" r:id="rId3" imgW="1663560" imgH="482400" progId="Equation.DSMT4">
                  <p:embed/>
                </p:oleObj>
              </mc:Choice>
              <mc:Fallback>
                <p:oleObj name="Equation" r:id="rId3" imgW="1663560" imgH="482400" progId="Equation.DSMT4">
                  <p:embed/>
                  <p:pic>
                    <p:nvPicPr>
                      <p:cNvPr id="80901"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7688" y="2096292"/>
                        <a:ext cx="26924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02" name="文本框 7"/>
          <p:cNvSpPr txBox="1">
            <a:spLocks noChangeArrowheads="1"/>
          </p:cNvSpPr>
          <p:nvPr/>
        </p:nvSpPr>
        <p:spPr bwMode="auto">
          <a:xfrm>
            <a:off x="7319169" y="2316279"/>
            <a:ext cx="1716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600" dirty="0">
                <a:solidFill>
                  <a:srgbClr val="000000"/>
                </a:solidFill>
                <a:latin typeface="Times New Roman" panose="02020603050405020304" pitchFamily="18" charset="0"/>
                <a:ea typeface="微软雅黑" panose="020B0503020204020204" pitchFamily="34" charset="-122"/>
              </a:rPr>
              <a:t>矩形窗离散信号</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graphicFrame>
        <p:nvGraphicFramePr>
          <p:cNvPr id="80903" name="对象 8"/>
          <p:cNvGraphicFramePr>
            <a:graphicFrameLocks noChangeAspect="1"/>
          </p:cNvGraphicFramePr>
          <p:nvPr>
            <p:extLst/>
          </p:nvPr>
        </p:nvGraphicFramePr>
        <p:xfrm>
          <a:off x="2594449" y="3257693"/>
          <a:ext cx="6987230" cy="811214"/>
        </p:xfrm>
        <a:graphic>
          <a:graphicData uri="http://schemas.openxmlformats.org/presentationml/2006/ole">
            <mc:AlternateContent xmlns:mc="http://schemas.openxmlformats.org/markup-compatibility/2006">
              <mc:Choice xmlns:v="urn:schemas-microsoft-com:vml" Requires="v">
                <p:oleObj spid="_x0000_s10263" name="Equation" r:id="rId5" imgW="4063680" imgH="469800" progId="Equation.DSMT4">
                  <p:embed/>
                </p:oleObj>
              </mc:Choice>
              <mc:Fallback>
                <p:oleObj name="Equation" r:id="rId5" imgW="4063680" imgH="469800" progId="Equation.DSMT4">
                  <p:embed/>
                  <p:pic>
                    <p:nvPicPr>
                      <p:cNvPr id="80903"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4449" y="3257693"/>
                        <a:ext cx="6987230" cy="811214"/>
                      </a:xfrm>
                      <a:prstGeom prst="rect">
                        <a:avLst/>
                      </a:prstGeom>
                      <a:noFill/>
                      <a:ln>
                        <a:noFill/>
                      </a:ln>
                      <a:extLst/>
                    </p:spPr>
                  </p:pic>
                </p:oleObj>
              </mc:Fallback>
            </mc:AlternateContent>
          </a:graphicData>
        </a:graphic>
      </p:graphicFrame>
      <p:sp>
        <p:nvSpPr>
          <p:cNvPr id="10" name="下箭头 9"/>
          <p:cNvSpPr/>
          <p:nvPr/>
        </p:nvSpPr>
        <p:spPr bwMode="auto">
          <a:xfrm>
            <a:off x="5786438" y="2860676"/>
            <a:ext cx="379412" cy="396875"/>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80905" name="文本框 10"/>
          <p:cNvSpPr txBox="1">
            <a:spLocks noChangeArrowheads="1"/>
          </p:cNvSpPr>
          <p:nvPr/>
        </p:nvSpPr>
        <p:spPr bwMode="auto">
          <a:xfrm>
            <a:off x="6275388" y="2879725"/>
            <a:ext cx="1714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600">
                <a:solidFill>
                  <a:srgbClr val="000000"/>
                </a:solidFill>
                <a:latin typeface="Times New Roman" panose="02020603050405020304" pitchFamily="18" charset="0"/>
                <a:ea typeface="微软雅黑" panose="020B0503020204020204" pitchFamily="34" charset="-122"/>
              </a:rPr>
              <a:t>离散傅里叶变换</a:t>
            </a:r>
            <a:endParaRPr lang="en-US" altLang="zh-CN" sz="1600">
              <a:solidFill>
                <a:srgbClr val="000000"/>
              </a:solidFill>
              <a:latin typeface="Times New Roman" panose="02020603050405020304" pitchFamily="18" charset="0"/>
              <a:ea typeface="微软雅黑" panose="020B0503020204020204" pitchFamily="34" charset="-122"/>
            </a:endParaRPr>
          </a:p>
        </p:txBody>
      </p:sp>
      <p:pic>
        <p:nvPicPr>
          <p:cNvPr id="80906"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1325" y="4035426"/>
            <a:ext cx="3460750"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0907" name="对象 12"/>
          <p:cNvGraphicFramePr>
            <a:graphicFrameLocks noChangeAspect="1"/>
          </p:cNvGraphicFramePr>
          <p:nvPr/>
        </p:nvGraphicFramePr>
        <p:xfrm>
          <a:off x="6208713" y="4467225"/>
          <a:ext cx="2220912" cy="763588"/>
        </p:xfrm>
        <a:graphic>
          <a:graphicData uri="http://schemas.openxmlformats.org/presentationml/2006/ole">
            <mc:AlternateContent xmlns:mc="http://schemas.openxmlformats.org/markup-compatibility/2006">
              <mc:Choice xmlns:v="urn:schemas-microsoft-com:vml" Requires="v">
                <p:oleObj spid="_x0000_s10264" name="Equation" r:id="rId8" imgW="1371600" imgH="469800" progId="Equation.DSMT4">
                  <p:embed/>
                </p:oleObj>
              </mc:Choice>
              <mc:Fallback>
                <p:oleObj name="Equation" r:id="rId8" imgW="1371600" imgH="469800" progId="Equation.DSMT4">
                  <p:embed/>
                  <p:pic>
                    <p:nvPicPr>
                      <p:cNvPr id="80907"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08713" y="4467225"/>
                        <a:ext cx="2220912"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08" name="文本框 13"/>
          <p:cNvSpPr txBox="1">
            <a:spLocks noChangeArrowheads="1"/>
          </p:cNvSpPr>
          <p:nvPr/>
        </p:nvSpPr>
        <p:spPr bwMode="auto">
          <a:xfrm>
            <a:off x="8496301" y="4694239"/>
            <a:ext cx="108537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1600" dirty="0" err="1" smtClean="0">
                <a:solidFill>
                  <a:srgbClr val="000000"/>
                </a:solidFill>
                <a:latin typeface="Times New Roman" panose="02020603050405020304" pitchFamily="18" charset="0"/>
                <a:ea typeface="微软雅黑" panose="020B0503020204020204" pitchFamily="34" charset="-122"/>
              </a:rPr>
              <a:t>sin</a:t>
            </a:r>
            <a:r>
              <a:rPr lang="en-US" altLang="zh-CN" sz="1600" i="1" dirty="0" err="1" smtClean="0">
                <a:solidFill>
                  <a:srgbClr val="000000"/>
                </a:solidFill>
                <a:latin typeface="Times New Roman" panose="02020603050405020304" pitchFamily="18" charset="0"/>
                <a:ea typeface="微软雅黑" panose="020B0503020204020204" pitchFamily="34" charset="-122"/>
              </a:rPr>
              <a:t>c</a:t>
            </a:r>
            <a:r>
              <a:rPr lang="en-US" altLang="zh-CN" sz="1600" i="1" dirty="0" smtClean="0">
                <a:solidFill>
                  <a:srgbClr val="000000"/>
                </a:solidFill>
                <a:latin typeface="Times New Roman" panose="02020603050405020304" pitchFamily="18" charset="0"/>
                <a:ea typeface="微软雅黑" panose="020B0503020204020204" pitchFamily="34" charset="-122"/>
              </a:rPr>
              <a:t> </a:t>
            </a:r>
            <a:r>
              <a:rPr lang="zh-CN" altLang="en-US" sz="1600" dirty="0" smtClean="0">
                <a:solidFill>
                  <a:srgbClr val="000000"/>
                </a:solidFill>
                <a:latin typeface="Times New Roman" panose="02020603050405020304" pitchFamily="18" charset="0"/>
                <a:ea typeface="微软雅黑" panose="020B0503020204020204" pitchFamily="34" charset="-122"/>
              </a:rPr>
              <a:t>函数</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sp>
        <p:nvSpPr>
          <p:cNvPr id="15" name="Line 14"/>
          <p:cNvSpPr>
            <a:spLocks noChangeShapeType="1"/>
          </p:cNvSpPr>
          <p:nvPr/>
        </p:nvSpPr>
        <p:spPr bwMode="auto">
          <a:xfrm>
            <a:off x="3057526" y="4881564"/>
            <a:ext cx="904875" cy="14287"/>
          </a:xfrm>
          <a:prstGeom prst="line">
            <a:avLst/>
          </a:prstGeom>
          <a:noFill/>
          <a:ln w="25400">
            <a:solidFill>
              <a:srgbClr val="99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16" name="Line 14"/>
          <p:cNvSpPr>
            <a:spLocks noChangeShapeType="1"/>
          </p:cNvSpPr>
          <p:nvPr/>
        </p:nvSpPr>
        <p:spPr bwMode="auto">
          <a:xfrm>
            <a:off x="3330576" y="6162675"/>
            <a:ext cx="327025" cy="1588"/>
          </a:xfrm>
          <a:prstGeom prst="line">
            <a:avLst/>
          </a:prstGeom>
          <a:noFill/>
          <a:ln w="25400">
            <a:solidFill>
              <a:srgbClr val="99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80911" name="对象 16"/>
          <p:cNvGraphicFramePr>
            <a:graphicFrameLocks noChangeAspect="1"/>
          </p:cNvGraphicFramePr>
          <p:nvPr/>
        </p:nvGraphicFramePr>
        <p:xfrm>
          <a:off x="5308601" y="4148138"/>
          <a:ext cx="390525" cy="639762"/>
        </p:xfrm>
        <a:graphic>
          <a:graphicData uri="http://schemas.openxmlformats.org/presentationml/2006/ole">
            <mc:AlternateContent xmlns:mc="http://schemas.openxmlformats.org/markup-compatibility/2006">
              <mc:Choice xmlns:v="urn:schemas-microsoft-com:vml" Requires="v">
                <p:oleObj spid="_x0000_s10265" name="Equation" r:id="rId10" imgW="241200" imgH="393480" progId="Equation.DSMT4">
                  <p:embed/>
                </p:oleObj>
              </mc:Choice>
              <mc:Fallback>
                <p:oleObj name="Equation" r:id="rId10" imgW="241200" imgH="393480" progId="Equation.DSMT4">
                  <p:embed/>
                  <p:pic>
                    <p:nvPicPr>
                      <p:cNvPr id="80911" name="对象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08601" y="4148138"/>
                        <a:ext cx="390525"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0912" name="直接连接符 17"/>
          <p:cNvCxnSpPr>
            <a:cxnSpLocks noChangeShapeType="1"/>
            <a:stCxn id="15" idx="1"/>
          </p:cNvCxnSpPr>
          <p:nvPr/>
        </p:nvCxnSpPr>
        <p:spPr bwMode="auto">
          <a:xfrm flipV="1">
            <a:off x="3962400" y="4481514"/>
            <a:ext cx="1335088" cy="414337"/>
          </a:xfrm>
          <a:prstGeom prst="line">
            <a:avLst/>
          </a:prstGeom>
          <a:noFill/>
          <a:ln w="1905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913" name="直接连接符 18"/>
          <p:cNvCxnSpPr>
            <a:cxnSpLocks noChangeShapeType="1"/>
          </p:cNvCxnSpPr>
          <p:nvPr/>
        </p:nvCxnSpPr>
        <p:spPr bwMode="auto">
          <a:xfrm flipV="1">
            <a:off x="3657600" y="4479925"/>
            <a:ext cx="1639888" cy="1682750"/>
          </a:xfrm>
          <a:prstGeom prst="line">
            <a:avLst/>
          </a:prstGeom>
          <a:noFill/>
          <a:ln w="19050"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0914" name="对象 19"/>
          <p:cNvGraphicFramePr>
            <a:graphicFrameLocks noChangeAspect="1"/>
          </p:cNvGraphicFramePr>
          <p:nvPr/>
        </p:nvGraphicFramePr>
        <p:xfrm>
          <a:off x="5016500" y="5751513"/>
          <a:ext cx="1538288" cy="488950"/>
        </p:xfrm>
        <a:graphic>
          <a:graphicData uri="http://schemas.openxmlformats.org/presentationml/2006/ole">
            <mc:AlternateContent xmlns:mc="http://schemas.openxmlformats.org/markup-compatibility/2006">
              <mc:Choice xmlns:v="urn:schemas-microsoft-com:vml" Requires="v">
                <p:oleObj spid="_x0000_s10266" name="Equation" r:id="rId12" imgW="1244520" imgH="393480" progId="Equation.DSMT4">
                  <p:embed/>
                </p:oleObj>
              </mc:Choice>
              <mc:Fallback>
                <p:oleObj name="Equation" r:id="rId12" imgW="1244520" imgH="393480" progId="Equation.DSMT4">
                  <p:embed/>
                  <p:pic>
                    <p:nvPicPr>
                      <p:cNvPr id="80914" name="对象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16500" y="5751513"/>
                        <a:ext cx="153828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15" name="文本框 20"/>
          <p:cNvSpPr txBox="1">
            <a:spLocks noChangeArrowheads="1"/>
          </p:cNvSpPr>
          <p:nvPr/>
        </p:nvSpPr>
        <p:spPr bwMode="auto">
          <a:xfrm>
            <a:off x="5437189" y="6240463"/>
            <a:ext cx="6508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200">
                <a:solidFill>
                  <a:srgbClr val="000000"/>
                </a:solidFill>
                <a:latin typeface="Times New Roman" panose="02020603050405020304" pitchFamily="18" charset="0"/>
                <a:ea typeface="微软雅黑" panose="020B0503020204020204" pitchFamily="34" charset="-122"/>
              </a:rPr>
              <a:t>过零点</a:t>
            </a:r>
            <a:endParaRPr lang="en-US" altLang="zh-CN" sz="1200">
              <a:solidFill>
                <a:srgbClr val="000000"/>
              </a:solidFill>
              <a:latin typeface="Times New Roman" panose="02020603050405020304" pitchFamily="18" charset="0"/>
              <a:ea typeface="微软雅黑" panose="020B0503020204020204" pitchFamily="34" charset="-122"/>
            </a:endParaRPr>
          </a:p>
        </p:txBody>
      </p:sp>
      <p:sp>
        <p:nvSpPr>
          <p:cNvPr id="80916" name="文本框 21"/>
          <p:cNvSpPr txBox="1">
            <a:spLocks noChangeArrowheads="1"/>
          </p:cNvSpPr>
          <p:nvPr/>
        </p:nvSpPr>
        <p:spPr bwMode="auto">
          <a:xfrm>
            <a:off x="2811463" y="6551614"/>
            <a:ext cx="16319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100">
                <a:solidFill>
                  <a:srgbClr val="000000"/>
                </a:solidFill>
                <a:latin typeface="Times New Roman" panose="02020603050405020304" pitchFamily="18" charset="0"/>
                <a:ea typeface="微软雅黑" panose="020B0503020204020204" pitchFamily="34" charset="-122"/>
              </a:rPr>
              <a:t>横坐标已用</a:t>
            </a:r>
            <a:r>
              <a:rPr lang="en-US" altLang="zh-CN" sz="1100">
                <a:solidFill>
                  <a:srgbClr val="000000"/>
                </a:solidFill>
                <a:latin typeface="Times New Roman" panose="02020603050405020304" pitchFamily="18" charset="0"/>
                <a:ea typeface="微软雅黑" panose="020B0503020204020204" pitchFamily="34" charset="-122"/>
              </a:rPr>
              <a:t>2</a:t>
            </a:r>
            <a:r>
              <a:rPr lang="el-GR" altLang="zh-CN" sz="1100">
                <a:solidFill>
                  <a:srgbClr val="000000"/>
                </a:solidFill>
                <a:latin typeface="Times New Roman" panose="02020603050405020304" pitchFamily="18" charset="0"/>
                <a:ea typeface="微软雅黑" panose="020B0503020204020204" pitchFamily="34" charset="-122"/>
              </a:rPr>
              <a:t>π</a:t>
            </a:r>
            <a:r>
              <a:rPr lang="zh-CN" altLang="en-US" sz="1100">
                <a:solidFill>
                  <a:srgbClr val="000000"/>
                </a:solidFill>
                <a:latin typeface="Times New Roman" panose="02020603050405020304" pitchFamily="18" charset="0"/>
                <a:ea typeface="微软雅黑" panose="020B0503020204020204" pitchFamily="34" charset="-122"/>
              </a:rPr>
              <a:t>做归一化</a:t>
            </a:r>
            <a:endParaRPr lang="en-US" altLang="zh-CN" sz="1100">
              <a:solidFill>
                <a:srgbClr val="000000"/>
              </a:solidFill>
              <a:latin typeface="Times New Roman" panose="02020603050405020304" pitchFamily="18" charset="0"/>
              <a:ea typeface="微软雅黑" panose="020B0503020204020204" pitchFamily="34" charset="-122"/>
            </a:endParaRPr>
          </a:p>
        </p:txBody>
      </p:sp>
      <p:sp>
        <p:nvSpPr>
          <p:cNvPr id="23" name="Text Box 18"/>
          <p:cNvSpPr txBox="1">
            <a:spLocks noChangeArrowheads="1"/>
          </p:cNvSpPr>
          <p:nvPr/>
        </p:nvSpPr>
        <p:spPr bwMode="auto">
          <a:xfrm>
            <a:off x="7050087" y="5827714"/>
            <a:ext cx="1985169" cy="369332"/>
          </a:xfrm>
          <a:prstGeom prst="rect">
            <a:avLst/>
          </a:prstGeom>
          <a:noFill/>
        </p:spPr>
        <p:txBody>
          <a:bodyPr wrap="square">
            <a:spAutoFit/>
          </a:bodyPr>
          <a:lstStyle>
            <a:defPPr>
              <a:defRPr lang="zh-CN"/>
            </a:defPPr>
            <a:lvl1pPr>
              <a:defRPr sz="1600">
                <a:latin typeface="Times New Roman" panose="02020603050405020304" pitchFamily="18" charset="0"/>
                <a:ea typeface="微软雅黑" panose="020B0503020204020204" pitchFamily="34" charset="-122"/>
              </a:defRPr>
            </a:lvl1pPr>
          </a:lstStyle>
          <a:p>
            <a:pPr>
              <a:defRPr/>
            </a:pPr>
            <a:r>
              <a:rPr lang="en-US" altLang="zh-CN" sz="1800" b="1" kern="0" dirty="0">
                <a:solidFill>
                  <a:srgbClr val="FF0000"/>
                </a:solidFill>
              </a:rPr>
              <a:t>N</a:t>
            </a:r>
            <a:r>
              <a:rPr lang="zh-CN" altLang="en-US" sz="1800" b="1" kern="0" dirty="0">
                <a:solidFill>
                  <a:srgbClr val="FF0000"/>
                </a:solidFill>
              </a:rPr>
              <a:t>越大</a:t>
            </a:r>
            <a:r>
              <a:rPr lang="en-US" altLang="zh-CN" sz="1800" b="1" kern="0" dirty="0">
                <a:solidFill>
                  <a:srgbClr val="FF0000"/>
                </a:solidFill>
              </a:rPr>
              <a:t>, </a:t>
            </a:r>
            <a:r>
              <a:rPr lang="zh-CN" altLang="en-US" sz="1800" b="1" kern="0" dirty="0">
                <a:solidFill>
                  <a:srgbClr val="FF0000"/>
                </a:solidFill>
              </a:rPr>
              <a:t>主瓣越窄</a:t>
            </a:r>
          </a:p>
        </p:txBody>
      </p:sp>
      <p:sp>
        <p:nvSpPr>
          <p:cNvPr id="22" name="矩形 3"/>
          <p:cNvSpPr>
            <a:spLocks noChangeArrowheads="1"/>
          </p:cNvSpPr>
          <p:nvPr/>
        </p:nvSpPr>
        <p:spPr bwMode="auto">
          <a:xfrm>
            <a:off x="672916" y="1384302"/>
            <a:ext cx="1543811"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窗函数截断</a:t>
            </a:r>
            <a:endParaRPr lang="en-US" altLang="zh-CN" sz="2000" dirty="0">
              <a:latin typeface="华文细黑" panose="02010600040101010101" pitchFamily="2" charset="-122"/>
              <a:ea typeface="华文细黑" panose="02010600040101010101" pitchFamily="2" charset="-122"/>
            </a:endParaRPr>
          </a:p>
        </p:txBody>
      </p:sp>
      <p:sp>
        <p:nvSpPr>
          <p:cNvPr id="25" name="文本框 24"/>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35</a:t>
            </a:fld>
            <a:endParaRPr lang="zh-CN" altLang="en-US"/>
          </a:p>
        </p:txBody>
      </p:sp>
    </p:spTree>
    <p:extLst>
      <p:ext uri="{BB962C8B-B14F-4D97-AF65-F5344CB8AC3E}">
        <p14:creationId xmlns:p14="http://schemas.microsoft.com/office/powerpoint/2010/main" val="8259730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文本框 5"/>
          <p:cNvSpPr txBox="1">
            <a:spLocks noChangeArrowheads="1"/>
          </p:cNvSpPr>
          <p:nvPr/>
        </p:nvSpPr>
        <p:spPr bwMode="auto">
          <a:xfrm>
            <a:off x="721364" y="1857829"/>
            <a:ext cx="178631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1600" dirty="0">
                <a:solidFill>
                  <a:srgbClr val="000000"/>
                </a:solidFill>
                <a:latin typeface="Times New Roman" panose="02020603050405020304" pitchFamily="18" charset="0"/>
                <a:ea typeface="微软雅黑" panose="020B0503020204020204" pitchFamily="34" charset="-122"/>
              </a:rPr>
              <a:t>信号截断示例</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graphicFrame>
        <p:nvGraphicFramePr>
          <p:cNvPr id="81925" name="对象 6"/>
          <p:cNvGraphicFramePr>
            <a:graphicFrameLocks noChangeAspect="1"/>
          </p:cNvGraphicFramePr>
          <p:nvPr>
            <p:extLst/>
          </p:nvPr>
        </p:nvGraphicFramePr>
        <p:xfrm>
          <a:off x="2370635" y="2318939"/>
          <a:ext cx="1706562" cy="412750"/>
        </p:xfrm>
        <a:graphic>
          <a:graphicData uri="http://schemas.openxmlformats.org/presentationml/2006/ole">
            <mc:AlternateContent xmlns:mc="http://schemas.openxmlformats.org/markup-compatibility/2006">
              <mc:Choice xmlns:v="urn:schemas-microsoft-com:vml" Requires="v">
                <p:oleObj spid="_x0000_s11306" name="Equation" r:id="rId3" imgW="1054080" imgH="253800" progId="Equation.DSMT4">
                  <p:embed/>
                </p:oleObj>
              </mc:Choice>
              <mc:Fallback>
                <p:oleObj name="Equation" r:id="rId3" imgW="1054080" imgH="253800" progId="Equation.DSMT4">
                  <p:embed/>
                  <p:pic>
                    <p:nvPicPr>
                      <p:cNvPr id="81925"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35" y="2318939"/>
                        <a:ext cx="170656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下箭头 7"/>
          <p:cNvSpPr/>
          <p:nvPr/>
        </p:nvSpPr>
        <p:spPr bwMode="auto">
          <a:xfrm>
            <a:off x="2932610" y="2731690"/>
            <a:ext cx="381000" cy="396875"/>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81927" name="文本框 8"/>
          <p:cNvSpPr txBox="1">
            <a:spLocks noChangeArrowheads="1"/>
          </p:cNvSpPr>
          <p:nvPr/>
        </p:nvSpPr>
        <p:spPr bwMode="auto">
          <a:xfrm>
            <a:off x="3421560" y="2750740"/>
            <a:ext cx="35290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600">
                <a:solidFill>
                  <a:srgbClr val="000000"/>
                </a:solidFill>
                <a:latin typeface="Times New Roman" panose="02020603050405020304" pitchFamily="18" charset="0"/>
                <a:ea typeface="微软雅黑" panose="020B0503020204020204" pitchFamily="34" charset="-122"/>
              </a:rPr>
              <a:t>加矩形窗截断，时域相乘，频域卷积</a:t>
            </a:r>
            <a:endParaRPr lang="en-US" altLang="zh-CN" sz="1600">
              <a:solidFill>
                <a:srgbClr val="000000"/>
              </a:solidFill>
              <a:latin typeface="Times New Roman" panose="02020603050405020304" pitchFamily="18" charset="0"/>
              <a:ea typeface="微软雅黑" panose="020B0503020204020204" pitchFamily="34" charset="-122"/>
            </a:endParaRPr>
          </a:p>
        </p:txBody>
      </p:sp>
      <p:graphicFrame>
        <p:nvGraphicFramePr>
          <p:cNvPr id="81928" name="对象 9"/>
          <p:cNvGraphicFramePr>
            <a:graphicFrameLocks noChangeAspect="1"/>
          </p:cNvGraphicFramePr>
          <p:nvPr>
            <p:extLst/>
          </p:nvPr>
        </p:nvGraphicFramePr>
        <p:xfrm>
          <a:off x="2402385" y="3334939"/>
          <a:ext cx="1439862" cy="412750"/>
        </p:xfrm>
        <a:graphic>
          <a:graphicData uri="http://schemas.openxmlformats.org/presentationml/2006/ole">
            <mc:AlternateContent xmlns:mc="http://schemas.openxmlformats.org/markup-compatibility/2006">
              <mc:Choice xmlns:v="urn:schemas-microsoft-com:vml" Requires="v">
                <p:oleObj spid="_x0000_s11307" name="Equation" r:id="rId5" imgW="888840" imgH="253800" progId="Equation.DSMT4">
                  <p:embed/>
                </p:oleObj>
              </mc:Choice>
              <mc:Fallback>
                <p:oleObj name="Equation" r:id="rId5" imgW="888840" imgH="253800" progId="Equation.DSMT4">
                  <p:embed/>
                  <p:pic>
                    <p:nvPicPr>
                      <p:cNvPr id="81928"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02385" y="3334939"/>
                        <a:ext cx="143986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29" name="矩形 10"/>
          <p:cNvSpPr>
            <a:spLocks noChangeArrowheads="1"/>
          </p:cNvSpPr>
          <p:nvPr/>
        </p:nvSpPr>
        <p:spPr bwMode="auto">
          <a:xfrm>
            <a:off x="1224460" y="3762769"/>
            <a:ext cx="5143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600">
                <a:solidFill>
                  <a:srgbClr val="000000"/>
                </a:solidFill>
                <a:latin typeface="Times New Roman" panose="02020603050405020304" pitchFamily="18" charset="0"/>
                <a:ea typeface="微软雅黑" panose="020B0503020204020204" pitchFamily="34" charset="-122"/>
              </a:rPr>
              <a:t>卷积后，频谱将发生失真，影响其分辨率</a:t>
            </a:r>
            <a:r>
              <a:rPr lang="en-US" altLang="zh-CN" sz="1600">
                <a:solidFill>
                  <a:srgbClr val="000000"/>
                </a:solidFill>
                <a:latin typeface="Times New Roman" panose="02020603050405020304" pitchFamily="18" charset="0"/>
                <a:ea typeface="微软雅黑" panose="020B0503020204020204" pitchFamily="34" charset="-122"/>
              </a:rPr>
              <a:t>(Resolution)</a:t>
            </a:r>
          </a:p>
        </p:txBody>
      </p:sp>
      <p:pic>
        <p:nvPicPr>
          <p:cNvPr id="8193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2980" y="3334939"/>
            <a:ext cx="3998035" cy="2997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931" name="组合 12"/>
          <p:cNvGrpSpPr>
            <a:grpSpLocks/>
          </p:cNvGrpSpPr>
          <p:nvPr/>
        </p:nvGrpSpPr>
        <p:grpSpPr bwMode="auto">
          <a:xfrm>
            <a:off x="370168" y="4319623"/>
            <a:ext cx="3158844" cy="2223910"/>
            <a:chOff x="914283" y="4322257"/>
            <a:chExt cx="2366068" cy="1665122"/>
          </a:xfrm>
        </p:grpSpPr>
        <p:grpSp>
          <p:nvGrpSpPr>
            <p:cNvPr id="81940" name="Group 13"/>
            <p:cNvGrpSpPr>
              <a:grpSpLocks/>
            </p:cNvGrpSpPr>
            <p:nvPr/>
          </p:nvGrpSpPr>
          <p:grpSpPr bwMode="auto">
            <a:xfrm>
              <a:off x="914283" y="4474266"/>
              <a:ext cx="2133600" cy="1143000"/>
              <a:chOff x="576" y="528"/>
              <a:chExt cx="1344" cy="720"/>
            </a:xfrm>
          </p:grpSpPr>
          <p:sp>
            <p:nvSpPr>
              <p:cNvPr id="18" name="Line 7"/>
              <p:cNvSpPr>
                <a:spLocks noChangeShapeType="1"/>
              </p:cNvSpPr>
              <p:nvPr/>
            </p:nvSpPr>
            <p:spPr bwMode="auto">
              <a:xfrm>
                <a:off x="576" y="1152"/>
                <a:ext cx="1344"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19" name="Line 8"/>
              <p:cNvSpPr>
                <a:spLocks noChangeShapeType="1"/>
              </p:cNvSpPr>
              <p:nvPr/>
            </p:nvSpPr>
            <p:spPr bwMode="auto">
              <a:xfrm>
                <a:off x="1008" y="528"/>
                <a:ext cx="0" cy="720"/>
              </a:xfrm>
              <a:prstGeom prst="line">
                <a:avLst/>
              </a:prstGeom>
              <a:noFill/>
              <a:ln w="9525">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20" name="Line 9"/>
              <p:cNvSpPr>
                <a:spLocks noChangeShapeType="1"/>
              </p:cNvSpPr>
              <p:nvPr/>
            </p:nvSpPr>
            <p:spPr bwMode="auto">
              <a:xfrm>
                <a:off x="1296" y="768"/>
                <a:ext cx="0" cy="384"/>
              </a:xfrm>
              <a:prstGeom prst="line">
                <a:avLst/>
              </a:prstGeom>
              <a:noFill/>
              <a:ln w="9525">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21" name="Line 10"/>
              <p:cNvSpPr>
                <a:spLocks noChangeShapeType="1"/>
              </p:cNvSpPr>
              <p:nvPr/>
            </p:nvSpPr>
            <p:spPr bwMode="auto">
              <a:xfrm>
                <a:off x="1584" y="768"/>
                <a:ext cx="0" cy="384"/>
              </a:xfrm>
              <a:prstGeom prst="line">
                <a:avLst/>
              </a:prstGeom>
              <a:noFill/>
              <a:ln w="9525">
                <a:solidFill>
                  <a:srgbClr val="000000"/>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defRPr/>
                </a:pPr>
                <a:endParaRPr lang="en-US" kern="0">
                  <a:solidFill>
                    <a:srgbClr val="000000"/>
                  </a:solidFill>
                  <a:latin typeface="Arial" panose="020B0604020202020204" pitchFamily="34" charset="0"/>
                  <a:ea typeface="宋体" panose="02010600030101010101" pitchFamily="2" charset="-122"/>
                </a:endParaRPr>
              </a:p>
            </p:txBody>
          </p:sp>
        </p:grpSp>
        <p:graphicFrame>
          <p:nvGraphicFramePr>
            <p:cNvPr id="81941" name="对象 14"/>
            <p:cNvGraphicFramePr>
              <a:graphicFrameLocks noChangeAspect="1"/>
            </p:cNvGraphicFramePr>
            <p:nvPr/>
          </p:nvGraphicFramePr>
          <p:xfrm>
            <a:off x="1100713" y="5615904"/>
            <a:ext cx="2179638" cy="371475"/>
          </p:xfrm>
          <a:graphic>
            <a:graphicData uri="http://schemas.openxmlformats.org/presentationml/2006/ole">
              <mc:AlternateContent xmlns:mc="http://schemas.openxmlformats.org/markup-compatibility/2006">
                <mc:Choice xmlns:v="urn:schemas-microsoft-com:vml" Requires="v">
                  <p:oleObj spid="_x0000_s11308" name="Equation" r:id="rId8" imgW="1346040" imgH="228600" progId="Equation.DSMT4">
                    <p:embed/>
                  </p:oleObj>
                </mc:Choice>
                <mc:Fallback>
                  <p:oleObj name="Equation" r:id="rId8" imgW="1346040" imgH="228600" progId="Equation.DSMT4">
                    <p:embed/>
                    <p:pic>
                      <p:nvPicPr>
                        <p:cNvPr id="81941" name="对象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0713" y="5615904"/>
                          <a:ext cx="217963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42" name="对象 15"/>
            <p:cNvGraphicFramePr>
              <a:graphicFrameLocks noChangeAspect="1"/>
            </p:cNvGraphicFramePr>
            <p:nvPr/>
          </p:nvGraphicFramePr>
          <p:xfrm>
            <a:off x="2429782" y="4322257"/>
            <a:ext cx="287338" cy="371475"/>
          </p:xfrm>
          <a:graphic>
            <a:graphicData uri="http://schemas.openxmlformats.org/presentationml/2006/ole">
              <mc:AlternateContent xmlns:mc="http://schemas.openxmlformats.org/markup-compatibility/2006">
                <mc:Choice xmlns:v="urn:schemas-microsoft-com:vml" Requires="v">
                  <p:oleObj spid="_x0000_s11309" name="Equation" r:id="rId10" imgW="177480" imgH="228600" progId="Equation.DSMT4">
                    <p:embed/>
                  </p:oleObj>
                </mc:Choice>
                <mc:Fallback>
                  <p:oleObj name="Equation" r:id="rId10" imgW="177480" imgH="228600" progId="Equation.DSMT4">
                    <p:embed/>
                    <p:pic>
                      <p:nvPicPr>
                        <p:cNvPr id="81942" name="对象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29782" y="4322257"/>
                          <a:ext cx="28733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43" name="对象 16"/>
            <p:cNvGraphicFramePr>
              <a:graphicFrameLocks noChangeAspect="1"/>
            </p:cNvGraphicFramePr>
            <p:nvPr/>
          </p:nvGraphicFramePr>
          <p:xfrm>
            <a:off x="1907495" y="4322257"/>
            <a:ext cx="246062" cy="371475"/>
          </p:xfrm>
          <a:graphic>
            <a:graphicData uri="http://schemas.openxmlformats.org/presentationml/2006/ole">
              <mc:AlternateContent xmlns:mc="http://schemas.openxmlformats.org/markup-compatibility/2006">
                <mc:Choice xmlns:v="urn:schemas-microsoft-com:vml" Requires="v">
                  <p:oleObj spid="_x0000_s11310" name="Equation" r:id="rId12" imgW="152280" imgH="228600" progId="Equation.DSMT4">
                    <p:embed/>
                  </p:oleObj>
                </mc:Choice>
                <mc:Fallback>
                  <p:oleObj name="Equation" r:id="rId12" imgW="152280" imgH="228600" progId="Equation.DSMT4">
                    <p:embed/>
                    <p:pic>
                      <p:nvPicPr>
                        <p:cNvPr id="81943" name="对象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7495" y="4322257"/>
                          <a:ext cx="24606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1932" name="组合 21"/>
          <p:cNvGrpSpPr>
            <a:grpSpLocks/>
          </p:cNvGrpSpPr>
          <p:nvPr/>
        </p:nvGrpSpPr>
        <p:grpSpPr bwMode="auto">
          <a:xfrm>
            <a:off x="3420466" y="4384421"/>
            <a:ext cx="4108057" cy="2192594"/>
            <a:chOff x="3343507" y="4137371"/>
            <a:chExt cx="3200400" cy="1707804"/>
          </a:xfrm>
        </p:grpSpPr>
        <p:pic>
          <p:nvPicPr>
            <p:cNvPr id="81938"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43507" y="4137371"/>
              <a:ext cx="3200400"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1939" name="对象 23"/>
            <p:cNvGraphicFramePr>
              <a:graphicFrameLocks noChangeAspect="1"/>
            </p:cNvGraphicFramePr>
            <p:nvPr/>
          </p:nvGraphicFramePr>
          <p:xfrm>
            <a:off x="4741863" y="5432425"/>
            <a:ext cx="658812" cy="412750"/>
          </p:xfrm>
          <a:graphic>
            <a:graphicData uri="http://schemas.openxmlformats.org/presentationml/2006/ole">
              <mc:AlternateContent xmlns:mc="http://schemas.openxmlformats.org/markup-compatibility/2006">
                <mc:Choice xmlns:v="urn:schemas-microsoft-com:vml" Requires="v">
                  <p:oleObj spid="_x0000_s11311" name="Equation" r:id="rId15" imgW="406080" imgH="253800" progId="Equation.DSMT4">
                    <p:embed/>
                  </p:oleObj>
                </mc:Choice>
                <mc:Fallback>
                  <p:oleObj name="Equation" r:id="rId15" imgW="406080" imgH="253800" progId="Equation.DSMT4">
                    <p:embed/>
                    <p:pic>
                      <p:nvPicPr>
                        <p:cNvPr id="81939" name="对象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41863" y="5432425"/>
                          <a:ext cx="65881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81933" name="对象 24"/>
          <p:cNvGraphicFramePr>
            <a:graphicFrameLocks noChangeAspect="1"/>
          </p:cNvGraphicFramePr>
          <p:nvPr>
            <p:extLst/>
          </p:nvPr>
        </p:nvGraphicFramePr>
        <p:xfrm>
          <a:off x="3074068" y="5054584"/>
          <a:ext cx="339855" cy="552265"/>
        </p:xfrm>
        <a:graphic>
          <a:graphicData uri="http://schemas.openxmlformats.org/presentationml/2006/ole">
            <mc:AlternateContent xmlns:mc="http://schemas.openxmlformats.org/markup-compatibility/2006">
              <mc:Choice xmlns:v="urn:schemas-microsoft-com:vml" Requires="v">
                <p:oleObj spid="_x0000_s11312" name="Equation" r:id="rId17" imgW="101520" imgH="164880" progId="Equation.DSMT4">
                  <p:embed/>
                </p:oleObj>
              </mc:Choice>
              <mc:Fallback>
                <p:oleObj name="Equation" r:id="rId17" imgW="101520" imgH="164880" progId="Equation.DSMT4">
                  <p:embed/>
                  <p:pic>
                    <p:nvPicPr>
                      <p:cNvPr id="81933" name="对象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74068" y="5054584"/>
                        <a:ext cx="339855" cy="552265"/>
                      </a:xfrm>
                      <a:prstGeom prst="rect">
                        <a:avLst/>
                      </a:prstGeom>
                      <a:noFill/>
                      <a:ln>
                        <a:noFill/>
                      </a:ln>
                      <a:extLst/>
                    </p:spPr>
                  </p:pic>
                </p:oleObj>
              </mc:Fallback>
            </mc:AlternateContent>
          </a:graphicData>
        </a:graphic>
      </p:graphicFrame>
      <p:sp>
        <p:nvSpPr>
          <p:cNvPr id="26" name="下箭头 25"/>
          <p:cNvSpPr/>
          <p:nvPr/>
        </p:nvSpPr>
        <p:spPr bwMode="auto">
          <a:xfrm rot="16200000">
            <a:off x="7695630" y="5023564"/>
            <a:ext cx="379413" cy="395287"/>
          </a:xfrm>
          <a:prstGeom prst="down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81935" name="对象 26"/>
          <p:cNvGraphicFramePr>
            <a:graphicFrameLocks noChangeAspect="1"/>
          </p:cNvGraphicFramePr>
          <p:nvPr>
            <p:extLst/>
          </p:nvPr>
        </p:nvGraphicFramePr>
        <p:xfrm>
          <a:off x="9200580" y="4080270"/>
          <a:ext cx="542925" cy="212725"/>
        </p:xfrm>
        <a:graphic>
          <a:graphicData uri="http://schemas.openxmlformats.org/presentationml/2006/ole">
            <mc:AlternateContent xmlns:mc="http://schemas.openxmlformats.org/markup-compatibility/2006">
              <mc:Choice xmlns:v="urn:schemas-microsoft-com:vml" Requires="v">
                <p:oleObj spid="_x0000_s11313" name="Equation" r:id="rId19" imgW="457200" imgH="177480" progId="Equation.DSMT4">
                  <p:embed/>
                </p:oleObj>
              </mc:Choice>
              <mc:Fallback>
                <p:oleObj name="Equation" r:id="rId19" imgW="457200" imgH="177480" progId="Equation.DSMT4">
                  <p:embed/>
                  <p:pic>
                    <p:nvPicPr>
                      <p:cNvPr id="81935" name="对象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200580" y="4080270"/>
                        <a:ext cx="5429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1936" name="对象 27"/>
          <p:cNvGraphicFramePr>
            <a:graphicFrameLocks noChangeAspect="1"/>
          </p:cNvGraphicFramePr>
          <p:nvPr>
            <p:extLst/>
          </p:nvPr>
        </p:nvGraphicFramePr>
        <p:xfrm>
          <a:off x="9260905" y="5140719"/>
          <a:ext cx="581025" cy="227012"/>
        </p:xfrm>
        <a:graphic>
          <a:graphicData uri="http://schemas.openxmlformats.org/presentationml/2006/ole">
            <mc:AlternateContent xmlns:mc="http://schemas.openxmlformats.org/markup-compatibility/2006">
              <mc:Choice xmlns:v="urn:schemas-microsoft-com:vml" Requires="v">
                <p:oleObj spid="_x0000_s11314" name="Equation" r:id="rId21" imgW="457200" imgH="177480" progId="Equation.DSMT4">
                  <p:embed/>
                </p:oleObj>
              </mc:Choice>
              <mc:Fallback>
                <p:oleObj name="Equation" r:id="rId21" imgW="457200" imgH="177480" progId="Equation.DSMT4">
                  <p:embed/>
                  <p:pic>
                    <p:nvPicPr>
                      <p:cNvPr id="81936" name="对象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260905" y="5140719"/>
                        <a:ext cx="581025" cy="22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Text Box 18"/>
          <p:cNvSpPr txBox="1">
            <a:spLocks noChangeArrowheads="1"/>
          </p:cNvSpPr>
          <p:nvPr/>
        </p:nvSpPr>
        <p:spPr bwMode="auto">
          <a:xfrm>
            <a:off x="8760403" y="6373670"/>
            <a:ext cx="2643188" cy="339725"/>
          </a:xfrm>
          <a:prstGeom prst="rect">
            <a:avLst/>
          </a:prstGeom>
          <a:noFill/>
        </p:spPr>
        <p:txBody>
          <a:bodyPr>
            <a:spAutoFit/>
          </a:bodyPr>
          <a:lstStyle>
            <a:defPPr>
              <a:defRPr lang="zh-CN"/>
            </a:defPPr>
            <a:lvl1pPr>
              <a:defRPr sz="1600">
                <a:latin typeface="Times New Roman" panose="02020603050405020304" pitchFamily="18" charset="0"/>
                <a:ea typeface="微软雅黑" panose="020B0503020204020204" pitchFamily="34" charset="-122"/>
              </a:defRPr>
            </a:lvl1pPr>
          </a:lstStyle>
          <a:p>
            <a:pPr>
              <a:defRPr/>
            </a:pPr>
            <a:r>
              <a:rPr lang="zh-CN" altLang="en-US" b="1" kern="0" dirty="0">
                <a:solidFill>
                  <a:srgbClr val="FF0000"/>
                </a:solidFill>
              </a:rPr>
              <a:t>频谱泄露，峰值分辨率降低</a:t>
            </a:r>
          </a:p>
        </p:txBody>
      </p:sp>
      <p:sp>
        <p:nvSpPr>
          <p:cNvPr id="28" name="矩形 3"/>
          <p:cNvSpPr>
            <a:spLocks noChangeArrowheads="1"/>
          </p:cNvSpPr>
          <p:nvPr/>
        </p:nvSpPr>
        <p:spPr bwMode="auto">
          <a:xfrm>
            <a:off x="672916" y="1384302"/>
            <a:ext cx="1543811"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窗函数截断</a:t>
            </a:r>
            <a:endParaRPr lang="en-US" altLang="zh-CN" sz="2000" dirty="0">
              <a:latin typeface="华文细黑" panose="02010600040101010101" pitchFamily="2" charset="-122"/>
              <a:ea typeface="华文细黑" panose="02010600040101010101" pitchFamily="2" charset="-122"/>
            </a:endParaRPr>
          </a:p>
        </p:txBody>
      </p:sp>
      <p:graphicFrame>
        <p:nvGraphicFramePr>
          <p:cNvPr id="31" name="对象 8"/>
          <p:cNvGraphicFramePr>
            <a:graphicFrameLocks noChangeAspect="1"/>
          </p:cNvGraphicFramePr>
          <p:nvPr>
            <p:extLst/>
          </p:nvPr>
        </p:nvGraphicFramePr>
        <p:xfrm>
          <a:off x="7392988" y="2051728"/>
          <a:ext cx="3649015" cy="624672"/>
        </p:xfrm>
        <a:graphic>
          <a:graphicData uri="http://schemas.openxmlformats.org/presentationml/2006/ole">
            <mc:AlternateContent xmlns:mc="http://schemas.openxmlformats.org/markup-compatibility/2006">
              <mc:Choice xmlns:v="urn:schemas-microsoft-com:vml" Requires="v">
                <p:oleObj spid="_x0000_s11315" name="Equation" r:id="rId23" imgW="2755800" imgH="469800" progId="Equation.DSMT4">
                  <p:embed/>
                </p:oleObj>
              </mc:Choice>
              <mc:Fallback>
                <p:oleObj name="Equation" r:id="rId23" imgW="2755800" imgH="469800" progId="Equation.DSMT4">
                  <p:embed/>
                  <p:pic>
                    <p:nvPicPr>
                      <p:cNvPr id="31" name="对象 8"/>
                      <p:cNvPicPr>
                        <a:picLocks noChangeAspect="1" noChangeArrowheads="1"/>
                      </p:cNvPicPr>
                      <p:nvPr/>
                    </p:nvPicPr>
                    <p:blipFill>
                      <a:blip r:embed="rId24"/>
                      <a:srcRect/>
                      <a:stretch>
                        <a:fillRect/>
                      </a:stretch>
                    </p:blipFill>
                    <p:spPr bwMode="auto">
                      <a:xfrm>
                        <a:off x="7392988" y="2051728"/>
                        <a:ext cx="3649015" cy="624672"/>
                      </a:xfrm>
                      <a:prstGeom prst="rect">
                        <a:avLst/>
                      </a:prstGeom>
                      <a:solidFill>
                        <a:srgbClr val="FFFF00"/>
                      </a:solidFill>
                      <a:ln>
                        <a:noFill/>
                      </a:ln>
                      <a:extLst/>
                    </p:spPr>
                  </p:pic>
                </p:oleObj>
              </mc:Fallback>
            </mc:AlternateContent>
          </a:graphicData>
        </a:graphic>
      </p:graphicFrame>
      <p:sp>
        <p:nvSpPr>
          <p:cNvPr id="32" name="文本框 31"/>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36</a:t>
            </a:fld>
            <a:endParaRPr lang="zh-CN" altLang="en-US"/>
          </a:p>
        </p:txBody>
      </p:sp>
    </p:spTree>
    <p:extLst>
      <p:ext uri="{BB962C8B-B14F-4D97-AF65-F5344CB8AC3E}">
        <p14:creationId xmlns:p14="http://schemas.microsoft.com/office/powerpoint/2010/main" val="2550861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文本框 5"/>
          <p:cNvSpPr txBox="1">
            <a:spLocks noChangeArrowheads="1"/>
          </p:cNvSpPr>
          <p:nvPr/>
        </p:nvSpPr>
        <p:spPr bwMode="auto">
          <a:xfrm>
            <a:off x="672916" y="1826420"/>
            <a:ext cx="2915411" cy="36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sz="1600" dirty="0">
                <a:solidFill>
                  <a:srgbClr val="000000"/>
                </a:solidFill>
                <a:latin typeface="Times New Roman" panose="02020603050405020304" pitchFamily="18" charset="0"/>
                <a:ea typeface="微软雅黑" panose="020B0503020204020204" pitchFamily="34" charset="-122"/>
              </a:rPr>
              <a:t>信号数据点采样数要求</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grpSp>
        <p:nvGrpSpPr>
          <p:cNvPr id="82949" name="组合 6"/>
          <p:cNvGrpSpPr>
            <a:grpSpLocks/>
          </p:cNvGrpSpPr>
          <p:nvPr/>
        </p:nvGrpSpPr>
        <p:grpSpPr bwMode="auto">
          <a:xfrm>
            <a:off x="2866782" y="2189083"/>
            <a:ext cx="7371248" cy="2953368"/>
            <a:chOff x="2068739" y="1768475"/>
            <a:chExt cx="6248400" cy="2503488"/>
          </a:xfrm>
        </p:grpSpPr>
        <p:pic>
          <p:nvPicPr>
            <p:cNvPr id="8295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8739" y="1768475"/>
              <a:ext cx="6248400"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4" name="Line 7"/>
            <p:cNvSpPr>
              <a:spLocks noChangeShapeType="1"/>
            </p:cNvSpPr>
            <p:nvPr/>
          </p:nvSpPr>
          <p:spPr bwMode="auto">
            <a:xfrm flipH="1">
              <a:off x="4954814" y="3617913"/>
              <a:ext cx="14288" cy="654050"/>
            </a:xfrm>
            <a:prstGeom prst="line">
              <a:avLst/>
            </a:prstGeom>
            <a:noFill/>
            <a:ln w="38100">
              <a:solidFill>
                <a:srgbClr val="C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82955" name="Line 8"/>
            <p:cNvSpPr>
              <a:spLocks noChangeShapeType="1"/>
            </p:cNvSpPr>
            <p:nvPr/>
          </p:nvSpPr>
          <p:spPr bwMode="auto">
            <a:xfrm flipH="1">
              <a:off x="5539014" y="3605213"/>
              <a:ext cx="14288" cy="654050"/>
            </a:xfrm>
            <a:prstGeom prst="line">
              <a:avLst/>
            </a:prstGeom>
            <a:noFill/>
            <a:ln w="38100">
              <a:solidFill>
                <a:srgbClr val="C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82950" name="矩形 10"/>
          <p:cNvSpPr>
            <a:spLocks noChangeArrowheads="1"/>
          </p:cNvSpPr>
          <p:nvPr/>
        </p:nvSpPr>
        <p:spPr bwMode="auto">
          <a:xfrm>
            <a:off x="1627115" y="5281362"/>
            <a:ext cx="9850582"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dirty="0">
                <a:solidFill>
                  <a:srgbClr val="000000"/>
                </a:solidFill>
                <a:latin typeface="Times New Roman" panose="02020603050405020304" pitchFamily="18" charset="0"/>
                <a:ea typeface="微软雅黑" panose="020B0503020204020204" pitchFamily="34" charset="-122"/>
              </a:rPr>
              <a:t>峰值左、右第一个过零点之间的距离称为主瓣，主瓣外第一个峰值称为边瓣。我们希望主瓣的宽度越小越好，边瓣的幅度越小越好。若想分辨出两个谱峰，数据的长度</a:t>
            </a:r>
            <a:endParaRPr lang="en-US" altLang="zh-CN" dirty="0">
              <a:solidFill>
                <a:srgbClr val="000000"/>
              </a:solidFill>
              <a:latin typeface="Times New Roman" panose="02020603050405020304" pitchFamily="18" charset="0"/>
              <a:ea typeface="微软雅黑" panose="020B0503020204020204" pitchFamily="34" charset="-122"/>
            </a:endParaRPr>
          </a:p>
        </p:txBody>
      </p:sp>
      <p:graphicFrame>
        <p:nvGraphicFramePr>
          <p:cNvPr id="82951" name="对象 11"/>
          <p:cNvGraphicFramePr>
            <a:graphicFrameLocks noChangeAspect="1"/>
          </p:cNvGraphicFramePr>
          <p:nvPr>
            <p:extLst/>
          </p:nvPr>
        </p:nvGraphicFramePr>
        <p:xfrm>
          <a:off x="4763874" y="6134460"/>
          <a:ext cx="1871662" cy="639762"/>
        </p:xfrm>
        <a:graphic>
          <a:graphicData uri="http://schemas.openxmlformats.org/presentationml/2006/ole">
            <mc:AlternateContent xmlns:mc="http://schemas.openxmlformats.org/markup-compatibility/2006">
              <mc:Choice xmlns:v="urn:schemas-microsoft-com:vml" Requires="v">
                <p:oleObj spid="_x0000_s12294" name="Equation" r:id="rId4" imgW="1155600" imgH="393480" progId="Equation.DSMT4">
                  <p:embed/>
                </p:oleObj>
              </mc:Choice>
              <mc:Fallback>
                <p:oleObj name="Equation" r:id="rId4" imgW="1155600" imgH="393480" progId="Equation.DSMT4">
                  <p:embed/>
                  <p:pic>
                    <p:nvPicPr>
                      <p:cNvPr id="82951" name="对象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3874" y="6134460"/>
                        <a:ext cx="1871662"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952" name="矩形 12"/>
          <p:cNvSpPr>
            <a:spLocks noChangeArrowheads="1"/>
          </p:cNvSpPr>
          <p:nvPr/>
        </p:nvSpPr>
        <p:spPr bwMode="auto">
          <a:xfrm>
            <a:off x="6552407" y="6253522"/>
            <a:ext cx="1864613" cy="39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dirty="0" smtClean="0">
                <a:solidFill>
                  <a:srgbClr val="000000"/>
                </a:solidFill>
                <a:latin typeface="Times New Roman" panose="02020603050405020304" pitchFamily="18" charset="0"/>
                <a:ea typeface="微软雅黑" panose="020B0503020204020204" pitchFamily="34" charset="-122"/>
              </a:rPr>
              <a:t>:</a:t>
            </a:r>
            <a:r>
              <a:rPr lang="zh-CN" altLang="en-US" dirty="0" smtClean="0">
                <a:solidFill>
                  <a:srgbClr val="000000"/>
                </a:solidFill>
                <a:latin typeface="Times New Roman" panose="02020603050405020304" pitchFamily="18" charset="0"/>
                <a:ea typeface="微软雅黑" panose="020B0503020204020204" pitchFamily="34" charset="-122"/>
              </a:rPr>
              <a:t>矩形窗</a:t>
            </a:r>
            <a:r>
              <a:rPr lang="zh-CN" altLang="en-US" dirty="0">
                <a:solidFill>
                  <a:srgbClr val="000000"/>
                </a:solidFill>
                <a:latin typeface="Times New Roman" panose="02020603050405020304" pitchFamily="18" charset="0"/>
                <a:ea typeface="微软雅黑" panose="020B0503020204020204" pitchFamily="34" charset="-122"/>
              </a:rPr>
              <a:t>主瓣宽度</a:t>
            </a:r>
            <a:endParaRPr lang="en-US" altLang="zh-CN" dirty="0">
              <a:solidFill>
                <a:srgbClr val="000000"/>
              </a:solidFill>
              <a:latin typeface="Times New Roman" panose="02020603050405020304" pitchFamily="18" charset="0"/>
              <a:ea typeface="微软雅黑" panose="020B0503020204020204" pitchFamily="34" charset="-122"/>
            </a:endParaRPr>
          </a:p>
        </p:txBody>
      </p:sp>
      <p:sp>
        <p:nvSpPr>
          <p:cNvPr id="12" name="矩形 3"/>
          <p:cNvSpPr>
            <a:spLocks noChangeArrowheads="1"/>
          </p:cNvSpPr>
          <p:nvPr/>
        </p:nvSpPr>
        <p:spPr bwMode="auto">
          <a:xfrm>
            <a:off x="672916" y="1384302"/>
            <a:ext cx="1543811"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窗函数截断</a:t>
            </a:r>
            <a:endParaRPr lang="en-US" altLang="zh-CN" sz="2000" dirty="0">
              <a:latin typeface="华文细黑" panose="02010600040101010101" pitchFamily="2" charset="-122"/>
              <a:ea typeface="华文细黑" panose="02010600040101010101" pitchFamily="2" charset="-122"/>
            </a:endParaRPr>
          </a:p>
        </p:txBody>
      </p:sp>
      <p:sp>
        <p:nvSpPr>
          <p:cNvPr id="14" name="文本框 13"/>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37</a:t>
            </a:fld>
            <a:endParaRPr lang="zh-CN" altLang="en-US"/>
          </a:p>
        </p:txBody>
      </p:sp>
    </p:spTree>
    <p:extLst>
      <p:ext uri="{BB962C8B-B14F-4D97-AF65-F5344CB8AC3E}">
        <p14:creationId xmlns:p14="http://schemas.microsoft.com/office/powerpoint/2010/main" val="23600694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72" name="对象 5"/>
          <p:cNvGraphicFramePr>
            <a:graphicFrameLocks noChangeAspect="1"/>
          </p:cNvGraphicFramePr>
          <p:nvPr>
            <p:extLst/>
          </p:nvPr>
        </p:nvGraphicFramePr>
        <p:xfrm>
          <a:off x="3029742" y="1989139"/>
          <a:ext cx="2570162" cy="495300"/>
        </p:xfrm>
        <a:graphic>
          <a:graphicData uri="http://schemas.openxmlformats.org/presentationml/2006/ole">
            <mc:AlternateContent xmlns:mc="http://schemas.openxmlformats.org/markup-compatibility/2006">
              <mc:Choice xmlns:v="urn:schemas-microsoft-com:vml" Requires="v">
                <p:oleObj spid="_x0000_s13342" name="Equation" r:id="rId3" imgW="1587240" imgH="304560" progId="Equation.DSMT4">
                  <p:embed/>
                </p:oleObj>
              </mc:Choice>
              <mc:Fallback>
                <p:oleObj name="Equation" r:id="rId3" imgW="1587240" imgH="304560" progId="Equation.DSMT4">
                  <p:embed/>
                  <p:pic>
                    <p:nvPicPr>
                      <p:cNvPr id="83972"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9742" y="1989139"/>
                        <a:ext cx="257016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3" name="矩形 6"/>
          <p:cNvSpPr>
            <a:spLocks noChangeArrowheads="1"/>
          </p:cNvSpPr>
          <p:nvPr/>
        </p:nvSpPr>
        <p:spPr bwMode="auto">
          <a:xfrm>
            <a:off x="3485355" y="1704977"/>
            <a:ext cx="582211"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a:solidFill>
                  <a:srgbClr val="000000"/>
                </a:solidFill>
                <a:latin typeface="Times New Roman" panose="02020603050405020304" pitchFamily="18" charset="0"/>
                <a:ea typeface="微软雅黑" panose="020B0503020204020204" pitchFamily="34" charset="-122"/>
              </a:rPr>
              <a:t>A/D</a:t>
            </a:r>
          </a:p>
        </p:txBody>
      </p:sp>
      <p:graphicFrame>
        <p:nvGraphicFramePr>
          <p:cNvPr id="83974" name="对象 7"/>
          <p:cNvGraphicFramePr>
            <a:graphicFrameLocks noChangeAspect="1"/>
          </p:cNvGraphicFramePr>
          <p:nvPr>
            <p:extLst/>
          </p:nvPr>
        </p:nvGraphicFramePr>
        <p:xfrm>
          <a:off x="9185677" y="2160589"/>
          <a:ext cx="2159000" cy="701675"/>
        </p:xfrm>
        <a:graphic>
          <a:graphicData uri="http://schemas.openxmlformats.org/presentationml/2006/ole">
            <mc:AlternateContent xmlns:mc="http://schemas.openxmlformats.org/markup-compatibility/2006">
              <mc:Choice xmlns:v="urn:schemas-microsoft-com:vml" Requires="v">
                <p:oleObj spid="_x0000_s13343" name="Equation" r:id="rId5" imgW="1333440" imgH="431640" progId="Equation.DSMT4">
                  <p:embed/>
                </p:oleObj>
              </mc:Choice>
              <mc:Fallback>
                <p:oleObj name="Equation" r:id="rId5" imgW="1333440" imgH="431640" progId="Equation.DSMT4">
                  <p:embed/>
                  <p:pic>
                    <p:nvPicPr>
                      <p:cNvPr id="83974"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85677" y="2160589"/>
                        <a:ext cx="2159000" cy="7016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5" name="矩形 8"/>
          <p:cNvSpPr>
            <a:spLocks noChangeArrowheads="1"/>
          </p:cNvSpPr>
          <p:nvPr/>
        </p:nvSpPr>
        <p:spPr bwMode="auto">
          <a:xfrm>
            <a:off x="9734365" y="2958578"/>
            <a:ext cx="1584717"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dirty="0">
                <a:solidFill>
                  <a:srgbClr val="000000"/>
                </a:solidFill>
                <a:latin typeface="Times New Roman" panose="02020603050405020304" pitchFamily="18" charset="0"/>
                <a:ea typeface="微软雅黑" panose="020B0503020204020204" pitchFamily="34" charset="-122"/>
              </a:rPr>
              <a:t>冲击抽样信号</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graphicFrame>
        <p:nvGraphicFramePr>
          <p:cNvPr id="83976" name="对象 9"/>
          <p:cNvGraphicFramePr>
            <a:graphicFrameLocks noChangeAspect="1"/>
          </p:cNvGraphicFramePr>
          <p:nvPr>
            <p:extLst/>
          </p:nvPr>
        </p:nvGraphicFramePr>
        <p:xfrm>
          <a:off x="3163092" y="2846389"/>
          <a:ext cx="1809750" cy="412750"/>
        </p:xfrm>
        <a:graphic>
          <a:graphicData uri="http://schemas.openxmlformats.org/presentationml/2006/ole">
            <mc:AlternateContent xmlns:mc="http://schemas.openxmlformats.org/markup-compatibility/2006">
              <mc:Choice xmlns:v="urn:schemas-microsoft-com:vml" Requires="v">
                <p:oleObj spid="_x0000_s13344" name="Equation" r:id="rId7" imgW="1117440" imgH="253800" progId="Equation.DSMT4">
                  <p:embed/>
                </p:oleObj>
              </mc:Choice>
              <mc:Fallback>
                <p:oleObj name="Equation" r:id="rId7" imgW="1117440" imgH="253800" progId="Equation.DSMT4">
                  <p:embed/>
                  <p:pic>
                    <p:nvPicPr>
                      <p:cNvPr id="83976"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63092" y="2846389"/>
                        <a:ext cx="18097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7" name="矩形 10"/>
          <p:cNvSpPr>
            <a:spLocks noChangeArrowheads="1"/>
          </p:cNvSpPr>
          <p:nvPr/>
        </p:nvSpPr>
        <p:spPr bwMode="auto">
          <a:xfrm>
            <a:off x="1678779" y="2027239"/>
            <a:ext cx="1210588" cy="36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dirty="0">
                <a:solidFill>
                  <a:srgbClr val="000000"/>
                </a:solidFill>
                <a:latin typeface="Times New Roman" panose="02020603050405020304" pitchFamily="18" charset="0"/>
                <a:ea typeface="微软雅黑" panose="020B0503020204020204" pitchFamily="34" charset="-122"/>
              </a:rPr>
              <a:t>原连续信号</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sp>
        <p:nvSpPr>
          <p:cNvPr id="83978" name="矩形 11"/>
          <p:cNvSpPr>
            <a:spLocks noChangeArrowheads="1"/>
          </p:cNvSpPr>
          <p:nvPr/>
        </p:nvSpPr>
        <p:spPr bwMode="auto">
          <a:xfrm>
            <a:off x="1574005" y="2862264"/>
            <a:ext cx="1579563" cy="36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dirty="0">
                <a:solidFill>
                  <a:srgbClr val="000000"/>
                </a:solidFill>
                <a:latin typeface="Times New Roman" panose="02020603050405020304" pitchFamily="18" charset="0"/>
                <a:ea typeface="微软雅黑" panose="020B0503020204020204" pitchFamily="34" charset="-122"/>
              </a:rPr>
              <a:t>抽样离散信号</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graphicFrame>
        <p:nvGraphicFramePr>
          <p:cNvPr id="83979" name="对象 12"/>
          <p:cNvGraphicFramePr>
            <a:graphicFrameLocks noChangeAspect="1"/>
          </p:cNvGraphicFramePr>
          <p:nvPr>
            <p:extLst/>
          </p:nvPr>
        </p:nvGraphicFramePr>
        <p:xfrm>
          <a:off x="2812254" y="3917952"/>
          <a:ext cx="2343150" cy="412750"/>
        </p:xfrm>
        <a:graphic>
          <a:graphicData uri="http://schemas.openxmlformats.org/presentationml/2006/ole">
            <mc:AlternateContent xmlns:mc="http://schemas.openxmlformats.org/markup-compatibility/2006">
              <mc:Choice xmlns:v="urn:schemas-microsoft-com:vml" Requires="v">
                <p:oleObj spid="_x0000_s13345" name="Equation" r:id="rId9" imgW="1447560" imgH="253800" progId="Equation.DSMT4">
                  <p:embed/>
                </p:oleObj>
              </mc:Choice>
              <mc:Fallback>
                <p:oleObj name="Equation" r:id="rId9" imgW="1447560" imgH="253800" progId="Equation.DSMT4">
                  <p:embed/>
                  <p:pic>
                    <p:nvPicPr>
                      <p:cNvPr id="83979"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12254" y="3917952"/>
                        <a:ext cx="23431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80" name="矩形 13"/>
          <p:cNvSpPr>
            <a:spLocks noChangeArrowheads="1"/>
          </p:cNvSpPr>
          <p:nvPr/>
        </p:nvSpPr>
        <p:spPr bwMode="auto">
          <a:xfrm>
            <a:off x="2837654" y="3294064"/>
            <a:ext cx="4826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a:solidFill>
                  <a:srgbClr val="000000"/>
                </a:solidFill>
                <a:latin typeface="Times New Roman" panose="02020603050405020304" pitchFamily="18" charset="0"/>
                <a:ea typeface="微软雅黑" panose="020B0503020204020204" pitchFamily="34" charset="-122"/>
              </a:rPr>
              <a:t>FT</a:t>
            </a:r>
          </a:p>
        </p:txBody>
      </p:sp>
      <p:cxnSp>
        <p:nvCxnSpPr>
          <p:cNvPr id="83981" name="直接箭头连接符 14"/>
          <p:cNvCxnSpPr>
            <a:cxnSpLocks noChangeShapeType="1"/>
          </p:cNvCxnSpPr>
          <p:nvPr/>
        </p:nvCxnSpPr>
        <p:spPr bwMode="auto">
          <a:xfrm flipH="1">
            <a:off x="3163093" y="3259140"/>
            <a:ext cx="217487" cy="658813"/>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982" name="直接箭头连接符 15"/>
          <p:cNvCxnSpPr>
            <a:cxnSpLocks noChangeShapeType="1"/>
          </p:cNvCxnSpPr>
          <p:nvPr/>
        </p:nvCxnSpPr>
        <p:spPr bwMode="auto">
          <a:xfrm flipH="1">
            <a:off x="3960017" y="3259140"/>
            <a:ext cx="119062" cy="658813"/>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983" name="直接箭头连接符 16"/>
          <p:cNvCxnSpPr>
            <a:cxnSpLocks noChangeShapeType="1"/>
          </p:cNvCxnSpPr>
          <p:nvPr/>
        </p:nvCxnSpPr>
        <p:spPr bwMode="auto">
          <a:xfrm>
            <a:off x="4680742" y="3259140"/>
            <a:ext cx="0" cy="658813"/>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83984" name="对象 17"/>
          <p:cNvGraphicFramePr>
            <a:graphicFrameLocks noChangeAspect="1"/>
          </p:cNvGraphicFramePr>
          <p:nvPr>
            <p:extLst/>
          </p:nvPr>
        </p:nvGraphicFramePr>
        <p:xfrm>
          <a:off x="2105818" y="4529140"/>
          <a:ext cx="3946525" cy="722313"/>
        </p:xfrm>
        <a:graphic>
          <a:graphicData uri="http://schemas.openxmlformats.org/presentationml/2006/ole">
            <mc:AlternateContent xmlns:mc="http://schemas.openxmlformats.org/markup-compatibility/2006">
              <mc:Choice xmlns:v="urn:schemas-microsoft-com:vml" Requires="v">
                <p:oleObj spid="_x0000_s13346" name="Equation" r:id="rId11" imgW="2438280" imgH="444240" progId="Equation.DSMT4">
                  <p:embed/>
                </p:oleObj>
              </mc:Choice>
              <mc:Fallback>
                <p:oleObj name="Equation" r:id="rId11" imgW="2438280" imgH="444240" progId="Equation.DSMT4">
                  <p:embed/>
                  <p:pic>
                    <p:nvPicPr>
                      <p:cNvPr id="83984" name="对象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05818" y="4529140"/>
                        <a:ext cx="394652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3985" name="对象 18"/>
          <p:cNvGraphicFramePr>
            <a:graphicFrameLocks noChangeAspect="1"/>
          </p:cNvGraphicFramePr>
          <p:nvPr>
            <p:extLst/>
          </p:nvPr>
        </p:nvGraphicFramePr>
        <p:xfrm>
          <a:off x="2555079" y="5449890"/>
          <a:ext cx="2857500" cy="722313"/>
        </p:xfrm>
        <a:graphic>
          <a:graphicData uri="http://schemas.openxmlformats.org/presentationml/2006/ole">
            <mc:AlternateContent xmlns:mc="http://schemas.openxmlformats.org/markup-compatibility/2006">
              <mc:Choice xmlns:v="urn:schemas-microsoft-com:vml" Requires="v">
                <p:oleObj spid="_x0000_s13347" name="Equation" r:id="rId13" imgW="1765080" imgH="444240" progId="Equation.DSMT4">
                  <p:embed/>
                </p:oleObj>
              </mc:Choice>
              <mc:Fallback>
                <p:oleObj name="Equation" r:id="rId13" imgW="1765080" imgH="444240" progId="Equation.DSMT4">
                  <p:embed/>
                  <p:pic>
                    <p:nvPicPr>
                      <p:cNvPr id="83985" name="对象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55079" y="5449890"/>
                        <a:ext cx="2857500"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3986" name="图片 19"/>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6691714" y="1920876"/>
            <a:ext cx="220345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88" name="矩形 21"/>
          <p:cNvSpPr>
            <a:spLocks noChangeArrowheads="1"/>
          </p:cNvSpPr>
          <p:nvPr/>
        </p:nvSpPr>
        <p:spPr bwMode="auto">
          <a:xfrm>
            <a:off x="2099467" y="6308727"/>
            <a:ext cx="21193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2000" b="1">
                <a:solidFill>
                  <a:srgbClr val="FF0000"/>
                </a:solidFill>
                <a:latin typeface="Times New Roman" panose="02020603050405020304" pitchFamily="18" charset="0"/>
                <a:ea typeface="微软雅黑" panose="020B0503020204020204" pitchFamily="34" charset="-122"/>
              </a:rPr>
              <a:t>为防止混叠要求</a:t>
            </a:r>
            <a:endParaRPr lang="en-US" altLang="zh-CN" sz="2000" b="1">
              <a:solidFill>
                <a:srgbClr val="FF0000"/>
              </a:solidFill>
              <a:latin typeface="Times New Roman" panose="02020603050405020304" pitchFamily="18" charset="0"/>
              <a:ea typeface="微软雅黑" panose="020B0503020204020204" pitchFamily="34" charset="-122"/>
            </a:endParaRPr>
          </a:p>
        </p:txBody>
      </p:sp>
      <p:graphicFrame>
        <p:nvGraphicFramePr>
          <p:cNvPr id="83989" name="对象 22"/>
          <p:cNvGraphicFramePr>
            <a:graphicFrameLocks noChangeAspect="1"/>
          </p:cNvGraphicFramePr>
          <p:nvPr>
            <p:extLst/>
          </p:nvPr>
        </p:nvGraphicFramePr>
        <p:xfrm>
          <a:off x="4047330" y="6353178"/>
          <a:ext cx="925513" cy="371475"/>
        </p:xfrm>
        <a:graphic>
          <a:graphicData uri="http://schemas.openxmlformats.org/presentationml/2006/ole">
            <mc:AlternateContent xmlns:mc="http://schemas.openxmlformats.org/markup-compatibility/2006">
              <mc:Choice xmlns:v="urn:schemas-microsoft-com:vml" Requires="v">
                <p:oleObj spid="_x0000_s13348" name="Equation" r:id="rId16" imgW="571320" imgH="228600" progId="Equation.DSMT4">
                  <p:embed/>
                </p:oleObj>
              </mc:Choice>
              <mc:Fallback>
                <p:oleObj name="Equation" r:id="rId16" imgW="571320" imgH="228600" progId="Equation.DSMT4">
                  <p:embed/>
                  <p:pic>
                    <p:nvPicPr>
                      <p:cNvPr id="83989" name="对象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47330" y="6353178"/>
                        <a:ext cx="92551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p:cNvGrpSpPr/>
          <p:nvPr/>
        </p:nvGrpSpPr>
        <p:grpSpPr>
          <a:xfrm>
            <a:off x="6739339" y="3336926"/>
            <a:ext cx="2446338" cy="3433763"/>
            <a:chOff x="6739339" y="3336926"/>
            <a:chExt cx="2446338" cy="3433763"/>
          </a:xfrm>
        </p:grpSpPr>
        <p:pic>
          <p:nvPicPr>
            <p:cNvPr id="83987" name="图片 20"/>
            <p:cNvPicPr>
              <a:picLocks noChangeAspect="1"/>
            </p:cNvPicPr>
            <p:nvPr/>
          </p:nvPicPr>
          <p:blipFill>
            <a:blip r:embed="rId18">
              <a:extLst>
                <a:ext uri="{28A0092B-C50C-407E-A947-70E740481C1C}">
                  <a14:useLocalDpi xmlns:a14="http://schemas.microsoft.com/office/drawing/2010/main" val="0"/>
                </a:ext>
              </a:extLst>
            </a:blip>
            <a:srcRect/>
            <a:stretch>
              <a:fillRect/>
            </a:stretch>
          </p:blipFill>
          <p:spPr bwMode="auto">
            <a:xfrm>
              <a:off x="6739339" y="3336926"/>
              <a:ext cx="2203450" cy="343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90" name="矩形 23"/>
            <p:cNvSpPr>
              <a:spLocks noChangeArrowheads="1"/>
            </p:cNvSpPr>
            <p:nvPr/>
          </p:nvSpPr>
          <p:spPr bwMode="auto">
            <a:xfrm>
              <a:off x="7793439" y="4211639"/>
              <a:ext cx="13922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200">
                  <a:solidFill>
                    <a:srgbClr val="000000"/>
                  </a:solidFill>
                  <a:latin typeface="Times New Roman" panose="02020603050405020304" pitchFamily="18" charset="0"/>
                  <a:ea typeface="微软雅黑" panose="020B0503020204020204" pitchFamily="34" charset="-122"/>
                </a:rPr>
                <a:t>原信号截止频率</a:t>
              </a:r>
              <a:endParaRPr lang="en-US" altLang="zh-CN" sz="1200">
                <a:solidFill>
                  <a:srgbClr val="000000"/>
                </a:solidFill>
                <a:latin typeface="Times New Roman" panose="02020603050405020304" pitchFamily="18" charset="0"/>
                <a:ea typeface="微软雅黑" panose="020B0503020204020204" pitchFamily="34" charset="-122"/>
              </a:endParaRPr>
            </a:p>
          </p:txBody>
        </p:sp>
        <p:sp>
          <p:nvSpPr>
            <p:cNvPr id="83991" name="矩形 24"/>
            <p:cNvSpPr>
              <a:spLocks noChangeArrowheads="1"/>
            </p:cNvSpPr>
            <p:nvPr/>
          </p:nvSpPr>
          <p:spPr bwMode="auto">
            <a:xfrm>
              <a:off x="8253815" y="5381626"/>
              <a:ext cx="8096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200" dirty="0">
                  <a:solidFill>
                    <a:srgbClr val="000000"/>
                  </a:solidFill>
                  <a:latin typeface="Times New Roman" panose="02020603050405020304" pitchFamily="18" charset="0"/>
                  <a:ea typeface="微软雅黑" panose="020B0503020204020204" pitchFamily="34" charset="-122"/>
                </a:rPr>
                <a:t>采样频率</a:t>
              </a:r>
              <a:endParaRPr lang="en-US" altLang="zh-CN" sz="1200" dirty="0">
                <a:solidFill>
                  <a:srgbClr val="000000"/>
                </a:solidFill>
                <a:latin typeface="Times New Roman" panose="02020603050405020304" pitchFamily="18" charset="0"/>
                <a:ea typeface="微软雅黑" panose="020B0503020204020204" pitchFamily="34" charset="-122"/>
              </a:endParaRPr>
            </a:p>
          </p:txBody>
        </p:sp>
      </p:grpSp>
      <p:sp>
        <p:nvSpPr>
          <p:cNvPr id="24" name="矩形 3"/>
          <p:cNvSpPr>
            <a:spLocks noChangeArrowheads="1"/>
          </p:cNvSpPr>
          <p:nvPr/>
        </p:nvSpPr>
        <p:spPr bwMode="auto">
          <a:xfrm>
            <a:off x="672916" y="1384302"/>
            <a:ext cx="1543811" cy="400110"/>
          </a:xfrm>
          <a:prstGeom prst="rect">
            <a:avLst/>
          </a:prstGeom>
          <a:noFill/>
          <a:extLst/>
        </p:spPr>
        <p:txBody>
          <a:bodyPr wrap="square" rtlCol="0">
            <a:spAutoFit/>
          </a:bodyPr>
          <a:lstStyle/>
          <a:p>
            <a:r>
              <a:rPr lang="zh-CN" altLang="en-US" sz="2000" dirty="0">
                <a:latin typeface="华文细黑" panose="02010600040101010101" pitchFamily="2" charset="-122"/>
                <a:ea typeface="华文细黑" panose="02010600040101010101" pitchFamily="2" charset="-122"/>
              </a:rPr>
              <a:t>采样定理</a:t>
            </a:r>
            <a:endParaRPr lang="en-US" altLang="zh-CN" sz="2000" dirty="0">
              <a:latin typeface="华文细黑" panose="02010600040101010101" pitchFamily="2" charset="-122"/>
              <a:ea typeface="华文细黑" panose="02010600040101010101" pitchFamily="2" charset="-122"/>
            </a:endParaRPr>
          </a:p>
        </p:txBody>
      </p:sp>
      <p:sp>
        <p:nvSpPr>
          <p:cNvPr id="26" name="文本框 25"/>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3" name="灯片编号占位符 2"/>
          <p:cNvSpPr>
            <a:spLocks noGrp="1"/>
          </p:cNvSpPr>
          <p:nvPr>
            <p:ph type="sldNum" sz="quarter" idx="12"/>
          </p:nvPr>
        </p:nvSpPr>
        <p:spPr/>
        <p:txBody>
          <a:bodyPr/>
          <a:lstStyle/>
          <a:p>
            <a:fld id="{16D8DD02-547D-47A5-AAEA-525C7BEEAE57}" type="slidenum">
              <a:rPr lang="zh-CN" altLang="en-US" smtClean="0"/>
              <a:t>38</a:t>
            </a:fld>
            <a:endParaRPr lang="zh-CN" altLang="en-US"/>
          </a:p>
        </p:txBody>
      </p:sp>
    </p:spTree>
    <p:extLst>
      <p:ext uri="{BB962C8B-B14F-4D97-AF65-F5344CB8AC3E}">
        <p14:creationId xmlns:p14="http://schemas.microsoft.com/office/powerpoint/2010/main" val="2534454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004" name="组合 13"/>
          <p:cNvGrpSpPr>
            <a:grpSpLocks/>
          </p:cNvGrpSpPr>
          <p:nvPr/>
        </p:nvGrpSpPr>
        <p:grpSpPr bwMode="auto">
          <a:xfrm>
            <a:off x="540395" y="4053299"/>
            <a:ext cx="5979521" cy="2637705"/>
            <a:chOff x="328465" y="3858860"/>
            <a:chExt cx="5258662" cy="2320008"/>
          </a:xfrm>
        </p:grpSpPr>
        <p:grpSp>
          <p:nvGrpSpPr>
            <p:cNvPr id="85005" name="组合 14"/>
            <p:cNvGrpSpPr>
              <a:grpSpLocks/>
            </p:cNvGrpSpPr>
            <p:nvPr/>
          </p:nvGrpSpPr>
          <p:grpSpPr bwMode="auto">
            <a:xfrm>
              <a:off x="406218" y="3858860"/>
              <a:ext cx="5180909" cy="2320008"/>
              <a:chOff x="1022046" y="2137692"/>
              <a:chExt cx="7633004" cy="3418055"/>
            </a:xfrm>
          </p:grpSpPr>
          <p:pic>
            <p:nvPicPr>
              <p:cNvPr id="85007" name="图片 1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2046" y="2137692"/>
                <a:ext cx="7518450" cy="2987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8" name="图片 17"/>
              <p:cNvPicPr>
                <a:picLocks noChangeAspect="1"/>
              </p:cNvPicPr>
              <p:nvPr/>
            </p:nvPicPr>
            <p:blipFill>
              <a:blip r:embed="rId3" cstate="print">
                <a:extLst>
                  <a:ext uri="{28A0092B-C50C-407E-A947-70E740481C1C}">
                    <a14:useLocalDpi xmlns:a14="http://schemas.microsoft.com/office/drawing/2010/main" val="0"/>
                  </a:ext>
                </a:extLst>
              </a:blip>
              <a:srcRect l="980"/>
              <a:stretch>
                <a:fillRect/>
              </a:stretch>
            </p:blipFill>
            <p:spPr bwMode="auto">
              <a:xfrm>
                <a:off x="1625600" y="4697949"/>
                <a:ext cx="7029450" cy="85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6" name="矩形 15"/>
            <p:cNvSpPr/>
            <p:nvPr/>
          </p:nvSpPr>
          <p:spPr>
            <a:xfrm rot="16200000">
              <a:off x="315742" y="4322563"/>
              <a:ext cx="333471" cy="308025"/>
            </a:xfrm>
            <a:prstGeom prst="rect">
              <a:avLst/>
            </a:prstGeom>
            <a:solidFill>
              <a:srgbClr val="FFFFFF"/>
            </a:solidFill>
          </p:spPr>
          <p:txBody>
            <a:bodyPr wrap="none">
              <a:spAutoFit/>
            </a:bodyPr>
            <a:lstStyle/>
            <a:p>
              <a:pPr>
                <a:defRPr/>
              </a:pPr>
              <a:r>
                <a:rPr lang="en-US" altLang="zh-CN" sz="1400" b="1" i="1" kern="0" dirty="0">
                  <a:solidFill>
                    <a:srgbClr val="000000"/>
                  </a:solidFill>
                  <a:latin typeface="Times New Roman" panose="02020603050405020304" pitchFamily="18" charset="0"/>
                  <a:ea typeface="微软雅黑" panose="020B0503020204020204" pitchFamily="34" charset="-122"/>
                </a:rPr>
                <a:t>St</a:t>
              </a:r>
              <a:endParaRPr lang="en-US" sz="1400" i="1" kern="0" dirty="0">
                <a:solidFill>
                  <a:srgbClr val="000000"/>
                </a:solidFill>
                <a:latin typeface="Arial" panose="020B0604020202020204" pitchFamily="34" charset="0"/>
                <a:ea typeface="宋体" panose="02010600030101010101" pitchFamily="2" charset="-122"/>
              </a:endParaRPr>
            </a:p>
          </p:txBody>
        </p:sp>
      </p:grpSp>
      <p:sp>
        <p:nvSpPr>
          <p:cNvPr id="84995" name="文本框 4"/>
          <p:cNvSpPr txBox="1">
            <a:spLocks noChangeArrowheads="1"/>
          </p:cNvSpPr>
          <p:nvPr/>
        </p:nvSpPr>
        <p:spPr bwMode="auto">
          <a:xfrm>
            <a:off x="672916" y="1784412"/>
            <a:ext cx="48260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绕流涡脱频率测试</a:t>
            </a:r>
            <a:r>
              <a:rPr lang="en-US" altLang="zh-CN" sz="1400" b="1" dirty="0">
                <a:solidFill>
                  <a:srgbClr val="000000"/>
                </a:solidFill>
                <a:latin typeface="Times New Roman" panose="02020603050405020304" pitchFamily="18" charset="0"/>
                <a:ea typeface="微软雅黑" panose="020B0503020204020204" pitchFamily="34" charset="-122"/>
              </a:rPr>
              <a:t>(FT</a:t>
            </a:r>
            <a:r>
              <a:rPr lang="zh-CN" altLang="en-US" sz="1400" b="1" dirty="0">
                <a:solidFill>
                  <a:srgbClr val="000000"/>
                </a:solidFill>
                <a:latin typeface="Times New Roman" panose="02020603050405020304" pitchFamily="18" charset="0"/>
                <a:ea typeface="微软雅黑" panose="020B0503020204020204" pitchFamily="34" charset="-122"/>
              </a:rPr>
              <a:t>变换系数的直接应用</a:t>
            </a:r>
            <a:r>
              <a:rPr lang="en-US" altLang="zh-CN" sz="1400" b="1" dirty="0">
                <a:solidFill>
                  <a:srgbClr val="000000"/>
                </a:solidFill>
                <a:latin typeface="Times New Roman" panose="02020603050405020304" pitchFamily="18" charset="0"/>
                <a:ea typeface="微软雅黑" panose="020B0503020204020204" pitchFamily="34" charset="-122"/>
              </a:rPr>
              <a:t>)</a:t>
            </a:r>
          </a:p>
        </p:txBody>
      </p:sp>
      <p:pic>
        <p:nvPicPr>
          <p:cNvPr id="7"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27134" y="2239074"/>
            <a:ext cx="3185193" cy="182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图片 7"/>
          <p:cNvPicPr>
            <a:picLocks noChangeAspect="1"/>
          </p:cNvPicPr>
          <p:nvPr/>
        </p:nvPicPr>
        <p:blipFill>
          <a:blip r:embed="rId5" cstate="print">
            <a:extLst>
              <a:ext uri="{28A0092B-C50C-407E-A947-70E740481C1C}">
                <a14:useLocalDpi xmlns:a14="http://schemas.microsoft.com/office/drawing/2010/main" val="0"/>
              </a:ext>
            </a:extLst>
          </a:blip>
          <a:srcRect t="6667" r="7196"/>
          <a:stretch>
            <a:fillRect/>
          </a:stretch>
        </p:blipFill>
        <p:spPr bwMode="auto">
          <a:xfrm>
            <a:off x="7280276" y="4022036"/>
            <a:ext cx="3443142" cy="261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图片 8"/>
          <p:cNvPicPr>
            <a:picLocks noChangeAspect="1"/>
          </p:cNvPicPr>
          <p:nvPr/>
        </p:nvPicPr>
        <p:blipFill>
          <a:blip r:embed="rId6">
            <a:extLst>
              <a:ext uri="{28A0092B-C50C-407E-A947-70E740481C1C}">
                <a14:useLocalDpi xmlns:a14="http://schemas.microsoft.com/office/drawing/2010/main" val="0"/>
              </a:ext>
            </a:extLst>
          </a:blip>
          <a:srcRect l="6599" t="6841" r="7600"/>
          <a:stretch>
            <a:fillRect/>
          </a:stretch>
        </p:blipFill>
        <p:spPr bwMode="auto">
          <a:xfrm>
            <a:off x="7484313" y="1463317"/>
            <a:ext cx="3239105" cy="232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000" name="文本框 9"/>
          <p:cNvSpPr txBox="1">
            <a:spLocks noChangeArrowheads="1"/>
          </p:cNvSpPr>
          <p:nvPr/>
        </p:nvSpPr>
        <p:spPr bwMode="auto">
          <a:xfrm>
            <a:off x="7632974" y="3756418"/>
            <a:ext cx="29417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lnSpc>
                <a:spcPct val="120000"/>
              </a:lnSpc>
            </a:pPr>
            <a:r>
              <a:rPr lang="zh-CN" altLang="en-US" sz="1000" b="1" dirty="0">
                <a:solidFill>
                  <a:srgbClr val="000000"/>
                </a:solidFill>
                <a:latin typeface="Times New Roman" panose="02020603050405020304" pitchFamily="18" charset="0"/>
                <a:ea typeface="微软雅黑" panose="020B0503020204020204" pitchFamily="34" charset="-122"/>
              </a:rPr>
              <a:t>周期涡脱下典型圆柱尾流流向速度时域信号</a:t>
            </a:r>
            <a:endParaRPr lang="en-US" altLang="zh-CN" sz="1000" b="1" dirty="0">
              <a:solidFill>
                <a:srgbClr val="000000"/>
              </a:solidFill>
              <a:latin typeface="Times New Roman" panose="02020603050405020304" pitchFamily="18" charset="0"/>
              <a:ea typeface="微软雅黑" panose="020B0503020204020204" pitchFamily="34" charset="-122"/>
            </a:endParaRPr>
          </a:p>
        </p:txBody>
      </p:sp>
      <p:sp>
        <p:nvSpPr>
          <p:cNvPr id="11" name="文本框 10"/>
          <p:cNvSpPr txBox="1"/>
          <p:nvPr/>
        </p:nvSpPr>
        <p:spPr>
          <a:xfrm>
            <a:off x="7811352" y="6599040"/>
            <a:ext cx="2898211" cy="295466"/>
          </a:xfrm>
          <a:prstGeom prst="rect">
            <a:avLst/>
          </a:prstGeom>
          <a:noFill/>
        </p:spPr>
        <p:txBody>
          <a:bodyPr wrap="square">
            <a:spAutoFit/>
          </a:bodyPr>
          <a:lstStyle>
            <a:defPPr>
              <a:defRPr lang="zh-CN"/>
            </a:defPPr>
            <a:lvl1pPr>
              <a:lnSpc>
                <a:spcPct val="120000"/>
              </a:lnSpc>
              <a:defRPr sz="1000" b="1">
                <a:latin typeface="Times New Roman" panose="02020603050405020304" pitchFamily="18" charset="0"/>
                <a:ea typeface="微软雅黑" panose="020B0503020204020204" pitchFamily="34" charset="-122"/>
              </a:defRPr>
            </a:lvl1pPr>
          </a:lstStyle>
          <a:p>
            <a:pPr algn="ctr">
              <a:defRPr/>
            </a:pPr>
            <a:r>
              <a:rPr lang="zh-CN" altLang="en-US" sz="1100" kern="0" dirty="0">
                <a:solidFill>
                  <a:srgbClr val="000000"/>
                </a:solidFill>
              </a:rPr>
              <a:t>周期涡脱下典型尾流流向速度信号</a:t>
            </a:r>
            <a:r>
              <a:rPr lang="en-US" altLang="zh-CN" sz="1100" kern="0" dirty="0">
                <a:solidFill>
                  <a:srgbClr val="000000"/>
                </a:solidFill>
              </a:rPr>
              <a:t>FT</a:t>
            </a:r>
            <a:r>
              <a:rPr lang="zh-CN" altLang="en-US" sz="1100" kern="0" dirty="0">
                <a:solidFill>
                  <a:srgbClr val="000000"/>
                </a:solidFill>
              </a:rPr>
              <a:t>频域图</a:t>
            </a:r>
            <a:endParaRPr lang="en-US" altLang="zh-CN" sz="1100" kern="0" dirty="0">
              <a:solidFill>
                <a:srgbClr val="000000"/>
              </a:solidFill>
            </a:endParaRPr>
          </a:p>
        </p:txBody>
      </p:sp>
      <p:sp>
        <p:nvSpPr>
          <p:cNvPr id="85002" name="矩形 11"/>
          <p:cNvSpPr>
            <a:spLocks noChangeArrowheads="1"/>
          </p:cNvSpPr>
          <p:nvPr/>
        </p:nvSpPr>
        <p:spPr bwMode="auto">
          <a:xfrm>
            <a:off x="968217" y="6407496"/>
            <a:ext cx="958917"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600" b="1">
                <a:solidFill>
                  <a:srgbClr val="000000"/>
                </a:solidFill>
                <a:latin typeface="Times New Roman" panose="02020603050405020304" pitchFamily="18" charset="0"/>
                <a:ea typeface="微软雅黑" panose="020B0503020204020204" pitchFamily="34" charset="-122"/>
              </a:rPr>
              <a:t>St=</a:t>
            </a:r>
            <a:r>
              <a:rPr lang="en-US" altLang="zh-CN" sz="1600" b="1" i="1">
                <a:solidFill>
                  <a:srgbClr val="000000"/>
                </a:solidFill>
                <a:latin typeface="Times New Roman" panose="02020603050405020304" pitchFamily="18" charset="0"/>
                <a:ea typeface="微软雅黑" panose="020B0503020204020204" pitchFamily="34" charset="-122"/>
              </a:rPr>
              <a:t>f</a:t>
            </a:r>
            <a:r>
              <a:rPr lang="en-US" altLang="zh-CN" sz="1600" b="1" i="1" baseline="-25000">
                <a:solidFill>
                  <a:srgbClr val="000000"/>
                </a:solidFill>
                <a:latin typeface="Times New Roman" panose="02020603050405020304" pitchFamily="18" charset="0"/>
                <a:ea typeface="微软雅黑" panose="020B0503020204020204" pitchFamily="34" charset="-122"/>
              </a:rPr>
              <a:t>s</a:t>
            </a:r>
            <a:r>
              <a:rPr lang="en-US" altLang="zh-CN" sz="1600" b="1" i="1">
                <a:solidFill>
                  <a:srgbClr val="000000"/>
                </a:solidFill>
                <a:latin typeface="Times New Roman" panose="02020603050405020304" pitchFamily="18" charset="0"/>
                <a:ea typeface="微软雅黑" panose="020B0503020204020204" pitchFamily="34" charset="-122"/>
              </a:rPr>
              <a:t>D/U</a:t>
            </a:r>
            <a:endParaRPr lang="en-US" altLang="zh-CN" sz="1600" b="1">
              <a:solidFill>
                <a:srgbClr val="000000"/>
              </a:solidFill>
              <a:latin typeface="Times New Roman" panose="02020603050405020304" pitchFamily="18" charset="0"/>
              <a:ea typeface="微软雅黑" panose="020B0503020204020204" pitchFamily="34" charset="-122"/>
            </a:endParaRPr>
          </a:p>
        </p:txBody>
      </p:sp>
      <p:sp>
        <p:nvSpPr>
          <p:cNvPr id="13" name="文本框 12"/>
          <p:cNvSpPr txBox="1"/>
          <p:nvPr/>
        </p:nvSpPr>
        <p:spPr>
          <a:xfrm>
            <a:off x="4095083" y="6500019"/>
            <a:ext cx="1352550" cy="295275"/>
          </a:xfrm>
          <a:prstGeom prst="rect">
            <a:avLst/>
          </a:prstGeom>
          <a:noFill/>
        </p:spPr>
        <p:txBody>
          <a:bodyPr>
            <a:spAutoFit/>
          </a:bodyPr>
          <a:lstStyle>
            <a:defPPr>
              <a:defRPr lang="zh-CN"/>
            </a:defPPr>
            <a:lvl1pPr>
              <a:lnSpc>
                <a:spcPct val="120000"/>
              </a:lnSpc>
              <a:defRPr sz="1000" b="1">
                <a:latin typeface="Times New Roman" panose="02020603050405020304" pitchFamily="18" charset="0"/>
                <a:ea typeface="微软雅黑" panose="020B0503020204020204" pitchFamily="34" charset="-122"/>
              </a:defRPr>
            </a:lvl1pPr>
          </a:lstStyle>
          <a:p>
            <a:pPr>
              <a:defRPr/>
            </a:pPr>
            <a:r>
              <a:rPr lang="en-US" altLang="zh-CN" sz="1100" kern="0" dirty="0" err="1">
                <a:solidFill>
                  <a:srgbClr val="FF0000"/>
                </a:solidFill>
              </a:rPr>
              <a:t>Shewe</a:t>
            </a:r>
            <a:r>
              <a:rPr lang="en-US" altLang="zh-CN" sz="1100" kern="0" dirty="0">
                <a:solidFill>
                  <a:srgbClr val="FF0000"/>
                </a:solidFill>
              </a:rPr>
              <a:t>(1983), JFM</a:t>
            </a:r>
          </a:p>
        </p:txBody>
      </p:sp>
      <p:sp>
        <p:nvSpPr>
          <p:cNvPr id="17" name="矩形 3"/>
          <p:cNvSpPr>
            <a:spLocks noChangeArrowheads="1"/>
          </p:cNvSpPr>
          <p:nvPr/>
        </p:nvSpPr>
        <p:spPr bwMode="auto">
          <a:xfrm>
            <a:off x="672916" y="1384302"/>
            <a:ext cx="2513629" cy="400110"/>
          </a:xfrm>
          <a:prstGeom prst="rect">
            <a:avLst/>
          </a:prstGeom>
          <a:noFill/>
          <a:extLst/>
        </p:spPr>
        <p:txBody>
          <a:bodyPr wrap="square" rtlCol="0">
            <a:spAutoFit/>
          </a:bodyPr>
          <a:lstStyle/>
          <a:p>
            <a:r>
              <a:rPr lang="en-US" altLang="zh-CN" sz="2000" dirty="0" smtClean="0">
                <a:latin typeface="华文细黑" panose="02010600040101010101" pitchFamily="2" charset="-122"/>
                <a:ea typeface="华文细黑" panose="02010600040101010101" pitchFamily="2" charset="-122"/>
              </a:rPr>
              <a:t>Fourier</a:t>
            </a:r>
            <a:r>
              <a:rPr lang="zh-CN" altLang="en-US" sz="2000" smtClean="0">
                <a:latin typeface="华文细黑" panose="02010600040101010101" pitchFamily="2" charset="-122"/>
                <a:ea typeface="华文细黑" panose="02010600040101010101" pitchFamily="2" charset="-122"/>
              </a:rPr>
              <a:t>变换示例</a:t>
            </a:r>
            <a:endParaRPr lang="en-US" altLang="zh-CN" sz="2000" dirty="0">
              <a:latin typeface="华文细黑" panose="02010600040101010101" pitchFamily="2" charset="-122"/>
              <a:ea typeface="华文细黑" panose="02010600040101010101" pitchFamily="2" charset="-122"/>
            </a:endParaRPr>
          </a:p>
        </p:txBody>
      </p:sp>
      <p:sp>
        <p:nvSpPr>
          <p:cNvPr id="19" name="文本框 18"/>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39</a:t>
            </a:fld>
            <a:endParaRPr lang="zh-CN" altLang="en-US"/>
          </a:p>
        </p:txBody>
      </p:sp>
    </p:spTree>
    <p:extLst>
      <p:ext uri="{BB962C8B-B14F-4D97-AF65-F5344CB8AC3E}">
        <p14:creationId xmlns:p14="http://schemas.microsoft.com/office/powerpoint/2010/main" val="2839918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文本框 4"/>
          <p:cNvSpPr txBox="1">
            <a:spLocks noChangeArrowheads="1"/>
          </p:cNvSpPr>
          <p:nvPr/>
        </p:nvSpPr>
        <p:spPr bwMode="auto">
          <a:xfrm>
            <a:off x="672916" y="1710563"/>
            <a:ext cx="31019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滤波降噪</a:t>
            </a:r>
            <a:r>
              <a:rPr lang="en-US" altLang="zh-CN" sz="1400" b="1" dirty="0">
                <a:solidFill>
                  <a:srgbClr val="000000"/>
                </a:solidFill>
                <a:latin typeface="Times New Roman" panose="02020603050405020304" pitchFamily="18" charset="0"/>
                <a:ea typeface="微软雅黑" panose="020B0503020204020204" pitchFamily="34" charset="-122"/>
              </a:rPr>
              <a:t>(FT</a:t>
            </a:r>
            <a:r>
              <a:rPr lang="zh-CN" altLang="en-US" sz="1400" b="1" dirty="0">
                <a:solidFill>
                  <a:srgbClr val="000000"/>
                </a:solidFill>
                <a:latin typeface="Times New Roman" panose="02020603050405020304" pitchFamily="18" charset="0"/>
                <a:ea typeface="微软雅黑" panose="020B0503020204020204" pitchFamily="34" charset="-122"/>
              </a:rPr>
              <a:t>变换系数的处理</a:t>
            </a:r>
            <a:r>
              <a:rPr lang="en-US" altLang="zh-CN" sz="1400" b="1" dirty="0">
                <a:solidFill>
                  <a:srgbClr val="000000"/>
                </a:solidFill>
                <a:latin typeface="Times New Roman" panose="02020603050405020304" pitchFamily="18" charset="0"/>
                <a:ea typeface="微软雅黑" panose="020B0503020204020204" pitchFamily="34" charset="-122"/>
              </a:rPr>
              <a:t>)</a:t>
            </a:r>
          </a:p>
        </p:txBody>
      </p:sp>
      <p:pic>
        <p:nvPicPr>
          <p:cNvPr id="86021" name="图片 6"/>
          <p:cNvPicPr>
            <a:picLocks noChangeAspect="1"/>
          </p:cNvPicPr>
          <p:nvPr/>
        </p:nvPicPr>
        <p:blipFill>
          <a:blip r:embed="rId2">
            <a:extLst>
              <a:ext uri="{28A0092B-C50C-407E-A947-70E740481C1C}">
                <a14:useLocalDpi xmlns:a14="http://schemas.microsoft.com/office/drawing/2010/main" val="0"/>
              </a:ext>
            </a:extLst>
          </a:blip>
          <a:srcRect l="10416" t="4054" r="53075" b="6133"/>
          <a:stretch>
            <a:fillRect/>
          </a:stretch>
        </p:blipFill>
        <p:spPr bwMode="auto">
          <a:xfrm>
            <a:off x="927008" y="2060576"/>
            <a:ext cx="3894374" cy="4798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2" name="图片 7"/>
          <p:cNvPicPr>
            <a:picLocks noChangeAspect="1"/>
          </p:cNvPicPr>
          <p:nvPr/>
        </p:nvPicPr>
        <p:blipFill>
          <a:blip r:embed="rId2">
            <a:extLst>
              <a:ext uri="{28A0092B-C50C-407E-A947-70E740481C1C}">
                <a14:useLocalDpi xmlns:a14="http://schemas.microsoft.com/office/drawing/2010/main" val="0"/>
              </a:ext>
            </a:extLst>
          </a:blip>
          <a:srcRect l="54008" t="4054" r="8751" b="6133"/>
          <a:stretch>
            <a:fillRect/>
          </a:stretch>
        </p:blipFill>
        <p:spPr bwMode="auto">
          <a:xfrm>
            <a:off x="5075473" y="2060576"/>
            <a:ext cx="3943835" cy="4766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3" name="矩形 8"/>
          <p:cNvSpPr>
            <a:spLocks noChangeArrowheads="1"/>
          </p:cNvSpPr>
          <p:nvPr/>
        </p:nvSpPr>
        <p:spPr bwMode="auto">
          <a:xfrm>
            <a:off x="9627035" y="3870326"/>
            <a:ext cx="1512020"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dirty="0" smtClean="0">
                <a:solidFill>
                  <a:srgbClr val="000000"/>
                </a:solidFill>
                <a:latin typeface="Times New Roman" panose="02020603050405020304" pitchFamily="18" charset="0"/>
                <a:ea typeface="微软雅黑" panose="020B0503020204020204" pitchFamily="34" charset="-122"/>
              </a:rPr>
              <a:t>简易</a:t>
            </a:r>
            <a:r>
              <a:rPr lang="zh-CN" altLang="en-US" sz="1400" b="1" dirty="0">
                <a:solidFill>
                  <a:srgbClr val="000000"/>
                </a:solidFill>
                <a:latin typeface="Times New Roman" panose="02020603050405020304" pitchFamily="18" charset="0"/>
                <a:ea typeface="微软雅黑" panose="020B0503020204020204" pitchFamily="34" charset="-122"/>
              </a:rPr>
              <a:t>降噪：令</a:t>
            </a:r>
            <a:r>
              <a:rPr lang="en-US" altLang="zh-CN" sz="1400" b="1" dirty="0">
                <a:solidFill>
                  <a:srgbClr val="000000"/>
                </a:solidFill>
                <a:latin typeface="Times New Roman" panose="02020603050405020304" pitchFamily="18" charset="0"/>
                <a:ea typeface="微软雅黑" panose="020B0503020204020204" pitchFamily="34" charset="-122"/>
              </a:rPr>
              <a:t>FT</a:t>
            </a:r>
            <a:r>
              <a:rPr lang="zh-CN" altLang="en-US" sz="1400" b="1" dirty="0">
                <a:solidFill>
                  <a:srgbClr val="000000"/>
                </a:solidFill>
                <a:latin typeface="Times New Roman" panose="02020603050405020304" pitchFamily="18" charset="0"/>
                <a:ea typeface="微软雅黑" panose="020B0503020204020204" pitchFamily="34" charset="-122"/>
              </a:rPr>
              <a:t>系数在</a:t>
            </a:r>
            <a:r>
              <a:rPr lang="en-US" altLang="zh-CN" sz="1400" b="1" dirty="0">
                <a:solidFill>
                  <a:srgbClr val="000000"/>
                </a:solidFill>
                <a:latin typeface="Times New Roman" panose="02020603050405020304" pitchFamily="18" charset="0"/>
                <a:ea typeface="微软雅黑" panose="020B0503020204020204" pitchFamily="34" charset="-122"/>
              </a:rPr>
              <a:t>25Hz</a:t>
            </a:r>
            <a:r>
              <a:rPr lang="zh-CN" altLang="en-US" sz="1400" b="1" dirty="0">
                <a:solidFill>
                  <a:srgbClr val="000000"/>
                </a:solidFill>
                <a:latin typeface="Times New Roman" panose="02020603050405020304" pitchFamily="18" charset="0"/>
                <a:ea typeface="微软雅黑" panose="020B0503020204020204" pitchFamily="34" charset="-122"/>
              </a:rPr>
              <a:t>以上为</a:t>
            </a:r>
            <a:r>
              <a:rPr lang="en-US" altLang="zh-CN" sz="1400" b="1" dirty="0">
                <a:solidFill>
                  <a:srgbClr val="000000"/>
                </a:solidFill>
                <a:latin typeface="Times New Roman" panose="02020603050405020304" pitchFamily="18" charset="0"/>
                <a:ea typeface="微软雅黑" panose="020B0503020204020204" pitchFamily="34" charset="-122"/>
              </a:rPr>
              <a:t>0, </a:t>
            </a:r>
            <a:r>
              <a:rPr lang="zh-CN" altLang="en-US" sz="1400" b="1" dirty="0">
                <a:solidFill>
                  <a:srgbClr val="000000"/>
                </a:solidFill>
                <a:latin typeface="Times New Roman" panose="02020603050405020304" pitchFamily="18" charset="0"/>
                <a:ea typeface="微软雅黑" panose="020B0503020204020204" pitchFamily="34" charset="-122"/>
              </a:rPr>
              <a:t>再进行</a:t>
            </a:r>
            <a:r>
              <a:rPr lang="en-US" altLang="zh-CN" sz="1400" b="1" dirty="0">
                <a:solidFill>
                  <a:srgbClr val="000000"/>
                </a:solidFill>
                <a:latin typeface="Times New Roman" panose="02020603050405020304" pitchFamily="18" charset="0"/>
                <a:ea typeface="微软雅黑" panose="020B0503020204020204" pitchFamily="34" charset="-122"/>
              </a:rPr>
              <a:t>IFT</a:t>
            </a:r>
          </a:p>
        </p:txBody>
      </p:sp>
      <p:sp>
        <p:nvSpPr>
          <p:cNvPr id="8" name="矩形 3"/>
          <p:cNvSpPr>
            <a:spLocks noChangeArrowheads="1"/>
          </p:cNvSpPr>
          <p:nvPr/>
        </p:nvSpPr>
        <p:spPr bwMode="auto">
          <a:xfrm>
            <a:off x="672916" y="1384302"/>
            <a:ext cx="2513629" cy="400110"/>
          </a:xfrm>
          <a:prstGeom prst="rect">
            <a:avLst/>
          </a:prstGeom>
          <a:noFill/>
          <a:extLst/>
        </p:spPr>
        <p:txBody>
          <a:bodyPr wrap="square" rtlCol="0">
            <a:spAutoFit/>
          </a:bodyPr>
          <a:lstStyle/>
          <a:p>
            <a:r>
              <a:rPr lang="en-US" altLang="zh-CN" sz="2000" dirty="0" smtClean="0">
                <a:latin typeface="华文细黑" panose="02010600040101010101" pitchFamily="2" charset="-122"/>
                <a:ea typeface="华文细黑" panose="02010600040101010101" pitchFamily="2" charset="-122"/>
              </a:rPr>
              <a:t>Fourier</a:t>
            </a:r>
            <a:r>
              <a:rPr lang="zh-CN" altLang="en-US" sz="2000" smtClean="0">
                <a:latin typeface="华文细黑" panose="02010600040101010101" pitchFamily="2" charset="-122"/>
                <a:ea typeface="华文细黑" panose="02010600040101010101" pitchFamily="2" charset="-122"/>
              </a:rPr>
              <a:t>变换示例</a:t>
            </a:r>
            <a:endParaRPr lang="en-US" altLang="zh-CN" sz="2000" dirty="0">
              <a:latin typeface="华文细黑" panose="02010600040101010101" pitchFamily="2" charset="-122"/>
              <a:ea typeface="华文细黑" panose="02010600040101010101" pitchFamily="2" charset="-122"/>
            </a:endParaRPr>
          </a:p>
        </p:txBody>
      </p:sp>
      <p:sp>
        <p:nvSpPr>
          <p:cNvPr id="10" name="文本框 9"/>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40</a:t>
            </a:fld>
            <a:endParaRPr lang="zh-CN" altLang="en-US"/>
          </a:p>
        </p:txBody>
      </p:sp>
    </p:spTree>
    <p:extLst>
      <p:ext uri="{BB962C8B-B14F-4D97-AF65-F5344CB8AC3E}">
        <p14:creationId xmlns:p14="http://schemas.microsoft.com/office/powerpoint/2010/main" val="41105483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文本框 4"/>
          <p:cNvSpPr txBox="1">
            <a:spLocks noChangeArrowheads="1"/>
          </p:cNvSpPr>
          <p:nvPr/>
        </p:nvSpPr>
        <p:spPr bwMode="auto">
          <a:xfrm>
            <a:off x="672916" y="1672194"/>
            <a:ext cx="29972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空间滤波与</a:t>
            </a:r>
            <a:r>
              <a:rPr lang="en-US" altLang="zh-CN" dirty="0">
                <a:solidFill>
                  <a:srgbClr val="000000"/>
                </a:solidFill>
                <a:latin typeface="Times New Roman" panose="02020603050405020304" pitchFamily="18" charset="0"/>
                <a:ea typeface="微软雅黑" panose="020B0503020204020204" pitchFamily="34" charset="-122"/>
              </a:rPr>
              <a:t>POD</a:t>
            </a:r>
            <a:r>
              <a:rPr lang="zh-CN" altLang="en-US" dirty="0">
                <a:solidFill>
                  <a:srgbClr val="000000"/>
                </a:solidFill>
                <a:latin typeface="Times New Roman" panose="02020603050405020304" pitchFamily="18" charset="0"/>
                <a:ea typeface="微软雅黑" panose="020B0503020204020204" pitchFamily="34" charset="-122"/>
              </a:rPr>
              <a:t>方法结合</a:t>
            </a:r>
            <a:endParaRPr lang="en-US" altLang="zh-CN" sz="1400" b="1" dirty="0">
              <a:solidFill>
                <a:srgbClr val="000000"/>
              </a:solidFill>
              <a:latin typeface="Times New Roman" panose="02020603050405020304" pitchFamily="18" charset="0"/>
              <a:ea typeface="微软雅黑" panose="020B0503020204020204" pitchFamily="34" charset="-122"/>
            </a:endParaRPr>
          </a:p>
        </p:txBody>
      </p:sp>
      <p:pic>
        <p:nvPicPr>
          <p:cNvPr id="87045"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99162" y="2183144"/>
            <a:ext cx="4383087"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6" name="图片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74727" y="2183144"/>
            <a:ext cx="43830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1942246" y="4148530"/>
            <a:ext cx="2416175" cy="461962"/>
          </a:xfrm>
          <a:prstGeom prst="rect">
            <a:avLst/>
          </a:prstGeom>
          <a:noFill/>
        </p:spPr>
        <p:txBody>
          <a:bodyPr>
            <a:spAutoFit/>
          </a:bodyPr>
          <a:lstStyle>
            <a:defPPr>
              <a:defRPr lang="zh-CN"/>
            </a:defPPr>
            <a:lvl1pPr>
              <a:lnSpc>
                <a:spcPct val="120000"/>
              </a:lnSpc>
              <a:defRPr sz="1000" b="1">
                <a:latin typeface="Times New Roman" panose="02020603050405020304" pitchFamily="18" charset="0"/>
                <a:ea typeface="微软雅黑" panose="020B0503020204020204" pitchFamily="34" charset="-122"/>
              </a:defRPr>
            </a:lvl1pPr>
          </a:lstStyle>
          <a:p>
            <a:pPr algn="ctr">
              <a:defRPr/>
            </a:pPr>
            <a:r>
              <a:rPr lang="zh-CN" altLang="en-US" sz="1050" kern="0" dirty="0">
                <a:solidFill>
                  <a:srgbClr val="000000"/>
                </a:solidFill>
              </a:rPr>
              <a:t>空间滤波前</a:t>
            </a:r>
            <a:r>
              <a:rPr lang="en-US" altLang="zh-CN" sz="1050" kern="0" dirty="0">
                <a:solidFill>
                  <a:srgbClr val="000000"/>
                </a:solidFill>
              </a:rPr>
              <a:t>POD</a:t>
            </a:r>
            <a:r>
              <a:rPr lang="zh-CN" altLang="en-US" sz="1050" kern="0" dirty="0">
                <a:solidFill>
                  <a:srgbClr val="000000"/>
                </a:solidFill>
              </a:rPr>
              <a:t>卡门涡街模态，受流向涡等干扰影响大</a:t>
            </a:r>
            <a:endParaRPr lang="en-US" altLang="zh-CN" sz="1050" kern="0" dirty="0">
              <a:solidFill>
                <a:srgbClr val="000000"/>
              </a:solidFill>
            </a:endParaRPr>
          </a:p>
        </p:txBody>
      </p:sp>
      <p:sp>
        <p:nvSpPr>
          <p:cNvPr id="10" name="文本框 9"/>
          <p:cNvSpPr txBox="1"/>
          <p:nvPr/>
        </p:nvSpPr>
        <p:spPr>
          <a:xfrm>
            <a:off x="7805595" y="4219212"/>
            <a:ext cx="2416175" cy="461962"/>
          </a:xfrm>
          <a:prstGeom prst="rect">
            <a:avLst/>
          </a:prstGeom>
          <a:noFill/>
        </p:spPr>
        <p:txBody>
          <a:bodyPr>
            <a:spAutoFit/>
          </a:bodyPr>
          <a:lstStyle>
            <a:defPPr>
              <a:defRPr lang="zh-CN"/>
            </a:defPPr>
            <a:lvl1pPr>
              <a:lnSpc>
                <a:spcPct val="120000"/>
              </a:lnSpc>
              <a:defRPr sz="1000" b="1">
                <a:latin typeface="Times New Roman" panose="02020603050405020304" pitchFamily="18" charset="0"/>
                <a:ea typeface="微软雅黑" panose="020B0503020204020204" pitchFamily="34" charset="-122"/>
              </a:defRPr>
            </a:lvl1pPr>
          </a:lstStyle>
          <a:p>
            <a:pPr algn="ctr">
              <a:defRPr/>
            </a:pPr>
            <a:r>
              <a:rPr lang="zh-CN" altLang="en-US" sz="1050" kern="0" dirty="0">
                <a:solidFill>
                  <a:srgbClr val="000000"/>
                </a:solidFill>
              </a:rPr>
              <a:t>空间滤波后</a:t>
            </a:r>
            <a:r>
              <a:rPr lang="en-US" altLang="zh-CN" sz="1050" kern="0" dirty="0">
                <a:solidFill>
                  <a:srgbClr val="000000"/>
                </a:solidFill>
              </a:rPr>
              <a:t>POD</a:t>
            </a:r>
            <a:r>
              <a:rPr lang="zh-CN" altLang="en-US" sz="1050" kern="0" dirty="0">
                <a:solidFill>
                  <a:srgbClr val="000000"/>
                </a:solidFill>
              </a:rPr>
              <a:t>卡门涡街模态，捕捉到一般意义下光滑二维涡街模态</a:t>
            </a:r>
            <a:endParaRPr lang="en-US" altLang="zh-CN" sz="1050" kern="0" dirty="0">
              <a:solidFill>
                <a:srgbClr val="000000"/>
              </a:solidFill>
            </a:endParaRPr>
          </a:p>
        </p:txBody>
      </p:sp>
      <p:sp>
        <p:nvSpPr>
          <p:cNvPr id="11" name="文本框 10"/>
          <p:cNvSpPr txBox="1"/>
          <p:nvPr/>
        </p:nvSpPr>
        <p:spPr>
          <a:xfrm>
            <a:off x="1780383" y="4940189"/>
            <a:ext cx="8728363" cy="1726627"/>
          </a:xfrm>
          <a:prstGeom prst="rect">
            <a:avLst/>
          </a:prstGeom>
          <a:noFill/>
        </p:spPr>
        <p:txBody>
          <a:bodyPr wrap="square">
            <a:spAutoFit/>
          </a:bodyPr>
          <a:lstStyle>
            <a:defPPr>
              <a:defRPr lang="zh-CN"/>
            </a:defPPr>
            <a:lvl1pPr>
              <a:lnSpc>
                <a:spcPct val="120000"/>
              </a:lnSpc>
              <a:defRPr sz="1000" b="1">
                <a:latin typeface="Times New Roman" panose="02020603050405020304" pitchFamily="18" charset="0"/>
                <a:ea typeface="微软雅黑" panose="020B0503020204020204" pitchFamily="34" charset="-122"/>
              </a:defRPr>
            </a:lvl1pPr>
          </a:lstStyle>
          <a:p>
            <a:pPr marL="171450" indent="-171450">
              <a:lnSpc>
                <a:spcPct val="150000"/>
              </a:lnSpc>
              <a:buFont typeface="Wingdings" panose="05000000000000000000" pitchFamily="2" charset="2"/>
              <a:buChar char="ü"/>
              <a:defRPr/>
            </a:pPr>
            <a:r>
              <a:rPr lang="en-US" altLang="zh-CN" sz="1600" kern="0" dirty="0">
                <a:solidFill>
                  <a:srgbClr val="000000"/>
                </a:solidFill>
              </a:rPr>
              <a:t>FFT</a:t>
            </a:r>
            <a:r>
              <a:rPr lang="zh-CN" altLang="en-US" sz="1600" kern="0" dirty="0">
                <a:solidFill>
                  <a:srgbClr val="000000"/>
                </a:solidFill>
              </a:rPr>
              <a:t>预处理空间流场数据：</a:t>
            </a:r>
            <a:endParaRPr lang="en-US" altLang="zh-CN" sz="1600" kern="0" dirty="0">
              <a:solidFill>
                <a:srgbClr val="000000"/>
              </a:solidFill>
            </a:endParaRPr>
          </a:p>
          <a:p>
            <a:pPr marL="171450" indent="-171450">
              <a:lnSpc>
                <a:spcPct val="150000"/>
              </a:lnSpc>
              <a:buFont typeface="Wingdings" panose="05000000000000000000" pitchFamily="2" charset="2"/>
              <a:buChar char="§"/>
              <a:defRPr/>
            </a:pPr>
            <a:r>
              <a:rPr lang="en-US" altLang="zh-CN" sz="1400" b="0" kern="0" dirty="0" err="1">
                <a:solidFill>
                  <a:srgbClr val="000000"/>
                </a:solidFill>
              </a:rPr>
              <a:t>xy</a:t>
            </a:r>
            <a:r>
              <a:rPr lang="zh-CN" altLang="en-US" sz="1400" b="0" kern="0" dirty="0">
                <a:solidFill>
                  <a:srgbClr val="000000"/>
                </a:solidFill>
              </a:rPr>
              <a:t>平面：固定</a:t>
            </a:r>
            <a:r>
              <a:rPr lang="en-US" altLang="zh-CN" sz="1400" b="0" kern="0" dirty="0">
                <a:solidFill>
                  <a:srgbClr val="000000"/>
                </a:solidFill>
              </a:rPr>
              <a:t>y, </a:t>
            </a:r>
            <a:r>
              <a:rPr lang="zh-CN" altLang="en-US" sz="1400" b="0" kern="0" dirty="0">
                <a:solidFill>
                  <a:srgbClr val="000000"/>
                </a:solidFill>
              </a:rPr>
              <a:t>沿</a:t>
            </a:r>
            <a:r>
              <a:rPr lang="en-US" altLang="zh-CN" sz="1400" b="0" kern="0" dirty="0">
                <a:solidFill>
                  <a:srgbClr val="000000"/>
                </a:solidFill>
              </a:rPr>
              <a:t>x</a:t>
            </a:r>
            <a:r>
              <a:rPr lang="zh-CN" altLang="en-US" sz="1400" b="0" kern="0" dirty="0">
                <a:solidFill>
                  <a:srgbClr val="000000"/>
                </a:solidFill>
              </a:rPr>
              <a:t>流向取空间点数据集</a:t>
            </a:r>
            <a:r>
              <a:rPr lang="en-US" altLang="zh-CN" sz="1400" b="0" kern="0" dirty="0">
                <a:solidFill>
                  <a:srgbClr val="000000"/>
                </a:solidFill>
              </a:rPr>
              <a:t>, </a:t>
            </a:r>
            <a:r>
              <a:rPr lang="zh-CN" altLang="en-US" sz="1400" b="0" kern="0" dirty="0">
                <a:solidFill>
                  <a:srgbClr val="000000"/>
                </a:solidFill>
              </a:rPr>
              <a:t>做流向</a:t>
            </a:r>
            <a:r>
              <a:rPr lang="en-US" altLang="zh-CN" sz="1400" b="0" kern="0" dirty="0">
                <a:solidFill>
                  <a:srgbClr val="000000"/>
                </a:solidFill>
              </a:rPr>
              <a:t>x</a:t>
            </a:r>
            <a:r>
              <a:rPr lang="zh-CN" altLang="en-US" sz="1400" b="0" kern="0" dirty="0">
                <a:solidFill>
                  <a:srgbClr val="000000"/>
                </a:solidFill>
              </a:rPr>
              <a:t>的空间</a:t>
            </a:r>
            <a:r>
              <a:rPr lang="en-US" altLang="zh-CN" sz="1400" b="0" kern="0" dirty="0">
                <a:solidFill>
                  <a:srgbClr val="000000"/>
                </a:solidFill>
              </a:rPr>
              <a:t>FT, </a:t>
            </a:r>
            <a:r>
              <a:rPr lang="zh-CN" altLang="en-US" sz="1400" b="0" kern="0" dirty="0">
                <a:solidFill>
                  <a:srgbClr val="000000"/>
                </a:solidFill>
              </a:rPr>
              <a:t>滤除高波数</a:t>
            </a:r>
            <a:r>
              <a:rPr lang="en-US" altLang="zh-CN" sz="1400" b="0" kern="0" dirty="0">
                <a:solidFill>
                  <a:srgbClr val="000000"/>
                </a:solidFill>
              </a:rPr>
              <a:t>(</a:t>
            </a:r>
            <a:r>
              <a:rPr lang="zh-CN" altLang="en-US" sz="1400" b="0" kern="0" dirty="0">
                <a:solidFill>
                  <a:srgbClr val="000000"/>
                </a:solidFill>
              </a:rPr>
              <a:t>低波长成分</a:t>
            </a:r>
            <a:r>
              <a:rPr lang="en-US" altLang="zh-CN" sz="1400" b="0" kern="0" dirty="0">
                <a:solidFill>
                  <a:srgbClr val="000000"/>
                </a:solidFill>
              </a:rPr>
              <a:t>);  </a:t>
            </a:r>
            <a:r>
              <a:rPr lang="zh-CN" altLang="en-US" sz="1400" b="0" kern="0" dirty="0">
                <a:solidFill>
                  <a:srgbClr val="000000"/>
                </a:solidFill>
              </a:rPr>
              <a:t>改变</a:t>
            </a:r>
            <a:r>
              <a:rPr lang="en-US" altLang="zh-CN" sz="1400" b="0" kern="0" dirty="0">
                <a:solidFill>
                  <a:srgbClr val="000000"/>
                </a:solidFill>
              </a:rPr>
              <a:t>y, </a:t>
            </a:r>
            <a:r>
              <a:rPr lang="zh-CN" altLang="en-US" sz="1400" b="0" kern="0" dirty="0">
                <a:solidFill>
                  <a:srgbClr val="000000"/>
                </a:solidFill>
              </a:rPr>
              <a:t>重复过程</a:t>
            </a:r>
            <a:r>
              <a:rPr lang="en-US" altLang="zh-CN" sz="1400" b="0" kern="0" dirty="0">
                <a:solidFill>
                  <a:srgbClr val="000000"/>
                </a:solidFill>
              </a:rPr>
              <a:t>; </a:t>
            </a:r>
          </a:p>
          <a:p>
            <a:pPr marL="171450" indent="-171450">
              <a:lnSpc>
                <a:spcPct val="150000"/>
              </a:lnSpc>
              <a:buFont typeface="Wingdings" panose="05000000000000000000" pitchFamily="2" charset="2"/>
              <a:buChar char="§"/>
              <a:defRPr/>
            </a:pPr>
            <a:r>
              <a:rPr lang="en-US" altLang="zh-CN" sz="1400" b="0" kern="0" dirty="0" err="1">
                <a:solidFill>
                  <a:srgbClr val="000000"/>
                </a:solidFill>
              </a:rPr>
              <a:t>Xz</a:t>
            </a:r>
            <a:r>
              <a:rPr lang="zh-CN" altLang="en-US" sz="1400" b="0" kern="0" dirty="0">
                <a:solidFill>
                  <a:srgbClr val="000000"/>
                </a:solidFill>
              </a:rPr>
              <a:t>平面：固定</a:t>
            </a:r>
            <a:r>
              <a:rPr lang="en-US" altLang="zh-CN" sz="1400" b="0" kern="0" dirty="0">
                <a:solidFill>
                  <a:srgbClr val="000000"/>
                </a:solidFill>
              </a:rPr>
              <a:t>z, </a:t>
            </a:r>
            <a:r>
              <a:rPr lang="zh-CN" altLang="en-US" sz="1400" b="0" kern="0" dirty="0">
                <a:solidFill>
                  <a:srgbClr val="000000"/>
                </a:solidFill>
              </a:rPr>
              <a:t>沿</a:t>
            </a:r>
            <a:r>
              <a:rPr lang="en-US" altLang="zh-CN" sz="1400" b="0" kern="0" dirty="0">
                <a:solidFill>
                  <a:srgbClr val="000000"/>
                </a:solidFill>
              </a:rPr>
              <a:t>x</a:t>
            </a:r>
            <a:r>
              <a:rPr lang="zh-CN" altLang="en-US" sz="1400" b="0" kern="0" dirty="0">
                <a:solidFill>
                  <a:srgbClr val="000000"/>
                </a:solidFill>
              </a:rPr>
              <a:t>流向取空间点数据集</a:t>
            </a:r>
            <a:r>
              <a:rPr lang="en-US" altLang="zh-CN" sz="1400" b="0" kern="0" dirty="0">
                <a:solidFill>
                  <a:srgbClr val="000000"/>
                </a:solidFill>
              </a:rPr>
              <a:t>, </a:t>
            </a:r>
            <a:r>
              <a:rPr lang="zh-CN" altLang="en-US" sz="1400" b="0" kern="0" dirty="0">
                <a:solidFill>
                  <a:srgbClr val="000000"/>
                </a:solidFill>
              </a:rPr>
              <a:t>做流向</a:t>
            </a:r>
            <a:r>
              <a:rPr lang="en-US" altLang="zh-CN" sz="1400" b="0" kern="0" dirty="0">
                <a:solidFill>
                  <a:srgbClr val="000000"/>
                </a:solidFill>
              </a:rPr>
              <a:t>x</a:t>
            </a:r>
            <a:r>
              <a:rPr lang="zh-CN" altLang="en-US" sz="1400" b="0" kern="0" dirty="0">
                <a:solidFill>
                  <a:srgbClr val="000000"/>
                </a:solidFill>
              </a:rPr>
              <a:t>的空间</a:t>
            </a:r>
            <a:r>
              <a:rPr lang="en-US" altLang="zh-CN" sz="1400" b="0" kern="0" dirty="0">
                <a:solidFill>
                  <a:srgbClr val="000000"/>
                </a:solidFill>
              </a:rPr>
              <a:t>FT, </a:t>
            </a:r>
            <a:r>
              <a:rPr lang="zh-CN" altLang="en-US" sz="1400" b="0" kern="0" dirty="0">
                <a:solidFill>
                  <a:srgbClr val="000000"/>
                </a:solidFill>
              </a:rPr>
              <a:t>滤除高波数</a:t>
            </a:r>
            <a:r>
              <a:rPr lang="en-US" altLang="zh-CN" sz="1400" b="0" kern="0" dirty="0">
                <a:solidFill>
                  <a:srgbClr val="000000"/>
                </a:solidFill>
              </a:rPr>
              <a:t>(</a:t>
            </a:r>
            <a:r>
              <a:rPr lang="zh-CN" altLang="en-US" sz="1400" b="0" kern="0" dirty="0">
                <a:solidFill>
                  <a:srgbClr val="000000"/>
                </a:solidFill>
              </a:rPr>
              <a:t>低波长成分</a:t>
            </a:r>
            <a:r>
              <a:rPr lang="en-US" altLang="zh-CN" sz="1400" b="0" kern="0" dirty="0">
                <a:solidFill>
                  <a:srgbClr val="000000"/>
                </a:solidFill>
              </a:rPr>
              <a:t>);  </a:t>
            </a:r>
            <a:r>
              <a:rPr lang="zh-CN" altLang="en-US" sz="1400" b="0" kern="0" dirty="0">
                <a:solidFill>
                  <a:srgbClr val="000000"/>
                </a:solidFill>
              </a:rPr>
              <a:t>改变</a:t>
            </a:r>
            <a:r>
              <a:rPr lang="en-US" altLang="zh-CN" sz="1400" b="0" kern="0" dirty="0">
                <a:solidFill>
                  <a:srgbClr val="000000"/>
                </a:solidFill>
              </a:rPr>
              <a:t>z, </a:t>
            </a:r>
            <a:r>
              <a:rPr lang="zh-CN" altLang="en-US" sz="1400" b="0" kern="0" dirty="0">
                <a:solidFill>
                  <a:srgbClr val="000000"/>
                </a:solidFill>
              </a:rPr>
              <a:t>重复过程</a:t>
            </a:r>
            <a:r>
              <a:rPr lang="en-US" altLang="zh-CN" sz="1400" b="0" kern="0" dirty="0">
                <a:solidFill>
                  <a:srgbClr val="000000"/>
                </a:solidFill>
              </a:rPr>
              <a:t>; </a:t>
            </a:r>
          </a:p>
          <a:p>
            <a:pPr marL="171450" indent="-171450">
              <a:lnSpc>
                <a:spcPct val="150000"/>
              </a:lnSpc>
              <a:buFont typeface="Wingdings" panose="05000000000000000000" pitchFamily="2" charset="2"/>
              <a:buChar char="§"/>
              <a:defRPr/>
            </a:pPr>
            <a:r>
              <a:rPr lang="zh-CN" altLang="en-US" sz="1400" b="0" kern="0" dirty="0">
                <a:solidFill>
                  <a:srgbClr val="000000"/>
                </a:solidFill>
              </a:rPr>
              <a:t>低波数成分做</a:t>
            </a:r>
            <a:r>
              <a:rPr lang="en-US" altLang="zh-CN" sz="1400" b="0" kern="0" dirty="0">
                <a:solidFill>
                  <a:srgbClr val="000000"/>
                </a:solidFill>
              </a:rPr>
              <a:t>IFT, </a:t>
            </a:r>
            <a:r>
              <a:rPr lang="zh-CN" altLang="en-US" sz="1400" b="0" kern="0" dirty="0">
                <a:solidFill>
                  <a:srgbClr val="000000"/>
                </a:solidFill>
              </a:rPr>
              <a:t>获得</a:t>
            </a:r>
            <a:r>
              <a:rPr lang="en-US" altLang="zh-CN" sz="1400" b="0" kern="0" dirty="0">
                <a:solidFill>
                  <a:srgbClr val="000000"/>
                </a:solidFill>
              </a:rPr>
              <a:t>FFT</a:t>
            </a:r>
            <a:r>
              <a:rPr lang="zh-CN" altLang="en-US" sz="1400" b="0" kern="0" dirty="0">
                <a:solidFill>
                  <a:srgbClr val="000000"/>
                </a:solidFill>
              </a:rPr>
              <a:t>预处理流场</a:t>
            </a:r>
            <a:r>
              <a:rPr lang="zh-CN" altLang="en-US" sz="1400" b="0" kern="0" dirty="0" smtClean="0">
                <a:solidFill>
                  <a:srgbClr val="000000"/>
                </a:solidFill>
              </a:rPr>
              <a:t>数据</a:t>
            </a:r>
            <a:endParaRPr lang="en-US" altLang="zh-CN" sz="1400" b="0" kern="0" dirty="0">
              <a:solidFill>
                <a:srgbClr val="000000"/>
              </a:solidFill>
            </a:endParaRPr>
          </a:p>
          <a:p>
            <a:pPr marL="171450" indent="-171450">
              <a:buFont typeface="Wingdings" panose="05000000000000000000" pitchFamily="2" charset="2"/>
              <a:buChar char="ü"/>
              <a:defRPr/>
            </a:pPr>
            <a:r>
              <a:rPr lang="en-US" altLang="zh-CN" sz="1600" kern="0" dirty="0">
                <a:solidFill>
                  <a:srgbClr val="000000"/>
                </a:solidFill>
              </a:rPr>
              <a:t>POD</a:t>
            </a:r>
            <a:r>
              <a:rPr lang="zh-CN" altLang="en-US" sz="1600" kern="0" dirty="0">
                <a:solidFill>
                  <a:srgbClr val="000000"/>
                </a:solidFill>
              </a:rPr>
              <a:t>分析获得光滑二维涡街模态</a:t>
            </a:r>
            <a:endParaRPr lang="en-US" altLang="zh-CN" sz="1600" kern="0" dirty="0">
              <a:solidFill>
                <a:srgbClr val="000000"/>
              </a:solidFill>
            </a:endParaRPr>
          </a:p>
        </p:txBody>
      </p:sp>
      <p:sp>
        <p:nvSpPr>
          <p:cNvPr id="87050" name="矩形 11"/>
          <p:cNvSpPr>
            <a:spLocks noChangeArrowheads="1"/>
          </p:cNvSpPr>
          <p:nvPr/>
        </p:nvSpPr>
        <p:spPr bwMode="auto">
          <a:xfrm>
            <a:off x="3024921" y="1429939"/>
            <a:ext cx="3405187"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lnSpc>
                <a:spcPct val="120000"/>
              </a:lnSpc>
            </a:pPr>
            <a:r>
              <a:rPr lang="en-US" altLang="zh-CN" sz="1200" b="1" dirty="0" err="1" smtClean="0">
                <a:solidFill>
                  <a:srgbClr val="FF0000"/>
                </a:solidFill>
                <a:latin typeface="Times New Roman" panose="02020603050405020304" pitchFamily="18" charset="0"/>
                <a:ea typeface="微软雅黑" panose="020B0503020204020204" pitchFamily="34" charset="-122"/>
              </a:rPr>
              <a:t>Aradag</a:t>
            </a:r>
            <a:r>
              <a:rPr lang="en-US" altLang="zh-CN" sz="1200" b="1" dirty="0" smtClean="0">
                <a:solidFill>
                  <a:srgbClr val="FF0000"/>
                </a:solidFill>
                <a:latin typeface="Times New Roman" panose="02020603050405020304" pitchFamily="18" charset="0"/>
                <a:ea typeface="微软雅黑" panose="020B0503020204020204" pitchFamily="34" charset="-122"/>
              </a:rPr>
              <a:t> S </a:t>
            </a:r>
            <a:r>
              <a:rPr lang="en-US" altLang="zh-CN" sz="1200" b="1" dirty="0">
                <a:solidFill>
                  <a:srgbClr val="FF0000"/>
                </a:solidFill>
                <a:latin typeface="Times New Roman" panose="02020603050405020304" pitchFamily="18" charset="0"/>
                <a:ea typeface="微软雅黑" panose="020B0503020204020204" pitchFamily="34" charset="-122"/>
              </a:rPr>
              <a:t>et al. (2011) Int. J. </a:t>
            </a:r>
            <a:r>
              <a:rPr lang="en-US" altLang="zh-CN" sz="1200" b="1" dirty="0" err="1">
                <a:solidFill>
                  <a:srgbClr val="FF0000"/>
                </a:solidFill>
                <a:latin typeface="Times New Roman" panose="02020603050405020304" pitchFamily="18" charset="0"/>
                <a:ea typeface="微软雅黑" panose="020B0503020204020204" pitchFamily="34" charset="-122"/>
              </a:rPr>
              <a:t>Numer</a:t>
            </a:r>
            <a:r>
              <a:rPr lang="en-US" altLang="zh-CN" sz="1200" b="1" dirty="0">
                <a:solidFill>
                  <a:srgbClr val="FF0000"/>
                </a:solidFill>
                <a:latin typeface="Times New Roman" panose="02020603050405020304" pitchFamily="18" charset="0"/>
                <a:ea typeface="微软雅黑" panose="020B0503020204020204" pitchFamily="34" charset="-122"/>
              </a:rPr>
              <a:t>. Meth. Fluids</a:t>
            </a:r>
          </a:p>
        </p:txBody>
      </p:sp>
      <p:sp>
        <p:nvSpPr>
          <p:cNvPr id="12" name="矩形 3"/>
          <p:cNvSpPr>
            <a:spLocks noChangeArrowheads="1"/>
          </p:cNvSpPr>
          <p:nvPr/>
        </p:nvSpPr>
        <p:spPr bwMode="auto">
          <a:xfrm>
            <a:off x="672916" y="1384302"/>
            <a:ext cx="2513629" cy="400110"/>
          </a:xfrm>
          <a:prstGeom prst="rect">
            <a:avLst/>
          </a:prstGeom>
          <a:noFill/>
          <a:extLst/>
        </p:spPr>
        <p:txBody>
          <a:bodyPr wrap="square" rtlCol="0">
            <a:spAutoFit/>
          </a:bodyPr>
          <a:lstStyle/>
          <a:p>
            <a:r>
              <a:rPr lang="en-US" altLang="zh-CN" sz="2000" dirty="0" smtClean="0">
                <a:latin typeface="华文细黑" panose="02010600040101010101" pitchFamily="2" charset="-122"/>
                <a:ea typeface="华文细黑" panose="02010600040101010101" pitchFamily="2" charset="-122"/>
              </a:rPr>
              <a:t>Fourier</a:t>
            </a:r>
            <a:r>
              <a:rPr lang="zh-CN" altLang="en-US" sz="2000" smtClean="0">
                <a:latin typeface="华文细黑" panose="02010600040101010101" pitchFamily="2" charset="-122"/>
                <a:ea typeface="华文细黑" panose="02010600040101010101" pitchFamily="2" charset="-122"/>
              </a:rPr>
              <a:t>变换示例</a:t>
            </a:r>
            <a:endParaRPr lang="en-US" altLang="zh-CN" sz="2000" dirty="0">
              <a:latin typeface="华文细黑" panose="02010600040101010101" pitchFamily="2" charset="-122"/>
              <a:ea typeface="华文细黑" panose="02010600040101010101" pitchFamily="2" charset="-122"/>
            </a:endParaRPr>
          </a:p>
        </p:txBody>
      </p:sp>
      <p:sp>
        <p:nvSpPr>
          <p:cNvPr id="14" name="文本框 13"/>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41</a:t>
            </a:fld>
            <a:endParaRPr lang="zh-CN" altLang="en-US"/>
          </a:p>
        </p:txBody>
      </p:sp>
    </p:spTree>
    <p:extLst>
      <p:ext uri="{BB962C8B-B14F-4D97-AF65-F5344CB8AC3E}">
        <p14:creationId xmlns:p14="http://schemas.microsoft.com/office/powerpoint/2010/main" val="3930448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98571" y="2053613"/>
            <a:ext cx="10772991" cy="1089025"/>
          </a:xfrm>
          <a:prstGeom prst="rect">
            <a:avLst/>
          </a:prstGeom>
          <a:noFill/>
        </p:spPr>
        <p:txBody>
          <a:bodyPr wrap="square">
            <a:spAutoFit/>
          </a:bodyPr>
          <a:lstStyle/>
          <a:p>
            <a:pPr marL="285750" indent="-285750">
              <a:lnSpc>
                <a:spcPct val="120000"/>
              </a:lnSpc>
              <a:buFont typeface="Arial" panose="020B0604020202020204" pitchFamily="34" charset="0"/>
              <a:buChar char="•"/>
              <a:defRPr/>
            </a:pPr>
            <a:r>
              <a:rPr lang="zh-CN" altLang="en-US" dirty="0">
                <a:solidFill>
                  <a:srgbClr val="000000"/>
                </a:solidFill>
                <a:latin typeface="Times New Roman" panose="02020603050405020304" pitchFamily="18" charset="0"/>
                <a:ea typeface="微软雅黑" panose="020B0503020204020204" pitchFamily="34" charset="-122"/>
              </a:rPr>
              <a:t>适用于</a:t>
            </a:r>
            <a:r>
              <a:rPr lang="zh-CN" altLang="en-US" b="1" dirty="0">
                <a:solidFill>
                  <a:srgbClr val="000000"/>
                </a:solidFill>
                <a:latin typeface="Times New Roman" panose="02020603050405020304" pitchFamily="18" charset="0"/>
                <a:ea typeface="微软雅黑" panose="020B0503020204020204" pitchFamily="34" charset="-122"/>
              </a:rPr>
              <a:t>平稳能量信号</a:t>
            </a:r>
            <a:r>
              <a:rPr lang="en-US" altLang="zh-CN" dirty="0">
                <a:solidFill>
                  <a:srgbClr val="000000"/>
                </a:solidFill>
                <a:latin typeface="Times New Roman" panose="02020603050405020304" pitchFamily="18" charset="0"/>
                <a:ea typeface="微软雅黑" panose="020B0503020204020204" pitchFamily="34" charset="-122"/>
              </a:rPr>
              <a:t>(</a:t>
            </a:r>
            <a:r>
              <a:rPr lang="zh-CN" altLang="en-US" dirty="0">
                <a:solidFill>
                  <a:srgbClr val="000000"/>
                </a:solidFill>
                <a:latin typeface="Times New Roman" panose="02020603050405020304" pitchFamily="18" charset="0"/>
                <a:ea typeface="微软雅黑" panose="020B0503020204020204" pitchFamily="34" charset="-122"/>
              </a:rPr>
              <a:t>能量有限信号，</a:t>
            </a:r>
            <a:r>
              <a:rPr lang="en-US" altLang="zh-CN" dirty="0">
                <a:solidFill>
                  <a:srgbClr val="000000"/>
                </a:solidFill>
                <a:latin typeface="Times New Roman" panose="02020603050405020304" pitchFamily="18" charset="0"/>
                <a:ea typeface="微软雅黑" panose="020B0503020204020204" pitchFamily="34" charset="-122"/>
              </a:rPr>
              <a:t>FT</a:t>
            </a:r>
            <a:r>
              <a:rPr lang="zh-CN" altLang="en-US" dirty="0">
                <a:solidFill>
                  <a:srgbClr val="000000"/>
                </a:solidFill>
                <a:latin typeface="Times New Roman" panose="02020603050405020304" pitchFamily="18" charset="0"/>
                <a:ea typeface="微软雅黑" panose="020B0503020204020204" pitchFamily="34" charset="-122"/>
              </a:rPr>
              <a:t>存在必要条件是信号能量绝对可积</a:t>
            </a:r>
            <a:r>
              <a:rPr lang="en-US" altLang="zh-CN" dirty="0">
                <a:solidFill>
                  <a:srgbClr val="000000"/>
                </a:solidFill>
                <a:latin typeface="Times New Roman" panose="02020603050405020304" pitchFamily="18" charset="0"/>
                <a:ea typeface="微软雅黑" panose="020B0503020204020204" pitchFamily="34" charset="-122"/>
              </a:rPr>
              <a:t>)</a:t>
            </a:r>
            <a:r>
              <a:rPr lang="zh-CN" altLang="en-US" dirty="0">
                <a:solidFill>
                  <a:srgbClr val="000000"/>
                </a:solidFill>
                <a:latin typeface="Times New Roman" panose="02020603050405020304" pitchFamily="18" charset="0"/>
                <a:ea typeface="微软雅黑" panose="020B0503020204020204" pitchFamily="34" charset="-122"/>
              </a:rPr>
              <a:t>，一般采样获得离散信号均为有限长度，可以认为是能量信号</a:t>
            </a:r>
            <a:endParaRPr lang="en-US" altLang="zh-CN" dirty="0">
              <a:solidFill>
                <a:srgbClr val="000000"/>
              </a:solidFill>
              <a:latin typeface="Times New Roman" panose="02020603050405020304" pitchFamily="18" charset="0"/>
              <a:ea typeface="微软雅黑" panose="020B0503020204020204" pitchFamily="34" charset="-122"/>
            </a:endParaRPr>
          </a:p>
          <a:p>
            <a:pPr>
              <a:lnSpc>
                <a:spcPct val="120000"/>
              </a:lnSpc>
              <a:defRPr/>
            </a:pPr>
            <a:r>
              <a:rPr lang="zh-CN" altLang="en-US" dirty="0">
                <a:solidFill>
                  <a:srgbClr val="000000"/>
                </a:solidFill>
                <a:latin typeface="Times New Roman" panose="02020603050405020304" pitchFamily="18" charset="0"/>
                <a:ea typeface="微软雅黑" panose="020B0503020204020204" pitchFamily="34" charset="-122"/>
              </a:rPr>
              <a:t>     平稳随机信号采用功率谱密度</a:t>
            </a:r>
            <a:endParaRPr lang="en-US" altLang="zh-CN" dirty="0">
              <a:solidFill>
                <a:srgbClr val="000000"/>
              </a:solidFill>
              <a:latin typeface="Times New Roman" panose="02020603050405020304" pitchFamily="18" charset="0"/>
              <a:ea typeface="微软雅黑" panose="020B0503020204020204" pitchFamily="34" charset="-122"/>
            </a:endParaRPr>
          </a:p>
        </p:txBody>
      </p:sp>
      <p:sp>
        <p:nvSpPr>
          <p:cNvPr id="88068" name="文本框 5"/>
          <p:cNvSpPr txBox="1">
            <a:spLocks noChangeArrowheads="1"/>
          </p:cNvSpPr>
          <p:nvPr/>
        </p:nvSpPr>
        <p:spPr bwMode="auto">
          <a:xfrm>
            <a:off x="698571" y="3103670"/>
            <a:ext cx="29305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b="1" dirty="0">
                <a:solidFill>
                  <a:srgbClr val="000000"/>
                </a:solidFill>
                <a:latin typeface="Times New Roman" panose="02020603050405020304" pitchFamily="18" charset="0"/>
                <a:ea typeface="微软雅黑" panose="020B0503020204020204" pitchFamily="34" charset="-122"/>
              </a:rPr>
              <a:t>抽取特征频率成分</a:t>
            </a:r>
            <a:endParaRPr lang="en-US" altLang="zh-CN" b="1" dirty="0">
              <a:solidFill>
                <a:srgbClr val="000000"/>
              </a:solidFill>
              <a:latin typeface="Times New Roman" panose="02020603050405020304" pitchFamily="18" charset="0"/>
              <a:ea typeface="微软雅黑" panose="020B0503020204020204" pitchFamily="34" charset="-122"/>
            </a:endParaRPr>
          </a:p>
        </p:txBody>
      </p:sp>
      <p:sp>
        <p:nvSpPr>
          <p:cNvPr id="88069" name="文本框 6"/>
          <p:cNvSpPr txBox="1">
            <a:spLocks noChangeArrowheads="1"/>
          </p:cNvSpPr>
          <p:nvPr/>
        </p:nvSpPr>
        <p:spPr bwMode="auto">
          <a:xfrm>
            <a:off x="698571" y="3528402"/>
            <a:ext cx="6176963"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b="1" dirty="0">
                <a:solidFill>
                  <a:srgbClr val="000000"/>
                </a:solidFill>
                <a:latin typeface="Times New Roman" panose="02020603050405020304" pitchFamily="18" charset="0"/>
                <a:ea typeface="微软雅黑" panose="020B0503020204020204" pitchFamily="34" charset="-122"/>
              </a:rPr>
              <a:t>采样定理：</a:t>
            </a:r>
            <a:r>
              <a:rPr lang="zh-CN" altLang="en-US" dirty="0">
                <a:solidFill>
                  <a:srgbClr val="000000"/>
                </a:solidFill>
                <a:latin typeface="Times New Roman" panose="02020603050405020304" pitchFamily="18" charset="0"/>
                <a:ea typeface="微软雅黑" panose="020B0503020204020204" pitchFamily="34" charset="-122"/>
              </a:rPr>
              <a:t>保证目标频段频率抽取不发生频率混叠</a:t>
            </a:r>
            <a:endParaRPr lang="en-US" altLang="zh-CN" dirty="0">
              <a:solidFill>
                <a:srgbClr val="000000"/>
              </a:solidFill>
              <a:latin typeface="Times New Roman" panose="02020603050405020304" pitchFamily="18" charset="0"/>
              <a:ea typeface="微软雅黑" panose="020B0503020204020204" pitchFamily="34" charset="-122"/>
            </a:endParaRPr>
          </a:p>
        </p:txBody>
      </p:sp>
      <p:sp>
        <p:nvSpPr>
          <p:cNvPr id="88070" name="文本框 7"/>
          <p:cNvSpPr txBox="1">
            <a:spLocks noChangeArrowheads="1"/>
          </p:cNvSpPr>
          <p:nvPr/>
        </p:nvSpPr>
        <p:spPr bwMode="auto">
          <a:xfrm>
            <a:off x="698571" y="3933092"/>
            <a:ext cx="531653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b="1" dirty="0">
                <a:solidFill>
                  <a:srgbClr val="000000"/>
                </a:solidFill>
                <a:latin typeface="Times New Roman" panose="02020603050405020304" pitchFamily="18" charset="0"/>
                <a:ea typeface="微软雅黑" panose="020B0503020204020204" pitchFamily="34" charset="-122"/>
              </a:rPr>
              <a:t>窗函数的选取：</a:t>
            </a:r>
            <a:r>
              <a:rPr lang="zh-CN" altLang="en-US" dirty="0">
                <a:solidFill>
                  <a:srgbClr val="000000"/>
                </a:solidFill>
                <a:latin typeface="Times New Roman" panose="02020603050405020304" pitchFamily="18" charset="0"/>
                <a:ea typeface="微软雅黑" panose="020B0503020204020204" pitchFamily="34" charset="-122"/>
              </a:rPr>
              <a:t>分辨率与频谱泄露之间的权衡</a:t>
            </a:r>
            <a:endParaRPr lang="en-US" altLang="zh-CN" dirty="0">
              <a:solidFill>
                <a:srgbClr val="000000"/>
              </a:solidFill>
              <a:latin typeface="Times New Roman" panose="02020603050405020304" pitchFamily="18" charset="0"/>
              <a:ea typeface="微软雅黑" panose="020B0503020204020204" pitchFamily="34" charset="-122"/>
            </a:endParaRPr>
          </a:p>
        </p:txBody>
      </p:sp>
      <p:sp>
        <p:nvSpPr>
          <p:cNvPr id="88072" name="文本框 9"/>
          <p:cNvSpPr txBox="1">
            <a:spLocks noChangeArrowheads="1"/>
          </p:cNvSpPr>
          <p:nvPr/>
        </p:nvSpPr>
        <p:spPr bwMode="auto">
          <a:xfrm>
            <a:off x="698570" y="4356954"/>
            <a:ext cx="4969669"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b="1" dirty="0">
                <a:solidFill>
                  <a:srgbClr val="000000"/>
                </a:solidFill>
                <a:latin typeface="Times New Roman" panose="02020603050405020304" pitchFamily="18" charset="0"/>
                <a:ea typeface="微软雅黑" panose="020B0503020204020204" pitchFamily="34" charset="-122"/>
              </a:rPr>
              <a:t>频率分辨率均匀：</a:t>
            </a:r>
            <a:r>
              <a:rPr lang="zh-CN" altLang="en-US" dirty="0">
                <a:solidFill>
                  <a:srgbClr val="000000"/>
                </a:solidFill>
                <a:latin typeface="Times New Roman" panose="02020603050405020304" pitchFamily="18" charset="0"/>
                <a:ea typeface="微软雅黑" panose="020B0503020204020204" pitchFamily="34" charset="-122"/>
              </a:rPr>
              <a:t>无法做到局部</a:t>
            </a:r>
            <a:r>
              <a:rPr lang="zh-CN" altLang="en-US" b="1" dirty="0">
                <a:solidFill>
                  <a:srgbClr val="FF0000"/>
                </a:solidFill>
                <a:latin typeface="Times New Roman" panose="02020603050405020304" pitchFamily="18" charset="0"/>
                <a:ea typeface="微软雅黑" panose="020B0503020204020204" pitchFamily="34" charset="-122"/>
              </a:rPr>
              <a:t>频带细化</a:t>
            </a:r>
            <a:endParaRPr lang="en-US" altLang="zh-CN" b="1" dirty="0">
              <a:solidFill>
                <a:srgbClr val="FF0000"/>
              </a:solidFill>
              <a:latin typeface="Times New Roman" panose="02020603050405020304" pitchFamily="18" charset="0"/>
              <a:ea typeface="微软雅黑" panose="020B0503020204020204" pitchFamily="34" charset="-122"/>
            </a:endParaRPr>
          </a:p>
        </p:txBody>
      </p:sp>
      <p:sp>
        <p:nvSpPr>
          <p:cNvPr id="88073" name="文本框 10"/>
          <p:cNvSpPr txBox="1">
            <a:spLocks noChangeArrowheads="1"/>
          </p:cNvSpPr>
          <p:nvPr/>
        </p:nvSpPr>
        <p:spPr bwMode="auto">
          <a:xfrm>
            <a:off x="698570" y="4891330"/>
            <a:ext cx="4787830"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Wingdings" panose="05000000000000000000" pitchFamily="2" charset="2"/>
              <a:buChar char="ü"/>
            </a:pPr>
            <a:r>
              <a:rPr lang="zh-CN" altLang="en-US" b="1" dirty="0">
                <a:solidFill>
                  <a:srgbClr val="FF0000"/>
                </a:solidFill>
                <a:latin typeface="Times New Roman" panose="02020603050405020304" pitchFamily="18" charset="0"/>
                <a:ea typeface="微软雅黑" panose="020B0503020204020204" pitchFamily="34" charset="-122"/>
              </a:rPr>
              <a:t>对非平稳信号难以有效分析：频域分析的积分特性难以辨证信号的时域变化特征</a:t>
            </a:r>
            <a:endParaRPr lang="en-US" altLang="zh-CN" b="1" dirty="0">
              <a:solidFill>
                <a:srgbClr val="FF0000"/>
              </a:solidFill>
              <a:latin typeface="Times New Roman" panose="02020603050405020304" pitchFamily="18" charset="0"/>
              <a:ea typeface="微软雅黑" panose="020B0503020204020204" pitchFamily="34" charset="-122"/>
            </a:endParaRPr>
          </a:p>
        </p:txBody>
      </p:sp>
      <p:pic>
        <p:nvPicPr>
          <p:cNvPr id="88074" name="图片 11"/>
          <p:cNvPicPr>
            <a:picLocks noChangeAspect="1"/>
          </p:cNvPicPr>
          <p:nvPr/>
        </p:nvPicPr>
        <p:blipFill>
          <a:blip r:embed="rId2" cstate="print">
            <a:extLst>
              <a:ext uri="{28A0092B-C50C-407E-A947-70E740481C1C}">
                <a14:useLocalDpi xmlns:a14="http://schemas.microsoft.com/office/drawing/2010/main" val="0"/>
              </a:ext>
            </a:extLst>
          </a:blip>
          <a:srcRect l="6876" t="3021" r="8250"/>
          <a:stretch>
            <a:fillRect/>
          </a:stretch>
        </p:blipFill>
        <p:spPr bwMode="auto">
          <a:xfrm>
            <a:off x="6123383" y="2669625"/>
            <a:ext cx="5891922" cy="337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右箭头 12"/>
          <p:cNvSpPr/>
          <p:nvPr/>
        </p:nvSpPr>
        <p:spPr bwMode="auto">
          <a:xfrm>
            <a:off x="5438214" y="5100826"/>
            <a:ext cx="420688" cy="338138"/>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12" name="矩形 3"/>
          <p:cNvSpPr>
            <a:spLocks noChangeArrowheads="1"/>
          </p:cNvSpPr>
          <p:nvPr/>
        </p:nvSpPr>
        <p:spPr bwMode="auto">
          <a:xfrm>
            <a:off x="672916" y="1384302"/>
            <a:ext cx="2956975" cy="400110"/>
          </a:xfrm>
          <a:prstGeom prst="rect">
            <a:avLst/>
          </a:prstGeom>
          <a:noFill/>
          <a:extLst/>
        </p:spPr>
        <p:txBody>
          <a:bodyPr wrap="square" rtlCol="0">
            <a:spAutoFit/>
          </a:bodyPr>
          <a:lstStyle/>
          <a:p>
            <a:r>
              <a:rPr lang="en-US" altLang="zh-CN" sz="2000" dirty="0" smtClean="0">
                <a:latin typeface="华文细黑" panose="02010600040101010101" pitchFamily="2" charset="-122"/>
                <a:ea typeface="华文细黑" panose="02010600040101010101" pitchFamily="2" charset="-122"/>
              </a:rPr>
              <a:t>Fourier</a:t>
            </a:r>
            <a:r>
              <a:rPr lang="zh-CN" altLang="en-US" sz="2000" dirty="0" smtClean="0">
                <a:latin typeface="华文细黑" panose="02010600040101010101" pitchFamily="2" charset="-122"/>
                <a:ea typeface="华文细黑" panose="02010600040101010101" pitchFamily="2" charset="-122"/>
              </a:rPr>
              <a:t>变换示例</a:t>
            </a:r>
            <a:r>
              <a:rPr lang="zh-CN" altLang="en-US" sz="2000" dirty="0">
                <a:latin typeface="华文细黑" panose="02010600040101010101" pitchFamily="2" charset="-122"/>
                <a:ea typeface="华文细黑" panose="02010600040101010101" pitchFamily="2" charset="-122"/>
              </a:rPr>
              <a:t>特点</a:t>
            </a:r>
            <a:endParaRPr lang="en-US" altLang="zh-CN" sz="2000" dirty="0">
              <a:latin typeface="华文细黑" panose="02010600040101010101" pitchFamily="2" charset="-122"/>
              <a:ea typeface="华文细黑" panose="02010600040101010101" pitchFamily="2" charset="-122"/>
            </a:endParaRPr>
          </a:p>
        </p:txBody>
      </p:sp>
      <p:sp>
        <p:nvSpPr>
          <p:cNvPr id="15" name="文本框 14"/>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42</a:t>
            </a:fld>
            <a:endParaRPr lang="zh-CN" altLang="en-US"/>
          </a:p>
        </p:txBody>
      </p:sp>
    </p:spTree>
    <p:extLst>
      <p:ext uri="{BB962C8B-B14F-4D97-AF65-F5344CB8AC3E}">
        <p14:creationId xmlns:p14="http://schemas.microsoft.com/office/powerpoint/2010/main" val="3212231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文本框 5"/>
          <p:cNvSpPr txBox="1">
            <a:spLocks noChangeArrowheads="1"/>
          </p:cNvSpPr>
          <p:nvPr/>
        </p:nvSpPr>
        <p:spPr bwMode="auto">
          <a:xfrm>
            <a:off x="672916" y="1910210"/>
            <a:ext cx="10769888"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目的：实现时频域</a:t>
            </a:r>
            <a:r>
              <a:rPr lang="zh-CN" altLang="en-US" b="1" dirty="0">
                <a:solidFill>
                  <a:srgbClr val="000000"/>
                </a:solidFill>
                <a:latin typeface="Times New Roman" panose="02020603050405020304" pitchFamily="18" charset="0"/>
                <a:ea typeface="微软雅黑" panose="020B0503020204020204" pitchFamily="34" charset="-122"/>
              </a:rPr>
              <a:t>局域特征分析</a:t>
            </a:r>
            <a:r>
              <a:rPr lang="zh-CN" altLang="en-US" dirty="0">
                <a:solidFill>
                  <a:srgbClr val="000000"/>
                </a:solidFill>
                <a:latin typeface="Times New Roman" panose="02020603050405020304" pitchFamily="18" charset="0"/>
                <a:ea typeface="微软雅黑" panose="020B0503020204020204" pitchFamily="34" charset="-122"/>
              </a:rPr>
              <a:t>，高频时间间隔小，提高精度；低频时间间隔长，提供完整信息；并可重构信号</a:t>
            </a:r>
            <a:endParaRPr lang="en-US" altLang="zh-CN" dirty="0">
              <a:solidFill>
                <a:srgbClr val="000000"/>
              </a:solidFill>
              <a:latin typeface="Times New Roman" panose="02020603050405020304" pitchFamily="18" charset="0"/>
              <a:ea typeface="微软雅黑" panose="020B0503020204020204" pitchFamily="34" charset="-122"/>
            </a:endParaRPr>
          </a:p>
        </p:txBody>
      </p:sp>
      <p:sp>
        <p:nvSpPr>
          <p:cNvPr id="89093" name="文本框 6"/>
          <p:cNvSpPr txBox="1">
            <a:spLocks noChangeArrowheads="1"/>
          </p:cNvSpPr>
          <p:nvPr/>
        </p:nvSpPr>
        <p:spPr bwMode="auto">
          <a:xfrm>
            <a:off x="672916" y="2958305"/>
            <a:ext cx="7478713"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克服</a:t>
            </a:r>
            <a:r>
              <a:rPr lang="en-US" altLang="zh-CN" dirty="0">
                <a:solidFill>
                  <a:srgbClr val="000000"/>
                </a:solidFill>
                <a:latin typeface="Times New Roman" panose="02020603050405020304" pitchFamily="18" charset="0"/>
                <a:ea typeface="微软雅黑" panose="020B0503020204020204" pitchFamily="34" charset="-122"/>
              </a:rPr>
              <a:t>FT</a:t>
            </a:r>
            <a:r>
              <a:rPr lang="zh-CN" altLang="en-US" dirty="0">
                <a:solidFill>
                  <a:srgbClr val="000000"/>
                </a:solidFill>
                <a:latin typeface="Times New Roman" panose="02020603050405020304" pitchFamily="18" charset="0"/>
                <a:ea typeface="微软雅黑" panose="020B0503020204020204" pitchFamily="34" charset="-122"/>
              </a:rPr>
              <a:t>无法分析非平稳过程以及</a:t>
            </a:r>
            <a:r>
              <a:rPr lang="en-US" altLang="zh-CN" dirty="0">
                <a:solidFill>
                  <a:srgbClr val="000000"/>
                </a:solidFill>
                <a:latin typeface="Times New Roman" panose="02020603050405020304" pitchFamily="18" charset="0"/>
                <a:ea typeface="微软雅黑" panose="020B0503020204020204" pitchFamily="34" charset="-122"/>
              </a:rPr>
              <a:t>STFT(</a:t>
            </a:r>
            <a:r>
              <a:rPr lang="zh-CN" altLang="en-US" dirty="0">
                <a:solidFill>
                  <a:srgbClr val="000000"/>
                </a:solidFill>
                <a:latin typeface="Times New Roman" panose="02020603050405020304" pitchFamily="18" charset="0"/>
                <a:ea typeface="微软雅黑" panose="020B0503020204020204" pitchFamily="34" charset="-122"/>
              </a:rPr>
              <a:t>短时</a:t>
            </a:r>
            <a:r>
              <a:rPr lang="en-US" altLang="zh-CN" dirty="0">
                <a:solidFill>
                  <a:srgbClr val="000000"/>
                </a:solidFill>
                <a:latin typeface="Times New Roman" panose="02020603050405020304" pitchFamily="18" charset="0"/>
                <a:ea typeface="微软雅黑" panose="020B0503020204020204" pitchFamily="34" charset="-122"/>
              </a:rPr>
              <a:t>FT)</a:t>
            </a:r>
            <a:r>
              <a:rPr lang="zh-CN" altLang="en-US" dirty="0">
                <a:solidFill>
                  <a:srgbClr val="000000"/>
                </a:solidFill>
                <a:latin typeface="Times New Roman" panose="02020603050405020304" pitchFamily="18" charset="0"/>
                <a:ea typeface="微软雅黑" panose="020B0503020204020204" pitchFamily="34" charset="-122"/>
              </a:rPr>
              <a:t>无法实现时频窗自适应</a:t>
            </a:r>
            <a:endParaRPr lang="en-US" altLang="zh-CN" dirty="0">
              <a:solidFill>
                <a:srgbClr val="000000"/>
              </a:solidFill>
              <a:latin typeface="Times New Roman" panose="02020603050405020304" pitchFamily="18" charset="0"/>
              <a:ea typeface="微软雅黑" panose="020B0503020204020204" pitchFamily="34" charset="-122"/>
            </a:endParaRPr>
          </a:p>
        </p:txBody>
      </p:sp>
      <p:graphicFrame>
        <p:nvGraphicFramePr>
          <p:cNvPr id="89094" name="对象 7"/>
          <p:cNvGraphicFramePr>
            <a:graphicFrameLocks noChangeAspect="1"/>
          </p:cNvGraphicFramePr>
          <p:nvPr>
            <p:extLst/>
          </p:nvPr>
        </p:nvGraphicFramePr>
        <p:xfrm>
          <a:off x="4837113" y="2361455"/>
          <a:ext cx="2660650" cy="419100"/>
        </p:xfrm>
        <a:graphic>
          <a:graphicData uri="http://schemas.openxmlformats.org/presentationml/2006/ole">
            <mc:AlternateContent xmlns:mc="http://schemas.openxmlformats.org/markup-compatibility/2006">
              <mc:Choice xmlns:v="urn:schemas-microsoft-com:vml" Requires="v">
                <p:oleObj spid="_x0000_s14358" name="Equation" r:id="rId4" imgW="2108160" imgH="330120" progId="Equation.DSMT4">
                  <p:embed/>
                </p:oleObj>
              </mc:Choice>
              <mc:Fallback>
                <p:oleObj name="Equation" r:id="rId4" imgW="2108160" imgH="330120" progId="Equation.DSMT4">
                  <p:embed/>
                  <p:pic>
                    <p:nvPicPr>
                      <p:cNvPr id="89094"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7113" y="2361455"/>
                        <a:ext cx="2660650" cy="4191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5" name="文本框 8"/>
          <p:cNvSpPr txBox="1">
            <a:spLocks noChangeArrowheads="1"/>
          </p:cNvSpPr>
          <p:nvPr/>
        </p:nvSpPr>
        <p:spPr bwMode="auto">
          <a:xfrm>
            <a:off x="7497763" y="2390327"/>
            <a:ext cx="725488"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600">
                <a:solidFill>
                  <a:srgbClr val="000000"/>
                </a:solidFill>
                <a:latin typeface="Times New Roman" panose="02020603050405020304" pitchFamily="18" charset="0"/>
                <a:ea typeface="微软雅黑" panose="020B0503020204020204" pitchFamily="34" charset="-122"/>
              </a:rPr>
              <a:t>STFT</a:t>
            </a:r>
          </a:p>
        </p:txBody>
      </p:sp>
      <p:graphicFrame>
        <p:nvGraphicFramePr>
          <p:cNvPr id="89096" name="对象 9"/>
          <p:cNvGraphicFramePr>
            <a:graphicFrameLocks noChangeAspect="1"/>
          </p:cNvGraphicFramePr>
          <p:nvPr>
            <p:extLst/>
          </p:nvPr>
        </p:nvGraphicFramePr>
        <p:xfrm>
          <a:off x="4529431" y="3848101"/>
          <a:ext cx="2281237" cy="701675"/>
        </p:xfrm>
        <a:graphic>
          <a:graphicData uri="http://schemas.openxmlformats.org/presentationml/2006/ole">
            <mc:AlternateContent xmlns:mc="http://schemas.openxmlformats.org/markup-compatibility/2006">
              <mc:Choice xmlns:v="urn:schemas-microsoft-com:vml" Requires="v">
                <p:oleObj spid="_x0000_s14359" name="Equation" r:id="rId6" imgW="1409400" imgH="431640" progId="Equation.DSMT4">
                  <p:embed/>
                </p:oleObj>
              </mc:Choice>
              <mc:Fallback>
                <p:oleObj name="Equation" r:id="rId6" imgW="1409400" imgH="431640" progId="Equation.DSMT4">
                  <p:embed/>
                  <p:pic>
                    <p:nvPicPr>
                      <p:cNvPr id="89096"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29431" y="3848101"/>
                        <a:ext cx="22812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7" name="文本框 10"/>
          <p:cNvSpPr txBox="1">
            <a:spLocks noChangeArrowheads="1"/>
          </p:cNvSpPr>
          <p:nvPr/>
        </p:nvSpPr>
        <p:spPr bwMode="auto">
          <a:xfrm>
            <a:off x="672916" y="5051424"/>
            <a:ext cx="48291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对模拟信号的如下积分变换称为小波变换</a:t>
            </a:r>
            <a:endParaRPr lang="en-US" altLang="zh-CN" dirty="0">
              <a:solidFill>
                <a:srgbClr val="000000"/>
              </a:solidFill>
              <a:latin typeface="Times New Roman" panose="02020603050405020304" pitchFamily="18" charset="0"/>
              <a:ea typeface="微软雅黑" panose="020B0503020204020204" pitchFamily="34" charset="-122"/>
            </a:endParaRPr>
          </a:p>
        </p:txBody>
      </p:sp>
      <p:graphicFrame>
        <p:nvGraphicFramePr>
          <p:cNvPr id="89098" name="对象 11"/>
          <p:cNvGraphicFramePr>
            <a:graphicFrameLocks noChangeAspect="1"/>
          </p:cNvGraphicFramePr>
          <p:nvPr>
            <p:extLst/>
          </p:nvPr>
        </p:nvGraphicFramePr>
        <p:xfrm>
          <a:off x="4595019" y="5595937"/>
          <a:ext cx="2711450" cy="454025"/>
        </p:xfrm>
        <a:graphic>
          <a:graphicData uri="http://schemas.openxmlformats.org/presentationml/2006/ole">
            <mc:AlternateContent xmlns:mc="http://schemas.openxmlformats.org/markup-compatibility/2006">
              <mc:Choice xmlns:v="urn:schemas-microsoft-com:vml" Requires="v">
                <p:oleObj spid="_x0000_s14360" name="Equation" r:id="rId8" imgW="1676160" imgH="279360" progId="Equation.DSMT4">
                  <p:embed/>
                </p:oleObj>
              </mc:Choice>
              <mc:Fallback>
                <p:oleObj name="Equation" r:id="rId8" imgW="1676160" imgH="279360" progId="Equation.DSMT4">
                  <p:embed/>
                  <p:pic>
                    <p:nvPicPr>
                      <p:cNvPr id="89098" name="对象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5019" y="5595937"/>
                        <a:ext cx="271145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9" name="文本框 12"/>
          <p:cNvSpPr txBox="1">
            <a:spLocks noChangeArrowheads="1"/>
          </p:cNvSpPr>
          <p:nvPr/>
        </p:nvSpPr>
        <p:spPr bwMode="auto">
          <a:xfrm>
            <a:off x="7024980" y="3998913"/>
            <a:ext cx="81915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b="1">
                <a:solidFill>
                  <a:srgbClr val="000000"/>
                </a:solidFill>
                <a:latin typeface="Times New Roman" panose="02020603050405020304" pitchFamily="18" charset="0"/>
                <a:ea typeface="微软雅黑" panose="020B0503020204020204" pitchFamily="34" charset="-122"/>
              </a:rPr>
              <a:t>小波基</a:t>
            </a:r>
            <a:endParaRPr lang="en-US" altLang="zh-CN" sz="1600" b="1">
              <a:solidFill>
                <a:srgbClr val="000000"/>
              </a:solidFill>
              <a:latin typeface="Times New Roman" panose="02020603050405020304" pitchFamily="18" charset="0"/>
              <a:ea typeface="微软雅黑" panose="020B0503020204020204" pitchFamily="34" charset="-122"/>
            </a:endParaRPr>
          </a:p>
        </p:txBody>
      </p:sp>
      <p:sp>
        <p:nvSpPr>
          <p:cNvPr id="89100" name="文本框 13"/>
          <p:cNvSpPr txBox="1">
            <a:spLocks noChangeArrowheads="1"/>
          </p:cNvSpPr>
          <p:nvPr/>
        </p:nvSpPr>
        <p:spPr bwMode="auto">
          <a:xfrm>
            <a:off x="4343692" y="4541835"/>
            <a:ext cx="2816225"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600" b="1" dirty="0">
                <a:solidFill>
                  <a:srgbClr val="000000"/>
                </a:solidFill>
                <a:latin typeface="Times New Roman" panose="02020603050405020304" pitchFamily="18" charset="0"/>
                <a:ea typeface="微软雅黑" panose="020B0503020204020204" pitchFamily="34" charset="-122"/>
              </a:rPr>
              <a:t>a: </a:t>
            </a:r>
            <a:r>
              <a:rPr lang="zh-CN" altLang="en-US" sz="1600" b="1" dirty="0">
                <a:solidFill>
                  <a:srgbClr val="000000"/>
                </a:solidFill>
                <a:latin typeface="Times New Roman" panose="02020603050405020304" pitchFamily="18" charset="0"/>
                <a:ea typeface="微软雅黑" panose="020B0503020204020204" pitchFamily="34" charset="-122"/>
              </a:rPr>
              <a:t>尺度参数</a:t>
            </a:r>
            <a:r>
              <a:rPr lang="en-US" altLang="zh-CN" sz="1600" b="1" dirty="0">
                <a:solidFill>
                  <a:srgbClr val="000000"/>
                </a:solidFill>
                <a:latin typeface="Times New Roman" panose="02020603050405020304" pitchFamily="18" charset="0"/>
                <a:ea typeface="微软雅黑" panose="020B0503020204020204" pitchFamily="34" charset="-122"/>
              </a:rPr>
              <a:t>; b: </a:t>
            </a:r>
            <a:r>
              <a:rPr lang="zh-CN" altLang="en-US" sz="1600" b="1" dirty="0">
                <a:solidFill>
                  <a:srgbClr val="000000"/>
                </a:solidFill>
                <a:latin typeface="Times New Roman" panose="02020603050405020304" pitchFamily="18" charset="0"/>
                <a:ea typeface="微软雅黑" panose="020B0503020204020204" pitchFamily="34" charset="-122"/>
              </a:rPr>
              <a:t>时域平移参数</a:t>
            </a:r>
            <a:endParaRPr lang="en-US" altLang="zh-CN" sz="1600" b="1" dirty="0">
              <a:solidFill>
                <a:srgbClr val="000000"/>
              </a:solidFill>
              <a:latin typeface="Times New Roman" panose="02020603050405020304" pitchFamily="18" charset="0"/>
              <a:ea typeface="微软雅黑" panose="020B0503020204020204" pitchFamily="34" charset="-122"/>
            </a:endParaRPr>
          </a:p>
        </p:txBody>
      </p:sp>
      <p:graphicFrame>
        <p:nvGraphicFramePr>
          <p:cNvPr id="89101" name="对象 14"/>
          <p:cNvGraphicFramePr>
            <a:graphicFrameLocks noChangeAspect="1"/>
          </p:cNvGraphicFramePr>
          <p:nvPr>
            <p:extLst/>
          </p:nvPr>
        </p:nvGraphicFramePr>
        <p:xfrm>
          <a:off x="5483517" y="3522663"/>
          <a:ext cx="554038" cy="412750"/>
        </p:xfrm>
        <a:graphic>
          <a:graphicData uri="http://schemas.openxmlformats.org/presentationml/2006/ole">
            <mc:AlternateContent xmlns:mc="http://schemas.openxmlformats.org/markup-compatibility/2006">
              <mc:Choice xmlns:v="urn:schemas-microsoft-com:vml" Requires="v">
                <p:oleObj spid="_x0000_s14361" name="Equation" r:id="rId10" imgW="342720" imgH="253800" progId="Equation.DSMT4">
                  <p:embed/>
                </p:oleObj>
              </mc:Choice>
              <mc:Fallback>
                <p:oleObj name="Equation" r:id="rId10" imgW="342720" imgH="253800" progId="Equation.DSMT4">
                  <p:embed/>
                  <p:pic>
                    <p:nvPicPr>
                      <p:cNvPr id="89101" name="对象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3517" y="3522663"/>
                        <a:ext cx="55403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102" name="文本框 15"/>
          <p:cNvSpPr txBox="1">
            <a:spLocks noChangeArrowheads="1"/>
          </p:cNvSpPr>
          <p:nvPr/>
        </p:nvSpPr>
        <p:spPr bwMode="auto">
          <a:xfrm>
            <a:off x="7024980" y="3500438"/>
            <a:ext cx="81915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b="1">
                <a:solidFill>
                  <a:srgbClr val="000000"/>
                </a:solidFill>
                <a:latin typeface="Times New Roman" panose="02020603050405020304" pitchFamily="18" charset="0"/>
                <a:ea typeface="微软雅黑" panose="020B0503020204020204" pitchFamily="34" charset="-122"/>
              </a:rPr>
              <a:t>母小波</a:t>
            </a:r>
            <a:endParaRPr lang="en-US" altLang="zh-CN" sz="1600" b="1">
              <a:solidFill>
                <a:srgbClr val="000000"/>
              </a:solidFill>
              <a:latin typeface="Times New Roman" panose="02020603050405020304" pitchFamily="18" charset="0"/>
              <a:ea typeface="微软雅黑" panose="020B0503020204020204" pitchFamily="34" charset="-122"/>
            </a:endParaRPr>
          </a:p>
        </p:txBody>
      </p:sp>
      <p:graphicFrame>
        <p:nvGraphicFramePr>
          <p:cNvPr id="89103" name="对象 16"/>
          <p:cNvGraphicFramePr>
            <a:graphicFrameLocks noChangeAspect="1"/>
          </p:cNvGraphicFramePr>
          <p:nvPr>
            <p:extLst/>
          </p:nvPr>
        </p:nvGraphicFramePr>
        <p:xfrm>
          <a:off x="5087938" y="6219032"/>
          <a:ext cx="1725612" cy="412750"/>
        </p:xfrm>
        <a:graphic>
          <a:graphicData uri="http://schemas.openxmlformats.org/presentationml/2006/ole">
            <mc:AlternateContent xmlns:mc="http://schemas.openxmlformats.org/markup-compatibility/2006">
              <mc:Choice xmlns:v="urn:schemas-microsoft-com:vml" Requires="v">
                <p:oleObj spid="_x0000_s14362" name="Equation" r:id="rId12" imgW="1066680" imgH="253800" progId="Equation.DSMT4">
                  <p:embed/>
                </p:oleObj>
              </mc:Choice>
              <mc:Fallback>
                <p:oleObj name="Equation" r:id="rId12" imgW="1066680" imgH="253800" progId="Equation.DSMT4">
                  <p:embed/>
                  <p:pic>
                    <p:nvPicPr>
                      <p:cNvPr id="89103" name="对象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87938" y="6219032"/>
                        <a:ext cx="1725612"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3"/>
          <p:cNvSpPr>
            <a:spLocks noChangeArrowheads="1"/>
          </p:cNvSpPr>
          <p:nvPr/>
        </p:nvSpPr>
        <p:spPr bwMode="auto">
          <a:xfrm>
            <a:off x="672917" y="1384302"/>
            <a:ext cx="1807048"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小波变换理论</a:t>
            </a:r>
            <a:endParaRPr lang="en-US" altLang="zh-CN" sz="2000" dirty="0">
              <a:latin typeface="华文细黑" panose="02010600040101010101" pitchFamily="2" charset="-122"/>
              <a:ea typeface="华文细黑" panose="02010600040101010101" pitchFamily="2" charset="-122"/>
            </a:endParaRPr>
          </a:p>
        </p:txBody>
      </p:sp>
      <p:sp>
        <p:nvSpPr>
          <p:cNvPr id="18" name="文本框 17"/>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43</a:t>
            </a:fld>
            <a:endParaRPr lang="zh-CN" altLang="en-US"/>
          </a:p>
        </p:txBody>
      </p:sp>
    </p:spTree>
    <p:extLst>
      <p:ext uri="{BB962C8B-B14F-4D97-AF65-F5344CB8AC3E}">
        <p14:creationId xmlns:p14="http://schemas.microsoft.com/office/powerpoint/2010/main" val="231815937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文本框 4"/>
          <p:cNvSpPr txBox="1">
            <a:spLocks noChangeArrowheads="1"/>
          </p:cNvSpPr>
          <p:nvPr/>
        </p:nvSpPr>
        <p:spPr bwMode="auto">
          <a:xfrm>
            <a:off x="672916" y="1843088"/>
            <a:ext cx="5316538"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小波时窗中心与时窗宽度，频窗中心与频窗宽度</a:t>
            </a:r>
            <a:endParaRPr lang="en-US" altLang="zh-CN" dirty="0">
              <a:solidFill>
                <a:srgbClr val="000000"/>
              </a:solidFill>
              <a:latin typeface="Times New Roman" panose="02020603050405020304" pitchFamily="18" charset="0"/>
              <a:ea typeface="微软雅黑" panose="020B0503020204020204" pitchFamily="34" charset="-122"/>
            </a:endParaRPr>
          </a:p>
        </p:txBody>
      </p:sp>
      <p:graphicFrame>
        <p:nvGraphicFramePr>
          <p:cNvPr id="91141" name="对象 6"/>
          <p:cNvGraphicFramePr>
            <a:graphicFrameLocks noChangeAspect="1"/>
          </p:cNvGraphicFramePr>
          <p:nvPr>
            <p:extLst/>
          </p:nvPr>
        </p:nvGraphicFramePr>
        <p:xfrm>
          <a:off x="585697" y="2489201"/>
          <a:ext cx="5588000" cy="3673475"/>
        </p:xfrm>
        <a:graphic>
          <a:graphicData uri="http://schemas.openxmlformats.org/presentationml/2006/ole">
            <mc:AlternateContent xmlns:mc="http://schemas.openxmlformats.org/markup-compatibility/2006">
              <mc:Choice xmlns:v="urn:schemas-microsoft-com:vml" Requires="v">
                <p:oleObj spid="_x0000_s15374" name="Equation" r:id="rId3" imgW="3454200" imgH="2260440" progId="Equation.DSMT4">
                  <p:embed/>
                </p:oleObj>
              </mc:Choice>
              <mc:Fallback>
                <p:oleObj name="Equation" r:id="rId3" imgW="3454200" imgH="2260440" progId="Equation.DSMT4">
                  <p:embed/>
                  <p:pic>
                    <p:nvPicPr>
                      <p:cNvPr id="91141"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697" y="2489201"/>
                        <a:ext cx="55880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2" name="对象 7"/>
          <p:cNvGraphicFramePr>
            <a:graphicFrameLocks noChangeAspect="1"/>
          </p:cNvGraphicFramePr>
          <p:nvPr>
            <p:extLst/>
          </p:nvPr>
        </p:nvGraphicFramePr>
        <p:xfrm>
          <a:off x="7400780" y="1843088"/>
          <a:ext cx="2281237" cy="701675"/>
        </p:xfrm>
        <a:graphic>
          <a:graphicData uri="http://schemas.openxmlformats.org/presentationml/2006/ole">
            <mc:AlternateContent xmlns:mc="http://schemas.openxmlformats.org/markup-compatibility/2006">
              <mc:Choice xmlns:v="urn:schemas-microsoft-com:vml" Requires="v">
                <p:oleObj spid="_x0000_s15375" name="Equation" r:id="rId5" imgW="1409400" imgH="431640" progId="Equation.DSMT4">
                  <p:embed/>
                </p:oleObj>
              </mc:Choice>
              <mc:Fallback>
                <p:oleObj name="Equation" r:id="rId5" imgW="1409400" imgH="431640" progId="Equation.DSMT4">
                  <p:embed/>
                  <p:pic>
                    <p:nvPicPr>
                      <p:cNvPr id="91142"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0780" y="1843088"/>
                        <a:ext cx="2281237" cy="7016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1143" name="对象 8"/>
          <p:cNvGraphicFramePr>
            <a:graphicFrameLocks noChangeAspect="1"/>
          </p:cNvGraphicFramePr>
          <p:nvPr>
            <p:extLst/>
          </p:nvPr>
        </p:nvGraphicFramePr>
        <p:xfrm>
          <a:off x="6288666" y="2587626"/>
          <a:ext cx="4211637" cy="454025"/>
        </p:xfrm>
        <a:graphic>
          <a:graphicData uri="http://schemas.openxmlformats.org/presentationml/2006/ole">
            <mc:AlternateContent xmlns:mc="http://schemas.openxmlformats.org/markup-compatibility/2006">
              <mc:Choice xmlns:v="urn:schemas-microsoft-com:vml" Requires="v">
                <p:oleObj spid="_x0000_s15376" name="Equation" r:id="rId7" imgW="2603160" imgH="279360" progId="Equation.DSMT4">
                  <p:embed/>
                </p:oleObj>
              </mc:Choice>
              <mc:Fallback>
                <p:oleObj name="Equation" r:id="rId7" imgW="2603160" imgH="279360" progId="Equation.DSMT4">
                  <p:embed/>
                  <p:pic>
                    <p:nvPicPr>
                      <p:cNvPr id="91143"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88666" y="2587626"/>
                        <a:ext cx="4211637"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91144" name="图片 9"/>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25544" y="3435351"/>
            <a:ext cx="2638425" cy="261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5" name="文本框 10"/>
          <p:cNvSpPr txBox="1">
            <a:spLocks noChangeArrowheads="1"/>
          </p:cNvSpPr>
          <p:nvPr/>
        </p:nvSpPr>
        <p:spPr bwMode="auto">
          <a:xfrm>
            <a:off x="7917655" y="6049963"/>
            <a:ext cx="1855788"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a:solidFill>
                  <a:srgbClr val="000000"/>
                </a:solidFill>
                <a:latin typeface="Times New Roman" panose="02020603050405020304" pitchFamily="18" charset="0"/>
                <a:ea typeface="微软雅黑" panose="020B0503020204020204" pitchFamily="34" charset="-122"/>
              </a:rPr>
              <a:t>小波变换时频窗</a:t>
            </a:r>
            <a:endParaRPr lang="en-US" altLang="zh-CN">
              <a:solidFill>
                <a:srgbClr val="000000"/>
              </a:solidFill>
              <a:latin typeface="Times New Roman" panose="02020603050405020304" pitchFamily="18" charset="0"/>
              <a:ea typeface="微软雅黑" panose="020B0503020204020204" pitchFamily="34" charset="-122"/>
            </a:endParaRPr>
          </a:p>
        </p:txBody>
      </p:sp>
      <p:sp>
        <p:nvSpPr>
          <p:cNvPr id="10" name="矩形 3"/>
          <p:cNvSpPr>
            <a:spLocks noChangeArrowheads="1"/>
          </p:cNvSpPr>
          <p:nvPr/>
        </p:nvSpPr>
        <p:spPr bwMode="auto">
          <a:xfrm>
            <a:off x="672917" y="1384302"/>
            <a:ext cx="1807048"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小波变换理论</a:t>
            </a:r>
            <a:endParaRPr lang="en-US" altLang="zh-CN" sz="2000" dirty="0">
              <a:latin typeface="华文细黑" panose="02010600040101010101" pitchFamily="2" charset="-122"/>
              <a:ea typeface="华文细黑" panose="02010600040101010101" pitchFamily="2" charset="-122"/>
            </a:endParaRPr>
          </a:p>
        </p:txBody>
      </p:sp>
      <p:sp>
        <p:nvSpPr>
          <p:cNvPr id="12" name="文本框 11"/>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44</a:t>
            </a:fld>
            <a:endParaRPr lang="zh-CN" altLang="en-US"/>
          </a:p>
        </p:txBody>
      </p:sp>
    </p:spTree>
    <p:extLst>
      <p:ext uri="{BB962C8B-B14F-4D97-AF65-F5344CB8AC3E}">
        <p14:creationId xmlns:p14="http://schemas.microsoft.com/office/powerpoint/2010/main" val="42136427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文本框 5"/>
          <p:cNvSpPr txBox="1">
            <a:spLocks noChangeArrowheads="1"/>
          </p:cNvSpPr>
          <p:nvPr/>
        </p:nvSpPr>
        <p:spPr bwMode="auto">
          <a:xfrm>
            <a:off x="672916" y="2505217"/>
            <a:ext cx="987294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en-US" altLang="zh-CN" dirty="0">
                <a:solidFill>
                  <a:srgbClr val="000000"/>
                </a:solidFill>
                <a:latin typeface="Times New Roman" panose="02020603050405020304" pitchFamily="18" charset="0"/>
                <a:ea typeface="微软雅黑" panose="020B0503020204020204" pitchFamily="34" charset="-122"/>
              </a:rPr>
              <a:t>a&gt;1</a:t>
            </a:r>
            <a:r>
              <a:rPr lang="zh-CN" altLang="en-US" dirty="0">
                <a:solidFill>
                  <a:srgbClr val="000000"/>
                </a:solidFill>
                <a:latin typeface="Times New Roman" panose="02020603050405020304" pitchFamily="18" charset="0"/>
                <a:ea typeface="微软雅黑" panose="020B0503020204020204" pitchFamily="34" charset="-122"/>
              </a:rPr>
              <a:t>可以实现时域拉宽，频域压缩，低频信号的局部化分析：时域宽频域窄</a:t>
            </a:r>
            <a:endParaRPr lang="en-US" altLang="zh-CN" dirty="0">
              <a:solidFill>
                <a:srgbClr val="000000"/>
              </a:solidFill>
              <a:latin typeface="Times New Roman" panose="02020603050405020304" pitchFamily="18" charset="0"/>
              <a:ea typeface="微软雅黑" panose="020B0503020204020204" pitchFamily="34" charset="-122"/>
            </a:endParaRPr>
          </a:p>
        </p:txBody>
      </p:sp>
      <p:sp>
        <p:nvSpPr>
          <p:cNvPr id="92165" name="文本框 6"/>
          <p:cNvSpPr txBox="1">
            <a:spLocks noChangeArrowheads="1"/>
          </p:cNvSpPr>
          <p:nvPr/>
        </p:nvSpPr>
        <p:spPr bwMode="auto">
          <a:xfrm>
            <a:off x="672916" y="2983055"/>
            <a:ext cx="956559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en-US" altLang="zh-CN" dirty="0">
                <a:solidFill>
                  <a:srgbClr val="000000"/>
                </a:solidFill>
                <a:latin typeface="Times New Roman" panose="02020603050405020304" pitchFamily="18" charset="0"/>
                <a:ea typeface="微软雅黑" panose="020B0503020204020204" pitchFamily="34" charset="-122"/>
              </a:rPr>
              <a:t>a&lt;1</a:t>
            </a:r>
            <a:r>
              <a:rPr lang="zh-CN" altLang="en-US" dirty="0">
                <a:solidFill>
                  <a:srgbClr val="000000"/>
                </a:solidFill>
                <a:latin typeface="Times New Roman" panose="02020603050405020304" pitchFamily="18" charset="0"/>
                <a:ea typeface="微软雅黑" panose="020B0503020204020204" pitchFamily="34" charset="-122"/>
              </a:rPr>
              <a:t>可以实现时域压缩，频域拉宽，高频信号的局部化分析：时域窄频域宽</a:t>
            </a:r>
            <a:endParaRPr lang="en-US" altLang="zh-CN" dirty="0">
              <a:solidFill>
                <a:srgbClr val="000000"/>
              </a:solidFill>
              <a:latin typeface="Times New Roman" panose="02020603050405020304" pitchFamily="18" charset="0"/>
              <a:ea typeface="微软雅黑" panose="020B0503020204020204" pitchFamily="34" charset="-122"/>
            </a:endParaRPr>
          </a:p>
        </p:txBody>
      </p:sp>
      <p:pic>
        <p:nvPicPr>
          <p:cNvPr id="92166"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27111" y="3833238"/>
            <a:ext cx="5199872" cy="302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2167" name="对象 8"/>
          <p:cNvGraphicFramePr>
            <a:graphicFrameLocks noChangeAspect="1"/>
          </p:cNvGraphicFramePr>
          <p:nvPr>
            <p:extLst/>
          </p:nvPr>
        </p:nvGraphicFramePr>
        <p:xfrm>
          <a:off x="3521075" y="1921665"/>
          <a:ext cx="2711450" cy="454025"/>
        </p:xfrm>
        <a:graphic>
          <a:graphicData uri="http://schemas.openxmlformats.org/presentationml/2006/ole">
            <mc:AlternateContent xmlns:mc="http://schemas.openxmlformats.org/markup-compatibility/2006">
              <mc:Choice xmlns:v="urn:schemas-microsoft-com:vml" Requires="v">
                <p:oleObj spid="_x0000_s16394" name="Equation" r:id="rId5" imgW="1676160" imgH="279360" progId="Equation.DSMT4">
                  <p:embed/>
                </p:oleObj>
              </mc:Choice>
              <mc:Fallback>
                <p:oleObj name="Equation" r:id="rId5" imgW="1676160" imgH="279360" progId="Equation.DSMT4">
                  <p:embed/>
                  <p:pic>
                    <p:nvPicPr>
                      <p:cNvPr id="92167"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1075" y="1921665"/>
                        <a:ext cx="271145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168" name="对象 9"/>
          <p:cNvGraphicFramePr>
            <a:graphicFrameLocks noChangeAspect="1"/>
          </p:cNvGraphicFramePr>
          <p:nvPr>
            <p:extLst/>
          </p:nvPr>
        </p:nvGraphicFramePr>
        <p:xfrm>
          <a:off x="7475748" y="1742709"/>
          <a:ext cx="2281238" cy="701675"/>
        </p:xfrm>
        <a:graphic>
          <a:graphicData uri="http://schemas.openxmlformats.org/presentationml/2006/ole">
            <mc:AlternateContent xmlns:mc="http://schemas.openxmlformats.org/markup-compatibility/2006">
              <mc:Choice xmlns:v="urn:schemas-microsoft-com:vml" Requires="v">
                <p:oleObj spid="_x0000_s16395" name="Equation" r:id="rId7" imgW="1409400" imgH="431640" progId="Equation.DSMT4">
                  <p:embed/>
                </p:oleObj>
              </mc:Choice>
              <mc:Fallback>
                <p:oleObj name="Equation" r:id="rId7" imgW="1409400" imgH="431640" progId="Equation.DSMT4">
                  <p:embed/>
                  <p:pic>
                    <p:nvPicPr>
                      <p:cNvPr id="92168"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5748" y="1742709"/>
                        <a:ext cx="2281238" cy="7016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69" name="文本框 10"/>
          <p:cNvSpPr txBox="1">
            <a:spLocks noChangeArrowheads="1"/>
          </p:cNvSpPr>
          <p:nvPr/>
        </p:nvSpPr>
        <p:spPr bwMode="auto">
          <a:xfrm>
            <a:off x="672916" y="3408506"/>
            <a:ext cx="956559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a:solidFill>
                  <a:srgbClr val="000000"/>
                </a:solidFill>
                <a:latin typeface="Times New Roman" panose="02020603050405020304" pitchFamily="18" charset="0"/>
                <a:ea typeface="微软雅黑" panose="020B0503020204020204" pitchFamily="34" charset="-122"/>
              </a:rPr>
              <a:t>变换相当于是原始信号与小波函数的相关，在与小波函数相似的位置出现高变换系数</a:t>
            </a:r>
            <a:endParaRPr lang="en-US" altLang="zh-CN">
              <a:solidFill>
                <a:srgbClr val="000000"/>
              </a:solidFill>
              <a:latin typeface="Times New Roman" panose="02020603050405020304" pitchFamily="18" charset="0"/>
              <a:ea typeface="微软雅黑" panose="020B0503020204020204" pitchFamily="34" charset="-122"/>
            </a:endParaRPr>
          </a:p>
        </p:txBody>
      </p:sp>
      <p:sp>
        <p:nvSpPr>
          <p:cNvPr id="12" name="矩形 3"/>
          <p:cNvSpPr>
            <a:spLocks noChangeArrowheads="1"/>
          </p:cNvSpPr>
          <p:nvPr/>
        </p:nvSpPr>
        <p:spPr bwMode="auto">
          <a:xfrm>
            <a:off x="672917" y="1384302"/>
            <a:ext cx="1807048"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小波变换理论</a:t>
            </a:r>
            <a:endParaRPr lang="en-US" altLang="zh-CN" sz="2000" dirty="0">
              <a:latin typeface="华文细黑" panose="02010600040101010101" pitchFamily="2" charset="-122"/>
              <a:ea typeface="华文细黑" panose="02010600040101010101" pitchFamily="2" charset="-122"/>
            </a:endParaRPr>
          </a:p>
        </p:txBody>
      </p:sp>
      <p:sp>
        <p:nvSpPr>
          <p:cNvPr id="10" name="文本框 9"/>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45</a:t>
            </a:fld>
            <a:endParaRPr lang="zh-CN" altLang="en-US"/>
          </a:p>
        </p:txBody>
      </p:sp>
    </p:spTree>
    <p:extLst>
      <p:ext uri="{BB962C8B-B14F-4D97-AF65-F5344CB8AC3E}">
        <p14:creationId xmlns:p14="http://schemas.microsoft.com/office/powerpoint/2010/main" val="42431854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文本框 5"/>
          <p:cNvSpPr txBox="1">
            <a:spLocks noChangeArrowheads="1"/>
          </p:cNvSpPr>
          <p:nvPr/>
        </p:nvSpPr>
        <p:spPr bwMode="auto">
          <a:xfrm>
            <a:off x="7112434" y="3988026"/>
            <a:ext cx="91757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b="1">
                <a:solidFill>
                  <a:srgbClr val="000000"/>
                </a:solidFill>
                <a:latin typeface="Times New Roman" panose="02020603050405020304" pitchFamily="18" charset="0"/>
                <a:ea typeface="微软雅黑" panose="020B0503020204020204" pitchFamily="34" charset="-122"/>
              </a:rPr>
              <a:t>可逆性</a:t>
            </a:r>
            <a:endParaRPr lang="en-US" altLang="zh-CN" sz="1600" b="1">
              <a:solidFill>
                <a:srgbClr val="000000"/>
              </a:solidFill>
              <a:latin typeface="Times New Roman" panose="02020603050405020304" pitchFamily="18" charset="0"/>
              <a:ea typeface="微软雅黑" panose="020B0503020204020204" pitchFamily="34" charset="-122"/>
            </a:endParaRPr>
          </a:p>
        </p:txBody>
      </p:sp>
      <p:graphicFrame>
        <p:nvGraphicFramePr>
          <p:cNvPr id="94213" name="对象 6"/>
          <p:cNvGraphicFramePr>
            <a:graphicFrameLocks noChangeAspect="1"/>
          </p:cNvGraphicFramePr>
          <p:nvPr>
            <p:extLst/>
          </p:nvPr>
        </p:nvGraphicFramePr>
        <p:xfrm>
          <a:off x="3137334" y="3064102"/>
          <a:ext cx="3671887" cy="536575"/>
        </p:xfrm>
        <a:graphic>
          <a:graphicData uri="http://schemas.openxmlformats.org/presentationml/2006/ole">
            <mc:AlternateContent xmlns:mc="http://schemas.openxmlformats.org/markup-compatibility/2006">
              <mc:Choice xmlns:v="urn:schemas-microsoft-com:vml" Requires="v">
                <p:oleObj spid="_x0000_s17430" name="Equation" r:id="rId3" imgW="2273040" imgH="330120" progId="Equation.DSMT4">
                  <p:embed/>
                </p:oleObj>
              </mc:Choice>
              <mc:Fallback>
                <p:oleObj name="Equation" r:id="rId3" imgW="2273040" imgH="330120" progId="Equation.DSMT4">
                  <p:embed/>
                  <p:pic>
                    <p:nvPicPr>
                      <p:cNvPr id="94213"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7334" y="3064102"/>
                        <a:ext cx="367188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4214" name="文本框 7"/>
          <p:cNvSpPr txBox="1">
            <a:spLocks noChangeArrowheads="1"/>
          </p:cNvSpPr>
          <p:nvPr/>
        </p:nvSpPr>
        <p:spPr bwMode="auto">
          <a:xfrm>
            <a:off x="7123545" y="2376714"/>
            <a:ext cx="81915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b="1">
                <a:solidFill>
                  <a:srgbClr val="000000"/>
                </a:solidFill>
                <a:latin typeface="Times New Roman" panose="02020603050405020304" pitchFamily="18" charset="0"/>
                <a:ea typeface="微软雅黑" panose="020B0503020204020204" pitchFamily="34" charset="-122"/>
              </a:rPr>
              <a:t>波动性</a:t>
            </a:r>
            <a:endParaRPr lang="en-US" altLang="zh-CN" sz="1600" b="1">
              <a:solidFill>
                <a:srgbClr val="000000"/>
              </a:solidFill>
              <a:latin typeface="Times New Roman" panose="02020603050405020304" pitchFamily="18" charset="0"/>
              <a:ea typeface="微软雅黑" panose="020B0503020204020204" pitchFamily="34" charset="-122"/>
            </a:endParaRPr>
          </a:p>
        </p:txBody>
      </p:sp>
      <p:sp>
        <p:nvSpPr>
          <p:cNvPr id="94215" name="文本框 8"/>
          <p:cNvSpPr txBox="1">
            <a:spLocks noChangeArrowheads="1"/>
          </p:cNvSpPr>
          <p:nvPr/>
        </p:nvSpPr>
        <p:spPr bwMode="auto">
          <a:xfrm>
            <a:off x="672916" y="1811174"/>
            <a:ext cx="2801938"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母小波主要特征</a:t>
            </a:r>
          </a:p>
        </p:txBody>
      </p:sp>
      <p:sp>
        <p:nvSpPr>
          <p:cNvPr id="94216" name="文本框 9"/>
          <p:cNvSpPr txBox="1">
            <a:spLocks noChangeArrowheads="1"/>
          </p:cNvSpPr>
          <p:nvPr/>
        </p:nvSpPr>
        <p:spPr bwMode="auto">
          <a:xfrm>
            <a:off x="7123545" y="3187926"/>
            <a:ext cx="31384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b="1">
                <a:solidFill>
                  <a:srgbClr val="000000"/>
                </a:solidFill>
                <a:latin typeface="Times New Roman" panose="02020603050405020304" pitchFamily="18" charset="0"/>
                <a:ea typeface="微软雅黑" panose="020B0503020204020204" pitchFamily="34" charset="-122"/>
              </a:rPr>
              <a:t>衰减性：基平方可积与绝对可积</a:t>
            </a:r>
            <a:endParaRPr lang="en-US" altLang="zh-CN" sz="1600" b="1">
              <a:solidFill>
                <a:srgbClr val="000000"/>
              </a:solidFill>
              <a:latin typeface="Times New Roman" panose="02020603050405020304" pitchFamily="18" charset="0"/>
              <a:ea typeface="微软雅黑" panose="020B0503020204020204" pitchFamily="34" charset="-122"/>
            </a:endParaRPr>
          </a:p>
        </p:txBody>
      </p:sp>
      <p:graphicFrame>
        <p:nvGraphicFramePr>
          <p:cNvPr id="94217" name="对象 10"/>
          <p:cNvGraphicFramePr>
            <a:graphicFrameLocks noChangeAspect="1"/>
          </p:cNvGraphicFramePr>
          <p:nvPr>
            <p:extLst/>
          </p:nvPr>
        </p:nvGraphicFramePr>
        <p:xfrm>
          <a:off x="3042083" y="3820544"/>
          <a:ext cx="3862387" cy="722313"/>
        </p:xfrm>
        <a:graphic>
          <a:graphicData uri="http://schemas.openxmlformats.org/presentationml/2006/ole">
            <mc:AlternateContent xmlns:mc="http://schemas.openxmlformats.org/markup-compatibility/2006">
              <mc:Choice xmlns:v="urn:schemas-microsoft-com:vml" Requires="v">
                <p:oleObj spid="_x0000_s17431" name="Equation" r:id="rId5" imgW="2387520" imgH="444240" progId="Equation.DSMT4">
                  <p:embed/>
                </p:oleObj>
              </mc:Choice>
              <mc:Fallback>
                <p:oleObj name="Equation" r:id="rId5" imgW="2387520" imgH="444240" progId="Equation.DSMT4">
                  <p:embed/>
                  <p:pic>
                    <p:nvPicPr>
                      <p:cNvPr id="94217"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2083" y="3820544"/>
                        <a:ext cx="3862387"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8" name="对象 11"/>
          <p:cNvGraphicFramePr>
            <a:graphicFrameLocks noChangeAspect="1"/>
          </p:cNvGraphicFramePr>
          <p:nvPr>
            <p:extLst/>
          </p:nvPr>
        </p:nvGraphicFramePr>
        <p:xfrm>
          <a:off x="7533120" y="1483970"/>
          <a:ext cx="2711450" cy="454025"/>
        </p:xfrm>
        <a:graphic>
          <a:graphicData uri="http://schemas.openxmlformats.org/presentationml/2006/ole">
            <mc:AlternateContent xmlns:mc="http://schemas.openxmlformats.org/markup-compatibility/2006">
              <mc:Choice xmlns:v="urn:schemas-microsoft-com:vml" Requires="v">
                <p:oleObj spid="_x0000_s17432" name="Equation" r:id="rId7" imgW="1676160" imgH="279360" progId="Equation.DSMT4">
                  <p:embed/>
                </p:oleObj>
              </mc:Choice>
              <mc:Fallback>
                <p:oleObj name="Equation" r:id="rId7" imgW="1676160" imgH="279360" progId="Equation.DSMT4">
                  <p:embed/>
                  <p:pic>
                    <p:nvPicPr>
                      <p:cNvPr id="94218" name="对象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33120" y="1483970"/>
                        <a:ext cx="2711450" cy="4540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19" name="对象 12"/>
          <p:cNvGraphicFramePr>
            <a:graphicFrameLocks noChangeAspect="1"/>
          </p:cNvGraphicFramePr>
          <p:nvPr>
            <p:extLst/>
          </p:nvPr>
        </p:nvGraphicFramePr>
        <p:xfrm>
          <a:off x="7982383" y="3814989"/>
          <a:ext cx="2360612" cy="660400"/>
        </p:xfrm>
        <a:graphic>
          <a:graphicData uri="http://schemas.openxmlformats.org/presentationml/2006/ole">
            <mc:AlternateContent xmlns:mc="http://schemas.openxmlformats.org/markup-compatibility/2006">
              <mc:Choice xmlns:v="urn:schemas-microsoft-com:vml" Requires="v">
                <p:oleObj spid="_x0000_s17433" name="Equation" r:id="rId9" imgW="1460160" imgH="406080" progId="Equation.DSMT4">
                  <p:embed/>
                </p:oleObj>
              </mc:Choice>
              <mc:Fallback>
                <p:oleObj name="Equation" r:id="rId9" imgW="1460160" imgH="406080" progId="Equation.DSMT4">
                  <p:embed/>
                  <p:pic>
                    <p:nvPicPr>
                      <p:cNvPr id="94219"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82383" y="3814989"/>
                        <a:ext cx="2360612" cy="6604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4220" name="对象 13"/>
          <p:cNvGraphicFramePr>
            <a:graphicFrameLocks noChangeAspect="1"/>
          </p:cNvGraphicFramePr>
          <p:nvPr>
            <p:extLst/>
          </p:nvPr>
        </p:nvGraphicFramePr>
        <p:xfrm>
          <a:off x="3402479" y="2278935"/>
          <a:ext cx="2565400" cy="557213"/>
        </p:xfrm>
        <a:graphic>
          <a:graphicData uri="http://schemas.openxmlformats.org/presentationml/2006/ole">
            <mc:AlternateContent xmlns:mc="http://schemas.openxmlformats.org/markup-compatibility/2006">
              <mc:Choice xmlns:v="urn:schemas-microsoft-com:vml" Requires="v">
                <p:oleObj spid="_x0000_s17434" name="Equation" r:id="rId11" imgW="1587240" imgH="342720" progId="Equation.DSMT4">
                  <p:embed/>
                </p:oleObj>
              </mc:Choice>
              <mc:Fallback>
                <p:oleObj name="Equation" r:id="rId11" imgW="1587240" imgH="342720" progId="Equation.DSMT4">
                  <p:embed/>
                  <p:pic>
                    <p:nvPicPr>
                      <p:cNvPr id="94220" name="对象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02479" y="2278935"/>
                        <a:ext cx="25654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94221" name="图片 14"/>
          <p:cNvPicPr>
            <a:picLocks noChangeAspect="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65205" y="4542857"/>
            <a:ext cx="4416141" cy="2248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22" name="文本框 15"/>
          <p:cNvSpPr txBox="1">
            <a:spLocks noChangeArrowheads="1"/>
          </p:cNvSpPr>
          <p:nvPr/>
        </p:nvSpPr>
        <p:spPr bwMode="auto">
          <a:xfrm>
            <a:off x="3379427" y="1854203"/>
            <a:ext cx="2058987"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b="1" dirty="0">
                <a:solidFill>
                  <a:srgbClr val="FF0000"/>
                </a:solidFill>
                <a:latin typeface="Times New Roman" panose="02020603050405020304" pitchFamily="18" charset="0"/>
                <a:ea typeface="微软雅黑" panose="020B0503020204020204" pitchFamily="34" charset="-122"/>
              </a:rPr>
              <a:t>时域能量集中且有限</a:t>
            </a:r>
            <a:endParaRPr lang="en-US" altLang="zh-CN" sz="1600" b="1" dirty="0">
              <a:solidFill>
                <a:srgbClr val="FF0000"/>
              </a:solidFill>
              <a:latin typeface="Times New Roman" panose="02020603050405020304" pitchFamily="18" charset="0"/>
              <a:ea typeface="微软雅黑" panose="020B0503020204020204" pitchFamily="34" charset="-122"/>
            </a:endParaRPr>
          </a:p>
        </p:txBody>
      </p:sp>
      <p:sp>
        <p:nvSpPr>
          <p:cNvPr id="15" name="矩形 3"/>
          <p:cNvSpPr>
            <a:spLocks noChangeArrowheads="1"/>
          </p:cNvSpPr>
          <p:nvPr/>
        </p:nvSpPr>
        <p:spPr bwMode="auto">
          <a:xfrm>
            <a:off x="672917" y="1384302"/>
            <a:ext cx="1807048"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小波变换理论</a:t>
            </a:r>
            <a:endParaRPr lang="en-US" altLang="zh-CN" sz="2000" dirty="0">
              <a:latin typeface="华文细黑" panose="02010600040101010101" pitchFamily="2" charset="-122"/>
              <a:ea typeface="华文细黑" panose="02010600040101010101" pitchFamily="2" charset="-122"/>
            </a:endParaRPr>
          </a:p>
        </p:txBody>
      </p:sp>
      <p:sp>
        <p:nvSpPr>
          <p:cNvPr id="17" name="文本框 16"/>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46</a:t>
            </a:fld>
            <a:endParaRPr lang="zh-CN" altLang="en-US"/>
          </a:p>
        </p:txBody>
      </p:sp>
    </p:spTree>
    <p:extLst>
      <p:ext uri="{BB962C8B-B14F-4D97-AF65-F5344CB8AC3E}">
        <p14:creationId xmlns:p14="http://schemas.microsoft.com/office/powerpoint/2010/main" val="1437473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文本框 5"/>
          <p:cNvSpPr txBox="1">
            <a:spLocks noChangeArrowheads="1"/>
          </p:cNvSpPr>
          <p:nvPr/>
        </p:nvSpPr>
        <p:spPr bwMode="auto">
          <a:xfrm>
            <a:off x="672916" y="1796271"/>
            <a:ext cx="39878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a:solidFill>
                  <a:srgbClr val="000000"/>
                </a:solidFill>
                <a:latin typeface="Times New Roman" panose="02020603050405020304" pitchFamily="18" charset="0"/>
                <a:ea typeface="微软雅黑" panose="020B0503020204020204" pitchFamily="34" charset="-122"/>
              </a:rPr>
              <a:t>二进小波基函数</a:t>
            </a:r>
            <a:r>
              <a:rPr lang="en-US" altLang="zh-CN">
                <a:solidFill>
                  <a:srgbClr val="000000"/>
                </a:solidFill>
                <a:latin typeface="Times New Roman" panose="02020603050405020304" pitchFamily="18" charset="0"/>
                <a:ea typeface="微软雅黑" panose="020B0503020204020204" pitchFamily="34" charset="-122"/>
              </a:rPr>
              <a:t>:</a:t>
            </a:r>
            <a:r>
              <a:rPr lang="zh-CN" altLang="en-US" sz="1200">
                <a:solidFill>
                  <a:srgbClr val="000000"/>
                </a:solidFill>
                <a:latin typeface="Times New Roman" panose="02020603050405020304" pitchFamily="18" charset="0"/>
                <a:ea typeface="微软雅黑" panose="020B0503020204020204" pitchFamily="34" charset="-122"/>
              </a:rPr>
              <a:t>尺度与平移参数做二进离散</a:t>
            </a:r>
          </a:p>
        </p:txBody>
      </p:sp>
      <p:graphicFrame>
        <p:nvGraphicFramePr>
          <p:cNvPr id="95237" name="对象 6"/>
          <p:cNvGraphicFramePr>
            <a:graphicFrameLocks noChangeAspect="1"/>
          </p:cNvGraphicFramePr>
          <p:nvPr>
            <p:extLst/>
          </p:nvPr>
        </p:nvGraphicFramePr>
        <p:xfrm>
          <a:off x="3975101" y="2181399"/>
          <a:ext cx="2482850" cy="598487"/>
        </p:xfrm>
        <a:graphic>
          <a:graphicData uri="http://schemas.openxmlformats.org/presentationml/2006/ole">
            <mc:AlternateContent xmlns:mc="http://schemas.openxmlformats.org/markup-compatibility/2006">
              <mc:Choice xmlns:v="urn:schemas-microsoft-com:vml" Requires="v">
                <p:oleObj spid="_x0000_s18458" name="Equation" r:id="rId3" imgW="1536480" imgH="368280" progId="Equation.DSMT4">
                  <p:embed/>
                </p:oleObj>
              </mc:Choice>
              <mc:Fallback>
                <p:oleObj name="Equation" r:id="rId3" imgW="1536480" imgH="368280" progId="Equation.DSMT4">
                  <p:embed/>
                  <p:pic>
                    <p:nvPicPr>
                      <p:cNvPr id="9523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75101" y="2181399"/>
                        <a:ext cx="24828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38" name="对象 7"/>
          <p:cNvGraphicFramePr>
            <a:graphicFrameLocks noChangeAspect="1"/>
          </p:cNvGraphicFramePr>
          <p:nvPr>
            <p:extLst/>
          </p:nvPr>
        </p:nvGraphicFramePr>
        <p:xfrm>
          <a:off x="7781926" y="2566356"/>
          <a:ext cx="1477962" cy="371475"/>
        </p:xfrm>
        <a:graphic>
          <a:graphicData uri="http://schemas.openxmlformats.org/presentationml/2006/ole">
            <mc:AlternateContent xmlns:mc="http://schemas.openxmlformats.org/markup-compatibility/2006">
              <mc:Choice xmlns:v="urn:schemas-microsoft-com:vml" Requires="v">
                <p:oleObj spid="_x0000_s18459" name="Equation" r:id="rId5" imgW="914400" imgH="228600" progId="Equation.DSMT4">
                  <p:embed/>
                </p:oleObj>
              </mc:Choice>
              <mc:Fallback>
                <p:oleObj name="Equation" r:id="rId5" imgW="914400" imgH="228600" progId="Equation.DSMT4">
                  <p:embed/>
                  <p:pic>
                    <p:nvPicPr>
                      <p:cNvPr id="9523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81926" y="2566356"/>
                        <a:ext cx="1477962" cy="3714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39" name="对象 8"/>
          <p:cNvGraphicFramePr>
            <a:graphicFrameLocks noChangeAspect="1"/>
          </p:cNvGraphicFramePr>
          <p:nvPr>
            <p:extLst/>
          </p:nvPr>
        </p:nvGraphicFramePr>
        <p:xfrm>
          <a:off x="7781927" y="1750381"/>
          <a:ext cx="2281237" cy="701675"/>
        </p:xfrm>
        <a:graphic>
          <a:graphicData uri="http://schemas.openxmlformats.org/presentationml/2006/ole">
            <mc:AlternateContent xmlns:mc="http://schemas.openxmlformats.org/markup-compatibility/2006">
              <mc:Choice xmlns:v="urn:schemas-microsoft-com:vml" Requires="v">
                <p:oleObj spid="_x0000_s18460" name="Equation" r:id="rId7" imgW="1409400" imgH="431640" progId="Equation.DSMT4">
                  <p:embed/>
                </p:oleObj>
              </mc:Choice>
              <mc:Fallback>
                <p:oleObj name="Equation" r:id="rId7" imgW="1409400" imgH="431640" progId="Equation.DSMT4">
                  <p:embed/>
                  <p:pic>
                    <p:nvPicPr>
                      <p:cNvPr id="95239"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81927" y="1750381"/>
                        <a:ext cx="2281237" cy="7016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40" name="对象 9"/>
          <p:cNvGraphicFramePr>
            <a:graphicFrameLocks noChangeAspect="1"/>
          </p:cNvGraphicFramePr>
          <p:nvPr>
            <p:extLst/>
          </p:nvPr>
        </p:nvGraphicFramePr>
        <p:xfrm>
          <a:off x="3944939" y="3006899"/>
          <a:ext cx="2773363" cy="454025"/>
        </p:xfrm>
        <a:graphic>
          <a:graphicData uri="http://schemas.openxmlformats.org/presentationml/2006/ole">
            <mc:AlternateContent xmlns:mc="http://schemas.openxmlformats.org/markup-compatibility/2006">
              <mc:Choice xmlns:v="urn:schemas-microsoft-com:vml" Requires="v">
                <p:oleObj spid="_x0000_s18461" name="Equation" r:id="rId9" imgW="1714320" imgH="279360" progId="Equation.DSMT4">
                  <p:embed/>
                </p:oleObj>
              </mc:Choice>
              <mc:Fallback>
                <p:oleObj name="Equation" r:id="rId9" imgW="1714320" imgH="279360" progId="Equation.DSMT4">
                  <p:embed/>
                  <p:pic>
                    <p:nvPicPr>
                      <p:cNvPr id="9524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4939" y="3006899"/>
                        <a:ext cx="27733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5241" name="对象 10"/>
          <p:cNvGraphicFramePr>
            <a:graphicFrameLocks noChangeAspect="1"/>
          </p:cNvGraphicFramePr>
          <p:nvPr>
            <p:extLst/>
          </p:nvPr>
        </p:nvGraphicFramePr>
        <p:xfrm>
          <a:off x="7781926" y="3164844"/>
          <a:ext cx="2711450" cy="454025"/>
        </p:xfrm>
        <a:graphic>
          <a:graphicData uri="http://schemas.openxmlformats.org/presentationml/2006/ole">
            <mc:AlternateContent xmlns:mc="http://schemas.openxmlformats.org/markup-compatibility/2006">
              <mc:Choice xmlns:v="urn:schemas-microsoft-com:vml" Requires="v">
                <p:oleObj spid="_x0000_s18462" name="Equation" r:id="rId11" imgW="1676160" imgH="279360" progId="Equation.DSMT4">
                  <p:embed/>
                </p:oleObj>
              </mc:Choice>
              <mc:Fallback>
                <p:oleObj name="Equation" r:id="rId11" imgW="1676160" imgH="279360" progId="Equation.DSMT4">
                  <p:embed/>
                  <p:pic>
                    <p:nvPicPr>
                      <p:cNvPr id="95241" name="对象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81926" y="3164844"/>
                        <a:ext cx="2711450" cy="4540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42" name="文本框 11"/>
          <p:cNvSpPr txBox="1">
            <a:spLocks noChangeArrowheads="1"/>
          </p:cNvSpPr>
          <p:nvPr/>
        </p:nvSpPr>
        <p:spPr bwMode="auto">
          <a:xfrm>
            <a:off x="672916" y="3742546"/>
            <a:ext cx="4846638"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a:solidFill>
                  <a:srgbClr val="000000"/>
                </a:solidFill>
                <a:latin typeface="Times New Roman" panose="02020603050405020304" pitchFamily="18" charset="0"/>
                <a:ea typeface="微软雅黑" panose="020B0503020204020204" pitchFamily="34" charset="-122"/>
              </a:rPr>
              <a:t>小波分解</a:t>
            </a:r>
            <a:r>
              <a:rPr lang="en-US" altLang="zh-CN">
                <a:solidFill>
                  <a:srgbClr val="000000"/>
                </a:solidFill>
                <a:latin typeface="Times New Roman" panose="02020603050405020304" pitchFamily="18" charset="0"/>
                <a:ea typeface="微软雅黑" panose="020B0503020204020204" pitchFamily="34" charset="-122"/>
              </a:rPr>
              <a:t>Mallat</a:t>
            </a:r>
            <a:r>
              <a:rPr lang="zh-CN" altLang="en-US">
                <a:solidFill>
                  <a:srgbClr val="000000"/>
                </a:solidFill>
                <a:latin typeface="Times New Roman" panose="02020603050405020304" pitchFamily="18" charset="0"/>
                <a:ea typeface="微软雅黑" panose="020B0503020204020204" pitchFamily="34" charset="-122"/>
              </a:rPr>
              <a:t>算法：滤波器塔式数据算法</a:t>
            </a:r>
          </a:p>
        </p:txBody>
      </p:sp>
      <p:grpSp>
        <p:nvGrpSpPr>
          <p:cNvPr id="95243" name="组合 12"/>
          <p:cNvGrpSpPr>
            <a:grpSpLocks/>
          </p:cNvGrpSpPr>
          <p:nvPr/>
        </p:nvGrpSpPr>
        <p:grpSpPr bwMode="auto">
          <a:xfrm>
            <a:off x="1944689" y="4144964"/>
            <a:ext cx="5837237" cy="2663825"/>
            <a:chOff x="936871" y="4210524"/>
            <a:chExt cx="5837330" cy="2664336"/>
          </a:xfrm>
        </p:grpSpPr>
        <p:pic>
          <p:nvPicPr>
            <p:cNvPr id="95246" name="Picture 4"/>
            <p:cNvPicPr>
              <a:picLocks noChangeAspect="1" noChangeArrowheads="1"/>
            </p:cNvPicPr>
            <p:nvPr/>
          </p:nvPicPr>
          <p:blipFill>
            <a:blip r:embed="rId13">
              <a:extLst>
                <a:ext uri="{28A0092B-C50C-407E-A947-70E740481C1C}">
                  <a14:useLocalDpi xmlns:a14="http://schemas.microsoft.com/office/drawing/2010/main" val="0"/>
                </a:ext>
              </a:extLst>
            </a:blip>
            <a:srcRect t="17690"/>
            <a:stretch>
              <a:fillRect/>
            </a:stretch>
          </p:blipFill>
          <p:spPr bwMode="auto">
            <a:xfrm>
              <a:off x="936871" y="4513385"/>
              <a:ext cx="4847017" cy="1758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15"/>
            <p:cNvSpPr txBox="1">
              <a:spLocks noChangeArrowheads="1"/>
            </p:cNvSpPr>
            <p:nvPr/>
          </p:nvSpPr>
          <p:spPr bwMode="auto">
            <a:xfrm>
              <a:off x="5991552" y="4499504"/>
              <a:ext cx="782649" cy="424813"/>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kern="0" dirty="0">
                  <a:solidFill>
                    <a:srgbClr val="000000"/>
                  </a:solidFill>
                </a:rPr>
                <a:t>j=0</a:t>
              </a:r>
            </a:p>
          </p:txBody>
        </p:sp>
        <p:sp>
          <p:nvSpPr>
            <p:cNvPr id="16" name="Text Box 16"/>
            <p:cNvSpPr txBox="1">
              <a:spLocks noChangeArrowheads="1"/>
            </p:cNvSpPr>
            <p:nvPr/>
          </p:nvSpPr>
          <p:spPr bwMode="auto">
            <a:xfrm>
              <a:off x="6012189" y="4836119"/>
              <a:ext cx="571509" cy="424813"/>
            </a:xfrm>
            <a:prstGeom prst="rect">
              <a:avLst/>
            </a:prstGeom>
            <a:noFill/>
          </p:spPr>
          <p:txBody>
            <a:bodyPr>
              <a:spAutoFit/>
            </a:bodyPr>
            <a:lstStyle>
              <a:defPPr>
                <a:defRPr lang="zh-CN"/>
              </a:defPPr>
              <a:lvl1pPr marL="0" indent="0">
                <a:lnSpc>
                  <a:spcPct val="120000"/>
                </a:lnSpc>
                <a:buFont typeface="Arial" panose="020B0604020202020204" pitchFamily="34" charset="0"/>
                <a:buNone/>
                <a:defRPr>
                  <a:latin typeface="Times New Roman" panose="02020603050405020304" pitchFamily="18" charset="0"/>
                  <a:ea typeface="微软雅黑" panose="020B0503020204020204" pitchFamily="34" charset="-122"/>
                </a:defRPr>
              </a:lvl1pPr>
            </a:lstStyle>
            <a:p>
              <a:pPr>
                <a:defRPr/>
              </a:pPr>
              <a:r>
                <a:rPr lang="en-US" altLang="zh-CN" kern="0" dirty="0">
                  <a:solidFill>
                    <a:srgbClr val="000000"/>
                  </a:solidFill>
                </a:rPr>
                <a:t>j=1</a:t>
              </a:r>
            </a:p>
          </p:txBody>
        </p:sp>
        <p:sp>
          <p:nvSpPr>
            <p:cNvPr id="17" name="Text Box 17"/>
            <p:cNvSpPr txBox="1">
              <a:spLocks noChangeArrowheads="1"/>
            </p:cNvSpPr>
            <p:nvPr/>
          </p:nvSpPr>
          <p:spPr bwMode="auto">
            <a:xfrm>
              <a:off x="1316289" y="4883753"/>
              <a:ext cx="1449411" cy="363607"/>
            </a:xfrm>
            <a:prstGeom prst="rect">
              <a:avLst/>
            </a:prstGeom>
            <a:noFill/>
          </p:spPr>
          <p:txBody>
            <a:bodyPr>
              <a:spAutoFit/>
            </a:bodyPr>
            <a:lstStyle>
              <a:defPPr>
                <a:defRPr lang="zh-CN"/>
              </a:defPPr>
              <a:lvl1pPr marL="0" indent="0">
                <a:lnSpc>
                  <a:spcPct val="120000"/>
                </a:lnSpc>
                <a:buFont typeface="Arial" panose="020B0604020202020204" pitchFamily="34" charset="0"/>
                <a:buNone/>
                <a:defRPr>
                  <a:latin typeface="Times New Roman" panose="02020603050405020304" pitchFamily="18" charset="0"/>
                  <a:ea typeface="微软雅黑" panose="020B0503020204020204" pitchFamily="34" charset="-122"/>
                </a:defRPr>
              </a:lvl1pPr>
            </a:lstStyle>
            <a:p>
              <a:pPr>
                <a:defRPr/>
              </a:pPr>
              <a:r>
                <a:rPr lang="zh-CN" altLang="en-US" sz="1400" b="1" kern="0" dirty="0">
                  <a:solidFill>
                    <a:srgbClr val="000000"/>
                  </a:solidFill>
                </a:rPr>
                <a:t>低频近似序列</a:t>
              </a:r>
              <a:r>
                <a:rPr lang="en-US" altLang="zh-CN" sz="1400" b="1" kern="0" dirty="0">
                  <a:solidFill>
                    <a:srgbClr val="000000"/>
                  </a:solidFill>
                </a:rPr>
                <a:t>C</a:t>
              </a:r>
              <a:r>
                <a:rPr lang="en-US" altLang="zh-CN" sz="1400" b="1" kern="0" baseline="-25000" dirty="0">
                  <a:solidFill>
                    <a:srgbClr val="000000"/>
                  </a:solidFill>
                </a:rPr>
                <a:t>1</a:t>
              </a:r>
              <a:endParaRPr lang="zh-CN" altLang="en-US" sz="1400" b="1" kern="0" dirty="0">
                <a:solidFill>
                  <a:srgbClr val="000000"/>
                </a:solidFill>
              </a:endParaRPr>
            </a:p>
          </p:txBody>
        </p:sp>
        <p:sp>
          <p:nvSpPr>
            <p:cNvPr id="18" name="Text Box 18"/>
            <p:cNvSpPr txBox="1">
              <a:spLocks noChangeArrowheads="1"/>
            </p:cNvSpPr>
            <p:nvPr/>
          </p:nvSpPr>
          <p:spPr bwMode="auto">
            <a:xfrm>
              <a:off x="3576925" y="4893280"/>
              <a:ext cx="1463698" cy="362019"/>
            </a:xfrm>
            <a:prstGeom prst="rect">
              <a:avLst/>
            </a:prstGeom>
            <a:noFill/>
          </p:spPr>
          <p:txBody>
            <a:bodyPr>
              <a:spAutoFit/>
            </a:bodyPr>
            <a:lstStyle>
              <a:defPPr>
                <a:defRPr lang="zh-CN"/>
              </a:defPPr>
              <a:lvl1pPr marL="0" indent="0">
                <a:lnSpc>
                  <a:spcPct val="120000"/>
                </a:lnSpc>
                <a:buFont typeface="Arial" panose="020B0604020202020204" pitchFamily="34" charset="0"/>
                <a:buNone/>
                <a:defRPr>
                  <a:latin typeface="Times New Roman" panose="02020603050405020304" pitchFamily="18" charset="0"/>
                  <a:ea typeface="微软雅黑" panose="020B0503020204020204" pitchFamily="34" charset="-122"/>
                </a:defRPr>
              </a:lvl1pPr>
            </a:lstStyle>
            <a:p>
              <a:pPr>
                <a:defRPr/>
              </a:pPr>
              <a:r>
                <a:rPr lang="zh-CN" altLang="en-US" sz="1400" b="1" kern="0" dirty="0">
                  <a:solidFill>
                    <a:srgbClr val="000000"/>
                  </a:solidFill>
                </a:rPr>
                <a:t>高频细节序列</a:t>
              </a:r>
              <a:r>
                <a:rPr lang="en-US" altLang="zh-CN" sz="1400" b="1" kern="0" dirty="0">
                  <a:solidFill>
                    <a:srgbClr val="000000"/>
                  </a:solidFill>
                </a:rPr>
                <a:t>D</a:t>
              </a:r>
              <a:r>
                <a:rPr lang="en-US" altLang="zh-CN" sz="1400" b="1" kern="0" baseline="-25000" dirty="0">
                  <a:solidFill>
                    <a:srgbClr val="000000"/>
                  </a:solidFill>
                </a:rPr>
                <a:t>1</a:t>
              </a:r>
              <a:endParaRPr lang="zh-CN" altLang="en-US" sz="1400" b="1" kern="0" dirty="0">
                <a:solidFill>
                  <a:srgbClr val="000000"/>
                </a:solidFill>
              </a:endParaRPr>
            </a:p>
          </p:txBody>
        </p:sp>
        <p:sp>
          <p:nvSpPr>
            <p:cNvPr id="19" name="Text Box 20"/>
            <p:cNvSpPr txBox="1">
              <a:spLocks noChangeArrowheads="1"/>
            </p:cNvSpPr>
            <p:nvPr/>
          </p:nvSpPr>
          <p:spPr bwMode="auto">
            <a:xfrm>
              <a:off x="5664521" y="6223860"/>
              <a:ext cx="1109680" cy="369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kern="0" dirty="0">
                  <a:solidFill>
                    <a:srgbClr val="000000"/>
                  </a:solidFill>
                  <a:latin typeface="Arial" panose="020B0604020202020204" pitchFamily="34" charset="0"/>
                  <a:ea typeface="宋体" panose="02010600030101010101" pitchFamily="2" charset="-122"/>
                </a:rPr>
                <a:t>塔式算法</a:t>
              </a:r>
            </a:p>
          </p:txBody>
        </p:sp>
        <p:sp>
          <p:nvSpPr>
            <p:cNvPr id="20" name="Text Box 18"/>
            <p:cNvSpPr txBox="1">
              <a:spLocks noChangeArrowheads="1"/>
            </p:cNvSpPr>
            <p:nvPr/>
          </p:nvSpPr>
          <p:spPr bwMode="auto">
            <a:xfrm>
              <a:off x="2303730" y="5326750"/>
              <a:ext cx="574684" cy="350905"/>
            </a:xfrm>
            <a:prstGeom prst="rect">
              <a:avLst/>
            </a:prstGeom>
            <a:noFill/>
          </p:spPr>
          <p:txBody>
            <a:bodyPr>
              <a:spAutoFit/>
            </a:bodyPr>
            <a:lstStyle>
              <a:defPPr>
                <a:defRPr lang="zh-CN"/>
              </a:defPPr>
              <a:lvl1pPr marL="0" indent="0">
                <a:lnSpc>
                  <a:spcPct val="120000"/>
                </a:lnSpc>
                <a:buFont typeface="Arial" panose="020B0604020202020204" pitchFamily="34" charset="0"/>
                <a:buNone/>
                <a:defRPr>
                  <a:latin typeface="Times New Roman" panose="02020603050405020304" pitchFamily="18" charset="0"/>
                  <a:ea typeface="微软雅黑" panose="020B0503020204020204" pitchFamily="34" charset="-122"/>
                </a:defRPr>
              </a:lvl1pPr>
            </a:lstStyle>
            <a:p>
              <a:pPr>
                <a:defRPr/>
              </a:pPr>
              <a:r>
                <a:rPr lang="en-US" altLang="zh-CN" sz="1400" b="1" kern="0" dirty="0">
                  <a:solidFill>
                    <a:srgbClr val="000000"/>
                  </a:solidFill>
                </a:rPr>
                <a:t>D</a:t>
              </a:r>
              <a:r>
                <a:rPr lang="en-US" altLang="zh-CN" sz="1400" b="1" kern="0" baseline="-25000" dirty="0">
                  <a:solidFill>
                    <a:srgbClr val="000000"/>
                  </a:solidFill>
                </a:rPr>
                <a:t>2</a:t>
              </a:r>
              <a:endParaRPr lang="zh-CN" altLang="en-US" sz="1400" b="1" kern="0" dirty="0">
                <a:solidFill>
                  <a:srgbClr val="000000"/>
                </a:solidFill>
              </a:endParaRPr>
            </a:p>
          </p:txBody>
        </p:sp>
        <p:sp>
          <p:nvSpPr>
            <p:cNvPr id="21" name="Text Box 18"/>
            <p:cNvSpPr txBox="1">
              <a:spLocks noChangeArrowheads="1"/>
            </p:cNvSpPr>
            <p:nvPr/>
          </p:nvSpPr>
          <p:spPr bwMode="auto">
            <a:xfrm>
              <a:off x="1313114" y="5318812"/>
              <a:ext cx="574684" cy="350932"/>
            </a:xfrm>
            <a:prstGeom prst="rect">
              <a:avLst/>
            </a:prstGeom>
            <a:noFill/>
          </p:spPr>
          <p:txBody>
            <a:bodyPr>
              <a:spAutoFit/>
            </a:bodyPr>
            <a:lstStyle>
              <a:defPPr>
                <a:defRPr lang="zh-CN"/>
              </a:defPPr>
              <a:lvl1pPr marL="0" indent="0">
                <a:lnSpc>
                  <a:spcPct val="120000"/>
                </a:lnSpc>
                <a:buFont typeface="Arial" panose="020B0604020202020204" pitchFamily="34" charset="0"/>
                <a:buNone/>
                <a:defRPr>
                  <a:latin typeface="Times New Roman" panose="02020603050405020304" pitchFamily="18" charset="0"/>
                  <a:ea typeface="微软雅黑" panose="020B0503020204020204" pitchFamily="34" charset="-122"/>
                </a:defRPr>
              </a:lvl1pPr>
            </a:lstStyle>
            <a:p>
              <a:pPr>
                <a:defRPr/>
              </a:pPr>
              <a:r>
                <a:rPr lang="en-US" altLang="zh-CN" sz="1400" b="1" kern="0" dirty="0">
                  <a:solidFill>
                    <a:srgbClr val="000000"/>
                  </a:solidFill>
                </a:rPr>
                <a:t>C</a:t>
              </a:r>
              <a:r>
                <a:rPr lang="en-US" altLang="zh-CN" sz="1400" b="1" kern="0" baseline="-25000" dirty="0">
                  <a:solidFill>
                    <a:srgbClr val="000000"/>
                  </a:solidFill>
                </a:rPr>
                <a:t>2</a:t>
              </a:r>
              <a:endParaRPr lang="zh-CN" altLang="en-US" sz="1400" b="1" kern="0" dirty="0">
                <a:solidFill>
                  <a:srgbClr val="000000"/>
                </a:solidFill>
              </a:endParaRPr>
            </a:p>
          </p:txBody>
        </p:sp>
        <p:sp>
          <p:nvSpPr>
            <p:cNvPr id="22" name="Text Box 18"/>
            <p:cNvSpPr txBox="1">
              <a:spLocks noChangeArrowheads="1"/>
            </p:cNvSpPr>
            <p:nvPr/>
          </p:nvSpPr>
          <p:spPr bwMode="auto">
            <a:xfrm>
              <a:off x="1027359" y="5730052"/>
              <a:ext cx="573097" cy="350932"/>
            </a:xfrm>
            <a:prstGeom prst="rect">
              <a:avLst/>
            </a:prstGeom>
            <a:noFill/>
          </p:spPr>
          <p:txBody>
            <a:bodyPr>
              <a:spAutoFit/>
            </a:bodyPr>
            <a:lstStyle>
              <a:defPPr>
                <a:defRPr lang="zh-CN"/>
              </a:defPPr>
              <a:lvl1pPr marL="0" indent="0">
                <a:lnSpc>
                  <a:spcPct val="120000"/>
                </a:lnSpc>
                <a:buFont typeface="Arial" panose="020B0604020202020204" pitchFamily="34" charset="0"/>
                <a:buNone/>
                <a:defRPr>
                  <a:latin typeface="Times New Roman" panose="02020603050405020304" pitchFamily="18" charset="0"/>
                  <a:ea typeface="微软雅黑" panose="020B0503020204020204" pitchFamily="34" charset="-122"/>
                </a:defRPr>
              </a:lvl1pPr>
            </a:lstStyle>
            <a:p>
              <a:pPr>
                <a:defRPr/>
              </a:pPr>
              <a:r>
                <a:rPr lang="en-US" altLang="zh-CN" sz="1400" b="1" kern="0" dirty="0">
                  <a:solidFill>
                    <a:srgbClr val="000000"/>
                  </a:solidFill>
                </a:rPr>
                <a:t>C</a:t>
              </a:r>
              <a:r>
                <a:rPr lang="en-US" altLang="zh-CN" sz="1400" b="1" kern="0" baseline="-25000" dirty="0">
                  <a:solidFill>
                    <a:srgbClr val="000000"/>
                  </a:solidFill>
                </a:rPr>
                <a:t>3</a:t>
              </a:r>
              <a:endParaRPr lang="zh-CN" altLang="en-US" sz="1400" b="1" kern="0" dirty="0">
                <a:solidFill>
                  <a:srgbClr val="000000"/>
                </a:solidFill>
              </a:endParaRPr>
            </a:p>
          </p:txBody>
        </p:sp>
        <p:sp>
          <p:nvSpPr>
            <p:cNvPr id="23" name="Text Box 18"/>
            <p:cNvSpPr txBox="1">
              <a:spLocks noChangeArrowheads="1"/>
            </p:cNvSpPr>
            <p:nvPr/>
          </p:nvSpPr>
          <p:spPr bwMode="auto">
            <a:xfrm>
              <a:off x="1467104" y="5744343"/>
              <a:ext cx="574684" cy="350932"/>
            </a:xfrm>
            <a:prstGeom prst="rect">
              <a:avLst/>
            </a:prstGeom>
            <a:noFill/>
          </p:spPr>
          <p:txBody>
            <a:bodyPr>
              <a:spAutoFit/>
            </a:bodyPr>
            <a:lstStyle>
              <a:defPPr>
                <a:defRPr lang="zh-CN"/>
              </a:defPPr>
              <a:lvl1pPr marL="0" indent="0">
                <a:lnSpc>
                  <a:spcPct val="120000"/>
                </a:lnSpc>
                <a:buFont typeface="Arial" panose="020B0604020202020204" pitchFamily="34" charset="0"/>
                <a:buNone/>
                <a:defRPr>
                  <a:latin typeface="Times New Roman" panose="02020603050405020304" pitchFamily="18" charset="0"/>
                  <a:ea typeface="微软雅黑" panose="020B0503020204020204" pitchFamily="34" charset="-122"/>
                </a:defRPr>
              </a:lvl1pPr>
            </a:lstStyle>
            <a:p>
              <a:pPr>
                <a:defRPr/>
              </a:pPr>
              <a:r>
                <a:rPr lang="en-US" altLang="zh-CN" sz="1400" b="1" kern="0" dirty="0">
                  <a:solidFill>
                    <a:srgbClr val="000000"/>
                  </a:solidFill>
                </a:rPr>
                <a:t>D</a:t>
              </a:r>
              <a:r>
                <a:rPr lang="en-US" altLang="zh-CN" sz="1400" b="1" kern="0" baseline="-25000" dirty="0">
                  <a:solidFill>
                    <a:srgbClr val="000000"/>
                  </a:solidFill>
                </a:rPr>
                <a:t>3</a:t>
              </a:r>
              <a:endParaRPr lang="zh-CN" altLang="en-US" sz="1400" b="1" kern="0" dirty="0">
                <a:solidFill>
                  <a:srgbClr val="000000"/>
                </a:solidFill>
              </a:endParaRPr>
            </a:p>
          </p:txBody>
        </p:sp>
        <p:sp>
          <p:nvSpPr>
            <p:cNvPr id="24" name="矩形 23"/>
            <p:cNvSpPr/>
            <p:nvPr/>
          </p:nvSpPr>
          <p:spPr bwMode="auto">
            <a:xfrm>
              <a:off x="2765700" y="4210524"/>
              <a:ext cx="1443060" cy="387424"/>
            </a:xfrm>
            <a:prstGeom prst="rect">
              <a:avLst/>
            </a:prstGeom>
            <a:noFill/>
            <a:extLst/>
          </p:spPr>
          <p:txBody>
            <a:bodyPr>
              <a:spAutoFit/>
            </a:bodyPr>
            <a:lstStyle/>
            <a:p>
              <a:pPr>
                <a:lnSpc>
                  <a:spcPct val="120000"/>
                </a:lnSpc>
                <a:defRPr/>
              </a:pPr>
              <a:r>
                <a:rPr lang="zh-CN" altLang="en-US" sz="1600" b="1" kern="0" dirty="0">
                  <a:solidFill>
                    <a:srgbClr val="000000"/>
                  </a:solidFill>
                  <a:latin typeface="Times New Roman" panose="02020603050405020304" pitchFamily="18" charset="0"/>
                  <a:ea typeface="微软雅黑" panose="020B0503020204020204" pitchFamily="34" charset="-122"/>
                </a:rPr>
                <a:t>原始数据</a:t>
              </a:r>
              <a:endParaRPr lang="en-US" sz="1600" b="1" kern="0" dirty="0">
                <a:solidFill>
                  <a:srgbClr val="000000"/>
                </a:solidFill>
                <a:latin typeface="Times New Roman" panose="02020603050405020304" pitchFamily="18" charset="0"/>
                <a:ea typeface="微软雅黑" panose="020B0503020204020204" pitchFamily="34" charset="-122"/>
              </a:endParaRPr>
            </a:p>
          </p:txBody>
        </p:sp>
        <p:sp>
          <p:nvSpPr>
            <p:cNvPr id="25" name="矩形 24"/>
            <p:cNvSpPr/>
            <p:nvPr/>
          </p:nvSpPr>
          <p:spPr bwMode="auto">
            <a:xfrm>
              <a:off x="3488024" y="5537929"/>
              <a:ext cx="1092217" cy="387424"/>
            </a:xfrm>
            <a:prstGeom prst="rect">
              <a:avLst/>
            </a:prstGeom>
            <a:solidFill>
              <a:srgbClr val="FFFFFF"/>
            </a:solidFill>
            <a:extLst/>
          </p:spPr>
          <p:txBody>
            <a:bodyPr>
              <a:spAutoFit/>
            </a:bodyPr>
            <a:lstStyle/>
            <a:p>
              <a:pPr>
                <a:lnSpc>
                  <a:spcPct val="120000"/>
                </a:lnSpc>
                <a:defRPr/>
              </a:pPr>
              <a:r>
                <a:rPr lang="zh-CN" altLang="en-US" sz="1600" b="1" kern="0" dirty="0">
                  <a:solidFill>
                    <a:srgbClr val="000000"/>
                  </a:solidFill>
                  <a:latin typeface="Times New Roman" panose="02020603050405020304" pitchFamily="18" charset="0"/>
                  <a:ea typeface="微软雅黑" panose="020B0503020204020204" pitchFamily="34" charset="-122"/>
                </a:rPr>
                <a:t>保留数据</a:t>
              </a:r>
              <a:endParaRPr lang="en-US" sz="1600" b="1" kern="0" dirty="0">
                <a:solidFill>
                  <a:srgbClr val="000000"/>
                </a:solidFill>
                <a:latin typeface="Times New Roman" panose="02020603050405020304" pitchFamily="18" charset="0"/>
                <a:ea typeface="微软雅黑" panose="020B0503020204020204" pitchFamily="34" charset="-122"/>
              </a:endParaRPr>
            </a:p>
          </p:txBody>
        </p:sp>
        <p:sp>
          <p:nvSpPr>
            <p:cNvPr id="26" name="文本框 25"/>
            <p:cNvSpPr txBox="1"/>
            <p:nvPr/>
          </p:nvSpPr>
          <p:spPr>
            <a:xfrm>
              <a:off x="1261996" y="6234974"/>
              <a:ext cx="492451" cy="639886"/>
            </a:xfrm>
            <a:prstGeom prst="rect">
              <a:avLst/>
            </a:prstGeom>
            <a:noFill/>
          </p:spPr>
          <p:txBody>
            <a:bodyPr vert="eaVert">
              <a:spAutoFit/>
            </a:bodyPr>
            <a:lstStyle/>
            <a:p>
              <a:pPr>
                <a:defRPr/>
              </a:pPr>
              <a:r>
                <a:rPr lang="en-US" altLang="zh-CN" sz="2000" kern="0" dirty="0">
                  <a:solidFill>
                    <a:srgbClr val="000000"/>
                  </a:solidFill>
                  <a:latin typeface="Times New Roman" panose="02020603050405020304" pitchFamily="18" charset="0"/>
                  <a:ea typeface="微软雅黑" panose="020B0503020204020204" pitchFamily="34" charset="-122"/>
                </a:rPr>
                <a:t>……</a:t>
              </a:r>
              <a:endParaRPr lang="en-US" sz="2000" kern="0" dirty="0">
                <a:solidFill>
                  <a:srgbClr val="000000"/>
                </a:solidFill>
                <a:latin typeface="Times New Roman" panose="02020603050405020304" pitchFamily="18" charset="0"/>
                <a:ea typeface="微软雅黑" panose="020B0503020204020204" pitchFamily="34" charset="-122"/>
              </a:endParaRPr>
            </a:p>
          </p:txBody>
        </p:sp>
      </p:grpSp>
      <p:sp>
        <p:nvSpPr>
          <p:cNvPr id="27" name="右箭头 26"/>
          <p:cNvSpPr/>
          <p:nvPr/>
        </p:nvSpPr>
        <p:spPr bwMode="auto">
          <a:xfrm>
            <a:off x="7296150" y="5265739"/>
            <a:ext cx="527050" cy="350837"/>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95245" name="对象 27"/>
          <p:cNvGraphicFramePr>
            <a:graphicFrameLocks noChangeAspect="1"/>
          </p:cNvGraphicFramePr>
          <p:nvPr/>
        </p:nvGraphicFramePr>
        <p:xfrm>
          <a:off x="8002589" y="5262563"/>
          <a:ext cx="2465387" cy="347662"/>
        </p:xfrm>
        <a:graphic>
          <a:graphicData uri="http://schemas.openxmlformats.org/presentationml/2006/ole">
            <mc:AlternateContent xmlns:mc="http://schemas.openxmlformats.org/markup-compatibility/2006">
              <mc:Choice xmlns:v="urn:schemas-microsoft-com:vml" Requires="v">
                <p:oleObj spid="_x0000_s18463" name="Equation" r:id="rId14" imgW="1803240" imgH="253800" progId="Equation.DSMT4">
                  <p:embed/>
                </p:oleObj>
              </mc:Choice>
              <mc:Fallback>
                <p:oleObj name="Equation" r:id="rId14" imgW="1803240" imgH="253800" progId="Equation.DSMT4">
                  <p:embed/>
                  <p:pic>
                    <p:nvPicPr>
                      <p:cNvPr id="95245" name="对象 2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02589" y="5262563"/>
                        <a:ext cx="2465387"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矩形 3"/>
          <p:cNvSpPr>
            <a:spLocks noChangeArrowheads="1"/>
          </p:cNvSpPr>
          <p:nvPr/>
        </p:nvSpPr>
        <p:spPr bwMode="auto">
          <a:xfrm>
            <a:off x="672917" y="1384302"/>
            <a:ext cx="2222684" cy="400110"/>
          </a:xfrm>
          <a:prstGeom prst="rect">
            <a:avLst/>
          </a:prstGeom>
          <a:noFill/>
          <a:extLst/>
        </p:spPr>
        <p:txBody>
          <a:bodyPr wrap="square" rtlCol="0">
            <a:spAutoFit/>
          </a:bodyPr>
          <a:lstStyle/>
          <a:p>
            <a:r>
              <a:rPr lang="zh-CN" altLang="en-US" sz="2000" dirty="0" smtClean="0">
                <a:latin typeface="华文细黑" panose="02010600040101010101" pitchFamily="2" charset="-122"/>
                <a:ea typeface="华文细黑" panose="02010600040101010101" pitchFamily="2" charset="-122"/>
              </a:rPr>
              <a:t>离散小波变换理论</a:t>
            </a:r>
            <a:endParaRPr lang="en-US" altLang="zh-CN" sz="2000" dirty="0">
              <a:latin typeface="华文细黑" panose="02010600040101010101" pitchFamily="2" charset="-122"/>
              <a:ea typeface="华文细黑" panose="02010600040101010101" pitchFamily="2" charset="-122"/>
            </a:endParaRPr>
          </a:p>
        </p:txBody>
      </p:sp>
      <p:sp>
        <p:nvSpPr>
          <p:cNvPr id="30" name="文本框 29"/>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47</a:t>
            </a:fld>
            <a:endParaRPr lang="zh-CN" altLang="en-US"/>
          </a:p>
        </p:txBody>
      </p:sp>
    </p:spTree>
    <p:extLst>
      <p:ext uri="{BB962C8B-B14F-4D97-AF65-F5344CB8AC3E}">
        <p14:creationId xmlns:p14="http://schemas.microsoft.com/office/powerpoint/2010/main" val="16752967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文本框 5"/>
          <p:cNvSpPr txBox="1">
            <a:spLocks noChangeArrowheads="1"/>
          </p:cNvSpPr>
          <p:nvPr/>
        </p:nvSpPr>
        <p:spPr bwMode="auto">
          <a:xfrm>
            <a:off x="672916" y="1743076"/>
            <a:ext cx="3379787" cy="39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marL="285750" indent="-285750">
              <a:lnSpc>
                <a:spcPct val="120000"/>
              </a:lnSpc>
              <a:buFont typeface="Arial" panose="020B0604020202020204" pitchFamily="34" charset="0"/>
              <a:buChar char="•"/>
              <a:defRPr>
                <a:solidFill>
                  <a:srgbClr val="00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zh-CN" altLang="en-US" dirty="0"/>
              <a:t>信号时频分析</a:t>
            </a:r>
            <a:r>
              <a:rPr lang="en-US" altLang="zh-CN" dirty="0"/>
              <a:t>:</a:t>
            </a:r>
            <a:r>
              <a:rPr lang="zh-CN" altLang="en-US" dirty="0"/>
              <a:t>频率变化捕捉</a:t>
            </a:r>
            <a:endParaRPr lang="en-US" altLang="zh-CN" dirty="0"/>
          </a:p>
        </p:txBody>
      </p:sp>
      <p:graphicFrame>
        <p:nvGraphicFramePr>
          <p:cNvPr id="96261" name="对象 6"/>
          <p:cNvGraphicFramePr>
            <a:graphicFrameLocks noChangeAspect="1"/>
          </p:cNvGraphicFramePr>
          <p:nvPr>
            <p:extLst/>
          </p:nvPr>
        </p:nvGraphicFramePr>
        <p:xfrm>
          <a:off x="7320155" y="4732123"/>
          <a:ext cx="3092651" cy="1251744"/>
        </p:xfrm>
        <a:graphic>
          <a:graphicData uri="http://schemas.openxmlformats.org/presentationml/2006/ole">
            <mc:AlternateContent xmlns:mc="http://schemas.openxmlformats.org/markup-compatibility/2006">
              <mc:Choice xmlns:v="urn:schemas-microsoft-com:vml" Requires="v">
                <p:oleObj spid="_x0000_s19474" name="Equation" r:id="rId3" imgW="1955520" imgH="787320" progId="Equation.DSMT4">
                  <p:embed/>
                </p:oleObj>
              </mc:Choice>
              <mc:Fallback>
                <p:oleObj name="Equation" r:id="rId3" imgW="1955520" imgH="787320" progId="Equation.DSMT4">
                  <p:embed/>
                  <p:pic>
                    <p:nvPicPr>
                      <p:cNvPr id="96261"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0155" y="4732123"/>
                        <a:ext cx="3092651" cy="1251744"/>
                      </a:xfrm>
                      <a:prstGeom prst="rect">
                        <a:avLst/>
                      </a:prstGeom>
                      <a:noFill/>
                      <a:ln>
                        <a:noFill/>
                      </a:ln>
                      <a:extLst/>
                    </p:spPr>
                  </p:pic>
                </p:oleObj>
              </mc:Fallback>
            </mc:AlternateContent>
          </a:graphicData>
        </a:graphic>
      </p:graphicFrame>
      <p:sp>
        <p:nvSpPr>
          <p:cNvPr id="96262" name="文本框 7"/>
          <p:cNvSpPr txBox="1">
            <a:spLocks noChangeArrowheads="1"/>
          </p:cNvSpPr>
          <p:nvPr/>
        </p:nvSpPr>
        <p:spPr bwMode="auto">
          <a:xfrm>
            <a:off x="1204119" y="5652655"/>
            <a:ext cx="47005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600">
                <a:solidFill>
                  <a:srgbClr val="000000"/>
                </a:solidFill>
                <a:latin typeface="Times New Roman" panose="02020603050405020304" pitchFamily="18" charset="0"/>
                <a:ea typeface="微软雅黑" panose="020B0503020204020204" pitchFamily="34" charset="-122"/>
              </a:rPr>
              <a:t>原始信号</a:t>
            </a:r>
            <a:r>
              <a:rPr lang="en-US" altLang="zh-CN" sz="1600">
                <a:solidFill>
                  <a:srgbClr val="000000"/>
                </a:solidFill>
                <a:latin typeface="Times New Roman" panose="02020603050405020304" pitchFamily="18" charset="0"/>
                <a:ea typeface="微软雅黑" panose="020B0503020204020204" pitchFamily="34" charset="-122"/>
              </a:rPr>
              <a:t>(</a:t>
            </a:r>
            <a:r>
              <a:rPr lang="zh-CN" altLang="en-US" sz="1600">
                <a:solidFill>
                  <a:srgbClr val="000000"/>
                </a:solidFill>
                <a:latin typeface="Times New Roman" panose="02020603050405020304" pitchFamily="18" charset="0"/>
                <a:ea typeface="微软雅黑" panose="020B0503020204020204" pitchFamily="34" charset="-122"/>
              </a:rPr>
              <a:t>叠加</a:t>
            </a:r>
            <a:r>
              <a:rPr lang="en-US" altLang="zh-CN" sz="1600">
                <a:solidFill>
                  <a:srgbClr val="000000"/>
                </a:solidFill>
                <a:latin typeface="Times New Roman" panose="02020603050405020304" pitchFamily="18" charset="0"/>
                <a:ea typeface="微软雅黑" panose="020B0503020204020204" pitchFamily="34" charset="-122"/>
              </a:rPr>
              <a:t>1db</a:t>
            </a:r>
            <a:r>
              <a:rPr lang="zh-CN" altLang="en-US" sz="1600">
                <a:solidFill>
                  <a:srgbClr val="000000"/>
                </a:solidFill>
                <a:latin typeface="Times New Roman" panose="02020603050405020304" pitchFamily="18" charset="0"/>
                <a:ea typeface="微软雅黑" panose="020B0503020204020204" pitchFamily="34" charset="-122"/>
              </a:rPr>
              <a:t>高斯白噪声</a:t>
            </a:r>
            <a:r>
              <a:rPr lang="en-US" altLang="zh-CN" sz="1600">
                <a:solidFill>
                  <a:srgbClr val="000000"/>
                </a:solidFill>
                <a:latin typeface="Times New Roman" panose="02020603050405020304" pitchFamily="18" charset="0"/>
                <a:ea typeface="微软雅黑" panose="020B0503020204020204" pitchFamily="34" charset="-122"/>
              </a:rPr>
              <a:t>)</a:t>
            </a:r>
            <a:r>
              <a:rPr lang="zh-CN" altLang="en-US" sz="1600">
                <a:solidFill>
                  <a:srgbClr val="000000"/>
                </a:solidFill>
                <a:latin typeface="Times New Roman" panose="02020603050405020304" pitchFamily="18" charset="0"/>
                <a:ea typeface="微软雅黑" panose="020B0503020204020204" pitchFamily="34" charset="-122"/>
              </a:rPr>
              <a:t>与连续小波变换系数</a:t>
            </a:r>
            <a:endParaRPr lang="en-US" altLang="zh-CN" sz="1600">
              <a:solidFill>
                <a:srgbClr val="000000"/>
              </a:solidFill>
              <a:latin typeface="Times New Roman" panose="02020603050405020304" pitchFamily="18" charset="0"/>
              <a:ea typeface="微软雅黑" panose="020B0503020204020204" pitchFamily="34" charset="-122"/>
            </a:endParaRPr>
          </a:p>
        </p:txBody>
      </p:sp>
      <p:pic>
        <p:nvPicPr>
          <p:cNvPr id="96263" name="图片 8"/>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7718" y="2166967"/>
            <a:ext cx="6011159" cy="348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4" name="文本框 9"/>
          <p:cNvSpPr txBox="1">
            <a:spLocks noChangeArrowheads="1"/>
          </p:cNvSpPr>
          <p:nvPr/>
        </p:nvSpPr>
        <p:spPr bwMode="auto">
          <a:xfrm>
            <a:off x="1000918" y="6123527"/>
            <a:ext cx="56047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buFont typeface="Wingdings" panose="05000000000000000000" pitchFamily="2" charset="2"/>
              <a:buChar char="ü"/>
            </a:pPr>
            <a:r>
              <a:rPr lang="zh-CN" altLang="en-US" sz="1600" b="1" dirty="0">
                <a:solidFill>
                  <a:srgbClr val="000000"/>
                </a:solidFill>
                <a:latin typeface="Times New Roman" panose="02020603050405020304" pitchFamily="18" charset="0"/>
                <a:ea typeface="微软雅黑" panose="020B0503020204020204" pitchFamily="34" charset="-122"/>
              </a:rPr>
              <a:t>小波时频分析可以对特征信号频率以及出现位置做出估计</a:t>
            </a:r>
            <a:endParaRPr lang="en-US" altLang="zh-CN" sz="1600" b="1" dirty="0">
              <a:solidFill>
                <a:srgbClr val="000000"/>
              </a:solidFill>
              <a:latin typeface="Times New Roman" panose="02020603050405020304" pitchFamily="18" charset="0"/>
              <a:ea typeface="微软雅黑" panose="020B0503020204020204" pitchFamily="34" charset="-122"/>
            </a:endParaRPr>
          </a:p>
        </p:txBody>
      </p:sp>
      <p:graphicFrame>
        <p:nvGraphicFramePr>
          <p:cNvPr id="96265" name="对象 10"/>
          <p:cNvGraphicFramePr>
            <a:graphicFrameLocks noChangeAspect="1"/>
          </p:cNvGraphicFramePr>
          <p:nvPr>
            <p:extLst/>
          </p:nvPr>
        </p:nvGraphicFramePr>
        <p:xfrm>
          <a:off x="7320154" y="2139468"/>
          <a:ext cx="1422181" cy="429256"/>
        </p:xfrm>
        <a:graphic>
          <a:graphicData uri="http://schemas.openxmlformats.org/presentationml/2006/ole">
            <mc:AlternateContent xmlns:mc="http://schemas.openxmlformats.org/markup-compatibility/2006">
              <mc:Choice xmlns:v="urn:schemas-microsoft-com:vml" Requires="v">
                <p:oleObj spid="_x0000_s19475" name="Equation" r:id="rId6" imgW="761760" imgH="228600" progId="Equation.DSMT4">
                  <p:embed/>
                </p:oleObj>
              </mc:Choice>
              <mc:Fallback>
                <p:oleObj name="Equation" r:id="rId6" imgW="761760" imgH="228600" progId="Equation.DSMT4">
                  <p:embed/>
                  <p:pic>
                    <p:nvPicPr>
                      <p:cNvPr id="96265"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20154" y="2139468"/>
                        <a:ext cx="1422181" cy="429256"/>
                      </a:xfrm>
                      <a:prstGeom prst="rect">
                        <a:avLst/>
                      </a:prstGeom>
                      <a:noFill/>
                      <a:ln>
                        <a:noFill/>
                      </a:ln>
                      <a:extLst/>
                    </p:spPr>
                  </p:pic>
                </p:oleObj>
              </mc:Fallback>
            </mc:AlternateContent>
          </a:graphicData>
        </a:graphic>
      </p:graphicFrame>
      <p:sp>
        <p:nvSpPr>
          <p:cNvPr id="96266" name="文本框 11"/>
          <p:cNvSpPr txBox="1">
            <a:spLocks noChangeArrowheads="1"/>
          </p:cNvSpPr>
          <p:nvPr/>
        </p:nvSpPr>
        <p:spPr bwMode="auto">
          <a:xfrm>
            <a:off x="8866480" y="2172809"/>
            <a:ext cx="15463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1400" b="1" dirty="0">
                <a:solidFill>
                  <a:srgbClr val="000000"/>
                </a:solidFill>
                <a:latin typeface="Times New Roman" panose="02020603050405020304" pitchFamily="18" charset="0"/>
                <a:ea typeface="微软雅黑" panose="020B0503020204020204" pitchFamily="34" charset="-122"/>
              </a:rPr>
              <a:t>尺度与频率关系</a:t>
            </a:r>
            <a:endParaRPr lang="en-US" altLang="zh-CN" sz="1400" b="1" dirty="0">
              <a:solidFill>
                <a:srgbClr val="000000"/>
              </a:solidFill>
              <a:latin typeface="Times New Roman" panose="02020603050405020304" pitchFamily="18" charset="0"/>
              <a:ea typeface="微软雅黑" panose="020B0503020204020204" pitchFamily="34" charset="-122"/>
            </a:endParaRPr>
          </a:p>
        </p:txBody>
      </p:sp>
      <p:graphicFrame>
        <p:nvGraphicFramePr>
          <p:cNvPr id="96267" name="对象 12"/>
          <p:cNvGraphicFramePr>
            <a:graphicFrameLocks noChangeAspect="1"/>
          </p:cNvGraphicFramePr>
          <p:nvPr>
            <p:extLst/>
          </p:nvPr>
        </p:nvGraphicFramePr>
        <p:xfrm>
          <a:off x="7320154" y="2757054"/>
          <a:ext cx="1976231" cy="384753"/>
        </p:xfrm>
        <a:graphic>
          <a:graphicData uri="http://schemas.openxmlformats.org/presentationml/2006/ole">
            <mc:AlternateContent xmlns:mc="http://schemas.openxmlformats.org/markup-compatibility/2006">
              <mc:Choice xmlns:v="urn:schemas-microsoft-com:vml" Requires="v">
                <p:oleObj spid="_x0000_s19476" name="Equation" r:id="rId8" imgW="1180800" imgH="228600" progId="Equation.DSMT4">
                  <p:embed/>
                </p:oleObj>
              </mc:Choice>
              <mc:Fallback>
                <p:oleObj name="Equation" r:id="rId8" imgW="1180800" imgH="228600" progId="Equation.DSMT4">
                  <p:embed/>
                  <p:pic>
                    <p:nvPicPr>
                      <p:cNvPr id="96267" name="对象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20154" y="2757054"/>
                        <a:ext cx="1976231" cy="384753"/>
                      </a:xfrm>
                      <a:prstGeom prst="rect">
                        <a:avLst/>
                      </a:prstGeom>
                      <a:noFill/>
                      <a:ln>
                        <a:noFill/>
                      </a:ln>
                      <a:extLst/>
                    </p:spPr>
                  </p:pic>
                </p:oleObj>
              </mc:Fallback>
            </mc:AlternateContent>
          </a:graphicData>
        </a:graphic>
      </p:graphicFrame>
      <p:graphicFrame>
        <p:nvGraphicFramePr>
          <p:cNvPr id="96268" name="对象 13"/>
          <p:cNvGraphicFramePr>
            <a:graphicFrameLocks noChangeAspect="1"/>
          </p:cNvGraphicFramePr>
          <p:nvPr>
            <p:extLst/>
          </p:nvPr>
        </p:nvGraphicFramePr>
        <p:xfrm>
          <a:off x="7320155" y="3359190"/>
          <a:ext cx="1539193" cy="403656"/>
        </p:xfrm>
        <a:graphic>
          <a:graphicData uri="http://schemas.openxmlformats.org/presentationml/2006/ole">
            <mc:AlternateContent xmlns:mc="http://schemas.openxmlformats.org/markup-compatibility/2006">
              <mc:Choice xmlns:v="urn:schemas-microsoft-com:vml" Requires="v">
                <p:oleObj spid="_x0000_s19477" name="Equation" r:id="rId10" imgW="876240" imgH="228600" progId="Equation.DSMT4">
                  <p:embed/>
                </p:oleObj>
              </mc:Choice>
              <mc:Fallback>
                <p:oleObj name="Equation" r:id="rId10" imgW="876240" imgH="228600" progId="Equation.DSMT4">
                  <p:embed/>
                  <p:pic>
                    <p:nvPicPr>
                      <p:cNvPr id="96268" name="对象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20155" y="3359190"/>
                        <a:ext cx="1539193" cy="403656"/>
                      </a:xfrm>
                      <a:prstGeom prst="rect">
                        <a:avLst/>
                      </a:prstGeom>
                      <a:noFill/>
                      <a:ln>
                        <a:noFill/>
                      </a:ln>
                      <a:extLst/>
                    </p:spPr>
                  </p:pic>
                </p:oleObj>
              </mc:Fallback>
            </mc:AlternateContent>
          </a:graphicData>
        </a:graphic>
      </p:graphicFrame>
      <p:sp>
        <p:nvSpPr>
          <p:cNvPr id="13" name="矩形 3"/>
          <p:cNvSpPr>
            <a:spLocks noChangeArrowheads="1"/>
          </p:cNvSpPr>
          <p:nvPr/>
        </p:nvSpPr>
        <p:spPr bwMode="auto">
          <a:xfrm>
            <a:off x="672917" y="1384302"/>
            <a:ext cx="2222684" cy="400110"/>
          </a:xfrm>
          <a:prstGeom prst="rect">
            <a:avLst/>
          </a:prstGeom>
          <a:noFill/>
          <a:extLst/>
        </p:spPr>
        <p:txBody>
          <a:bodyPr wrap="square" rtlCol="0">
            <a:spAutoFit/>
          </a:bodyPr>
          <a:lstStyle/>
          <a:p>
            <a:r>
              <a:rPr lang="zh-CN" altLang="en-US" sz="2000" smtClean="0">
                <a:latin typeface="华文细黑" panose="02010600040101010101" pitchFamily="2" charset="-122"/>
                <a:ea typeface="华文细黑" panose="02010600040101010101" pitchFamily="2" charset="-122"/>
              </a:rPr>
              <a:t>小波变换示例</a:t>
            </a:r>
            <a:endParaRPr lang="en-US" altLang="zh-CN" sz="2000" dirty="0">
              <a:latin typeface="华文细黑" panose="02010600040101010101" pitchFamily="2" charset="-122"/>
              <a:ea typeface="华文细黑" panose="02010600040101010101" pitchFamily="2" charset="-122"/>
            </a:endParaRPr>
          </a:p>
        </p:txBody>
      </p:sp>
      <p:sp>
        <p:nvSpPr>
          <p:cNvPr id="15" name="文本框 14"/>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傅里叶变换</a:t>
            </a:r>
            <a:r>
              <a:rPr lang="zh-CN" altLang="en-US" sz="3200" b="1" dirty="0" smtClean="0">
                <a:latin typeface="华文细黑" panose="02010600040101010101" pitchFamily="2" charset="-122"/>
                <a:ea typeface="华文细黑" panose="02010600040101010101" pitchFamily="2" charset="-122"/>
              </a:rPr>
              <a:t>与小波变换</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48</a:t>
            </a:fld>
            <a:endParaRPr lang="zh-CN" altLang="en-US"/>
          </a:p>
        </p:txBody>
      </p:sp>
    </p:spTree>
    <p:extLst>
      <p:ext uri="{BB962C8B-B14F-4D97-AF65-F5344CB8AC3E}">
        <p14:creationId xmlns:p14="http://schemas.microsoft.com/office/powerpoint/2010/main" val="29500346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文本框 5"/>
          <p:cNvSpPr txBox="1">
            <a:spLocks noChangeArrowheads="1"/>
          </p:cNvSpPr>
          <p:nvPr/>
        </p:nvSpPr>
        <p:spPr bwMode="auto">
          <a:xfrm>
            <a:off x="672916" y="1787316"/>
            <a:ext cx="6391275"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将流场的时间演化和空间结构分开</a:t>
            </a:r>
            <a:r>
              <a:rPr lang="en-US" altLang="zh-CN" dirty="0">
                <a:solidFill>
                  <a:srgbClr val="000000"/>
                </a:solidFill>
                <a:latin typeface="Times New Roman" panose="02020603050405020304" pitchFamily="18" charset="0"/>
                <a:ea typeface="微软雅黑" panose="020B0503020204020204" pitchFamily="34" charset="-122"/>
              </a:rPr>
              <a:t>(</a:t>
            </a:r>
            <a:r>
              <a:rPr lang="zh-CN" altLang="en-US" dirty="0">
                <a:solidFill>
                  <a:srgbClr val="000000"/>
                </a:solidFill>
                <a:latin typeface="Times New Roman" panose="02020603050405020304" pitchFamily="18" charset="0"/>
                <a:ea typeface="微软雅黑" panose="020B0503020204020204" pitchFamily="34" charset="-122"/>
              </a:rPr>
              <a:t>模态分解的一般思想</a:t>
            </a:r>
            <a:r>
              <a:rPr lang="en-US" altLang="zh-CN" dirty="0">
                <a:solidFill>
                  <a:srgbClr val="000000"/>
                </a:solidFill>
                <a:latin typeface="Times New Roman" panose="02020603050405020304" pitchFamily="18" charset="0"/>
                <a:ea typeface="微软雅黑" panose="020B0503020204020204" pitchFamily="34" charset="-122"/>
              </a:rPr>
              <a:t>)</a:t>
            </a:r>
          </a:p>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按照能量大小获得流场的流动模态</a:t>
            </a:r>
            <a:endParaRPr lang="en-US" altLang="zh-CN" dirty="0">
              <a:solidFill>
                <a:srgbClr val="000000"/>
              </a:solidFill>
              <a:latin typeface="Times New Roman" panose="02020603050405020304" pitchFamily="18" charset="0"/>
              <a:ea typeface="微软雅黑" panose="020B0503020204020204" pitchFamily="34" charset="-122"/>
            </a:endParaRPr>
          </a:p>
        </p:txBody>
      </p:sp>
      <p:graphicFrame>
        <p:nvGraphicFramePr>
          <p:cNvPr id="102405" name="对象 6"/>
          <p:cNvGraphicFramePr>
            <a:graphicFrameLocks noChangeAspect="1"/>
          </p:cNvGraphicFramePr>
          <p:nvPr>
            <p:extLst/>
          </p:nvPr>
        </p:nvGraphicFramePr>
        <p:xfrm>
          <a:off x="4090988" y="2502131"/>
          <a:ext cx="4186238" cy="681038"/>
        </p:xfrm>
        <a:graphic>
          <a:graphicData uri="http://schemas.openxmlformats.org/presentationml/2006/ole">
            <mc:AlternateContent xmlns:mc="http://schemas.openxmlformats.org/markup-compatibility/2006">
              <mc:Choice xmlns:v="urn:schemas-microsoft-com:vml" Requires="v">
                <p:oleObj spid="_x0000_s20518" name="Equation" r:id="rId3" imgW="2666880" imgH="431640" progId="Equation.DSMT4">
                  <p:embed/>
                </p:oleObj>
              </mc:Choice>
              <mc:Fallback>
                <p:oleObj name="Equation" r:id="rId3" imgW="2666880" imgH="431640" progId="Equation.DSMT4">
                  <p:embed/>
                  <p:pic>
                    <p:nvPicPr>
                      <p:cNvPr id="102405"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0988" y="2502131"/>
                        <a:ext cx="4186238"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06" name="矩形 7"/>
          <p:cNvSpPr>
            <a:spLocks noChangeArrowheads="1"/>
          </p:cNvSpPr>
          <p:nvPr/>
        </p:nvSpPr>
        <p:spPr bwMode="auto">
          <a:xfrm>
            <a:off x="672916" y="3350150"/>
            <a:ext cx="2289409"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POD</a:t>
            </a:r>
            <a:r>
              <a:rPr lang="zh-CN" altLang="en-US" sz="2000" dirty="0">
                <a:latin typeface="华文细黑" panose="02010600040101010101" pitchFamily="2" charset="-122"/>
                <a:ea typeface="华文细黑" panose="02010600040101010101" pitchFamily="2" charset="-122"/>
              </a:rPr>
              <a:t>方法数学表达</a:t>
            </a:r>
            <a:endParaRPr lang="en-US" altLang="zh-CN" sz="2000" dirty="0">
              <a:latin typeface="华文细黑" panose="02010600040101010101" pitchFamily="2" charset="-122"/>
              <a:ea typeface="华文细黑" panose="02010600040101010101" pitchFamily="2" charset="-122"/>
            </a:endParaRPr>
          </a:p>
        </p:txBody>
      </p:sp>
      <p:graphicFrame>
        <p:nvGraphicFramePr>
          <p:cNvPr id="102407" name="对象 8"/>
          <p:cNvGraphicFramePr>
            <a:graphicFrameLocks noChangeAspect="1"/>
          </p:cNvGraphicFramePr>
          <p:nvPr>
            <p:extLst/>
          </p:nvPr>
        </p:nvGraphicFramePr>
        <p:xfrm>
          <a:off x="1791494" y="5545165"/>
          <a:ext cx="3287713" cy="920750"/>
        </p:xfrm>
        <a:graphic>
          <a:graphicData uri="http://schemas.openxmlformats.org/presentationml/2006/ole">
            <mc:AlternateContent xmlns:mc="http://schemas.openxmlformats.org/markup-compatibility/2006">
              <mc:Choice xmlns:v="urn:schemas-microsoft-com:vml" Requires="v">
                <p:oleObj spid="_x0000_s20519" name="Equation" r:id="rId5" imgW="2095200" imgH="583920" progId="Equation.DSMT4">
                  <p:embed/>
                </p:oleObj>
              </mc:Choice>
              <mc:Fallback>
                <p:oleObj name="Equation" r:id="rId5" imgW="2095200" imgH="583920" progId="Equation.DSMT4">
                  <p:embed/>
                  <p:pic>
                    <p:nvPicPr>
                      <p:cNvPr id="102407"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1494" y="5545165"/>
                        <a:ext cx="3287713"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08" name="文本框 9"/>
          <p:cNvSpPr txBox="1">
            <a:spLocks noChangeArrowheads="1"/>
          </p:cNvSpPr>
          <p:nvPr/>
        </p:nvSpPr>
        <p:spPr bwMode="auto">
          <a:xfrm>
            <a:off x="708026" y="3745196"/>
            <a:ext cx="639127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求解时间相关矩阵</a:t>
            </a:r>
            <a:r>
              <a:rPr lang="en-US" altLang="zh-CN" b="1" dirty="0">
                <a:solidFill>
                  <a:srgbClr val="000000"/>
                </a:solidFill>
                <a:latin typeface="Times New Roman" panose="02020603050405020304" pitchFamily="18" charset="0"/>
                <a:ea typeface="微软雅黑" panose="020B0503020204020204" pitchFamily="34" charset="-122"/>
              </a:rPr>
              <a:t>R</a:t>
            </a:r>
            <a:r>
              <a:rPr lang="zh-CN" altLang="en-US" dirty="0">
                <a:solidFill>
                  <a:srgbClr val="000000"/>
                </a:solidFill>
                <a:latin typeface="Times New Roman" panose="02020603050405020304" pitchFamily="18" charset="0"/>
                <a:ea typeface="微软雅黑" panose="020B0503020204020204" pitchFamily="34" charset="-122"/>
              </a:rPr>
              <a:t>的特征值与特征向量</a:t>
            </a:r>
            <a:endParaRPr lang="en-US" altLang="zh-CN" dirty="0">
              <a:solidFill>
                <a:srgbClr val="000000"/>
              </a:solidFill>
              <a:latin typeface="Times New Roman" panose="02020603050405020304" pitchFamily="18" charset="0"/>
              <a:ea typeface="微软雅黑" panose="020B0503020204020204" pitchFamily="34" charset="-122"/>
            </a:endParaRPr>
          </a:p>
        </p:txBody>
      </p:sp>
      <p:graphicFrame>
        <p:nvGraphicFramePr>
          <p:cNvPr id="102409" name="对象 10"/>
          <p:cNvGraphicFramePr>
            <a:graphicFrameLocks noChangeAspect="1"/>
          </p:cNvGraphicFramePr>
          <p:nvPr>
            <p:extLst/>
          </p:nvPr>
        </p:nvGraphicFramePr>
        <p:xfrm>
          <a:off x="4551178" y="4259215"/>
          <a:ext cx="2513013" cy="520700"/>
        </p:xfrm>
        <a:graphic>
          <a:graphicData uri="http://schemas.openxmlformats.org/presentationml/2006/ole">
            <mc:AlternateContent xmlns:mc="http://schemas.openxmlformats.org/markup-compatibility/2006">
              <mc:Choice xmlns:v="urn:schemas-microsoft-com:vml" Requires="v">
                <p:oleObj spid="_x0000_s20520" name="Equation" r:id="rId7" imgW="1600200" imgH="330120" progId="Equation.DSMT4">
                  <p:embed/>
                </p:oleObj>
              </mc:Choice>
              <mc:Fallback>
                <p:oleObj name="Equation" r:id="rId7" imgW="1600200" imgH="330120" progId="Equation.DSMT4">
                  <p:embed/>
                  <p:pic>
                    <p:nvPicPr>
                      <p:cNvPr id="102409" name="对象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1178" y="4259215"/>
                        <a:ext cx="2513013"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文本框 11"/>
          <p:cNvSpPr txBox="1"/>
          <p:nvPr/>
        </p:nvSpPr>
        <p:spPr>
          <a:xfrm>
            <a:off x="708026" y="4878537"/>
            <a:ext cx="6391275" cy="425450"/>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a:defRPr/>
            </a:pPr>
            <a:r>
              <a:rPr lang="zh-CN" altLang="en-US" kern="0" dirty="0">
                <a:solidFill>
                  <a:srgbClr val="000000"/>
                </a:solidFill>
              </a:rPr>
              <a:t>给定一段时间</a:t>
            </a:r>
            <a:r>
              <a:rPr lang="en-US" altLang="zh-CN" kern="0" dirty="0">
                <a:solidFill>
                  <a:srgbClr val="000000"/>
                </a:solidFill>
              </a:rPr>
              <a:t>[0,T</a:t>
            </a:r>
            <a:r>
              <a:rPr lang="en-US" altLang="zh-CN" i="1" kern="0" baseline="-25000" dirty="0">
                <a:solidFill>
                  <a:srgbClr val="000000"/>
                </a:solidFill>
              </a:rPr>
              <a:t>f</a:t>
            </a:r>
            <a:r>
              <a:rPr lang="en-US" altLang="zh-CN" kern="0" dirty="0">
                <a:solidFill>
                  <a:srgbClr val="000000"/>
                </a:solidFill>
              </a:rPr>
              <a:t>]</a:t>
            </a:r>
            <a:r>
              <a:rPr lang="zh-CN" altLang="en-US" kern="0" dirty="0">
                <a:solidFill>
                  <a:srgbClr val="000000"/>
                </a:solidFill>
              </a:rPr>
              <a:t>内按等时间步长</a:t>
            </a:r>
            <a:r>
              <a:rPr lang="en-US" altLang="zh-CN" kern="0" dirty="0" err="1">
                <a:solidFill>
                  <a:srgbClr val="000000"/>
                </a:solidFill>
              </a:rPr>
              <a:t>Δt</a:t>
            </a:r>
            <a:r>
              <a:rPr lang="zh-CN" altLang="en-US" kern="0" dirty="0">
                <a:solidFill>
                  <a:srgbClr val="000000"/>
                </a:solidFill>
              </a:rPr>
              <a:t>离散的瞬时流场</a:t>
            </a:r>
            <a:endParaRPr lang="en-US" altLang="zh-CN" kern="0" dirty="0">
              <a:solidFill>
                <a:srgbClr val="000000"/>
              </a:solidFill>
            </a:endParaRPr>
          </a:p>
        </p:txBody>
      </p:sp>
      <p:graphicFrame>
        <p:nvGraphicFramePr>
          <p:cNvPr id="102411" name="对象 12"/>
          <p:cNvGraphicFramePr>
            <a:graphicFrameLocks noChangeAspect="1"/>
          </p:cNvGraphicFramePr>
          <p:nvPr>
            <p:extLst/>
          </p:nvPr>
        </p:nvGraphicFramePr>
        <p:xfrm>
          <a:off x="5155407" y="5808691"/>
          <a:ext cx="1874837" cy="460375"/>
        </p:xfrm>
        <a:graphic>
          <a:graphicData uri="http://schemas.openxmlformats.org/presentationml/2006/ole">
            <mc:AlternateContent xmlns:mc="http://schemas.openxmlformats.org/markup-compatibility/2006">
              <mc:Choice xmlns:v="urn:schemas-microsoft-com:vml" Requires="v">
                <p:oleObj spid="_x0000_s20521" name="Equation" r:id="rId9" imgW="1193760" imgH="291960" progId="Equation.DSMT4">
                  <p:embed/>
                </p:oleObj>
              </mc:Choice>
              <mc:Fallback>
                <p:oleObj name="Equation" r:id="rId9" imgW="1193760" imgH="291960" progId="Equation.DSMT4">
                  <p:embed/>
                  <p:pic>
                    <p:nvPicPr>
                      <p:cNvPr id="102411"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55407" y="5808691"/>
                        <a:ext cx="18748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右箭头 13"/>
          <p:cNvSpPr/>
          <p:nvPr/>
        </p:nvSpPr>
        <p:spPr bwMode="auto">
          <a:xfrm>
            <a:off x="7020719" y="5845204"/>
            <a:ext cx="409575" cy="320675"/>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02413" name="对象 14"/>
          <p:cNvGraphicFramePr>
            <a:graphicFrameLocks noChangeAspect="1"/>
          </p:cNvGraphicFramePr>
          <p:nvPr>
            <p:extLst/>
          </p:nvPr>
        </p:nvGraphicFramePr>
        <p:xfrm>
          <a:off x="7891753" y="5231388"/>
          <a:ext cx="1016000" cy="260350"/>
        </p:xfrm>
        <a:graphic>
          <a:graphicData uri="http://schemas.openxmlformats.org/presentationml/2006/ole">
            <mc:AlternateContent xmlns:mc="http://schemas.openxmlformats.org/markup-compatibility/2006">
              <mc:Choice xmlns:v="urn:schemas-microsoft-com:vml" Requires="v">
                <p:oleObj spid="_x0000_s20522" name="Equation" r:id="rId11" imgW="647640" imgH="164880" progId="Equation.DSMT4">
                  <p:embed/>
                </p:oleObj>
              </mc:Choice>
              <mc:Fallback>
                <p:oleObj name="Equation" r:id="rId11" imgW="647640" imgH="164880" progId="Equation.DSMT4">
                  <p:embed/>
                  <p:pic>
                    <p:nvPicPr>
                      <p:cNvPr id="102413" name="对象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91753" y="5231388"/>
                        <a:ext cx="10160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14" name="对象 15"/>
          <p:cNvGraphicFramePr>
            <a:graphicFrameLocks noChangeAspect="1"/>
          </p:cNvGraphicFramePr>
          <p:nvPr>
            <p:extLst/>
          </p:nvPr>
        </p:nvGraphicFramePr>
        <p:xfrm>
          <a:off x="7891753" y="5567938"/>
          <a:ext cx="258762" cy="239712"/>
        </p:xfrm>
        <a:graphic>
          <a:graphicData uri="http://schemas.openxmlformats.org/presentationml/2006/ole">
            <mc:AlternateContent xmlns:mc="http://schemas.openxmlformats.org/markup-compatibility/2006">
              <mc:Choice xmlns:v="urn:schemas-microsoft-com:vml" Requires="v">
                <p:oleObj spid="_x0000_s20523" name="Equation" r:id="rId13" imgW="164880" imgH="152280" progId="Equation.DSMT4">
                  <p:embed/>
                </p:oleObj>
              </mc:Choice>
              <mc:Fallback>
                <p:oleObj name="Equation" r:id="rId13" imgW="164880" imgH="152280" progId="Equation.DSMT4">
                  <p:embed/>
                  <p:pic>
                    <p:nvPicPr>
                      <p:cNvPr id="102414" name="对象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91753" y="5567938"/>
                        <a:ext cx="258762" cy="23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15" name="对象 16"/>
          <p:cNvGraphicFramePr>
            <a:graphicFrameLocks noChangeAspect="1"/>
          </p:cNvGraphicFramePr>
          <p:nvPr>
            <p:extLst/>
          </p:nvPr>
        </p:nvGraphicFramePr>
        <p:xfrm>
          <a:off x="7891753" y="5885438"/>
          <a:ext cx="239712" cy="260350"/>
        </p:xfrm>
        <a:graphic>
          <a:graphicData uri="http://schemas.openxmlformats.org/presentationml/2006/ole">
            <mc:AlternateContent xmlns:mc="http://schemas.openxmlformats.org/markup-compatibility/2006">
              <mc:Choice xmlns:v="urn:schemas-microsoft-com:vml" Requires="v">
                <p:oleObj spid="_x0000_s20524" name="Equation" r:id="rId15" imgW="152280" imgH="164880" progId="Equation.DSMT4">
                  <p:embed/>
                </p:oleObj>
              </mc:Choice>
              <mc:Fallback>
                <p:oleObj name="Equation" r:id="rId15" imgW="152280" imgH="164880" progId="Equation.DSMT4">
                  <p:embed/>
                  <p:pic>
                    <p:nvPicPr>
                      <p:cNvPr id="102415" name="对象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891753" y="5885438"/>
                        <a:ext cx="2397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16" name="矩形 17"/>
          <p:cNvSpPr>
            <a:spLocks noChangeArrowheads="1"/>
          </p:cNvSpPr>
          <p:nvPr/>
        </p:nvSpPr>
        <p:spPr bwMode="auto">
          <a:xfrm>
            <a:off x="8150516" y="5526664"/>
            <a:ext cx="20478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dirty="0">
                <a:solidFill>
                  <a:srgbClr val="000000"/>
                </a:solidFill>
                <a:latin typeface="Times New Roman" panose="02020603050405020304" pitchFamily="18" charset="0"/>
                <a:ea typeface="微软雅黑" panose="020B0503020204020204" pitchFamily="34" charset="-122"/>
              </a:rPr>
              <a:t>POD</a:t>
            </a:r>
            <a:r>
              <a:rPr lang="zh-CN" altLang="en-US" sz="1400" dirty="0">
                <a:solidFill>
                  <a:srgbClr val="000000"/>
                </a:solidFill>
                <a:latin typeface="Times New Roman" panose="02020603050405020304" pitchFamily="18" charset="0"/>
                <a:ea typeface="微软雅黑" panose="020B0503020204020204" pitchFamily="34" charset="-122"/>
              </a:rPr>
              <a:t>正交模态向量矩阵</a:t>
            </a:r>
            <a:endParaRPr lang="en-US" altLang="zh-CN" sz="1400" dirty="0">
              <a:solidFill>
                <a:srgbClr val="000000"/>
              </a:solidFill>
              <a:latin typeface="Times New Roman" panose="02020603050405020304" pitchFamily="18" charset="0"/>
              <a:ea typeface="微软雅黑" panose="020B0503020204020204" pitchFamily="34" charset="-122"/>
            </a:endParaRPr>
          </a:p>
        </p:txBody>
      </p:sp>
      <p:sp>
        <p:nvSpPr>
          <p:cNvPr id="102417" name="矩形 18"/>
          <p:cNvSpPr>
            <a:spLocks noChangeArrowheads="1"/>
          </p:cNvSpPr>
          <p:nvPr/>
        </p:nvSpPr>
        <p:spPr bwMode="auto">
          <a:xfrm>
            <a:off x="8150516" y="5848926"/>
            <a:ext cx="2047875"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特征值对角阵</a:t>
            </a:r>
            <a:endParaRPr lang="en-US" altLang="zh-CN" sz="1400">
              <a:solidFill>
                <a:srgbClr val="000000"/>
              </a:solidFill>
              <a:latin typeface="Times New Roman" panose="02020603050405020304" pitchFamily="18" charset="0"/>
              <a:ea typeface="微软雅黑" panose="020B0503020204020204" pitchFamily="34" charset="-122"/>
            </a:endParaRPr>
          </a:p>
        </p:txBody>
      </p:sp>
      <p:sp>
        <p:nvSpPr>
          <p:cNvPr id="102418" name="矩形 19"/>
          <p:cNvSpPr>
            <a:spLocks noChangeArrowheads="1"/>
          </p:cNvSpPr>
          <p:nvPr/>
        </p:nvSpPr>
        <p:spPr bwMode="auto">
          <a:xfrm>
            <a:off x="6802254" y="2289474"/>
            <a:ext cx="142240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200" b="1" dirty="0">
                <a:solidFill>
                  <a:srgbClr val="000000"/>
                </a:solidFill>
                <a:latin typeface="Times New Roman" panose="02020603050405020304" pitchFamily="18" charset="0"/>
                <a:ea typeface="微软雅黑" panose="020B0503020204020204" pitchFamily="34" charset="-122"/>
              </a:rPr>
              <a:t>时间演化系数</a:t>
            </a:r>
            <a:endParaRPr lang="en-US" altLang="zh-CN" sz="1200" b="1" dirty="0">
              <a:solidFill>
                <a:srgbClr val="000000"/>
              </a:solidFill>
              <a:latin typeface="Times New Roman" panose="02020603050405020304" pitchFamily="18" charset="0"/>
              <a:ea typeface="微软雅黑" panose="020B0503020204020204" pitchFamily="34" charset="-122"/>
            </a:endParaRPr>
          </a:p>
        </p:txBody>
      </p:sp>
      <p:sp>
        <p:nvSpPr>
          <p:cNvPr id="102419" name="矩形 20"/>
          <p:cNvSpPr>
            <a:spLocks noChangeArrowheads="1"/>
          </p:cNvSpPr>
          <p:nvPr/>
        </p:nvSpPr>
        <p:spPr bwMode="auto">
          <a:xfrm>
            <a:off x="7554914" y="3024419"/>
            <a:ext cx="66974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200" b="1" dirty="0">
                <a:solidFill>
                  <a:srgbClr val="000000"/>
                </a:solidFill>
                <a:latin typeface="Times New Roman" panose="02020603050405020304" pitchFamily="18" charset="0"/>
                <a:ea typeface="微软雅黑" panose="020B0503020204020204" pitchFamily="34" charset="-122"/>
              </a:rPr>
              <a:t>模态</a:t>
            </a:r>
            <a:endParaRPr lang="en-US" altLang="zh-CN" sz="1200" b="1" dirty="0">
              <a:solidFill>
                <a:srgbClr val="000000"/>
              </a:solidFill>
              <a:latin typeface="Times New Roman" panose="02020603050405020304" pitchFamily="18" charset="0"/>
              <a:ea typeface="微软雅黑" panose="020B0503020204020204" pitchFamily="34" charset="-122"/>
            </a:endParaRPr>
          </a:p>
        </p:txBody>
      </p:sp>
      <p:graphicFrame>
        <p:nvGraphicFramePr>
          <p:cNvPr id="102420" name="对象 21"/>
          <p:cNvGraphicFramePr>
            <a:graphicFrameLocks noChangeAspect="1"/>
          </p:cNvGraphicFramePr>
          <p:nvPr>
            <p:extLst/>
          </p:nvPr>
        </p:nvGraphicFramePr>
        <p:xfrm>
          <a:off x="7891754" y="6182300"/>
          <a:ext cx="319087" cy="260350"/>
        </p:xfrm>
        <a:graphic>
          <a:graphicData uri="http://schemas.openxmlformats.org/presentationml/2006/ole">
            <mc:AlternateContent xmlns:mc="http://schemas.openxmlformats.org/markup-compatibility/2006">
              <mc:Choice xmlns:v="urn:schemas-microsoft-com:vml" Requires="v">
                <p:oleObj spid="_x0000_s20525" name="Equation" r:id="rId17" imgW="203040" imgH="164880" progId="Equation.DSMT4">
                  <p:embed/>
                </p:oleObj>
              </mc:Choice>
              <mc:Fallback>
                <p:oleObj name="Equation" r:id="rId17" imgW="203040" imgH="164880" progId="Equation.DSMT4">
                  <p:embed/>
                  <p:pic>
                    <p:nvPicPr>
                      <p:cNvPr id="102420" name="对象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891754" y="6182300"/>
                        <a:ext cx="319087"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21" name="矩形 22"/>
          <p:cNvSpPr>
            <a:spLocks noChangeArrowheads="1"/>
          </p:cNvSpPr>
          <p:nvPr/>
        </p:nvSpPr>
        <p:spPr bwMode="auto">
          <a:xfrm>
            <a:off x="8150516" y="6161664"/>
            <a:ext cx="117792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dirty="0">
                <a:solidFill>
                  <a:srgbClr val="000000"/>
                </a:solidFill>
                <a:latin typeface="Times New Roman" panose="02020603050405020304" pitchFamily="18" charset="0"/>
                <a:ea typeface="微软雅黑" panose="020B0503020204020204" pitchFamily="34" charset="-122"/>
              </a:rPr>
              <a:t>离散结点数</a:t>
            </a:r>
            <a:endParaRPr lang="en-US" altLang="zh-CN" sz="1400" dirty="0">
              <a:solidFill>
                <a:srgbClr val="000000"/>
              </a:solidFill>
              <a:latin typeface="Times New Roman" panose="02020603050405020304" pitchFamily="18" charset="0"/>
              <a:ea typeface="微软雅黑" panose="020B0503020204020204" pitchFamily="34" charset="-122"/>
            </a:endParaRPr>
          </a:p>
        </p:txBody>
      </p:sp>
      <p:graphicFrame>
        <p:nvGraphicFramePr>
          <p:cNvPr id="102422" name="对象 23"/>
          <p:cNvGraphicFramePr>
            <a:graphicFrameLocks noChangeAspect="1"/>
          </p:cNvGraphicFramePr>
          <p:nvPr>
            <p:extLst/>
          </p:nvPr>
        </p:nvGraphicFramePr>
        <p:xfrm>
          <a:off x="7909938" y="6472813"/>
          <a:ext cx="279400" cy="279400"/>
        </p:xfrm>
        <a:graphic>
          <a:graphicData uri="http://schemas.openxmlformats.org/presentationml/2006/ole">
            <mc:AlternateContent xmlns:mc="http://schemas.openxmlformats.org/markup-compatibility/2006">
              <mc:Choice xmlns:v="urn:schemas-microsoft-com:vml" Requires="v">
                <p:oleObj spid="_x0000_s20526" name="Equation" r:id="rId19" imgW="177480" imgH="177480" progId="Equation.DSMT4">
                  <p:embed/>
                </p:oleObj>
              </mc:Choice>
              <mc:Fallback>
                <p:oleObj name="Equation" r:id="rId19" imgW="177480" imgH="177480" progId="Equation.DSMT4">
                  <p:embed/>
                  <p:pic>
                    <p:nvPicPr>
                      <p:cNvPr id="102422" name="对象 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909938" y="6472813"/>
                        <a:ext cx="2794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23" name="矩形 24"/>
          <p:cNvSpPr>
            <a:spLocks noChangeArrowheads="1"/>
          </p:cNvSpPr>
          <p:nvPr/>
        </p:nvSpPr>
        <p:spPr bwMode="auto">
          <a:xfrm>
            <a:off x="8150516" y="6437889"/>
            <a:ext cx="1177925"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时间推进数</a:t>
            </a:r>
            <a:endParaRPr lang="en-US" altLang="zh-CN" sz="1400">
              <a:solidFill>
                <a:srgbClr val="000000"/>
              </a:solidFill>
              <a:latin typeface="Times New Roman" panose="02020603050405020304" pitchFamily="18" charset="0"/>
              <a:ea typeface="微软雅黑" panose="020B0503020204020204" pitchFamily="34" charset="-122"/>
            </a:endParaRPr>
          </a:p>
        </p:txBody>
      </p:sp>
      <p:sp>
        <p:nvSpPr>
          <p:cNvPr id="24" name="矩形 3"/>
          <p:cNvSpPr>
            <a:spLocks noChangeArrowheads="1"/>
          </p:cNvSpPr>
          <p:nvPr/>
        </p:nvSpPr>
        <p:spPr bwMode="auto">
          <a:xfrm>
            <a:off x="672917" y="1384302"/>
            <a:ext cx="2222684" cy="400110"/>
          </a:xfrm>
          <a:prstGeom prst="rect">
            <a:avLst/>
          </a:prstGeom>
          <a:noFill/>
          <a:extLst/>
        </p:spPr>
        <p:txBody>
          <a:bodyPr wrap="square" rtlCol="0">
            <a:spAutoFit/>
          </a:bodyPr>
          <a:lstStyle/>
          <a:p>
            <a:r>
              <a:rPr lang="en-US" altLang="zh-CN" sz="2000" dirty="0" smtClean="0">
                <a:latin typeface="华文细黑" panose="02010600040101010101" pitchFamily="2" charset="-122"/>
                <a:ea typeface="华文细黑" panose="02010600040101010101" pitchFamily="2" charset="-122"/>
              </a:rPr>
              <a:t>POD</a:t>
            </a:r>
            <a:r>
              <a:rPr lang="zh-CN" altLang="en-US" sz="2000" dirty="0" smtClean="0">
                <a:latin typeface="华文细黑" panose="02010600040101010101" pitchFamily="2" charset="-122"/>
                <a:ea typeface="华文细黑" panose="02010600040101010101" pitchFamily="2" charset="-122"/>
              </a:rPr>
              <a:t>核心思想</a:t>
            </a:r>
            <a:endParaRPr lang="en-US" altLang="zh-CN" sz="2000" dirty="0">
              <a:latin typeface="华文细黑" panose="02010600040101010101" pitchFamily="2" charset="-122"/>
              <a:ea typeface="华文细黑" panose="02010600040101010101" pitchFamily="2" charset="-122"/>
            </a:endParaRPr>
          </a:p>
        </p:txBody>
      </p:sp>
      <p:sp>
        <p:nvSpPr>
          <p:cNvPr id="25" name="文本框 24"/>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正交</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-POD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49</a:t>
            </a:fld>
            <a:endParaRPr lang="zh-CN" altLang="en-US"/>
          </a:p>
        </p:txBody>
      </p:sp>
      <p:sp>
        <p:nvSpPr>
          <p:cNvPr id="26" name="矩形 19"/>
          <p:cNvSpPr>
            <a:spLocks noChangeArrowheads="1"/>
          </p:cNvSpPr>
          <p:nvPr/>
        </p:nvSpPr>
        <p:spPr bwMode="auto">
          <a:xfrm>
            <a:off x="5260172" y="2170431"/>
            <a:ext cx="142240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200" b="1" dirty="0" smtClean="0">
                <a:solidFill>
                  <a:srgbClr val="000000"/>
                </a:solidFill>
                <a:latin typeface="Times New Roman" panose="02020603050405020304" pitchFamily="18" charset="0"/>
                <a:ea typeface="微软雅黑" panose="020B0503020204020204" pitchFamily="34" charset="-122"/>
              </a:rPr>
              <a:t>取个窗口函数</a:t>
            </a:r>
            <a:endParaRPr lang="en-US" altLang="zh-CN" sz="1200" b="1" dirty="0">
              <a:solidFill>
                <a:srgbClr val="000000"/>
              </a:solidFill>
              <a:latin typeface="Times New Roman" panose="02020603050405020304" pitchFamily="18" charset="0"/>
              <a:ea typeface="微软雅黑" panose="020B0503020204020204" pitchFamily="34" charset="-122"/>
            </a:endParaRPr>
          </a:p>
        </p:txBody>
      </p:sp>
      <p:sp>
        <p:nvSpPr>
          <p:cNvPr id="3" name="矩形 2"/>
          <p:cNvSpPr/>
          <p:nvPr/>
        </p:nvSpPr>
        <p:spPr>
          <a:xfrm>
            <a:off x="5013158" y="2502131"/>
            <a:ext cx="1549732" cy="679254"/>
          </a:xfrm>
          <a:prstGeom prst="rect">
            <a:avLst/>
          </a:prstGeom>
          <a:no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187281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7" name="矩形 4"/>
          <p:cNvSpPr>
            <a:spLocks noChangeArrowheads="1"/>
          </p:cNvSpPr>
          <p:nvPr/>
        </p:nvSpPr>
        <p:spPr bwMode="auto">
          <a:xfrm>
            <a:off x="672916" y="1459647"/>
            <a:ext cx="3741730"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POD</a:t>
            </a:r>
            <a:r>
              <a:rPr lang="zh-CN" altLang="en-US" sz="2000" dirty="0">
                <a:latin typeface="华文细黑" panose="02010600040101010101" pitchFamily="2" charset="-122"/>
                <a:ea typeface="华文细黑" panose="02010600040101010101" pitchFamily="2" charset="-122"/>
              </a:rPr>
              <a:t>快速算法</a:t>
            </a:r>
            <a:r>
              <a:rPr lang="en-US" altLang="zh-CN" sz="2000" dirty="0">
                <a:latin typeface="华文细黑" panose="02010600040101010101" pitchFamily="2" charset="-122"/>
                <a:ea typeface="华文细黑" panose="02010600040101010101" pitchFamily="2" charset="-122"/>
              </a:rPr>
              <a:t>(Snapshot POD)</a:t>
            </a:r>
          </a:p>
        </p:txBody>
      </p:sp>
      <p:graphicFrame>
        <p:nvGraphicFramePr>
          <p:cNvPr id="103428" name="对象 5"/>
          <p:cNvGraphicFramePr>
            <a:graphicFrameLocks noChangeAspect="1"/>
          </p:cNvGraphicFramePr>
          <p:nvPr>
            <p:extLst/>
          </p:nvPr>
        </p:nvGraphicFramePr>
        <p:xfrm>
          <a:off x="7485856" y="2011363"/>
          <a:ext cx="3503115" cy="981075"/>
        </p:xfrm>
        <a:graphic>
          <a:graphicData uri="http://schemas.openxmlformats.org/presentationml/2006/ole">
            <mc:AlternateContent xmlns:mc="http://schemas.openxmlformats.org/markup-compatibility/2006">
              <mc:Choice xmlns:v="urn:schemas-microsoft-com:vml" Requires="v">
                <p:oleObj spid="_x0000_s21542" name="Equation" r:id="rId3" imgW="2095200" imgH="583920" progId="Equation.DSMT4">
                  <p:embed/>
                </p:oleObj>
              </mc:Choice>
              <mc:Fallback>
                <p:oleObj name="Equation" r:id="rId3" imgW="2095200" imgH="583920" progId="Equation.DSMT4">
                  <p:embed/>
                  <p:pic>
                    <p:nvPicPr>
                      <p:cNvPr id="103428"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5856" y="2011363"/>
                        <a:ext cx="3503115" cy="981075"/>
                      </a:xfrm>
                      <a:prstGeom prst="rect">
                        <a:avLst/>
                      </a:prstGeom>
                      <a:solidFill>
                        <a:srgbClr val="FFFF00"/>
                      </a:solidFill>
                      <a:ln>
                        <a:noFill/>
                      </a:ln>
                      <a:extLst/>
                    </p:spPr>
                  </p:pic>
                </p:oleObj>
              </mc:Fallback>
            </mc:AlternateContent>
          </a:graphicData>
        </a:graphic>
      </p:graphicFrame>
      <p:graphicFrame>
        <p:nvGraphicFramePr>
          <p:cNvPr id="103429" name="对象 6"/>
          <p:cNvGraphicFramePr>
            <a:graphicFrameLocks noChangeAspect="1"/>
          </p:cNvGraphicFramePr>
          <p:nvPr>
            <p:extLst/>
          </p:nvPr>
        </p:nvGraphicFramePr>
        <p:xfrm>
          <a:off x="4359276" y="3940401"/>
          <a:ext cx="3170238" cy="1420812"/>
        </p:xfrm>
        <a:graphic>
          <a:graphicData uri="http://schemas.openxmlformats.org/presentationml/2006/ole">
            <mc:AlternateContent xmlns:mc="http://schemas.openxmlformats.org/markup-compatibility/2006">
              <mc:Choice xmlns:v="urn:schemas-microsoft-com:vml" Requires="v">
                <p:oleObj spid="_x0000_s21543" name="Equation" r:id="rId5" imgW="2019240" imgH="901440" progId="Equation.DSMT4">
                  <p:embed/>
                </p:oleObj>
              </mc:Choice>
              <mc:Fallback>
                <p:oleObj name="Equation" r:id="rId5" imgW="2019240" imgH="901440" progId="Equation.DSMT4">
                  <p:embed/>
                  <p:pic>
                    <p:nvPicPr>
                      <p:cNvPr id="103429"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9276" y="3940401"/>
                        <a:ext cx="3170238"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右箭头 7"/>
          <p:cNvSpPr/>
          <p:nvPr/>
        </p:nvSpPr>
        <p:spPr bwMode="auto">
          <a:xfrm rot="5400000">
            <a:off x="5640389" y="3543301"/>
            <a:ext cx="409575" cy="320675"/>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03431" name="对象 8"/>
          <p:cNvGraphicFramePr>
            <a:graphicFrameLocks noChangeAspect="1"/>
          </p:cNvGraphicFramePr>
          <p:nvPr/>
        </p:nvGraphicFramePr>
        <p:xfrm>
          <a:off x="2725738" y="2011363"/>
          <a:ext cx="1731962" cy="461962"/>
        </p:xfrm>
        <a:graphic>
          <a:graphicData uri="http://schemas.openxmlformats.org/presentationml/2006/ole">
            <mc:AlternateContent xmlns:mc="http://schemas.openxmlformats.org/markup-compatibility/2006">
              <mc:Choice xmlns:v="urn:schemas-microsoft-com:vml" Requires="v">
                <p:oleObj spid="_x0000_s21544" name="Equation" r:id="rId7" imgW="1104840" imgH="291960" progId="Equation.DSMT4">
                  <p:embed/>
                </p:oleObj>
              </mc:Choice>
              <mc:Fallback>
                <p:oleObj name="Equation" r:id="rId7" imgW="1104840" imgH="291960" progId="Equation.DSMT4">
                  <p:embed/>
                  <p:pic>
                    <p:nvPicPr>
                      <p:cNvPr id="103431"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25738" y="2011363"/>
                        <a:ext cx="17319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32" name="对象 9"/>
          <p:cNvGraphicFramePr>
            <a:graphicFrameLocks noChangeAspect="1"/>
          </p:cNvGraphicFramePr>
          <p:nvPr/>
        </p:nvGraphicFramePr>
        <p:xfrm>
          <a:off x="4240214" y="2671763"/>
          <a:ext cx="238125" cy="258762"/>
        </p:xfrm>
        <a:graphic>
          <a:graphicData uri="http://schemas.openxmlformats.org/presentationml/2006/ole">
            <mc:AlternateContent xmlns:mc="http://schemas.openxmlformats.org/markup-compatibility/2006">
              <mc:Choice xmlns:v="urn:schemas-microsoft-com:vml" Requires="v">
                <p:oleObj spid="_x0000_s21545" name="Equation" r:id="rId9" imgW="152280" imgH="164880" progId="Equation.DSMT4">
                  <p:embed/>
                </p:oleObj>
              </mc:Choice>
              <mc:Fallback>
                <p:oleObj name="Equation" r:id="rId9" imgW="152280" imgH="164880" progId="Equation.DSMT4">
                  <p:embed/>
                  <p:pic>
                    <p:nvPicPr>
                      <p:cNvPr id="103432"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40214" y="2671763"/>
                        <a:ext cx="2381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33" name="对象 10"/>
          <p:cNvGraphicFramePr>
            <a:graphicFrameLocks noChangeAspect="1"/>
          </p:cNvGraphicFramePr>
          <p:nvPr/>
        </p:nvGraphicFramePr>
        <p:xfrm>
          <a:off x="4191001" y="2998788"/>
          <a:ext cx="320675" cy="260350"/>
        </p:xfrm>
        <a:graphic>
          <a:graphicData uri="http://schemas.openxmlformats.org/presentationml/2006/ole">
            <mc:AlternateContent xmlns:mc="http://schemas.openxmlformats.org/markup-compatibility/2006">
              <mc:Choice xmlns:v="urn:schemas-microsoft-com:vml" Requires="v">
                <p:oleObj spid="_x0000_s21546" name="Equation" r:id="rId11" imgW="203040" imgH="164880" progId="Equation.DSMT4">
                  <p:embed/>
                </p:oleObj>
              </mc:Choice>
              <mc:Fallback>
                <p:oleObj name="Equation" r:id="rId11" imgW="203040" imgH="164880" progId="Equation.DSMT4">
                  <p:embed/>
                  <p:pic>
                    <p:nvPicPr>
                      <p:cNvPr id="103433" name="对象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1001" y="2998788"/>
                        <a:ext cx="3206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434" name="矩形 11"/>
          <p:cNvSpPr>
            <a:spLocks noChangeArrowheads="1"/>
          </p:cNvSpPr>
          <p:nvPr/>
        </p:nvSpPr>
        <p:spPr bwMode="auto">
          <a:xfrm>
            <a:off x="4489451" y="2641600"/>
            <a:ext cx="20478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矩阵</a:t>
            </a:r>
            <a:r>
              <a:rPr lang="en-US" altLang="zh-CN" sz="1400">
                <a:solidFill>
                  <a:srgbClr val="000000"/>
                </a:solidFill>
                <a:latin typeface="Times New Roman" panose="02020603050405020304" pitchFamily="18" charset="0"/>
                <a:ea typeface="微软雅黑" panose="020B0503020204020204" pitchFamily="34" charset="-122"/>
              </a:rPr>
              <a:t>H</a:t>
            </a:r>
            <a:r>
              <a:rPr lang="zh-CN" altLang="en-US" sz="1400">
                <a:solidFill>
                  <a:srgbClr val="000000"/>
                </a:solidFill>
                <a:latin typeface="Times New Roman" panose="02020603050405020304" pitchFamily="18" charset="0"/>
                <a:ea typeface="微软雅黑" panose="020B0503020204020204" pitchFamily="34" charset="-122"/>
              </a:rPr>
              <a:t>的特征向量阵</a:t>
            </a:r>
            <a:endParaRPr lang="en-US" altLang="zh-CN" sz="1400">
              <a:solidFill>
                <a:srgbClr val="000000"/>
              </a:solidFill>
              <a:latin typeface="Times New Roman" panose="02020603050405020304" pitchFamily="18" charset="0"/>
              <a:ea typeface="微软雅黑" panose="020B0503020204020204" pitchFamily="34" charset="-122"/>
            </a:endParaRPr>
          </a:p>
        </p:txBody>
      </p:sp>
      <p:sp>
        <p:nvSpPr>
          <p:cNvPr id="103435" name="矩形 12"/>
          <p:cNvSpPr>
            <a:spLocks noChangeArrowheads="1"/>
          </p:cNvSpPr>
          <p:nvPr/>
        </p:nvSpPr>
        <p:spPr bwMode="auto">
          <a:xfrm>
            <a:off x="4489451" y="2963864"/>
            <a:ext cx="20478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矩阵</a:t>
            </a:r>
            <a:r>
              <a:rPr lang="en-US" altLang="zh-CN" sz="1400">
                <a:solidFill>
                  <a:srgbClr val="000000"/>
                </a:solidFill>
                <a:latin typeface="Times New Roman" panose="02020603050405020304" pitchFamily="18" charset="0"/>
                <a:ea typeface="微软雅黑" panose="020B0503020204020204" pitchFamily="34" charset="-122"/>
              </a:rPr>
              <a:t>H</a:t>
            </a:r>
            <a:r>
              <a:rPr lang="zh-CN" altLang="en-US" sz="1400">
                <a:solidFill>
                  <a:srgbClr val="000000"/>
                </a:solidFill>
                <a:latin typeface="Times New Roman" panose="02020603050405020304" pitchFamily="18" charset="0"/>
                <a:ea typeface="微软雅黑" panose="020B0503020204020204" pitchFamily="34" charset="-122"/>
              </a:rPr>
              <a:t>的特征值对角阵</a:t>
            </a:r>
            <a:endParaRPr lang="en-US" altLang="zh-CN" sz="1400">
              <a:solidFill>
                <a:srgbClr val="000000"/>
              </a:solidFill>
              <a:latin typeface="Times New Roman" panose="02020603050405020304" pitchFamily="18" charset="0"/>
              <a:ea typeface="微软雅黑" panose="020B0503020204020204" pitchFamily="34" charset="-122"/>
            </a:endParaRPr>
          </a:p>
        </p:txBody>
      </p:sp>
      <p:graphicFrame>
        <p:nvGraphicFramePr>
          <p:cNvPr id="103436" name="对象 13"/>
          <p:cNvGraphicFramePr>
            <a:graphicFrameLocks noChangeAspect="1"/>
          </p:cNvGraphicFramePr>
          <p:nvPr>
            <p:extLst/>
          </p:nvPr>
        </p:nvGraphicFramePr>
        <p:xfrm>
          <a:off x="2754315" y="2862263"/>
          <a:ext cx="976312" cy="260350"/>
        </p:xfrm>
        <a:graphic>
          <a:graphicData uri="http://schemas.openxmlformats.org/presentationml/2006/ole">
            <mc:AlternateContent xmlns:mc="http://schemas.openxmlformats.org/markup-compatibility/2006">
              <mc:Choice xmlns:v="urn:schemas-microsoft-com:vml" Requires="v">
                <p:oleObj spid="_x0000_s21547" name="Equation" r:id="rId13" imgW="622080" imgH="164880" progId="Equation.DSMT4">
                  <p:embed/>
                </p:oleObj>
              </mc:Choice>
              <mc:Fallback>
                <p:oleObj name="Equation" r:id="rId13" imgW="622080" imgH="164880" progId="Equation.DSMT4">
                  <p:embed/>
                  <p:pic>
                    <p:nvPicPr>
                      <p:cNvPr id="103436" name="对象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54315" y="2862263"/>
                        <a:ext cx="9763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437" name="矩形 14"/>
          <p:cNvSpPr>
            <a:spLocks noChangeArrowheads="1"/>
          </p:cNvSpPr>
          <p:nvPr/>
        </p:nvSpPr>
        <p:spPr bwMode="auto">
          <a:xfrm>
            <a:off x="2008910" y="4475164"/>
            <a:ext cx="2251942"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600">
                <a:solidFill>
                  <a:srgbClr val="000000"/>
                </a:solidFill>
                <a:latin typeface="Times New Roman" panose="02020603050405020304" pitchFamily="18" charset="0"/>
                <a:ea typeface="微软雅黑" panose="020B0503020204020204" pitchFamily="34" charset="-122"/>
              </a:rPr>
              <a:t>归一化前</a:t>
            </a:r>
            <a:r>
              <a:rPr lang="en-US" altLang="zh-CN" sz="1600">
                <a:solidFill>
                  <a:srgbClr val="000000"/>
                </a:solidFill>
                <a:latin typeface="Times New Roman" panose="02020603050405020304" pitchFamily="18" charset="0"/>
                <a:ea typeface="微软雅黑" panose="020B0503020204020204" pitchFamily="34" charset="-122"/>
              </a:rPr>
              <a:t>N</a:t>
            </a:r>
            <a:r>
              <a:rPr lang="zh-CN" altLang="en-US" sz="1600">
                <a:solidFill>
                  <a:srgbClr val="000000"/>
                </a:solidFill>
                <a:latin typeface="Times New Roman" panose="02020603050405020304" pitchFamily="18" charset="0"/>
                <a:ea typeface="微软雅黑" panose="020B0503020204020204" pitchFamily="34" charset="-122"/>
              </a:rPr>
              <a:t>阶</a:t>
            </a:r>
            <a:r>
              <a:rPr lang="en-US" altLang="zh-CN" sz="1600">
                <a:solidFill>
                  <a:srgbClr val="000000"/>
                </a:solidFill>
                <a:latin typeface="Times New Roman" panose="02020603050405020304" pitchFamily="18" charset="0"/>
                <a:ea typeface="微软雅黑" panose="020B0503020204020204" pitchFamily="34" charset="-122"/>
              </a:rPr>
              <a:t>POD</a:t>
            </a:r>
            <a:r>
              <a:rPr lang="zh-CN" altLang="en-US" sz="1600">
                <a:solidFill>
                  <a:srgbClr val="000000"/>
                </a:solidFill>
                <a:latin typeface="Times New Roman" panose="02020603050405020304" pitchFamily="18" charset="0"/>
                <a:ea typeface="微软雅黑" panose="020B0503020204020204" pitchFamily="34" charset="-122"/>
              </a:rPr>
              <a:t>模态</a:t>
            </a:r>
            <a:endParaRPr lang="en-US" altLang="zh-CN" sz="1600">
              <a:solidFill>
                <a:srgbClr val="000000"/>
              </a:solidFill>
              <a:latin typeface="Times New Roman" panose="02020603050405020304" pitchFamily="18" charset="0"/>
              <a:ea typeface="微软雅黑" panose="020B0503020204020204" pitchFamily="34" charset="-122"/>
            </a:endParaRPr>
          </a:p>
        </p:txBody>
      </p:sp>
      <p:sp>
        <p:nvSpPr>
          <p:cNvPr id="103438" name="矩形 15"/>
          <p:cNvSpPr>
            <a:spLocks noChangeArrowheads="1"/>
          </p:cNvSpPr>
          <p:nvPr/>
        </p:nvSpPr>
        <p:spPr bwMode="auto">
          <a:xfrm>
            <a:off x="2008910" y="5859463"/>
            <a:ext cx="2588491"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600" dirty="0">
                <a:solidFill>
                  <a:srgbClr val="000000"/>
                </a:solidFill>
                <a:latin typeface="Times New Roman" panose="02020603050405020304" pitchFamily="18" charset="0"/>
                <a:ea typeface="微软雅黑" panose="020B0503020204020204" pitchFamily="34" charset="-122"/>
              </a:rPr>
              <a:t>POD</a:t>
            </a:r>
            <a:r>
              <a:rPr lang="zh-CN" altLang="en-US" sz="1600" dirty="0">
                <a:solidFill>
                  <a:srgbClr val="000000"/>
                </a:solidFill>
                <a:latin typeface="Times New Roman" panose="02020603050405020304" pitchFamily="18" charset="0"/>
                <a:ea typeface="微软雅黑" panose="020B0503020204020204" pitchFamily="34" charset="-122"/>
              </a:rPr>
              <a:t>时间系数根据模态正交性得到模态</a:t>
            </a:r>
            <a:endParaRPr lang="en-US" altLang="zh-CN" sz="1600" dirty="0">
              <a:solidFill>
                <a:srgbClr val="000000"/>
              </a:solidFill>
              <a:latin typeface="Times New Roman" panose="02020603050405020304" pitchFamily="18" charset="0"/>
              <a:ea typeface="微软雅黑" panose="020B0503020204020204" pitchFamily="34" charset="-122"/>
            </a:endParaRPr>
          </a:p>
        </p:txBody>
      </p:sp>
      <p:graphicFrame>
        <p:nvGraphicFramePr>
          <p:cNvPr id="103439" name="对象 16"/>
          <p:cNvGraphicFramePr>
            <a:graphicFrameLocks noChangeAspect="1"/>
          </p:cNvGraphicFramePr>
          <p:nvPr>
            <p:extLst/>
          </p:nvPr>
        </p:nvGraphicFramePr>
        <p:xfrm>
          <a:off x="4457700" y="5520058"/>
          <a:ext cx="3108325" cy="681037"/>
        </p:xfrm>
        <a:graphic>
          <a:graphicData uri="http://schemas.openxmlformats.org/presentationml/2006/ole">
            <mc:AlternateContent xmlns:mc="http://schemas.openxmlformats.org/markup-compatibility/2006">
              <mc:Choice xmlns:v="urn:schemas-microsoft-com:vml" Requires="v">
                <p:oleObj spid="_x0000_s21548" name="Equation" r:id="rId15" imgW="1981080" imgH="431640" progId="Equation.DSMT4">
                  <p:embed/>
                </p:oleObj>
              </mc:Choice>
              <mc:Fallback>
                <p:oleObj name="Equation" r:id="rId15" imgW="1981080" imgH="431640" progId="Equation.DSMT4">
                  <p:embed/>
                  <p:pic>
                    <p:nvPicPr>
                      <p:cNvPr id="103439" name="对象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457700" y="5520058"/>
                        <a:ext cx="3108325"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40" name="对象 17"/>
          <p:cNvGraphicFramePr>
            <a:graphicFrameLocks noChangeAspect="1"/>
          </p:cNvGraphicFramePr>
          <p:nvPr>
            <p:extLst/>
          </p:nvPr>
        </p:nvGraphicFramePr>
        <p:xfrm>
          <a:off x="4511676" y="6226704"/>
          <a:ext cx="3865562" cy="481013"/>
        </p:xfrm>
        <a:graphic>
          <a:graphicData uri="http://schemas.openxmlformats.org/presentationml/2006/ole">
            <mc:AlternateContent xmlns:mc="http://schemas.openxmlformats.org/markup-compatibility/2006">
              <mc:Choice xmlns:v="urn:schemas-microsoft-com:vml" Requires="v">
                <p:oleObj spid="_x0000_s21549" name="Equation" r:id="rId17" imgW="2463480" imgH="304560" progId="Equation.DSMT4">
                  <p:embed/>
                </p:oleObj>
              </mc:Choice>
              <mc:Fallback>
                <p:oleObj name="Equation" r:id="rId17" imgW="2463480" imgH="304560" progId="Equation.DSMT4">
                  <p:embed/>
                  <p:pic>
                    <p:nvPicPr>
                      <p:cNvPr id="103440" name="对象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11676" y="6226704"/>
                        <a:ext cx="3865562"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3441" name="对象 18"/>
          <p:cNvGraphicFramePr>
            <a:graphicFrameLocks noChangeAspect="1"/>
          </p:cNvGraphicFramePr>
          <p:nvPr/>
        </p:nvGraphicFramePr>
        <p:xfrm>
          <a:off x="8494713" y="5659439"/>
          <a:ext cx="635000" cy="401637"/>
        </p:xfrm>
        <a:graphic>
          <a:graphicData uri="http://schemas.openxmlformats.org/presentationml/2006/ole">
            <mc:AlternateContent xmlns:mc="http://schemas.openxmlformats.org/markup-compatibility/2006">
              <mc:Choice xmlns:v="urn:schemas-microsoft-com:vml" Requires="v">
                <p:oleObj spid="_x0000_s21550" name="Equation" r:id="rId19" imgW="406080" imgH="253800" progId="Equation.DSMT4">
                  <p:embed/>
                </p:oleObj>
              </mc:Choice>
              <mc:Fallback>
                <p:oleObj name="Equation" r:id="rId19" imgW="406080" imgH="253800" progId="Equation.DSMT4">
                  <p:embed/>
                  <p:pic>
                    <p:nvPicPr>
                      <p:cNvPr id="103441" name="对象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494713" y="5659439"/>
                        <a:ext cx="6350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3442" name="矩形 19"/>
          <p:cNvSpPr>
            <a:spLocks noChangeArrowheads="1"/>
          </p:cNvSpPr>
          <p:nvPr/>
        </p:nvSpPr>
        <p:spPr bwMode="auto">
          <a:xfrm>
            <a:off x="9129713" y="5702497"/>
            <a:ext cx="2688214" cy="35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dirty="0">
                <a:solidFill>
                  <a:srgbClr val="000000"/>
                </a:solidFill>
                <a:latin typeface="Times New Roman" panose="02020603050405020304" pitchFamily="18" charset="0"/>
                <a:ea typeface="微软雅黑" panose="020B0503020204020204" pitchFamily="34" charset="-122"/>
              </a:rPr>
              <a:t>取</a:t>
            </a:r>
            <a:r>
              <a:rPr lang="en-US" altLang="zh-CN" sz="1400" dirty="0">
                <a:solidFill>
                  <a:srgbClr val="000000"/>
                </a:solidFill>
                <a:latin typeface="Times New Roman" panose="02020603050405020304" pitchFamily="18" charset="0"/>
                <a:ea typeface="微软雅黑" panose="020B0503020204020204" pitchFamily="34" charset="-122"/>
              </a:rPr>
              <a:t>N</a:t>
            </a:r>
            <a:r>
              <a:rPr lang="zh-CN" altLang="en-US" sz="1400" dirty="0">
                <a:solidFill>
                  <a:srgbClr val="000000"/>
                </a:solidFill>
                <a:latin typeface="Times New Roman" panose="02020603050405020304" pitchFamily="18" charset="0"/>
                <a:ea typeface="微软雅黑" panose="020B0503020204020204" pitchFamily="34" charset="-122"/>
              </a:rPr>
              <a:t>维向量</a:t>
            </a:r>
            <a:r>
              <a:rPr lang="en-US" altLang="zh-CN" sz="1400" b="1" i="1" dirty="0">
                <a:solidFill>
                  <a:srgbClr val="000000"/>
                </a:solidFill>
                <a:latin typeface="Times New Roman" panose="02020603050405020304" pitchFamily="18" charset="0"/>
                <a:ea typeface="微软雅黑" panose="020B0503020204020204" pitchFamily="34" charset="-122"/>
              </a:rPr>
              <a:t>x</a:t>
            </a:r>
            <a:r>
              <a:rPr lang="zh-CN" altLang="en-US" sz="1400" dirty="0">
                <a:solidFill>
                  <a:srgbClr val="000000"/>
                </a:solidFill>
                <a:latin typeface="Times New Roman" panose="02020603050405020304" pitchFamily="18" charset="0"/>
                <a:ea typeface="微软雅黑" panose="020B0503020204020204" pitchFamily="34" charset="-122"/>
              </a:rPr>
              <a:t>与</a:t>
            </a:r>
            <a:r>
              <a:rPr lang="en-US" altLang="zh-CN" sz="1400" b="1" i="1" dirty="0">
                <a:solidFill>
                  <a:srgbClr val="000000"/>
                </a:solidFill>
                <a:latin typeface="Times New Roman" panose="02020603050405020304" pitchFamily="18" charset="0"/>
                <a:ea typeface="微软雅黑" panose="020B0503020204020204" pitchFamily="34" charset="-122"/>
              </a:rPr>
              <a:t>y</a:t>
            </a:r>
            <a:r>
              <a:rPr lang="zh-CN" altLang="en-US" sz="1400" dirty="0">
                <a:solidFill>
                  <a:srgbClr val="000000"/>
                </a:solidFill>
                <a:latin typeface="Times New Roman" panose="02020603050405020304" pitchFamily="18" charset="0"/>
                <a:ea typeface="微软雅黑" panose="020B0503020204020204" pitchFamily="34" charset="-122"/>
              </a:rPr>
              <a:t>的欧几里得内积</a:t>
            </a:r>
            <a:endParaRPr lang="en-US" altLang="zh-CN" sz="1400" dirty="0">
              <a:solidFill>
                <a:srgbClr val="000000"/>
              </a:solidFill>
              <a:latin typeface="Times New Roman" panose="02020603050405020304" pitchFamily="18" charset="0"/>
              <a:ea typeface="微软雅黑" panose="020B0503020204020204" pitchFamily="34" charset="-122"/>
            </a:endParaRPr>
          </a:p>
        </p:txBody>
      </p:sp>
      <p:sp>
        <p:nvSpPr>
          <p:cNvPr id="19" name="文本框 18"/>
          <p:cNvSpPr txBox="1"/>
          <p:nvPr/>
        </p:nvSpPr>
        <p:spPr>
          <a:xfrm>
            <a:off x="672916" y="772765"/>
            <a:ext cx="5023034"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正交模态分解</a:t>
            </a:r>
            <a:r>
              <a:rPr lang="en-US" altLang="zh-CN" sz="3200" b="1" dirty="0" smtClean="0">
                <a:latin typeface="华文细黑" panose="02010600040101010101" pitchFamily="2" charset="-122"/>
                <a:ea typeface="华文细黑" panose="02010600040101010101" pitchFamily="2" charset="-122"/>
              </a:rPr>
              <a:t>-POD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50</a:t>
            </a:fld>
            <a:endParaRPr lang="zh-CN" altLang="en-US"/>
          </a:p>
        </p:txBody>
      </p:sp>
    </p:spTree>
    <p:extLst>
      <p:ext uri="{BB962C8B-B14F-4D97-AF65-F5344CB8AC3E}">
        <p14:creationId xmlns:p14="http://schemas.microsoft.com/office/powerpoint/2010/main" val="29989042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3">
            <a:extLst>
              <a:ext uri="{28A0092B-C50C-407E-A947-70E740481C1C}">
                <a14:useLocalDpi xmlns:a14="http://schemas.microsoft.com/office/drawing/2010/main" val="0"/>
              </a:ext>
            </a:extLst>
          </a:blip>
          <a:stretch>
            <a:fillRect/>
          </a:stretch>
        </p:blipFill>
        <p:spPr>
          <a:xfrm>
            <a:off x="0" y="2290605"/>
            <a:ext cx="5705475" cy="3630150"/>
          </a:xfrm>
          <a:prstGeom prst="rect">
            <a:avLst/>
          </a:prstGeom>
        </p:spPr>
      </p:pic>
      <p:pic>
        <p:nvPicPr>
          <p:cNvPr id="11" name="图片 10" descr="K:\D形截面振动研究\多棱柱流致振动实验\多棱柱vortex formation length\投稿\Figure\16-1.emf"/>
          <p:cNvPicPr/>
          <p:nvPr/>
        </p:nvPicPr>
        <p:blipFill rotWithShape="1">
          <a:blip r:embed="rId4">
            <a:extLst>
              <a:ext uri="{28A0092B-C50C-407E-A947-70E740481C1C}">
                <a14:useLocalDpi xmlns:a14="http://schemas.microsoft.com/office/drawing/2010/main" val="0"/>
              </a:ext>
            </a:extLst>
          </a:blip>
          <a:srcRect r="50000"/>
          <a:stretch/>
        </p:blipFill>
        <p:spPr bwMode="auto">
          <a:xfrm>
            <a:off x="5611965" y="2985089"/>
            <a:ext cx="3330370" cy="3105345"/>
          </a:xfrm>
          <a:prstGeom prst="rect">
            <a:avLst/>
          </a:prstGeom>
          <a:noFill/>
          <a:ln>
            <a:noFill/>
          </a:ln>
        </p:spPr>
      </p:pic>
      <p:pic>
        <p:nvPicPr>
          <p:cNvPr id="12"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77150" y="1477040"/>
            <a:ext cx="2340260" cy="46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对象 12"/>
          <p:cNvGraphicFramePr>
            <a:graphicFrameLocks noChangeAspect="1"/>
          </p:cNvGraphicFramePr>
          <p:nvPr>
            <p:extLst/>
          </p:nvPr>
        </p:nvGraphicFramePr>
        <p:xfrm>
          <a:off x="6387652" y="2075005"/>
          <a:ext cx="4995555" cy="585989"/>
        </p:xfrm>
        <a:graphic>
          <a:graphicData uri="http://schemas.openxmlformats.org/presentationml/2006/ole">
            <mc:AlternateContent xmlns:mc="http://schemas.openxmlformats.org/markup-compatibility/2006">
              <mc:Choice xmlns:v="urn:schemas-microsoft-com:vml" Requires="v">
                <p:oleObj spid="_x0000_s22534" name="Equation" r:id="rId6" imgW="3251200" imgH="381000" progId="Equation.DSMT4">
                  <p:embed/>
                </p:oleObj>
              </mc:Choice>
              <mc:Fallback>
                <p:oleObj name="Equation" r:id="rId6" imgW="3251200" imgH="381000" progId="Equation.DSMT4">
                  <p:embed/>
                  <p:pic>
                    <p:nvPicPr>
                      <p:cNvPr id="13" name="对象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87652" y="2075005"/>
                        <a:ext cx="4995555" cy="585989"/>
                      </a:xfrm>
                      <a:prstGeom prst="rect">
                        <a:avLst/>
                      </a:prstGeom>
                      <a:noFill/>
                    </p:spPr>
                  </p:pic>
                </p:oleObj>
              </mc:Fallback>
            </mc:AlternateContent>
          </a:graphicData>
        </a:graphic>
      </p:graphicFrame>
      <p:grpSp>
        <p:nvGrpSpPr>
          <p:cNvPr id="14" name="组合 13"/>
          <p:cNvGrpSpPr/>
          <p:nvPr/>
        </p:nvGrpSpPr>
        <p:grpSpPr>
          <a:xfrm>
            <a:off x="8895090" y="3286125"/>
            <a:ext cx="3296910" cy="2804309"/>
            <a:chOff x="5247075" y="3879050"/>
            <a:chExt cx="3330370" cy="2790310"/>
          </a:xfrm>
        </p:grpSpPr>
        <p:pic>
          <p:nvPicPr>
            <p:cNvPr id="15" name="图片 14" descr="K:\D形截面振动研究\多棱柱流致振动实验\多棱柱vortex formation length\投稿\Figure\16-1.emf"/>
            <p:cNvPicPr/>
            <p:nvPr/>
          </p:nvPicPr>
          <p:blipFill rotWithShape="1">
            <a:blip r:embed="rId4">
              <a:extLst>
                <a:ext uri="{28A0092B-C50C-407E-A947-70E740481C1C}">
                  <a14:useLocalDpi xmlns:a14="http://schemas.microsoft.com/office/drawing/2010/main" val="0"/>
                </a:ext>
              </a:extLst>
            </a:blip>
            <a:srcRect l="50000" t="10112"/>
            <a:stretch/>
          </p:blipFill>
          <p:spPr bwMode="auto">
            <a:xfrm>
              <a:off x="5247075" y="3879050"/>
              <a:ext cx="3330370" cy="2790310"/>
            </a:xfrm>
            <a:prstGeom prst="rect">
              <a:avLst/>
            </a:prstGeom>
            <a:noFill/>
            <a:ln>
              <a:noFill/>
            </a:ln>
          </p:spPr>
        </p:pic>
        <p:pic>
          <p:nvPicPr>
            <p:cNvPr id="1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27295" y="4149080"/>
              <a:ext cx="918135" cy="1457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 name="灯片编号占位符 1"/>
          <p:cNvSpPr>
            <a:spLocks noGrp="1"/>
          </p:cNvSpPr>
          <p:nvPr>
            <p:ph type="sldNum" sz="quarter" idx="12"/>
          </p:nvPr>
        </p:nvSpPr>
        <p:spPr/>
        <p:txBody>
          <a:bodyPr/>
          <a:lstStyle/>
          <a:p>
            <a:fld id="{16D8DD02-547D-47A5-AAEA-525C7BEEAE57}" type="slidenum">
              <a:rPr lang="zh-CN" altLang="en-US" smtClean="0"/>
              <a:t>51</a:t>
            </a:fld>
            <a:endParaRPr lang="zh-CN" altLang="en-US"/>
          </a:p>
        </p:txBody>
      </p:sp>
      <p:sp>
        <p:nvSpPr>
          <p:cNvPr id="17" name="文本框 16"/>
          <p:cNvSpPr txBox="1"/>
          <p:nvPr/>
        </p:nvSpPr>
        <p:spPr>
          <a:xfrm>
            <a:off x="672916" y="772765"/>
            <a:ext cx="5023034"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正交模态分解</a:t>
            </a:r>
            <a:r>
              <a:rPr lang="en-US" altLang="zh-CN" sz="3200" b="1" dirty="0" smtClean="0">
                <a:latin typeface="华文细黑" panose="02010600040101010101" pitchFamily="2" charset="-122"/>
                <a:ea typeface="华文细黑" panose="02010600040101010101" pitchFamily="2" charset="-122"/>
              </a:rPr>
              <a:t>-POD</a:t>
            </a:r>
            <a:endParaRPr lang="zh-CN" altLang="en-US" sz="3200" b="1" dirty="0">
              <a:latin typeface="华文细黑" panose="02010600040101010101" pitchFamily="2" charset="-122"/>
              <a:ea typeface="华文细黑" panose="02010600040101010101" pitchFamily="2" charset="-122"/>
            </a:endParaRPr>
          </a:p>
        </p:txBody>
      </p:sp>
    </p:spTree>
    <p:extLst>
      <p:ext uri="{BB962C8B-B14F-4D97-AF65-F5344CB8AC3E}">
        <p14:creationId xmlns:p14="http://schemas.microsoft.com/office/powerpoint/2010/main" val="6261581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7"/>
          <p:cNvSpPr txBox="1"/>
          <p:nvPr/>
        </p:nvSpPr>
        <p:spPr>
          <a:xfrm>
            <a:off x="2753520" y="1578849"/>
            <a:ext cx="8769786" cy="400110"/>
          </a:xfrm>
          <a:prstGeom prst="rect">
            <a:avLst/>
          </a:prstGeom>
          <a:noFill/>
        </p:spPr>
        <p:txBody>
          <a:bodyPr wrap="square" rtlCol="0">
            <a:spAutoFit/>
          </a:bodyPr>
          <a:lstStyle/>
          <a:p>
            <a:r>
              <a:rPr lang="en-US" altLang="zh-CN" sz="2000" b="1" dirty="0">
                <a:solidFill>
                  <a:prstClr val="black"/>
                </a:solidFill>
                <a:latin typeface="Times New Roman" pitchFamily="18" charset="0"/>
                <a:cs typeface="Times New Roman" pitchFamily="18" charset="0"/>
              </a:rPr>
              <a:t>Re-constructed vortex structures using POD </a:t>
            </a:r>
            <a:r>
              <a:rPr lang="en-US" altLang="zh-CN" sz="2000" dirty="0">
                <a:solidFill>
                  <a:prstClr val="black"/>
                </a:solidFill>
              </a:rPr>
              <a:t>(Proper orthogonal decomposition</a:t>
            </a:r>
            <a:r>
              <a:rPr lang="en-US" altLang="zh-CN" sz="2000" dirty="0" smtClean="0">
                <a:solidFill>
                  <a:prstClr val="black"/>
                </a:solidFill>
              </a:rPr>
              <a:t>)</a:t>
            </a:r>
            <a:endParaRPr lang="zh-CN" altLang="en-US" sz="2000" b="1" i="1" baseline="-25000" dirty="0">
              <a:solidFill>
                <a:prstClr val="black"/>
              </a:solidFill>
              <a:latin typeface="Times New Roman" pitchFamily="18" charset="0"/>
              <a:cs typeface="Times New Roman" pitchFamily="18" charset="0"/>
            </a:endParaRPr>
          </a:p>
        </p:txBody>
      </p:sp>
      <p:graphicFrame>
        <p:nvGraphicFramePr>
          <p:cNvPr id="11" name="对象 10"/>
          <p:cNvGraphicFramePr>
            <a:graphicFrameLocks noChangeAspect="1"/>
          </p:cNvGraphicFramePr>
          <p:nvPr>
            <p:extLst/>
          </p:nvPr>
        </p:nvGraphicFramePr>
        <p:xfrm>
          <a:off x="1003366" y="2065117"/>
          <a:ext cx="2398713" cy="681038"/>
        </p:xfrm>
        <a:graphic>
          <a:graphicData uri="http://schemas.openxmlformats.org/presentationml/2006/ole">
            <mc:AlternateContent xmlns:mc="http://schemas.openxmlformats.org/markup-compatibility/2006">
              <mc:Choice xmlns:v="urn:schemas-microsoft-com:vml" Requires="v">
                <p:oleObj spid="_x0000_s23566" name="Equation" r:id="rId3" imgW="1358640" imgH="431640" progId="Equation.DSMT4">
                  <p:embed/>
                </p:oleObj>
              </mc:Choice>
              <mc:Fallback>
                <p:oleObj name="Equation" r:id="rId3" imgW="1358640" imgH="431640" progId="Equation.DSMT4">
                  <p:embed/>
                  <p:pic>
                    <p:nvPicPr>
                      <p:cNvPr id="11" name="对象 10"/>
                      <p:cNvPicPr>
                        <a:picLocks noChangeAspect="1" noChangeArrowheads="1"/>
                      </p:cNvPicPr>
                      <p:nvPr/>
                    </p:nvPicPr>
                    <p:blipFill>
                      <a:blip r:embed="rId4"/>
                      <a:srcRect/>
                      <a:stretch>
                        <a:fillRect/>
                      </a:stretch>
                    </p:blipFill>
                    <p:spPr bwMode="auto">
                      <a:xfrm>
                        <a:off x="1003366" y="2065117"/>
                        <a:ext cx="2398713"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4301640" y="2290605"/>
            <a:ext cx="6520556" cy="646331"/>
          </a:xfrm>
          <a:prstGeom prst="rect">
            <a:avLst/>
          </a:prstGeom>
        </p:spPr>
        <p:txBody>
          <a:bodyPr wrap="square">
            <a:spAutoFit/>
          </a:bodyPr>
          <a:lstStyle/>
          <a:p>
            <a:r>
              <a:rPr lang="el-GR" altLang="zh-CN" i="1" dirty="0">
                <a:solidFill>
                  <a:prstClr val="black"/>
                </a:solidFill>
                <a:latin typeface="Times New Roman" panose="02020603050405020304" pitchFamily="18" charset="0"/>
                <a:cs typeface="Times New Roman" panose="02020603050405020304" pitchFamily="18" charset="0"/>
              </a:rPr>
              <a:t>λ</a:t>
            </a:r>
            <a:r>
              <a:rPr lang="en-US" altLang="zh-CN" i="1" baseline="-25000" dirty="0">
                <a:solidFill>
                  <a:prstClr val="black"/>
                </a:solidFill>
                <a:latin typeface="Times New Roman" panose="02020603050405020304" pitchFamily="18" charset="0"/>
                <a:cs typeface="Times New Roman" panose="02020603050405020304" pitchFamily="18" charset="0"/>
              </a:rPr>
              <a:t>n</a:t>
            </a:r>
            <a:r>
              <a:rPr lang="en-US" altLang="zh-CN" i="1" dirty="0">
                <a:solidFill>
                  <a:prstClr val="black"/>
                </a:solidFill>
                <a:latin typeface="Times New Roman" panose="02020603050405020304" pitchFamily="18" charset="0"/>
                <a:cs typeface="Times New Roman" panose="02020603050405020304" pitchFamily="18" charset="0"/>
              </a:rPr>
              <a:t> </a:t>
            </a:r>
            <a:r>
              <a:rPr lang="en-US" altLang="zh-CN" dirty="0">
                <a:solidFill>
                  <a:prstClr val="black"/>
                </a:solidFill>
                <a:latin typeface="Times New Roman" panose="02020603050405020304" pitchFamily="18" charset="0"/>
                <a:cs typeface="Times New Roman" panose="02020603050405020304" pitchFamily="18" charset="0"/>
              </a:rPr>
              <a:t>is eigenvalue of the </a:t>
            </a:r>
            <a:r>
              <a:rPr lang="en-US" altLang="zh-CN" dirty="0" err="1">
                <a:solidFill>
                  <a:prstClr val="black"/>
                </a:solidFill>
                <a:latin typeface="Times New Roman" panose="02020603050405020304" pitchFamily="18" charset="0"/>
                <a:cs typeface="Times New Roman" panose="02020603050405020304" pitchFamily="18" charset="0"/>
              </a:rPr>
              <a:t>autocovariance</a:t>
            </a:r>
            <a:r>
              <a:rPr lang="en-US" altLang="zh-CN" dirty="0">
                <a:solidFill>
                  <a:prstClr val="black"/>
                </a:solidFill>
                <a:latin typeface="Times New Roman" panose="02020603050405020304" pitchFamily="18" charset="0"/>
                <a:cs typeface="Times New Roman" panose="02020603050405020304" pitchFamily="18" charset="0"/>
              </a:rPr>
              <a:t> velocity matrix </a:t>
            </a:r>
            <a:r>
              <a:rPr lang="en-US" altLang="zh-CN" i="1" dirty="0">
                <a:solidFill>
                  <a:prstClr val="black"/>
                </a:solidFill>
                <a:latin typeface="Times New Roman" panose="02020603050405020304" pitchFamily="18" charset="0"/>
                <a:cs typeface="Times New Roman" panose="02020603050405020304" pitchFamily="18" charset="0"/>
              </a:rPr>
              <a:t>M</a:t>
            </a:r>
            <a:r>
              <a:rPr lang="en-US" altLang="zh-CN" dirty="0">
                <a:solidFill>
                  <a:prstClr val="black"/>
                </a:solidFill>
                <a:latin typeface="Times New Roman" panose="02020603050405020304" pitchFamily="18" charset="0"/>
                <a:cs typeface="Times New Roman" panose="02020603050405020304" pitchFamily="18" charset="0"/>
              </a:rPr>
              <a:t> = </a:t>
            </a:r>
            <a:r>
              <a:rPr lang="en-US" altLang="zh-CN" i="1" dirty="0">
                <a:solidFill>
                  <a:prstClr val="black"/>
                </a:solidFill>
                <a:latin typeface="Times New Roman" panose="02020603050405020304" pitchFamily="18" charset="0"/>
                <a:cs typeface="Times New Roman" panose="02020603050405020304" pitchFamily="18" charset="0"/>
              </a:rPr>
              <a:t>U</a:t>
            </a:r>
            <a:r>
              <a:rPr lang="en-US" altLang="zh-CN" i="1" baseline="30000" dirty="0">
                <a:solidFill>
                  <a:prstClr val="black"/>
                </a:solidFill>
                <a:latin typeface="Times New Roman" panose="02020603050405020304" pitchFamily="18" charset="0"/>
                <a:cs typeface="Times New Roman" panose="02020603050405020304" pitchFamily="18" charset="0"/>
              </a:rPr>
              <a:t>T</a:t>
            </a:r>
            <a:r>
              <a:rPr lang="en-US" altLang="zh-CN" i="1" dirty="0">
                <a:solidFill>
                  <a:prstClr val="black"/>
                </a:solidFill>
                <a:latin typeface="Times New Roman" panose="02020603050405020304" pitchFamily="18" charset="0"/>
                <a:cs typeface="Times New Roman" panose="02020603050405020304" pitchFamily="18" charset="0"/>
              </a:rPr>
              <a:t>U</a:t>
            </a:r>
            <a:r>
              <a:rPr lang="en-US" altLang="zh-CN" dirty="0">
                <a:solidFill>
                  <a:prstClr val="black"/>
                </a:solidFill>
                <a:latin typeface="Times New Roman" panose="02020603050405020304" pitchFamily="18" charset="0"/>
                <a:cs typeface="Times New Roman" panose="02020603050405020304" pitchFamily="18" charset="0"/>
              </a:rPr>
              <a:t>, where </a:t>
            </a:r>
            <a:r>
              <a:rPr lang="en-US" altLang="zh-CN" i="1" dirty="0">
                <a:solidFill>
                  <a:prstClr val="black"/>
                </a:solidFill>
                <a:latin typeface="Times New Roman" panose="02020603050405020304" pitchFamily="18" charset="0"/>
                <a:cs typeface="Times New Roman" panose="02020603050405020304" pitchFamily="18" charset="0"/>
              </a:rPr>
              <a:t>U</a:t>
            </a:r>
            <a:r>
              <a:rPr lang="en-US" altLang="zh-CN" dirty="0">
                <a:solidFill>
                  <a:prstClr val="black"/>
                </a:solidFill>
                <a:latin typeface="Times New Roman" panose="02020603050405020304" pitchFamily="18" charset="0"/>
                <a:cs typeface="Times New Roman" panose="02020603050405020304" pitchFamily="18" charset="0"/>
              </a:rPr>
              <a:t> = [</a:t>
            </a:r>
            <a:r>
              <a:rPr lang="en-US" altLang="zh-CN" b="1" i="1" dirty="0">
                <a:solidFill>
                  <a:prstClr val="black"/>
                </a:solidFill>
                <a:latin typeface="Times New Roman" panose="02020603050405020304" pitchFamily="18" charset="0"/>
                <a:cs typeface="Times New Roman" panose="02020603050405020304" pitchFamily="18" charset="0"/>
              </a:rPr>
              <a:t>u</a:t>
            </a:r>
            <a:r>
              <a:rPr lang="en-US" altLang="zh-CN" baseline="-25000" dirty="0">
                <a:solidFill>
                  <a:prstClr val="black"/>
                </a:solidFill>
                <a:latin typeface="Times New Roman" panose="02020603050405020304" pitchFamily="18" charset="0"/>
                <a:cs typeface="Times New Roman" panose="02020603050405020304" pitchFamily="18" charset="0"/>
              </a:rPr>
              <a:t>1</a:t>
            </a:r>
            <a:r>
              <a:rPr lang="en-US" altLang="zh-CN" b="1" i="1" dirty="0">
                <a:solidFill>
                  <a:prstClr val="black"/>
                </a:solidFill>
                <a:latin typeface="Times New Roman" panose="02020603050405020304" pitchFamily="18" charset="0"/>
                <a:cs typeface="Times New Roman" panose="02020603050405020304" pitchFamily="18" charset="0"/>
              </a:rPr>
              <a:t>u</a:t>
            </a:r>
            <a:r>
              <a:rPr lang="en-US" altLang="zh-CN" baseline="-25000" dirty="0">
                <a:solidFill>
                  <a:prstClr val="black"/>
                </a:solidFill>
                <a:latin typeface="Times New Roman" panose="02020603050405020304" pitchFamily="18" charset="0"/>
                <a:cs typeface="Times New Roman" panose="02020603050405020304" pitchFamily="18" charset="0"/>
              </a:rPr>
              <a:t>2</a:t>
            </a:r>
            <a:r>
              <a:rPr lang="en-US" altLang="zh-CN" dirty="0">
                <a:solidFill>
                  <a:prstClr val="black"/>
                </a:solidFill>
                <a:latin typeface="Times New Roman" panose="02020603050405020304" pitchFamily="18" charset="0"/>
                <a:cs typeface="Times New Roman" panose="02020603050405020304" pitchFamily="18" charset="0"/>
              </a:rPr>
              <a:t>…</a:t>
            </a:r>
            <a:r>
              <a:rPr lang="en-US" altLang="zh-CN" b="1" i="1" dirty="0" err="1">
                <a:solidFill>
                  <a:prstClr val="black"/>
                </a:solidFill>
                <a:latin typeface="Times New Roman" panose="02020603050405020304" pitchFamily="18" charset="0"/>
                <a:cs typeface="Times New Roman" panose="02020603050405020304" pitchFamily="18" charset="0"/>
              </a:rPr>
              <a:t>u</a:t>
            </a:r>
            <a:r>
              <a:rPr lang="en-US" altLang="zh-CN" i="1" baseline="-25000" dirty="0" err="1">
                <a:solidFill>
                  <a:prstClr val="black"/>
                </a:solidFill>
                <a:latin typeface="Times New Roman" panose="02020603050405020304" pitchFamily="18" charset="0"/>
                <a:cs typeface="Times New Roman" panose="02020603050405020304" pitchFamily="18" charset="0"/>
              </a:rPr>
              <a:t>N</a:t>
            </a:r>
            <a:r>
              <a:rPr lang="en-US" altLang="zh-CN" dirty="0">
                <a:solidFill>
                  <a:prstClr val="black"/>
                </a:solidFill>
                <a:latin typeface="Times New Roman" panose="02020603050405020304" pitchFamily="18" charset="0"/>
                <a:cs typeface="Times New Roman" panose="02020603050405020304" pitchFamily="18" charset="0"/>
              </a:rPr>
              <a:t>]. </a:t>
            </a:r>
            <a:r>
              <a:rPr lang="el-GR" altLang="zh-CN" i="1" dirty="0">
                <a:solidFill>
                  <a:prstClr val="black"/>
                </a:solidFill>
                <a:latin typeface="Times New Roman" panose="02020603050405020304" pitchFamily="18" charset="0"/>
                <a:cs typeface="Times New Roman" panose="02020603050405020304" pitchFamily="18" charset="0"/>
              </a:rPr>
              <a:t>λ</a:t>
            </a:r>
            <a:r>
              <a:rPr lang="en-US" altLang="zh-CN" i="1" baseline="-25000" dirty="0">
                <a:solidFill>
                  <a:prstClr val="black"/>
                </a:solidFill>
                <a:latin typeface="Times New Roman" panose="02020603050405020304" pitchFamily="18" charset="0"/>
                <a:cs typeface="Times New Roman" panose="02020603050405020304" pitchFamily="18" charset="0"/>
              </a:rPr>
              <a:t>n</a:t>
            </a:r>
            <a:r>
              <a:rPr lang="en-US" altLang="zh-CN" i="1" dirty="0">
                <a:solidFill>
                  <a:prstClr val="black"/>
                </a:solidFill>
                <a:latin typeface="Times New Roman" panose="02020603050405020304" pitchFamily="18" charset="0"/>
                <a:cs typeface="Times New Roman" panose="02020603050405020304" pitchFamily="18" charset="0"/>
              </a:rPr>
              <a:t> </a:t>
            </a:r>
            <a:r>
              <a:rPr lang="en-US" altLang="zh-CN" dirty="0">
                <a:solidFill>
                  <a:prstClr val="black"/>
                </a:solidFill>
                <a:latin typeface="Times New Roman" panose="02020603050405020304" pitchFamily="18" charset="0"/>
                <a:cs typeface="Times New Roman" panose="02020603050405020304" pitchFamily="18" charset="0"/>
              </a:rPr>
              <a:t>represents the energy content in n mode.</a:t>
            </a:r>
            <a:endParaRPr lang="zh-CN" altLang="en-US" dirty="0">
              <a:solidFill>
                <a:prstClr val="black"/>
              </a:solidFill>
              <a:latin typeface="Times New Roman" panose="02020603050405020304" pitchFamily="18" charset="0"/>
              <a:cs typeface="Times New Roman" panose="02020603050405020304" pitchFamily="18" charset="0"/>
            </a:endParaRPr>
          </a:p>
        </p:txBody>
      </p:sp>
      <p:graphicFrame>
        <p:nvGraphicFramePr>
          <p:cNvPr id="13" name="对象 12"/>
          <p:cNvGraphicFramePr>
            <a:graphicFrameLocks noChangeAspect="1"/>
          </p:cNvGraphicFramePr>
          <p:nvPr>
            <p:extLst/>
          </p:nvPr>
        </p:nvGraphicFramePr>
        <p:xfrm>
          <a:off x="974850" y="2827152"/>
          <a:ext cx="1321628" cy="363927"/>
        </p:xfrm>
        <a:graphic>
          <a:graphicData uri="http://schemas.openxmlformats.org/presentationml/2006/ole">
            <mc:AlternateContent xmlns:mc="http://schemas.openxmlformats.org/markup-compatibility/2006">
              <mc:Choice xmlns:v="urn:schemas-microsoft-com:vml" Requires="v">
                <p:oleObj spid="_x0000_s23567" name="Equation" r:id="rId5" imgW="876240" imgH="241200" progId="Equation.DSMT4">
                  <p:embed/>
                </p:oleObj>
              </mc:Choice>
              <mc:Fallback>
                <p:oleObj name="Equation" r:id="rId5" imgW="876240" imgH="241200" progId="Equation.DSMT4">
                  <p:embed/>
                  <p:pic>
                    <p:nvPicPr>
                      <p:cNvPr id="13" name="对象 12"/>
                      <p:cNvPicPr/>
                      <p:nvPr/>
                    </p:nvPicPr>
                    <p:blipFill>
                      <a:blip r:embed="rId6"/>
                      <a:stretch>
                        <a:fillRect/>
                      </a:stretch>
                    </p:blipFill>
                    <p:spPr>
                      <a:xfrm>
                        <a:off x="974850" y="2827152"/>
                        <a:ext cx="1321628" cy="363927"/>
                      </a:xfrm>
                      <a:prstGeom prst="rect">
                        <a:avLst/>
                      </a:prstGeom>
                    </p:spPr>
                  </p:pic>
                </p:oleObj>
              </mc:Fallback>
            </mc:AlternateContent>
          </a:graphicData>
        </a:graphic>
      </p:graphicFrame>
      <p:graphicFrame>
        <p:nvGraphicFramePr>
          <p:cNvPr id="14" name="对象 13"/>
          <p:cNvGraphicFramePr>
            <a:graphicFrameLocks noChangeAspect="1"/>
          </p:cNvGraphicFramePr>
          <p:nvPr>
            <p:extLst/>
          </p:nvPr>
        </p:nvGraphicFramePr>
        <p:xfrm>
          <a:off x="939943" y="3149697"/>
          <a:ext cx="2419582" cy="658671"/>
        </p:xfrm>
        <a:graphic>
          <a:graphicData uri="http://schemas.openxmlformats.org/presentationml/2006/ole">
            <mc:AlternateContent xmlns:mc="http://schemas.openxmlformats.org/markup-compatibility/2006">
              <mc:Choice xmlns:v="urn:schemas-microsoft-com:vml" Requires="v">
                <p:oleObj spid="_x0000_s23568" name="Equation" r:id="rId7" imgW="1587240" imgH="431640" progId="Equation.DSMT4">
                  <p:embed/>
                </p:oleObj>
              </mc:Choice>
              <mc:Fallback>
                <p:oleObj name="Equation" r:id="rId7" imgW="1587240" imgH="431640" progId="Equation.DSMT4">
                  <p:embed/>
                  <p:pic>
                    <p:nvPicPr>
                      <p:cNvPr id="14" name="对象 13"/>
                      <p:cNvPicPr/>
                      <p:nvPr/>
                    </p:nvPicPr>
                    <p:blipFill>
                      <a:blip r:embed="rId8"/>
                      <a:stretch>
                        <a:fillRect/>
                      </a:stretch>
                    </p:blipFill>
                    <p:spPr>
                      <a:xfrm>
                        <a:off x="939943" y="3149697"/>
                        <a:ext cx="2419582" cy="658671"/>
                      </a:xfrm>
                      <a:prstGeom prst="rect">
                        <a:avLst/>
                      </a:prstGeom>
                    </p:spPr>
                  </p:pic>
                </p:oleObj>
              </mc:Fallback>
            </mc:AlternateContent>
          </a:graphicData>
        </a:graphic>
      </p:graphicFrame>
      <p:pic>
        <p:nvPicPr>
          <p:cNvPr id="15" name="图片 14" descr="12.emf"/>
          <p:cNvPicPr/>
          <p:nvPr/>
        </p:nvPicPr>
        <p:blipFill>
          <a:blip r:embed="rId9">
            <a:extLst>
              <a:ext uri="{28A0092B-C50C-407E-A947-70E740481C1C}">
                <a14:useLocalDpi xmlns:a14="http://schemas.microsoft.com/office/drawing/2010/main" val="0"/>
              </a:ext>
            </a:extLst>
          </a:blip>
          <a:srcRect/>
          <a:stretch>
            <a:fillRect/>
          </a:stretch>
        </p:blipFill>
        <p:spPr bwMode="auto">
          <a:xfrm>
            <a:off x="3706895" y="3149697"/>
            <a:ext cx="7470830" cy="3303176"/>
          </a:xfrm>
          <a:prstGeom prst="rect">
            <a:avLst/>
          </a:prstGeom>
          <a:noFill/>
          <a:ln>
            <a:noFill/>
          </a:ln>
        </p:spPr>
      </p:pic>
      <p:sp>
        <p:nvSpPr>
          <p:cNvPr id="2" name="灯片编号占位符 1"/>
          <p:cNvSpPr>
            <a:spLocks noGrp="1"/>
          </p:cNvSpPr>
          <p:nvPr>
            <p:ph type="sldNum" sz="quarter" idx="12"/>
          </p:nvPr>
        </p:nvSpPr>
        <p:spPr/>
        <p:txBody>
          <a:bodyPr/>
          <a:lstStyle/>
          <a:p>
            <a:fld id="{16D8DD02-547D-47A5-AAEA-525C7BEEAE57}" type="slidenum">
              <a:rPr lang="zh-CN" altLang="en-US" smtClean="0"/>
              <a:t>52</a:t>
            </a:fld>
            <a:endParaRPr lang="zh-CN" altLang="en-US"/>
          </a:p>
        </p:txBody>
      </p:sp>
      <p:sp>
        <p:nvSpPr>
          <p:cNvPr id="16" name="文本框 15"/>
          <p:cNvSpPr txBox="1"/>
          <p:nvPr/>
        </p:nvSpPr>
        <p:spPr>
          <a:xfrm>
            <a:off x="672916" y="772765"/>
            <a:ext cx="5023034"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正交模态分解</a:t>
            </a:r>
            <a:r>
              <a:rPr lang="en-US" altLang="zh-CN" sz="3200" b="1" dirty="0" smtClean="0">
                <a:latin typeface="华文细黑" panose="02010600040101010101" pitchFamily="2" charset="-122"/>
                <a:ea typeface="华文细黑" panose="02010600040101010101" pitchFamily="2" charset="-122"/>
              </a:rPr>
              <a:t>-POD</a:t>
            </a:r>
            <a:endParaRPr lang="zh-CN" altLang="en-US" sz="3200" b="1" dirty="0">
              <a:latin typeface="华文细黑" panose="02010600040101010101" pitchFamily="2" charset="-122"/>
              <a:ea typeface="华文细黑" panose="02010600040101010101" pitchFamily="2" charset="-122"/>
            </a:endParaRPr>
          </a:p>
        </p:txBody>
      </p:sp>
    </p:spTree>
    <p:extLst>
      <p:ext uri="{BB962C8B-B14F-4D97-AF65-F5344CB8AC3E}">
        <p14:creationId xmlns:p14="http://schemas.microsoft.com/office/powerpoint/2010/main" val="9190232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50746" y="1875757"/>
            <a:ext cx="2924633" cy="757130"/>
          </a:xfrm>
          <a:prstGeom prst="rect">
            <a:avLst/>
          </a:prstGeom>
          <a:noFill/>
        </p:spPr>
        <p:txBody>
          <a:bodyPr wrap="square">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b="1" i="1" kern="0" dirty="0">
                <a:solidFill>
                  <a:srgbClr val="000000"/>
                </a:solidFill>
              </a:rPr>
              <a:t>U</a:t>
            </a:r>
            <a:r>
              <a:rPr lang="zh-CN" altLang="en-US" b="1" i="1" kern="0" baseline="-25000" dirty="0">
                <a:solidFill>
                  <a:srgbClr val="000000"/>
                </a:solidFill>
              </a:rPr>
              <a:t>∞</a:t>
            </a:r>
            <a:r>
              <a:rPr lang="en-US" altLang="zh-CN" b="1" kern="0" dirty="0">
                <a:solidFill>
                  <a:srgbClr val="000000"/>
                </a:solidFill>
              </a:rPr>
              <a:t>=40m/s, </a:t>
            </a:r>
            <a:r>
              <a:rPr lang="en-US" altLang="zh-CN" b="1" i="1" kern="0" dirty="0">
                <a:solidFill>
                  <a:srgbClr val="000000"/>
                </a:solidFill>
              </a:rPr>
              <a:t>k-ε</a:t>
            </a:r>
            <a:r>
              <a:rPr lang="zh-CN" altLang="en-US" b="1" kern="0" dirty="0">
                <a:solidFill>
                  <a:srgbClr val="000000"/>
                </a:solidFill>
              </a:rPr>
              <a:t>湍流模式</a:t>
            </a:r>
            <a:endParaRPr lang="en-US" altLang="zh-CN" b="1" kern="0" dirty="0">
              <a:solidFill>
                <a:srgbClr val="000000"/>
              </a:solidFill>
            </a:endParaRPr>
          </a:p>
          <a:p>
            <a:pPr marL="0" indent="0">
              <a:buNone/>
              <a:defRPr/>
            </a:pPr>
            <a:r>
              <a:rPr lang="en-US" altLang="zh-CN" b="1" kern="0" dirty="0">
                <a:solidFill>
                  <a:srgbClr val="000000"/>
                </a:solidFill>
              </a:rPr>
              <a:t>Re=1.4×10</a:t>
            </a:r>
            <a:r>
              <a:rPr lang="en-US" altLang="zh-CN" b="1" kern="0" baseline="30000" dirty="0">
                <a:solidFill>
                  <a:srgbClr val="000000"/>
                </a:solidFill>
              </a:rPr>
              <a:t>7</a:t>
            </a:r>
            <a:r>
              <a:rPr lang="en-US" altLang="zh-CN" b="1" kern="0" dirty="0">
                <a:solidFill>
                  <a:srgbClr val="000000"/>
                </a:solidFill>
              </a:rPr>
              <a:t>, </a:t>
            </a:r>
            <a:r>
              <a:rPr lang="en-US" altLang="zh-CN" b="1" kern="0" dirty="0" err="1">
                <a:solidFill>
                  <a:srgbClr val="000000"/>
                </a:solidFill>
              </a:rPr>
              <a:t>DrivAer</a:t>
            </a:r>
            <a:r>
              <a:rPr lang="en-US" altLang="zh-CN" b="1" kern="0" dirty="0">
                <a:solidFill>
                  <a:srgbClr val="000000"/>
                </a:solidFill>
              </a:rPr>
              <a:t> </a:t>
            </a:r>
            <a:r>
              <a:rPr lang="zh-CN" altLang="en-US" b="1" kern="0" dirty="0">
                <a:solidFill>
                  <a:srgbClr val="000000"/>
                </a:solidFill>
              </a:rPr>
              <a:t>模型</a:t>
            </a:r>
            <a:endParaRPr lang="en-US" altLang="zh-CN" b="1" kern="0" baseline="30000" dirty="0">
              <a:solidFill>
                <a:srgbClr val="000000"/>
              </a:solidFill>
            </a:endParaRPr>
          </a:p>
        </p:txBody>
      </p:sp>
      <p:grpSp>
        <p:nvGrpSpPr>
          <p:cNvPr id="106501" name="组合 6"/>
          <p:cNvGrpSpPr>
            <a:grpSpLocks/>
          </p:cNvGrpSpPr>
          <p:nvPr/>
        </p:nvGrpSpPr>
        <p:grpSpPr bwMode="auto">
          <a:xfrm>
            <a:off x="1077913" y="2674144"/>
            <a:ext cx="3670300" cy="2828925"/>
            <a:chOff x="328767" y="2346013"/>
            <a:chExt cx="4170963" cy="3215527"/>
          </a:xfrm>
        </p:grpSpPr>
        <p:pic>
          <p:nvPicPr>
            <p:cNvPr id="106517"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8767" y="2346013"/>
              <a:ext cx="4170963" cy="2451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18" name="图片 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2777" y="4797570"/>
              <a:ext cx="2563507" cy="763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文本框 9"/>
          <p:cNvSpPr txBox="1"/>
          <p:nvPr/>
        </p:nvSpPr>
        <p:spPr>
          <a:xfrm>
            <a:off x="2116139" y="5506243"/>
            <a:ext cx="1277937" cy="35083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zh-CN" altLang="en-US" sz="1400" b="1" kern="0" dirty="0">
                <a:solidFill>
                  <a:srgbClr val="000000"/>
                </a:solidFill>
              </a:rPr>
              <a:t>流向速度云图</a:t>
            </a:r>
            <a:endParaRPr lang="en-US" altLang="zh-CN" sz="1400" b="1" kern="0" dirty="0">
              <a:solidFill>
                <a:srgbClr val="000000"/>
              </a:solidFill>
            </a:endParaRPr>
          </a:p>
        </p:txBody>
      </p:sp>
      <p:sp>
        <p:nvSpPr>
          <p:cNvPr id="22" name="文本框 21"/>
          <p:cNvSpPr txBox="1"/>
          <p:nvPr/>
        </p:nvSpPr>
        <p:spPr>
          <a:xfrm>
            <a:off x="1380531" y="6243653"/>
            <a:ext cx="4456113" cy="425450"/>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a:buFont typeface="Wingdings" panose="05000000000000000000" pitchFamily="2" charset="2"/>
              <a:buChar char="§"/>
              <a:defRPr/>
            </a:pPr>
            <a:r>
              <a:rPr lang="zh-CN" altLang="en-US" b="1" kern="0" dirty="0">
                <a:solidFill>
                  <a:srgbClr val="FF0000"/>
                </a:solidFill>
              </a:rPr>
              <a:t>存在以能量为分解依据的模态混叠现象</a:t>
            </a:r>
            <a:endParaRPr lang="en-US" altLang="zh-CN" b="1" kern="0" dirty="0">
              <a:solidFill>
                <a:srgbClr val="FF0000"/>
              </a:solidFill>
            </a:endParaRPr>
          </a:p>
        </p:txBody>
      </p:sp>
      <p:grpSp>
        <p:nvGrpSpPr>
          <p:cNvPr id="2" name="组合 1"/>
          <p:cNvGrpSpPr/>
          <p:nvPr/>
        </p:nvGrpSpPr>
        <p:grpSpPr>
          <a:xfrm>
            <a:off x="5735270" y="1634444"/>
            <a:ext cx="5730009" cy="5295695"/>
            <a:chOff x="5575300" y="1604964"/>
            <a:chExt cx="4984750" cy="4606924"/>
          </a:xfrm>
        </p:grpSpPr>
        <p:pic>
          <p:nvPicPr>
            <p:cNvPr id="106503" name="图片 1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75300" y="1604964"/>
              <a:ext cx="24399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4" name="图片 1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61325" y="1604964"/>
              <a:ext cx="2438400" cy="146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5" name="图片 1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575300" y="3843338"/>
              <a:ext cx="2465388"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6" name="图片 1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096250" y="3843338"/>
              <a:ext cx="2463800"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14"/>
            <p:cNvSpPr txBox="1"/>
            <p:nvPr/>
          </p:nvSpPr>
          <p:spPr>
            <a:xfrm>
              <a:off x="6148389" y="3068639"/>
              <a:ext cx="1277937" cy="350865"/>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POD-1</a:t>
              </a:r>
              <a:r>
                <a:rPr lang="zh-CN" altLang="en-US" sz="1400" b="1" kern="0" dirty="0">
                  <a:solidFill>
                    <a:srgbClr val="000000"/>
                  </a:solidFill>
                </a:rPr>
                <a:t>阶模态</a:t>
              </a:r>
              <a:endParaRPr lang="en-US" altLang="zh-CN" sz="1400" b="1" kern="0" dirty="0">
                <a:solidFill>
                  <a:srgbClr val="000000"/>
                </a:solidFill>
              </a:endParaRPr>
            </a:p>
          </p:txBody>
        </p:sp>
        <p:sp>
          <p:nvSpPr>
            <p:cNvPr id="16" name="文本框 15"/>
            <p:cNvSpPr txBox="1"/>
            <p:nvPr/>
          </p:nvSpPr>
          <p:spPr>
            <a:xfrm>
              <a:off x="8688389" y="3068639"/>
              <a:ext cx="1279525" cy="350837"/>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POD-2</a:t>
              </a:r>
              <a:r>
                <a:rPr lang="zh-CN" altLang="en-US" sz="1400" b="1" kern="0" dirty="0">
                  <a:solidFill>
                    <a:srgbClr val="000000"/>
                  </a:solidFill>
                </a:rPr>
                <a:t>阶模态</a:t>
              </a:r>
              <a:endParaRPr lang="en-US" altLang="zh-CN" sz="1400" b="1" kern="0" dirty="0">
                <a:solidFill>
                  <a:srgbClr val="000000"/>
                </a:solidFill>
              </a:endParaRPr>
            </a:p>
          </p:txBody>
        </p:sp>
        <p:sp>
          <p:nvSpPr>
            <p:cNvPr id="17" name="文本框 16"/>
            <p:cNvSpPr txBox="1"/>
            <p:nvPr/>
          </p:nvSpPr>
          <p:spPr>
            <a:xfrm>
              <a:off x="6169025" y="5327650"/>
              <a:ext cx="1277938" cy="35083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POD-3</a:t>
              </a:r>
              <a:r>
                <a:rPr lang="zh-CN" altLang="en-US" sz="1400" b="1" kern="0" dirty="0">
                  <a:solidFill>
                    <a:srgbClr val="000000"/>
                  </a:solidFill>
                </a:rPr>
                <a:t>阶模态</a:t>
              </a:r>
              <a:endParaRPr lang="en-US" altLang="zh-CN" sz="1400" b="1" kern="0" dirty="0">
                <a:solidFill>
                  <a:srgbClr val="000000"/>
                </a:solidFill>
              </a:endParaRPr>
            </a:p>
          </p:txBody>
        </p:sp>
        <p:sp>
          <p:nvSpPr>
            <p:cNvPr id="18" name="文本框 17"/>
            <p:cNvSpPr txBox="1"/>
            <p:nvPr/>
          </p:nvSpPr>
          <p:spPr>
            <a:xfrm>
              <a:off x="8688389" y="5332414"/>
              <a:ext cx="1279525" cy="350837"/>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POD-9</a:t>
              </a:r>
              <a:r>
                <a:rPr lang="zh-CN" altLang="en-US" sz="1400" b="1" kern="0" dirty="0">
                  <a:solidFill>
                    <a:srgbClr val="000000"/>
                  </a:solidFill>
                </a:rPr>
                <a:t>阶模态</a:t>
              </a:r>
              <a:endParaRPr lang="en-US" altLang="zh-CN" sz="1400" b="1" kern="0" dirty="0">
                <a:solidFill>
                  <a:srgbClr val="000000"/>
                </a:solidFill>
              </a:endParaRPr>
            </a:p>
          </p:txBody>
        </p:sp>
        <p:sp>
          <p:nvSpPr>
            <p:cNvPr id="19" name="文本框 18"/>
            <p:cNvSpPr txBox="1"/>
            <p:nvPr/>
          </p:nvSpPr>
          <p:spPr>
            <a:xfrm>
              <a:off x="5622926" y="3322639"/>
              <a:ext cx="2392363" cy="536575"/>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lgn="ctr">
                <a:buNone/>
                <a:defRPr/>
              </a:pPr>
              <a:r>
                <a:rPr lang="zh-CN" altLang="en-US" sz="1200" b="1" kern="0" dirty="0">
                  <a:solidFill>
                    <a:srgbClr val="000000"/>
                  </a:solidFill>
                </a:rPr>
                <a:t>占据</a:t>
              </a:r>
              <a:r>
                <a:rPr lang="en-US" altLang="zh-CN" sz="1200" b="1" kern="0" dirty="0">
                  <a:solidFill>
                    <a:srgbClr val="000000"/>
                  </a:solidFill>
                </a:rPr>
                <a:t>99.3%</a:t>
              </a:r>
              <a:r>
                <a:rPr lang="zh-CN" altLang="en-US" sz="1200" b="1" kern="0" dirty="0">
                  <a:solidFill>
                    <a:srgbClr val="000000"/>
                  </a:solidFill>
                </a:rPr>
                <a:t>能量，很好地反应整体流态</a:t>
              </a:r>
              <a:endParaRPr lang="en-US" altLang="zh-CN" sz="1200" b="1" kern="0" dirty="0">
                <a:solidFill>
                  <a:srgbClr val="000000"/>
                </a:solidFill>
              </a:endParaRPr>
            </a:p>
          </p:txBody>
        </p:sp>
        <p:sp>
          <p:nvSpPr>
            <p:cNvPr id="20" name="文本框 19"/>
            <p:cNvSpPr txBox="1"/>
            <p:nvPr/>
          </p:nvSpPr>
          <p:spPr>
            <a:xfrm>
              <a:off x="6010276" y="5592764"/>
              <a:ext cx="1806575" cy="536575"/>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lgn="ctr">
                <a:buNone/>
                <a:defRPr/>
              </a:pPr>
              <a:r>
                <a:rPr lang="zh-CN" altLang="en-US" sz="1200" b="1" kern="0" dirty="0">
                  <a:solidFill>
                    <a:srgbClr val="000000"/>
                  </a:solidFill>
                </a:rPr>
                <a:t>主要反映回流区细节</a:t>
              </a:r>
              <a:r>
                <a:rPr lang="en-US" altLang="zh-CN" sz="1200" b="1" kern="0" dirty="0">
                  <a:solidFill>
                    <a:srgbClr val="000000"/>
                  </a:solidFill>
                </a:rPr>
                <a:t>(</a:t>
              </a:r>
              <a:r>
                <a:rPr lang="zh-CN" altLang="en-US" sz="1200" b="1" kern="0" dirty="0">
                  <a:solidFill>
                    <a:srgbClr val="000000"/>
                  </a:solidFill>
                </a:rPr>
                <a:t>混叠了剪切层细节</a:t>
              </a:r>
              <a:r>
                <a:rPr lang="en-US" altLang="zh-CN" sz="1200" b="1" kern="0" dirty="0">
                  <a:solidFill>
                    <a:srgbClr val="000000"/>
                  </a:solidFill>
                </a:rPr>
                <a:t>)</a:t>
              </a:r>
            </a:p>
          </p:txBody>
        </p:sp>
        <p:sp>
          <p:nvSpPr>
            <p:cNvPr id="21" name="文本框 20"/>
            <p:cNvSpPr txBox="1"/>
            <p:nvPr/>
          </p:nvSpPr>
          <p:spPr>
            <a:xfrm>
              <a:off x="8132764" y="3314701"/>
              <a:ext cx="2390775" cy="314325"/>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lgn="ctr">
                <a:buNone/>
                <a:defRPr/>
              </a:pPr>
              <a:r>
                <a:rPr lang="zh-CN" altLang="en-US" sz="1200" b="1" kern="0" dirty="0">
                  <a:solidFill>
                    <a:srgbClr val="000000"/>
                  </a:solidFill>
                </a:rPr>
                <a:t>主要反映剪切层细节</a:t>
              </a:r>
              <a:endParaRPr lang="en-US" altLang="zh-CN" sz="1200" b="1" kern="0" dirty="0">
                <a:solidFill>
                  <a:srgbClr val="000000"/>
                </a:solidFill>
              </a:endParaRPr>
            </a:p>
          </p:txBody>
        </p:sp>
        <p:sp>
          <p:nvSpPr>
            <p:cNvPr id="23" name="文本框 22"/>
            <p:cNvSpPr txBox="1"/>
            <p:nvPr/>
          </p:nvSpPr>
          <p:spPr>
            <a:xfrm>
              <a:off x="8377239" y="5676900"/>
              <a:ext cx="1806575" cy="53498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lgn="ctr">
                <a:buNone/>
                <a:defRPr/>
              </a:pPr>
              <a:r>
                <a:rPr lang="zh-CN" altLang="en-US" sz="1200" b="1" kern="0" dirty="0">
                  <a:solidFill>
                    <a:srgbClr val="000000"/>
                  </a:solidFill>
                </a:rPr>
                <a:t>高阶模态几乎仅对尾流做细节修正</a:t>
              </a:r>
              <a:endParaRPr lang="en-US" altLang="zh-CN" sz="1200" b="1" kern="0" dirty="0">
                <a:solidFill>
                  <a:srgbClr val="000000"/>
                </a:solidFill>
              </a:endParaRPr>
            </a:p>
          </p:txBody>
        </p:sp>
      </p:grpSp>
      <p:sp>
        <p:nvSpPr>
          <p:cNvPr id="106516" name="矩形 23"/>
          <p:cNvSpPr>
            <a:spLocks noChangeArrowheads="1"/>
          </p:cNvSpPr>
          <p:nvPr/>
        </p:nvSpPr>
        <p:spPr bwMode="auto">
          <a:xfrm>
            <a:off x="2675804" y="1477282"/>
            <a:ext cx="28511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None/>
            </a:pPr>
            <a:r>
              <a:rPr lang="en-US" altLang="zh-CN" sz="1200" b="1" dirty="0" err="1">
                <a:solidFill>
                  <a:srgbClr val="FF0000"/>
                </a:solidFill>
                <a:latin typeface="Times New Roman" panose="02020603050405020304" pitchFamily="18" charset="0"/>
                <a:ea typeface="微软雅黑" panose="020B0503020204020204" pitchFamily="34" charset="-122"/>
              </a:rPr>
              <a:t>Dolci</a:t>
            </a:r>
            <a:r>
              <a:rPr lang="en-US" altLang="zh-CN" sz="1200" b="1" dirty="0">
                <a:solidFill>
                  <a:srgbClr val="FF0000"/>
                </a:solidFill>
                <a:latin typeface="Times New Roman" panose="02020603050405020304" pitchFamily="18" charset="0"/>
                <a:ea typeface="微软雅黑" panose="020B0503020204020204" pitchFamily="34" charset="-122"/>
              </a:rPr>
              <a:t> &amp; </a:t>
            </a:r>
            <a:r>
              <a:rPr lang="en-US" altLang="zh-CN" sz="1200" b="1" dirty="0" err="1">
                <a:solidFill>
                  <a:srgbClr val="FF0000"/>
                </a:solidFill>
                <a:latin typeface="Times New Roman" panose="02020603050405020304" pitchFamily="18" charset="0"/>
                <a:ea typeface="微软雅黑" panose="020B0503020204020204" pitchFamily="34" charset="-122"/>
              </a:rPr>
              <a:t>Arina</a:t>
            </a:r>
            <a:r>
              <a:rPr lang="en-US" altLang="zh-CN" sz="1200" b="1" dirty="0">
                <a:solidFill>
                  <a:srgbClr val="FF0000"/>
                </a:solidFill>
                <a:latin typeface="Times New Roman" panose="02020603050405020304" pitchFamily="18" charset="0"/>
                <a:ea typeface="微软雅黑" panose="020B0503020204020204" pitchFamily="34" charset="-122"/>
              </a:rPr>
              <a:t> (2016), Int. J. Aero. Eng.</a:t>
            </a:r>
          </a:p>
        </p:txBody>
      </p:sp>
      <p:sp>
        <p:nvSpPr>
          <p:cNvPr id="24" name="矩形 4"/>
          <p:cNvSpPr>
            <a:spLocks noChangeArrowheads="1"/>
          </p:cNvSpPr>
          <p:nvPr/>
        </p:nvSpPr>
        <p:spPr bwMode="auto">
          <a:xfrm>
            <a:off x="672916" y="1434390"/>
            <a:ext cx="2108269"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POD</a:t>
            </a:r>
            <a:r>
              <a:rPr lang="zh-CN" altLang="en-US" sz="2000" dirty="0">
                <a:latin typeface="华文细黑" panose="02010600040101010101" pitchFamily="2" charset="-122"/>
                <a:ea typeface="华文细黑" panose="02010600040101010101" pitchFamily="2" charset="-122"/>
              </a:rPr>
              <a:t>方法示例</a:t>
            </a:r>
            <a:r>
              <a:rPr lang="en-US" altLang="zh-CN" sz="2000" dirty="0" smtClean="0">
                <a:latin typeface="华文细黑" panose="02010600040101010101" pitchFamily="2" charset="-122"/>
                <a:ea typeface="华文细黑" panose="02010600040101010101" pitchFamily="2" charset="-122"/>
              </a:rPr>
              <a:t>(3)</a:t>
            </a:r>
            <a:endParaRPr lang="en-US" altLang="zh-CN" sz="2000" dirty="0">
              <a:latin typeface="华文细黑" panose="02010600040101010101" pitchFamily="2" charset="-122"/>
              <a:ea typeface="华文细黑" panose="02010600040101010101" pitchFamily="2" charset="-122"/>
            </a:endParaRPr>
          </a:p>
        </p:txBody>
      </p:sp>
      <p:sp>
        <p:nvSpPr>
          <p:cNvPr id="26" name="文本框 25"/>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正交</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-POD</a:t>
            </a:r>
            <a:endParaRPr lang="zh-CN" altLang="en-US" sz="3200" b="1" dirty="0">
              <a:latin typeface="华文细黑" panose="02010600040101010101" pitchFamily="2" charset="-122"/>
              <a:ea typeface="华文细黑" panose="02010600040101010101" pitchFamily="2" charset="-122"/>
            </a:endParaRPr>
          </a:p>
        </p:txBody>
      </p:sp>
      <p:sp>
        <p:nvSpPr>
          <p:cNvPr id="3" name="灯片编号占位符 2"/>
          <p:cNvSpPr>
            <a:spLocks noGrp="1"/>
          </p:cNvSpPr>
          <p:nvPr>
            <p:ph type="sldNum" sz="quarter" idx="12"/>
          </p:nvPr>
        </p:nvSpPr>
        <p:spPr/>
        <p:txBody>
          <a:bodyPr/>
          <a:lstStyle/>
          <a:p>
            <a:fld id="{16D8DD02-547D-47A5-AAEA-525C7BEEAE57}" type="slidenum">
              <a:rPr lang="zh-CN" altLang="en-US" smtClean="0"/>
              <a:t>53</a:t>
            </a:fld>
            <a:endParaRPr lang="zh-CN" altLang="en-US"/>
          </a:p>
        </p:txBody>
      </p:sp>
    </p:spTree>
    <p:extLst>
      <p:ext uri="{BB962C8B-B14F-4D97-AF65-F5344CB8AC3E}">
        <p14:creationId xmlns:p14="http://schemas.microsoft.com/office/powerpoint/2010/main" val="26322836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598947" y="2054702"/>
            <a:ext cx="10031579" cy="3970318"/>
          </a:xfrm>
          <a:prstGeom prst="rect">
            <a:avLst/>
          </a:prstGeom>
          <a:noFill/>
        </p:spPr>
        <p:txBody>
          <a:bodyPr wrap="square">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a:lnSpc>
                <a:spcPct val="150000"/>
              </a:lnSpc>
              <a:buFont typeface="Wingdings" panose="05000000000000000000" pitchFamily="2" charset="2"/>
              <a:buChar char="ü"/>
              <a:defRPr/>
            </a:pPr>
            <a:r>
              <a:rPr lang="zh-CN" altLang="en-US" sz="2400" b="1" kern="0" dirty="0" smtClean="0">
                <a:solidFill>
                  <a:srgbClr val="000000"/>
                </a:solidFill>
              </a:rPr>
              <a:t>正定矩阵（</a:t>
            </a:r>
            <a:r>
              <a:rPr lang="zh-CN" altLang="en-US" sz="2400" kern="0" dirty="0" smtClean="0">
                <a:solidFill>
                  <a:srgbClr val="000000"/>
                </a:solidFill>
              </a:rPr>
              <a:t>简单理解为行列式恒为正</a:t>
            </a:r>
            <a:r>
              <a:rPr lang="zh-CN" altLang="en-US" sz="2400" b="1" kern="0" dirty="0" smtClean="0">
                <a:solidFill>
                  <a:srgbClr val="000000"/>
                </a:solidFill>
              </a:rPr>
              <a:t>），</a:t>
            </a:r>
            <a:r>
              <a:rPr lang="zh-CN" altLang="en-US" sz="2400" b="1" kern="0" dirty="0">
                <a:solidFill>
                  <a:srgbClr val="000000"/>
                </a:solidFill>
              </a:rPr>
              <a:t>确保能量非负性</a:t>
            </a:r>
            <a:endParaRPr lang="en-US" altLang="zh-CN" sz="2400" b="1" kern="0" dirty="0">
              <a:solidFill>
                <a:srgbClr val="000000"/>
              </a:solidFill>
            </a:endParaRPr>
          </a:p>
          <a:p>
            <a:pPr>
              <a:lnSpc>
                <a:spcPct val="150000"/>
              </a:lnSpc>
              <a:buFont typeface="Wingdings" panose="05000000000000000000" pitchFamily="2" charset="2"/>
              <a:buChar char="ü"/>
              <a:defRPr/>
            </a:pPr>
            <a:r>
              <a:rPr lang="zh-CN" altLang="en-US" sz="2400" b="1" kern="0" dirty="0">
                <a:solidFill>
                  <a:srgbClr val="000000"/>
                </a:solidFill>
              </a:rPr>
              <a:t>各阶模态具有空间</a:t>
            </a:r>
            <a:r>
              <a:rPr lang="zh-CN" altLang="en-US" sz="2400" b="1" kern="0" dirty="0" smtClean="0">
                <a:solidFill>
                  <a:srgbClr val="000000"/>
                </a:solidFill>
              </a:rPr>
              <a:t>正交性（</a:t>
            </a:r>
            <a:r>
              <a:rPr lang="zh-CN" altLang="en-US" sz="2400" kern="0" dirty="0" smtClean="0">
                <a:solidFill>
                  <a:srgbClr val="000000"/>
                </a:solidFill>
              </a:rPr>
              <a:t>可以针对实际物理问题，让模态具有物理意义，但选取有任意性，即不是很严密</a:t>
            </a:r>
            <a:r>
              <a:rPr lang="zh-CN" altLang="en-US" sz="2400" b="1" kern="0" dirty="0" smtClean="0">
                <a:solidFill>
                  <a:srgbClr val="000000"/>
                </a:solidFill>
              </a:rPr>
              <a:t>）</a:t>
            </a:r>
            <a:endParaRPr lang="en-US" altLang="zh-CN" sz="2400" b="1" kern="0" dirty="0" smtClean="0">
              <a:solidFill>
                <a:srgbClr val="000000"/>
              </a:solidFill>
            </a:endParaRPr>
          </a:p>
          <a:p>
            <a:pPr>
              <a:lnSpc>
                <a:spcPct val="150000"/>
              </a:lnSpc>
              <a:buFont typeface="Wingdings" panose="05000000000000000000" pitchFamily="2" charset="2"/>
              <a:buChar char="ü"/>
              <a:defRPr/>
            </a:pPr>
            <a:r>
              <a:rPr lang="zh-CN" altLang="en-US" sz="2400" b="1" kern="0" dirty="0" smtClean="0">
                <a:solidFill>
                  <a:srgbClr val="000000"/>
                </a:solidFill>
              </a:rPr>
              <a:t>使用简单，不需要用很高频率采样（</a:t>
            </a:r>
            <a:r>
              <a:rPr lang="zh-CN" altLang="en-US" sz="2400" kern="0" dirty="0" smtClean="0">
                <a:solidFill>
                  <a:srgbClr val="000000"/>
                </a:solidFill>
              </a:rPr>
              <a:t>可以用低频采样的</a:t>
            </a:r>
            <a:r>
              <a:rPr lang="en-US" altLang="zh-CN" sz="2400" kern="0" dirty="0" smtClean="0">
                <a:solidFill>
                  <a:srgbClr val="000000"/>
                </a:solidFill>
              </a:rPr>
              <a:t>PIV</a:t>
            </a:r>
            <a:r>
              <a:rPr lang="zh-CN" altLang="en-US" sz="2400" kern="0" dirty="0" smtClean="0">
                <a:solidFill>
                  <a:srgbClr val="000000"/>
                </a:solidFill>
              </a:rPr>
              <a:t>获得数据</a:t>
            </a:r>
            <a:r>
              <a:rPr lang="zh-CN" altLang="en-US" sz="2400" b="1" kern="0" dirty="0" smtClean="0">
                <a:solidFill>
                  <a:srgbClr val="000000"/>
                </a:solidFill>
              </a:rPr>
              <a:t>）</a:t>
            </a:r>
            <a:endParaRPr lang="en-US" altLang="zh-CN" sz="2400" b="1" kern="0" dirty="0" smtClean="0">
              <a:solidFill>
                <a:srgbClr val="000000"/>
              </a:solidFill>
            </a:endParaRPr>
          </a:p>
          <a:p>
            <a:pPr marL="0" indent="0">
              <a:lnSpc>
                <a:spcPct val="150000"/>
              </a:lnSpc>
              <a:buNone/>
              <a:defRPr/>
            </a:pPr>
            <a:r>
              <a:rPr lang="zh-CN" altLang="en-US" sz="2400" b="1" kern="0" dirty="0" smtClean="0">
                <a:solidFill>
                  <a:srgbClr val="000000"/>
                </a:solidFill>
              </a:rPr>
              <a:t>缺点：</a:t>
            </a:r>
            <a:endParaRPr lang="en-US" altLang="zh-CN" sz="2400" b="1" kern="0" dirty="0">
              <a:solidFill>
                <a:srgbClr val="000000"/>
              </a:solidFill>
            </a:endParaRPr>
          </a:p>
          <a:p>
            <a:pPr>
              <a:lnSpc>
                <a:spcPct val="150000"/>
              </a:lnSpc>
              <a:buFont typeface="Wingdings" panose="05000000000000000000" pitchFamily="2" charset="2"/>
              <a:buChar char="§"/>
              <a:defRPr/>
            </a:pPr>
            <a:r>
              <a:rPr lang="zh-CN" altLang="en-US" sz="2400" b="1" kern="0" dirty="0">
                <a:solidFill>
                  <a:srgbClr val="C00000"/>
                </a:solidFill>
              </a:rPr>
              <a:t>能量</a:t>
            </a:r>
            <a:r>
              <a:rPr lang="zh-CN" altLang="en-US" sz="2400" b="1" kern="0" dirty="0" smtClean="0">
                <a:solidFill>
                  <a:srgbClr val="C00000"/>
                </a:solidFill>
              </a:rPr>
              <a:t>模态通常为</a:t>
            </a:r>
            <a:r>
              <a:rPr lang="zh-CN" altLang="en-US" sz="2400" b="1" kern="0" dirty="0">
                <a:solidFill>
                  <a:srgbClr val="C00000"/>
                </a:solidFill>
              </a:rPr>
              <a:t>多频、多尺度单模态</a:t>
            </a:r>
            <a:r>
              <a:rPr lang="zh-CN" altLang="en-US" sz="2400" b="1" kern="0" dirty="0" smtClean="0">
                <a:solidFill>
                  <a:srgbClr val="C00000"/>
                </a:solidFill>
              </a:rPr>
              <a:t>混叠，不利于确定模态的物理意义</a:t>
            </a:r>
            <a:endParaRPr lang="en-US" altLang="zh-CN" sz="2400" b="1" kern="0" dirty="0">
              <a:solidFill>
                <a:srgbClr val="C00000"/>
              </a:solidFill>
            </a:endParaRPr>
          </a:p>
          <a:p>
            <a:pPr>
              <a:lnSpc>
                <a:spcPct val="150000"/>
              </a:lnSpc>
              <a:buFont typeface="Wingdings" panose="05000000000000000000" pitchFamily="2" charset="2"/>
              <a:buChar char="§"/>
              <a:defRPr/>
            </a:pPr>
            <a:r>
              <a:rPr lang="zh-CN" altLang="en-US" sz="2400" b="1" kern="0" dirty="0">
                <a:solidFill>
                  <a:srgbClr val="C00000"/>
                </a:solidFill>
              </a:rPr>
              <a:t>无法得到</a:t>
            </a:r>
            <a:r>
              <a:rPr lang="zh-CN" altLang="en-US" sz="2400" b="1" kern="0" dirty="0" smtClean="0">
                <a:solidFill>
                  <a:srgbClr val="C00000"/>
                </a:solidFill>
              </a:rPr>
              <a:t>模态本身的</a:t>
            </a:r>
            <a:r>
              <a:rPr lang="zh-CN" altLang="en-US" sz="2400" b="1" kern="0" dirty="0">
                <a:solidFill>
                  <a:srgbClr val="C00000"/>
                </a:solidFill>
              </a:rPr>
              <a:t>动力学性质</a:t>
            </a:r>
            <a:r>
              <a:rPr lang="en-US" altLang="zh-CN" sz="2400" b="1" kern="0" dirty="0">
                <a:solidFill>
                  <a:srgbClr val="C00000"/>
                </a:solidFill>
              </a:rPr>
              <a:t>(</a:t>
            </a:r>
            <a:r>
              <a:rPr lang="zh-CN" altLang="en-US" sz="2400" b="1" kern="0" dirty="0">
                <a:solidFill>
                  <a:srgbClr val="C00000"/>
                </a:solidFill>
              </a:rPr>
              <a:t>增长衰减</a:t>
            </a:r>
            <a:r>
              <a:rPr lang="en-US" altLang="zh-CN" sz="2400" b="1" kern="0" dirty="0">
                <a:solidFill>
                  <a:srgbClr val="C00000"/>
                </a:solidFill>
              </a:rPr>
              <a:t>, </a:t>
            </a:r>
            <a:r>
              <a:rPr lang="zh-CN" altLang="en-US" sz="2400" b="1" kern="0" dirty="0">
                <a:solidFill>
                  <a:srgbClr val="C00000"/>
                </a:solidFill>
              </a:rPr>
              <a:t>频率等</a:t>
            </a:r>
            <a:r>
              <a:rPr lang="en-US" altLang="zh-CN" sz="2400" b="1" kern="0" dirty="0">
                <a:solidFill>
                  <a:srgbClr val="C00000"/>
                </a:solidFill>
              </a:rPr>
              <a:t>)</a:t>
            </a:r>
          </a:p>
        </p:txBody>
      </p:sp>
      <p:sp>
        <p:nvSpPr>
          <p:cNvPr id="5" name="矩形 4"/>
          <p:cNvSpPr>
            <a:spLocks noChangeArrowheads="1"/>
          </p:cNvSpPr>
          <p:nvPr/>
        </p:nvSpPr>
        <p:spPr bwMode="auto">
          <a:xfrm>
            <a:off x="672916" y="1434390"/>
            <a:ext cx="2108269"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POD</a:t>
            </a:r>
            <a:r>
              <a:rPr lang="zh-CN" altLang="en-US" sz="2000" dirty="0" smtClean="0">
                <a:latin typeface="华文细黑" panose="02010600040101010101" pitchFamily="2" charset="-122"/>
                <a:ea typeface="华文细黑" panose="02010600040101010101" pitchFamily="2" charset="-122"/>
              </a:rPr>
              <a:t>方法</a:t>
            </a:r>
            <a:r>
              <a:rPr lang="zh-CN" altLang="en-US" sz="2000" dirty="0">
                <a:latin typeface="华文细黑" panose="02010600040101010101" pitchFamily="2" charset="-122"/>
                <a:ea typeface="华文细黑" panose="02010600040101010101" pitchFamily="2" charset="-122"/>
              </a:rPr>
              <a:t>特点</a:t>
            </a:r>
            <a:endParaRPr lang="en-US" altLang="zh-CN" sz="2000" dirty="0">
              <a:latin typeface="华文细黑" panose="02010600040101010101" pitchFamily="2" charset="-122"/>
              <a:ea typeface="华文细黑" panose="02010600040101010101" pitchFamily="2" charset="-122"/>
            </a:endParaRPr>
          </a:p>
        </p:txBody>
      </p:sp>
      <p:sp>
        <p:nvSpPr>
          <p:cNvPr id="8" name="文本框 7"/>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正交</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-POD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54</a:t>
            </a:fld>
            <a:endParaRPr lang="zh-CN" altLang="en-US"/>
          </a:p>
        </p:txBody>
      </p:sp>
    </p:spTree>
    <p:extLst>
      <p:ext uri="{BB962C8B-B14F-4D97-AF65-F5344CB8AC3E}">
        <p14:creationId xmlns:p14="http://schemas.microsoft.com/office/powerpoint/2010/main" val="24311287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矩形 4"/>
          <p:cNvSpPr>
            <a:spLocks noChangeArrowheads="1"/>
          </p:cNvSpPr>
          <p:nvPr/>
        </p:nvSpPr>
        <p:spPr bwMode="auto">
          <a:xfrm>
            <a:off x="672916" y="1431189"/>
            <a:ext cx="1314784"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目的</a:t>
            </a:r>
            <a:endParaRPr lang="en-US" altLang="zh-CN" sz="2000" dirty="0">
              <a:latin typeface="华文细黑" panose="02010600040101010101" pitchFamily="2" charset="-122"/>
              <a:ea typeface="华文细黑" panose="02010600040101010101" pitchFamily="2" charset="-122"/>
            </a:endParaRPr>
          </a:p>
        </p:txBody>
      </p:sp>
      <p:sp>
        <p:nvSpPr>
          <p:cNvPr id="108548" name="文本框 5"/>
          <p:cNvSpPr txBox="1">
            <a:spLocks noChangeArrowheads="1"/>
          </p:cNvSpPr>
          <p:nvPr/>
        </p:nvSpPr>
        <p:spPr bwMode="auto">
          <a:xfrm>
            <a:off x="672916" y="1858184"/>
            <a:ext cx="6862763"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dirty="0">
                <a:solidFill>
                  <a:srgbClr val="000000"/>
                </a:solidFill>
                <a:latin typeface="Times New Roman" panose="02020603050405020304" pitchFamily="18" charset="0"/>
                <a:ea typeface="微软雅黑" panose="020B0503020204020204" pitchFamily="34" charset="-122"/>
              </a:rPr>
              <a:t>获取特征模态的时间演化信息，克服</a:t>
            </a:r>
            <a:r>
              <a:rPr lang="en-US" altLang="zh-CN" dirty="0">
                <a:solidFill>
                  <a:srgbClr val="000000"/>
                </a:solidFill>
                <a:latin typeface="Times New Roman" panose="02020603050405020304" pitchFamily="18" charset="0"/>
                <a:ea typeface="微软雅黑" panose="020B0503020204020204" pitchFamily="34" charset="-122"/>
              </a:rPr>
              <a:t>POD</a:t>
            </a:r>
            <a:r>
              <a:rPr lang="zh-CN" altLang="en-US" dirty="0">
                <a:solidFill>
                  <a:srgbClr val="000000"/>
                </a:solidFill>
                <a:latin typeface="Times New Roman" panose="02020603050405020304" pitchFamily="18" charset="0"/>
                <a:ea typeface="微软雅黑" panose="020B0503020204020204" pitchFamily="34" charset="-122"/>
              </a:rPr>
              <a:t>方法模态混叠现象</a:t>
            </a:r>
          </a:p>
        </p:txBody>
      </p:sp>
      <p:sp>
        <p:nvSpPr>
          <p:cNvPr id="108549" name="矩形 6"/>
          <p:cNvSpPr>
            <a:spLocks noChangeArrowheads="1"/>
          </p:cNvSpPr>
          <p:nvPr/>
        </p:nvSpPr>
        <p:spPr bwMode="auto">
          <a:xfrm>
            <a:off x="729063" y="2681929"/>
            <a:ext cx="1827744"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数学原理</a:t>
            </a:r>
            <a:endParaRPr lang="en-US" altLang="zh-CN" sz="2000" dirty="0">
              <a:latin typeface="华文细黑" panose="02010600040101010101" pitchFamily="2" charset="-122"/>
              <a:ea typeface="华文细黑" panose="02010600040101010101" pitchFamily="2" charset="-122"/>
            </a:endParaRPr>
          </a:p>
        </p:txBody>
      </p:sp>
      <p:sp>
        <p:nvSpPr>
          <p:cNvPr id="108550" name="文本框 7"/>
          <p:cNvSpPr txBox="1">
            <a:spLocks noChangeArrowheads="1"/>
          </p:cNvSpPr>
          <p:nvPr/>
        </p:nvSpPr>
        <p:spPr bwMode="auto">
          <a:xfrm>
            <a:off x="678472" y="3082039"/>
            <a:ext cx="34258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en-US" altLang="zh-CN" dirty="0" err="1">
                <a:solidFill>
                  <a:srgbClr val="000000"/>
                </a:solidFill>
                <a:latin typeface="Times New Roman" panose="02020603050405020304" pitchFamily="18" charset="0"/>
                <a:ea typeface="微软雅黑" panose="020B0503020204020204" pitchFamily="34" charset="-122"/>
              </a:rPr>
              <a:t>Koopman</a:t>
            </a:r>
            <a:r>
              <a:rPr lang="zh-CN" altLang="en-US" dirty="0">
                <a:solidFill>
                  <a:srgbClr val="000000"/>
                </a:solidFill>
                <a:latin typeface="Times New Roman" panose="02020603050405020304" pitchFamily="18" charset="0"/>
                <a:ea typeface="微软雅黑" panose="020B0503020204020204" pitchFamily="34" charset="-122"/>
              </a:rPr>
              <a:t>变换：</a:t>
            </a:r>
            <a:r>
              <a:rPr lang="zh-CN" altLang="en-US" b="1" dirty="0">
                <a:solidFill>
                  <a:srgbClr val="000000"/>
                </a:solidFill>
                <a:latin typeface="Times New Roman" panose="02020603050405020304" pitchFamily="18" charset="0"/>
                <a:ea typeface="微软雅黑" panose="020B0503020204020204" pitchFamily="34" charset="-122"/>
              </a:rPr>
              <a:t>线性算子</a:t>
            </a:r>
            <a:r>
              <a:rPr lang="en-US" altLang="zh-CN" b="1" i="1" dirty="0">
                <a:solidFill>
                  <a:srgbClr val="000000"/>
                </a:solidFill>
                <a:latin typeface="Times New Roman" panose="02020603050405020304" pitchFamily="18" charset="0"/>
                <a:ea typeface="微软雅黑" panose="020B0503020204020204" pitchFamily="34" charset="-122"/>
              </a:rPr>
              <a:t>K</a:t>
            </a:r>
            <a:endParaRPr lang="zh-CN" altLang="en-US" b="1" dirty="0">
              <a:solidFill>
                <a:srgbClr val="000000"/>
              </a:solidFill>
              <a:latin typeface="Times New Roman" panose="02020603050405020304" pitchFamily="18" charset="0"/>
              <a:ea typeface="微软雅黑" panose="020B0503020204020204" pitchFamily="34" charset="-122"/>
            </a:endParaRPr>
          </a:p>
        </p:txBody>
      </p:sp>
      <p:graphicFrame>
        <p:nvGraphicFramePr>
          <p:cNvPr id="108551" name="对象 8"/>
          <p:cNvGraphicFramePr>
            <a:graphicFrameLocks noChangeAspect="1"/>
          </p:cNvGraphicFramePr>
          <p:nvPr>
            <p:extLst/>
          </p:nvPr>
        </p:nvGraphicFramePr>
        <p:xfrm>
          <a:off x="1105478" y="3742124"/>
          <a:ext cx="1336675" cy="407988"/>
        </p:xfrm>
        <a:graphic>
          <a:graphicData uri="http://schemas.openxmlformats.org/presentationml/2006/ole">
            <mc:AlternateContent xmlns:mc="http://schemas.openxmlformats.org/markup-compatibility/2006">
              <mc:Choice xmlns:v="urn:schemas-microsoft-com:vml" Requires="v">
                <p:oleObj spid="_x0000_s24606" name="Equation" r:id="rId3" imgW="787320" imgH="241200" progId="Equation.DSMT4">
                  <p:embed/>
                </p:oleObj>
              </mc:Choice>
              <mc:Fallback>
                <p:oleObj name="Equation" r:id="rId3" imgW="787320" imgH="241200" progId="Equation.DSMT4">
                  <p:embed/>
                  <p:pic>
                    <p:nvPicPr>
                      <p:cNvPr id="108551"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478" y="3742124"/>
                        <a:ext cx="1336675"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2" name="文本框 9"/>
          <p:cNvSpPr txBox="1">
            <a:spLocks noChangeArrowheads="1"/>
          </p:cNvSpPr>
          <p:nvPr/>
        </p:nvSpPr>
        <p:spPr bwMode="auto">
          <a:xfrm>
            <a:off x="2653291" y="3754824"/>
            <a:ext cx="377507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函数 </a:t>
            </a:r>
            <a:r>
              <a:rPr lang="en-US" altLang="zh-CN" sz="1400" i="1">
                <a:solidFill>
                  <a:srgbClr val="000000"/>
                </a:solidFill>
                <a:latin typeface="Times New Roman" panose="02020603050405020304" pitchFamily="18" charset="0"/>
                <a:ea typeface="微软雅黑" panose="020B0503020204020204" pitchFamily="34" charset="-122"/>
              </a:rPr>
              <a:t>f </a:t>
            </a:r>
            <a:r>
              <a:rPr lang="zh-CN" altLang="en-US" sz="1400">
                <a:solidFill>
                  <a:srgbClr val="000000"/>
                </a:solidFill>
                <a:latin typeface="Times New Roman" panose="02020603050405020304" pitchFamily="18" charset="0"/>
                <a:ea typeface="微软雅黑" panose="020B0503020204020204" pitchFamily="34" charset="-122"/>
              </a:rPr>
              <a:t>将向量从一个时间步映射到下一时间步</a:t>
            </a:r>
          </a:p>
        </p:txBody>
      </p:sp>
      <p:graphicFrame>
        <p:nvGraphicFramePr>
          <p:cNvPr id="108553" name="对象 10"/>
          <p:cNvGraphicFramePr>
            <a:graphicFrameLocks noChangeAspect="1"/>
          </p:cNvGraphicFramePr>
          <p:nvPr>
            <p:extLst/>
          </p:nvPr>
        </p:nvGraphicFramePr>
        <p:xfrm>
          <a:off x="1202315" y="4361250"/>
          <a:ext cx="1638300" cy="366713"/>
        </p:xfrm>
        <a:graphic>
          <a:graphicData uri="http://schemas.openxmlformats.org/presentationml/2006/ole">
            <mc:AlternateContent xmlns:mc="http://schemas.openxmlformats.org/markup-compatibility/2006">
              <mc:Choice xmlns:v="urn:schemas-microsoft-com:vml" Requires="v">
                <p:oleObj spid="_x0000_s24607" name="Equation" r:id="rId5" imgW="1079280" imgH="241200" progId="Equation.DSMT4">
                  <p:embed/>
                </p:oleObj>
              </mc:Choice>
              <mc:Fallback>
                <p:oleObj name="Equation" r:id="rId5" imgW="1079280" imgH="241200" progId="Equation.DSMT4">
                  <p:embed/>
                  <p:pic>
                    <p:nvPicPr>
                      <p:cNvPr id="108553"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2315" y="4361250"/>
                        <a:ext cx="1638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4" name="文本框 11"/>
          <p:cNvSpPr txBox="1">
            <a:spLocks noChangeArrowheads="1"/>
          </p:cNvSpPr>
          <p:nvPr/>
        </p:nvSpPr>
        <p:spPr bwMode="auto">
          <a:xfrm>
            <a:off x="2967615" y="4418399"/>
            <a:ext cx="2557462"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函数 </a:t>
            </a:r>
            <a:r>
              <a:rPr lang="en-US" altLang="zh-CN" sz="1400" i="1">
                <a:solidFill>
                  <a:srgbClr val="000000"/>
                </a:solidFill>
                <a:latin typeface="Times New Roman" panose="02020603050405020304" pitchFamily="18" charset="0"/>
                <a:ea typeface="微软雅黑" panose="020B0503020204020204" pitchFamily="34" charset="-122"/>
              </a:rPr>
              <a:t>g </a:t>
            </a:r>
            <a:r>
              <a:rPr lang="zh-CN" altLang="en-US" sz="1400">
                <a:solidFill>
                  <a:srgbClr val="000000"/>
                </a:solidFill>
                <a:latin typeface="Times New Roman" panose="02020603050405020304" pitchFamily="18" charset="0"/>
                <a:ea typeface="微软雅黑" panose="020B0503020204020204" pitchFamily="34" charset="-122"/>
              </a:rPr>
              <a:t>为关于向量的标量函数</a:t>
            </a:r>
          </a:p>
        </p:txBody>
      </p:sp>
      <p:sp>
        <p:nvSpPr>
          <p:cNvPr id="108555" name="文本框 12"/>
          <p:cNvSpPr txBox="1">
            <a:spLocks noChangeArrowheads="1"/>
          </p:cNvSpPr>
          <p:nvPr/>
        </p:nvSpPr>
        <p:spPr bwMode="auto">
          <a:xfrm>
            <a:off x="1472190" y="4750188"/>
            <a:ext cx="889000" cy="35086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i="1">
                <a:solidFill>
                  <a:srgbClr val="000000"/>
                </a:solidFill>
                <a:latin typeface="Times New Roman" panose="02020603050405020304" pitchFamily="18" charset="0"/>
                <a:ea typeface="微软雅黑" panose="020B0503020204020204" pitchFamily="34" charset="-122"/>
              </a:rPr>
              <a:t>K</a:t>
            </a:r>
            <a:r>
              <a:rPr lang="zh-CN" altLang="en-US" sz="1400" b="1">
                <a:solidFill>
                  <a:srgbClr val="000000"/>
                </a:solidFill>
                <a:latin typeface="Times New Roman" panose="02020603050405020304" pitchFamily="18" charset="0"/>
                <a:ea typeface="微软雅黑" panose="020B0503020204020204" pitchFamily="34" charset="-122"/>
              </a:rPr>
              <a:t>的作用</a:t>
            </a:r>
            <a:endParaRPr lang="zh-CN" altLang="en-US" sz="1400" b="1" i="1">
              <a:solidFill>
                <a:srgbClr val="000000"/>
              </a:solidFill>
              <a:latin typeface="Times New Roman" panose="02020603050405020304" pitchFamily="18" charset="0"/>
              <a:ea typeface="微软雅黑" panose="020B0503020204020204" pitchFamily="34" charset="-122"/>
            </a:endParaRPr>
          </a:p>
        </p:txBody>
      </p:sp>
      <p:graphicFrame>
        <p:nvGraphicFramePr>
          <p:cNvPr id="108556" name="对象 13"/>
          <p:cNvGraphicFramePr>
            <a:graphicFrameLocks noChangeAspect="1"/>
          </p:cNvGraphicFramePr>
          <p:nvPr>
            <p:extLst/>
          </p:nvPr>
        </p:nvGraphicFramePr>
        <p:xfrm>
          <a:off x="1099128" y="5281999"/>
          <a:ext cx="2252663" cy="336550"/>
        </p:xfrm>
        <a:graphic>
          <a:graphicData uri="http://schemas.openxmlformats.org/presentationml/2006/ole">
            <mc:AlternateContent xmlns:mc="http://schemas.openxmlformats.org/markup-compatibility/2006">
              <mc:Choice xmlns:v="urn:schemas-microsoft-com:vml" Requires="v">
                <p:oleObj spid="_x0000_s24608" name="Equation" r:id="rId7" imgW="1765080" imgH="266400" progId="Equation.DSMT4">
                  <p:embed/>
                </p:oleObj>
              </mc:Choice>
              <mc:Fallback>
                <p:oleObj name="Equation" r:id="rId7" imgW="1765080" imgH="266400" progId="Equation.DSMT4">
                  <p:embed/>
                  <p:pic>
                    <p:nvPicPr>
                      <p:cNvPr id="108556"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128" y="5281999"/>
                        <a:ext cx="22526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8557" name="组合 14"/>
          <p:cNvGrpSpPr>
            <a:grpSpLocks/>
          </p:cNvGrpSpPr>
          <p:nvPr/>
        </p:nvGrpSpPr>
        <p:grpSpPr bwMode="auto">
          <a:xfrm>
            <a:off x="3524828" y="5275649"/>
            <a:ext cx="2644775" cy="350838"/>
            <a:chOff x="2686189" y="4906920"/>
            <a:chExt cx="2644905" cy="350865"/>
          </a:xfrm>
        </p:grpSpPr>
        <p:sp>
          <p:nvSpPr>
            <p:cNvPr id="16" name="文本框 15"/>
            <p:cNvSpPr txBox="1"/>
            <p:nvPr/>
          </p:nvSpPr>
          <p:spPr>
            <a:xfrm>
              <a:off x="2686189" y="4906920"/>
              <a:ext cx="2644905" cy="350865"/>
            </a:xfrm>
            <a:prstGeom prst="rect">
              <a:avLst/>
            </a:prstGeom>
            <a:noFill/>
          </p:spPr>
          <p:txBody>
            <a:bodyPr>
              <a:spAutoFit/>
            </a:bodyPr>
            <a:lstStyle/>
            <a:p>
              <a:pPr>
                <a:lnSpc>
                  <a:spcPct val="120000"/>
                </a:lnSpc>
                <a:defRPr/>
              </a:pPr>
              <a:r>
                <a:rPr lang="zh-CN" altLang="en-US" sz="1400" kern="0" dirty="0">
                  <a:solidFill>
                    <a:srgbClr val="000000"/>
                  </a:solidFill>
                  <a:latin typeface="Times New Roman" panose="02020603050405020304" pitchFamily="18" charset="0"/>
                  <a:ea typeface="微软雅黑" panose="020B0503020204020204" pitchFamily="34" charset="-122"/>
                </a:rPr>
                <a:t>函数            为算子</a:t>
              </a:r>
              <a:r>
                <a:rPr lang="en-US" altLang="zh-CN" sz="1400" i="1" kern="0" dirty="0">
                  <a:solidFill>
                    <a:srgbClr val="000000"/>
                  </a:solidFill>
                  <a:latin typeface="Times New Roman" panose="02020603050405020304" pitchFamily="18" charset="0"/>
                  <a:ea typeface="微软雅黑" panose="020B0503020204020204" pitchFamily="34" charset="-122"/>
                </a:rPr>
                <a:t>K</a:t>
              </a:r>
              <a:r>
                <a:rPr lang="zh-CN" altLang="en-US" sz="1400" kern="0" dirty="0">
                  <a:solidFill>
                    <a:srgbClr val="000000"/>
                  </a:solidFill>
                  <a:latin typeface="Times New Roman" panose="02020603050405020304" pitchFamily="18" charset="0"/>
                  <a:ea typeface="微软雅黑" panose="020B0503020204020204" pitchFamily="34" charset="-122"/>
                </a:rPr>
                <a:t>的特征函数</a:t>
              </a:r>
            </a:p>
          </p:txBody>
        </p:sp>
        <p:graphicFrame>
          <p:nvGraphicFramePr>
            <p:cNvPr id="108567" name="对象 16"/>
            <p:cNvGraphicFramePr>
              <a:graphicFrameLocks noChangeAspect="1"/>
            </p:cNvGraphicFramePr>
            <p:nvPr/>
          </p:nvGraphicFramePr>
          <p:xfrm>
            <a:off x="3178400" y="4906920"/>
            <a:ext cx="485775" cy="336550"/>
          </p:xfrm>
          <a:graphic>
            <a:graphicData uri="http://schemas.openxmlformats.org/presentationml/2006/ole">
              <mc:AlternateContent xmlns:mc="http://schemas.openxmlformats.org/markup-compatibility/2006">
                <mc:Choice xmlns:v="urn:schemas-microsoft-com:vml" Requires="v">
                  <p:oleObj spid="_x0000_s24609" name="Equation" r:id="rId9" imgW="380880" imgH="266400" progId="Equation.DSMT4">
                    <p:embed/>
                  </p:oleObj>
                </mc:Choice>
                <mc:Fallback>
                  <p:oleObj name="Equation" r:id="rId9" imgW="380880" imgH="266400" progId="Equation.DSMT4">
                    <p:embed/>
                    <p:pic>
                      <p:nvPicPr>
                        <p:cNvPr id="108567" name="对象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78400" y="4906920"/>
                          <a:ext cx="485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 name="右箭头 17"/>
          <p:cNvSpPr/>
          <p:nvPr/>
        </p:nvSpPr>
        <p:spPr bwMode="auto">
          <a:xfrm>
            <a:off x="6911975" y="4499163"/>
            <a:ext cx="592137" cy="350838"/>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08559" name="对象 18"/>
          <p:cNvGraphicFramePr>
            <a:graphicFrameLocks noChangeAspect="1"/>
          </p:cNvGraphicFramePr>
          <p:nvPr>
            <p:extLst/>
          </p:nvPr>
        </p:nvGraphicFramePr>
        <p:xfrm>
          <a:off x="7627936" y="4270563"/>
          <a:ext cx="2230438" cy="808038"/>
        </p:xfrm>
        <a:graphic>
          <a:graphicData uri="http://schemas.openxmlformats.org/presentationml/2006/ole">
            <mc:AlternateContent xmlns:mc="http://schemas.openxmlformats.org/markup-compatibility/2006">
              <mc:Choice xmlns:v="urn:schemas-microsoft-com:vml" Requires="v">
                <p:oleObj spid="_x0000_s24610" name="Equation" r:id="rId11" imgW="1231560" imgH="444240" progId="Equation.DSMT4">
                  <p:embed/>
                </p:oleObj>
              </mc:Choice>
              <mc:Fallback>
                <p:oleObj name="Equation" r:id="rId11" imgW="1231560" imgH="444240" progId="Equation.DSMT4">
                  <p:embed/>
                  <p:pic>
                    <p:nvPicPr>
                      <p:cNvPr id="108559" name="对象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7936" y="4270563"/>
                        <a:ext cx="2230438"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60" name="文本框 19"/>
          <p:cNvSpPr txBox="1">
            <a:spLocks noChangeArrowheads="1"/>
          </p:cNvSpPr>
          <p:nvPr/>
        </p:nvSpPr>
        <p:spPr bwMode="auto">
          <a:xfrm>
            <a:off x="7662862" y="5057963"/>
            <a:ext cx="2157413"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标量函数拓展为矢量函数</a:t>
            </a:r>
          </a:p>
        </p:txBody>
      </p:sp>
      <p:graphicFrame>
        <p:nvGraphicFramePr>
          <p:cNvPr id="108561" name="对象 20"/>
          <p:cNvGraphicFramePr>
            <a:graphicFrameLocks noChangeAspect="1"/>
          </p:cNvGraphicFramePr>
          <p:nvPr>
            <p:extLst/>
          </p:nvPr>
        </p:nvGraphicFramePr>
        <p:xfrm>
          <a:off x="7662861" y="5588188"/>
          <a:ext cx="298450" cy="438150"/>
        </p:xfrm>
        <a:graphic>
          <a:graphicData uri="http://schemas.openxmlformats.org/presentationml/2006/ole">
            <mc:AlternateContent xmlns:mc="http://schemas.openxmlformats.org/markup-compatibility/2006">
              <mc:Choice xmlns:v="urn:schemas-microsoft-com:vml" Requires="v">
                <p:oleObj spid="_x0000_s24611" name="Equation" r:id="rId13" imgW="164880" imgH="241200" progId="Equation.DSMT4">
                  <p:embed/>
                </p:oleObj>
              </mc:Choice>
              <mc:Fallback>
                <p:oleObj name="Equation" r:id="rId13" imgW="164880" imgH="241200" progId="Equation.DSMT4">
                  <p:embed/>
                  <p:pic>
                    <p:nvPicPr>
                      <p:cNvPr id="108561"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62861" y="5588188"/>
                        <a:ext cx="2984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62" name="文本框 21"/>
          <p:cNvSpPr txBox="1">
            <a:spLocks noChangeArrowheads="1"/>
          </p:cNvSpPr>
          <p:nvPr/>
        </p:nvSpPr>
        <p:spPr bwMode="auto">
          <a:xfrm>
            <a:off x="7948612" y="5588189"/>
            <a:ext cx="251142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针对函数形式</a:t>
            </a:r>
            <a:r>
              <a:rPr lang="en-US" altLang="zh-CN" sz="1400" i="1">
                <a:solidFill>
                  <a:srgbClr val="000000"/>
                </a:solidFill>
                <a:latin typeface="Times New Roman" panose="02020603050405020304" pitchFamily="18" charset="0"/>
                <a:ea typeface="微软雅黑" panose="020B0503020204020204" pitchFamily="34" charset="-122"/>
              </a:rPr>
              <a:t>g</a:t>
            </a:r>
            <a:r>
              <a:rPr lang="zh-CN" altLang="en-US" sz="1400">
                <a:solidFill>
                  <a:srgbClr val="000000"/>
                </a:solidFill>
                <a:latin typeface="Times New Roman" panose="02020603050405020304" pitchFamily="18" charset="0"/>
                <a:ea typeface="微软雅黑" panose="020B0503020204020204" pitchFamily="34" charset="-122"/>
              </a:rPr>
              <a:t>以及矢量</a:t>
            </a:r>
            <a:r>
              <a:rPr lang="en-US" altLang="zh-CN" sz="1400" i="1">
                <a:solidFill>
                  <a:srgbClr val="000000"/>
                </a:solidFill>
                <a:latin typeface="Times New Roman" panose="02020603050405020304" pitchFamily="18" charset="0"/>
                <a:ea typeface="微软雅黑" panose="020B0503020204020204" pitchFamily="34" charset="-122"/>
              </a:rPr>
              <a:t>u</a:t>
            </a:r>
            <a:r>
              <a:rPr lang="en-US" altLang="zh-CN" sz="1400" baseline="-25000">
                <a:solidFill>
                  <a:srgbClr val="000000"/>
                </a:solidFill>
                <a:latin typeface="Times New Roman" panose="02020603050405020304" pitchFamily="18" charset="0"/>
                <a:ea typeface="微软雅黑" panose="020B0503020204020204" pitchFamily="34" charset="-122"/>
              </a:rPr>
              <a:t>1</a:t>
            </a:r>
            <a:r>
              <a:rPr lang="zh-CN" altLang="en-US" sz="1400">
                <a:solidFill>
                  <a:srgbClr val="000000"/>
                </a:solidFill>
                <a:latin typeface="Times New Roman" panose="02020603050405020304" pitchFamily="18" charset="0"/>
                <a:ea typeface="微软雅黑" panose="020B0503020204020204" pitchFamily="34" charset="-122"/>
              </a:rPr>
              <a:t>的一族特征向量，称为</a:t>
            </a:r>
            <a:r>
              <a:rPr lang="en-US" altLang="zh-CN" sz="1400">
                <a:solidFill>
                  <a:srgbClr val="000000"/>
                </a:solidFill>
                <a:latin typeface="Times New Roman" panose="02020603050405020304" pitchFamily="18" charset="0"/>
                <a:ea typeface="微软雅黑" panose="020B0503020204020204" pitchFamily="34" charset="-122"/>
              </a:rPr>
              <a:t>Koopman</a:t>
            </a:r>
            <a:r>
              <a:rPr lang="zh-CN" altLang="en-US" sz="1400">
                <a:solidFill>
                  <a:srgbClr val="000000"/>
                </a:solidFill>
                <a:latin typeface="Times New Roman" panose="02020603050405020304" pitchFamily="18" charset="0"/>
                <a:ea typeface="微软雅黑" panose="020B0503020204020204" pitchFamily="34" charset="-122"/>
              </a:rPr>
              <a:t>模态</a:t>
            </a:r>
          </a:p>
        </p:txBody>
      </p:sp>
      <p:grpSp>
        <p:nvGrpSpPr>
          <p:cNvPr id="108563" name="组合 22"/>
          <p:cNvGrpSpPr>
            <a:grpSpLocks/>
          </p:cNvGrpSpPr>
          <p:nvPr/>
        </p:nvGrpSpPr>
        <p:grpSpPr bwMode="auto">
          <a:xfrm>
            <a:off x="3631190" y="5672524"/>
            <a:ext cx="1739900" cy="350838"/>
            <a:chOff x="2512369" y="5290077"/>
            <a:chExt cx="1739592" cy="350865"/>
          </a:xfrm>
        </p:grpSpPr>
        <p:sp>
          <p:nvSpPr>
            <p:cNvPr id="24" name="文本框 23"/>
            <p:cNvSpPr txBox="1"/>
            <p:nvPr/>
          </p:nvSpPr>
          <p:spPr>
            <a:xfrm>
              <a:off x="2686963" y="5290077"/>
              <a:ext cx="1564998" cy="350865"/>
            </a:xfrm>
            <a:prstGeom prst="rect">
              <a:avLst/>
            </a:prstGeom>
            <a:noFill/>
          </p:spPr>
          <p:txBody>
            <a:bodyPr>
              <a:spAutoFit/>
            </a:bodyPr>
            <a:lstStyle/>
            <a:p>
              <a:pPr>
                <a:lnSpc>
                  <a:spcPct val="120000"/>
                </a:lnSpc>
                <a:defRPr/>
              </a:pPr>
              <a:r>
                <a:rPr lang="zh-CN" altLang="en-US" sz="1400" kern="0" dirty="0">
                  <a:solidFill>
                    <a:srgbClr val="000000"/>
                  </a:solidFill>
                  <a:latin typeface="Times New Roman" panose="02020603050405020304" pitchFamily="18" charset="0"/>
                  <a:ea typeface="微软雅黑" panose="020B0503020204020204" pitchFamily="34" charset="-122"/>
                </a:rPr>
                <a:t>为算子</a:t>
              </a:r>
              <a:r>
                <a:rPr lang="en-US" altLang="zh-CN" sz="1400" i="1" kern="0" dirty="0">
                  <a:solidFill>
                    <a:srgbClr val="000000"/>
                  </a:solidFill>
                  <a:latin typeface="Times New Roman" panose="02020603050405020304" pitchFamily="18" charset="0"/>
                  <a:ea typeface="微软雅黑" panose="020B0503020204020204" pitchFamily="34" charset="-122"/>
                </a:rPr>
                <a:t>K</a:t>
              </a:r>
              <a:r>
                <a:rPr lang="zh-CN" altLang="en-US" sz="1400" kern="0" dirty="0">
                  <a:solidFill>
                    <a:srgbClr val="000000"/>
                  </a:solidFill>
                  <a:latin typeface="Times New Roman" panose="02020603050405020304" pitchFamily="18" charset="0"/>
                  <a:ea typeface="微软雅黑" panose="020B0503020204020204" pitchFamily="34" charset="-122"/>
                </a:rPr>
                <a:t>的特征值</a:t>
              </a:r>
            </a:p>
          </p:txBody>
        </p:sp>
        <p:graphicFrame>
          <p:nvGraphicFramePr>
            <p:cNvPr id="108565" name="对象 24"/>
            <p:cNvGraphicFramePr>
              <a:graphicFrameLocks noChangeAspect="1"/>
            </p:cNvGraphicFramePr>
            <p:nvPr/>
          </p:nvGraphicFramePr>
          <p:xfrm>
            <a:off x="2512369" y="5334356"/>
            <a:ext cx="227012" cy="304800"/>
          </p:xfrm>
          <a:graphic>
            <a:graphicData uri="http://schemas.openxmlformats.org/presentationml/2006/ole">
              <mc:AlternateContent xmlns:mc="http://schemas.openxmlformats.org/markup-compatibility/2006">
                <mc:Choice xmlns:v="urn:schemas-microsoft-com:vml" Requires="v">
                  <p:oleObj spid="_x0000_s24612" name="Equation" r:id="rId15" imgW="177480" imgH="241200" progId="Equation.DSMT4">
                    <p:embed/>
                  </p:oleObj>
                </mc:Choice>
                <mc:Fallback>
                  <p:oleObj name="Equation" r:id="rId15" imgW="177480" imgH="241200" progId="Equation.DSMT4">
                    <p:embed/>
                    <p:pic>
                      <p:nvPicPr>
                        <p:cNvPr id="108565" name="对象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12369" y="5334356"/>
                          <a:ext cx="2270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6" name="文本框 25"/>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55</a:t>
            </a:fld>
            <a:endParaRPr lang="zh-CN" altLang="en-US"/>
          </a:p>
        </p:txBody>
      </p:sp>
      <p:sp>
        <p:nvSpPr>
          <p:cNvPr id="3" name="矩形 2"/>
          <p:cNvSpPr/>
          <p:nvPr/>
        </p:nvSpPr>
        <p:spPr>
          <a:xfrm>
            <a:off x="5371090" y="2575906"/>
            <a:ext cx="6096000" cy="923330"/>
          </a:xfrm>
          <a:prstGeom prst="rect">
            <a:avLst/>
          </a:prstGeom>
        </p:spPr>
        <p:txBody>
          <a:bodyPr>
            <a:spAutoFit/>
          </a:bodyPr>
          <a:lstStyle/>
          <a:p>
            <a:r>
              <a:rPr lang="en-US" altLang="zh-CN" dirty="0" err="1">
                <a:solidFill>
                  <a:srgbClr val="C00000"/>
                </a:solidFill>
                <a:latin typeface="-apple-system"/>
              </a:rPr>
              <a:t>Koopman</a:t>
            </a:r>
            <a:r>
              <a:rPr lang="zh-CN" altLang="en-US" dirty="0">
                <a:solidFill>
                  <a:srgbClr val="C00000"/>
                </a:solidFill>
                <a:latin typeface="-apple-system"/>
              </a:rPr>
              <a:t>分析本质上是做了一个类似于“坐标系转换（</a:t>
            </a:r>
            <a:r>
              <a:rPr lang="en-US" altLang="zh-CN" dirty="0">
                <a:solidFill>
                  <a:srgbClr val="C00000"/>
                </a:solidFill>
                <a:latin typeface="-apple-system"/>
              </a:rPr>
              <a:t>coordinate transformation</a:t>
            </a:r>
            <a:r>
              <a:rPr lang="zh-CN" altLang="en-US" dirty="0">
                <a:solidFill>
                  <a:srgbClr val="C00000"/>
                </a:solidFill>
                <a:latin typeface="-apple-system"/>
              </a:rPr>
              <a:t>）”的工作，把所研究的动力系统全局线性化了。</a:t>
            </a:r>
            <a:endParaRPr lang="zh-CN" altLang="en-US" dirty="0">
              <a:solidFill>
                <a:srgbClr val="C00000"/>
              </a:solidFill>
            </a:endParaRPr>
          </a:p>
        </p:txBody>
      </p:sp>
    </p:spTree>
    <p:extLst>
      <p:ext uri="{BB962C8B-B14F-4D97-AF65-F5344CB8AC3E}">
        <p14:creationId xmlns:p14="http://schemas.microsoft.com/office/powerpoint/2010/main" val="30218706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矩形 4"/>
          <p:cNvSpPr>
            <a:spLocks noChangeArrowheads="1"/>
          </p:cNvSpPr>
          <p:nvPr/>
        </p:nvSpPr>
        <p:spPr bwMode="auto">
          <a:xfrm>
            <a:off x="672916" y="1414464"/>
            <a:ext cx="1827744"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数学原理</a:t>
            </a:r>
            <a:endParaRPr lang="en-US" altLang="zh-CN" sz="2000" dirty="0">
              <a:latin typeface="华文细黑" panose="02010600040101010101" pitchFamily="2" charset="-122"/>
              <a:ea typeface="华文细黑" panose="02010600040101010101" pitchFamily="2" charset="-122"/>
            </a:endParaRPr>
          </a:p>
        </p:txBody>
      </p:sp>
      <p:sp>
        <p:nvSpPr>
          <p:cNvPr id="109572" name="文本框 5"/>
          <p:cNvSpPr txBox="1">
            <a:spLocks noChangeArrowheads="1"/>
          </p:cNvSpPr>
          <p:nvPr/>
        </p:nvSpPr>
        <p:spPr bwMode="auto">
          <a:xfrm>
            <a:off x="672916" y="1804615"/>
            <a:ext cx="34258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en-US" altLang="zh-CN" dirty="0" err="1">
                <a:solidFill>
                  <a:srgbClr val="000000"/>
                </a:solidFill>
                <a:latin typeface="Times New Roman" panose="02020603050405020304" pitchFamily="18" charset="0"/>
                <a:ea typeface="微软雅黑" panose="020B0503020204020204" pitchFamily="34" charset="-122"/>
              </a:rPr>
              <a:t>Koopman</a:t>
            </a:r>
            <a:r>
              <a:rPr lang="zh-CN" altLang="en-US" dirty="0">
                <a:solidFill>
                  <a:srgbClr val="000000"/>
                </a:solidFill>
                <a:latin typeface="Times New Roman" panose="02020603050405020304" pitchFamily="18" charset="0"/>
                <a:ea typeface="微软雅黑" panose="020B0503020204020204" pitchFamily="34" charset="-122"/>
              </a:rPr>
              <a:t>变换：</a:t>
            </a:r>
            <a:r>
              <a:rPr lang="zh-CN" altLang="en-US" b="1" dirty="0">
                <a:solidFill>
                  <a:srgbClr val="000000"/>
                </a:solidFill>
                <a:latin typeface="Times New Roman" panose="02020603050405020304" pitchFamily="18" charset="0"/>
                <a:ea typeface="微软雅黑" panose="020B0503020204020204" pitchFamily="34" charset="-122"/>
              </a:rPr>
              <a:t>线性算子</a:t>
            </a:r>
            <a:r>
              <a:rPr lang="en-US" altLang="zh-CN" b="1" i="1" dirty="0">
                <a:solidFill>
                  <a:srgbClr val="000000"/>
                </a:solidFill>
                <a:latin typeface="Times New Roman" panose="02020603050405020304" pitchFamily="18" charset="0"/>
                <a:ea typeface="微软雅黑" panose="020B0503020204020204" pitchFamily="34" charset="-122"/>
              </a:rPr>
              <a:t>K</a:t>
            </a:r>
            <a:endParaRPr lang="zh-CN" altLang="en-US" b="1" dirty="0">
              <a:solidFill>
                <a:srgbClr val="000000"/>
              </a:solidFill>
              <a:latin typeface="Times New Roman" panose="02020603050405020304" pitchFamily="18" charset="0"/>
              <a:ea typeface="微软雅黑" panose="020B0503020204020204" pitchFamily="34" charset="-122"/>
            </a:endParaRPr>
          </a:p>
        </p:txBody>
      </p:sp>
      <p:graphicFrame>
        <p:nvGraphicFramePr>
          <p:cNvPr id="109573" name="对象 6"/>
          <p:cNvGraphicFramePr>
            <a:graphicFrameLocks noChangeAspect="1"/>
          </p:cNvGraphicFramePr>
          <p:nvPr>
            <p:extLst/>
          </p:nvPr>
        </p:nvGraphicFramePr>
        <p:xfrm>
          <a:off x="7426639" y="1597028"/>
          <a:ext cx="2044700" cy="757237"/>
        </p:xfrm>
        <a:graphic>
          <a:graphicData uri="http://schemas.openxmlformats.org/presentationml/2006/ole">
            <mc:AlternateContent xmlns:mc="http://schemas.openxmlformats.org/markup-compatibility/2006">
              <mc:Choice xmlns:v="urn:schemas-microsoft-com:vml" Requires="v">
                <p:oleObj spid="_x0000_s25666" name="Equation" r:id="rId3" imgW="1206360" imgH="444240" progId="Equation.DSMT4">
                  <p:embed/>
                </p:oleObj>
              </mc:Choice>
              <mc:Fallback>
                <p:oleObj name="Equation" r:id="rId3" imgW="1206360" imgH="444240" progId="Equation.DSMT4">
                  <p:embed/>
                  <p:pic>
                    <p:nvPicPr>
                      <p:cNvPr id="109573"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6639" y="1597028"/>
                        <a:ext cx="2044700" cy="75723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74" name="对象 7"/>
          <p:cNvGraphicFramePr>
            <a:graphicFrameLocks noChangeAspect="1"/>
          </p:cNvGraphicFramePr>
          <p:nvPr>
            <p:extLst/>
          </p:nvPr>
        </p:nvGraphicFramePr>
        <p:xfrm>
          <a:off x="1444624" y="2297114"/>
          <a:ext cx="4494212" cy="625475"/>
        </p:xfrm>
        <a:graphic>
          <a:graphicData uri="http://schemas.openxmlformats.org/presentationml/2006/ole">
            <mc:AlternateContent xmlns:mc="http://schemas.openxmlformats.org/markup-compatibility/2006">
              <mc:Choice xmlns:v="urn:schemas-microsoft-com:vml" Requires="v">
                <p:oleObj spid="_x0000_s25667" name="Equation" r:id="rId5" imgW="3213000" imgH="444240" progId="Equation.DSMT4">
                  <p:embed/>
                </p:oleObj>
              </mc:Choice>
              <mc:Fallback>
                <p:oleObj name="Equation" r:id="rId5" imgW="3213000" imgH="444240" progId="Equation.DSMT4">
                  <p:embed/>
                  <p:pic>
                    <p:nvPicPr>
                      <p:cNvPr id="109574"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4624" y="2297114"/>
                        <a:ext cx="449421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75" name="对象 8"/>
          <p:cNvGraphicFramePr>
            <a:graphicFrameLocks noChangeAspect="1"/>
          </p:cNvGraphicFramePr>
          <p:nvPr>
            <p:extLst/>
          </p:nvPr>
        </p:nvGraphicFramePr>
        <p:xfrm>
          <a:off x="7426640" y="2490789"/>
          <a:ext cx="1730375" cy="387350"/>
        </p:xfrm>
        <a:graphic>
          <a:graphicData uri="http://schemas.openxmlformats.org/presentationml/2006/ole">
            <mc:AlternateContent xmlns:mc="http://schemas.openxmlformats.org/markup-compatibility/2006">
              <mc:Choice xmlns:v="urn:schemas-microsoft-com:vml" Requires="v">
                <p:oleObj spid="_x0000_s25668" name="Equation" r:id="rId7" imgW="1079280" imgH="241200" progId="Equation.DSMT4">
                  <p:embed/>
                </p:oleObj>
              </mc:Choice>
              <mc:Fallback>
                <p:oleObj name="Equation" r:id="rId7" imgW="1079280" imgH="241200" progId="Equation.DSMT4">
                  <p:embed/>
                  <p:pic>
                    <p:nvPicPr>
                      <p:cNvPr id="109575"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26640" y="2490789"/>
                        <a:ext cx="1730375" cy="3873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9576" name="组合 9"/>
          <p:cNvGrpSpPr>
            <a:grpSpLocks/>
          </p:cNvGrpSpPr>
          <p:nvPr/>
        </p:nvGrpSpPr>
        <p:grpSpPr bwMode="auto">
          <a:xfrm>
            <a:off x="1493836" y="2922589"/>
            <a:ext cx="4198938" cy="365125"/>
            <a:chOff x="636860" y="2909381"/>
            <a:chExt cx="4198187" cy="365623"/>
          </a:xfrm>
        </p:grpSpPr>
        <p:sp>
          <p:nvSpPr>
            <p:cNvPr id="11" name="文本框 10"/>
            <p:cNvSpPr txBox="1"/>
            <p:nvPr/>
          </p:nvSpPr>
          <p:spPr>
            <a:xfrm>
              <a:off x="1098740" y="2923688"/>
              <a:ext cx="3736307" cy="351316"/>
            </a:xfrm>
            <a:prstGeom prst="rect">
              <a:avLst/>
            </a:prstGeom>
            <a:noFill/>
          </p:spPr>
          <p:txBody>
            <a:bodyPr>
              <a:spAutoFit/>
            </a:bodyPr>
            <a:lstStyle/>
            <a:p>
              <a:pPr>
                <a:lnSpc>
                  <a:spcPct val="120000"/>
                </a:lnSpc>
                <a:defRPr/>
              </a:pPr>
              <a:r>
                <a:rPr lang="zh-CN" altLang="en-US" sz="1400" kern="0" dirty="0">
                  <a:solidFill>
                    <a:srgbClr val="000000"/>
                  </a:solidFill>
                  <a:latin typeface="Times New Roman" panose="02020603050405020304" pitchFamily="18" charset="0"/>
                  <a:ea typeface="微软雅黑" panose="020B0503020204020204" pitchFamily="34" charset="-122"/>
                </a:rPr>
                <a:t>仅仅是一个常数，可将              整体视为模态</a:t>
              </a:r>
            </a:p>
          </p:txBody>
        </p:sp>
        <p:graphicFrame>
          <p:nvGraphicFramePr>
            <p:cNvPr id="109597" name="对象 11"/>
            <p:cNvGraphicFramePr>
              <a:graphicFrameLocks noChangeAspect="1"/>
            </p:cNvGraphicFramePr>
            <p:nvPr/>
          </p:nvGraphicFramePr>
          <p:xfrm>
            <a:off x="636860" y="2924139"/>
            <a:ext cx="494810" cy="307303"/>
          </p:xfrm>
          <a:graphic>
            <a:graphicData uri="http://schemas.openxmlformats.org/presentationml/2006/ole">
              <mc:AlternateContent xmlns:mc="http://schemas.openxmlformats.org/markup-compatibility/2006">
                <mc:Choice xmlns:v="urn:schemas-microsoft-com:vml" Requires="v">
                  <p:oleObj spid="_x0000_s25669" name="Equation" r:id="rId9" imgW="431640" imgH="266400" progId="Equation.DSMT4">
                    <p:embed/>
                  </p:oleObj>
                </mc:Choice>
                <mc:Fallback>
                  <p:oleObj name="Equation" r:id="rId9" imgW="431640" imgH="266400" progId="Equation.DSMT4">
                    <p:embed/>
                    <p:pic>
                      <p:nvPicPr>
                        <p:cNvPr id="109597" name="对象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6860" y="2924139"/>
                          <a:ext cx="494810" cy="307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98" name="对象 12"/>
            <p:cNvGraphicFramePr>
              <a:graphicFrameLocks noChangeAspect="1"/>
            </p:cNvGraphicFramePr>
            <p:nvPr/>
          </p:nvGraphicFramePr>
          <p:xfrm>
            <a:off x="2966808" y="2909381"/>
            <a:ext cx="631106" cy="309649"/>
          </p:xfrm>
          <a:graphic>
            <a:graphicData uri="http://schemas.openxmlformats.org/presentationml/2006/ole">
              <mc:AlternateContent xmlns:mc="http://schemas.openxmlformats.org/markup-compatibility/2006">
                <mc:Choice xmlns:v="urn:schemas-microsoft-com:vml" Requires="v">
                  <p:oleObj spid="_x0000_s25670" name="Equation" r:id="rId11" imgW="545760" imgH="266400" progId="Equation.DSMT4">
                    <p:embed/>
                  </p:oleObj>
                </mc:Choice>
                <mc:Fallback>
                  <p:oleObj name="Equation" r:id="rId11" imgW="545760" imgH="266400" progId="Equation.DSMT4">
                    <p:embed/>
                    <p:pic>
                      <p:nvPicPr>
                        <p:cNvPr id="109598" name="对象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66808" y="2909381"/>
                          <a:ext cx="631106" cy="309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09577" name="对象 13"/>
          <p:cNvGraphicFramePr>
            <a:graphicFrameLocks noChangeAspect="1"/>
          </p:cNvGraphicFramePr>
          <p:nvPr>
            <p:extLst/>
          </p:nvPr>
        </p:nvGraphicFramePr>
        <p:xfrm>
          <a:off x="1184276" y="5124452"/>
          <a:ext cx="2005013" cy="407987"/>
        </p:xfrm>
        <a:graphic>
          <a:graphicData uri="http://schemas.openxmlformats.org/presentationml/2006/ole">
            <mc:AlternateContent xmlns:mc="http://schemas.openxmlformats.org/markup-compatibility/2006">
              <mc:Choice xmlns:v="urn:schemas-microsoft-com:vml" Requires="v">
                <p:oleObj spid="_x0000_s25671" name="Equation" r:id="rId13" imgW="1180800" imgH="241200" progId="Equation.DSMT4">
                  <p:embed/>
                </p:oleObj>
              </mc:Choice>
              <mc:Fallback>
                <p:oleObj name="Equation" r:id="rId13" imgW="1180800" imgH="241200" progId="Equation.DSMT4">
                  <p:embed/>
                  <p:pic>
                    <p:nvPicPr>
                      <p:cNvPr id="109577" name="对象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84276" y="5124452"/>
                        <a:ext cx="200501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右箭头 14"/>
          <p:cNvSpPr/>
          <p:nvPr/>
        </p:nvSpPr>
        <p:spPr bwMode="auto">
          <a:xfrm>
            <a:off x="3470276" y="5224463"/>
            <a:ext cx="517525" cy="330200"/>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09579" name="对象 15"/>
          <p:cNvGraphicFramePr>
            <a:graphicFrameLocks noChangeAspect="1"/>
          </p:cNvGraphicFramePr>
          <p:nvPr>
            <p:extLst/>
          </p:nvPr>
        </p:nvGraphicFramePr>
        <p:xfrm>
          <a:off x="4256088" y="4756152"/>
          <a:ext cx="1206500" cy="407987"/>
        </p:xfrm>
        <a:graphic>
          <a:graphicData uri="http://schemas.openxmlformats.org/presentationml/2006/ole">
            <mc:AlternateContent xmlns:mc="http://schemas.openxmlformats.org/markup-compatibility/2006">
              <mc:Choice xmlns:v="urn:schemas-microsoft-com:vml" Requires="v">
                <p:oleObj spid="_x0000_s25672" name="Equation" r:id="rId15" imgW="711000" imgH="241200" progId="Equation.DSMT4">
                  <p:embed/>
                </p:oleObj>
              </mc:Choice>
              <mc:Fallback>
                <p:oleObj name="Equation" r:id="rId15" imgW="711000" imgH="241200" progId="Equation.DSMT4">
                  <p:embed/>
                  <p:pic>
                    <p:nvPicPr>
                      <p:cNvPr id="109579" name="对象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56088" y="4756152"/>
                        <a:ext cx="1206500"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80" name="对象 16"/>
          <p:cNvGraphicFramePr>
            <a:graphicFrameLocks noChangeAspect="1"/>
          </p:cNvGraphicFramePr>
          <p:nvPr>
            <p:extLst/>
          </p:nvPr>
        </p:nvGraphicFramePr>
        <p:xfrm>
          <a:off x="4167186" y="5132389"/>
          <a:ext cx="4518025" cy="577850"/>
        </p:xfrm>
        <a:graphic>
          <a:graphicData uri="http://schemas.openxmlformats.org/presentationml/2006/ole">
            <mc:AlternateContent xmlns:mc="http://schemas.openxmlformats.org/markup-compatibility/2006">
              <mc:Choice xmlns:v="urn:schemas-microsoft-com:vml" Requires="v">
                <p:oleObj spid="_x0000_s25673" name="Equation" r:id="rId17" imgW="4101840" imgH="380880" progId="Equation.DSMT4">
                  <p:embed/>
                </p:oleObj>
              </mc:Choice>
              <mc:Fallback>
                <p:oleObj name="Equation" r:id="rId17" imgW="4101840" imgH="380880" progId="Equation.DSMT4">
                  <p:embed/>
                  <p:pic>
                    <p:nvPicPr>
                      <p:cNvPr id="109580" name="对象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67186" y="5132389"/>
                        <a:ext cx="45180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9581" name="文本框 17"/>
          <p:cNvSpPr txBox="1">
            <a:spLocks noChangeArrowheads="1"/>
          </p:cNvSpPr>
          <p:nvPr/>
        </p:nvSpPr>
        <p:spPr bwMode="auto">
          <a:xfrm>
            <a:off x="3436938" y="4884738"/>
            <a:ext cx="550862"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线性</a:t>
            </a:r>
          </a:p>
        </p:txBody>
      </p:sp>
      <p:sp>
        <p:nvSpPr>
          <p:cNvPr id="109582" name="文本框 18"/>
          <p:cNvSpPr txBox="1">
            <a:spLocks noChangeArrowheads="1"/>
          </p:cNvSpPr>
          <p:nvPr/>
        </p:nvSpPr>
        <p:spPr bwMode="auto">
          <a:xfrm>
            <a:off x="8864596" y="5268121"/>
            <a:ext cx="28082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i="1" dirty="0">
                <a:solidFill>
                  <a:srgbClr val="000000"/>
                </a:solidFill>
                <a:latin typeface="Times New Roman" panose="02020603050405020304" pitchFamily="18" charset="0"/>
                <a:ea typeface="微软雅黑" panose="020B0503020204020204" pitchFamily="34" charset="-122"/>
              </a:rPr>
              <a:t>A</a:t>
            </a:r>
            <a:r>
              <a:rPr lang="zh-CN" altLang="en-US" sz="1400" b="1" dirty="0">
                <a:solidFill>
                  <a:srgbClr val="000000"/>
                </a:solidFill>
                <a:latin typeface="Times New Roman" panose="02020603050405020304" pitchFamily="18" charset="0"/>
                <a:ea typeface="微软雅黑" panose="020B0503020204020204" pitchFamily="34" charset="-122"/>
              </a:rPr>
              <a:t>的特征值也是算子</a:t>
            </a:r>
            <a:r>
              <a:rPr lang="en-US" altLang="zh-CN" sz="1400" b="1" i="1" dirty="0">
                <a:solidFill>
                  <a:srgbClr val="000000"/>
                </a:solidFill>
                <a:latin typeface="Times New Roman" panose="02020603050405020304" pitchFamily="18" charset="0"/>
                <a:ea typeface="微软雅黑" panose="020B0503020204020204" pitchFamily="34" charset="-122"/>
              </a:rPr>
              <a:t>K</a:t>
            </a:r>
            <a:r>
              <a:rPr lang="zh-CN" altLang="en-US" sz="1400" b="1" dirty="0">
                <a:solidFill>
                  <a:srgbClr val="000000"/>
                </a:solidFill>
                <a:latin typeface="Times New Roman" panose="02020603050405020304" pitchFamily="18" charset="0"/>
                <a:ea typeface="微软雅黑" panose="020B0503020204020204" pitchFamily="34" charset="-122"/>
              </a:rPr>
              <a:t>的特征值</a:t>
            </a:r>
            <a:endParaRPr lang="zh-CN" altLang="en-US" sz="1400" b="1" i="1" dirty="0">
              <a:solidFill>
                <a:srgbClr val="000000"/>
              </a:solidFill>
              <a:latin typeface="Times New Roman" panose="02020603050405020304" pitchFamily="18" charset="0"/>
              <a:ea typeface="微软雅黑" panose="020B0503020204020204" pitchFamily="34" charset="-122"/>
            </a:endParaRPr>
          </a:p>
        </p:txBody>
      </p:sp>
      <p:sp>
        <p:nvSpPr>
          <p:cNvPr id="20" name="右箭头 19"/>
          <p:cNvSpPr/>
          <p:nvPr/>
        </p:nvSpPr>
        <p:spPr bwMode="auto">
          <a:xfrm rot="5400000">
            <a:off x="4191794" y="5942807"/>
            <a:ext cx="515938" cy="330200"/>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09584" name="对象 20"/>
          <p:cNvGraphicFramePr>
            <a:graphicFrameLocks noChangeAspect="1"/>
          </p:cNvGraphicFramePr>
          <p:nvPr>
            <p:extLst/>
          </p:nvPr>
        </p:nvGraphicFramePr>
        <p:xfrm>
          <a:off x="4688033" y="5849938"/>
          <a:ext cx="989012" cy="427038"/>
        </p:xfrm>
        <a:graphic>
          <a:graphicData uri="http://schemas.openxmlformats.org/presentationml/2006/ole">
            <mc:AlternateContent xmlns:mc="http://schemas.openxmlformats.org/markup-compatibility/2006">
              <mc:Choice xmlns:v="urn:schemas-microsoft-com:vml" Requires="v">
                <p:oleObj spid="_x0000_s25674" name="Equation" r:id="rId19" imgW="558720" imgH="241200" progId="Equation.DSMT4">
                  <p:embed/>
                </p:oleObj>
              </mc:Choice>
              <mc:Fallback>
                <p:oleObj name="Equation" r:id="rId19" imgW="558720" imgH="241200" progId="Equation.DSMT4">
                  <p:embed/>
                  <p:pic>
                    <p:nvPicPr>
                      <p:cNvPr id="109584" name="对象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88033" y="5849938"/>
                        <a:ext cx="989012" cy="4270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85" name="对象 21"/>
          <p:cNvGraphicFramePr>
            <a:graphicFrameLocks noChangeAspect="1"/>
          </p:cNvGraphicFramePr>
          <p:nvPr>
            <p:extLst/>
          </p:nvPr>
        </p:nvGraphicFramePr>
        <p:xfrm>
          <a:off x="1444624" y="3849689"/>
          <a:ext cx="1166812" cy="411163"/>
        </p:xfrm>
        <a:graphic>
          <a:graphicData uri="http://schemas.openxmlformats.org/presentationml/2006/ole">
            <mc:AlternateContent xmlns:mc="http://schemas.openxmlformats.org/markup-compatibility/2006">
              <mc:Choice xmlns:v="urn:schemas-microsoft-com:vml" Requires="v">
                <p:oleObj spid="_x0000_s25675" name="Equation" r:id="rId21" imgW="520560" imgH="177480" progId="Equation.DSMT4">
                  <p:embed/>
                </p:oleObj>
              </mc:Choice>
              <mc:Fallback>
                <p:oleObj name="Equation" r:id="rId21" imgW="520560" imgH="177480" progId="Equation.DSMT4">
                  <p:embed/>
                  <p:pic>
                    <p:nvPicPr>
                      <p:cNvPr id="109585" name="对象 2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44624" y="3849689"/>
                        <a:ext cx="1166812"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86" name="对象 22"/>
          <p:cNvGraphicFramePr>
            <a:graphicFrameLocks noChangeAspect="1"/>
          </p:cNvGraphicFramePr>
          <p:nvPr>
            <p:extLst/>
          </p:nvPr>
        </p:nvGraphicFramePr>
        <p:xfrm>
          <a:off x="2762249" y="3492502"/>
          <a:ext cx="3663950" cy="585787"/>
        </p:xfrm>
        <a:graphic>
          <a:graphicData uri="http://schemas.openxmlformats.org/presentationml/2006/ole">
            <mc:AlternateContent xmlns:mc="http://schemas.openxmlformats.org/markup-compatibility/2006">
              <mc:Choice xmlns:v="urn:schemas-microsoft-com:vml" Requires="v">
                <p:oleObj spid="_x0000_s25676" name="Equation" r:id="rId23" imgW="1866600" imgH="304560" progId="Equation.DSMT4">
                  <p:embed/>
                </p:oleObj>
              </mc:Choice>
              <mc:Fallback>
                <p:oleObj name="Equation" r:id="rId23" imgW="1866600" imgH="304560" progId="Equation.DSMT4">
                  <p:embed/>
                  <p:pic>
                    <p:nvPicPr>
                      <p:cNvPr id="109586" name="对象 2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62249" y="3492502"/>
                        <a:ext cx="36639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87" name="对象 23"/>
          <p:cNvGraphicFramePr>
            <a:graphicFrameLocks noChangeAspect="1"/>
          </p:cNvGraphicFramePr>
          <p:nvPr>
            <p:extLst/>
          </p:nvPr>
        </p:nvGraphicFramePr>
        <p:xfrm>
          <a:off x="7528240" y="3375964"/>
          <a:ext cx="1943100" cy="1328738"/>
        </p:xfrm>
        <a:graphic>
          <a:graphicData uri="http://schemas.openxmlformats.org/presentationml/2006/ole">
            <mc:AlternateContent xmlns:mc="http://schemas.openxmlformats.org/markup-compatibility/2006">
              <mc:Choice xmlns:v="urn:schemas-microsoft-com:vml" Requires="v">
                <p:oleObj spid="_x0000_s25677" name="Equation" r:id="rId25" imgW="1371600" imgH="939800" progId="Equation.DSMT4">
                  <p:embed/>
                </p:oleObj>
              </mc:Choice>
              <mc:Fallback>
                <p:oleObj name="Equation" r:id="rId25" imgW="1371600" imgH="939800" progId="Equation.DSMT4">
                  <p:embed/>
                  <p:pic>
                    <p:nvPicPr>
                      <p:cNvPr id="109587" name="对象 2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528240" y="3375964"/>
                        <a:ext cx="1943100"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88" name="对象 24"/>
          <p:cNvGraphicFramePr>
            <a:graphicFrameLocks noChangeAspect="1"/>
          </p:cNvGraphicFramePr>
          <p:nvPr>
            <p:extLst/>
          </p:nvPr>
        </p:nvGraphicFramePr>
        <p:xfrm>
          <a:off x="2762250" y="4135438"/>
          <a:ext cx="2841625" cy="584200"/>
        </p:xfrm>
        <a:graphic>
          <a:graphicData uri="http://schemas.openxmlformats.org/presentationml/2006/ole">
            <mc:AlternateContent xmlns:mc="http://schemas.openxmlformats.org/markup-compatibility/2006">
              <mc:Choice xmlns:v="urn:schemas-microsoft-com:vml" Requires="v">
                <p:oleObj spid="_x0000_s25678" name="Equation" r:id="rId27" imgW="1447560" imgH="304560" progId="Equation.DSMT4">
                  <p:embed/>
                </p:oleObj>
              </mc:Choice>
              <mc:Fallback>
                <p:oleObj name="Equation" r:id="rId27" imgW="1447560" imgH="304560" progId="Equation.DSMT4">
                  <p:embed/>
                  <p:pic>
                    <p:nvPicPr>
                      <p:cNvPr id="109588" name="对象 2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762250" y="4135438"/>
                        <a:ext cx="2841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9589" name="对象 25"/>
          <p:cNvGraphicFramePr>
            <a:graphicFrameLocks noChangeAspect="1"/>
          </p:cNvGraphicFramePr>
          <p:nvPr/>
        </p:nvGraphicFramePr>
        <p:xfrm>
          <a:off x="6494463" y="5878513"/>
          <a:ext cx="3910012" cy="488950"/>
        </p:xfrm>
        <a:graphic>
          <a:graphicData uri="http://schemas.openxmlformats.org/presentationml/2006/ole">
            <mc:AlternateContent xmlns:mc="http://schemas.openxmlformats.org/markup-compatibility/2006">
              <mc:Choice xmlns:v="urn:schemas-microsoft-com:vml" Requires="v">
                <p:oleObj spid="_x0000_s25679" name="Equation" r:id="rId29" imgW="2438280" imgH="304560" progId="Equation.DSMT4">
                  <p:embed/>
                </p:oleObj>
              </mc:Choice>
              <mc:Fallback>
                <p:oleObj name="Equation" r:id="rId29" imgW="2438280" imgH="304560" progId="Equation.DSMT4">
                  <p:embed/>
                  <p:pic>
                    <p:nvPicPr>
                      <p:cNvPr id="109589" name="对象 2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494463" y="5878513"/>
                        <a:ext cx="3910012" cy="4889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9590" name="文本框 26"/>
          <p:cNvSpPr txBox="1">
            <a:spLocks noChangeArrowheads="1"/>
          </p:cNvSpPr>
          <p:nvPr/>
        </p:nvSpPr>
        <p:spPr bwMode="auto">
          <a:xfrm>
            <a:off x="2919414" y="5870577"/>
            <a:ext cx="13366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a:solidFill>
                  <a:srgbClr val="000000"/>
                </a:solidFill>
                <a:latin typeface="Times New Roman" panose="02020603050405020304" pitchFamily="18" charset="0"/>
                <a:ea typeface="微软雅黑" panose="020B0503020204020204" pitchFamily="34" charset="-122"/>
              </a:rPr>
              <a:t>进一步线性化</a:t>
            </a:r>
          </a:p>
        </p:txBody>
      </p:sp>
      <p:sp>
        <p:nvSpPr>
          <p:cNvPr id="109591" name="文本框 27"/>
          <p:cNvSpPr txBox="1">
            <a:spLocks noChangeArrowheads="1"/>
          </p:cNvSpPr>
          <p:nvPr/>
        </p:nvSpPr>
        <p:spPr bwMode="auto">
          <a:xfrm>
            <a:off x="7008813" y="6559551"/>
            <a:ext cx="335915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100" b="1">
                <a:solidFill>
                  <a:srgbClr val="FF0000"/>
                </a:solidFill>
                <a:latin typeface="Times New Roman" panose="02020603050405020304" pitchFamily="18" charset="0"/>
                <a:ea typeface="微软雅黑" panose="020B0503020204020204" pitchFamily="34" charset="-122"/>
              </a:rPr>
              <a:t>*严格的证明见</a:t>
            </a:r>
            <a:r>
              <a:rPr lang="en-US" altLang="zh-CN" sz="1100" b="1">
                <a:solidFill>
                  <a:srgbClr val="FF0000"/>
                </a:solidFill>
                <a:latin typeface="Times New Roman" panose="02020603050405020304" pitchFamily="18" charset="0"/>
                <a:ea typeface="微软雅黑" panose="020B0503020204020204" pitchFamily="34" charset="-122"/>
              </a:rPr>
              <a:t>Rowley, 2009. (Int. J. Bifurc. Chaos)</a:t>
            </a:r>
            <a:endParaRPr lang="zh-CN" altLang="en-US" sz="1100" b="1">
              <a:solidFill>
                <a:srgbClr val="FF0000"/>
              </a:solidFill>
              <a:latin typeface="Times New Roman" panose="02020603050405020304" pitchFamily="18" charset="0"/>
              <a:ea typeface="微软雅黑" panose="020B0503020204020204" pitchFamily="34" charset="-122"/>
            </a:endParaRPr>
          </a:p>
        </p:txBody>
      </p:sp>
      <p:grpSp>
        <p:nvGrpSpPr>
          <p:cNvPr id="109592" name="组合 28"/>
          <p:cNvGrpSpPr>
            <a:grpSpLocks/>
          </p:cNvGrpSpPr>
          <p:nvPr/>
        </p:nvGrpSpPr>
        <p:grpSpPr bwMode="auto">
          <a:xfrm>
            <a:off x="3119438" y="6451602"/>
            <a:ext cx="2990850" cy="358775"/>
            <a:chOff x="2341831" y="6517400"/>
            <a:chExt cx="2990555" cy="357712"/>
          </a:xfrm>
        </p:grpSpPr>
        <p:sp>
          <p:nvSpPr>
            <p:cNvPr id="30" name="文本框 29"/>
            <p:cNvSpPr txBox="1"/>
            <p:nvPr/>
          </p:nvSpPr>
          <p:spPr>
            <a:xfrm>
              <a:off x="2341831" y="6523731"/>
              <a:ext cx="2990555" cy="351381"/>
            </a:xfrm>
            <a:prstGeom prst="rect">
              <a:avLst/>
            </a:prstGeom>
            <a:noFill/>
          </p:spPr>
          <p:txBody>
            <a:bodyPr>
              <a:spAutoFit/>
            </a:bodyPr>
            <a:lstStyle/>
            <a:p>
              <a:pPr>
                <a:lnSpc>
                  <a:spcPct val="120000"/>
                </a:lnSpc>
                <a:defRPr/>
              </a:pPr>
              <a:r>
                <a:rPr lang="en-US" altLang="zh-CN" sz="1400" b="1" i="1" kern="0" dirty="0">
                  <a:solidFill>
                    <a:srgbClr val="000000"/>
                  </a:solidFill>
                  <a:latin typeface="Times New Roman" panose="02020603050405020304" pitchFamily="18" charset="0"/>
                  <a:ea typeface="微软雅黑" panose="020B0503020204020204" pitchFamily="34" charset="-122"/>
                </a:rPr>
                <a:t>A</a:t>
              </a:r>
              <a:r>
                <a:rPr lang="zh-CN" altLang="en-US" sz="1400" b="1" kern="0" dirty="0">
                  <a:solidFill>
                    <a:srgbClr val="000000"/>
                  </a:solidFill>
                  <a:latin typeface="Times New Roman" panose="02020603050405020304" pitchFamily="18" charset="0"/>
                  <a:ea typeface="微软雅黑" panose="020B0503020204020204" pitchFamily="34" charset="-122"/>
                </a:rPr>
                <a:t>与</a:t>
              </a:r>
              <a:r>
                <a:rPr lang="en-US" altLang="zh-CN" sz="1400" b="1" i="1" kern="0" dirty="0">
                  <a:solidFill>
                    <a:srgbClr val="000000"/>
                  </a:solidFill>
                  <a:latin typeface="Times New Roman" panose="02020603050405020304" pitchFamily="18" charset="0"/>
                  <a:ea typeface="微软雅黑" panose="020B0503020204020204" pitchFamily="34" charset="-122"/>
                </a:rPr>
                <a:t>K</a:t>
              </a:r>
              <a:r>
                <a:rPr lang="zh-CN" altLang="en-US" sz="1400" b="1" kern="0" dirty="0">
                  <a:solidFill>
                    <a:srgbClr val="000000"/>
                  </a:solidFill>
                  <a:latin typeface="Times New Roman" panose="02020603050405020304" pitchFamily="18" charset="0"/>
                  <a:ea typeface="微软雅黑" panose="020B0503020204020204" pitchFamily="34" charset="-122"/>
                </a:rPr>
                <a:t>的近似，    也为</a:t>
              </a:r>
              <a:r>
                <a:rPr lang="en-US" altLang="zh-CN" sz="1400" b="1" i="1" kern="0" dirty="0">
                  <a:solidFill>
                    <a:srgbClr val="000000"/>
                  </a:solidFill>
                  <a:latin typeface="Times New Roman" panose="02020603050405020304" pitchFamily="18" charset="0"/>
                  <a:ea typeface="微软雅黑" panose="020B0503020204020204" pitchFamily="34" charset="-122"/>
                </a:rPr>
                <a:t>A</a:t>
              </a:r>
              <a:r>
                <a:rPr lang="zh-CN" altLang="en-US" sz="1400" b="1" kern="0" dirty="0">
                  <a:solidFill>
                    <a:srgbClr val="000000"/>
                  </a:solidFill>
                  <a:latin typeface="Times New Roman" panose="02020603050405020304" pitchFamily="18" charset="0"/>
                  <a:ea typeface="微软雅黑" panose="020B0503020204020204" pitchFamily="34" charset="-122"/>
                </a:rPr>
                <a:t>的特征向量</a:t>
              </a:r>
              <a:endParaRPr lang="zh-CN" altLang="en-US" sz="1400" b="1" i="1" kern="0" dirty="0">
                <a:solidFill>
                  <a:srgbClr val="000000"/>
                </a:solidFill>
                <a:latin typeface="Times New Roman" panose="02020603050405020304" pitchFamily="18" charset="0"/>
                <a:ea typeface="微软雅黑" panose="020B0503020204020204" pitchFamily="34" charset="-122"/>
              </a:endParaRPr>
            </a:p>
          </p:txBody>
        </p:sp>
        <p:graphicFrame>
          <p:nvGraphicFramePr>
            <p:cNvPr id="109595" name="对象 30"/>
            <p:cNvGraphicFramePr>
              <a:graphicFrameLocks noChangeAspect="1"/>
            </p:cNvGraphicFramePr>
            <p:nvPr/>
          </p:nvGraphicFramePr>
          <p:xfrm>
            <a:off x="3511497" y="6517400"/>
            <a:ext cx="196208" cy="355254"/>
          </p:xfrm>
          <a:graphic>
            <a:graphicData uri="http://schemas.openxmlformats.org/presentationml/2006/ole">
              <mc:AlternateContent xmlns:mc="http://schemas.openxmlformats.org/markup-compatibility/2006">
                <mc:Choice xmlns:v="urn:schemas-microsoft-com:vml" Requires="v">
                  <p:oleObj spid="_x0000_s25680" name="Equation" r:id="rId31" imgW="164880" imgH="241200" progId="Equation.DSMT4">
                    <p:embed/>
                  </p:oleObj>
                </mc:Choice>
                <mc:Fallback>
                  <p:oleObj name="Equation" r:id="rId31" imgW="164880" imgH="241200" progId="Equation.DSMT4">
                    <p:embed/>
                    <p:pic>
                      <p:nvPicPr>
                        <p:cNvPr id="109595" name="对象 3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511497" y="6517400"/>
                          <a:ext cx="196208" cy="35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09593" name="对象 31"/>
          <p:cNvGraphicFramePr>
            <a:graphicFrameLocks noChangeAspect="1"/>
          </p:cNvGraphicFramePr>
          <p:nvPr>
            <p:extLst/>
          </p:nvPr>
        </p:nvGraphicFramePr>
        <p:xfrm>
          <a:off x="9471340" y="2481264"/>
          <a:ext cx="1336675" cy="407988"/>
        </p:xfrm>
        <a:graphic>
          <a:graphicData uri="http://schemas.openxmlformats.org/presentationml/2006/ole">
            <mc:AlternateContent xmlns:mc="http://schemas.openxmlformats.org/markup-compatibility/2006">
              <mc:Choice xmlns:v="urn:schemas-microsoft-com:vml" Requires="v">
                <p:oleObj spid="_x0000_s25681" name="Equation" r:id="rId33" imgW="787320" imgH="241200" progId="Equation.DSMT4">
                  <p:embed/>
                </p:oleObj>
              </mc:Choice>
              <mc:Fallback>
                <p:oleObj name="Equation" r:id="rId33" imgW="787320" imgH="241200" progId="Equation.DSMT4">
                  <p:embed/>
                  <p:pic>
                    <p:nvPicPr>
                      <p:cNvPr id="109593" name="对象 3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9471340" y="2481264"/>
                        <a:ext cx="1336675" cy="4079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文本框 30"/>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56</a:t>
            </a:fld>
            <a:endParaRPr lang="zh-CN" altLang="en-US"/>
          </a:p>
        </p:txBody>
      </p:sp>
    </p:spTree>
    <p:extLst>
      <p:ext uri="{BB962C8B-B14F-4D97-AF65-F5344CB8AC3E}">
        <p14:creationId xmlns:p14="http://schemas.microsoft.com/office/powerpoint/2010/main" val="22535552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5" name="对象 24"/>
          <p:cNvGraphicFramePr>
            <a:graphicFrameLocks noChangeAspect="1"/>
          </p:cNvGraphicFramePr>
          <p:nvPr>
            <p:extLst/>
          </p:nvPr>
        </p:nvGraphicFramePr>
        <p:xfrm>
          <a:off x="1207077" y="2564332"/>
          <a:ext cx="1031874" cy="363118"/>
        </p:xfrm>
        <a:graphic>
          <a:graphicData uri="http://schemas.openxmlformats.org/presentationml/2006/ole">
            <mc:AlternateContent xmlns:mc="http://schemas.openxmlformats.org/markup-compatibility/2006">
              <mc:Choice xmlns:v="urn:schemas-microsoft-com:vml" Requires="v">
                <p:oleObj spid="_x0000_s26674" name="Equation" r:id="rId3" imgW="520560" imgH="177480" progId="Equation.DSMT4">
                  <p:embed/>
                </p:oleObj>
              </mc:Choice>
              <mc:Fallback>
                <p:oleObj name="Equation" r:id="rId3" imgW="520560" imgH="177480" progId="Equation.DSMT4">
                  <p:embed/>
                  <p:pic>
                    <p:nvPicPr>
                      <p:cNvPr id="110595" name="对象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7077" y="2564332"/>
                        <a:ext cx="1031874" cy="363118"/>
                      </a:xfrm>
                      <a:prstGeom prst="rect">
                        <a:avLst/>
                      </a:prstGeom>
                      <a:noFill/>
                      <a:ln>
                        <a:noFill/>
                      </a:ln>
                      <a:extLst/>
                    </p:spPr>
                  </p:pic>
                </p:oleObj>
              </mc:Fallback>
            </mc:AlternateContent>
          </a:graphicData>
        </a:graphic>
      </p:graphicFrame>
      <p:graphicFrame>
        <p:nvGraphicFramePr>
          <p:cNvPr id="110596" name="对象 25"/>
          <p:cNvGraphicFramePr>
            <a:graphicFrameLocks noChangeAspect="1"/>
          </p:cNvGraphicFramePr>
          <p:nvPr>
            <p:extLst/>
          </p:nvPr>
        </p:nvGraphicFramePr>
        <p:xfrm>
          <a:off x="3146859" y="2205548"/>
          <a:ext cx="3271836" cy="523097"/>
        </p:xfrm>
        <a:graphic>
          <a:graphicData uri="http://schemas.openxmlformats.org/presentationml/2006/ole">
            <mc:AlternateContent xmlns:mc="http://schemas.openxmlformats.org/markup-compatibility/2006">
              <mc:Choice xmlns:v="urn:schemas-microsoft-com:vml" Requires="v">
                <p:oleObj spid="_x0000_s26675" name="Equation" r:id="rId5" imgW="1866600" imgH="304560" progId="Equation.DSMT4">
                  <p:embed/>
                </p:oleObj>
              </mc:Choice>
              <mc:Fallback>
                <p:oleObj name="Equation" r:id="rId5" imgW="1866600" imgH="304560" progId="Equation.DSMT4">
                  <p:embed/>
                  <p:pic>
                    <p:nvPicPr>
                      <p:cNvPr id="110596" name="对象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6859" y="2205548"/>
                        <a:ext cx="3271836" cy="523097"/>
                      </a:xfrm>
                      <a:prstGeom prst="rect">
                        <a:avLst/>
                      </a:prstGeom>
                      <a:noFill/>
                      <a:ln>
                        <a:noFill/>
                      </a:ln>
                      <a:extLst/>
                    </p:spPr>
                  </p:pic>
                </p:oleObj>
              </mc:Fallback>
            </mc:AlternateContent>
          </a:graphicData>
        </a:graphic>
      </p:graphicFrame>
      <p:graphicFrame>
        <p:nvGraphicFramePr>
          <p:cNvPr id="110597" name="对象 26"/>
          <p:cNvGraphicFramePr>
            <a:graphicFrameLocks noChangeAspect="1"/>
          </p:cNvGraphicFramePr>
          <p:nvPr>
            <p:extLst/>
          </p:nvPr>
        </p:nvGraphicFramePr>
        <p:xfrm>
          <a:off x="7289657" y="2042436"/>
          <a:ext cx="2366961" cy="1618583"/>
        </p:xfrm>
        <a:graphic>
          <a:graphicData uri="http://schemas.openxmlformats.org/presentationml/2006/ole">
            <mc:AlternateContent xmlns:mc="http://schemas.openxmlformats.org/markup-compatibility/2006">
              <mc:Choice xmlns:v="urn:schemas-microsoft-com:vml" Requires="v">
                <p:oleObj spid="_x0000_s26676" name="Equation" r:id="rId7" imgW="1371600" imgH="939800" progId="Equation.DSMT4">
                  <p:embed/>
                </p:oleObj>
              </mc:Choice>
              <mc:Fallback>
                <p:oleObj name="Equation" r:id="rId7" imgW="1371600" imgH="939800" progId="Equation.DSMT4">
                  <p:embed/>
                  <p:pic>
                    <p:nvPicPr>
                      <p:cNvPr id="110597" name="对象 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89657" y="2042436"/>
                        <a:ext cx="2366961" cy="1618583"/>
                      </a:xfrm>
                      <a:prstGeom prst="rect">
                        <a:avLst/>
                      </a:prstGeom>
                      <a:noFill/>
                      <a:ln>
                        <a:noFill/>
                      </a:ln>
                      <a:extLst/>
                    </p:spPr>
                  </p:pic>
                </p:oleObj>
              </mc:Fallback>
            </mc:AlternateContent>
          </a:graphicData>
        </a:graphic>
      </p:graphicFrame>
      <p:graphicFrame>
        <p:nvGraphicFramePr>
          <p:cNvPr id="110598" name="对象 27"/>
          <p:cNvGraphicFramePr>
            <a:graphicFrameLocks noChangeAspect="1"/>
          </p:cNvGraphicFramePr>
          <p:nvPr>
            <p:extLst/>
          </p:nvPr>
        </p:nvGraphicFramePr>
        <p:xfrm>
          <a:off x="3157971" y="2850073"/>
          <a:ext cx="2191904" cy="508909"/>
        </p:xfrm>
        <a:graphic>
          <a:graphicData uri="http://schemas.openxmlformats.org/presentationml/2006/ole">
            <mc:AlternateContent xmlns:mc="http://schemas.openxmlformats.org/markup-compatibility/2006">
              <mc:Choice xmlns:v="urn:schemas-microsoft-com:vml" Requires="v">
                <p:oleObj spid="_x0000_s26677" name="Equation" r:id="rId9" imgW="1282680" imgH="304560" progId="Equation.DSMT4">
                  <p:embed/>
                </p:oleObj>
              </mc:Choice>
              <mc:Fallback>
                <p:oleObj name="Equation" r:id="rId9" imgW="1282680" imgH="304560" progId="Equation.DSMT4">
                  <p:embed/>
                  <p:pic>
                    <p:nvPicPr>
                      <p:cNvPr id="110598" name="对象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57971" y="2850073"/>
                        <a:ext cx="2191904" cy="508909"/>
                      </a:xfrm>
                      <a:prstGeom prst="rect">
                        <a:avLst/>
                      </a:prstGeom>
                      <a:noFill/>
                      <a:ln>
                        <a:noFill/>
                      </a:ln>
                      <a:extLst/>
                    </p:spPr>
                  </p:pic>
                </p:oleObj>
              </mc:Fallback>
            </mc:AlternateContent>
          </a:graphicData>
        </a:graphic>
      </p:graphicFrame>
      <p:sp>
        <p:nvSpPr>
          <p:cNvPr id="110600" name="文本框 29"/>
          <p:cNvSpPr txBox="1">
            <a:spLocks noChangeArrowheads="1"/>
          </p:cNvSpPr>
          <p:nvPr/>
        </p:nvSpPr>
        <p:spPr bwMode="auto">
          <a:xfrm>
            <a:off x="701675" y="1760319"/>
            <a:ext cx="34258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en-US" altLang="zh-CN">
                <a:solidFill>
                  <a:srgbClr val="000000"/>
                </a:solidFill>
                <a:latin typeface="Times New Roman" panose="02020603050405020304" pitchFamily="18" charset="0"/>
                <a:ea typeface="微软雅黑" panose="020B0503020204020204" pitchFamily="34" charset="-122"/>
              </a:rPr>
              <a:t>Koopman</a:t>
            </a:r>
            <a:r>
              <a:rPr lang="zh-CN" altLang="en-US">
                <a:solidFill>
                  <a:srgbClr val="000000"/>
                </a:solidFill>
                <a:latin typeface="Times New Roman" panose="02020603050405020304" pitchFamily="18" charset="0"/>
                <a:ea typeface="微软雅黑" panose="020B0503020204020204" pitchFamily="34" charset="-122"/>
              </a:rPr>
              <a:t>变换：</a:t>
            </a:r>
            <a:r>
              <a:rPr lang="zh-CN" altLang="en-US" b="1">
                <a:solidFill>
                  <a:srgbClr val="000000"/>
                </a:solidFill>
                <a:latin typeface="Times New Roman" panose="02020603050405020304" pitchFamily="18" charset="0"/>
                <a:ea typeface="微软雅黑" panose="020B0503020204020204" pitchFamily="34" charset="-122"/>
              </a:rPr>
              <a:t>线性算子</a:t>
            </a:r>
            <a:r>
              <a:rPr lang="en-US" altLang="zh-CN" b="1" i="1">
                <a:solidFill>
                  <a:srgbClr val="000000"/>
                </a:solidFill>
                <a:latin typeface="Times New Roman" panose="02020603050405020304" pitchFamily="18" charset="0"/>
                <a:ea typeface="微软雅黑" panose="020B0503020204020204" pitchFamily="34" charset="-122"/>
              </a:rPr>
              <a:t>K</a:t>
            </a:r>
            <a:endParaRPr lang="zh-CN" altLang="en-US" b="1">
              <a:solidFill>
                <a:srgbClr val="000000"/>
              </a:solidFill>
              <a:latin typeface="Times New Roman" panose="02020603050405020304" pitchFamily="18" charset="0"/>
              <a:ea typeface="微软雅黑" panose="020B0503020204020204" pitchFamily="34" charset="-122"/>
            </a:endParaRPr>
          </a:p>
        </p:txBody>
      </p:sp>
      <p:graphicFrame>
        <p:nvGraphicFramePr>
          <p:cNvPr id="110601" name="对象 30"/>
          <p:cNvGraphicFramePr>
            <a:graphicFrameLocks noChangeAspect="1"/>
          </p:cNvGraphicFramePr>
          <p:nvPr>
            <p:extLst/>
          </p:nvPr>
        </p:nvGraphicFramePr>
        <p:xfrm>
          <a:off x="1030290" y="3493079"/>
          <a:ext cx="4103687" cy="625475"/>
        </p:xfrm>
        <a:graphic>
          <a:graphicData uri="http://schemas.openxmlformats.org/presentationml/2006/ole">
            <mc:AlternateContent xmlns:mc="http://schemas.openxmlformats.org/markup-compatibility/2006">
              <mc:Choice xmlns:v="urn:schemas-microsoft-com:vml" Requires="v">
                <p:oleObj spid="_x0000_s26678" name="Equation" r:id="rId11" imgW="2933640" imgH="444240" progId="Equation.DSMT4">
                  <p:embed/>
                </p:oleObj>
              </mc:Choice>
              <mc:Fallback>
                <p:oleObj name="Equation" r:id="rId11" imgW="2933640" imgH="444240" progId="Equation.DSMT4">
                  <p:embed/>
                  <p:pic>
                    <p:nvPicPr>
                      <p:cNvPr id="110601" name="对象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0290" y="3493079"/>
                        <a:ext cx="4103687" cy="625475"/>
                      </a:xfrm>
                      <a:prstGeom prst="rect">
                        <a:avLst/>
                      </a:prstGeom>
                      <a:noFill/>
                      <a:ln>
                        <a:noFill/>
                      </a:ln>
                      <a:extLst/>
                    </p:spPr>
                  </p:pic>
                </p:oleObj>
              </mc:Fallback>
            </mc:AlternateContent>
          </a:graphicData>
        </a:graphic>
      </p:graphicFrame>
      <p:sp>
        <p:nvSpPr>
          <p:cNvPr id="110602" name="文本框 31"/>
          <p:cNvSpPr txBox="1">
            <a:spLocks noChangeArrowheads="1"/>
          </p:cNvSpPr>
          <p:nvPr/>
        </p:nvSpPr>
        <p:spPr bwMode="auto">
          <a:xfrm>
            <a:off x="701675" y="4227654"/>
            <a:ext cx="46482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b="1" dirty="0">
                <a:solidFill>
                  <a:srgbClr val="000000"/>
                </a:solidFill>
                <a:latin typeface="Times New Roman" panose="02020603050405020304" pitchFamily="18" charset="0"/>
                <a:ea typeface="微软雅黑" panose="020B0503020204020204" pitchFamily="34" charset="-122"/>
              </a:rPr>
              <a:t>模态及特征值的求解算法</a:t>
            </a:r>
            <a:r>
              <a:rPr lang="en-US" altLang="zh-CN" b="1" dirty="0">
                <a:solidFill>
                  <a:srgbClr val="000000"/>
                </a:solidFill>
                <a:latin typeface="Times New Roman" panose="02020603050405020304" pitchFamily="18" charset="0"/>
                <a:ea typeface="微软雅黑" panose="020B0503020204020204" pitchFamily="34" charset="-122"/>
              </a:rPr>
              <a:t>(</a:t>
            </a:r>
            <a:r>
              <a:rPr lang="en-US" altLang="zh-CN" b="1" dirty="0" err="1">
                <a:solidFill>
                  <a:srgbClr val="000000"/>
                </a:solidFill>
                <a:latin typeface="Times New Roman" panose="02020603050405020304" pitchFamily="18" charset="0"/>
                <a:ea typeface="微软雅黑" panose="020B0503020204020204" pitchFamily="34" charset="-122"/>
              </a:rPr>
              <a:t>Arnoldi</a:t>
            </a:r>
            <a:r>
              <a:rPr lang="zh-CN" altLang="en-US" b="1" dirty="0">
                <a:solidFill>
                  <a:srgbClr val="000000"/>
                </a:solidFill>
                <a:latin typeface="Times New Roman" panose="02020603050405020304" pitchFamily="18" charset="0"/>
                <a:ea typeface="微软雅黑" panose="020B0503020204020204" pitchFamily="34" charset="-122"/>
              </a:rPr>
              <a:t>算法</a:t>
            </a:r>
            <a:r>
              <a:rPr lang="en-US" altLang="zh-CN" b="1" dirty="0">
                <a:solidFill>
                  <a:srgbClr val="000000"/>
                </a:solidFill>
                <a:latin typeface="Times New Roman" panose="02020603050405020304" pitchFamily="18" charset="0"/>
                <a:ea typeface="微软雅黑" panose="020B0503020204020204" pitchFamily="34" charset="-122"/>
              </a:rPr>
              <a:t>)</a:t>
            </a:r>
            <a:endParaRPr lang="zh-CN" altLang="en-US" b="1" dirty="0">
              <a:solidFill>
                <a:srgbClr val="000000"/>
              </a:solidFill>
              <a:latin typeface="Times New Roman" panose="02020603050405020304" pitchFamily="18" charset="0"/>
              <a:ea typeface="微软雅黑" panose="020B0503020204020204" pitchFamily="34" charset="-122"/>
            </a:endParaRPr>
          </a:p>
        </p:txBody>
      </p:sp>
      <p:graphicFrame>
        <p:nvGraphicFramePr>
          <p:cNvPr id="110603" name="对象 32"/>
          <p:cNvGraphicFramePr>
            <a:graphicFrameLocks noChangeAspect="1"/>
          </p:cNvGraphicFramePr>
          <p:nvPr>
            <p:extLst/>
          </p:nvPr>
        </p:nvGraphicFramePr>
        <p:xfrm>
          <a:off x="1819276" y="4610534"/>
          <a:ext cx="1141413" cy="365125"/>
        </p:xfrm>
        <a:graphic>
          <a:graphicData uri="http://schemas.openxmlformats.org/presentationml/2006/ole">
            <mc:AlternateContent xmlns:mc="http://schemas.openxmlformats.org/markup-compatibility/2006">
              <mc:Choice xmlns:v="urn:schemas-microsoft-com:vml" Requires="v">
                <p:oleObj spid="_x0000_s26679" name="Equation" r:id="rId13" imgW="672840" imgH="215640" progId="Equation.DSMT4">
                  <p:embed/>
                </p:oleObj>
              </mc:Choice>
              <mc:Fallback>
                <p:oleObj name="Equation" r:id="rId13" imgW="672840" imgH="215640" progId="Equation.DSMT4">
                  <p:embed/>
                  <p:pic>
                    <p:nvPicPr>
                      <p:cNvPr id="110603" name="对象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19276" y="4610534"/>
                        <a:ext cx="11414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604" name="文本框 33"/>
          <p:cNvSpPr txBox="1">
            <a:spLocks noChangeArrowheads="1"/>
          </p:cNvSpPr>
          <p:nvPr/>
        </p:nvSpPr>
        <p:spPr bwMode="auto">
          <a:xfrm>
            <a:off x="3384550" y="4539095"/>
            <a:ext cx="28082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a:solidFill>
                  <a:srgbClr val="000000"/>
                </a:solidFill>
                <a:latin typeface="Times New Roman" panose="02020603050405020304" pitchFamily="18" charset="0"/>
                <a:ea typeface="微软雅黑" panose="020B0503020204020204" pitchFamily="34" charset="-122"/>
              </a:rPr>
              <a:t>高时间分辨率场数据，利用近似线性动态系统映射进行描述</a:t>
            </a:r>
          </a:p>
        </p:txBody>
      </p:sp>
      <p:graphicFrame>
        <p:nvGraphicFramePr>
          <p:cNvPr id="110605" name="对象 34"/>
          <p:cNvGraphicFramePr>
            <a:graphicFrameLocks noChangeAspect="1"/>
          </p:cNvGraphicFramePr>
          <p:nvPr>
            <p:extLst/>
          </p:nvPr>
        </p:nvGraphicFramePr>
        <p:xfrm>
          <a:off x="1792288" y="5148695"/>
          <a:ext cx="1535112" cy="622300"/>
        </p:xfrm>
        <a:graphic>
          <a:graphicData uri="http://schemas.openxmlformats.org/presentationml/2006/ole">
            <mc:AlternateContent xmlns:mc="http://schemas.openxmlformats.org/markup-compatibility/2006">
              <mc:Choice xmlns:v="urn:schemas-microsoft-com:vml" Requires="v">
                <p:oleObj spid="_x0000_s26680" name="Equation" r:id="rId15" imgW="1054080" imgH="431640" progId="Equation.DSMT4">
                  <p:embed/>
                </p:oleObj>
              </mc:Choice>
              <mc:Fallback>
                <p:oleObj name="Equation" r:id="rId15" imgW="1054080" imgH="431640" progId="Equation.DSMT4">
                  <p:embed/>
                  <p:pic>
                    <p:nvPicPr>
                      <p:cNvPr id="110605" name="对象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92288" y="5148695"/>
                        <a:ext cx="1535112"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0606" name="文本框 35"/>
          <p:cNvSpPr txBox="1">
            <a:spLocks noChangeArrowheads="1"/>
          </p:cNvSpPr>
          <p:nvPr/>
        </p:nvSpPr>
        <p:spPr bwMode="auto">
          <a:xfrm>
            <a:off x="3384550" y="5183620"/>
            <a:ext cx="28082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a:solidFill>
                  <a:srgbClr val="000000"/>
                </a:solidFill>
                <a:latin typeface="Times New Roman" panose="02020603050405020304" pitchFamily="18" charset="0"/>
                <a:ea typeface="微软雅黑" panose="020B0503020204020204" pitchFamily="34" charset="-122"/>
              </a:rPr>
              <a:t>时间步足够多之后，第</a:t>
            </a:r>
            <a:r>
              <a:rPr lang="en-US" altLang="zh-CN" sz="1400" b="1">
                <a:solidFill>
                  <a:srgbClr val="000000"/>
                </a:solidFill>
                <a:latin typeface="Times New Roman" panose="02020603050405020304" pitchFamily="18" charset="0"/>
                <a:ea typeface="微软雅黑" panose="020B0503020204020204" pitchFamily="34" charset="-122"/>
              </a:rPr>
              <a:t>n+1</a:t>
            </a:r>
            <a:r>
              <a:rPr lang="zh-CN" altLang="en-US" sz="1400" b="1">
                <a:solidFill>
                  <a:srgbClr val="000000"/>
                </a:solidFill>
                <a:latin typeface="Times New Roman" panose="02020603050405020304" pitchFamily="18" charset="0"/>
                <a:ea typeface="微软雅黑" panose="020B0503020204020204" pitchFamily="34" charset="-122"/>
              </a:rPr>
              <a:t>步的场可用前</a:t>
            </a:r>
            <a:r>
              <a:rPr lang="en-US" altLang="zh-CN" sz="1400" b="1">
                <a:solidFill>
                  <a:srgbClr val="000000"/>
                </a:solidFill>
                <a:latin typeface="Times New Roman" panose="02020603050405020304" pitchFamily="18" charset="0"/>
                <a:ea typeface="微软雅黑" panose="020B0503020204020204" pitchFamily="34" charset="-122"/>
              </a:rPr>
              <a:t>n</a:t>
            </a:r>
            <a:r>
              <a:rPr lang="zh-CN" altLang="en-US" sz="1400" b="1">
                <a:solidFill>
                  <a:srgbClr val="000000"/>
                </a:solidFill>
                <a:latin typeface="Times New Roman" panose="02020603050405020304" pitchFamily="18" charset="0"/>
                <a:ea typeface="微软雅黑" panose="020B0503020204020204" pitchFamily="34" charset="-122"/>
              </a:rPr>
              <a:t>步线性表出，</a:t>
            </a:r>
            <a:r>
              <a:rPr lang="en-US" altLang="zh-CN" sz="1400" b="1">
                <a:solidFill>
                  <a:srgbClr val="000000"/>
                </a:solidFill>
                <a:latin typeface="Times New Roman" panose="02020603050405020304" pitchFamily="18" charset="0"/>
                <a:ea typeface="微软雅黑" panose="020B0503020204020204" pitchFamily="34" charset="-122"/>
              </a:rPr>
              <a:t>r</a:t>
            </a:r>
            <a:r>
              <a:rPr lang="zh-CN" altLang="en-US" sz="1400" b="1">
                <a:solidFill>
                  <a:srgbClr val="000000"/>
                </a:solidFill>
                <a:latin typeface="Times New Roman" panose="02020603050405020304" pitchFamily="18" charset="0"/>
                <a:ea typeface="微软雅黑" panose="020B0503020204020204" pitchFamily="34" charset="-122"/>
              </a:rPr>
              <a:t>为残差</a:t>
            </a:r>
          </a:p>
        </p:txBody>
      </p:sp>
      <p:graphicFrame>
        <p:nvGraphicFramePr>
          <p:cNvPr id="110607" name="对象 36"/>
          <p:cNvGraphicFramePr>
            <a:graphicFrameLocks noChangeAspect="1"/>
          </p:cNvGraphicFramePr>
          <p:nvPr>
            <p:extLst/>
          </p:nvPr>
        </p:nvGraphicFramePr>
        <p:xfrm>
          <a:off x="2078039" y="5859896"/>
          <a:ext cx="4079875" cy="561975"/>
        </p:xfrm>
        <a:graphic>
          <a:graphicData uri="http://schemas.openxmlformats.org/presentationml/2006/ole">
            <mc:AlternateContent xmlns:mc="http://schemas.openxmlformats.org/markup-compatibility/2006">
              <mc:Choice xmlns:v="urn:schemas-microsoft-com:vml" Requires="v">
                <p:oleObj spid="_x0000_s26681" name="Equation" r:id="rId17" imgW="2158920" imgH="304560" progId="Equation.DSMT4">
                  <p:embed/>
                </p:oleObj>
              </mc:Choice>
              <mc:Fallback>
                <p:oleObj name="Equation" r:id="rId17" imgW="2158920" imgH="304560" progId="Equation.DSMT4">
                  <p:embed/>
                  <p:pic>
                    <p:nvPicPr>
                      <p:cNvPr id="110607" name="对象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78039" y="5859896"/>
                        <a:ext cx="40798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右箭头 37"/>
          <p:cNvSpPr/>
          <p:nvPr/>
        </p:nvSpPr>
        <p:spPr bwMode="auto">
          <a:xfrm>
            <a:off x="1363664" y="5926570"/>
            <a:ext cx="504825" cy="344488"/>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10609" name="对象 38"/>
          <p:cNvGraphicFramePr>
            <a:graphicFrameLocks noChangeAspect="1"/>
          </p:cNvGraphicFramePr>
          <p:nvPr>
            <p:extLst/>
          </p:nvPr>
        </p:nvGraphicFramePr>
        <p:xfrm>
          <a:off x="7392123" y="4118554"/>
          <a:ext cx="2757487" cy="1166812"/>
        </p:xfrm>
        <a:graphic>
          <a:graphicData uri="http://schemas.openxmlformats.org/presentationml/2006/ole">
            <mc:AlternateContent xmlns:mc="http://schemas.openxmlformats.org/markup-compatibility/2006">
              <mc:Choice xmlns:v="urn:schemas-microsoft-com:vml" Requires="v">
                <p:oleObj spid="_x0000_s26682" name="Equation" r:id="rId19" imgW="1460160" imgH="634680" progId="Equation.DSMT4">
                  <p:embed/>
                </p:oleObj>
              </mc:Choice>
              <mc:Fallback>
                <p:oleObj name="Equation" r:id="rId19" imgW="1460160" imgH="634680" progId="Equation.DSMT4">
                  <p:embed/>
                  <p:pic>
                    <p:nvPicPr>
                      <p:cNvPr id="110609" name="对象 3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92123" y="4118554"/>
                        <a:ext cx="2757487" cy="11668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右箭头 39"/>
          <p:cNvSpPr/>
          <p:nvPr/>
        </p:nvSpPr>
        <p:spPr bwMode="auto">
          <a:xfrm>
            <a:off x="1363664" y="6464734"/>
            <a:ext cx="504825" cy="344487"/>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10611" name="对象 40"/>
          <p:cNvGraphicFramePr>
            <a:graphicFrameLocks noChangeAspect="1"/>
          </p:cNvGraphicFramePr>
          <p:nvPr>
            <p:extLst/>
          </p:nvPr>
        </p:nvGraphicFramePr>
        <p:xfrm>
          <a:off x="2119314" y="6383771"/>
          <a:ext cx="2689225" cy="396875"/>
        </p:xfrm>
        <a:graphic>
          <a:graphicData uri="http://schemas.openxmlformats.org/presentationml/2006/ole">
            <mc:AlternateContent xmlns:mc="http://schemas.openxmlformats.org/markup-compatibility/2006">
              <mc:Choice xmlns:v="urn:schemas-microsoft-com:vml" Requires="v">
                <p:oleObj spid="_x0000_s26683" name="Equation" r:id="rId21" imgW="1612800" imgH="241200" progId="Equation.DSMT4">
                  <p:embed/>
                </p:oleObj>
              </mc:Choice>
              <mc:Fallback>
                <p:oleObj name="Equation" r:id="rId21" imgW="1612800" imgH="241200" progId="Equation.DSMT4">
                  <p:embed/>
                  <p:pic>
                    <p:nvPicPr>
                      <p:cNvPr id="110611" name="对象 4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119314" y="6383771"/>
                        <a:ext cx="2689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612" name="对象 41"/>
          <p:cNvGraphicFramePr>
            <a:graphicFrameLocks noChangeAspect="1"/>
          </p:cNvGraphicFramePr>
          <p:nvPr>
            <p:extLst/>
          </p:nvPr>
        </p:nvGraphicFramePr>
        <p:xfrm>
          <a:off x="7082778" y="5339196"/>
          <a:ext cx="1927225" cy="1470025"/>
        </p:xfrm>
        <a:graphic>
          <a:graphicData uri="http://schemas.openxmlformats.org/presentationml/2006/ole">
            <mc:AlternateContent xmlns:mc="http://schemas.openxmlformats.org/markup-compatibility/2006">
              <mc:Choice xmlns:v="urn:schemas-microsoft-com:vml" Requires="v">
                <p:oleObj spid="_x0000_s26684" name="Equation" r:id="rId23" imgW="1524000" imgH="1168400" progId="Equation.DSMT4">
                  <p:embed/>
                </p:oleObj>
              </mc:Choice>
              <mc:Fallback>
                <p:oleObj name="Equation" r:id="rId23" imgW="1524000" imgH="1168400" progId="Equation.DSMT4">
                  <p:embed/>
                  <p:pic>
                    <p:nvPicPr>
                      <p:cNvPr id="110612" name="对象 4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082778" y="5339196"/>
                        <a:ext cx="192722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0613" name="对象 42"/>
          <p:cNvGraphicFramePr>
            <a:graphicFrameLocks noChangeAspect="1"/>
          </p:cNvGraphicFramePr>
          <p:nvPr>
            <p:extLst/>
          </p:nvPr>
        </p:nvGraphicFramePr>
        <p:xfrm>
          <a:off x="9413228" y="5337463"/>
          <a:ext cx="609600" cy="1468438"/>
        </p:xfrm>
        <a:graphic>
          <a:graphicData uri="http://schemas.openxmlformats.org/presentationml/2006/ole">
            <mc:AlternateContent xmlns:mc="http://schemas.openxmlformats.org/markup-compatibility/2006">
              <mc:Choice xmlns:v="urn:schemas-microsoft-com:vml" Requires="v">
                <p:oleObj spid="_x0000_s26685" name="Equation" r:id="rId25" imgW="482400" imgH="1168200" progId="Equation.DSMT4">
                  <p:embed/>
                </p:oleObj>
              </mc:Choice>
              <mc:Fallback>
                <p:oleObj name="Equation" r:id="rId25" imgW="482400" imgH="1168200" progId="Equation.DSMT4">
                  <p:embed/>
                  <p:pic>
                    <p:nvPicPr>
                      <p:cNvPr id="110613" name="对象 42"/>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413228" y="5337463"/>
                        <a:ext cx="609600"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4"/>
          <p:cNvSpPr>
            <a:spLocks noChangeArrowheads="1"/>
          </p:cNvSpPr>
          <p:nvPr/>
        </p:nvSpPr>
        <p:spPr bwMode="auto">
          <a:xfrm>
            <a:off x="672916" y="1414464"/>
            <a:ext cx="1827744"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数学原理</a:t>
            </a:r>
            <a:endParaRPr lang="en-US" altLang="zh-CN" sz="2000" dirty="0">
              <a:latin typeface="华文细黑" panose="02010600040101010101" pitchFamily="2" charset="-122"/>
              <a:ea typeface="华文细黑" panose="02010600040101010101" pitchFamily="2" charset="-122"/>
            </a:endParaRPr>
          </a:p>
        </p:txBody>
      </p:sp>
      <p:sp>
        <p:nvSpPr>
          <p:cNvPr id="24" name="文本框 23"/>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57</a:t>
            </a:fld>
            <a:endParaRPr lang="zh-CN" altLang="en-US"/>
          </a:p>
        </p:txBody>
      </p:sp>
    </p:spTree>
    <p:extLst>
      <p:ext uri="{BB962C8B-B14F-4D97-AF65-F5344CB8AC3E}">
        <p14:creationId xmlns:p14="http://schemas.microsoft.com/office/powerpoint/2010/main" val="20035601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文本框 5"/>
          <p:cNvSpPr txBox="1">
            <a:spLocks noChangeArrowheads="1"/>
          </p:cNvSpPr>
          <p:nvPr/>
        </p:nvSpPr>
        <p:spPr bwMode="auto">
          <a:xfrm>
            <a:off x="672916" y="1797051"/>
            <a:ext cx="4649788"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b="1" dirty="0">
                <a:solidFill>
                  <a:srgbClr val="000000"/>
                </a:solidFill>
                <a:latin typeface="Times New Roman" panose="02020603050405020304" pitchFamily="18" charset="0"/>
                <a:ea typeface="微软雅黑" panose="020B0503020204020204" pitchFamily="34" charset="-122"/>
              </a:rPr>
              <a:t>模态及特征值的求解算法</a:t>
            </a:r>
            <a:r>
              <a:rPr lang="en-US" altLang="zh-CN" b="1" dirty="0">
                <a:solidFill>
                  <a:srgbClr val="000000"/>
                </a:solidFill>
                <a:latin typeface="Times New Roman" panose="02020603050405020304" pitchFamily="18" charset="0"/>
                <a:ea typeface="微软雅黑" panose="020B0503020204020204" pitchFamily="34" charset="-122"/>
              </a:rPr>
              <a:t>(</a:t>
            </a:r>
            <a:r>
              <a:rPr lang="en-US" altLang="zh-CN" b="1" dirty="0" err="1">
                <a:solidFill>
                  <a:srgbClr val="000000"/>
                </a:solidFill>
                <a:latin typeface="Times New Roman" panose="02020603050405020304" pitchFamily="18" charset="0"/>
                <a:ea typeface="微软雅黑" panose="020B0503020204020204" pitchFamily="34" charset="-122"/>
              </a:rPr>
              <a:t>Arnoldi</a:t>
            </a:r>
            <a:r>
              <a:rPr lang="zh-CN" altLang="en-US" b="1" dirty="0">
                <a:solidFill>
                  <a:srgbClr val="000000"/>
                </a:solidFill>
                <a:latin typeface="Times New Roman" panose="02020603050405020304" pitchFamily="18" charset="0"/>
                <a:ea typeface="微软雅黑" panose="020B0503020204020204" pitchFamily="34" charset="-122"/>
              </a:rPr>
              <a:t>算法</a:t>
            </a:r>
            <a:r>
              <a:rPr lang="en-US" altLang="zh-CN" b="1" dirty="0">
                <a:solidFill>
                  <a:srgbClr val="000000"/>
                </a:solidFill>
                <a:latin typeface="Times New Roman" panose="02020603050405020304" pitchFamily="18" charset="0"/>
                <a:ea typeface="微软雅黑" panose="020B0503020204020204" pitchFamily="34" charset="-122"/>
              </a:rPr>
              <a:t>)</a:t>
            </a:r>
            <a:endParaRPr lang="zh-CN" altLang="en-US" b="1" dirty="0">
              <a:solidFill>
                <a:srgbClr val="000000"/>
              </a:solidFill>
              <a:latin typeface="Times New Roman" panose="02020603050405020304" pitchFamily="18" charset="0"/>
              <a:ea typeface="微软雅黑" panose="020B0503020204020204" pitchFamily="34" charset="-122"/>
            </a:endParaRPr>
          </a:p>
        </p:txBody>
      </p:sp>
      <p:graphicFrame>
        <p:nvGraphicFramePr>
          <p:cNvPr id="111621" name="对象 6"/>
          <p:cNvGraphicFramePr>
            <a:graphicFrameLocks noChangeAspect="1"/>
          </p:cNvGraphicFramePr>
          <p:nvPr>
            <p:extLst/>
          </p:nvPr>
        </p:nvGraphicFramePr>
        <p:xfrm>
          <a:off x="6736772" y="1911142"/>
          <a:ext cx="2689225" cy="396875"/>
        </p:xfrm>
        <a:graphic>
          <a:graphicData uri="http://schemas.openxmlformats.org/presentationml/2006/ole">
            <mc:AlternateContent xmlns:mc="http://schemas.openxmlformats.org/markup-compatibility/2006">
              <mc:Choice xmlns:v="urn:schemas-microsoft-com:vml" Requires="v">
                <p:oleObj spid="_x0000_s27706" name="Equation" r:id="rId3" imgW="1612800" imgH="241200" progId="Equation.DSMT4">
                  <p:embed/>
                </p:oleObj>
              </mc:Choice>
              <mc:Fallback>
                <p:oleObj name="Equation" r:id="rId3" imgW="1612800" imgH="241200" progId="Equation.DSMT4">
                  <p:embed/>
                  <p:pic>
                    <p:nvPicPr>
                      <p:cNvPr id="111621"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6772" y="1911142"/>
                        <a:ext cx="2689225" cy="396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2" name="对象 7"/>
          <p:cNvGraphicFramePr>
            <a:graphicFrameLocks noChangeAspect="1"/>
          </p:cNvGraphicFramePr>
          <p:nvPr>
            <p:extLst/>
          </p:nvPr>
        </p:nvGraphicFramePr>
        <p:xfrm>
          <a:off x="3037898" y="2409165"/>
          <a:ext cx="1397000" cy="396875"/>
        </p:xfrm>
        <a:graphic>
          <a:graphicData uri="http://schemas.openxmlformats.org/presentationml/2006/ole">
            <mc:AlternateContent xmlns:mc="http://schemas.openxmlformats.org/markup-compatibility/2006">
              <mc:Choice xmlns:v="urn:schemas-microsoft-com:vml" Requires="v">
                <p:oleObj spid="_x0000_s27707" name="Equation" r:id="rId5" imgW="838080" imgH="241200" progId="Equation.DSMT4">
                  <p:embed/>
                </p:oleObj>
              </mc:Choice>
              <mc:Fallback>
                <p:oleObj name="Equation" r:id="rId5" imgW="838080" imgH="241200" progId="Equation.DSMT4">
                  <p:embed/>
                  <p:pic>
                    <p:nvPicPr>
                      <p:cNvPr id="111622"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7898" y="2409165"/>
                        <a:ext cx="139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3" name="对象 8"/>
          <p:cNvGraphicFramePr>
            <a:graphicFrameLocks noChangeAspect="1"/>
          </p:cNvGraphicFramePr>
          <p:nvPr>
            <p:extLst/>
          </p:nvPr>
        </p:nvGraphicFramePr>
        <p:xfrm>
          <a:off x="4831773" y="2461552"/>
          <a:ext cx="1016000" cy="292100"/>
        </p:xfrm>
        <a:graphic>
          <a:graphicData uri="http://schemas.openxmlformats.org/presentationml/2006/ole">
            <mc:AlternateContent xmlns:mc="http://schemas.openxmlformats.org/markup-compatibility/2006">
              <mc:Choice xmlns:v="urn:schemas-microsoft-com:vml" Requires="v">
                <p:oleObj spid="_x0000_s27708" name="Equation" r:id="rId7" imgW="609480" imgH="177480" progId="Equation.DSMT4">
                  <p:embed/>
                </p:oleObj>
              </mc:Choice>
              <mc:Fallback>
                <p:oleObj name="Equation" r:id="rId7" imgW="609480" imgH="177480" progId="Equation.DSMT4">
                  <p:embed/>
                  <p:pic>
                    <p:nvPicPr>
                      <p:cNvPr id="111623"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1773" y="2461552"/>
                        <a:ext cx="10160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24" name="文本框 9"/>
          <p:cNvSpPr txBox="1">
            <a:spLocks noChangeArrowheads="1"/>
          </p:cNvSpPr>
          <p:nvPr/>
        </p:nvSpPr>
        <p:spPr bwMode="auto">
          <a:xfrm>
            <a:off x="5987473" y="2409164"/>
            <a:ext cx="37909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i="1">
                <a:solidFill>
                  <a:srgbClr val="000000"/>
                </a:solidFill>
                <a:latin typeface="Times New Roman" panose="02020603050405020304" pitchFamily="18" charset="0"/>
                <a:ea typeface="微软雅黑" panose="020B0503020204020204" pitchFamily="34" charset="-122"/>
              </a:rPr>
              <a:t>T</a:t>
            </a:r>
            <a:r>
              <a:rPr lang="zh-CN" altLang="en-US" sz="1400" b="1">
                <a:solidFill>
                  <a:srgbClr val="000000"/>
                </a:solidFill>
                <a:latin typeface="Times New Roman" panose="02020603050405020304" pitchFamily="18" charset="0"/>
                <a:ea typeface="微软雅黑" panose="020B0503020204020204" pitchFamily="34" charset="-122"/>
              </a:rPr>
              <a:t>为</a:t>
            </a:r>
            <a:r>
              <a:rPr lang="en-US" altLang="zh-CN" sz="1400" b="1" i="1">
                <a:solidFill>
                  <a:srgbClr val="000000"/>
                </a:solidFill>
                <a:latin typeface="Times New Roman" panose="02020603050405020304" pitchFamily="18" charset="0"/>
                <a:ea typeface="微软雅黑" panose="020B0503020204020204" pitchFamily="34" charset="-122"/>
              </a:rPr>
              <a:t>C</a:t>
            </a:r>
            <a:r>
              <a:rPr lang="zh-CN" altLang="en-US" sz="1400" b="1">
                <a:solidFill>
                  <a:srgbClr val="000000"/>
                </a:solidFill>
                <a:latin typeface="Times New Roman" panose="02020603050405020304" pitchFamily="18" charset="0"/>
                <a:ea typeface="微软雅黑" panose="020B0503020204020204" pitchFamily="34" charset="-122"/>
              </a:rPr>
              <a:t>的特征向量矩阵，    为</a:t>
            </a:r>
            <a:r>
              <a:rPr lang="en-US" altLang="zh-CN" sz="1400" b="1" i="1">
                <a:solidFill>
                  <a:srgbClr val="000000"/>
                </a:solidFill>
                <a:latin typeface="Times New Roman" panose="02020603050405020304" pitchFamily="18" charset="0"/>
                <a:ea typeface="微软雅黑" panose="020B0503020204020204" pitchFamily="34" charset="-122"/>
              </a:rPr>
              <a:t>C</a:t>
            </a:r>
            <a:r>
              <a:rPr lang="zh-CN" altLang="en-US" sz="1400" b="1">
                <a:solidFill>
                  <a:srgbClr val="000000"/>
                </a:solidFill>
                <a:latin typeface="Times New Roman" panose="02020603050405020304" pitchFamily="18" charset="0"/>
                <a:ea typeface="微软雅黑" panose="020B0503020204020204" pitchFamily="34" charset="-122"/>
              </a:rPr>
              <a:t>的特征值对角阵</a:t>
            </a:r>
            <a:endParaRPr lang="zh-CN" altLang="en-US" sz="1400" b="1" i="1">
              <a:solidFill>
                <a:srgbClr val="000000"/>
              </a:solidFill>
              <a:latin typeface="Times New Roman" panose="02020603050405020304" pitchFamily="18" charset="0"/>
              <a:ea typeface="微软雅黑" panose="020B0503020204020204" pitchFamily="34" charset="-122"/>
            </a:endParaRPr>
          </a:p>
        </p:txBody>
      </p:sp>
      <p:graphicFrame>
        <p:nvGraphicFramePr>
          <p:cNvPr id="111625" name="对象 10"/>
          <p:cNvGraphicFramePr>
            <a:graphicFrameLocks noChangeAspect="1"/>
          </p:cNvGraphicFramePr>
          <p:nvPr>
            <p:extLst/>
          </p:nvPr>
        </p:nvGraphicFramePr>
        <p:xfrm>
          <a:off x="7827385" y="2444090"/>
          <a:ext cx="254000" cy="269875"/>
        </p:xfrm>
        <a:graphic>
          <a:graphicData uri="http://schemas.openxmlformats.org/presentationml/2006/ole">
            <mc:AlternateContent xmlns:mc="http://schemas.openxmlformats.org/markup-compatibility/2006">
              <mc:Choice xmlns:v="urn:schemas-microsoft-com:vml" Requires="v">
                <p:oleObj spid="_x0000_s27709" name="Equation" r:id="rId9" imgW="152280" imgH="164880" progId="Equation.DSMT4">
                  <p:embed/>
                </p:oleObj>
              </mc:Choice>
              <mc:Fallback>
                <p:oleObj name="Equation" r:id="rId9" imgW="152280" imgH="164880" progId="Equation.DSMT4">
                  <p:embed/>
                  <p:pic>
                    <p:nvPicPr>
                      <p:cNvPr id="111625"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27385" y="2444090"/>
                        <a:ext cx="254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6" name="对象 11"/>
          <p:cNvGraphicFramePr>
            <a:graphicFrameLocks noChangeAspect="1"/>
          </p:cNvGraphicFramePr>
          <p:nvPr>
            <p:extLst/>
          </p:nvPr>
        </p:nvGraphicFramePr>
        <p:xfrm>
          <a:off x="3037899" y="2931453"/>
          <a:ext cx="2624137" cy="396875"/>
        </p:xfrm>
        <a:graphic>
          <a:graphicData uri="http://schemas.openxmlformats.org/presentationml/2006/ole">
            <mc:AlternateContent xmlns:mc="http://schemas.openxmlformats.org/markup-compatibility/2006">
              <mc:Choice xmlns:v="urn:schemas-microsoft-com:vml" Requires="v">
                <p:oleObj spid="_x0000_s27710" name="Equation" r:id="rId11" imgW="1574640" imgH="241200" progId="Equation.DSMT4">
                  <p:embed/>
                </p:oleObj>
              </mc:Choice>
              <mc:Fallback>
                <p:oleObj name="Equation" r:id="rId11" imgW="1574640" imgH="241200" progId="Equation.DSMT4">
                  <p:embed/>
                  <p:pic>
                    <p:nvPicPr>
                      <p:cNvPr id="111626" name="对象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37899" y="2931453"/>
                        <a:ext cx="2624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右箭头 12"/>
          <p:cNvSpPr/>
          <p:nvPr/>
        </p:nvSpPr>
        <p:spPr bwMode="auto">
          <a:xfrm>
            <a:off x="2325111" y="2931453"/>
            <a:ext cx="504825" cy="344487"/>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11628" name="对象 13"/>
          <p:cNvGraphicFramePr>
            <a:graphicFrameLocks noChangeAspect="1"/>
          </p:cNvGraphicFramePr>
          <p:nvPr>
            <p:extLst/>
          </p:nvPr>
        </p:nvGraphicFramePr>
        <p:xfrm>
          <a:off x="5987473" y="2994953"/>
          <a:ext cx="254000" cy="269875"/>
        </p:xfrm>
        <a:graphic>
          <a:graphicData uri="http://schemas.openxmlformats.org/presentationml/2006/ole">
            <mc:AlternateContent xmlns:mc="http://schemas.openxmlformats.org/markup-compatibility/2006">
              <mc:Choice xmlns:v="urn:schemas-microsoft-com:vml" Requires="v">
                <p:oleObj spid="_x0000_s27711" name="Equation" r:id="rId13" imgW="152280" imgH="164880" progId="Equation.DSMT4">
                  <p:embed/>
                </p:oleObj>
              </mc:Choice>
              <mc:Fallback>
                <p:oleObj name="Equation" r:id="rId13" imgW="152280" imgH="164880" progId="Equation.DSMT4">
                  <p:embed/>
                  <p:pic>
                    <p:nvPicPr>
                      <p:cNvPr id="111628" name="对象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87473" y="2994953"/>
                        <a:ext cx="254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29" name="文本框 14"/>
          <p:cNvSpPr txBox="1">
            <a:spLocks noChangeArrowheads="1"/>
          </p:cNvSpPr>
          <p:nvPr/>
        </p:nvSpPr>
        <p:spPr bwMode="auto">
          <a:xfrm>
            <a:off x="6185911" y="2953678"/>
            <a:ext cx="359251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a:solidFill>
                  <a:srgbClr val="000000"/>
                </a:solidFill>
                <a:latin typeface="Times New Roman" panose="02020603050405020304" pitchFamily="18" charset="0"/>
                <a:ea typeface="微软雅黑" panose="020B0503020204020204" pitchFamily="34" charset="-122"/>
              </a:rPr>
              <a:t>也是</a:t>
            </a:r>
            <a:r>
              <a:rPr lang="en-US" altLang="zh-CN" sz="1400" b="1" i="1">
                <a:solidFill>
                  <a:srgbClr val="000000"/>
                </a:solidFill>
                <a:latin typeface="Times New Roman" panose="02020603050405020304" pitchFamily="18" charset="0"/>
                <a:ea typeface="微软雅黑" panose="020B0503020204020204" pitchFamily="34" charset="-122"/>
              </a:rPr>
              <a:t>A</a:t>
            </a:r>
            <a:r>
              <a:rPr lang="zh-CN" altLang="en-US" sz="1400" b="1">
                <a:solidFill>
                  <a:srgbClr val="000000"/>
                </a:solidFill>
                <a:latin typeface="Times New Roman" panose="02020603050405020304" pitchFamily="18" charset="0"/>
                <a:ea typeface="微软雅黑" panose="020B0503020204020204" pitchFamily="34" charset="-122"/>
              </a:rPr>
              <a:t>的特征值对角阵，       为</a:t>
            </a:r>
            <a:r>
              <a:rPr lang="en-US" altLang="zh-CN" sz="1400" b="1" i="1">
                <a:solidFill>
                  <a:srgbClr val="000000"/>
                </a:solidFill>
                <a:latin typeface="Times New Roman" panose="02020603050405020304" pitchFamily="18" charset="0"/>
                <a:ea typeface="微软雅黑" panose="020B0503020204020204" pitchFamily="34" charset="-122"/>
              </a:rPr>
              <a:t>A</a:t>
            </a:r>
            <a:r>
              <a:rPr lang="zh-CN" altLang="en-US" sz="1400" b="1">
                <a:solidFill>
                  <a:srgbClr val="000000"/>
                </a:solidFill>
                <a:latin typeface="Times New Roman" panose="02020603050405020304" pitchFamily="18" charset="0"/>
                <a:ea typeface="微软雅黑" panose="020B0503020204020204" pitchFamily="34" charset="-122"/>
              </a:rPr>
              <a:t>的特征向量</a:t>
            </a:r>
            <a:endParaRPr lang="zh-CN" altLang="en-US" sz="1400" b="1" i="1">
              <a:solidFill>
                <a:srgbClr val="000000"/>
              </a:solidFill>
              <a:latin typeface="Times New Roman" panose="02020603050405020304" pitchFamily="18" charset="0"/>
              <a:ea typeface="微软雅黑" panose="020B0503020204020204" pitchFamily="34" charset="-122"/>
            </a:endParaRPr>
          </a:p>
        </p:txBody>
      </p:sp>
      <p:graphicFrame>
        <p:nvGraphicFramePr>
          <p:cNvPr id="111630" name="对象 15"/>
          <p:cNvGraphicFramePr>
            <a:graphicFrameLocks noChangeAspect="1"/>
          </p:cNvGraphicFramePr>
          <p:nvPr>
            <p:extLst/>
          </p:nvPr>
        </p:nvGraphicFramePr>
        <p:xfrm>
          <a:off x="8054399" y="2964789"/>
          <a:ext cx="433387" cy="300038"/>
        </p:xfrm>
        <a:graphic>
          <a:graphicData uri="http://schemas.openxmlformats.org/presentationml/2006/ole">
            <mc:AlternateContent xmlns:mc="http://schemas.openxmlformats.org/markup-compatibility/2006">
              <mc:Choice xmlns:v="urn:schemas-microsoft-com:vml" Requires="v">
                <p:oleObj spid="_x0000_s27712" name="Equation" r:id="rId14" imgW="342720" imgH="241200" progId="Equation.DSMT4">
                  <p:embed/>
                </p:oleObj>
              </mc:Choice>
              <mc:Fallback>
                <p:oleObj name="Equation" r:id="rId14" imgW="342720" imgH="241200" progId="Equation.DSMT4">
                  <p:embed/>
                  <p:pic>
                    <p:nvPicPr>
                      <p:cNvPr id="111630" name="对象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54399" y="2964789"/>
                        <a:ext cx="433387"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31" name="文本框 16"/>
          <p:cNvSpPr txBox="1">
            <a:spLocks noChangeArrowheads="1"/>
          </p:cNvSpPr>
          <p:nvPr/>
        </p:nvSpPr>
        <p:spPr bwMode="auto">
          <a:xfrm>
            <a:off x="851247" y="3482382"/>
            <a:ext cx="32988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Wingdings" panose="05000000000000000000" pitchFamily="2" charset="2"/>
              <a:buChar char="ü"/>
            </a:pPr>
            <a:r>
              <a:rPr lang="zh-CN" altLang="en-US" b="1" dirty="0">
                <a:solidFill>
                  <a:srgbClr val="FF0000"/>
                </a:solidFill>
                <a:latin typeface="Times New Roman" panose="02020603050405020304" pitchFamily="18" charset="0"/>
                <a:ea typeface="微软雅黑" panose="020B0503020204020204" pitchFamily="34" charset="-122"/>
              </a:rPr>
              <a:t>求解</a:t>
            </a:r>
            <a:r>
              <a:rPr lang="en-US" altLang="zh-CN" b="1" i="1" dirty="0">
                <a:solidFill>
                  <a:srgbClr val="FF0000"/>
                </a:solidFill>
                <a:latin typeface="Times New Roman" panose="02020603050405020304" pitchFamily="18" charset="0"/>
                <a:ea typeface="微软雅黑" panose="020B0503020204020204" pitchFamily="34" charset="-122"/>
              </a:rPr>
              <a:t>C</a:t>
            </a:r>
            <a:r>
              <a:rPr lang="zh-CN" altLang="en-US" b="1" dirty="0">
                <a:solidFill>
                  <a:srgbClr val="FF0000"/>
                </a:solidFill>
                <a:latin typeface="Times New Roman" panose="02020603050405020304" pitchFamily="18" charset="0"/>
                <a:ea typeface="微软雅黑" panose="020B0503020204020204" pitchFamily="34" charset="-122"/>
              </a:rPr>
              <a:t>的特征值与特征向量</a:t>
            </a:r>
          </a:p>
        </p:txBody>
      </p:sp>
      <p:graphicFrame>
        <p:nvGraphicFramePr>
          <p:cNvPr id="111632" name="对象 17"/>
          <p:cNvGraphicFramePr>
            <a:graphicFrameLocks noChangeAspect="1"/>
          </p:cNvGraphicFramePr>
          <p:nvPr>
            <p:extLst/>
          </p:nvPr>
        </p:nvGraphicFramePr>
        <p:xfrm>
          <a:off x="5092701" y="4059503"/>
          <a:ext cx="1057275" cy="412750"/>
        </p:xfrm>
        <a:graphic>
          <a:graphicData uri="http://schemas.openxmlformats.org/presentationml/2006/ole">
            <mc:AlternateContent xmlns:mc="http://schemas.openxmlformats.org/markup-compatibility/2006">
              <mc:Choice xmlns:v="urn:schemas-microsoft-com:vml" Requires="v">
                <p:oleObj spid="_x0000_s27713" name="Equation" r:id="rId16" imgW="609480" imgH="241200" progId="Equation.DSMT4">
                  <p:embed/>
                </p:oleObj>
              </mc:Choice>
              <mc:Fallback>
                <p:oleObj name="Equation" r:id="rId16" imgW="609480" imgH="241200" progId="Equation.DSMT4">
                  <p:embed/>
                  <p:pic>
                    <p:nvPicPr>
                      <p:cNvPr id="111632" name="对象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92701" y="4059503"/>
                        <a:ext cx="10572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33" name="矩形 18"/>
          <p:cNvSpPr>
            <a:spLocks noChangeArrowheads="1"/>
          </p:cNvSpPr>
          <p:nvPr/>
        </p:nvSpPr>
        <p:spPr bwMode="auto">
          <a:xfrm>
            <a:off x="6415088" y="4059503"/>
            <a:ext cx="2608262"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en-US" altLang="zh-CN" sz="1400" b="1" i="1">
                <a:solidFill>
                  <a:srgbClr val="000000"/>
                </a:solidFill>
                <a:latin typeface="Times New Roman" panose="02020603050405020304" pitchFamily="18" charset="0"/>
                <a:ea typeface="微软雅黑" panose="020B0503020204020204" pitchFamily="34" charset="-122"/>
              </a:rPr>
              <a:t>Q</a:t>
            </a:r>
            <a:r>
              <a:rPr lang="zh-CN" altLang="en-US" sz="1400" b="1">
                <a:solidFill>
                  <a:srgbClr val="000000"/>
                </a:solidFill>
                <a:latin typeface="Times New Roman" panose="02020603050405020304" pitchFamily="18" charset="0"/>
                <a:ea typeface="微软雅黑" panose="020B0503020204020204" pitchFamily="34" charset="-122"/>
              </a:rPr>
              <a:t>为正交矩阵，</a:t>
            </a:r>
            <a:r>
              <a:rPr lang="en-US" altLang="zh-CN" sz="1400" b="1" i="1">
                <a:solidFill>
                  <a:srgbClr val="000000"/>
                </a:solidFill>
                <a:latin typeface="Times New Roman" panose="02020603050405020304" pitchFamily="18" charset="0"/>
                <a:ea typeface="微软雅黑" panose="020B0503020204020204" pitchFamily="34" charset="-122"/>
              </a:rPr>
              <a:t>R</a:t>
            </a:r>
            <a:r>
              <a:rPr lang="zh-CN" altLang="en-US" sz="1400" b="1">
                <a:solidFill>
                  <a:srgbClr val="000000"/>
                </a:solidFill>
                <a:latin typeface="Times New Roman" panose="02020603050405020304" pitchFamily="18" charset="0"/>
                <a:ea typeface="微软雅黑" panose="020B0503020204020204" pitchFamily="34" charset="-122"/>
              </a:rPr>
              <a:t>为上三角矩阵</a:t>
            </a:r>
            <a:endParaRPr lang="en-US" altLang="zh-CN" sz="1400" b="1">
              <a:solidFill>
                <a:srgbClr val="000000"/>
              </a:solidFill>
              <a:latin typeface="Times New Roman" panose="02020603050405020304" pitchFamily="18" charset="0"/>
              <a:ea typeface="微软雅黑" panose="020B0503020204020204" pitchFamily="34" charset="-122"/>
            </a:endParaRPr>
          </a:p>
        </p:txBody>
      </p:sp>
      <p:graphicFrame>
        <p:nvGraphicFramePr>
          <p:cNvPr id="111634" name="对象 19"/>
          <p:cNvGraphicFramePr>
            <a:graphicFrameLocks noChangeAspect="1"/>
          </p:cNvGraphicFramePr>
          <p:nvPr>
            <p:extLst/>
          </p:nvPr>
        </p:nvGraphicFramePr>
        <p:xfrm>
          <a:off x="4938713" y="4597667"/>
          <a:ext cx="1568450" cy="377825"/>
        </p:xfrm>
        <a:graphic>
          <a:graphicData uri="http://schemas.openxmlformats.org/presentationml/2006/ole">
            <mc:AlternateContent xmlns:mc="http://schemas.openxmlformats.org/markup-compatibility/2006">
              <mc:Choice xmlns:v="urn:schemas-microsoft-com:vml" Requires="v">
                <p:oleObj spid="_x0000_s27714" name="Equation" r:id="rId18" imgW="990360" imgH="241200" progId="Equation.DSMT4">
                  <p:embed/>
                </p:oleObj>
              </mc:Choice>
              <mc:Fallback>
                <p:oleObj name="Equation" r:id="rId18" imgW="990360" imgH="241200" progId="Equation.DSMT4">
                  <p:embed/>
                  <p:pic>
                    <p:nvPicPr>
                      <p:cNvPr id="111634" name="对象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38713" y="4597667"/>
                        <a:ext cx="156845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右箭头 20"/>
          <p:cNvSpPr/>
          <p:nvPr/>
        </p:nvSpPr>
        <p:spPr bwMode="auto">
          <a:xfrm>
            <a:off x="4300539" y="4597667"/>
            <a:ext cx="504825" cy="344487"/>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sp>
        <p:nvSpPr>
          <p:cNvPr id="111636" name="矩形 21"/>
          <p:cNvSpPr>
            <a:spLocks noChangeArrowheads="1"/>
          </p:cNvSpPr>
          <p:nvPr/>
        </p:nvSpPr>
        <p:spPr bwMode="auto">
          <a:xfrm>
            <a:off x="6415088" y="4610367"/>
            <a:ext cx="37639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a:solidFill>
                  <a:srgbClr val="000000"/>
                </a:solidFill>
                <a:latin typeface="Times New Roman" panose="02020603050405020304" pitchFamily="18" charset="0"/>
                <a:ea typeface="微软雅黑" panose="020B0503020204020204" pitchFamily="34" charset="-122"/>
              </a:rPr>
              <a:t>右端均为已知量，</a:t>
            </a:r>
            <a:r>
              <a:rPr lang="en-US" altLang="zh-CN" sz="1400" b="1" i="1">
                <a:solidFill>
                  <a:srgbClr val="000000"/>
                </a:solidFill>
                <a:latin typeface="Times New Roman" panose="02020603050405020304" pitchFamily="18" charset="0"/>
                <a:ea typeface="微软雅黑" panose="020B0503020204020204" pitchFamily="34" charset="-122"/>
              </a:rPr>
              <a:t>C</a:t>
            </a:r>
            <a:r>
              <a:rPr lang="zh-CN" altLang="en-US" sz="1400" b="1">
                <a:solidFill>
                  <a:srgbClr val="000000"/>
                </a:solidFill>
                <a:latin typeface="Times New Roman" panose="02020603050405020304" pitchFamily="18" charset="0"/>
                <a:ea typeface="微软雅黑" panose="020B0503020204020204" pitchFamily="34" charset="-122"/>
              </a:rPr>
              <a:t>的特征值与特征向量可求</a:t>
            </a:r>
            <a:endParaRPr lang="en-US" altLang="zh-CN" sz="1400" b="1">
              <a:solidFill>
                <a:srgbClr val="000000"/>
              </a:solidFill>
              <a:latin typeface="Times New Roman" panose="02020603050405020304" pitchFamily="18" charset="0"/>
              <a:ea typeface="微软雅黑" panose="020B0503020204020204" pitchFamily="34" charset="-122"/>
            </a:endParaRPr>
          </a:p>
        </p:txBody>
      </p:sp>
      <p:graphicFrame>
        <p:nvGraphicFramePr>
          <p:cNvPr id="111637" name="对象 22"/>
          <p:cNvGraphicFramePr>
            <a:graphicFrameLocks noChangeAspect="1"/>
          </p:cNvGraphicFramePr>
          <p:nvPr>
            <p:extLst/>
          </p:nvPr>
        </p:nvGraphicFramePr>
        <p:xfrm>
          <a:off x="4433888" y="5108842"/>
          <a:ext cx="2836862" cy="395287"/>
        </p:xfrm>
        <a:graphic>
          <a:graphicData uri="http://schemas.openxmlformats.org/presentationml/2006/ole">
            <mc:AlternateContent xmlns:mc="http://schemas.openxmlformats.org/markup-compatibility/2006">
              <mc:Choice xmlns:v="urn:schemas-microsoft-com:vml" Requires="v">
                <p:oleObj spid="_x0000_s27715" name="Equation" r:id="rId20" imgW="1701720" imgH="241200" progId="Equation.DSMT4">
                  <p:embed/>
                </p:oleObj>
              </mc:Choice>
              <mc:Fallback>
                <p:oleObj name="Equation" r:id="rId20" imgW="1701720" imgH="241200" progId="Equation.DSMT4">
                  <p:embed/>
                  <p:pic>
                    <p:nvPicPr>
                      <p:cNvPr id="111637" name="对象 2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33888" y="5108842"/>
                        <a:ext cx="28368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38" name="对象 23"/>
          <p:cNvGraphicFramePr>
            <a:graphicFrameLocks noChangeAspect="1"/>
          </p:cNvGraphicFramePr>
          <p:nvPr>
            <p:extLst/>
          </p:nvPr>
        </p:nvGraphicFramePr>
        <p:xfrm>
          <a:off x="2068513" y="5596203"/>
          <a:ext cx="266700" cy="242888"/>
        </p:xfrm>
        <a:graphic>
          <a:graphicData uri="http://schemas.openxmlformats.org/presentationml/2006/ole">
            <mc:AlternateContent xmlns:mc="http://schemas.openxmlformats.org/markup-compatibility/2006">
              <mc:Choice xmlns:v="urn:schemas-microsoft-com:vml" Requires="v">
                <p:oleObj spid="_x0000_s27716" name="Equation" r:id="rId22" imgW="164880" imgH="152280" progId="Equation.DSMT4">
                  <p:embed/>
                </p:oleObj>
              </mc:Choice>
              <mc:Fallback>
                <p:oleObj name="Equation" r:id="rId22" imgW="164880" imgH="152280" progId="Equation.DSMT4">
                  <p:embed/>
                  <p:pic>
                    <p:nvPicPr>
                      <p:cNvPr id="111638" name="对象 2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068513" y="5596203"/>
                        <a:ext cx="26670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39" name="矩形 24"/>
          <p:cNvSpPr>
            <a:spLocks noChangeArrowheads="1"/>
          </p:cNvSpPr>
          <p:nvPr/>
        </p:nvSpPr>
        <p:spPr bwMode="auto">
          <a:xfrm>
            <a:off x="2286001" y="5534291"/>
            <a:ext cx="8118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1400" b="1">
                <a:solidFill>
                  <a:srgbClr val="000000"/>
                </a:solidFill>
                <a:latin typeface="Times New Roman" panose="02020603050405020304" pitchFamily="18" charset="0"/>
                <a:ea typeface="微软雅黑" panose="020B0503020204020204" pitchFamily="34" charset="-122"/>
              </a:rPr>
              <a:t>的列向量     即为第</a:t>
            </a:r>
            <a:r>
              <a:rPr lang="en-US" altLang="zh-CN" sz="1400" b="1">
                <a:solidFill>
                  <a:srgbClr val="000000"/>
                </a:solidFill>
                <a:latin typeface="Times New Roman" panose="02020603050405020304" pitchFamily="18" charset="0"/>
                <a:ea typeface="微软雅黑" panose="020B0503020204020204" pitchFamily="34" charset="-122"/>
              </a:rPr>
              <a:t>i</a:t>
            </a:r>
            <a:r>
              <a:rPr lang="zh-CN" altLang="en-US" sz="1400" b="1">
                <a:solidFill>
                  <a:srgbClr val="000000"/>
                </a:solidFill>
                <a:latin typeface="Times New Roman" panose="02020603050405020304" pitchFamily="18" charset="0"/>
                <a:ea typeface="微软雅黑" panose="020B0503020204020204" pitchFamily="34" charset="-122"/>
              </a:rPr>
              <a:t>阶模态，其</a:t>
            </a:r>
            <a:r>
              <a:rPr lang="en-US" altLang="zh-CN" sz="1400" b="1">
                <a:solidFill>
                  <a:srgbClr val="000000"/>
                </a:solidFill>
                <a:latin typeface="Times New Roman" panose="02020603050405020304" pitchFamily="18" charset="0"/>
                <a:ea typeface="微软雅黑" panose="020B0503020204020204" pitchFamily="34" charset="-122"/>
              </a:rPr>
              <a:t>2-</a:t>
            </a:r>
            <a:r>
              <a:rPr lang="zh-CN" altLang="en-US" sz="1400" b="1">
                <a:solidFill>
                  <a:srgbClr val="000000"/>
                </a:solidFill>
                <a:latin typeface="Times New Roman" panose="02020603050405020304" pitchFamily="18" charset="0"/>
                <a:ea typeface="微软雅黑" panose="020B0503020204020204" pitchFamily="34" charset="-122"/>
              </a:rPr>
              <a:t>范数反映了动力模态的全局能量大小，除时均流场模态的特征值为实数外，伴随矩阵</a:t>
            </a:r>
            <a:r>
              <a:rPr lang="en-US" altLang="zh-CN" sz="1400" b="1" i="1">
                <a:solidFill>
                  <a:srgbClr val="000000"/>
                </a:solidFill>
                <a:latin typeface="Times New Roman" panose="02020603050405020304" pitchFamily="18" charset="0"/>
                <a:ea typeface="微软雅黑" panose="020B0503020204020204" pitchFamily="34" charset="-122"/>
              </a:rPr>
              <a:t>S</a:t>
            </a:r>
            <a:r>
              <a:rPr lang="zh-CN" altLang="en-US" sz="1400" b="1">
                <a:solidFill>
                  <a:srgbClr val="000000"/>
                </a:solidFill>
                <a:latin typeface="Times New Roman" panose="02020603050405020304" pitchFamily="18" charset="0"/>
                <a:ea typeface="微软雅黑" panose="020B0503020204020204" pitchFamily="34" charset="-122"/>
              </a:rPr>
              <a:t>的其余特征值一般都为复数</a:t>
            </a:r>
            <a:endParaRPr lang="en-US" altLang="zh-CN" sz="1400" b="1">
              <a:solidFill>
                <a:srgbClr val="000000"/>
              </a:solidFill>
              <a:latin typeface="Times New Roman" panose="02020603050405020304" pitchFamily="18" charset="0"/>
              <a:ea typeface="微软雅黑" panose="020B0503020204020204" pitchFamily="34" charset="-122"/>
            </a:endParaRPr>
          </a:p>
        </p:txBody>
      </p:sp>
      <p:graphicFrame>
        <p:nvGraphicFramePr>
          <p:cNvPr id="111640" name="对象 25"/>
          <p:cNvGraphicFramePr>
            <a:graphicFrameLocks noChangeAspect="1"/>
          </p:cNvGraphicFramePr>
          <p:nvPr>
            <p:extLst/>
          </p:nvPr>
        </p:nvGraphicFramePr>
        <p:xfrm>
          <a:off x="3086101" y="5516828"/>
          <a:ext cx="231775" cy="374650"/>
        </p:xfrm>
        <a:graphic>
          <a:graphicData uri="http://schemas.openxmlformats.org/presentationml/2006/ole">
            <mc:AlternateContent xmlns:mc="http://schemas.openxmlformats.org/markup-compatibility/2006">
              <mc:Choice xmlns:v="urn:schemas-microsoft-com:vml" Requires="v">
                <p:oleObj spid="_x0000_s27717" name="Equation" r:id="rId24" imgW="139680" imgH="228600" progId="Equation.DSMT4">
                  <p:embed/>
                </p:oleObj>
              </mc:Choice>
              <mc:Fallback>
                <p:oleObj name="Equation" r:id="rId24" imgW="139680" imgH="228600" progId="Equation.DSMT4">
                  <p:embed/>
                  <p:pic>
                    <p:nvPicPr>
                      <p:cNvPr id="111640" name="对象 2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86101" y="5516828"/>
                        <a:ext cx="2317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41" name="对象 26"/>
          <p:cNvGraphicFramePr>
            <a:graphicFrameLocks noChangeAspect="1"/>
          </p:cNvGraphicFramePr>
          <p:nvPr>
            <p:extLst/>
          </p:nvPr>
        </p:nvGraphicFramePr>
        <p:xfrm>
          <a:off x="4822826" y="6143891"/>
          <a:ext cx="2193925" cy="654050"/>
        </p:xfrm>
        <a:graphic>
          <a:graphicData uri="http://schemas.openxmlformats.org/presentationml/2006/ole">
            <mc:AlternateContent xmlns:mc="http://schemas.openxmlformats.org/markup-compatibility/2006">
              <mc:Choice xmlns:v="urn:schemas-microsoft-com:vml" Requires="v">
                <p:oleObj spid="_x0000_s27718" name="Equation" r:id="rId26" imgW="1345616" imgH="393529" progId="Equation.DSMT4">
                  <p:embed/>
                </p:oleObj>
              </mc:Choice>
              <mc:Fallback>
                <p:oleObj name="Equation" r:id="rId26" imgW="1345616" imgH="393529" progId="Equation.DSMT4">
                  <p:embed/>
                  <p:pic>
                    <p:nvPicPr>
                      <p:cNvPr id="111641" name="对象 2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822826" y="6143891"/>
                        <a:ext cx="2193925"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42" name="对象 27"/>
          <p:cNvGraphicFramePr>
            <a:graphicFrameLocks noChangeAspect="1"/>
          </p:cNvGraphicFramePr>
          <p:nvPr>
            <p:extLst/>
          </p:nvPr>
        </p:nvGraphicFramePr>
        <p:xfrm>
          <a:off x="2028826" y="4564329"/>
          <a:ext cx="2138363" cy="396875"/>
        </p:xfrm>
        <a:graphic>
          <a:graphicData uri="http://schemas.openxmlformats.org/presentationml/2006/ole">
            <mc:AlternateContent xmlns:mc="http://schemas.openxmlformats.org/markup-compatibility/2006">
              <mc:Choice xmlns:v="urn:schemas-microsoft-com:vml" Requires="v">
                <p:oleObj spid="_x0000_s27719" name="Equation" r:id="rId28" imgW="1282680" imgH="241200" progId="Equation.DSMT4">
                  <p:embed/>
                </p:oleObj>
              </mc:Choice>
              <mc:Fallback>
                <p:oleObj name="Equation" r:id="rId28" imgW="1282680" imgH="241200" progId="Equation.DSMT4">
                  <p:embed/>
                  <p:pic>
                    <p:nvPicPr>
                      <p:cNvPr id="111642" name="对象 27"/>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028826" y="4564329"/>
                        <a:ext cx="2138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43" name="矩形 28"/>
          <p:cNvSpPr>
            <a:spLocks noChangeArrowheads="1"/>
          </p:cNvSpPr>
          <p:nvPr/>
        </p:nvSpPr>
        <p:spPr bwMode="auto">
          <a:xfrm>
            <a:off x="9023350" y="4037280"/>
            <a:ext cx="283643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en-US" sz="900" dirty="0">
                <a:solidFill>
                  <a:srgbClr val="000000"/>
                </a:solidFill>
                <a:latin typeface="Times New Roman" panose="02020603050405020304" pitchFamily="18" charset="0"/>
                <a:ea typeface="微软雅黑" panose="020B0503020204020204" pitchFamily="34" charset="-122"/>
              </a:rPr>
              <a:t>*实际为避免矩阵奇异性，</a:t>
            </a:r>
            <a:r>
              <a:rPr lang="en-US" altLang="zh-CN" sz="900" b="1" dirty="0" err="1">
                <a:solidFill>
                  <a:srgbClr val="000000"/>
                </a:solidFill>
                <a:latin typeface="Times New Roman" panose="02020603050405020304" pitchFamily="18" charset="0"/>
                <a:ea typeface="微软雅黑" panose="020B0503020204020204" pitchFamily="34" charset="-122"/>
              </a:rPr>
              <a:t>Schmid</a:t>
            </a:r>
            <a:r>
              <a:rPr lang="en-US" altLang="zh-CN" sz="900" b="1" dirty="0">
                <a:solidFill>
                  <a:srgbClr val="000000"/>
                </a:solidFill>
                <a:latin typeface="Times New Roman" panose="02020603050405020304" pitchFamily="18" charset="0"/>
                <a:ea typeface="微软雅黑" panose="020B0503020204020204" pitchFamily="34" charset="-122"/>
              </a:rPr>
              <a:t> (2010), JFM</a:t>
            </a:r>
            <a:r>
              <a:rPr lang="zh-CN" altLang="en-US" sz="900" dirty="0">
                <a:solidFill>
                  <a:srgbClr val="000000"/>
                </a:solidFill>
                <a:latin typeface="Times New Roman" panose="02020603050405020304" pitchFamily="18" charset="0"/>
                <a:ea typeface="微软雅黑" panose="020B0503020204020204" pitchFamily="34" charset="-122"/>
              </a:rPr>
              <a:t>引入奇异值分解</a:t>
            </a:r>
            <a:r>
              <a:rPr lang="en-US" altLang="zh-CN" sz="900" dirty="0">
                <a:solidFill>
                  <a:srgbClr val="000000"/>
                </a:solidFill>
                <a:latin typeface="Times New Roman" panose="02020603050405020304" pitchFamily="18" charset="0"/>
                <a:ea typeface="微软雅黑" panose="020B0503020204020204" pitchFamily="34" charset="-122"/>
              </a:rPr>
              <a:t>(SVD), </a:t>
            </a:r>
            <a:r>
              <a:rPr lang="zh-CN" altLang="en-US" sz="900" dirty="0">
                <a:solidFill>
                  <a:srgbClr val="000000"/>
                </a:solidFill>
                <a:latin typeface="Times New Roman" panose="02020603050405020304" pitchFamily="18" charset="0"/>
                <a:ea typeface="微软雅黑" panose="020B0503020204020204" pitchFamily="34" charset="-122"/>
              </a:rPr>
              <a:t>运用</a:t>
            </a:r>
            <a:r>
              <a:rPr lang="en-US" altLang="zh-CN" sz="900" dirty="0">
                <a:solidFill>
                  <a:srgbClr val="000000"/>
                </a:solidFill>
                <a:latin typeface="Times New Roman" panose="02020603050405020304" pitchFamily="18" charset="0"/>
                <a:ea typeface="微软雅黑" panose="020B0503020204020204" pitchFamily="34" charset="-122"/>
              </a:rPr>
              <a:t>POD</a:t>
            </a:r>
            <a:r>
              <a:rPr lang="zh-CN" altLang="en-US" sz="900" dirty="0">
                <a:solidFill>
                  <a:srgbClr val="000000"/>
                </a:solidFill>
                <a:latin typeface="Times New Roman" panose="02020603050405020304" pitchFamily="18" charset="0"/>
                <a:ea typeface="微软雅黑" panose="020B0503020204020204" pitchFamily="34" charset="-122"/>
              </a:rPr>
              <a:t>模态进行算法优化</a:t>
            </a:r>
            <a:endParaRPr lang="en-US" altLang="zh-CN" sz="900" dirty="0">
              <a:solidFill>
                <a:srgbClr val="000000"/>
              </a:solidFill>
              <a:latin typeface="Times New Roman" panose="02020603050405020304" pitchFamily="18" charset="0"/>
              <a:ea typeface="微软雅黑" panose="020B0503020204020204" pitchFamily="34" charset="-122"/>
            </a:endParaRPr>
          </a:p>
        </p:txBody>
      </p:sp>
      <p:sp>
        <p:nvSpPr>
          <p:cNvPr id="28" name="矩形 4"/>
          <p:cNvSpPr>
            <a:spLocks noChangeArrowheads="1"/>
          </p:cNvSpPr>
          <p:nvPr/>
        </p:nvSpPr>
        <p:spPr bwMode="auto">
          <a:xfrm>
            <a:off x="672916" y="1414464"/>
            <a:ext cx="1827744"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数学原理</a:t>
            </a:r>
            <a:endParaRPr lang="en-US" altLang="zh-CN" sz="2000" dirty="0">
              <a:latin typeface="华文细黑" panose="02010600040101010101" pitchFamily="2" charset="-122"/>
              <a:ea typeface="华文细黑" panose="02010600040101010101" pitchFamily="2" charset="-122"/>
            </a:endParaRPr>
          </a:p>
        </p:txBody>
      </p:sp>
      <p:sp>
        <p:nvSpPr>
          <p:cNvPr id="30" name="文本框 29"/>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58</a:t>
            </a:fld>
            <a:endParaRPr lang="zh-CN" altLang="en-US"/>
          </a:p>
        </p:txBody>
      </p:sp>
    </p:spTree>
    <p:extLst>
      <p:ext uri="{BB962C8B-B14F-4D97-AF65-F5344CB8AC3E}">
        <p14:creationId xmlns:p14="http://schemas.microsoft.com/office/powerpoint/2010/main" val="8900920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44" name="对象 5"/>
          <p:cNvGraphicFramePr>
            <a:graphicFrameLocks noChangeAspect="1"/>
          </p:cNvGraphicFramePr>
          <p:nvPr>
            <p:extLst/>
          </p:nvPr>
        </p:nvGraphicFramePr>
        <p:xfrm>
          <a:off x="6828815" y="1702640"/>
          <a:ext cx="2195513" cy="654050"/>
        </p:xfrm>
        <a:graphic>
          <a:graphicData uri="http://schemas.openxmlformats.org/presentationml/2006/ole">
            <mc:AlternateContent xmlns:mc="http://schemas.openxmlformats.org/markup-compatibility/2006">
              <mc:Choice xmlns:v="urn:schemas-microsoft-com:vml" Requires="v">
                <p:oleObj spid="_x0000_s28690" name="Equation" r:id="rId4" imgW="1345616" imgH="393529" progId="Equation.DSMT4">
                  <p:embed/>
                </p:oleObj>
              </mc:Choice>
              <mc:Fallback>
                <p:oleObj name="Equation" r:id="rId4" imgW="1345616" imgH="393529" progId="Equation.DSMT4">
                  <p:embed/>
                  <p:pic>
                    <p:nvPicPr>
                      <p:cNvPr id="112644"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8815" y="1702640"/>
                        <a:ext cx="2195513" cy="6540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5" name="矩形 6"/>
          <p:cNvSpPr>
            <a:spLocks noChangeArrowheads="1"/>
          </p:cNvSpPr>
          <p:nvPr/>
        </p:nvSpPr>
        <p:spPr bwMode="auto">
          <a:xfrm>
            <a:off x="672916" y="2316164"/>
            <a:ext cx="9756959"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Wingdings" panose="05000000000000000000" pitchFamily="2" charset="2"/>
              <a:buChar char="ü"/>
            </a:pPr>
            <a:r>
              <a:rPr lang="zh-CN" altLang="en-US" b="1" dirty="0">
                <a:solidFill>
                  <a:srgbClr val="000000"/>
                </a:solidFill>
                <a:latin typeface="Times New Roman" panose="02020603050405020304" pitchFamily="18" charset="0"/>
                <a:ea typeface="微软雅黑" panose="020B0503020204020204" pitchFamily="34" charset="-122"/>
              </a:rPr>
              <a:t>特征值实部反映了对应的模态放大率（增强或衰减速率）：为正，则不稳定；为负，则稳定；为零，则为周期模态</a:t>
            </a:r>
            <a:endParaRPr lang="en-US" altLang="zh-CN" b="1" dirty="0">
              <a:solidFill>
                <a:srgbClr val="000000"/>
              </a:solidFill>
              <a:latin typeface="Times New Roman" panose="02020603050405020304" pitchFamily="18" charset="0"/>
              <a:ea typeface="微软雅黑" panose="020B0503020204020204" pitchFamily="34" charset="-122"/>
            </a:endParaRPr>
          </a:p>
        </p:txBody>
      </p:sp>
      <p:sp>
        <p:nvSpPr>
          <p:cNvPr id="112646" name="文本框 7"/>
          <p:cNvSpPr txBox="1">
            <a:spLocks noChangeArrowheads="1"/>
          </p:cNvSpPr>
          <p:nvPr/>
        </p:nvSpPr>
        <p:spPr bwMode="auto">
          <a:xfrm>
            <a:off x="672916" y="1814574"/>
            <a:ext cx="2051050" cy="430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Char char="•"/>
            </a:pPr>
            <a:r>
              <a:rPr lang="zh-CN" altLang="en-US" b="1" dirty="0">
                <a:solidFill>
                  <a:srgbClr val="FF0000"/>
                </a:solidFill>
                <a:latin typeface="Times New Roman" panose="02020603050405020304" pitchFamily="18" charset="0"/>
                <a:ea typeface="微软雅黑" panose="020B0503020204020204" pitchFamily="34" charset="-122"/>
              </a:rPr>
              <a:t>特征值特性</a:t>
            </a:r>
          </a:p>
        </p:txBody>
      </p:sp>
      <p:sp>
        <p:nvSpPr>
          <p:cNvPr id="112647" name="矩形 8"/>
          <p:cNvSpPr>
            <a:spLocks noChangeArrowheads="1"/>
          </p:cNvSpPr>
          <p:nvPr/>
        </p:nvSpPr>
        <p:spPr bwMode="auto">
          <a:xfrm>
            <a:off x="672916" y="3114130"/>
            <a:ext cx="46704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Wingdings" panose="05000000000000000000" pitchFamily="2" charset="2"/>
              <a:buChar char="ü"/>
            </a:pPr>
            <a:r>
              <a:rPr lang="zh-CN" altLang="en-US" b="1" dirty="0">
                <a:solidFill>
                  <a:srgbClr val="000000"/>
                </a:solidFill>
                <a:latin typeface="Times New Roman" panose="02020603050405020304" pitchFamily="18" charset="0"/>
                <a:ea typeface="微软雅黑" panose="020B0503020204020204" pitchFamily="34" charset="-122"/>
              </a:rPr>
              <a:t>特征值虚部包含了对应模态的频率信息</a:t>
            </a:r>
            <a:endParaRPr lang="en-US" altLang="zh-CN" b="1" dirty="0">
              <a:solidFill>
                <a:srgbClr val="000000"/>
              </a:solidFill>
              <a:latin typeface="Times New Roman" panose="02020603050405020304" pitchFamily="18" charset="0"/>
              <a:ea typeface="微软雅黑" panose="020B0503020204020204" pitchFamily="34" charset="-122"/>
            </a:endParaRPr>
          </a:p>
        </p:txBody>
      </p:sp>
      <p:graphicFrame>
        <p:nvGraphicFramePr>
          <p:cNvPr id="112648" name="对象 9"/>
          <p:cNvGraphicFramePr>
            <a:graphicFrameLocks noChangeAspect="1"/>
          </p:cNvGraphicFramePr>
          <p:nvPr>
            <p:extLst/>
          </p:nvPr>
        </p:nvGraphicFramePr>
        <p:xfrm>
          <a:off x="5269706" y="3644900"/>
          <a:ext cx="852488" cy="635000"/>
        </p:xfrm>
        <a:graphic>
          <a:graphicData uri="http://schemas.openxmlformats.org/presentationml/2006/ole">
            <mc:AlternateContent xmlns:mc="http://schemas.openxmlformats.org/markup-compatibility/2006">
              <mc:Choice xmlns:v="urn:schemas-microsoft-com:vml" Requires="v">
                <p:oleObj spid="_x0000_s28691" name="Equation" r:id="rId6" imgW="558800" imgH="419100" progId="Equation.DSMT4">
                  <p:embed/>
                </p:oleObj>
              </mc:Choice>
              <mc:Fallback>
                <p:oleObj name="Equation" r:id="rId6" imgW="558800" imgH="419100" progId="Equation.DSMT4">
                  <p:embed/>
                  <p:pic>
                    <p:nvPicPr>
                      <p:cNvPr id="112648"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9706" y="3644900"/>
                        <a:ext cx="852488"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9" name="文本框 10"/>
          <p:cNvSpPr txBox="1">
            <a:spLocks noChangeArrowheads="1"/>
          </p:cNvSpPr>
          <p:nvPr/>
        </p:nvSpPr>
        <p:spPr bwMode="auto">
          <a:xfrm>
            <a:off x="672916" y="4704558"/>
            <a:ext cx="2051050" cy="39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marL="285750" indent="-285750">
              <a:lnSpc>
                <a:spcPct val="120000"/>
              </a:lnSpc>
              <a:buFont typeface="Arial" panose="020B0604020202020204" pitchFamily="34" charset="0"/>
              <a:buChar char="•"/>
              <a:defRPr b="1">
                <a:solidFill>
                  <a:srgbClr val="FF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zh-CN" altLang="en-US" dirty="0"/>
              <a:t>稳定性分析</a:t>
            </a:r>
          </a:p>
        </p:txBody>
      </p:sp>
      <p:pic>
        <p:nvPicPr>
          <p:cNvPr id="112650" name="图片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8814" y="3443289"/>
            <a:ext cx="3494325" cy="341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2651" name="对象 12"/>
          <p:cNvGraphicFramePr>
            <a:graphicFrameLocks noChangeAspect="1"/>
          </p:cNvGraphicFramePr>
          <p:nvPr>
            <p:extLst/>
          </p:nvPr>
        </p:nvGraphicFramePr>
        <p:xfrm>
          <a:off x="4249738" y="1810546"/>
          <a:ext cx="2151062" cy="365125"/>
        </p:xfrm>
        <a:graphic>
          <a:graphicData uri="http://schemas.openxmlformats.org/presentationml/2006/ole">
            <mc:AlternateContent xmlns:mc="http://schemas.openxmlformats.org/markup-compatibility/2006">
              <mc:Choice xmlns:v="urn:schemas-microsoft-com:vml" Requires="v">
                <p:oleObj spid="_x0000_s28692" name="Equation" r:id="rId9" imgW="1409400" imgH="241200" progId="Equation.DSMT4">
                  <p:embed/>
                </p:oleObj>
              </mc:Choice>
              <mc:Fallback>
                <p:oleObj name="Equation" r:id="rId9" imgW="1409400" imgH="241200" progId="Equation.DSMT4">
                  <p:embed/>
                  <p:pic>
                    <p:nvPicPr>
                      <p:cNvPr id="112651" name="对象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49738" y="1810546"/>
                        <a:ext cx="2151062" cy="3651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52" name="矩形 13"/>
          <p:cNvSpPr>
            <a:spLocks noChangeArrowheads="1"/>
          </p:cNvSpPr>
          <p:nvPr/>
        </p:nvSpPr>
        <p:spPr bwMode="auto">
          <a:xfrm>
            <a:off x="672916" y="5170737"/>
            <a:ext cx="4244975" cy="109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Wingdings" panose="05000000000000000000" pitchFamily="2" charset="2"/>
              <a:buChar char="ü"/>
            </a:pPr>
            <a:r>
              <a:rPr lang="zh-CN" altLang="en-US" b="1" dirty="0">
                <a:solidFill>
                  <a:srgbClr val="000000"/>
                </a:solidFill>
                <a:latin typeface="Times New Roman" panose="02020603050405020304" pitchFamily="18" charset="0"/>
                <a:ea typeface="微软雅黑" panose="020B0503020204020204" pitchFamily="34" charset="-122"/>
              </a:rPr>
              <a:t>单位圆上对应模态中性稳定的</a:t>
            </a:r>
            <a:endParaRPr lang="en-US" altLang="zh-CN" b="1" dirty="0">
              <a:solidFill>
                <a:srgbClr val="000000"/>
              </a:solidFill>
              <a:latin typeface="Times New Roman" panose="02020603050405020304" pitchFamily="18" charset="0"/>
              <a:ea typeface="微软雅黑" panose="020B0503020204020204" pitchFamily="34" charset="-122"/>
            </a:endParaRPr>
          </a:p>
          <a:p>
            <a:pPr>
              <a:lnSpc>
                <a:spcPct val="120000"/>
              </a:lnSpc>
              <a:buFont typeface="Wingdings" panose="05000000000000000000" pitchFamily="2" charset="2"/>
              <a:buChar char="ü"/>
            </a:pPr>
            <a:r>
              <a:rPr lang="zh-CN" altLang="en-US" b="1" dirty="0">
                <a:solidFill>
                  <a:srgbClr val="000000"/>
                </a:solidFill>
                <a:latin typeface="Times New Roman" panose="02020603050405020304" pitchFamily="18" charset="0"/>
                <a:ea typeface="微软雅黑" panose="020B0503020204020204" pitchFamily="34" charset="-122"/>
              </a:rPr>
              <a:t>单位圆外对应模态增强，不稳定发散</a:t>
            </a:r>
            <a:endParaRPr lang="en-US" altLang="zh-CN" b="1" dirty="0">
              <a:solidFill>
                <a:srgbClr val="000000"/>
              </a:solidFill>
              <a:latin typeface="Times New Roman" panose="02020603050405020304" pitchFamily="18" charset="0"/>
              <a:ea typeface="微软雅黑" panose="020B0503020204020204" pitchFamily="34" charset="-122"/>
            </a:endParaRPr>
          </a:p>
          <a:p>
            <a:pPr>
              <a:lnSpc>
                <a:spcPct val="120000"/>
              </a:lnSpc>
              <a:buFont typeface="Wingdings" panose="05000000000000000000" pitchFamily="2" charset="2"/>
              <a:buChar char="ü"/>
            </a:pPr>
            <a:r>
              <a:rPr lang="zh-CN" altLang="en-US" b="1" dirty="0">
                <a:solidFill>
                  <a:srgbClr val="000000"/>
                </a:solidFill>
                <a:latin typeface="Times New Roman" panose="02020603050405020304" pitchFamily="18" charset="0"/>
                <a:ea typeface="微软雅黑" panose="020B0503020204020204" pitchFamily="34" charset="-122"/>
              </a:rPr>
              <a:t>单位圆内对应模态衰减，稳定收敛</a:t>
            </a:r>
            <a:endParaRPr lang="en-US" altLang="zh-CN" b="1" dirty="0">
              <a:solidFill>
                <a:srgbClr val="000000"/>
              </a:solidFill>
              <a:latin typeface="Times New Roman" panose="02020603050405020304" pitchFamily="18" charset="0"/>
              <a:ea typeface="微软雅黑" panose="020B0503020204020204" pitchFamily="34" charset="-122"/>
            </a:endParaRPr>
          </a:p>
        </p:txBody>
      </p:sp>
      <p:graphicFrame>
        <p:nvGraphicFramePr>
          <p:cNvPr id="112653" name="对象 14"/>
          <p:cNvGraphicFramePr>
            <a:graphicFrameLocks noChangeAspect="1"/>
          </p:cNvGraphicFramePr>
          <p:nvPr>
            <p:extLst/>
          </p:nvPr>
        </p:nvGraphicFramePr>
        <p:xfrm>
          <a:off x="2419351" y="3644900"/>
          <a:ext cx="2151063" cy="596900"/>
        </p:xfrm>
        <a:graphic>
          <a:graphicData uri="http://schemas.openxmlformats.org/presentationml/2006/ole">
            <mc:AlternateContent xmlns:mc="http://schemas.openxmlformats.org/markup-compatibility/2006">
              <mc:Choice xmlns:v="urn:schemas-microsoft-com:vml" Requires="v">
                <p:oleObj spid="_x0000_s28693" name="Equation" r:id="rId11" imgW="1409400" imgH="393480" progId="Equation.DSMT4">
                  <p:embed/>
                </p:oleObj>
              </mc:Choice>
              <mc:Fallback>
                <p:oleObj name="Equation" r:id="rId11" imgW="1409400" imgH="393480" progId="Equation.DSMT4">
                  <p:embed/>
                  <p:pic>
                    <p:nvPicPr>
                      <p:cNvPr id="112653" name="对象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19351" y="3644900"/>
                        <a:ext cx="2151063" cy="596900"/>
                      </a:xfrm>
                      <a:prstGeom prst="rect">
                        <a:avLst/>
                      </a:prstGeom>
                      <a:noFill/>
                      <a:ln>
                        <a:noFill/>
                      </a:ln>
                      <a:extLst/>
                    </p:spPr>
                  </p:pic>
                </p:oleObj>
              </mc:Fallback>
            </mc:AlternateContent>
          </a:graphicData>
        </a:graphic>
      </p:graphicFrame>
      <p:sp>
        <p:nvSpPr>
          <p:cNvPr id="16" name="矩形 15"/>
          <p:cNvSpPr/>
          <p:nvPr/>
        </p:nvSpPr>
        <p:spPr>
          <a:xfrm>
            <a:off x="6232526" y="2962276"/>
            <a:ext cx="5571547" cy="481013"/>
          </a:xfrm>
          <a:prstGeom prst="rect">
            <a:avLst/>
          </a:prstGeom>
          <a:noFill/>
        </p:spPr>
        <p:txBody>
          <a:bodyPr wrap="square">
            <a:spAutoFit/>
          </a:bodyPr>
          <a:lstStyle/>
          <a:p>
            <a:pPr>
              <a:lnSpc>
                <a:spcPct val="120000"/>
              </a:lnSpc>
              <a:defRPr/>
            </a:pPr>
            <a:r>
              <a:rPr lang="zh-CN" altLang="en-US" sz="1050" b="1" dirty="0">
                <a:solidFill>
                  <a:srgbClr val="000000"/>
                </a:solidFill>
                <a:latin typeface="Times New Roman" panose="02020603050405020304" pitchFamily="18" charset="0"/>
                <a:ea typeface="微软雅黑" panose="020B0503020204020204" pitchFamily="34" charset="-122"/>
              </a:rPr>
              <a:t>*序列时间间隔</a:t>
            </a:r>
            <a:r>
              <a:rPr lang="en-US" altLang="zh-CN" sz="1050" b="1" dirty="0">
                <a:solidFill>
                  <a:srgbClr val="000000"/>
                </a:solidFill>
                <a:latin typeface="Times New Roman" panose="02020603050405020304" pitchFamily="18" charset="0"/>
                <a:ea typeface="微软雅黑" panose="020B0503020204020204" pitchFamily="34" charset="-122"/>
              </a:rPr>
              <a:t>(</a:t>
            </a:r>
            <a:r>
              <a:rPr lang="zh-CN" altLang="en-US" sz="1050" b="1" dirty="0">
                <a:solidFill>
                  <a:srgbClr val="000000"/>
                </a:solidFill>
                <a:latin typeface="Times New Roman" panose="02020603050405020304" pitchFamily="18" charset="0"/>
                <a:ea typeface="微软雅黑" panose="020B0503020204020204" pitchFamily="34" charset="-122"/>
              </a:rPr>
              <a:t>采样频率</a:t>
            </a:r>
            <a:r>
              <a:rPr lang="en-US" altLang="zh-CN" sz="1050" b="1" dirty="0">
                <a:solidFill>
                  <a:srgbClr val="000000"/>
                </a:solidFill>
                <a:latin typeface="Times New Roman" panose="02020603050405020304" pitchFamily="18" charset="0"/>
                <a:ea typeface="微软雅黑" panose="020B0503020204020204" pitchFamily="34" charset="-122"/>
              </a:rPr>
              <a:t>)</a:t>
            </a:r>
            <a:r>
              <a:rPr lang="zh-CN" altLang="en-US" sz="1050" b="1" dirty="0">
                <a:solidFill>
                  <a:srgbClr val="000000"/>
                </a:solidFill>
                <a:latin typeface="Times New Roman" panose="02020603050405020304" pitchFamily="18" charset="0"/>
                <a:ea typeface="微软雅黑" panose="020B0503020204020204" pitchFamily="34" charset="-122"/>
              </a:rPr>
              <a:t>决定了</a:t>
            </a:r>
            <a:r>
              <a:rPr lang="en-US" altLang="zh-CN" sz="1050" b="1" dirty="0">
                <a:solidFill>
                  <a:srgbClr val="000000"/>
                </a:solidFill>
                <a:latin typeface="Times New Roman" panose="02020603050405020304" pitchFamily="18" charset="0"/>
                <a:ea typeface="微软雅黑" panose="020B0503020204020204" pitchFamily="34" charset="-122"/>
              </a:rPr>
              <a:t>DMD</a:t>
            </a:r>
            <a:r>
              <a:rPr lang="zh-CN" altLang="en-US" sz="1050" b="1" dirty="0">
                <a:solidFill>
                  <a:srgbClr val="000000"/>
                </a:solidFill>
                <a:latin typeface="Times New Roman" panose="02020603050405020304" pitchFamily="18" charset="0"/>
                <a:ea typeface="微软雅黑" panose="020B0503020204020204" pitchFamily="34" charset="-122"/>
              </a:rPr>
              <a:t>的频率抽取能力，一般采样频率</a:t>
            </a:r>
            <a:r>
              <a:rPr lang="en-US" altLang="zh-CN" sz="1050" b="1" dirty="0">
                <a:solidFill>
                  <a:srgbClr val="000000"/>
                </a:solidFill>
                <a:latin typeface="Times New Roman" panose="02020603050405020304" pitchFamily="18" charset="0"/>
                <a:ea typeface="微软雅黑" panose="020B0503020204020204" pitchFamily="34" charset="-122"/>
              </a:rPr>
              <a:t>&gt;6</a:t>
            </a:r>
            <a:r>
              <a:rPr lang="zh-CN" altLang="en-US" sz="1050" b="1" dirty="0">
                <a:solidFill>
                  <a:srgbClr val="000000"/>
                </a:solidFill>
                <a:latin typeface="Times New Roman" panose="02020603050405020304" pitchFamily="18" charset="0"/>
                <a:ea typeface="微软雅黑" panose="020B0503020204020204" pitchFamily="34" charset="-122"/>
              </a:rPr>
              <a:t>流场特征目标频率</a:t>
            </a:r>
            <a:r>
              <a:rPr lang="en-US" altLang="zh-CN" sz="1050" b="1" dirty="0">
                <a:solidFill>
                  <a:srgbClr val="000000"/>
                </a:solidFill>
                <a:latin typeface="Times New Roman" panose="02020603050405020304" pitchFamily="18" charset="0"/>
                <a:ea typeface="微软雅黑" panose="020B0503020204020204" pitchFamily="34" charset="-122"/>
              </a:rPr>
              <a:t>(</a:t>
            </a:r>
            <a:r>
              <a:rPr lang="en-US" altLang="zh-CN" sz="1050" b="1" dirty="0" err="1">
                <a:solidFill>
                  <a:srgbClr val="000000"/>
                </a:solidFill>
                <a:latin typeface="Times New Roman" panose="02020603050405020304" pitchFamily="18" charset="0"/>
                <a:ea typeface="微软雅黑" panose="020B0503020204020204" pitchFamily="34" charset="-122"/>
              </a:rPr>
              <a:t>Schmid</a:t>
            </a:r>
            <a:r>
              <a:rPr lang="en-US" altLang="zh-CN" sz="1050" b="1" dirty="0">
                <a:solidFill>
                  <a:srgbClr val="000000"/>
                </a:solidFill>
                <a:latin typeface="Times New Roman" panose="02020603050405020304" pitchFamily="18" charset="0"/>
                <a:ea typeface="微软雅黑" panose="020B0503020204020204" pitchFamily="34" charset="-122"/>
              </a:rPr>
              <a:t>, 2010)</a:t>
            </a:r>
            <a:r>
              <a:rPr lang="zh-CN" altLang="en-US" sz="1050" b="1" dirty="0">
                <a:solidFill>
                  <a:srgbClr val="000000"/>
                </a:solidFill>
                <a:latin typeface="Times New Roman" panose="02020603050405020304" pitchFamily="18" charset="0"/>
                <a:ea typeface="微软雅黑" panose="020B0503020204020204" pitchFamily="34" charset="-122"/>
              </a:rPr>
              <a:t>，总序列时长决定了抽取的最低频率</a:t>
            </a:r>
            <a:endParaRPr lang="en-US" sz="1050" b="1" dirty="0">
              <a:solidFill>
                <a:srgbClr val="000000"/>
              </a:solidFill>
              <a:latin typeface="Times New Roman" panose="02020603050405020304" pitchFamily="18" charset="0"/>
              <a:ea typeface="微软雅黑" panose="020B0503020204020204" pitchFamily="34" charset="-122"/>
            </a:endParaRPr>
          </a:p>
        </p:txBody>
      </p:sp>
      <p:sp>
        <p:nvSpPr>
          <p:cNvPr id="15" name="矩形 4"/>
          <p:cNvSpPr>
            <a:spLocks noChangeArrowheads="1"/>
          </p:cNvSpPr>
          <p:nvPr/>
        </p:nvSpPr>
        <p:spPr bwMode="auto">
          <a:xfrm>
            <a:off x="672916" y="1414464"/>
            <a:ext cx="1827744"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数学原理</a:t>
            </a:r>
            <a:endParaRPr lang="en-US" altLang="zh-CN" sz="2000" dirty="0">
              <a:latin typeface="华文细黑" panose="02010600040101010101" pitchFamily="2" charset="-122"/>
              <a:ea typeface="华文细黑" panose="02010600040101010101" pitchFamily="2" charset="-122"/>
            </a:endParaRPr>
          </a:p>
        </p:txBody>
      </p:sp>
      <p:sp>
        <p:nvSpPr>
          <p:cNvPr id="18" name="文本框 17"/>
          <p:cNvSpPr txBox="1"/>
          <p:nvPr/>
        </p:nvSpPr>
        <p:spPr>
          <a:xfrm>
            <a:off x="10274796" y="6507134"/>
            <a:ext cx="1806368" cy="350865"/>
          </a:xfrm>
          <a:prstGeom prst="rect">
            <a:avLst/>
          </a:prstGeom>
          <a:noFill/>
        </p:spPr>
        <p:txBody>
          <a:bodyPr wrap="square">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zh-CN" altLang="en-US" sz="1400" kern="0" dirty="0" smtClean="0">
                <a:solidFill>
                  <a:srgbClr val="000000"/>
                </a:solidFill>
              </a:rPr>
              <a:t>特征值复平面单位圆</a:t>
            </a:r>
            <a:endParaRPr lang="en-US" altLang="zh-CN" sz="1400" kern="0" dirty="0">
              <a:solidFill>
                <a:srgbClr val="000000"/>
              </a:solidFill>
            </a:endParaRPr>
          </a:p>
        </p:txBody>
      </p:sp>
      <p:sp>
        <p:nvSpPr>
          <p:cNvPr id="19" name="文本框 18"/>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59</a:t>
            </a:fld>
            <a:endParaRPr lang="zh-CN" altLang="en-US"/>
          </a:p>
        </p:txBody>
      </p:sp>
    </p:spTree>
    <p:extLst>
      <p:ext uri="{BB962C8B-B14F-4D97-AF65-F5344CB8AC3E}">
        <p14:creationId xmlns:p14="http://schemas.microsoft.com/office/powerpoint/2010/main" val="13388040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文本框 7"/>
          <p:cNvSpPr txBox="1">
            <a:spLocks noChangeArrowheads="1"/>
          </p:cNvSpPr>
          <p:nvPr/>
        </p:nvSpPr>
        <p:spPr bwMode="auto">
          <a:xfrm>
            <a:off x="672916" y="1798020"/>
            <a:ext cx="2051050" cy="396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marL="285750" indent="-285750">
              <a:lnSpc>
                <a:spcPct val="120000"/>
              </a:lnSpc>
              <a:buFont typeface="Arial" panose="020B0604020202020204" pitchFamily="34" charset="0"/>
              <a:buChar char="•"/>
              <a:defRPr b="1">
                <a:solidFill>
                  <a:srgbClr val="FF0000"/>
                </a:solidFill>
                <a:latin typeface="Times New Roman" panose="02020603050405020304" pitchFamily="18" charset="0"/>
                <a:ea typeface="微软雅黑" panose="020B0503020204020204" pitchFamily="34" charset="-122"/>
              </a:defRPr>
            </a:lvl1pPr>
            <a:lvl2pPr marL="742950" indent="-285750">
              <a:defRPr>
                <a:latin typeface="等线" panose="02010600030101010101" pitchFamily="2" charset="-122"/>
                <a:ea typeface="等线" panose="02010600030101010101" pitchFamily="2" charset="-122"/>
              </a:defRPr>
            </a:lvl2pPr>
            <a:lvl3pPr marL="1143000" indent="-228600">
              <a:defRPr>
                <a:latin typeface="等线" panose="02010600030101010101" pitchFamily="2" charset="-122"/>
                <a:ea typeface="等线" panose="02010600030101010101" pitchFamily="2" charset="-122"/>
              </a:defRPr>
            </a:lvl3pPr>
            <a:lvl4pPr marL="1600200" indent="-228600">
              <a:defRPr>
                <a:latin typeface="等线" panose="02010600030101010101" pitchFamily="2" charset="-122"/>
                <a:ea typeface="等线" panose="02010600030101010101" pitchFamily="2" charset="-122"/>
              </a:defRPr>
            </a:lvl4pPr>
            <a:lvl5pPr marL="2057400" indent="-228600">
              <a:defRPr>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latin typeface="等线" panose="02010600030101010101" pitchFamily="2" charset="-122"/>
                <a:ea typeface="等线" panose="02010600030101010101" pitchFamily="2" charset="-122"/>
              </a:defRPr>
            </a:lvl9pPr>
          </a:lstStyle>
          <a:p>
            <a:r>
              <a:rPr lang="zh-CN" altLang="en-US" dirty="0"/>
              <a:t>流场重构</a:t>
            </a:r>
          </a:p>
        </p:txBody>
      </p:sp>
      <p:graphicFrame>
        <p:nvGraphicFramePr>
          <p:cNvPr id="114693" name="对象 16"/>
          <p:cNvGraphicFramePr>
            <a:graphicFrameLocks noChangeAspect="1"/>
          </p:cNvGraphicFramePr>
          <p:nvPr>
            <p:extLst/>
          </p:nvPr>
        </p:nvGraphicFramePr>
        <p:xfrm>
          <a:off x="4967432" y="2660681"/>
          <a:ext cx="1943100" cy="1328738"/>
        </p:xfrm>
        <a:graphic>
          <a:graphicData uri="http://schemas.openxmlformats.org/presentationml/2006/ole">
            <mc:AlternateContent xmlns:mc="http://schemas.openxmlformats.org/markup-compatibility/2006">
              <mc:Choice xmlns:v="urn:schemas-microsoft-com:vml" Requires="v">
                <p:oleObj spid="_x0000_s29722" name="Equation" r:id="rId3" imgW="1371600" imgH="939800" progId="Equation.DSMT4">
                  <p:embed/>
                </p:oleObj>
              </mc:Choice>
              <mc:Fallback>
                <p:oleObj name="Equation" r:id="rId3" imgW="1371600" imgH="939800" progId="Equation.DSMT4">
                  <p:embed/>
                  <p:pic>
                    <p:nvPicPr>
                      <p:cNvPr id="114693" name="对象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7432" y="2660681"/>
                        <a:ext cx="1943100"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694" name="矩形 1"/>
          <p:cNvSpPr>
            <a:spLocks noChangeArrowheads="1"/>
          </p:cNvSpPr>
          <p:nvPr/>
        </p:nvSpPr>
        <p:spPr bwMode="auto">
          <a:xfrm>
            <a:off x="672916" y="2201965"/>
            <a:ext cx="5237163"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zh-CN" b="1" dirty="0">
                <a:solidFill>
                  <a:srgbClr val="000000"/>
                </a:solidFill>
                <a:latin typeface="Times New Roman" panose="02020603050405020304" pitchFamily="18" charset="0"/>
                <a:ea typeface="微软雅黑" panose="020B0503020204020204" pitchFamily="34" charset="-122"/>
              </a:rPr>
              <a:t>引入范德蒙德矩阵</a:t>
            </a:r>
            <a:r>
              <a:rPr lang="en-US" altLang="zh-CN" b="1" dirty="0">
                <a:solidFill>
                  <a:srgbClr val="000000"/>
                </a:solidFill>
                <a:latin typeface="Times New Roman" panose="02020603050405020304" pitchFamily="18" charset="0"/>
                <a:ea typeface="微软雅黑" panose="020B0503020204020204" pitchFamily="34" charset="-122"/>
              </a:rPr>
              <a:t>(</a:t>
            </a:r>
            <a:r>
              <a:rPr lang="zh-CN" altLang="en-US" b="1" dirty="0">
                <a:solidFill>
                  <a:srgbClr val="000000"/>
                </a:solidFill>
                <a:latin typeface="Times New Roman" panose="02020603050405020304" pitchFamily="18" charset="0"/>
                <a:ea typeface="微软雅黑" panose="020B0503020204020204" pitchFamily="34" charset="-122"/>
              </a:rPr>
              <a:t>前面</a:t>
            </a:r>
            <a:r>
              <a:rPr lang="en-US" altLang="zh-CN" b="1" dirty="0" err="1">
                <a:solidFill>
                  <a:srgbClr val="000000"/>
                </a:solidFill>
                <a:latin typeface="Times New Roman" panose="02020603050405020304" pitchFamily="18" charset="0"/>
                <a:ea typeface="微软雅黑" panose="020B0503020204020204" pitchFamily="34" charset="-122"/>
              </a:rPr>
              <a:t>Koopman</a:t>
            </a:r>
            <a:r>
              <a:rPr lang="zh-CN" altLang="en-US" b="1" dirty="0">
                <a:solidFill>
                  <a:srgbClr val="000000"/>
                </a:solidFill>
                <a:latin typeface="Times New Roman" panose="02020603050405020304" pitchFamily="18" charset="0"/>
                <a:ea typeface="微软雅黑" panose="020B0503020204020204" pitchFamily="34" charset="-122"/>
              </a:rPr>
              <a:t>变换中已经涉及</a:t>
            </a:r>
            <a:r>
              <a:rPr lang="en-US" altLang="zh-CN" b="1" dirty="0">
                <a:solidFill>
                  <a:srgbClr val="000000"/>
                </a:solidFill>
                <a:latin typeface="Times New Roman" panose="02020603050405020304" pitchFamily="18" charset="0"/>
                <a:ea typeface="微软雅黑" panose="020B0503020204020204" pitchFamily="34" charset="-122"/>
              </a:rPr>
              <a:t>)</a:t>
            </a:r>
          </a:p>
        </p:txBody>
      </p:sp>
      <p:sp>
        <p:nvSpPr>
          <p:cNvPr id="114695" name="矩形 2"/>
          <p:cNvSpPr>
            <a:spLocks noChangeArrowheads="1"/>
          </p:cNvSpPr>
          <p:nvPr/>
        </p:nvSpPr>
        <p:spPr bwMode="auto">
          <a:xfrm>
            <a:off x="7004602" y="1491767"/>
            <a:ext cx="2264089"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None/>
            </a:pPr>
            <a:r>
              <a:rPr lang="en-US" altLang="zh-CN" sz="1200" b="1" dirty="0" err="1">
                <a:solidFill>
                  <a:srgbClr val="FF0000"/>
                </a:solidFill>
                <a:latin typeface="Times New Roman" panose="02020603050405020304" pitchFamily="18" charset="0"/>
                <a:ea typeface="微软雅黑" panose="020B0503020204020204" pitchFamily="34" charset="-122"/>
              </a:rPr>
              <a:t>Tu</a:t>
            </a:r>
            <a:r>
              <a:rPr lang="en-US" altLang="zh-CN" sz="1200" b="1" dirty="0">
                <a:solidFill>
                  <a:srgbClr val="FF0000"/>
                </a:solidFill>
                <a:latin typeface="Times New Roman" panose="02020603050405020304" pitchFamily="18" charset="0"/>
                <a:ea typeface="微软雅黑" panose="020B0503020204020204" pitchFamily="34" charset="-122"/>
              </a:rPr>
              <a:t> et al. (2013), </a:t>
            </a:r>
            <a:r>
              <a:rPr lang="en-US" altLang="zh-CN" sz="1200" b="1" dirty="0" err="1">
                <a:solidFill>
                  <a:srgbClr val="FF0000"/>
                </a:solidFill>
                <a:latin typeface="Times New Roman" panose="02020603050405020304" pitchFamily="18" charset="0"/>
                <a:ea typeface="微软雅黑" panose="020B0503020204020204" pitchFamily="34" charset="-122"/>
              </a:rPr>
              <a:t>arXiv</a:t>
            </a:r>
            <a:r>
              <a:rPr lang="en-US" altLang="zh-CN" sz="1200" b="1" dirty="0">
                <a:solidFill>
                  <a:srgbClr val="FF0000"/>
                </a:solidFill>
                <a:latin typeface="Times New Roman" panose="02020603050405020304" pitchFamily="18" charset="0"/>
                <a:ea typeface="微软雅黑" panose="020B0503020204020204" pitchFamily="34" charset="-122"/>
              </a:rPr>
              <a:t> preprint</a:t>
            </a:r>
          </a:p>
        </p:txBody>
      </p:sp>
      <p:sp>
        <p:nvSpPr>
          <p:cNvPr id="114696" name="矩形 17"/>
          <p:cNvSpPr>
            <a:spLocks noChangeArrowheads="1"/>
          </p:cNvSpPr>
          <p:nvPr/>
        </p:nvSpPr>
        <p:spPr bwMode="auto">
          <a:xfrm>
            <a:off x="2470334" y="1491767"/>
            <a:ext cx="273685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None/>
            </a:pPr>
            <a:r>
              <a:rPr lang="en-US" altLang="zh-CN" sz="1200" b="1" dirty="0">
                <a:solidFill>
                  <a:srgbClr val="FF0000"/>
                </a:solidFill>
                <a:latin typeface="Times New Roman" panose="02020603050405020304" pitchFamily="18" charset="0"/>
                <a:ea typeface="微软雅黑" panose="020B0503020204020204" pitchFamily="34" charset="-122"/>
              </a:rPr>
              <a:t>Rowley et al. (2009), JFM</a:t>
            </a:r>
          </a:p>
        </p:txBody>
      </p:sp>
      <p:sp>
        <p:nvSpPr>
          <p:cNvPr id="114697" name="矩形 18"/>
          <p:cNvSpPr>
            <a:spLocks noChangeArrowheads="1"/>
          </p:cNvSpPr>
          <p:nvPr/>
        </p:nvSpPr>
        <p:spPr bwMode="auto">
          <a:xfrm>
            <a:off x="4441825" y="1488293"/>
            <a:ext cx="3648075"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buFont typeface="Arial" panose="020B0604020202020204" pitchFamily="34" charset="0"/>
              <a:buNone/>
            </a:pPr>
            <a:r>
              <a:rPr lang="en-US" altLang="zh-CN" sz="1200" b="1">
                <a:solidFill>
                  <a:srgbClr val="FF0000"/>
                </a:solidFill>
                <a:latin typeface="Times New Roman" panose="02020603050405020304" pitchFamily="18" charset="0"/>
                <a:ea typeface="微软雅黑" panose="020B0503020204020204" pitchFamily="34" charset="-122"/>
              </a:rPr>
              <a:t>Chen et al. (2012) J Nonlinear Sci.</a:t>
            </a:r>
          </a:p>
        </p:txBody>
      </p:sp>
      <p:sp>
        <p:nvSpPr>
          <p:cNvPr id="114698" name="矩形 19"/>
          <p:cNvSpPr>
            <a:spLocks noChangeArrowheads="1"/>
          </p:cNvSpPr>
          <p:nvPr/>
        </p:nvSpPr>
        <p:spPr bwMode="auto">
          <a:xfrm>
            <a:off x="672916" y="4017964"/>
            <a:ext cx="10812502"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20000"/>
              </a:lnSpc>
            </a:pPr>
            <a:r>
              <a:rPr lang="zh-CN" altLang="zh-CN" b="1" dirty="0">
                <a:solidFill>
                  <a:srgbClr val="000000"/>
                </a:solidFill>
                <a:latin typeface="Times New Roman" panose="02020603050405020304" pitchFamily="18" charset="0"/>
                <a:ea typeface="微软雅黑" panose="020B0503020204020204" pitchFamily="34" charset="-122"/>
              </a:rPr>
              <a:t>引入尺度标定系数</a:t>
            </a:r>
            <a:r>
              <a:rPr lang="en-US" altLang="zh-CN" b="1" dirty="0">
                <a:solidFill>
                  <a:srgbClr val="000000"/>
                </a:solidFill>
                <a:latin typeface="Times New Roman" panose="02020603050405020304" pitchFamily="18" charset="0"/>
                <a:ea typeface="微软雅黑" panose="020B0503020204020204" pitchFamily="34" charset="-122"/>
              </a:rPr>
              <a:t>(scaling factor)</a:t>
            </a:r>
            <a:r>
              <a:rPr lang="zh-CN" altLang="zh-CN" b="1" dirty="0">
                <a:solidFill>
                  <a:srgbClr val="000000"/>
                </a:solidFill>
                <a:latin typeface="Times New Roman" panose="02020603050405020304" pitchFamily="18" charset="0"/>
                <a:ea typeface="微软雅黑" panose="020B0503020204020204" pitchFamily="34" charset="-122"/>
              </a:rPr>
              <a:t>，对模态</a:t>
            </a:r>
            <a:r>
              <a:rPr lang="zh-CN" altLang="en-US" b="1" dirty="0">
                <a:solidFill>
                  <a:srgbClr val="000000"/>
                </a:solidFill>
                <a:latin typeface="Times New Roman" panose="02020603050405020304" pitchFamily="18" charset="0"/>
                <a:ea typeface="微软雅黑" panose="020B0503020204020204" pitchFamily="34" charset="-122"/>
              </a:rPr>
              <a:t>相当于加</a:t>
            </a:r>
            <a:r>
              <a:rPr lang="zh-CN" altLang="zh-CN" b="1" dirty="0">
                <a:solidFill>
                  <a:srgbClr val="000000"/>
                </a:solidFill>
                <a:latin typeface="Times New Roman" panose="02020603050405020304" pitchFamily="18" charset="0"/>
                <a:ea typeface="微软雅黑" panose="020B0503020204020204" pitchFamily="34" charset="-122"/>
              </a:rPr>
              <a:t>一个比重上的修正，实现</a:t>
            </a:r>
            <a:r>
              <a:rPr lang="zh-CN" altLang="en-US" b="1" dirty="0">
                <a:solidFill>
                  <a:srgbClr val="000000"/>
                </a:solidFill>
                <a:latin typeface="Times New Roman" panose="02020603050405020304" pitchFamily="18" charset="0"/>
                <a:ea typeface="微软雅黑" panose="020B0503020204020204" pitchFamily="34" charset="-122"/>
              </a:rPr>
              <a:t>用</a:t>
            </a:r>
            <a:r>
              <a:rPr lang="zh-CN" altLang="zh-CN" b="1" dirty="0">
                <a:solidFill>
                  <a:srgbClr val="000000"/>
                </a:solidFill>
                <a:latin typeface="Times New Roman" panose="02020603050405020304" pitchFamily="18" charset="0"/>
                <a:ea typeface="微软雅黑" panose="020B0503020204020204" pitchFamily="34" charset="-122"/>
              </a:rPr>
              <a:t>于是重构后的流场为</a:t>
            </a:r>
            <a:endParaRPr lang="en-US" altLang="zh-CN" b="1" dirty="0">
              <a:solidFill>
                <a:srgbClr val="000000"/>
              </a:solidFill>
              <a:latin typeface="Times New Roman" panose="02020603050405020304" pitchFamily="18" charset="0"/>
              <a:ea typeface="微软雅黑" panose="020B0503020204020204" pitchFamily="34" charset="-122"/>
            </a:endParaRPr>
          </a:p>
        </p:txBody>
      </p:sp>
      <p:graphicFrame>
        <p:nvGraphicFramePr>
          <p:cNvPr id="114699" name="对象 21"/>
          <p:cNvGraphicFramePr>
            <a:graphicFrameLocks noChangeAspect="1"/>
          </p:cNvGraphicFramePr>
          <p:nvPr>
            <p:extLst/>
          </p:nvPr>
        </p:nvGraphicFramePr>
        <p:xfrm>
          <a:off x="5207184" y="4555767"/>
          <a:ext cx="1471613" cy="728662"/>
        </p:xfrm>
        <a:graphic>
          <a:graphicData uri="http://schemas.openxmlformats.org/presentationml/2006/ole">
            <mc:AlternateContent xmlns:mc="http://schemas.openxmlformats.org/markup-compatibility/2006">
              <mc:Choice xmlns:v="urn:schemas-microsoft-com:vml" Requires="v">
                <p:oleObj spid="_x0000_s29723" name="Equation" r:id="rId5" imgW="901309" imgH="444307" progId="Equation.DSMT4">
                  <p:embed/>
                </p:oleObj>
              </mc:Choice>
              <mc:Fallback>
                <p:oleObj name="Equation" r:id="rId5" imgW="901309" imgH="444307" progId="Equation.DSMT4">
                  <p:embed/>
                  <p:pic>
                    <p:nvPicPr>
                      <p:cNvPr id="114699" name="对象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07184" y="4555767"/>
                        <a:ext cx="1471613" cy="72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700" name="对象 23"/>
          <p:cNvGraphicFramePr>
            <a:graphicFrameLocks noChangeAspect="1"/>
          </p:cNvGraphicFramePr>
          <p:nvPr/>
        </p:nvGraphicFramePr>
        <p:xfrm>
          <a:off x="5421313" y="5397500"/>
          <a:ext cx="1123950" cy="469900"/>
        </p:xfrm>
        <a:graphic>
          <a:graphicData uri="http://schemas.openxmlformats.org/presentationml/2006/ole">
            <mc:AlternateContent xmlns:mc="http://schemas.openxmlformats.org/markup-compatibility/2006">
              <mc:Choice xmlns:v="urn:schemas-microsoft-com:vml" Requires="v">
                <p:oleObj spid="_x0000_s29724" name="Equation" r:id="rId7" imgW="634449" imgH="266469" progId="Equation.DSMT4">
                  <p:embed/>
                </p:oleObj>
              </mc:Choice>
              <mc:Fallback>
                <p:oleObj name="Equation" r:id="rId7" imgW="634449" imgH="266469" progId="Equation.DSMT4">
                  <p:embed/>
                  <p:pic>
                    <p:nvPicPr>
                      <p:cNvPr id="114700" name="对象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1313" y="5397500"/>
                        <a:ext cx="11239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4701" name="对象 24"/>
          <p:cNvGraphicFramePr>
            <a:graphicFrameLocks noChangeAspect="1"/>
          </p:cNvGraphicFramePr>
          <p:nvPr/>
        </p:nvGraphicFramePr>
        <p:xfrm>
          <a:off x="7064376" y="5441951"/>
          <a:ext cx="269875" cy="403225"/>
        </p:xfrm>
        <a:graphic>
          <a:graphicData uri="http://schemas.openxmlformats.org/presentationml/2006/ole">
            <mc:AlternateContent xmlns:mc="http://schemas.openxmlformats.org/markup-compatibility/2006">
              <mc:Choice xmlns:v="urn:schemas-microsoft-com:vml" Requires="v">
                <p:oleObj spid="_x0000_s29725" name="Equation" r:id="rId9" imgW="152280" imgH="228600" progId="Equation.DSMT4">
                  <p:embed/>
                </p:oleObj>
              </mc:Choice>
              <mc:Fallback>
                <p:oleObj name="Equation" r:id="rId9" imgW="152280" imgH="228600" progId="Equation.DSMT4">
                  <p:embed/>
                  <p:pic>
                    <p:nvPicPr>
                      <p:cNvPr id="114701" name="对象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64376" y="5441951"/>
                        <a:ext cx="2698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702" name="矩形 25"/>
          <p:cNvSpPr>
            <a:spLocks noChangeArrowheads="1"/>
          </p:cNvSpPr>
          <p:nvPr/>
        </p:nvSpPr>
        <p:spPr bwMode="auto">
          <a:xfrm>
            <a:off x="7334250" y="5441950"/>
            <a:ext cx="1511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b="1">
                <a:solidFill>
                  <a:srgbClr val="000000"/>
                </a:solidFill>
                <a:latin typeface="Times New Roman" panose="02020603050405020304" pitchFamily="18" charset="0"/>
                <a:ea typeface="微软雅黑" panose="020B0503020204020204" pitchFamily="34" charset="-122"/>
              </a:rPr>
              <a:t>scaling factor</a:t>
            </a:r>
            <a:endParaRPr lang="en-US" altLang="zh-CN"/>
          </a:p>
        </p:txBody>
      </p:sp>
      <p:graphicFrame>
        <p:nvGraphicFramePr>
          <p:cNvPr id="114703" name="对象 27"/>
          <p:cNvGraphicFramePr>
            <a:graphicFrameLocks noChangeAspect="1"/>
          </p:cNvGraphicFramePr>
          <p:nvPr/>
        </p:nvGraphicFramePr>
        <p:xfrm>
          <a:off x="2851151" y="5284788"/>
          <a:ext cx="1109663" cy="615950"/>
        </p:xfrm>
        <a:graphic>
          <a:graphicData uri="http://schemas.openxmlformats.org/presentationml/2006/ole">
            <mc:AlternateContent xmlns:mc="http://schemas.openxmlformats.org/markup-compatibility/2006">
              <mc:Choice xmlns:v="urn:schemas-microsoft-com:vml" Requires="v">
                <p:oleObj spid="_x0000_s29726" name="Equation" r:id="rId11" imgW="774364" imgH="431613" progId="Equation.DSMT4">
                  <p:embed/>
                </p:oleObj>
              </mc:Choice>
              <mc:Fallback>
                <p:oleObj name="Equation" r:id="rId11" imgW="774364" imgH="431613" progId="Equation.DSMT4">
                  <p:embed/>
                  <p:pic>
                    <p:nvPicPr>
                      <p:cNvPr id="114703" name="对象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1151" y="5284788"/>
                        <a:ext cx="110966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右箭头 28"/>
          <p:cNvSpPr/>
          <p:nvPr/>
        </p:nvSpPr>
        <p:spPr bwMode="auto">
          <a:xfrm>
            <a:off x="4054476" y="5441950"/>
            <a:ext cx="504825" cy="344488"/>
          </a:xfrm>
          <a:prstGeom prst="rightArrow">
            <a:avLst/>
          </a:prstGeom>
          <a:solidFill>
            <a:srgbClr val="99CCFF"/>
          </a:solidFill>
          <a:ln w="1905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graphicFrame>
        <p:nvGraphicFramePr>
          <p:cNvPr id="114705" name="对象 29"/>
          <p:cNvGraphicFramePr>
            <a:graphicFrameLocks noChangeAspect="1"/>
          </p:cNvGraphicFramePr>
          <p:nvPr/>
        </p:nvGraphicFramePr>
        <p:xfrm>
          <a:off x="4660901" y="5441951"/>
          <a:ext cx="269875" cy="403225"/>
        </p:xfrm>
        <a:graphic>
          <a:graphicData uri="http://schemas.openxmlformats.org/presentationml/2006/ole">
            <mc:AlternateContent xmlns:mc="http://schemas.openxmlformats.org/markup-compatibility/2006">
              <mc:Choice xmlns:v="urn:schemas-microsoft-com:vml" Requires="v">
                <p:oleObj spid="_x0000_s29727" name="Equation" r:id="rId13" imgW="152280" imgH="228600" progId="Equation.DSMT4">
                  <p:embed/>
                </p:oleObj>
              </mc:Choice>
              <mc:Fallback>
                <p:oleObj name="Equation" r:id="rId13" imgW="152280" imgH="228600" progId="Equation.DSMT4">
                  <p:embed/>
                  <p:pic>
                    <p:nvPicPr>
                      <p:cNvPr id="114705" name="对象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60901" y="5441951"/>
                        <a:ext cx="2698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4706" name="矩形 30"/>
          <p:cNvSpPr>
            <a:spLocks noChangeArrowheads="1"/>
          </p:cNvSpPr>
          <p:nvPr/>
        </p:nvSpPr>
        <p:spPr bwMode="auto">
          <a:xfrm>
            <a:off x="6923232" y="4721226"/>
            <a:ext cx="2671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dirty="0">
                <a:latin typeface="Times New Roman" panose="02020603050405020304" pitchFamily="18" charset="0"/>
                <a:ea typeface="宋体" panose="02010600030101010101" pitchFamily="2" charset="-122"/>
                <a:cs typeface="Cambria Math" panose="02040503050406030204" pitchFamily="18" charset="0"/>
              </a:rPr>
              <a:t>m</a:t>
            </a:r>
            <a:r>
              <a:rPr lang="zh-CN" altLang="zh-CN" dirty="0">
                <a:latin typeface="Times New Roman" panose="02020603050405020304" pitchFamily="18" charset="0"/>
                <a:ea typeface="宋体" panose="02010600030101010101" pitchFamily="2" charset="-122"/>
                <a:cs typeface="Cambria Math" panose="02040503050406030204" pitchFamily="18" charset="0"/>
              </a:rPr>
              <a:t>是所选取的模态总阶数</a:t>
            </a:r>
            <a:endParaRPr lang="en-US" altLang="zh-CN" dirty="0">
              <a:cs typeface="Cambria Math" panose="02040503050406030204" pitchFamily="18" charset="0"/>
            </a:endParaRPr>
          </a:p>
        </p:txBody>
      </p:sp>
      <p:sp>
        <p:nvSpPr>
          <p:cNvPr id="114707" name="矩形 31"/>
          <p:cNvSpPr>
            <a:spLocks noChangeArrowheads="1"/>
          </p:cNvSpPr>
          <p:nvPr/>
        </p:nvSpPr>
        <p:spPr bwMode="auto">
          <a:xfrm>
            <a:off x="3512343" y="6088487"/>
            <a:ext cx="5507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b="1">
                <a:solidFill>
                  <a:srgbClr val="000000"/>
                </a:solidFill>
                <a:latin typeface="Times New Roman" panose="02020603050405020304" pitchFamily="18" charset="0"/>
                <a:ea typeface="微软雅黑" panose="020B0503020204020204" pitchFamily="34" charset="-122"/>
              </a:rPr>
              <a:t>m</a:t>
            </a:r>
            <a:r>
              <a:rPr lang="zh-CN" altLang="zh-CN" b="1">
                <a:solidFill>
                  <a:srgbClr val="000000"/>
                </a:solidFill>
                <a:latin typeface="Times New Roman" panose="02020603050405020304" pitchFamily="18" charset="0"/>
                <a:ea typeface="微软雅黑" panose="020B0503020204020204" pitchFamily="34" charset="-122"/>
              </a:rPr>
              <a:t>是所选取的模态总阶数</a:t>
            </a:r>
            <a:r>
              <a:rPr lang="zh-CN" altLang="en-US" b="1">
                <a:solidFill>
                  <a:srgbClr val="000000"/>
                </a:solidFill>
                <a:latin typeface="Times New Roman" panose="02020603050405020304" pitchFamily="18" charset="0"/>
                <a:ea typeface="微软雅黑" panose="020B0503020204020204" pitchFamily="34" charset="-122"/>
              </a:rPr>
              <a:t>，相当于选取</a:t>
            </a:r>
            <a:r>
              <a:rPr lang="en-US" altLang="zh-CN" b="1" i="1">
                <a:solidFill>
                  <a:srgbClr val="000000"/>
                </a:solidFill>
                <a:latin typeface="Times New Roman" panose="02020603050405020304" pitchFamily="18" charset="0"/>
                <a:ea typeface="微软雅黑" panose="020B0503020204020204" pitchFamily="34" charset="-122"/>
              </a:rPr>
              <a:t>S</a:t>
            </a:r>
            <a:r>
              <a:rPr lang="zh-CN" altLang="en-US" b="1">
                <a:solidFill>
                  <a:srgbClr val="000000"/>
                </a:solidFill>
                <a:latin typeface="Times New Roman" panose="02020603050405020304" pitchFamily="18" charset="0"/>
                <a:ea typeface="微软雅黑" panose="020B0503020204020204" pitchFamily="34" charset="-122"/>
              </a:rPr>
              <a:t>的前</a:t>
            </a:r>
            <a:r>
              <a:rPr lang="en-US" altLang="zh-CN" b="1">
                <a:solidFill>
                  <a:srgbClr val="000000"/>
                </a:solidFill>
                <a:latin typeface="Times New Roman" panose="02020603050405020304" pitchFamily="18" charset="0"/>
                <a:ea typeface="微软雅黑" panose="020B0503020204020204" pitchFamily="34" charset="-122"/>
              </a:rPr>
              <a:t>m</a:t>
            </a:r>
            <a:r>
              <a:rPr lang="zh-CN" altLang="en-US" b="1">
                <a:solidFill>
                  <a:srgbClr val="000000"/>
                </a:solidFill>
                <a:latin typeface="Times New Roman" panose="02020603050405020304" pitchFamily="18" charset="0"/>
                <a:ea typeface="微软雅黑" panose="020B0503020204020204" pitchFamily="34" charset="-122"/>
              </a:rPr>
              <a:t>行</a:t>
            </a:r>
            <a:r>
              <a:rPr lang="en-US" altLang="zh-CN" b="1">
                <a:solidFill>
                  <a:srgbClr val="000000"/>
                </a:solidFill>
                <a:latin typeface="Times New Roman" panose="02020603050405020304" pitchFamily="18" charset="0"/>
                <a:ea typeface="微软雅黑" panose="020B0503020204020204" pitchFamily="34" charset="-122"/>
              </a:rPr>
              <a:t>m</a:t>
            </a:r>
            <a:r>
              <a:rPr lang="zh-CN" altLang="en-US" b="1">
                <a:solidFill>
                  <a:srgbClr val="000000"/>
                </a:solidFill>
                <a:latin typeface="Times New Roman" panose="02020603050405020304" pitchFamily="18" charset="0"/>
                <a:ea typeface="微软雅黑" panose="020B0503020204020204" pitchFamily="34" charset="-122"/>
              </a:rPr>
              <a:t>列</a:t>
            </a:r>
            <a:endParaRPr lang="en-US" altLang="zh-CN" b="1">
              <a:solidFill>
                <a:srgbClr val="000000"/>
              </a:solidFill>
              <a:latin typeface="Times New Roman" panose="02020603050405020304" pitchFamily="18" charset="0"/>
              <a:ea typeface="微软雅黑" panose="020B0503020204020204" pitchFamily="34" charset="-122"/>
            </a:endParaRPr>
          </a:p>
        </p:txBody>
      </p:sp>
      <p:sp>
        <p:nvSpPr>
          <p:cNvPr id="20" name="矩形 4"/>
          <p:cNvSpPr>
            <a:spLocks noChangeArrowheads="1"/>
          </p:cNvSpPr>
          <p:nvPr/>
        </p:nvSpPr>
        <p:spPr bwMode="auto">
          <a:xfrm>
            <a:off x="672916" y="1414464"/>
            <a:ext cx="1827744"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数学原理</a:t>
            </a:r>
            <a:endParaRPr lang="en-US" altLang="zh-CN" sz="2000" dirty="0">
              <a:latin typeface="华文细黑" panose="02010600040101010101" pitchFamily="2" charset="-122"/>
              <a:ea typeface="华文细黑" panose="02010600040101010101" pitchFamily="2" charset="-122"/>
            </a:endParaRPr>
          </a:p>
        </p:txBody>
      </p:sp>
      <p:sp>
        <p:nvSpPr>
          <p:cNvPr id="22" name="文本框 21"/>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60</a:t>
            </a:fld>
            <a:endParaRPr lang="zh-CN" altLang="en-US"/>
          </a:p>
        </p:txBody>
      </p:sp>
    </p:spTree>
    <p:extLst>
      <p:ext uri="{BB962C8B-B14F-4D97-AF65-F5344CB8AC3E}">
        <p14:creationId xmlns:p14="http://schemas.microsoft.com/office/powerpoint/2010/main" val="2851091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矩形 4"/>
          <p:cNvSpPr>
            <a:spLocks noChangeArrowheads="1"/>
          </p:cNvSpPr>
          <p:nvPr/>
        </p:nvSpPr>
        <p:spPr bwMode="auto">
          <a:xfrm>
            <a:off x="672916" y="1417609"/>
            <a:ext cx="1646605"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示例</a:t>
            </a:r>
            <a:r>
              <a:rPr lang="en-US" altLang="zh-CN" sz="2000" dirty="0">
                <a:latin typeface="华文细黑" panose="02010600040101010101" pitchFamily="2" charset="-122"/>
                <a:ea typeface="华文细黑" panose="02010600040101010101" pitchFamily="2" charset="-122"/>
              </a:rPr>
              <a:t>(1)</a:t>
            </a:r>
          </a:p>
        </p:txBody>
      </p:sp>
      <p:sp>
        <p:nvSpPr>
          <p:cNvPr id="6" name="文本框 5"/>
          <p:cNvSpPr txBox="1"/>
          <p:nvPr/>
        </p:nvSpPr>
        <p:spPr>
          <a:xfrm>
            <a:off x="731839" y="2041525"/>
            <a:ext cx="1819275" cy="423863"/>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zh-CN" altLang="en-US" kern="0" dirty="0">
                <a:solidFill>
                  <a:srgbClr val="000000"/>
                </a:solidFill>
              </a:rPr>
              <a:t>时空单频标量场</a:t>
            </a:r>
            <a:endParaRPr lang="en-US" altLang="zh-CN" kern="0" dirty="0">
              <a:solidFill>
                <a:srgbClr val="000000"/>
              </a:solidFill>
            </a:endParaRPr>
          </a:p>
        </p:txBody>
      </p:sp>
      <p:graphicFrame>
        <p:nvGraphicFramePr>
          <p:cNvPr id="115717" name="对象 6"/>
          <p:cNvGraphicFramePr>
            <a:graphicFrameLocks noChangeAspect="1"/>
          </p:cNvGraphicFramePr>
          <p:nvPr>
            <p:extLst/>
          </p:nvPr>
        </p:nvGraphicFramePr>
        <p:xfrm>
          <a:off x="2544764" y="1855788"/>
          <a:ext cx="5195887" cy="884237"/>
        </p:xfrm>
        <a:graphic>
          <a:graphicData uri="http://schemas.openxmlformats.org/presentationml/2006/ole">
            <mc:AlternateContent xmlns:mc="http://schemas.openxmlformats.org/markup-compatibility/2006">
              <mc:Choice xmlns:v="urn:schemas-microsoft-com:vml" Requires="v">
                <p:oleObj spid="_x0000_s30726" name="Equation" r:id="rId3" imgW="3314520" imgH="558720" progId="Equation.DSMT4">
                  <p:embed/>
                </p:oleObj>
              </mc:Choice>
              <mc:Fallback>
                <p:oleObj name="Equation" r:id="rId3" imgW="3314520" imgH="558720" progId="Equation.DSMT4">
                  <p:embed/>
                  <p:pic>
                    <p:nvPicPr>
                      <p:cNvPr id="11571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4764" y="1855788"/>
                        <a:ext cx="5195887"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组合 1"/>
          <p:cNvGrpSpPr/>
          <p:nvPr/>
        </p:nvGrpSpPr>
        <p:grpSpPr>
          <a:xfrm>
            <a:off x="731838" y="3032125"/>
            <a:ext cx="6573837" cy="3156848"/>
            <a:chOff x="731839" y="3032125"/>
            <a:chExt cx="5937250" cy="2851150"/>
          </a:xfrm>
        </p:grpSpPr>
        <p:pic>
          <p:nvPicPr>
            <p:cNvPr id="115718" name="图片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1839" y="3032125"/>
              <a:ext cx="3008313" cy="223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5719" name="图片 8"/>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668714" y="3038475"/>
              <a:ext cx="3000375" cy="223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1558927" y="5251450"/>
              <a:ext cx="1514475" cy="35083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zh-CN" altLang="en-US" sz="1400" kern="0" dirty="0">
                  <a:solidFill>
                    <a:srgbClr val="000000"/>
                  </a:solidFill>
                </a:rPr>
                <a:t>虚拟流场真实场</a:t>
              </a:r>
              <a:endParaRPr lang="en-US" altLang="zh-CN" sz="1400" kern="0" dirty="0">
                <a:solidFill>
                  <a:srgbClr val="000000"/>
                </a:solidFill>
              </a:endParaRPr>
            </a:p>
          </p:txBody>
        </p:sp>
        <p:sp>
          <p:nvSpPr>
            <p:cNvPr id="11" name="文本框 10"/>
            <p:cNvSpPr txBox="1"/>
            <p:nvPr/>
          </p:nvSpPr>
          <p:spPr>
            <a:xfrm>
              <a:off x="4565652" y="5273675"/>
              <a:ext cx="1514475" cy="609600"/>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kern="0" dirty="0">
                  <a:solidFill>
                    <a:srgbClr val="000000"/>
                  </a:solidFill>
                </a:rPr>
                <a:t>40%</a:t>
              </a:r>
              <a:r>
                <a:rPr lang="zh-CN" altLang="en-US" sz="1400" kern="0" dirty="0">
                  <a:solidFill>
                    <a:srgbClr val="000000"/>
                  </a:solidFill>
                </a:rPr>
                <a:t>平均场强度白噪声混合流场</a:t>
              </a:r>
              <a:endParaRPr lang="en-US" altLang="zh-CN" sz="1400" kern="0" dirty="0">
                <a:solidFill>
                  <a:srgbClr val="000000"/>
                </a:solidFill>
              </a:endParaRPr>
            </a:p>
          </p:txBody>
        </p:sp>
      </p:grpSp>
      <p:sp>
        <p:nvSpPr>
          <p:cNvPr id="12" name="文本框 11"/>
          <p:cNvSpPr txBox="1"/>
          <p:nvPr/>
        </p:nvSpPr>
        <p:spPr>
          <a:xfrm>
            <a:off x="6621754" y="6357742"/>
            <a:ext cx="1603375" cy="35083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DMD</a:t>
            </a:r>
            <a:r>
              <a:rPr lang="zh-CN" altLang="en-US" sz="1400" b="1" kern="0" dirty="0">
                <a:solidFill>
                  <a:srgbClr val="000000"/>
                </a:solidFill>
              </a:rPr>
              <a:t>不稳定模态</a:t>
            </a:r>
            <a:endParaRPr lang="en-US" altLang="zh-CN" sz="1400" b="1" kern="0" dirty="0">
              <a:solidFill>
                <a:srgbClr val="000000"/>
              </a:solidFill>
            </a:endParaRPr>
          </a:p>
        </p:txBody>
      </p:sp>
      <p:pic>
        <p:nvPicPr>
          <p:cNvPr id="115724" name="图片 13"/>
          <p:cNvPicPr>
            <a:picLocks noChangeAspect="1"/>
          </p:cNvPicPr>
          <p:nvPr/>
        </p:nvPicPr>
        <p:blipFill>
          <a:blip r:embed="rId7">
            <a:extLst>
              <a:ext uri="{28A0092B-C50C-407E-A947-70E740481C1C}">
                <a14:useLocalDpi xmlns:a14="http://schemas.microsoft.com/office/drawing/2010/main" val="0"/>
              </a:ext>
            </a:extLst>
          </a:blip>
          <a:srcRect t="4854" r="8444"/>
          <a:stretch>
            <a:fillRect/>
          </a:stretch>
        </p:blipFill>
        <p:spPr bwMode="auto">
          <a:xfrm>
            <a:off x="8034192" y="4352483"/>
            <a:ext cx="3241443" cy="2505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8225129" y="1357540"/>
            <a:ext cx="3050506" cy="2826174"/>
            <a:chOff x="7878764" y="2244214"/>
            <a:chExt cx="2605087" cy="2413511"/>
          </a:xfrm>
        </p:grpSpPr>
        <p:pic>
          <p:nvPicPr>
            <p:cNvPr id="115723" name="图片 12"/>
            <p:cNvPicPr>
              <a:picLocks noChangeAspect="1"/>
            </p:cNvPicPr>
            <p:nvPr/>
          </p:nvPicPr>
          <p:blipFill>
            <a:blip r:embed="rId8">
              <a:extLst>
                <a:ext uri="{28A0092B-C50C-407E-A947-70E740481C1C}">
                  <a14:useLocalDpi xmlns:a14="http://schemas.microsoft.com/office/drawing/2010/main" val="0"/>
                </a:ext>
              </a:extLst>
            </a:blip>
            <a:srcRect l="5885" t="4771" r="6831"/>
            <a:stretch>
              <a:fillRect/>
            </a:stretch>
          </p:blipFill>
          <p:spPr bwMode="auto">
            <a:xfrm>
              <a:off x="7878764" y="2544763"/>
              <a:ext cx="2605087" cy="211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文本框 14"/>
            <p:cNvSpPr txBox="1"/>
            <p:nvPr/>
          </p:nvSpPr>
          <p:spPr>
            <a:xfrm>
              <a:off x="8761413" y="3425825"/>
              <a:ext cx="1149350" cy="35083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DMD</a:t>
              </a:r>
              <a:r>
                <a:rPr lang="zh-CN" altLang="en-US" sz="1400" b="1" kern="0" dirty="0">
                  <a:solidFill>
                    <a:srgbClr val="000000"/>
                  </a:solidFill>
                </a:rPr>
                <a:t>特征值</a:t>
              </a:r>
              <a:endParaRPr lang="en-US" altLang="zh-CN" sz="1400" b="1" kern="0" dirty="0">
                <a:solidFill>
                  <a:srgbClr val="000000"/>
                </a:solidFill>
              </a:endParaRPr>
            </a:p>
          </p:txBody>
        </p:sp>
        <p:sp>
          <p:nvSpPr>
            <p:cNvPr id="16" name="椭圆 15"/>
            <p:cNvSpPr/>
            <p:nvPr/>
          </p:nvSpPr>
          <p:spPr bwMode="auto">
            <a:xfrm>
              <a:off x="9910764" y="2689225"/>
              <a:ext cx="128587" cy="128588"/>
            </a:xfrm>
            <a:prstGeom prst="ellipse">
              <a:avLst/>
            </a:prstGeom>
            <a:noFill/>
            <a:ln w="19050" cap="flat" cmpd="sng" algn="ctr">
              <a:solidFill>
                <a:srgbClr val="000000"/>
              </a:solidFill>
              <a:prstDash val="solid"/>
              <a:round/>
              <a:headEnd type="none" w="med" len="med"/>
              <a:tailEnd type="none" w="med" len="med"/>
            </a:ln>
            <a:effectLs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cxnSp>
          <p:nvCxnSpPr>
            <p:cNvPr id="115727" name="直接箭头连接符 16"/>
            <p:cNvCxnSpPr>
              <a:cxnSpLocks noChangeShapeType="1"/>
              <a:stCxn id="18" idx="3"/>
              <a:endCxn id="16" idx="7"/>
            </p:cNvCxnSpPr>
            <p:nvPr/>
          </p:nvCxnSpPr>
          <p:spPr bwMode="auto">
            <a:xfrm flipH="1">
              <a:off x="10020520" y="2394031"/>
              <a:ext cx="87016" cy="314025"/>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文本框 17"/>
            <p:cNvSpPr txBox="1"/>
            <p:nvPr/>
          </p:nvSpPr>
          <p:spPr>
            <a:xfrm>
              <a:off x="9397341" y="2244214"/>
              <a:ext cx="710195" cy="299634"/>
            </a:xfrm>
            <a:prstGeom prst="rect">
              <a:avLst/>
            </a:prstGeom>
            <a:noFill/>
          </p:spPr>
          <p:txBody>
            <a:bodyPr wrap="square">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9.689Hz</a:t>
              </a:r>
            </a:p>
          </p:txBody>
        </p:sp>
      </p:grpSp>
      <p:sp>
        <p:nvSpPr>
          <p:cNvPr id="20" name="文本框 19"/>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4" name="灯片编号占位符 3"/>
          <p:cNvSpPr>
            <a:spLocks noGrp="1"/>
          </p:cNvSpPr>
          <p:nvPr>
            <p:ph type="sldNum" sz="quarter" idx="12"/>
          </p:nvPr>
        </p:nvSpPr>
        <p:spPr/>
        <p:txBody>
          <a:bodyPr/>
          <a:lstStyle/>
          <a:p>
            <a:fld id="{16D8DD02-547D-47A5-AAEA-525C7BEEAE57}" type="slidenum">
              <a:rPr lang="zh-CN" altLang="en-US" smtClean="0"/>
              <a:t>61</a:t>
            </a:fld>
            <a:endParaRPr lang="zh-CN" altLang="en-US"/>
          </a:p>
        </p:txBody>
      </p:sp>
    </p:spTree>
    <p:extLst>
      <p:ext uri="{BB962C8B-B14F-4D97-AF65-F5344CB8AC3E}">
        <p14:creationId xmlns:p14="http://schemas.microsoft.com/office/powerpoint/2010/main" val="3191660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376696" y="3457581"/>
            <a:ext cx="6095518" cy="3003766"/>
            <a:chOff x="2551113" y="3832225"/>
            <a:chExt cx="4729163" cy="2330450"/>
          </a:xfrm>
        </p:grpSpPr>
        <p:sp>
          <p:nvSpPr>
            <p:cNvPr id="6" name="文本框 5"/>
            <p:cNvSpPr txBox="1"/>
            <p:nvPr/>
          </p:nvSpPr>
          <p:spPr>
            <a:xfrm>
              <a:off x="2963864" y="5553075"/>
              <a:ext cx="1514475" cy="35083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zh-CN" altLang="en-US" sz="1400" kern="0" dirty="0">
                  <a:solidFill>
                    <a:srgbClr val="000000"/>
                  </a:solidFill>
                </a:rPr>
                <a:t>虚拟流场真实场</a:t>
              </a:r>
              <a:endParaRPr lang="en-US" altLang="zh-CN" sz="1400" kern="0" dirty="0">
                <a:solidFill>
                  <a:srgbClr val="000000"/>
                </a:solidFill>
              </a:endParaRPr>
            </a:p>
          </p:txBody>
        </p:sp>
        <p:sp>
          <p:nvSpPr>
            <p:cNvPr id="7" name="文本框 6"/>
            <p:cNvSpPr txBox="1"/>
            <p:nvPr/>
          </p:nvSpPr>
          <p:spPr>
            <a:xfrm>
              <a:off x="5519739" y="5553075"/>
              <a:ext cx="1514475" cy="609600"/>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kern="0" dirty="0">
                  <a:solidFill>
                    <a:srgbClr val="000000"/>
                  </a:solidFill>
                </a:rPr>
                <a:t>40%</a:t>
              </a:r>
              <a:r>
                <a:rPr lang="zh-CN" altLang="en-US" sz="1400" kern="0" dirty="0">
                  <a:solidFill>
                    <a:srgbClr val="000000"/>
                  </a:solidFill>
                </a:rPr>
                <a:t>平均场强度白噪声混合流场</a:t>
              </a:r>
              <a:endParaRPr lang="en-US" altLang="zh-CN" sz="1400" kern="0" dirty="0">
                <a:solidFill>
                  <a:srgbClr val="000000"/>
                </a:solidFill>
              </a:endParaRPr>
            </a:p>
          </p:txBody>
        </p:sp>
        <p:pic>
          <p:nvPicPr>
            <p:cNvPr id="11674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1113" y="3833813"/>
              <a:ext cx="2247900"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5" name="图片 1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30789" y="3832225"/>
              <a:ext cx="2249487"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文本框 3"/>
          <p:cNvSpPr txBox="1"/>
          <p:nvPr/>
        </p:nvSpPr>
        <p:spPr>
          <a:xfrm>
            <a:off x="4970463" y="2822574"/>
            <a:ext cx="1797050" cy="425450"/>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zh-CN" altLang="en-US" b="1" kern="0" dirty="0">
                <a:solidFill>
                  <a:srgbClr val="000000"/>
                </a:solidFill>
              </a:rPr>
              <a:t>时空双频标量场</a:t>
            </a:r>
            <a:endParaRPr lang="en-US" altLang="zh-CN" b="1" kern="0" dirty="0">
              <a:solidFill>
                <a:srgbClr val="000000"/>
              </a:solidFill>
            </a:endParaRPr>
          </a:p>
        </p:txBody>
      </p:sp>
      <p:graphicFrame>
        <p:nvGraphicFramePr>
          <p:cNvPr id="116739" name="对象 4"/>
          <p:cNvGraphicFramePr>
            <a:graphicFrameLocks noChangeAspect="1"/>
          </p:cNvGraphicFramePr>
          <p:nvPr>
            <p:extLst/>
          </p:nvPr>
        </p:nvGraphicFramePr>
        <p:xfrm>
          <a:off x="674688" y="1809750"/>
          <a:ext cx="6092825" cy="1768475"/>
        </p:xfrm>
        <a:graphic>
          <a:graphicData uri="http://schemas.openxmlformats.org/presentationml/2006/ole">
            <mc:AlternateContent xmlns:mc="http://schemas.openxmlformats.org/markup-compatibility/2006">
              <mc:Choice xmlns:v="urn:schemas-microsoft-com:vml" Requires="v">
                <p:oleObj spid="_x0000_s31750" name="Equation" r:id="rId5" imgW="3886200" imgH="1117440" progId="Equation.DSMT4">
                  <p:embed/>
                </p:oleObj>
              </mc:Choice>
              <mc:Fallback>
                <p:oleObj name="Equation" r:id="rId5" imgW="3886200" imgH="1117440" progId="Equation.DSMT4">
                  <p:embed/>
                  <p:pic>
                    <p:nvPicPr>
                      <p:cNvPr id="116739"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688" y="1809750"/>
                        <a:ext cx="6092825"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文本框 8"/>
          <p:cNvSpPr txBox="1"/>
          <p:nvPr/>
        </p:nvSpPr>
        <p:spPr>
          <a:xfrm>
            <a:off x="672916" y="6191253"/>
            <a:ext cx="6643874" cy="658129"/>
          </a:xfrm>
          <a:prstGeom prst="rect">
            <a:avLst/>
          </a:prstGeom>
          <a:noFill/>
        </p:spPr>
        <p:txBody>
          <a:bodyPr wrap="square">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a:buFont typeface="Wingdings" panose="05000000000000000000" pitchFamily="2" charset="2"/>
              <a:buChar char="ü"/>
              <a:defRPr/>
            </a:pPr>
            <a:r>
              <a:rPr lang="en-US" altLang="zh-CN" sz="1600" b="1" kern="0" dirty="0">
                <a:solidFill>
                  <a:srgbClr val="000000"/>
                </a:solidFill>
              </a:rPr>
              <a:t>DMD</a:t>
            </a:r>
            <a:r>
              <a:rPr lang="zh-CN" altLang="en-US" sz="1600" b="1" kern="0" dirty="0">
                <a:solidFill>
                  <a:srgbClr val="000000"/>
                </a:solidFill>
              </a:rPr>
              <a:t>能很好地捕捉模态，并且不发生</a:t>
            </a:r>
            <a:r>
              <a:rPr lang="en-US" altLang="zh-CN" sz="1600" b="1" kern="0" dirty="0">
                <a:solidFill>
                  <a:srgbClr val="000000"/>
                </a:solidFill>
              </a:rPr>
              <a:t>POD</a:t>
            </a:r>
            <a:r>
              <a:rPr lang="zh-CN" altLang="en-US" sz="1600" b="1" kern="0" dirty="0">
                <a:solidFill>
                  <a:srgbClr val="000000"/>
                </a:solidFill>
              </a:rPr>
              <a:t>方法的某种程度的混叠平均现象，模态分离效果好</a:t>
            </a:r>
            <a:endParaRPr lang="en-US" altLang="zh-CN" sz="1600" b="1" kern="0" dirty="0">
              <a:solidFill>
                <a:srgbClr val="000000"/>
              </a:solidFill>
            </a:endParaRPr>
          </a:p>
        </p:txBody>
      </p:sp>
      <p:pic>
        <p:nvPicPr>
          <p:cNvPr id="116746" name="图片 1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681913" y="1446186"/>
            <a:ext cx="2498725" cy="185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p:cNvSpPr txBox="1"/>
          <p:nvPr/>
        </p:nvSpPr>
        <p:spPr>
          <a:xfrm>
            <a:off x="10025063" y="2074478"/>
            <a:ext cx="958850" cy="350838"/>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kern="0" dirty="0">
                <a:solidFill>
                  <a:srgbClr val="000000"/>
                </a:solidFill>
              </a:rPr>
              <a:t>u</a:t>
            </a:r>
            <a:r>
              <a:rPr lang="en-US" altLang="zh-CN" sz="1400" kern="0" baseline="-25000" dirty="0">
                <a:solidFill>
                  <a:srgbClr val="000000"/>
                </a:solidFill>
              </a:rPr>
              <a:t>2</a:t>
            </a:r>
            <a:r>
              <a:rPr lang="zh-CN" altLang="en-US" sz="1400" kern="0" dirty="0">
                <a:solidFill>
                  <a:srgbClr val="000000"/>
                </a:solidFill>
              </a:rPr>
              <a:t>真实场</a:t>
            </a:r>
            <a:endParaRPr lang="en-US" altLang="zh-CN" sz="1400" kern="0" dirty="0">
              <a:solidFill>
                <a:srgbClr val="000000"/>
              </a:solidFill>
            </a:endParaRPr>
          </a:p>
        </p:txBody>
      </p:sp>
      <p:pic>
        <p:nvPicPr>
          <p:cNvPr id="116749" name="图片 14"/>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681913" y="3273425"/>
            <a:ext cx="26289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8204277" y="6558176"/>
            <a:ext cx="2635096" cy="429500"/>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DMD</a:t>
            </a:r>
            <a:r>
              <a:rPr lang="zh-CN" altLang="en-US" sz="1400" b="1" kern="0" dirty="0">
                <a:solidFill>
                  <a:srgbClr val="000000"/>
                </a:solidFill>
              </a:rPr>
              <a:t>最不稳定两阶模态</a:t>
            </a:r>
            <a:endParaRPr lang="en-US" altLang="zh-CN" sz="1400" b="1" kern="0" dirty="0">
              <a:solidFill>
                <a:srgbClr val="000000"/>
              </a:solidFill>
            </a:endParaRPr>
          </a:p>
        </p:txBody>
      </p:sp>
      <p:pic>
        <p:nvPicPr>
          <p:cNvPr id="116750" name="图片 15"/>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89293" y="5149293"/>
            <a:ext cx="1896647" cy="140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51" name="图片 16"/>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359627" y="5149293"/>
            <a:ext cx="1894705" cy="140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椭圆 17"/>
          <p:cNvSpPr/>
          <p:nvPr/>
        </p:nvSpPr>
        <p:spPr bwMode="auto">
          <a:xfrm>
            <a:off x="9634539" y="4051300"/>
            <a:ext cx="128587" cy="128588"/>
          </a:xfrm>
          <a:prstGeom prst="ellipse">
            <a:avLst/>
          </a:prstGeom>
          <a:noFill/>
          <a:ln w="19050" cap="flat" cmpd="sng" algn="ctr">
            <a:solidFill>
              <a:srgbClr val="000000"/>
            </a:solidFill>
            <a:prstDash val="solid"/>
            <a:round/>
            <a:headEnd type="none" w="med" len="med"/>
            <a:tailEnd type="none" w="med" len="med"/>
          </a:ln>
          <a:effectLs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cxnSp>
        <p:nvCxnSpPr>
          <p:cNvPr id="116753" name="直接箭头连接符 18"/>
          <p:cNvCxnSpPr>
            <a:cxnSpLocks noChangeShapeType="1"/>
            <a:endCxn id="18" idx="7"/>
          </p:cNvCxnSpPr>
          <p:nvPr/>
        </p:nvCxnSpPr>
        <p:spPr bwMode="auto">
          <a:xfrm flipH="1">
            <a:off x="9744076" y="3560764"/>
            <a:ext cx="258763" cy="509587"/>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文本框 19"/>
          <p:cNvSpPr txBox="1"/>
          <p:nvPr/>
        </p:nvSpPr>
        <p:spPr>
          <a:xfrm>
            <a:off x="9683750" y="3305176"/>
            <a:ext cx="820738" cy="350865"/>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9.994Hz</a:t>
            </a:r>
          </a:p>
        </p:txBody>
      </p:sp>
      <p:sp>
        <p:nvSpPr>
          <p:cNvPr id="21" name="椭圆 20"/>
          <p:cNvSpPr/>
          <p:nvPr/>
        </p:nvSpPr>
        <p:spPr bwMode="auto">
          <a:xfrm>
            <a:off x="9293225" y="3578225"/>
            <a:ext cx="128588" cy="128588"/>
          </a:xfrm>
          <a:prstGeom prst="ellipse">
            <a:avLst/>
          </a:prstGeom>
          <a:noFill/>
          <a:ln w="19050" cap="flat" cmpd="sng" algn="ctr">
            <a:solidFill>
              <a:srgbClr val="000000"/>
            </a:solidFill>
            <a:prstDash val="solid"/>
            <a:round/>
            <a:headEnd type="none" w="med" len="med"/>
            <a:tailEnd type="none" w="med" len="med"/>
          </a:ln>
          <a:effectLst/>
          <a:extLst/>
        </p:spPr>
        <p:txBody>
          <a:bodyPr/>
          <a:lstStyle/>
          <a:p>
            <a:pPr>
              <a:defRPr/>
            </a:pPr>
            <a:endParaRPr lang="en-US" kern="0">
              <a:solidFill>
                <a:srgbClr val="000000"/>
              </a:solidFill>
              <a:latin typeface="Arial" panose="020B0604020202020204" pitchFamily="34" charset="0"/>
              <a:ea typeface="宋体" panose="02010600030101010101" pitchFamily="2" charset="-122"/>
            </a:endParaRPr>
          </a:p>
        </p:txBody>
      </p:sp>
      <p:cxnSp>
        <p:nvCxnSpPr>
          <p:cNvPr id="116756" name="直接箭头连接符 21"/>
          <p:cNvCxnSpPr>
            <a:cxnSpLocks noChangeShapeType="1"/>
          </p:cNvCxnSpPr>
          <p:nvPr/>
        </p:nvCxnSpPr>
        <p:spPr bwMode="auto">
          <a:xfrm flipV="1">
            <a:off x="8840788" y="3675064"/>
            <a:ext cx="431800" cy="314325"/>
          </a:xfrm>
          <a:prstGeom prst="straightConnector1">
            <a:avLst/>
          </a:prstGeom>
          <a:noFill/>
          <a:ln w="19050" algn="ctr">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文本框 22"/>
          <p:cNvSpPr txBox="1"/>
          <p:nvPr/>
        </p:nvSpPr>
        <p:spPr>
          <a:xfrm>
            <a:off x="8413750" y="3911601"/>
            <a:ext cx="820738" cy="350865"/>
          </a:xfrm>
          <a:prstGeom prst="rect">
            <a:avLst/>
          </a:prstGeom>
          <a:noFill/>
        </p:spPr>
        <p:txBody>
          <a:bodyPr>
            <a:spAutoFit/>
          </a:bodyPr>
          <a:lstStyle>
            <a:defPPr>
              <a:defRPr lang="zh-CN"/>
            </a:defPPr>
            <a:lvl1pPr marL="285750" indent="-285750">
              <a:lnSpc>
                <a:spcPct val="120000"/>
              </a:lnSpc>
              <a:buFont typeface="Arial" panose="020B0604020202020204" pitchFamily="34" charset="0"/>
              <a:buChar char="•"/>
              <a:defRPr>
                <a:latin typeface="Times New Roman" panose="02020603050405020304" pitchFamily="18" charset="0"/>
                <a:ea typeface="微软雅黑" panose="020B0503020204020204" pitchFamily="34" charset="-122"/>
              </a:defRPr>
            </a:lvl1pPr>
          </a:lstStyle>
          <a:p>
            <a:pPr marL="0" indent="0">
              <a:buNone/>
              <a:defRPr/>
            </a:pPr>
            <a:r>
              <a:rPr lang="en-US" altLang="zh-CN" sz="1400" b="1" kern="0" dirty="0">
                <a:solidFill>
                  <a:srgbClr val="000000"/>
                </a:solidFill>
              </a:rPr>
              <a:t>5.001Hz</a:t>
            </a:r>
          </a:p>
        </p:txBody>
      </p:sp>
      <p:sp>
        <p:nvSpPr>
          <p:cNvPr id="24" name="矩形 4"/>
          <p:cNvSpPr>
            <a:spLocks noChangeArrowheads="1"/>
          </p:cNvSpPr>
          <p:nvPr/>
        </p:nvSpPr>
        <p:spPr bwMode="auto">
          <a:xfrm>
            <a:off x="672916" y="1417609"/>
            <a:ext cx="1646605" cy="400110"/>
          </a:xfrm>
          <a:prstGeom prst="rect">
            <a:avLst/>
          </a:prstGeom>
          <a:noFill/>
          <a:extLst/>
        </p:spPr>
        <p:txBody>
          <a:bodyPr wrap="square" rtlCol="0">
            <a:spAutoFit/>
          </a:bodyPr>
          <a:lstStyle/>
          <a:p>
            <a:r>
              <a:rPr lang="en-US" altLang="zh-CN" sz="2000" dirty="0">
                <a:latin typeface="华文细黑" panose="02010600040101010101" pitchFamily="2" charset="-122"/>
                <a:ea typeface="华文细黑" panose="02010600040101010101" pitchFamily="2" charset="-122"/>
              </a:rPr>
              <a:t>DMD</a:t>
            </a:r>
            <a:r>
              <a:rPr lang="zh-CN" altLang="en-US" sz="2000" dirty="0">
                <a:latin typeface="华文细黑" panose="02010600040101010101" pitchFamily="2" charset="-122"/>
                <a:ea typeface="华文细黑" panose="02010600040101010101" pitchFamily="2" charset="-122"/>
              </a:rPr>
              <a:t>示例</a:t>
            </a:r>
            <a:r>
              <a:rPr lang="en-US" altLang="zh-CN" sz="2000" dirty="0" smtClean="0">
                <a:latin typeface="华文细黑" panose="02010600040101010101" pitchFamily="2" charset="-122"/>
                <a:ea typeface="华文细黑" panose="02010600040101010101" pitchFamily="2" charset="-122"/>
              </a:rPr>
              <a:t>(2)</a:t>
            </a:r>
            <a:endParaRPr lang="en-US" altLang="zh-CN" sz="2000" dirty="0">
              <a:latin typeface="华文细黑" panose="02010600040101010101" pitchFamily="2" charset="-122"/>
              <a:ea typeface="华文细黑" panose="02010600040101010101" pitchFamily="2" charset="-122"/>
            </a:endParaRPr>
          </a:p>
        </p:txBody>
      </p:sp>
      <p:sp>
        <p:nvSpPr>
          <p:cNvPr id="26" name="文本框 25"/>
          <p:cNvSpPr txBox="1"/>
          <p:nvPr/>
        </p:nvSpPr>
        <p:spPr>
          <a:xfrm>
            <a:off x="672916" y="772765"/>
            <a:ext cx="5023034"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动力学</a:t>
            </a:r>
            <a:r>
              <a:rPr lang="zh-CN" altLang="en-US" sz="3200" b="1" dirty="0" smtClean="0">
                <a:latin typeface="华文细黑" panose="02010600040101010101" pitchFamily="2" charset="-122"/>
                <a:ea typeface="华文细黑" panose="02010600040101010101" pitchFamily="2" charset="-122"/>
              </a:rPr>
              <a:t>模态分解</a:t>
            </a:r>
            <a:r>
              <a:rPr lang="en-US" altLang="zh-CN" sz="3200" b="1" dirty="0" smtClean="0">
                <a:latin typeface="华文细黑" panose="02010600040101010101" pitchFamily="2" charset="-122"/>
                <a:ea typeface="华文细黑" panose="02010600040101010101" pitchFamily="2" charset="-122"/>
              </a:rPr>
              <a:t>-DMD</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62</a:t>
            </a:fld>
            <a:endParaRPr lang="zh-CN" altLang="en-US"/>
          </a:p>
        </p:txBody>
      </p:sp>
    </p:spTree>
    <p:extLst>
      <p:ext uri="{BB962C8B-B14F-4D97-AF65-F5344CB8AC3E}">
        <p14:creationId xmlns:p14="http://schemas.microsoft.com/office/powerpoint/2010/main" val="3456581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内容占位符 2"/>
          <p:cNvSpPr txBox="1">
            <a:spLocks/>
          </p:cNvSpPr>
          <p:nvPr/>
        </p:nvSpPr>
        <p:spPr bwMode="auto">
          <a:xfrm>
            <a:off x="672916" y="1537722"/>
            <a:ext cx="10660102" cy="1323439"/>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smtClean="0"/>
              <a:t>数据同化</a:t>
            </a:r>
            <a:r>
              <a:rPr lang="en-US" altLang="zh-CN" dirty="0" smtClean="0"/>
              <a:t>(Data Assimilation, DA)</a:t>
            </a:r>
            <a:r>
              <a:rPr lang="zh-CN" altLang="en-US" dirty="0" smtClean="0"/>
              <a:t>：</a:t>
            </a:r>
            <a:endParaRPr lang="en-US" altLang="zh-CN" dirty="0" smtClean="0"/>
          </a:p>
          <a:p>
            <a:r>
              <a:rPr lang="zh-CN" altLang="en-US" dirty="0"/>
              <a:t>第一步可以称为</a:t>
            </a:r>
            <a:r>
              <a:rPr lang="zh-CN" altLang="en-US" i="1" dirty="0"/>
              <a:t>分析</a:t>
            </a:r>
            <a:r>
              <a:rPr lang="zh-CN" altLang="en-US" dirty="0"/>
              <a:t>，其中实际系统的观测量与模型产生的</a:t>
            </a:r>
            <a:r>
              <a:rPr lang="zh-CN" altLang="en-US" i="1" dirty="0"/>
              <a:t>预报</a:t>
            </a:r>
            <a:r>
              <a:rPr lang="zh-CN" altLang="en-US" dirty="0"/>
              <a:t>值相比较</a:t>
            </a:r>
            <a:r>
              <a:rPr lang="en-US" altLang="zh-CN" dirty="0" smtClean="0"/>
              <a:t>/</a:t>
            </a:r>
            <a:r>
              <a:rPr lang="zh-CN" altLang="en-US" dirty="0" smtClean="0"/>
              <a:t>同化，</a:t>
            </a:r>
            <a:r>
              <a:rPr lang="zh-CN" altLang="en-US" dirty="0"/>
              <a:t>得到系统状态的最佳估计</a:t>
            </a:r>
            <a:r>
              <a:rPr lang="zh-CN" altLang="en-US" baseline="30000" dirty="0"/>
              <a:t> </a:t>
            </a:r>
            <a:r>
              <a:rPr lang="zh-CN" altLang="en-US" dirty="0" smtClean="0"/>
              <a:t>。</a:t>
            </a:r>
            <a:r>
              <a:rPr lang="zh-CN" altLang="en-US" dirty="0"/>
              <a:t>在第二步，根据观测数据和模型两者包含的不确定度信息，平衡二者得到关于未来系统状态的预报值</a:t>
            </a:r>
          </a:p>
        </p:txBody>
      </p:sp>
      <p:pic>
        <p:nvPicPr>
          <p:cNvPr id="122884" name="Picture 4" descr="https://www.hzg.de/imperia/md/images/hzg/institut_fuer_kuestenforschung/cosyna/fittosize__730_0_01531c99610e09a2520d10019b007558_hydromod_ass_shem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2758" y="2968533"/>
            <a:ext cx="4995358" cy="338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4"/>
          <p:cNvSpPr txBox="1"/>
          <p:nvPr/>
        </p:nvSpPr>
        <p:spPr>
          <a:xfrm>
            <a:off x="672916" y="3373439"/>
            <a:ext cx="3529012" cy="1800493"/>
          </a:xfrm>
          <a:prstGeom prst="rect">
            <a:avLst/>
          </a:prstGeom>
          <a:noFill/>
        </p:spPr>
        <p:txBody>
          <a:bodyPr>
            <a:spAutoFit/>
          </a:bodyPr>
          <a:lstStyle/>
          <a:p>
            <a:pPr>
              <a:lnSpc>
                <a:spcPct val="150000"/>
              </a:lnSpc>
              <a:defRPr/>
            </a:pPr>
            <a:r>
              <a:rPr lang="zh-CN" altLang="en-US" sz="2000" dirty="0" smtClean="0">
                <a:solidFill>
                  <a:prstClr val="black"/>
                </a:solidFill>
                <a:latin typeface="黑体" pitchFamily="49" charset="-122"/>
                <a:ea typeface="黑体" pitchFamily="49" charset="-122"/>
              </a:rPr>
              <a:t>数据同化的</a:t>
            </a:r>
            <a:r>
              <a:rPr lang="zh-CN" altLang="en-US" sz="2000" dirty="0">
                <a:solidFill>
                  <a:prstClr val="black"/>
                </a:solidFill>
                <a:latin typeface="黑体" pitchFamily="49" charset="-122"/>
                <a:ea typeface="黑体" pitchFamily="49" charset="-122"/>
              </a:rPr>
              <a:t>意义</a:t>
            </a:r>
            <a:r>
              <a:rPr lang="zh-CN" altLang="en-US" dirty="0">
                <a:solidFill>
                  <a:prstClr val="black"/>
                </a:solidFill>
                <a:latin typeface="黑体" pitchFamily="49" charset="-122"/>
                <a:ea typeface="黑体" pitchFamily="49" charset="-122"/>
              </a:rPr>
              <a:t>：</a:t>
            </a:r>
            <a:endParaRPr lang="en-US" altLang="zh-CN" dirty="0">
              <a:solidFill>
                <a:prstClr val="black"/>
              </a:solidFill>
              <a:latin typeface="黑体" pitchFamily="49" charset="-122"/>
              <a:ea typeface="黑体" pitchFamily="49" charset="-122"/>
            </a:endParaRPr>
          </a:p>
          <a:p>
            <a:pPr marL="285750" indent="-285750">
              <a:lnSpc>
                <a:spcPct val="150000"/>
              </a:lnSpc>
              <a:buFont typeface="Wingdings" pitchFamily="2" charset="2"/>
              <a:buChar char="ü"/>
              <a:defRPr/>
            </a:pPr>
            <a:r>
              <a:rPr lang="zh-CN" altLang="en-US" dirty="0">
                <a:solidFill>
                  <a:prstClr val="black"/>
                </a:solidFill>
                <a:latin typeface="黑体" pitchFamily="49" charset="-122"/>
                <a:ea typeface="黑体" pitchFamily="49" charset="-122"/>
              </a:rPr>
              <a:t>提高数据的准确性和全面性</a:t>
            </a:r>
            <a:endParaRPr lang="en-US" altLang="zh-CN" dirty="0">
              <a:solidFill>
                <a:prstClr val="black"/>
              </a:solidFill>
              <a:latin typeface="黑体" pitchFamily="49" charset="-122"/>
              <a:ea typeface="黑体" pitchFamily="49" charset="-122"/>
            </a:endParaRPr>
          </a:p>
          <a:p>
            <a:pPr marL="285750" indent="-285750">
              <a:lnSpc>
                <a:spcPct val="150000"/>
              </a:lnSpc>
              <a:buFont typeface="Wingdings" pitchFamily="2" charset="2"/>
              <a:buChar char="ü"/>
              <a:defRPr/>
            </a:pPr>
            <a:r>
              <a:rPr lang="zh-CN" altLang="en-US" dirty="0">
                <a:solidFill>
                  <a:prstClr val="black"/>
                </a:solidFill>
                <a:latin typeface="黑体" pitchFamily="49" charset="-122"/>
                <a:ea typeface="黑体" pitchFamily="49" charset="-122"/>
              </a:rPr>
              <a:t>降低数据的不确定性</a:t>
            </a:r>
            <a:endParaRPr lang="en-US" altLang="zh-CN" dirty="0">
              <a:solidFill>
                <a:prstClr val="black"/>
              </a:solidFill>
              <a:latin typeface="黑体" pitchFamily="49" charset="-122"/>
              <a:ea typeface="黑体" pitchFamily="49" charset="-122"/>
            </a:endParaRPr>
          </a:p>
          <a:p>
            <a:pPr marL="285750" indent="-285750">
              <a:lnSpc>
                <a:spcPct val="150000"/>
              </a:lnSpc>
              <a:buFont typeface="Wingdings" pitchFamily="2" charset="2"/>
              <a:buChar char="ü"/>
              <a:defRPr/>
            </a:pPr>
            <a:r>
              <a:rPr lang="zh-CN" altLang="en-US" dirty="0">
                <a:solidFill>
                  <a:prstClr val="black"/>
                </a:solidFill>
                <a:latin typeface="黑体" pitchFamily="49" charset="-122"/>
                <a:ea typeface="黑体" pitchFamily="49" charset="-122"/>
              </a:rPr>
              <a:t>提高系统的可靠性</a:t>
            </a:r>
          </a:p>
        </p:txBody>
      </p:sp>
      <p:sp>
        <p:nvSpPr>
          <p:cNvPr id="6" name="文本框 5"/>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63</a:t>
            </a:fld>
            <a:endParaRPr lang="zh-CN" altLang="en-US"/>
          </a:p>
        </p:txBody>
      </p:sp>
    </p:spTree>
    <p:extLst>
      <p:ext uri="{BB962C8B-B14F-4D97-AF65-F5344CB8AC3E}">
        <p14:creationId xmlns:p14="http://schemas.microsoft.com/office/powerpoint/2010/main" val="250648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矩形 3"/>
          <p:cNvSpPr>
            <a:spLocks noChangeArrowheads="1"/>
          </p:cNvSpPr>
          <p:nvPr/>
        </p:nvSpPr>
        <p:spPr bwMode="auto">
          <a:xfrm>
            <a:off x="6499226" y="5690950"/>
            <a:ext cx="426575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a:solidFill>
                  <a:srgbClr val="000000"/>
                </a:solidFill>
                <a:latin typeface="黑体" panose="02010609060101010101" pitchFamily="49" charset="-122"/>
                <a:ea typeface="黑体" panose="02010609060101010101" pitchFamily="49" charset="-122"/>
              </a:rPr>
              <a:t>构造目标函数</a:t>
            </a:r>
            <a:r>
              <a:rPr lang="en-US" altLang="zh-CN" sz="1400" dirty="0">
                <a:solidFill>
                  <a:srgbClr val="000000"/>
                </a:solidFill>
                <a:latin typeface="黑体" panose="02010609060101010101" pitchFamily="49" charset="-122"/>
                <a:ea typeface="黑体" panose="02010609060101010101" pitchFamily="49" charset="-122"/>
              </a:rPr>
              <a:t>J</a:t>
            </a:r>
            <a:r>
              <a:rPr lang="zh-CN" altLang="en-US" sz="1400" dirty="0">
                <a:solidFill>
                  <a:srgbClr val="000000"/>
                </a:solidFill>
                <a:latin typeface="黑体" panose="02010609060101010101" pitchFamily="49" charset="-122"/>
                <a:ea typeface="黑体" panose="02010609060101010101" pitchFamily="49" charset="-122"/>
              </a:rPr>
              <a:t>（计算模型与实验观察数据的差异</a:t>
            </a:r>
            <a:r>
              <a:rPr lang="zh-CN" altLang="en-US" sz="1400" dirty="0" smtClean="0">
                <a:solidFill>
                  <a:srgbClr val="000000"/>
                </a:solidFill>
                <a:latin typeface="黑体" panose="02010609060101010101" pitchFamily="49" charset="-122"/>
                <a:ea typeface="黑体" panose="02010609060101010101" pitchFamily="49" charset="-122"/>
              </a:rPr>
              <a:t>）</a:t>
            </a:r>
            <a:endParaRPr lang="en-US" altLang="zh-CN" sz="1400" dirty="0">
              <a:solidFill>
                <a:srgbClr val="000000"/>
              </a:solidFill>
              <a:latin typeface="黑体" panose="02010609060101010101" pitchFamily="49" charset="-122"/>
              <a:ea typeface="黑体" panose="02010609060101010101" pitchFamily="49" charset="-122"/>
            </a:endParaRPr>
          </a:p>
          <a:p>
            <a:pPr eaLnBrk="1" hangingPunct="1"/>
            <a:endParaRPr lang="en-US" altLang="zh-CN" sz="1400" dirty="0">
              <a:solidFill>
                <a:srgbClr val="000000"/>
              </a:solidFill>
              <a:latin typeface="黑体" panose="02010609060101010101" pitchFamily="49" charset="-122"/>
              <a:ea typeface="黑体" panose="02010609060101010101" pitchFamily="49" charset="-122"/>
            </a:endParaRPr>
          </a:p>
          <a:p>
            <a:pPr eaLnBrk="1" hangingPunct="1"/>
            <a:r>
              <a:rPr lang="zh-CN" altLang="en-US" sz="1400" dirty="0">
                <a:solidFill>
                  <a:srgbClr val="000000"/>
                </a:solidFill>
                <a:latin typeface="黑体" panose="02010609060101010101" pitchFamily="49" charset="-122"/>
                <a:ea typeface="黑体" panose="02010609060101010101" pitchFamily="49" charset="-122"/>
              </a:rPr>
              <a:t>目标：使价值函数最小</a:t>
            </a:r>
          </a:p>
        </p:txBody>
      </p:sp>
      <p:sp>
        <p:nvSpPr>
          <p:cNvPr id="6" name="内容占位符 2"/>
          <p:cNvSpPr txBox="1">
            <a:spLocks/>
          </p:cNvSpPr>
          <p:nvPr/>
        </p:nvSpPr>
        <p:spPr>
          <a:xfrm>
            <a:off x="685800" y="1951039"/>
            <a:ext cx="4414838" cy="16224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800" dirty="0">
                <a:solidFill>
                  <a:srgbClr val="C00000"/>
                </a:solidFill>
              </a:rPr>
              <a:t>实验方法</a:t>
            </a:r>
            <a:r>
              <a:rPr lang="zh-CN" altLang="en-US" sz="1800" dirty="0">
                <a:solidFill>
                  <a:prstClr val="black"/>
                </a:solidFill>
              </a:rPr>
              <a:t>的缺陷</a:t>
            </a:r>
            <a:r>
              <a:rPr lang="zh-CN" altLang="en-US" sz="1600" dirty="0">
                <a:solidFill>
                  <a:prstClr val="black"/>
                </a:solidFill>
              </a:rPr>
              <a:t>：</a:t>
            </a:r>
            <a:endParaRPr lang="en-US" altLang="zh-CN" sz="1600" dirty="0">
              <a:solidFill>
                <a:prstClr val="black"/>
              </a:solidFill>
            </a:endParaRPr>
          </a:p>
          <a:p>
            <a:pPr>
              <a:buFont typeface="Wingdings" pitchFamily="2" charset="2"/>
              <a:buChar char="Ø"/>
              <a:defRPr/>
            </a:pPr>
            <a:r>
              <a:rPr lang="zh-CN" altLang="en-US" sz="1600" dirty="0">
                <a:solidFill>
                  <a:prstClr val="black"/>
                </a:solidFill>
              </a:rPr>
              <a:t>噪声干扰</a:t>
            </a:r>
            <a:endParaRPr lang="en-US" altLang="zh-CN" sz="1600" dirty="0">
              <a:solidFill>
                <a:prstClr val="black"/>
              </a:solidFill>
            </a:endParaRPr>
          </a:p>
          <a:p>
            <a:pPr>
              <a:buFont typeface="Wingdings" pitchFamily="2" charset="2"/>
              <a:buChar char="Ø"/>
              <a:defRPr/>
            </a:pPr>
            <a:r>
              <a:rPr lang="zh-CN" altLang="en-US" sz="1600" dirty="0">
                <a:solidFill>
                  <a:prstClr val="black"/>
                </a:solidFill>
              </a:rPr>
              <a:t>若要提高小尺度分辨率则视场大小受限</a:t>
            </a:r>
            <a:endParaRPr lang="en-US" altLang="zh-CN" sz="1600" dirty="0">
              <a:solidFill>
                <a:prstClr val="black"/>
              </a:solidFill>
            </a:endParaRPr>
          </a:p>
          <a:p>
            <a:pPr>
              <a:buFont typeface="Wingdings" pitchFamily="2" charset="2"/>
              <a:buChar char="Ø"/>
              <a:defRPr/>
            </a:pPr>
            <a:r>
              <a:rPr lang="zh-CN" altLang="en-US" sz="1600" dirty="0">
                <a:solidFill>
                  <a:prstClr val="black"/>
                </a:solidFill>
              </a:rPr>
              <a:t>若要提高视场大小则小尺度分辨率降低</a:t>
            </a:r>
            <a:endParaRPr lang="en-US" altLang="zh-CN" sz="1600" dirty="0">
              <a:solidFill>
                <a:prstClr val="black"/>
              </a:solidFill>
            </a:endParaRPr>
          </a:p>
          <a:p>
            <a:pPr>
              <a:buFont typeface="Wingdings" pitchFamily="2" charset="2"/>
              <a:buChar char="Ø"/>
              <a:defRPr/>
            </a:pPr>
            <a:endParaRPr lang="en-US" altLang="zh-CN" sz="1600" dirty="0">
              <a:solidFill>
                <a:prstClr val="black"/>
              </a:solidFill>
            </a:endParaRPr>
          </a:p>
        </p:txBody>
      </p:sp>
      <p:sp>
        <p:nvSpPr>
          <p:cNvPr id="7" name="内容占位符 2"/>
          <p:cNvSpPr txBox="1">
            <a:spLocks/>
          </p:cNvSpPr>
          <p:nvPr/>
        </p:nvSpPr>
        <p:spPr>
          <a:xfrm>
            <a:off x="6499226" y="1951039"/>
            <a:ext cx="4738254" cy="14065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altLang="zh-CN" sz="1800" dirty="0">
                <a:solidFill>
                  <a:srgbClr val="C00000"/>
                </a:solidFill>
              </a:rPr>
              <a:t>CFD</a:t>
            </a:r>
            <a:r>
              <a:rPr lang="zh-CN" altLang="en-US" sz="1800" dirty="0">
                <a:solidFill>
                  <a:srgbClr val="C00000"/>
                </a:solidFill>
              </a:rPr>
              <a:t>方法</a:t>
            </a:r>
            <a:r>
              <a:rPr lang="zh-CN" altLang="en-US" sz="1800" dirty="0">
                <a:solidFill>
                  <a:prstClr val="black"/>
                </a:solidFill>
              </a:rPr>
              <a:t>的缺陷</a:t>
            </a:r>
            <a:r>
              <a:rPr lang="zh-CN" altLang="en-US" sz="1600" dirty="0">
                <a:solidFill>
                  <a:prstClr val="black"/>
                </a:solidFill>
              </a:rPr>
              <a:t>：</a:t>
            </a:r>
            <a:endParaRPr lang="en-US" altLang="zh-CN" sz="1600" dirty="0">
              <a:solidFill>
                <a:prstClr val="black"/>
              </a:solidFill>
            </a:endParaRPr>
          </a:p>
          <a:p>
            <a:pPr>
              <a:buFont typeface="Wingdings" pitchFamily="2" charset="2"/>
              <a:buChar char="Ø"/>
              <a:defRPr/>
            </a:pPr>
            <a:r>
              <a:rPr lang="zh-CN" altLang="en-US" sz="1600" dirty="0">
                <a:solidFill>
                  <a:prstClr val="black"/>
                </a:solidFill>
              </a:rPr>
              <a:t>若要精确计算所有尺度的特征则需要昂贵的计算成本（</a:t>
            </a:r>
            <a:r>
              <a:rPr lang="en-US" altLang="zh-CN" sz="1600" dirty="0">
                <a:solidFill>
                  <a:prstClr val="black"/>
                </a:solidFill>
              </a:rPr>
              <a:t>DNS</a:t>
            </a:r>
            <a:r>
              <a:rPr lang="zh-CN" altLang="en-US" sz="1600" dirty="0">
                <a:solidFill>
                  <a:prstClr val="black"/>
                </a:solidFill>
              </a:rPr>
              <a:t>）</a:t>
            </a:r>
            <a:endParaRPr lang="en-US" altLang="zh-CN" sz="1600" dirty="0">
              <a:solidFill>
                <a:prstClr val="black"/>
              </a:solidFill>
            </a:endParaRPr>
          </a:p>
          <a:p>
            <a:pPr>
              <a:buFont typeface="Wingdings" pitchFamily="2" charset="2"/>
              <a:buChar char="Ø"/>
              <a:defRPr/>
            </a:pPr>
            <a:r>
              <a:rPr lang="zh-CN" altLang="en-US" sz="1600" dirty="0">
                <a:solidFill>
                  <a:prstClr val="black"/>
                </a:solidFill>
              </a:rPr>
              <a:t>若要节约计算成本则需要模型假设，降低了计算精度</a:t>
            </a:r>
            <a:r>
              <a:rPr lang="en-US" altLang="zh-CN" sz="1600" dirty="0">
                <a:solidFill>
                  <a:prstClr val="black"/>
                </a:solidFill>
              </a:rPr>
              <a:t>(RANS)</a:t>
            </a:r>
            <a:endParaRPr lang="zh-CN" altLang="en-US" sz="1600" dirty="0">
              <a:solidFill>
                <a:prstClr val="black"/>
              </a:solidFill>
            </a:endParaRPr>
          </a:p>
          <a:p>
            <a:pPr>
              <a:buFont typeface="Wingdings" pitchFamily="2" charset="2"/>
              <a:buChar char="Ø"/>
              <a:defRPr/>
            </a:pPr>
            <a:endParaRPr lang="en-US" altLang="zh-CN" sz="1600" dirty="0">
              <a:solidFill>
                <a:prstClr val="black"/>
              </a:solidFill>
            </a:endParaRPr>
          </a:p>
        </p:txBody>
      </p:sp>
      <p:sp>
        <p:nvSpPr>
          <p:cNvPr id="123910" name="TextBox 8"/>
          <p:cNvSpPr txBox="1">
            <a:spLocks noChangeArrowheads="1"/>
          </p:cNvSpPr>
          <p:nvPr/>
        </p:nvSpPr>
        <p:spPr bwMode="auto">
          <a:xfrm>
            <a:off x="685800" y="3964821"/>
            <a:ext cx="535478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dirty="0" smtClean="0">
                <a:solidFill>
                  <a:srgbClr val="C00000"/>
                </a:solidFill>
                <a:latin typeface="黑体" panose="02010609060101010101" pitchFamily="49" charset="-122"/>
                <a:ea typeface="黑体" panose="02010609060101010101" pitchFamily="49" charset="-122"/>
              </a:rPr>
              <a:t>数据同化</a:t>
            </a:r>
            <a:r>
              <a:rPr lang="zh-CN" altLang="en-US" sz="1600" dirty="0" smtClean="0">
                <a:solidFill>
                  <a:srgbClr val="000000"/>
                </a:solidFill>
                <a:latin typeface="黑体" panose="02010609060101010101" pitchFamily="49" charset="-122"/>
                <a:ea typeface="黑体" panose="02010609060101010101" pitchFamily="49" charset="-122"/>
              </a:rPr>
              <a:t>：</a:t>
            </a:r>
            <a:endParaRPr lang="en-US" altLang="zh-CN" sz="1600" dirty="0">
              <a:solidFill>
                <a:srgbClr val="000000"/>
              </a:solidFill>
              <a:latin typeface="黑体" panose="02010609060101010101" pitchFamily="49" charset="-122"/>
              <a:ea typeface="黑体" panose="02010609060101010101" pitchFamily="49" charset="-122"/>
            </a:endParaRPr>
          </a:p>
          <a:p>
            <a:pPr eaLnBrk="1" hangingPunct="1"/>
            <a:r>
              <a:rPr lang="zh-CN" altLang="en-US" sz="1600" dirty="0">
                <a:solidFill>
                  <a:srgbClr val="000000"/>
                </a:solidFill>
                <a:latin typeface="黑体" panose="02010609060101010101" pitchFamily="49" charset="-122"/>
                <a:ea typeface="黑体" panose="02010609060101010101" pitchFamily="49" charset="-122"/>
              </a:rPr>
              <a:t>结合实验与</a:t>
            </a:r>
            <a:r>
              <a:rPr lang="en-US" altLang="zh-CN" sz="1600" dirty="0">
                <a:solidFill>
                  <a:srgbClr val="000000"/>
                </a:solidFill>
                <a:latin typeface="黑体" panose="02010609060101010101" pitchFamily="49" charset="-122"/>
                <a:ea typeface="黑体" panose="02010609060101010101" pitchFamily="49" charset="-122"/>
              </a:rPr>
              <a:t>CFD</a:t>
            </a:r>
            <a:r>
              <a:rPr lang="zh-CN" altLang="en-US" sz="1600" dirty="0">
                <a:solidFill>
                  <a:srgbClr val="000000"/>
                </a:solidFill>
                <a:latin typeface="黑体" panose="02010609060101010101" pitchFamily="49" charset="-122"/>
                <a:ea typeface="黑体" panose="02010609060101010101" pitchFamily="49" charset="-122"/>
              </a:rPr>
              <a:t>方法的优势，使用实验数据对</a:t>
            </a:r>
            <a:r>
              <a:rPr lang="en-US" altLang="zh-CN" sz="1600" dirty="0">
                <a:solidFill>
                  <a:srgbClr val="000000"/>
                </a:solidFill>
                <a:latin typeface="黑体" panose="02010609060101010101" pitchFamily="49" charset="-122"/>
                <a:ea typeface="黑体" panose="02010609060101010101" pitchFamily="49" charset="-122"/>
              </a:rPr>
              <a:t>CFD</a:t>
            </a:r>
            <a:r>
              <a:rPr lang="zh-CN" altLang="en-US" sz="1600" dirty="0">
                <a:solidFill>
                  <a:srgbClr val="000000"/>
                </a:solidFill>
                <a:latin typeface="黑体" panose="02010609060101010101" pitchFamily="49" charset="-122"/>
                <a:ea typeface="黑体" panose="02010609060101010101" pitchFamily="49" charset="-122"/>
              </a:rPr>
              <a:t>模型进行修正，提高计算精度，同时获得实验中由于噪声干扰和分辨率问题难以测准的数据（如雷诺应力、涡量等</a:t>
            </a:r>
            <a:r>
              <a:rPr lang="zh-CN" altLang="en-US" sz="1600" dirty="0" smtClean="0">
                <a:solidFill>
                  <a:srgbClr val="000000"/>
                </a:solidFill>
                <a:latin typeface="黑体" panose="02010609060101010101" pitchFamily="49" charset="-122"/>
                <a:ea typeface="黑体" panose="02010609060101010101" pitchFamily="49" charset="-122"/>
              </a:rPr>
              <a:t>）</a:t>
            </a:r>
            <a:endParaRPr lang="zh-CN" altLang="en-US" sz="1600" dirty="0">
              <a:solidFill>
                <a:srgbClr val="000000"/>
              </a:solidFill>
              <a:latin typeface="黑体" panose="02010609060101010101" pitchFamily="49" charset="-122"/>
              <a:ea typeface="黑体" panose="02010609060101010101" pitchFamily="49" charset="-122"/>
            </a:endParaRPr>
          </a:p>
        </p:txBody>
      </p:sp>
      <p:sp>
        <p:nvSpPr>
          <p:cNvPr id="123911" name="内容占位符 2"/>
          <p:cNvSpPr txBox="1">
            <a:spLocks/>
          </p:cNvSpPr>
          <p:nvPr/>
        </p:nvSpPr>
        <p:spPr bwMode="auto">
          <a:xfrm>
            <a:off x="672916" y="1364540"/>
            <a:ext cx="3912939"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a:t>流体力学中</a:t>
            </a:r>
            <a:r>
              <a:rPr lang="zh-CN" altLang="en-US" dirty="0" smtClean="0"/>
              <a:t>数据同化的</a:t>
            </a:r>
            <a:r>
              <a:rPr lang="zh-CN" altLang="en-US" dirty="0"/>
              <a:t>基本思想</a:t>
            </a:r>
          </a:p>
        </p:txBody>
      </p:sp>
      <p:sp>
        <p:nvSpPr>
          <p:cNvPr id="10" name="TextBox 10"/>
          <p:cNvSpPr txBox="1"/>
          <p:nvPr/>
        </p:nvSpPr>
        <p:spPr>
          <a:xfrm>
            <a:off x="672917" y="5507042"/>
            <a:ext cx="4427722" cy="1200150"/>
          </a:xfrm>
          <a:prstGeom prst="rect">
            <a:avLst/>
          </a:prstGeom>
          <a:noFill/>
        </p:spPr>
        <p:txBody>
          <a:bodyPr wrap="square">
            <a:spAutoFit/>
          </a:bodyPr>
          <a:lstStyle/>
          <a:p>
            <a:pPr>
              <a:defRPr/>
            </a:pPr>
            <a:r>
              <a:rPr lang="zh-CN" altLang="en-US" sz="1600" dirty="0">
                <a:solidFill>
                  <a:prstClr val="black"/>
                </a:solidFill>
                <a:latin typeface="黑体" pitchFamily="49" charset="-122"/>
                <a:ea typeface="黑体" pitchFamily="49" charset="-122"/>
              </a:rPr>
              <a:t>流体力学中常用的</a:t>
            </a:r>
            <a:r>
              <a:rPr lang="zh-CN" altLang="en-US" sz="1600" dirty="0" smtClean="0">
                <a:solidFill>
                  <a:prstClr val="black"/>
                </a:solidFill>
                <a:latin typeface="黑体" pitchFamily="49" charset="-122"/>
                <a:ea typeface="黑体" pitchFamily="49" charset="-122"/>
              </a:rPr>
              <a:t>数据同化方法</a:t>
            </a:r>
            <a:r>
              <a:rPr lang="zh-CN" altLang="en-US" sz="1400" dirty="0">
                <a:solidFill>
                  <a:prstClr val="black"/>
                </a:solidFill>
                <a:latin typeface="黑体" pitchFamily="49" charset="-122"/>
                <a:ea typeface="黑体" pitchFamily="49" charset="-122"/>
              </a:rPr>
              <a:t>：</a:t>
            </a:r>
            <a:endParaRPr lang="en-US" altLang="zh-CN" sz="1400" dirty="0">
              <a:solidFill>
                <a:prstClr val="black"/>
              </a:solidFill>
              <a:latin typeface="黑体" pitchFamily="49" charset="-122"/>
              <a:ea typeface="黑体" pitchFamily="49" charset="-122"/>
            </a:endParaRPr>
          </a:p>
          <a:p>
            <a:pPr marL="285750" indent="-285750">
              <a:buFont typeface="Wingdings" pitchFamily="2" charset="2"/>
              <a:buChar char="Ø"/>
              <a:defRPr/>
            </a:pPr>
            <a:r>
              <a:rPr lang="zh-CN" altLang="en-US" sz="1400" dirty="0">
                <a:solidFill>
                  <a:prstClr val="black"/>
                </a:solidFill>
                <a:latin typeface="黑体" pitchFamily="49" charset="-122"/>
                <a:ea typeface="黑体" pitchFamily="49" charset="-122"/>
              </a:rPr>
              <a:t>卡尔曼滤波方法（</a:t>
            </a:r>
            <a:r>
              <a:rPr lang="en-US" altLang="zh-CN" sz="1400" dirty="0" err="1">
                <a:solidFill>
                  <a:prstClr val="black"/>
                </a:solidFill>
                <a:latin typeface="黑体" pitchFamily="49" charset="-122"/>
                <a:ea typeface="黑体" pitchFamily="49" charset="-122"/>
              </a:rPr>
              <a:t>Kalman</a:t>
            </a:r>
            <a:r>
              <a:rPr lang="en-US" altLang="zh-CN" sz="1400" dirty="0">
                <a:solidFill>
                  <a:prstClr val="black"/>
                </a:solidFill>
                <a:latin typeface="黑体" pitchFamily="49" charset="-122"/>
                <a:ea typeface="黑体" pitchFamily="49" charset="-122"/>
              </a:rPr>
              <a:t> filter</a:t>
            </a:r>
            <a:r>
              <a:rPr lang="zh-CN" altLang="en-US" sz="1400" dirty="0">
                <a:solidFill>
                  <a:prstClr val="black"/>
                </a:solidFill>
                <a:latin typeface="黑体" pitchFamily="49" charset="-122"/>
                <a:ea typeface="黑体" pitchFamily="49" charset="-122"/>
              </a:rPr>
              <a:t>）</a:t>
            </a:r>
            <a:endParaRPr lang="en-US" altLang="zh-CN" sz="1400" dirty="0">
              <a:solidFill>
                <a:prstClr val="black"/>
              </a:solidFill>
              <a:latin typeface="黑体" pitchFamily="49" charset="-122"/>
              <a:ea typeface="黑体" pitchFamily="49" charset="-122"/>
            </a:endParaRPr>
          </a:p>
          <a:p>
            <a:pPr marL="285750" indent="-285750">
              <a:buFont typeface="Wingdings" pitchFamily="2" charset="2"/>
              <a:buChar char="Ø"/>
              <a:defRPr/>
            </a:pPr>
            <a:r>
              <a:rPr lang="zh-CN" altLang="en-US" sz="1400" dirty="0">
                <a:solidFill>
                  <a:prstClr val="black"/>
                </a:solidFill>
                <a:latin typeface="黑体" pitchFamily="49" charset="-122"/>
                <a:ea typeface="黑体" pitchFamily="49" charset="-122"/>
              </a:rPr>
              <a:t>伴随模型（</a:t>
            </a:r>
            <a:r>
              <a:rPr lang="en-US" altLang="zh-CN" sz="1400" dirty="0" err="1">
                <a:solidFill>
                  <a:prstClr val="black"/>
                </a:solidFill>
                <a:latin typeface="黑体" pitchFamily="49" charset="-122"/>
                <a:ea typeface="黑体" pitchFamily="49" charset="-122"/>
              </a:rPr>
              <a:t>adjoint</a:t>
            </a:r>
            <a:r>
              <a:rPr lang="en-US" altLang="zh-CN" sz="1400" dirty="0">
                <a:solidFill>
                  <a:prstClr val="black"/>
                </a:solidFill>
                <a:latin typeface="黑体" pitchFamily="49" charset="-122"/>
                <a:ea typeface="黑体" pitchFamily="49" charset="-122"/>
              </a:rPr>
              <a:t>-based data assimilation</a:t>
            </a:r>
            <a:r>
              <a:rPr lang="zh-CN" altLang="en-US" sz="1400" dirty="0">
                <a:solidFill>
                  <a:prstClr val="black"/>
                </a:solidFill>
                <a:latin typeface="黑体" pitchFamily="49" charset="-122"/>
                <a:ea typeface="黑体" pitchFamily="49" charset="-122"/>
              </a:rPr>
              <a:t>）</a:t>
            </a:r>
            <a:endParaRPr lang="en-US" altLang="zh-CN" sz="1400" dirty="0">
              <a:solidFill>
                <a:prstClr val="black"/>
              </a:solidFill>
              <a:latin typeface="黑体" pitchFamily="49" charset="-122"/>
              <a:ea typeface="黑体" pitchFamily="49" charset="-122"/>
            </a:endParaRPr>
          </a:p>
          <a:p>
            <a:pPr marL="285750" indent="-285750">
              <a:buFont typeface="Wingdings" pitchFamily="2" charset="2"/>
              <a:buChar char="Ø"/>
              <a:defRPr/>
            </a:pPr>
            <a:r>
              <a:rPr lang="zh-CN" altLang="en-US" sz="1400" dirty="0">
                <a:solidFill>
                  <a:prstClr val="black"/>
                </a:solidFill>
                <a:latin typeface="黑体" pitchFamily="49" charset="-122"/>
                <a:ea typeface="黑体" pitchFamily="49" charset="-122"/>
              </a:rPr>
              <a:t>小扰动法（</a:t>
            </a:r>
            <a:r>
              <a:rPr lang="en-US" altLang="zh-CN" sz="1400" dirty="0">
                <a:solidFill>
                  <a:prstClr val="black"/>
                </a:solidFill>
                <a:latin typeface="黑体" pitchFamily="49" charset="-122"/>
                <a:ea typeface="黑体" pitchFamily="49" charset="-122"/>
              </a:rPr>
              <a:t>Perturbation based adaption</a:t>
            </a:r>
            <a:r>
              <a:rPr lang="zh-CN" altLang="en-US" sz="1400" dirty="0">
                <a:solidFill>
                  <a:prstClr val="black"/>
                </a:solidFill>
                <a:latin typeface="黑体" pitchFamily="49" charset="-122"/>
                <a:ea typeface="黑体" pitchFamily="49" charset="-122"/>
              </a:rPr>
              <a:t>）</a:t>
            </a:r>
            <a:endParaRPr lang="en-US" altLang="zh-CN" sz="1400" dirty="0">
              <a:solidFill>
                <a:prstClr val="black"/>
              </a:solidFill>
              <a:latin typeface="黑体" pitchFamily="49" charset="-122"/>
              <a:ea typeface="黑体" pitchFamily="49" charset="-122"/>
            </a:endParaRPr>
          </a:p>
          <a:p>
            <a:pPr>
              <a:defRPr/>
            </a:pPr>
            <a:endParaRPr lang="en-US" altLang="zh-CN" sz="1400" dirty="0">
              <a:solidFill>
                <a:prstClr val="black"/>
              </a:solidFill>
              <a:latin typeface="黑体" pitchFamily="49" charset="-122"/>
              <a:ea typeface="黑体" pitchFamily="49" charset="-122"/>
            </a:endParaRPr>
          </a:p>
        </p:txBody>
      </p:sp>
      <p:sp>
        <p:nvSpPr>
          <p:cNvPr id="11" name="右箭头 10"/>
          <p:cNvSpPr/>
          <p:nvPr/>
        </p:nvSpPr>
        <p:spPr>
          <a:xfrm>
            <a:off x="5668964" y="5952332"/>
            <a:ext cx="504825" cy="215900"/>
          </a:xfrm>
          <a:prstGeom prst="rightArrow">
            <a:avLst/>
          </a:prstGeom>
          <a:solidFill>
            <a:sysClr val="windowText" lastClr="000000">
              <a:lumMod val="95000"/>
              <a:lumOff val="5000"/>
            </a:sysClr>
          </a:solidFill>
          <a:ln w="12700" cap="flat" cmpd="sng" algn="ctr">
            <a:solidFill>
              <a:sysClr val="windowText" lastClr="000000">
                <a:lumMod val="95000"/>
                <a:lumOff val="5000"/>
              </a:sysClr>
            </a:solidFill>
            <a:prstDash val="solid"/>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pic>
        <p:nvPicPr>
          <p:cNvPr id="123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463" y="3476629"/>
            <a:ext cx="5243622" cy="1911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文本框 11"/>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2" name="矩形 1"/>
          <p:cNvSpPr/>
          <p:nvPr/>
        </p:nvSpPr>
        <p:spPr>
          <a:xfrm>
            <a:off x="4580636" y="1491775"/>
            <a:ext cx="21766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smtClean="0">
                <a:solidFill>
                  <a:srgbClr val="FF0000"/>
                </a:solidFill>
                <a:latin typeface="Times New Roman" panose="02020603050405020304" pitchFamily="18" charset="0"/>
                <a:ea typeface="微软雅黑" panose="020B0503020204020204" pitchFamily="34" charset="-122"/>
              </a:rPr>
              <a:t>Symon et al. (2017), EIF</a:t>
            </a:r>
            <a:endParaRPr lang="en-US" sz="1400" b="1" dirty="0">
              <a:solidFill>
                <a:srgbClr val="FF0000"/>
              </a:solidFill>
              <a:latin typeface="Times New Roman" panose="02020603050405020304" pitchFamily="18" charset="0"/>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16D8DD02-547D-47A5-AAEA-525C7BEEAE57}" type="slidenum">
              <a:rPr lang="zh-CN" altLang="en-US" smtClean="0"/>
              <a:t>64</a:t>
            </a:fld>
            <a:endParaRPr lang="zh-CN" altLang="en-US"/>
          </a:p>
        </p:txBody>
      </p:sp>
    </p:spTree>
    <p:extLst>
      <p:ext uri="{BB962C8B-B14F-4D97-AF65-F5344CB8AC3E}">
        <p14:creationId xmlns:p14="http://schemas.microsoft.com/office/powerpoint/2010/main" val="1639755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内容占位符 2"/>
          <p:cNvSpPr txBox="1">
            <a:spLocks/>
          </p:cNvSpPr>
          <p:nvPr/>
        </p:nvSpPr>
        <p:spPr bwMode="auto">
          <a:xfrm>
            <a:off x="672916" y="1438217"/>
            <a:ext cx="5183188"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en-US" altLang="zh-CN" dirty="0" err="1" smtClean="0"/>
              <a:t>Kalman</a:t>
            </a:r>
            <a:r>
              <a:rPr lang="zh-CN" altLang="en-US" dirty="0"/>
              <a:t>滤波</a:t>
            </a:r>
          </a:p>
        </p:txBody>
      </p:sp>
      <p:sp>
        <p:nvSpPr>
          <p:cNvPr id="125957" name="TextBox 4"/>
          <p:cNvSpPr txBox="1">
            <a:spLocks noChangeArrowheads="1"/>
          </p:cNvSpPr>
          <p:nvPr/>
        </p:nvSpPr>
        <p:spPr bwMode="auto">
          <a:xfrm>
            <a:off x="672916" y="1855947"/>
            <a:ext cx="107155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en-US" altLang="zh-CN" sz="1400" dirty="0" err="1">
                <a:solidFill>
                  <a:srgbClr val="000000"/>
                </a:solidFill>
                <a:latin typeface="黑体" panose="02010609060101010101" pitchFamily="49" charset="-122"/>
                <a:ea typeface="黑体" panose="02010609060101010101" pitchFamily="49" charset="-122"/>
              </a:rPr>
              <a:t>Kalman</a:t>
            </a:r>
            <a:r>
              <a:rPr lang="zh-CN" altLang="en-US" sz="1400" dirty="0">
                <a:solidFill>
                  <a:srgbClr val="000000"/>
                </a:solidFill>
                <a:latin typeface="黑体" panose="02010609060101010101" pitchFamily="49" charset="-122"/>
                <a:ea typeface="黑体" panose="02010609060101010101" pitchFamily="49" charset="-122"/>
              </a:rPr>
              <a:t>滤波基本思想：把预测误差和测量误差纳入计算，统称为噪声</a:t>
            </a:r>
            <a:r>
              <a:rPr lang="zh-CN" altLang="en-US" sz="1400" dirty="0" smtClean="0">
                <a:solidFill>
                  <a:srgbClr val="000000"/>
                </a:solidFill>
                <a:latin typeface="黑体" panose="02010609060101010101" pitchFamily="49" charset="-122"/>
                <a:ea typeface="黑体" panose="02010609060101010101" pitchFamily="49" charset="-122"/>
              </a:rPr>
              <a:t>，</a:t>
            </a:r>
            <a:r>
              <a:rPr lang="zh-CN" altLang="en-US" sz="1400" dirty="0" smtClean="0">
                <a:solidFill>
                  <a:srgbClr val="C00000"/>
                </a:solidFill>
                <a:latin typeface="黑体" panose="02010609060101010101" pitchFamily="49" charset="-122"/>
                <a:ea typeface="黑体" panose="02010609060101010101" pitchFamily="49" charset="-122"/>
              </a:rPr>
              <a:t>假设</a:t>
            </a:r>
            <a:r>
              <a:rPr lang="zh-CN" altLang="en-US" sz="1400" dirty="0">
                <a:solidFill>
                  <a:srgbClr val="C00000"/>
                </a:solidFill>
                <a:latin typeface="黑体" panose="02010609060101010101" pitchFamily="49" charset="-122"/>
                <a:ea typeface="黑体" panose="02010609060101010101" pitchFamily="49" charset="-122"/>
              </a:rPr>
              <a:t>噪声服从假高斯分布</a:t>
            </a:r>
            <a:r>
              <a:rPr lang="zh-CN" altLang="en-US" sz="1400" dirty="0">
                <a:solidFill>
                  <a:srgbClr val="000000"/>
                </a:solidFill>
                <a:latin typeface="黑体" panose="02010609060101010101" pitchFamily="49" charset="-122"/>
                <a:ea typeface="黑体" panose="02010609060101010101" pitchFamily="49" charset="-122"/>
              </a:rPr>
              <a:t>，用观测值修正预测模型的同时滤除噪声干扰的</a:t>
            </a:r>
            <a:r>
              <a:rPr lang="zh-CN" altLang="en-US" sz="1400" dirty="0" smtClean="0">
                <a:solidFill>
                  <a:srgbClr val="000000"/>
                </a:solidFill>
                <a:latin typeface="黑体" panose="02010609060101010101" pitchFamily="49" charset="-122"/>
                <a:ea typeface="黑体" panose="02010609060101010101" pitchFamily="49" charset="-122"/>
              </a:rPr>
              <a:t>影响</a:t>
            </a:r>
            <a:endParaRPr lang="zh-CN" altLang="en-US" sz="1400" dirty="0">
              <a:solidFill>
                <a:srgbClr val="000000"/>
              </a:solidFill>
              <a:latin typeface="黑体" panose="02010609060101010101" pitchFamily="49" charset="-122"/>
              <a:ea typeface="黑体" panose="02010609060101010101" pitchFamily="49" charset="-122"/>
            </a:endParaRPr>
          </a:p>
        </p:txBody>
      </p:sp>
      <p:grpSp>
        <p:nvGrpSpPr>
          <p:cNvPr id="125960" name="组合 9"/>
          <p:cNvGrpSpPr>
            <a:grpSpLocks/>
          </p:cNvGrpSpPr>
          <p:nvPr/>
        </p:nvGrpSpPr>
        <p:grpSpPr bwMode="auto">
          <a:xfrm>
            <a:off x="672916" y="2644603"/>
            <a:ext cx="7426036" cy="4029877"/>
            <a:chOff x="146051" y="2841041"/>
            <a:chExt cx="5041677" cy="2735226"/>
          </a:xfrm>
        </p:grpSpPr>
        <p:pic>
          <p:nvPicPr>
            <p:cNvPr id="125966" name="Picture 4" descr="https://upload.wikimedia.org/wikipedia/commons/thumb/a/a5/Basic_concept_of_Kalman_filtering.svg/1920px-Basic_concept_of_Kalman_filtering.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051" y="3068960"/>
              <a:ext cx="4952707" cy="2507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1510973" y="2841041"/>
              <a:ext cx="1189253" cy="208900"/>
            </a:xfrm>
            <a:prstGeom prst="rect">
              <a:avLst/>
            </a:prstGeom>
          </p:spPr>
          <p:txBody>
            <a:bodyPr wrap="square">
              <a:spAutoFit/>
            </a:bodyPr>
            <a:lstStyle/>
            <a:p>
              <a:pPr>
                <a:defRPr/>
              </a:pPr>
              <a:r>
                <a:rPr lang="en-US" altLang="zh-CN" sz="1400" kern="0" dirty="0" smtClean="0">
                  <a:solidFill>
                    <a:srgbClr val="C00000"/>
                  </a:solidFill>
                  <a:latin typeface="黑体" pitchFamily="49" charset="-122"/>
                  <a:ea typeface="黑体" pitchFamily="49" charset="-122"/>
                </a:rPr>
                <a:t>k-1</a:t>
              </a:r>
              <a:r>
                <a:rPr lang="zh-CN" altLang="en-US" sz="1400" kern="0" dirty="0" smtClean="0">
                  <a:solidFill>
                    <a:srgbClr val="C00000"/>
                  </a:solidFill>
                  <a:latin typeface="黑体" pitchFamily="49" charset="-122"/>
                  <a:ea typeface="黑体" pitchFamily="49" charset="-122"/>
                </a:rPr>
                <a:t>步迭代最优估计</a:t>
              </a:r>
              <a:endParaRPr lang="zh-CN" altLang="en-US" sz="1400" kern="0" dirty="0">
                <a:solidFill>
                  <a:srgbClr val="C00000"/>
                </a:solidFill>
                <a:latin typeface="黑体" pitchFamily="49" charset="-122"/>
                <a:ea typeface="黑体" pitchFamily="49" charset="-122"/>
              </a:endParaRPr>
            </a:p>
          </p:txBody>
        </p:sp>
        <p:sp>
          <p:nvSpPr>
            <p:cNvPr id="13" name="矩形 12"/>
            <p:cNvSpPr/>
            <p:nvPr/>
          </p:nvSpPr>
          <p:spPr>
            <a:xfrm>
              <a:off x="3298687" y="3681384"/>
              <a:ext cx="1889041" cy="523711"/>
            </a:xfrm>
            <a:prstGeom prst="rect">
              <a:avLst/>
            </a:prstGeom>
          </p:spPr>
          <p:txBody>
            <a:bodyPr>
              <a:spAutoFit/>
            </a:bodyPr>
            <a:lstStyle/>
            <a:p>
              <a:pPr>
                <a:defRPr/>
              </a:pPr>
              <a:r>
                <a:rPr lang="zh-CN" altLang="en-US" sz="1400" kern="0" dirty="0">
                  <a:solidFill>
                    <a:srgbClr val="C00000"/>
                  </a:solidFill>
                  <a:latin typeface="黑体" pitchFamily="49" charset="-122"/>
                  <a:ea typeface="黑体" pitchFamily="49" charset="-122"/>
                </a:rPr>
                <a:t>使用</a:t>
              </a:r>
              <a:r>
                <a:rPr lang="en-US" altLang="zh-CN" sz="1400" kern="0" dirty="0">
                  <a:solidFill>
                    <a:srgbClr val="C00000"/>
                  </a:solidFill>
                  <a:latin typeface="黑体" pitchFamily="49" charset="-122"/>
                  <a:ea typeface="黑体" pitchFamily="49" charset="-122"/>
                </a:rPr>
                <a:t>k-1</a:t>
              </a:r>
              <a:r>
                <a:rPr lang="zh-CN" altLang="en-US" sz="1400" kern="0" dirty="0">
                  <a:solidFill>
                    <a:srgbClr val="C00000"/>
                  </a:solidFill>
                  <a:latin typeface="黑体" pitchFamily="49" charset="-122"/>
                  <a:ea typeface="黑体" pitchFamily="49" charset="-122"/>
                </a:rPr>
                <a:t>时刻的优化方法对</a:t>
              </a:r>
              <a:r>
                <a:rPr lang="en-US" altLang="zh-CN" sz="1400" kern="0" dirty="0">
                  <a:solidFill>
                    <a:srgbClr val="C00000"/>
                  </a:solidFill>
                  <a:latin typeface="黑体" pitchFamily="49" charset="-122"/>
                  <a:ea typeface="黑体" pitchFamily="49" charset="-122"/>
                </a:rPr>
                <a:t>k</a:t>
              </a:r>
              <a:r>
                <a:rPr lang="zh-CN" altLang="en-US" sz="1400" kern="0" dirty="0">
                  <a:solidFill>
                    <a:srgbClr val="C00000"/>
                  </a:solidFill>
                  <a:latin typeface="黑体" pitchFamily="49" charset="-122"/>
                  <a:ea typeface="黑体" pitchFamily="49" charset="-122"/>
                </a:rPr>
                <a:t>时刻进行预测</a:t>
              </a:r>
            </a:p>
          </p:txBody>
        </p:sp>
        <p:sp>
          <p:nvSpPr>
            <p:cNvPr id="14" name="矩形 13"/>
            <p:cNvSpPr/>
            <p:nvPr/>
          </p:nvSpPr>
          <p:spPr>
            <a:xfrm>
              <a:off x="636078" y="4435502"/>
              <a:ext cx="1056130" cy="208900"/>
            </a:xfrm>
            <a:prstGeom prst="rect">
              <a:avLst/>
            </a:prstGeom>
          </p:spPr>
          <p:txBody>
            <a:bodyPr wrap="square">
              <a:spAutoFit/>
            </a:bodyPr>
            <a:lstStyle/>
            <a:p>
              <a:pPr>
                <a:defRPr/>
              </a:pPr>
              <a:r>
                <a:rPr lang="en-US" altLang="zh-CN" sz="1400" kern="0" dirty="0" smtClean="0">
                  <a:solidFill>
                    <a:srgbClr val="C00000"/>
                  </a:solidFill>
                  <a:latin typeface="黑体" pitchFamily="49" charset="-122"/>
                  <a:ea typeface="黑体" pitchFamily="49" charset="-122"/>
                </a:rPr>
                <a:t>K</a:t>
              </a:r>
              <a:r>
                <a:rPr lang="zh-CN" altLang="en-US" sz="1400" kern="0" dirty="0" smtClean="0">
                  <a:solidFill>
                    <a:srgbClr val="C00000"/>
                  </a:solidFill>
                  <a:latin typeface="黑体" pitchFamily="49" charset="-122"/>
                  <a:ea typeface="黑体" pitchFamily="49" charset="-122"/>
                </a:rPr>
                <a:t>迭代步最优估计</a:t>
              </a:r>
              <a:endParaRPr lang="zh-CN" altLang="en-US" sz="1400" kern="0" dirty="0">
                <a:solidFill>
                  <a:srgbClr val="C00000"/>
                </a:solidFill>
                <a:latin typeface="黑体" pitchFamily="49" charset="-122"/>
                <a:ea typeface="黑体" pitchFamily="49" charset="-122"/>
              </a:endParaRPr>
            </a:p>
          </p:txBody>
        </p:sp>
        <p:sp>
          <p:nvSpPr>
            <p:cNvPr id="15" name="矩形 14"/>
            <p:cNvSpPr/>
            <p:nvPr/>
          </p:nvSpPr>
          <p:spPr>
            <a:xfrm>
              <a:off x="1619186" y="3079909"/>
              <a:ext cx="865150" cy="433253"/>
            </a:xfrm>
            <a:prstGeom prst="rect">
              <a:avLst/>
            </a:prstGeom>
            <a:noFill/>
            <a:ln w="25400" cap="flat" cmpd="sng" algn="ctr">
              <a:solidFill>
                <a:srgbClr val="C00000"/>
              </a:solidFill>
              <a:prstDash val="solid"/>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sp>
          <p:nvSpPr>
            <p:cNvPr id="16" name="矩形 15"/>
            <p:cNvSpPr/>
            <p:nvPr/>
          </p:nvSpPr>
          <p:spPr>
            <a:xfrm>
              <a:off x="2700226" y="3681384"/>
              <a:ext cx="598461" cy="431665"/>
            </a:xfrm>
            <a:prstGeom prst="rect">
              <a:avLst/>
            </a:prstGeom>
            <a:noFill/>
            <a:ln w="25400" cap="flat" cmpd="sng" algn="ctr">
              <a:solidFill>
                <a:srgbClr val="C00000"/>
              </a:solidFill>
              <a:prstDash val="solid"/>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sp>
          <p:nvSpPr>
            <p:cNvPr id="17" name="矩形 16"/>
            <p:cNvSpPr/>
            <p:nvPr/>
          </p:nvSpPr>
          <p:spPr>
            <a:xfrm>
              <a:off x="1692208" y="4324120"/>
              <a:ext cx="611161" cy="431665"/>
            </a:xfrm>
            <a:prstGeom prst="rect">
              <a:avLst/>
            </a:prstGeom>
            <a:noFill/>
            <a:ln w="25400" cap="flat" cmpd="sng" algn="ctr">
              <a:solidFill>
                <a:srgbClr val="C00000"/>
              </a:solidFill>
              <a:prstDash val="solid"/>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sp>
          <p:nvSpPr>
            <p:cNvPr id="18" name="矩形 17"/>
            <p:cNvSpPr/>
            <p:nvPr/>
          </p:nvSpPr>
          <p:spPr>
            <a:xfrm>
              <a:off x="2723646" y="4786231"/>
              <a:ext cx="1613065" cy="208900"/>
            </a:xfrm>
            <a:prstGeom prst="rect">
              <a:avLst/>
            </a:prstGeom>
          </p:spPr>
          <p:txBody>
            <a:bodyPr wrap="square">
              <a:spAutoFit/>
            </a:bodyPr>
            <a:lstStyle/>
            <a:p>
              <a:pPr>
                <a:defRPr/>
              </a:pPr>
              <a:r>
                <a:rPr lang="zh-CN" altLang="en-US" sz="1400" kern="0" dirty="0">
                  <a:solidFill>
                    <a:srgbClr val="C00000"/>
                  </a:solidFill>
                  <a:latin typeface="黑体" pitchFamily="49" charset="-122"/>
                  <a:ea typeface="黑体" pitchFamily="49" charset="-122"/>
                </a:rPr>
                <a:t>观测值对预测模型进行修正</a:t>
              </a:r>
            </a:p>
          </p:txBody>
        </p:sp>
        <p:sp>
          <p:nvSpPr>
            <p:cNvPr id="23" name="矩形 22"/>
            <p:cNvSpPr/>
            <p:nvPr/>
          </p:nvSpPr>
          <p:spPr>
            <a:xfrm>
              <a:off x="3530178" y="3213251"/>
              <a:ext cx="1451525" cy="355129"/>
            </a:xfrm>
            <a:prstGeom prst="rect">
              <a:avLst/>
            </a:prstGeom>
          </p:spPr>
          <p:txBody>
            <a:bodyPr wrap="square">
              <a:spAutoFit/>
            </a:bodyPr>
            <a:lstStyle/>
            <a:p>
              <a:pPr>
                <a:defRPr/>
              </a:pPr>
              <a:r>
                <a:rPr lang="zh-CN" altLang="en-US" sz="1400" kern="0" dirty="0" smtClean="0">
                  <a:solidFill>
                    <a:srgbClr val="C00000"/>
                  </a:solidFill>
                  <a:latin typeface="黑体" pitchFamily="49" charset="-122"/>
                  <a:ea typeface="黑体" pitchFamily="49" charset="-122"/>
                </a:rPr>
                <a:t>起始步由物理模型</a:t>
              </a:r>
              <a:r>
                <a:rPr lang="en-US" altLang="zh-CN" sz="1400" kern="0" dirty="0" smtClean="0">
                  <a:solidFill>
                    <a:srgbClr val="C00000"/>
                  </a:solidFill>
                  <a:latin typeface="黑体" pitchFamily="49" charset="-122"/>
                  <a:ea typeface="黑体" pitchFamily="49" charset="-122"/>
                </a:rPr>
                <a:t>(</a:t>
              </a:r>
              <a:r>
                <a:rPr lang="zh-CN" altLang="en-US" sz="1400" kern="0" dirty="0" smtClean="0">
                  <a:solidFill>
                    <a:srgbClr val="C00000"/>
                  </a:solidFill>
                  <a:latin typeface="黑体" pitchFamily="49" charset="-122"/>
                  <a:ea typeface="黑体" pitchFamily="49" charset="-122"/>
                </a:rPr>
                <a:t>如</a:t>
              </a:r>
              <a:r>
                <a:rPr lang="en-US" altLang="zh-CN" sz="1400" kern="0" dirty="0" smtClean="0">
                  <a:solidFill>
                    <a:srgbClr val="C00000"/>
                  </a:solidFill>
                  <a:latin typeface="黑体" pitchFamily="49" charset="-122"/>
                  <a:ea typeface="黑体" pitchFamily="49" charset="-122"/>
                </a:rPr>
                <a:t>CFD</a:t>
              </a:r>
              <a:r>
                <a:rPr lang="zh-CN" altLang="en-US" sz="1400" kern="0" dirty="0" smtClean="0">
                  <a:solidFill>
                    <a:srgbClr val="C00000"/>
                  </a:solidFill>
                  <a:latin typeface="黑体" pitchFamily="49" charset="-122"/>
                  <a:ea typeface="黑体" pitchFamily="49" charset="-122"/>
                </a:rPr>
                <a:t>计算结果</a:t>
              </a:r>
              <a:r>
                <a:rPr lang="en-US" altLang="zh-CN" sz="1400" kern="0" dirty="0" smtClean="0">
                  <a:solidFill>
                    <a:srgbClr val="C00000"/>
                  </a:solidFill>
                  <a:latin typeface="黑体" pitchFamily="49" charset="-122"/>
                  <a:ea typeface="黑体" pitchFamily="49" charset="-122"/>
                </a:rPr>
                <a:t>)</a:t>
              </a:r>
              <a:r>
                <a:rPr lang="zh-CN" altLang="en-US" sz="1400" kern="0" dirty="0" smtClean="0">
                  <a:solidFill>
                    <a:srgbClr val="C00000"/>
                  </a:solidFill>
                  <a:latin typeface="黑体" pitchFamily="49" charset="-122"/>
                  <a:ea typeface="黑体" pitchFamily="49" charset="-122"/>
                </a:rPr>
                <a:t>给出</a:t>
              </a:r>
              <a:endParaRPr lang="zh-CN" altLang="en-US" sz="1400" kern="0" dirty="0">
                <a:solidFill>
                  <a:srgbClr val="C00000"/>
                </a:solidFill>
                <a:latin typeface="黑体" pitchFamily="49" charset="-122"/>
                <a:ea typeface="黑体" pitchFamily="49" charset="-122"/>
              </a:endParaRPr>
            </a:p>
          </p:txBody>
        </p:sp>
      </p:grpSp>
      <p:graphicFrame>
        <p:nvGraphicFramePr>
          <p:cNvPr id="125964" name="对象 21"/>
          <p:cNvGraphicFramePr>
            <a:graphicFrameLocks noChangeAspect="1"/>
          </p:cNvGraphicFramePr>
          <p:nvPr>
            <p:extLst/>
          </p:nvPr>
        </p:nvGraphicFramePr>
        <p:xfrm>
          <a:off x="8308503" y="3315694"/>
          <a:ext cx="2986505" cy="982877"/>
        </p:xfrm>
        <a:graphic>
          <a:graphicData uri="http://schemas.openxmlformats.org/presentationml/2006/ole">
            <mc:AlternateContent xmlns:mc="http://schemas.openxmlformats.org/markup-compatibility/2006">
              <mc:Choice xmlns:v="urn:schemas-microsoft-com:vml" Requires="v">
                <p:oleObj spid="_x0000_s32778" name="Equation" r:id="rId5" imgW="2082600" imgH="685800" progId="Equation.DSMT4">
                  <p:embed/>
                </p:oleObj>
              </mc:Choice>
              <mc:Fallback>
                <p:oleObj name="Equation" r:id="rId5" imgW="2082600" imgH="685800" progId="Equation.DSMT4">
                  <p:embed/>
                  <p:pic>
                    <p:nvPicPr>
                      <p:cNvPr id="125964" name="对象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8503" y="3315694"/>
                        <a:ext cx="2986505" cy="982877"/>
                      </a:xfrm>
                      <a:prstGeom prst="rect">
                        <a:avLst/>
                      </a:prstGeom>
                      <a:noFill/>
                      <a:ln>
                        <a:noFill/>
                      </a:ln>
                      <a:extLst/>
                    </p:spPr>
                  </p:pic>
                </p:oleObj>
              </mc:Fallback>
            </mc:AlternateContent>
          </a:graphicData>
        </a:graphic>
      </p:graphicFrame>
      <p:grpSp>
        <p:nvGrpSpPr>
          <p:cNvPr id="2" name="组合 1"/>
          <p:cNvGrpSpPr/>
          <p:nvPr/>
        </p:nvGrpSpPr>
        <p:grpSpPr>
          <a:xfrm>
            <a:off x="8308503" y="4715192"/>
            <a:ext cx="2057400" cy="1039812"/>
            <a:chOff x="4638675" y="5708651"/>
            <a:chExt cx="2057400" cy="1039812"/>
          </a:xfrm>
        </p:grpSpPr>
        <p:sp>
          <p:nvSpPr>
            <p:cNvPr id="125963" name="矩形 20"/>
            <p:cNvSpPr>
              <a:spLocks noChangeArrowheads="1"/>
            </p:cNvSpPr>
            <p:nvPr/>
          </p:nvSpPr>
          <p:spPr bwMode="auto">
            <a:xfrm>
              <a:off x="4638675" y="5732463"/>
              <a:ext cx="2057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200" b="1" dirty="0">
                  <a:solidFill>
                    <a:srgbClr val="000000"/>
                  </a:solidFill>
                  <a:latin typeface="黑体" panose="02010609060101010101" pitchFamily="49" charset="-122"/>
                  <a:ea typeface="黑体" panose="02010609060101010101" pitchFamily="49" charset="-122"/>
                </a:rPr>
                <a:t> </a:t>
              </a:r>
              <a:r>
                <a:rPr lang="zh-CN" altLang="en-US" sz="1200" dirty="0">
                  <a:solidFill>
                    <a:srgbClr val="000000"/>
                  </a:solidFill>
                  <a:latin typeface="黑体" panose="02010609060101010101" pitchFamily="49" charset="-122"/>
                  <a:ea typeface="黑体" panose="02010609060101010101" pitchFamily="49" charset="-122"/>
                </a:rPr>
                <a:t>：估计值</a:t>
              </a:r>
              <a:endParaRPr lang="en-US" altLang="zh-CN" sz="1200" dirty="0">
                <a:solidFill>
                  <a:srgbClr val="000000"/>
                </a:solidFill>
                <a:latin typeface="黑体" panose="02010609060101010101" pitchFamily="49" charset="-122"/>
                <a:ea typeface="黑体" panose="02010609060101010101" pitchFamily="49" charset="-122"/>
              </a:endParaRPr>
            </a:p>
            <a:p>
              <a:pPr eaLnBrk="1" hangingPunct="1"/>
              <a:r>
                <a:rPr lang="en-US" altLang="zh-CN" sz="1200" b="1" dirty="0">
                  <a:solidFill>
                    <a:srgbClr val="000000"/>
                  </a:solidFill>
                  <a:latin typeface="黑体" panose="02010609060101010101" pitchFamily="49" charset="-122"/>
                  <a:ea typeface="黑体" panose="02010609060101010101" pitchFamily="49" charset="-122"/>
                </a:rPr>
                <a:t>P</a:t>
              </a:r>
              <a:r>
                <a:rPr lang="zh-CN" altLang="en-US" sz="1200" dirty="0">
                  <a:solidFill>
                    <a:srgbClr val="000000"/>
                  </a:solidFill>
                  <a:latin typeface="黑体" panose="02010609060101010101" pitchFamily="49" charset="-122"/>
                  <a:ea typeface="黑体" panose="02010609060101010101" pitchFamily="49" charset="-122"/>
                </a:rPr>
                <a:t>：协方差，</a:t>
              </a:r>
              <a:endParaRPr lang="en-US" altLang="zh-CN" sz="1200" dirty="0">
                <a:solidFill>
                  <a:srgbClr val="000000"/>
                </a:solidFill>
                <a:latin typeface="黑体" panose="02010609060101010101" pitchFamily="49" charset="-122"/>
                <a:ea typeface="黑体" panose="02010609060101010101" pitchFamily="49" charset="-122"/>
              </a:endParaRPr>
            </a:p>
            <a:p>
              <a:pPr eaLnBrk="1" hangingPunct="1"/>
              <a:r>
                <a:rPr lang="en-US" altLang="zh-CN" sz="1200" b="1" dirty="0">
                  <a:solidFill>
                    <a:srgbClr val="000000"/>
                  </a:solidFill>
                  <a:latin typeface="黑体" panose="02010609060101010101" pitchFamily="49" charset="-122"/>
                  <a:ea typeface="黑体" panose="02010609060101010101" pitchFamily="49" charset="-122"/>
                </a:rPr>
                <a:t>H</a:t>
              </a:r>
              <a:r>
                <a:rPr lang="zh-CN" altLang="en-US" sz="1200" b="1"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预测模型</a:t>
              </a:r>
              <a:endParaRPr lang="en-US" altLang="zh-CN" sz="1200" dirty="0">
                <a:solidFill>
                  <a:srgbClr val="000000"/>
                </a:solidFill>
                <a:latin typeface="黑体" panose="02010609060101010101" pitchFamily="49" charset="-122"/>
                <a:ea typeface="黑体" panose="02010609060101010101" pitchFamily="49" charset="-122"/>
              </a:endParaRPr>
            </a:p>
            <a:p>
              <a:pPr eaLnBrk="1" hangingPunct="1"/>
              <a:r>
                <a:rPr lang="en-US" altLang="zh-CN" sz="1200" b="1" dirty="0">
                  <a:solidFill>
                    <a:srgbClr val="000000"/>
                  </a:solidFill>
                  <a:latin typeface="黑体" panose="02010609060101010101" pitchFamily="49" charset="-122"/>
                  <a:ea typeface="黑体" panose="02010609060101010101" pitchFamily="49" charset="-122"/>
                </a:rPr>
                <a:t>Z</a:t>
              </a:r>
              <a:r>
                <a:rPr lang="zh-CN" altLang="en-US" sz="1200" b="1" dirty="0">
                  <a:solidFill>
                    <a:srgbClr val="000000"/>
                  </a:solidFill>
                  <a:latin typeface="黑体" panose="02010609060101010101" pitchFamily="49" charset="-122"/>
                  <a:ea typeface="黑体" panose="02010609060101010101" pitchFamily="49" charset="-122"/>
                </a:rPr>
                <a:t>：</a:t>
              </a:r>
              <a:r>
                <a:rPr lang="zh-CN" altLang="en-US" sz="1200" dirty="0">
                  <a:solidFill>
                    <a:srgbClr val="000000"/>
                  </a:solidFill>
                  <a:latin typeface="黑体" panose="02010609060101010101" pitchFamily="49" charset="-122"/>
                  <a:ea typeface="黑体" panose="02010609060101010101" pitchFamily="49" charset="-122"/>
                </a:rPr>
                <a:t>观察值</a:t>
              </a:r>
              <a:endParaRPr lang="en-US" altLang="zh-CN" sz="1200" dirty="0">
                <a:solidFill>
                  <a:srgbClr val="000000"/>
                </a:solidFill>
                <a:latin typeface="黑体" panose="02010609060101010101" pitchFamily="49" charset="-122"/>
                <a:ea typeface="黑体" panose="02010609060101010101" pitchFamily="49" charset="-122"/>
              </a:endParaRPr>
            </a:p>
            <a:p>
              <a:pPr eaLnBrk="1" hangingPunct="1"/>
              <a:r>
                <a:rPr lang="en-US" altLang="zh-CN" sz="1200" dirty="0">
                  <a:solidFill>
                    <a:srgbClr val="000000"/>
                  </a:solidFill>
                  <a:latin typeface="黑体" panose="02010609060101010101" pitchFamily="49" charset="-122"/>
                  <a:ea typeface="黑体" panose="02010609060101010101" pitchFamily="49" charset="-122"/>
                </a:rPr>
                <a:t>K</a:t>
              </a:r>
              <a:r>
                <a:rPr lang="zh-CN" altLang="en-US" sz="1200" dirty="0">
                  <a:solidFill>
                    <a:srgbClr val="000000"/>
                  </a:solidFill>
                  <a:latin typeface="黑体" panose="02010609060101010101" pitchFamily="49" charset="-122"/>
                  <a:ea typeface="黑体" panose="02010609060101010101" pitchFamily="49" charset="-122"/>
                </a:rPr>
                <a:t>：卡尔曼滤波函数</a:t>
              </a:r>
            </a:p>
          </p:txBody>
        </p:sp>
        <p:graphicFrame>
          <p:nvGraphicFramePr>
            <p:cNvPr id="125965" name="对象 22"/>
            <p:cNvGraphicFramePr>
              <a:graphicFrameLocks noChangeAspect="1"/>
            </p:cNvGraphicFramePr>
            <p:nvPr>
              <p:extLst/>
            </p:nvPr>
          </p:nvGraphicFramePr>
          <p:xfrm>
            <a:off x="4687889" y="5708651"/>
            <a:ext cx="160337" cy="257175"/>
          </p:xfrm>
          <a:graphic>
            <a:graphicData uri="http://schemas.openxmlformats.org/presentationml/2006/ole">
              <mc:AlternateContent xmlns:mc="http://schemas.openxmlformats.org/markup-compatibility/2006">
                <mc:Choice xmlns:v="urn:schemas-microsoft-com:vml" Requires="v">
                  <p:oleObj spid="_x0000_s32779" name="Equation" r:id="rId7" imgW="126720" imgH="203040" progId="Equation.DSMT4">
                    <p:embed/>
                  </p:oleObj>
                </mc:Choice>
                <mc:Fallback>
                  <p:oleObj name="Equation" r:id="rId7" imgW="126720" imgH="203040" progId="Equation.DSMT4">
                    <p:embed/>
                    <p:pic>
                      <p:nvPicPr>
                        <p:cNvPr id="125965" name="对象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7889" y="5708651"/>
                          <a:ext cx="160337"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2" name="文本框 21"/>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3" name="灯片编号占位符 2"/>
          <p:cNvSpPr>
            <a:spLocks noGrp="1"/>
          </p:cNvSpPr>
          <p:nvPr>
            <p:ph type="sldNum" sz="quarter" idx="12"/>
          </p:nvPr>
        </p:nvSpPr>
        <p:spPr/>
        <p:txBody>
          <a:bodyPr/>
          <a:lstStyle/>
          <a:p>
            <a:fld id="{16D8DD02-547D-47A5-AAEA-525C7BEEAE57}" type="slidenum">
              <a:rPr lang="zh-CN" altLang="en-US" smtClean="0"/>
              <a:t>65</a:t>
            </a:fld>
            <a:endParaRPr lang="zh-CN" altLang="en-US"/>
          </a:p>
        </p:txBody>
      </p:sp>
    </p:spTree>
    <p:extLst>
      <p:ext uri="{BB962C8B-B14F-4D97-AF65-F5344CB8AC3E}">
        <p14:creationId xmlns:p14="http://schemas.microsoft.com/office/powerpoint/2010/main" val="30939170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内容占位符 2"/>
          <p:cNvSpPr txBox="1">
            <a:spLocks/>
          </p:cNvSpPr>
          <p:nvPr/>
        </p:nvSpPr>
        <p:spPr bwMode="auto">
          <a:xfrm>
            <a:off x="672916" y="1438217"/>
            <a:ext cx="7298066"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smtClean="0"/>
              <a:t>基于系综</a:t>
            </a:r>
            <a:r>
              <a:rPr lang="en-US" altLang="zh-CN" dirty="0" err="1" smtClean="0"/>
              <a:t>Kalman</a:t>
            </a:r>
            <a:r>
              <a:rPr lang="zh-CN" altLang="en-US" dirty="0" smtClean="0"/>
              <a:t>滤波</a:t>
            </a:r>
            <a:r>
              <a:rPr lang="en-US" altLang="zh-CN" dirty="0" smtClean="0"/>
              <a:t>(ensemble-</a:t>
            </a:r>
            <a:r>
              <a:rPr lang="en-US" altLang="zh-CN" dirty="0" err="1" smtClean="0"/>
              <a:t>Kalman</a:t>
            </a:r>
            <a:r>
              <a:rPr lang="en-US" altLang="zh-CN" dirty="0" smtClean="0"/>
              <a:t> </a:t>
            </a:r>
            <a:r>
              <a:rPr lang="en-US" altLang="zh-CN" dirty="0" err="1" smtClean="0"/>
              <a:t>fliter</a:t>
            </a:r>
            <a:r>
              <a:rPr lang="en-US" altLang="zh-CN" dirty="0" smtClean="0"/>
              <a:t> )</a:t>
            </a:r>
            <a:r>
              <a:rPr lang="zh-CN" altLang="en-US" dirty="0" smtClean="0"/>
              <a:t>数据同化示例</a:t>
            </a:r>
            <a:endParaRPr lang="zh-CN" altLang="en-US" dirty="0"/>
          </a:p>
        </p:txBody>
      </p:sp>
      <p:sp>
        <p:nvSpPr>
          <p:cNvPr id="125959" name="矩形 8"/>
          <p:cNvSpPr>
            <a:spLocks noChangeArrowheads="1"/>
          </p:cNvSpPr>
          <p:nvPr/>
        </p:nvSpPr>
        <p:spPr bwMode="auto">
          <a:xfrm>
            <a:off x="6157603" y="6177781"/>
            <a:ext cx="53220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zh-CN" altLang="en-US" sz="1100" dirty="0" smtClean="0">
                <a:latin typeface="Times New Roman" panose="02020603050405020304" pitchFamily="18" charset="0"/>
                <a:ea typeface="微软雅黑" panose="020B0503020204020204" pitchFamily="34" charset="-122"/>
              </a:rPr>
              <a:t>仅改变模式参数获得的</a:t>
            </a:r>
            <a:r>
              <a:rPr lang="en-US" altLang="zh-CN" sz="1100" dirty="0" smtClean="0">
                <a:latin typeface="Times New Roman" panose="02020603050405020304" pitchFamily="18" charset="0"/>
                <a:ea typeface="微软雅黑" panose="020B0503020204020204" pitchFamily="34" charset="-122"/>
              </a:rPr>
              <a:t>CFD</a:t>
            </a:r>
            <a:r>
              <a:rPr lang="zh-CN" altLang="en-US" sz="1100" dirty="0" smtClean="0">
                <a:latin typeface="Times New Roman" panose="02020603050405020304" pitchFamily="18" charset="0"/>
                <a:ea typeface="微软雅黑" panose="020B0503020204020204" pitchFamily="34" charset="-122"/>
              </a:rPr>
              <a:t>流场收敛结果：射流流向平均速度分布</a:t>
            </a:r>
            <a:endParaRPr lang="en-US" altLang="zh-CN" sz="1100" dirty="0" smtClean="0">
              <a:latin typeface="Times New Roman" panose="02020603050405020304" pitchFamily="18" charset="0"/>
              <a:ea typeface="微软雅黑" panose="020B0503020204020204" pitchFamily="34" charset="-122"/>
            </a:endParaRPr>
          </a:p>
          <a:p>
            <a:pPr algn="ctr"/>
            <a:r>
              <a:rPr lang="zh-CN" altLang="en-US" sz="1050" dirty="0" smtClean="0">
                <a:latin typeface="Times New Roman" panose="02020603050405020304" pitchFamily="18" charset="0"/>
                <a:ea typeface="微软雅黑" panose="020B0503020204020204" pitchFamily="34" charset="-122"/>
              </a:rPr>
              <a:t>根据参数敏感性调节参数变化幅度，并保证有足够的计算结果变动幅度，实验测试结果被包含在变动域内，有利于优化</a:t>
            </a:r>
            <a:endParaRPr lang="zh-CN" altLang="en-US" sz="1050" dirty="0">
              <a:latin typeface="Times New Roman" panose="02020603050405020304" pitchFamily="18" charset="0"/>
              <a:ea typeface="微软雅黑" panose="020B0503020204020204" pitchFamily="34" charset="-122"/>
            </a:endParaRPr>
          </a:p>
        </p:txBody>
      </p:sp>
      <p:sp>
        <p:nvSpPr>
          <p:cNvPr id="125962" name="矩形 19"/>
          <p:cNvSpPr>
            <a:spLocks noChangeArrowheads="1"/>
          </p:cNvSpPr>
          <p:nvPr/>
        </p:nvSpPr>
        <p:spPr bwMode="auto">
          <a:xfrm>
            <a:off x="672915" y="1836959"/>
            <a:ext cx="38990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smtClean="0">
                <a:solidFill>
                  <a:srgbClr val="000000"/>
                </a:solidFill>
                <a:latin typeface="黑体" panose="02010609060101010101" pitchFamily="49" charset="-122"/>
                <a:ea typeface="黑体" panose="02010609060101010101" pitchFamily="49" charset="-122"/>
              </a:rPr>
              <a:t>寻找</a:t>
            </a:r>
            <a:r>
              <a:rPr lang="en-US" altLang="zh-CN" sz="1200" dirty="0" smtClean="0">
                <a:solidFill>
                  <a:srgbClr val="000000"/>
                </a:solidFill>
                <a:latin typeface="黑体" panose="02010609060101010101" pitchFamily="49" charset="-122"/>
                <a:ea typeface="黑体" panose="02010609060101010101" pitchFamily="49" charset="-122"/>
              </a:rPr>
              <a:t>RANS</a:t>
            </a:r>
            <a:r>
              <a:rPr lang="zh-CN" altLang="en-US" sz="1200" dirty="0" smtClean="0">
                <a:solidFill>
                  <a:srgbClr val="000000"/>
                </a:solidFill>
                <a:latin typeface="黑体" panose="02010609060101010101" pitchFamily="49" charset="-122"/>
                <a:ea typeface="黑体" panose="02010609060101010101" pitchFamily="49" charset="-122"/>
              </a:rPr>
              <a:t>模型最优模型参数组合：圆管轴对称射流为例</a:t>
            </a:r>
            <a:endParaRPr lang="zh-CN" altLang="en-US" sz="1200" dirty="0">
              <a:solidFill>
                <a:srgbClr val="000000"/>
              </a:solidFill>
              <a:latin typeface="黑体" panose="02010609060101010101" pitchFamily="49" charset="-122"/>
              <a:ea typeface="黑体" panose="02010609060101010101" pitchFamily="49" charset="-122"/>
            </a:endParaRPr>
          </a:p>
        </p:txBody>
      </p:sp>
      <p:sp>
        <p:nvSpPr>
          <p:cNvPr id="22" name="文本框 21"/>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3" name="矩形 2"/>
          <p:cNvSpPr/>
          <p:nvPr/>
        </p:nvSpPr>
        <p:spPr>
          <a:xfrm>
            <a:off x="7832817" y="1530550"/>
            <a:ext cx="23691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a:solidFill>
                  <a:srgbClr val="FF0000"/>
                </a:solidFill>
                <a:latin typeface="Times New Roman" panose="02020603050405020304" pitchFamily="18" charset="0"/>
                <a:ea typeface="微软雅黑" panose="020B0503020204020204" pitchFamily="34" charset="-122"/>
              </a:rPr>
              <a:t>Deng </a:t>
            </a:r>
            <a:r>
              <a:rPr lang="en-US" altLang="zh-CN" sz="1400" b="1" dirty="0" smtClean="0">
                <a:solidFill>
                  <a:srgbClr val="FF0000"/>
                </a:solidFill>
                <a:latin typeface="Times New Roman" panose="02020603050405020304" pitchFamily="18" charset="0"/>
                <a:ea typeface="微软雅黑" panose="020B0503020204020204" pitchFamily="34" charset="-122"/>
              </a:rPr>
              <a:t>Z et al. (2018), J. Vis.</a:t>
            </a:r>
            <a:endParaRPr lang="en-US" sz="1400" b="1" dirty="0">
              <a:solidFill>
                <a:srgbClr val="FF0000"/>
              </a:solidFill>
              <a:latin typeface="Times New Roman" panose="02020603050405020304" pitchFamily="18" charset="0"/>
              <a:ea typeface="微软雅黑" panose="020B0503020204020204" pitchFamily="34" charset="-122"/>
            </a:endParaRPr>
          </a:p>
        </p:txBody>
      </p:sp>
      <p:pic>
        <p:nvPicPr>
          <p:cNvPr id="4" name="图片 3"/>
          <p:cNvPicPr>
            <a:picLocks noChangeAspect="1"/>
          </p:cNvPicPr>
          <p:nvPr/>
        </p:nvPicPr>
        <p:blipFill rotWithShape="1">
          <a:blip r:embed="rId3"/>
          <a:srcRect t="1984"/>
          <a:stretch/>
        </p:blipFill>
        <p:spPr>
          <a:xfrm>
            <a:off x="672915" y="4470021"/>
            <a:ext cx="4221311" cy="1961482"/>
          </a:xfrm>
          <a:prstGeom prst="rect">
            <a:avLst/>
          </a:prstGeom>
        </p:spPr>
      </p:pic>
      <p:pic>
        <p:nvPicPr>
          <p:cNvPr id="12596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2915" y="2112589"/>
            <a:ext cx="4051103" cy="2357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19"/>
          <p:cNvSpPr>
            <a:spLocks noChangeArrowheads="1"/>
          </p:cNvSpPr>
          <p:nvPr/>
        </p:nvSpPr>
        <p:spPr bwMode="auto">
          <a:xfrm>
            <a:off x="1907236" y="6185334"/>
            <a:ext cx="277414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200" b="1" dirty="0" smtClean="0">
                <a:solidFill>
                  <a:srgbClr val="000000"/>
                </a:solidFill>
                <a:latin typeface="黑体" panose="02010609060101010101" pitchFamily="49" charset="-122"/>
                <a:ea typeface="黑体" panose="02010609060101010101" pitchFamily="49" charset="-122"/>
              </a:rPr>
              <a:t>PIV</a:t>
            </a:r>
            <a:r>
              <a:rPr lang="zh-CN" altLang="en-US" sz="1200" b="1" dirty="0" smtClean="0">
                <a:solidFill>
                  <a:srgbClr val="000000"/>
                </a:solidFill>
                <a:latin typeface="黑体" panose="02010609060101010101" pitchFamily="49" charset="-122"/>
                <a:ea typeface="黑体" panose="02010609060101010101" pitchFamily="49" charset="-122"/>
              </a:rPr>
              <a:t>测试数据作为观测数据</a:t>
            </a:r>
            <a:endParaRPr lang="en-US" altLang="zh-CN" sz="1200" b="1" dirty="0">
              <a:solidFill>
                <a:srgbClr val="000000"/>
              </a:solidFill>
              <a:latin typeface="黑体" panose="02010609060101010101" pitchFamily="49" charset="-122"/>
              <a:ea typeface="黑体" panose="02010609060101010101" pitchFamily="49" charset="-122"/>
            </a:endParaRPr>
          </a:p>
          <a:p>
            <a:pPr eaLnBrk="1" hangingPunct="1"/>
            <a:r>
              <a:rPr lang="zh-CN" altLang="en-US" sz="1200" dirty="0" smtClean="0">
                <a:solidFill>
                  <a:srgbClr val="000000"/>
                </a:solidFill>
                <a:latin typeface="黑体" panose="02010609060101010101" pitchFamily="49" charset="-122"/>
                <a:ea typeface="黑体" panose="02010609060101010101" pitchFamily="49" charset="-122"/>
              </a:rPr>
              <a:t>测试区域：</a:t>
            </a:r>
            <a:r>
              <a:rPr lang="en-US" altLang="zh-CN" sz="1200" i="1" dirty="0" err="1" smtClean="0">
                <a:solidFill>
                  <a:srgbClr val="000000"/>
                </a:solidFill>
                <a:latin typeface="黑体" panose="02010609060101010101" pitchFamily="49" charset="-122"/>
                <a:ea typeface="黑体" panose="02010609060101010101" pitchFamily="49" charset="-122"/>
              </a:rPr>
              <a:t>L</a:t>
            </a:r>
            <a:r>
              <a:rPr lang="en-US" altLang="zh-CN" sz="1200" i="1" baseline="-25000" dirty="0" err="1" smtClean="0">
                <a:solidFill>
                  <a:srgbClr val="000000"/>
                </a:solidFill>
                <a:latin typeface="黑体" panose="02010609060101010101" pitchFamily="49" charset="-122"/>
                <a:ea typeface="黑体" panose="02010609060101010101" pitchFamily="49" charset="-122"/>
              </a:rPr>
              <a:t>p</a:t>
            </a:r>
            <a:r>
              <a:rPr lang="en-US" altLang="zh-CN" sz="1200" i="1" dirty="0" smtClean="0">
                <a:solidFill>
                  <a:srgbClr val="000000"/>
                </a:solidFill>
                <a:latin typeface="黑体" panose="02010609060101010101" pitchFamily="49" charset="-122"/>
                <a:ea typeface="黑体" panose="02010609060101010101" pitchFamily="49" charset="-122"/>
              </a:rPr>
              <a:t>= </a:t>
            </a:r>
            <a:r>
              <a:rPr lang="en-US" altLang="zh-CN" sz="1200" dirty="0" smtClean="0">
                <a:solidFill>
                  <a:srgbClr val="000000"/>
                </a:solidFill>
                <a:latin typeface="黑体" panose="02010609060101010101" pitchFamily="49" charset="-122"/>
                <a:ea typeface="黑体" panose="02010609060101010101" pitchFamily="49" charset="-122"/>
              </a:rPr>
              <a:t>0.5</a:t>
            </a:r>
            <a:r>
              <a:rPr lang="en-US" altLang="zh-CN" sz="1200" i="1" dirty="0" smtClean="0">
                <a:solidFill>
                  <a:srgbClr val="000000"/>
                </a:solidFill>
                <a:latin typeface="黑体" panose="02010609060101010101" pitchFamily="49" charset="-122"/>
                <a:ea typeface="黑体" panose="02010609060101010101" pitchFamily="49" charset="-122"/>
              </a:rPr>
              <a:t>D</a:t>
            </a:r>
            <a:r>
              <a:rPr lang="en-US" altLang="zh-CN" sz="1200" i="1" baseline="-25000" dirty="0" smtClean="0">
                <a:solidFill>
                  <a:srgbClr val="000000"/>
                </a:solidFill>
                <a:latin typeface="黑体" panose="02010609060101010101" pitchFamily="49" charset="-122"/>
                <a:ea typeface="黑体" panose="02010609060101010101" pitchFamily="49" charset="-122"/>
              </a:rPr>
              <a:t>p</a:t>
            </a:r>
            <a:r>
              <a:rPr lang="en-US" altLang="zh-CN" sz="1200" dirty="0" smtClean="0">
                <a:solidFill>
                  <a:srgbClr val="000000"/>
                </a:solidFill>
                <a:latin typeface="黑体" panose="02010609060101010101" pitchFamily="49" charset="-122"/>
                <a:ea typeface="黑体" panose="02010609060101010101" pitchFamily="49" charset="-122"/>
              </a:rPr>
              <a:t>~12</a:t>
            </a:r>
            <a:r>
              <a:rPr lang="en-US" altLang="zh-CN" sz="1200" i="1" dirty="0" smtClean="0">
                <a:solidFill>
                  <a:srgbClr val="000000"/>
                </a:solidFill>
                <a:latin typeface="黑体" panose="02010609060101010101" pitchFamily="49" charset="-122"/>
                <a:ea typeface="黑体" panose="02010609060101010101" pitchFamily="49" charset="-122"/>
              </a:rPr>
              <a:t>D</a:t>
            </a:r>
            <a:r>
              <a:rPr lang="en-US" altLang="zh-CN" sz="1200" i="1" baseline="-25000" dirty="0" smtClean="0">
                <a:solidFill>
                  <a:srgbClr val="000000"/>
                </a:solidFill>
                <a:latin typeface="黑体" panose="02010609060101010101" pitchFamily="49" charset="-122"/>
                <a:ea typeface="黑体" panose="02010609060101010101" pitchFamily="49" charset="-122"/>
              </a:rPr>
              <a:t>p</a:t>
            </a:r>
            <a:r>
              <a:rPr lang="en-US" altLang="zh-CN" sz="1200" i="1" dirty="0" smtClean="0">
                <a:solidFill>
                  <a:srgbClr val="000000"/>
                </a:solidFill>
                <a:latin typeface="黑体" panose="02010609060101010101" pitchFamily="49" charset="-122"/>
                <a:ea typeface="黑体" panose="02010609060101010101" pitchFamily="49" charset="-122"/>
              </a:rPr>
              <a:t>,</a:t>
            </a:r>
            <a:r>
              <a:rPr lang="en-US" altLang="zh-CN" sz="1200" dirty="0" smtClean="0">
                <a:solidFill>
                  <a:srgbClr val="000000"/>
                </a:solidFill>
                <a:latin typeface="黑体" panose="02010609060101010101" pitchFamily="49" charset="-122"/>
                <a:ea typeface="黑体" panose="02010609060101010101" pitchFamily="49" charset="-122"/>
              </a:rPr>
              <a:t>y = 0~</a:t>
            </a:r>
            <a:r>
              <a:rPr lang="en-US" altLang="zh-CN" sz="1200" i="1" dirty="0" smtClean="0">
                <a:solidFill>
                  <a:srgbClr val="000000"/>
                </a:solidFill>
                <a:latin typeface="黑体" panose="02010609060101010101" pitchFamily="49" charset="-122"/>
                <a:ea typeface="黑体" panose="02010609060101010101" pitchFamily="49" charset="-122"/>
              </a:rPr>
              <a:t>D</a:t>
            </a:r>
            <a:r>
              <a:rPr lang="en-US" altLang="zh-CN" sz="1200" i="1" baseline="-25000" dirty="0" smtClean="0">
                <a:solidFill>
                  <a:srgbClr val="000000"/>
                </a:solidFill>
                <a:latin typeface="黑体" panose="02010609060101010101" pitchFamily="49" charset="-122"/>
                <a:ea typeface="黑体" panose="02010609060101010101" pitchFamily="49" charset="-122"/>
              </a:rPr>
              <a:t>p</a:t>
            </a:r>
            <a:endParaRPr lang="en-US" altLang="zh-CN" sz="1200" i="1" dirty="0" smtClean="0">
              <a:solidFill>
                <a:srgbClr val="000000"/>
              </a:solidFill>
              <a:latin typeface="黑体" panose="02010609060101010101" pitchFamily="49" charset="-122"/>
              <a:ea typeface="黑体" panose="02010609060101010101" pitchFamily="49" charset="-122"/>
            </a:endParaRPr>
          </a:p>
          <a:p>
            <a:pPr eaLnBrk="1" hangingPunct="1"/>
            <a:r>
              <a:rPr lang="en-US" altLang="zh-CN" sz="1200" dirty="0" smtClean="0">
                <a:solidFill>
                  <a:srgbClr val="000000"/>
                </a:solidFill>
                <a:latin typeface="黑体" panose="02010609060101010101" pitchFamily="49" charset="-122"/>
                <a:ea typeface="黑体" panose="02010609060101010101" pitchFamily="49" charset="-122"/>
              </a:rPr>
              <a:t>1000</a:t>
            </a:r>
            <a:r>
              <a:rPr lang="zh-CN" altLang="en-US" sz="1200" dirty="0" smtClean="0">
                <a:solidFill>
                  <a:srgbClr val="000000"/>
                </a:solidFill>
                <a:latin typeface="黑体" panose="02010609060101010101" pitchFamily="49" charset="-122"/>
                <a:ea typeface="黑体" panose="02010609060101010101" pitchFamily="49" charset="-122"/>
              </a:rPr>
              <a:t>图像对，</a:t>
            </a:r>
            <a:r>
              <a:rPr lang="en-US" altLang="zh-CN" sz="1200" dirty="0" smtClean="0">
                <a:solidFill>
                  <a:srgbClr val="000000"/>
                </a:solidFill>
                <a:latin typeface="黑体" panose="02010609060101010101" pitchFamily="49" charset="-122"/>
                <a:ea typeface="黑体" panose="02010609060101010101" pitchFamily="49" charset="-122"/>
              </a:rPr>
              <a:t>2Hz</a:t>
            </a:r>
            <a:r>
              <a:rPr lang="zh-CN" altLang="en-US" sz="1200" dirty="0" smtClean="0">
                <a:solidFill>
                  <a:srgbClr val="000000"/>
                </a:solidFill>
                <a:latin typeface="黑体" panose="02010609060101010101" pitchFamily="49" charset="-122"/>
                <a:ea typeface="黑体" panose="02010609060101010101" pitchFamily="49" charset="-122"/>
              </a:rPr>
              <a:t>采样，</a:t>
            </a:r>
            <a:r>
              <a:rPr lang="en-US" altLang="zh-CN" sz="1200" dirty="0" smtClean="0">
                <a:solidFill>
                  <a:srgbClr val="000000"/>
                </a:solidFill>
                <a:latin typeface="黑体" panose="02010609060101010101" pitchFamily="49" charset="-122"/>
                <a:ea typeface="黑体" panose="02010609060101010101" pitchFamily="49" charset="-122"/>
              </a:rPr>
              <a:t>32×32</a:t>
            </a:r>
            <a:r>
              <a:rPr lang="zh-CN" altLang="en-US" sz="1200" dirty="0" smtClean="0">
                <a:solidFill>
                  <a:srgbClr val="000000"/>
                </a:solidFill>
                <a:latin typeface="黑体" panose="02010609060101010101" pitchFamily="49" charset="-122"/>
                <a:ea typeface="黑体" panose="02010609060101010101" pitchFamily="49" charset="-122"/>
              </a:rPr>
              <a:t>问询窗</a:t>
            </a:r>
            <a:endParaRPr lang="zh-CN" altLang="en-US" sz="1200" dirty="0">
              <a:solidFill>
                <a:srgbClr val="000000"/>
              </a:solidFill>
              <a:latin typeface="黑体" panose="02010609060101010101" pitchFamily="49" charset="-122"/>
              <a:ea typeface="黑体" panose="02010609060101010101" pitchFamily="49" charset="-122"/>
            </a:endParaRPr>
          </a:p>
        </p:txBody>
      </p:sp>
      <p:sp>
        <p:nvSpPr>
          <p:cNvPr id="26" name="矩形 19"/>
          <p:cNvSpPr>
            <a:spLocks noChangeArrowheads="1"/>
          </p:cNvSpPr>
          <p:nvPr/>
        </p:nvSpPr>
        <p:spPr bwMode="auto">
          <a:xfrm>
            <a:off x="4625765" y="6189025"/>
            <a:ext cx="12688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200" b="1" dirty="0" smtClean="0">
                <a:solidFill>
                  <a:srgbClr val="000000"/>
                </a:solidFill>
                <a:latin typeface="黑体" panose="02010609060101010101" pitchFamily="49" charset="-122"/>
                <a:ea typeface="黑体" panose="02010609060101010101" pitchFamily="49" charset="-122"/>
              </a:rPr>
              <a:t>CFD</a:t>
            </a:r>
            <a:r>
              <a:rPr lang="zh-CN" altLang="en-US" sz="1200" b="1" dirty="0" smtClean="0">
                <a:solidFill>
                  <a:srgbClr val="000000"/>
                </a:solidFill>
                <a:latin typeface="黑体" panose="02010609060101010101" pitchFamily="49" charset="-122"/>
                <a:ea typeface="黑体" panose="02010609060101010101" pitchFamily="49" charset="-122"/>
              </a:rPr>
              <a:t>计算收敛结果作为预测数据初值</a:t>
            </a:r>
            <a:endParaRPr lang="en-US" altLang="zh-CN" sz="1200" b="1" dirty="0">
              <a:solidFill>
                <a:srgbClr val="000000"/>
              </a:solidFill>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a:blip r:embed="rId5"/>
          <a:stretch>
            <a:fillRect/>
          </a:stretch>
        </p:blipFill>
        <p:spPr>
          <a:xfrm>
            <a:off x="5707950" y="2020926"/>
            <a:ext cx="5771653" cy="4156855"/>
          </a:xfrm>
          <a:prstGeom prst="rect">
            <a:avLst/>
          </a:prstGeom>
        </p:spPr>
      </p:pic>
      <p:sp>
        <p:nvSpPr>
          <p:cNvPr id="2" name="灯片编号占位符 1"/>
          <p:cNvSpPr>
            <a:spLocks noGrp="1"/>
          </p:cNvSpPr>
          <p:nvPr>
            <p:ph type="sldNum" sz="quarter" idx="12"/>
          </p:nvPr>
        </p:nvSpPr>
        <p:spPr/>
        <p:txBody>
          <a:bodyPr/>
          <a:lstStyle/>
          <a:p>
            <a:fld id="{16D8DD02-547D-47A5-AAEA-525C7BEEAE57}" type="slidenum">
              <a:rPr lang="zh-CN" altLang="en-US" smtClean="0"/>
              <a:t>66</a:t>
            </a:fld>
            <a:endParaRPr lang="zh-CN" altLang="en-US"/>
          </a:p>
        </p:txBody>
      </p:sp>
    </p:spTree>
    <p:extLst>
      <p:ext uri="{BB962C8B-B14F-4D97-AF65-F5344CB8AC3E}">
        <p14:creationId xmlns:p14="http://schemas.microsoft.com/office/powerpoint/2010/main" val="33997455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内容占位符 2"/>
          <p:cNvSpPr txBox="1">
            <a:spLocks/>
          </p:cNvSpPr>
          <p:nvPr/>
        </p:nvSpPr>
        <p:spPr bwMode="auto">
          <a:xfrm>
            <a:off x="672916" y="1438217"/>
            <a:ext cx="7298066"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smtClean="0"/>
              <a:t>系综</a:t>
            </a:r>
            <a:r>
              <a:rPr lang="en-US" altLang="zh-CN" dirty="0" err="1" smtClean="0"/>
              <a:t>Kalman</a:t>
            </a:r>
            <a:r>
              <a:rPr lang="zh-CN" altLang="en-US" dirty="0" smtClean="0"/>
              <a:t>滤波</a:t>
            </a:r>
            <a:r>
              <a:rPr lang="en-US" altLang="zh-CN" dirty="0" smtClean="0"/>
              <a:t>(ensemble-</a:t>
            </a:r>
            <a:r>
              <a:rPr lang="en-US" altLang="zh-CN" dirty="0" err="1" smtClean="0"/>
              <a:t>Kalman</a:t>
            </a:r>
            <a:r>
              <a:rPr lang="en-US" altLang="zh-CN" dirty="0" smtClean="0"/>
              <a:t> </a:t>
            </a:r>
            <a:r>
              <a:rPr lang="en-US" altLang="zh-CN" dirty="0" err="1" smtClean="0"/>
              <a:t>fliter</a:t>
            </a:r>
            <a:r>
              <a:rPr lang="en-US" altLang="zh-CN" dirty="0" smtClean="0"/>
              <a:t> )</a:t>
            </a:r>
            <a:r>
              <a:rPr lang="zh-CN" altLang="en-US" dirty="0" smtClean="0"/>
              <a:t>数据同化示例</a:t>
            </a:r>
            <a:endParaRPr lang="zh-CN" altLang="en-US" dirty="0"/>
          </a:p>
        </p:txBody>
      </p:sp>
      <p:sp>
        <p:nvSpPr>
          <p:cNvPr id="125959" name="矩形 8"/>
          <p:cNvSpPr>
            <a:spLocks noChangeArrowheads="1"/>
          </p:cNvSpPr>
          <p:nvPr/>
        </p:nvSpPr>
        <p:spPr bwMode="auto">
          <a:xfrm>
            <a:off x="7688003" y="1805435"/>
            <a:ext cx="3514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marL="171450" indent="-171450">
              <a:buFont typeface="Arial" panose="020B0604020202020204" pitchFamily="34" charset="0"/>
              <a:buChar char="•"/>
            </a:pPr>
            <a:r>
              <a:rPr lang="zh-CN" altLang="en-US" sz="1200" dirty="0" smtClean="0">
                <a:latin typeface="Times New Roman" panose="02020603050405020304" pitchFamily="18" charset="0"/>
                <a:ea typeface="微软雅黑" panose="020B0503020204020204" pitchFamily="34" charset="-122"/>
              </a:rPr>
              <a:t>未进行优化处理的</a:t>
            </a:r>
            <a:r>
              <a:rPr lang="en-US" altLang="zh-CN" sz="1200" dirty="0" smtClean="0">
                <a:latin typeface="Times New Roman" panose="02020603050405020304" pitchFamily="18" charset="0"/>
                <a:ea typeface="微软雅黑" panose="020B0503020204020204" pitchFamily="34" charset="-122"/>
              </a:rPr>
              <a:t>RANS</a:t>
            </a:r>
            <a:r>
              <a:rPr lang="zh-CN" altLang="en-US" sz="1200" dirty="0" smtClean="0">
                <a:latin typeface="Times New Roman" panose="02020603050405020304" pitchFamily="18" charset="0"/>
                <a:ea typeface="微软雅黑" panose="020B0503020204020204" pitchFamily="34" charset="-122"/>
              </a:rPr>
              <a:t>结果无法提供准确的射流模拟结果，在</a:t>
            </a:r>
            <a:r>
              <a:rPr lang="en-US" altLang="zh-CN" sz="1200" b="1" dirty="0" smtClean="0">
                <a:latin typeface="Times New Roman" panose="02020603050405020304" pitchFamily="18" charset="0"/>
                <a:ea typeface="微软雅黑" panose="020B0503020204020204" pitchFamily="34" charset="-122"/>
              </a:rPr>
              <a:t>4~8</a:t>
            </a:r>
            <a:r>
              <a:rPr lang="en-US" altLang="zh-CN" sz="1200" b="1" i="1" dirty="0" smtClean="0">
                <a:latin typeface="Times New Roman" panose="02020603050405020304" pitchFamily="18" charset="0"/>
                <a:ea typeface="微软雅黑" panose="020B0503020204020204" pitchFamily="34" charset="-122"/>
              </a:rPr>
              <a:t>D</a:t>
            </a:r>
            <a:r>
              <a:rPr lang="en-US" altLang="zh-CN" sz="1200" b="1" i="1" baseline="-25000" dirty="0" smtClean="0">
                <a:latin typeface="Times New Roman" panose="02020603050405020304" pitchFamily="18" charset="0"/>
                <a:ea typeface="微软雅黑" panose="020B0503020204020204" pitchFamily="34" charset="-122"/>
              </a:rPr>
              <a:t>p</a:t>
            </a:r>
            <a:r>
              <a:rPr lang="zh-CN" altLang="en-US" sz="1200" dirty="0" smtClean="0">
                <a:latin typeface="Times New Roman" panose="02020603050405020304" pitchFamily="18" charset="0"/>
                <a:ea typeface="微软雅黑" panose="020B0503020204020204" pitchFamily="34" charset="-122"/>
              </a:rPr>
              <a:t>的</a:t>
            </a:r>
            <a:r>
              <a:rPr lang="zh-CN" altLang="en-US" sz="1200" b="1" dirty="0" smtClean="0">
                <a:latin typeface="Times New Roman" panose="02020603050405020304" pitchFamily="18" charset="0"/>
                <a:ea typeface="微软雅黑" panose="020B0503020204020204" pitchFamily="34" charset="-122"/>
              </a:rPr>
              <a:t>转捩位置</a:t>
            </a:r>
            <a:r>
              <a:rPr lang="zh-CN" altLang="en-US" sz="1200" dirty="0" smtClean="0">
                <a:latin typeface="Times New Roman" panose="02020603050405020304" pitchFamily="18" charset="0"/>
                <a:ea typeface="微软雅黑" panose="020B0503020204020204" pitchFamily="34" charset="-122"/>
              </a:rPr>
              <a:t>偏差尤其明显</a:t>
            </a:r>
            <a:endParaRPr lang="zh-CN" altLang="en-US" sz="1200" dirty="0">
              <a:latin typeface="Times New Roman" panose="02020603050405020304" pitchFamily="18" charset="0"/>
              <a:ea typeface="微软雅黑" panose="020B0503020204020204" pitchFamily="34" charset="-122"/>
            </a:endParaRPr>
          </a:p>
        </p:txBody>
      </p:sp>
      <p:sp>
        <p:nvSpPr>
          <p:cNvPr id="125962" name="矩形 19"/>
          <p:cNvSpPr>
            <a:spLocks noChangeArrowheads="1"/>
          </p:cNvSpPr>
          <p:nvPr/>
        </p:nvSpPr>
        <p:spPr bwMode="auto">
          <a:xfrm>
            <a:off x="672915" y="1836959"/>
            <a:ext cx="38990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smtClean="0">
                <a:solidFill>
                  <a:srgbClr val="000000"/>
                </a:solidFill>
                <a:latin typeface="黑体" panose="02010609060101010101" pitchFamily="49" charset="-122"/>
                <a:ea typeface="黑体" panose="02010609060101010101" pitchFamily="49" charset="-122"/>
              </a:rPr>
              <a:t>寻找</a:t>
            </a:r>
            <a:r>
              <a:rPr lang="en-US" altLang="zh-CN" sz="1200" dirty="0" smtClean="0">
                <a:solidFill>
                  <a:srgbClr val="000000"/>
                </a:solidFill>
                <a:latin typeface="黑体" panose="02010609060101010101" pitchFamily="49" charset="-122"/>
                <a:ea typeface="黑体" panose="02010609060101010101" pitchFamily="49" charset="-122"/>
              </a:rPr>
              <a:t>RANS</a:t>
            </a:r>
            <a:r>
              <a:rPr lang="zh-CN" altLang="en-US" sz="1200" dirty="0" smtClean="0">
                <a:solidFill>
                  <a:srgbClr val="000000"/>
                </a:solidFill>
                <a:latin typeface="黑体" panose="02010609060101010101" pitchFamily="49" charset="-122"/>
                <a:ea typeface="黑体" panose="02010609060101010101" pitchFamily="49" charset="-122"/>
              </a:rPr>
              <a:t>模型最优模型参数组合：圆管轴对称射流为例</a:t>
            </a:r>
            <a:endParaRPr lang="zh-CN" altLang="en-US" sz="1200" dirty="0">
              <a:solidFill>
                <a:srgbClr val="000000"/>
              </a:solidFill>
              <a:latin typeface="黑体" panose="02010609060101010101" pitchFamily="49" charset="-122"/>
              <a:ea typeface="黑体" panose="02010609060101010101" pitchFamily="49" charset="-122"/>
            </a:endParaRPr>
          </a:p>
        </p:txBody>
      </p:sp>
      <p:sp>
        <p:nvSpPr>
          <p:cNvPr id="22" name="文本框 21"/>
          <p:cNvSpPr txBox="1"/>
          <p:nvPr/>
        </p:nvSpPr>
        <p:spPr>
          <a:xfrm>
            <a:off x="672916" y="772765"/>
            <a:ext cx="2652175" cy="584775"/>
          </a:xfrm>
          <a:prstGeom prst="rect">
            <a:avLst/>
          </a:prstGeom>
          <a:noFill/>
        </p:spPr>
        <p:txBody>
          <a:bodyPr wrap="square" rtlCol="0">
            <a:spAutoFit/>
          </a:bodyPr>
          <a:lstStyle/>
          <a:p>
            <a:r>
              <a:rPr lang="en-US" altLang="zh-CN" sz="3200" b="1" dirty="0" smtClean="0">
                <a:latin typeface="华文细黑" panose="02010600040101010101" pitchFamily="2" charset="-122"/>
                <a:ea typeface="华文细黑" panose="02010600040101010101" pitchFamily="2" charset="-122"/>
              </a:rPr>
              <a:t>VII. </a:t>
            </a:r>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3" name="矩形 2"/>
          <p:cNvSpPr/>
          <p:nvPr/>
        </p:nvSpPr>
        <p:spPr>
          <a:xfrm>
            <a:off x="7832817" y="1530550"/>
            <a:ext cx="23691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a:solidFill>
                  <a:srgbClr val="FF0000"/>
                </a:solidFill>
                <a:latin typeface="Times New Roman" panose="02020603050405020304" pitchFamily="18" charset="0"/>
                <a:ea typeface="微软雅黑" panose="020B0503020204020204" pitchFamily="34" charset="-122"/>
              </a:rPr>
              <a:t>Deng </a:t>
            </a:r>
            <a:r>
              <a:rPr lang="en-US" altLang="zh-CN" sz="1400" b="1" dirty="0" smtClean="0">
                <a:solidFill>
                  <a:srgbClr val="FF0000"/>
                </a:solidFill>
                <a:latin typeface="Times New Roman" panose="02020603050405020304" pitchFamily="18" charset="0"/>
                <a:ea typeface="微软雅黑" panose="020B0503020204020204" pitchFamily="34" charset="-122"/>
              </a:rPr>
              <a:t>Z et al. (2018), J. Vis.</a:t>
            </a:r>
            <a:endParaRPr lang="en-US" sz="1400" b="1" dirty="0">
              <a:solidFill>
                <a:srgbClr val="FF0000"/>
              </a:solidFill>
              <a:latin typeface="Times New Roman" panose="02020603050405020304" pitchFamily="18" charset="0"/>
              <a:ea typeface="微软雅黑" panose="020B0503020204020204" pitchFamily="34" charset="-122"/>
            </a:endParaRPr>
          </a:p>
        </p:txBody>
      </p:sp>
      <p:grpSp>
        <p:nvGrpSpPr>
          <p:cNvPr id="8" name="组合 7"/>
          <p:cNvGrpSpPr/>
          <p:nvPr/>
        </p:nvGrpSpPr>
        <p:grpSpPr>
          <a:xfrm>
            <a:off x="340405" y="2237069"/>
            <a:ext cx="6947067" cy="4160476"/>
            <a:chOff x="672915" y="2287930"/>
            <a:chExt cx="6897414" cy="4130740"/>
          </a:xfrm>
        </p:grpSpPr>
        <p:pic>
          <p:nvPicPr>
            <p:cNvPr id="14" name="图片 13"/>
            <p:cNvPicPr>
              <a:picLocks noChangeAspect="1"/>
            </p:cNvPicPr>
            <p:nvPr/>
          </p:nvPicPr>
          <p:blipFill rotWithShape="1">
            <a:blip r:embed="rId3"/>
            <a:srcRect t="64423"/>
            <a:stretch/>
          </p:blipFill>
          <p:spPr>
            <a:xfrm>
              <a:off x="672915" y="4394245"/>
              <a:ext cx="3795583" cy="2024425"/>
            </a:xfrm>
            <a:prstGeom prst="rect">
              <a:avLst/>
            </a:prstGeom>
          </p:spPr>
        </p:pic>
        <p:grpSp>
          <p:nvGrpSpPr>
            <p:cNvPr id="6" name="组合 5"/>
            <p:cNvGrpSpPr/>
            <p:nvPr/>
          </p:nvGrpSpPr>
          <p:grpSpPr>
            <a:xfrm>
              <a:off x="4175399" y="2287930"/>
              <a:ext cx="3394930" cy="2025169"/>
              <a:chOff x="4175399" y="2287930"/>
              <a:chExt cx="3394930" cy="2025169"/>
            </a:xfrm>
          </p:grpSpPr>
          <p:pic>
            <p:nvPicPr>
              <p:cNvPr id="13" name="图片 12"/>
              <p:cNvPicPr>
                <a:picLocks noChangeAspect="1"/>
              </p:cNvPicPr>
              <p:nvPr/>
            </p:nvPicPr>
            <p:blipFill rotWithShape="1">
              <a:blip r:embed="rId3"/>
              <a:srcRect t="31950" r="10708" b="35242"/>
              <a:stretch/>
            </p:blipFill>
            <p:spPr>
              <a:xfrm>
                <a:off x="4175399" y="2287930"/>
                <a:ext cx="3389183" cy="1866901"/>
              </a:xfrm>
              <a:prstGeom prst="rect">
                <a:avLst/>
              </a:prstGeom>
            </p:spPr>
          </p:pic>
          <p:pic>
            <p:nvPicPr>
              <p:cNvPr id="17" name="图片 16"/>
              <p:cNvPicPr>
                <a:picLocks noChangeAspect="1"/>
              </p:cNvPicPr>
              <p:nvPr/>
            </p:nvPicPr>
            <p:blipFill rotWithShape="1">
              <a:blip r:embed="rId3"/>
              <a:srcRect t="95485" r="10556"/>
              <a:stretch/>
            </p:blipFill>
            <p:spPr>
              <a:xfrm>
                <a:off x="4175399" y="4056195"/>
                <a:ext cx="3394930" cy="256904"/>
              </a:xfrm>
              <a:prstGeom prst="rect">
                <a:avLst/>
              </a:prstGeom>
            </p:spPr>
          </p:pic>
        </p:grpSp>
        <p:grpSp>
          <p:nvGrpSpPr>
            <p:cNvPr id="7" name="组合 6"/>
            <p:cNvGrpSpPr/>
            <p:nvPr/>
          </p:nvGrpSpPr>
          <p:grpSpPr>
            <a:xfrm>
              <a:off x="672915" y="2317746"/>
              <a:ext cx="3394930" cy="2004875"/>
              <a:chOff x="672915" y="2317746"/>
              <a:chExt cx="3394930" cy="2004875"/>
            </a:xfrm>
          </p:grpSpPr>
          <p:pic>
            <p:nvPicPr>
              <p:cNvPr id="2" name="图片 1"/>
              <p:cNvPicPr>
                <a:picLocks noChangeAspect="1"/>
              </p:cNvPicPr>
              <p:nvPr/>
            </p:nvPicPr>
            <p:blipFill rotWithShape="1">
              <a:blip r:embed="rId3"/>
              <a:srcRect r="10657" b="67715"/>
              <a:stretch/>
            </p:blipFill>
            <p:spPr>
              <a:xfrm>
                <a:off x="672915" y="2317746"/>
                <a:ext cx="3391085" cy="1837085"/>
              </a:xfrm>
              <a:prstGeom prst="rect">
                <a:avLst/>
              </a:prstGeom>
            </p:spPr>
          </p:pic>
          <p:pic>
            <p:nvPicPr>
              <p:cNvPr id="18" name="图片 17"/>
              <p:cNvPicPr>
                <a:picLocks noChangeAspect="1"/>
              </p:cNvPicPr>
              <p:nvPr/>
            </p:nvPicPr>
            <p:blipFill rotWithShape="1">
              <a:blip r:embed="rId3"/>
              <a:srcRect t="95485" r="10556"/>
              <a:stretch/>
            </p:blipFill>
            <p:spPr>
              <a:xfrm>
                <a:off x="672915" y="4065717"/>
                <a:ext cx="3394930" cy="256904"/>
              </a:xfrm>
              <a:prstGeom prst="rect">
                <a:avLst/>
              </a:prstGeom>
            </p:spPr>
          </p:pic>
        </p:grpSp>
      </p:grpSp>
      <p:sp>
        <p:nvSpPr>
          <p:cNvPr id="23" name="矩形 8"/>
          <p:cNvSpPr>
            <a:spLocks noChangeArrowheads="1"/>
          </p:cNvSpPr>
          <p:nvPr/>
        </p:nvSpPr>
        <p:spPr bwMode="auto">
          <a:xfrm>
            <a:off x="7688003" y="2258053"/>
            <a:ext cx="3514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marL="171450" indent="-171450">
              <a:buFont typeface="Arial" panose="020B0604020202020204" pitchFamily="34" charset="0"/>
              <a:buChar char="•"/>
            </a:pPr>
            <a:r>
              <a:rPr lang="zh-CN" altLang="en-US" sz="1200" dirty="0" smtClean="0">
                <a:latin typeface="Times New Roman" panose="02020603050405020304" pitchFamily="18" charset="0"/>
                <a:ea typeface="微软雅黑" panose="020B0503020204020204" pitchFamily="34" charset="-122"/>
              </a:rPr>
              <a:t>数据同化后</a:t>
            </a:r>
            <a:r>
              <a:rPr lang="en-US" altLang="zh-CN" sz="1200" dirty="0" smtClean="0">
                <a:latin typeface="Times New Roman" panose="02020603050405020304" pitchFamily="18" charset="0"/>
                <a:ea typeface="微软雅黑" panose="020B0503020204020204" pitchFamily="34" charset="-122"/>
              </a:rPr>
              <a:t>4</a:t>
            </a:r>
            <a:r>
              <a:rPr lang="zh-CN" altLang="en-US" sz="1200" dirty="0" smtClean="0">
                <a:latin typeface="Times New Roman" panose="02020603050405020304" pitchFamily="18" charset="0"/>
                <a:ea typeface="微软雅黑" panose="020B0503020204020204" pitchFamily="34" charset="-122"/>
              </a:rPr>
              <a:t>种</a:t>
            </a:r>
            <a:r>
              <a:rPr lang="en-US" altLang="zh-CN" sz="1200" dirty="0" smtClean="0">
                <a:latin typeface="Times New Roman" panose="02020603050405020304" pitchFamily="18" charset="0"/>
                <a:ea typeface="微软雅黑" panose="020B0503020204020204" pitchFamily="34" charset="-122"/>
              </a:rPr>
              <a:t>RANS</a:t>
            </a:r>
            <a:r>
              <a:rPr lang="zh-CN" altLang="en-US" sz="1200" dirty="0" smtClean="0">
                <a:latin typeface="Times New Roman" panose="02020603050405020304" pitchFamily="18" charset="0"/>
                <a:ea typeface="微软雅黑" panose="020B0503020204020204" pitchFamily="34" charset="-122"/>
              </a:rPr>
              <a:t>模型对射流模拟的效果明显改进，</a:t>
            </a:r>
            <a:r>
              <a:rPr lang="en-US" altLang="zh-CN" sz="1200" b="1" i="1" dirty="0" err="1" smtClean="0">
                <a:latin typeface="Times New Roman" panose="02020603050405020304" pitchFamily="18" charset="0"/>
                <a:ea typeface="微软雅黑" panose="020B0503020204020204" pitchFamily="34" charset="-122"/>
              </a:rPr>
              <a:t>k·ω</a:t>
            </a:r>
            <a:r>
              <a:rPr lang="zh-CN" altLang="en-US" sz="1200" dirty="0" smtClean="0">
                <a:latin typeface="Times New Roman" panose="02020603050405020304" pitchFamily="18" charset="0"/>
                <a:ea typeface="微软雅黑" panose="020B0503020204020204" pitchFamily="34" charset="-122"/>
              </a:rPr>
              <a:t>改进效果显著</a:t>
            </a:r>
            <a:endParaRPr lang="zh-CN" altLang="en-US" sz="1200" dirty="0">
              <a:latin typeface="Times New Roman" panose="02020603050405020304" pitchFamily="18" charset="0"/>
              <a:ea typeface="微软雅黑" panose="020B0503020204020204" pitchFamily="34" charset="-122"/>
            </a:endParaRPr>
          </a:p>
        </p:txBody>
      </p:sp>
      <p:pic>
        <p:nvPicPr>
          <p:cNvPr id="9" name="图片 8"/>
          <p:cNvPicPr>
            <a:picLocks noChangeAspect="1"/>
          </p:cNvPicPr>
          <p:nvPr/>
        </p:nvPicPr>
        <p:blipFill>
          <a:blip r:embed="rId4"/>
          <a:stretch>
            <a:fillRect/>
          </a:stretch>
        </p:blipFill>
        <p:spPr>
          <a:xfrm>
            <a:off x="4237203" y="4220290"/>
            <a:ext cx="3450800" cy="2028655"/>
          </a:xfrm>
          <a:prstGeom prst="rect">
            <a:avLst/>
          </a:prstGeom>
        </p:spPr>
      </p:pic>
      <p:sp>
        <p:nvSpPr>
          <p:cNvPr id="25" name="矩形 8"/>
          <p:cNvSpPr>
            <a:spLocks noChangeArrowheads="1"/>
          </p:cNvSpPr>
          <p:nvPr/>
        </p:nvSpPr>
        <p:spPr bwMode="auto">
          <a:xfrm>
            <a:off x="4933573" y="6274434"/>
            <a:ext cx="205805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r>
              <a:rPr lang="zh-CN" altLang="en-US" sz="1100" dirty="0" smtClean="0">
                <a:latin typeface="Times New Roman" panose="02020603050405020304" pitchFamily="18" charset="0"/>
                <a:ea typeface="微软雅黑" panose="020B0503020204020204" pitchFamily="34" charset="-122"/>
              </a:rPr>
              <a:t>模型初始参数与优化后参数</a:t>
            </a:r>
            <a:endParaRPr lang="zh-CN" altLang="en-US" sz="1100" dirty="0">
              <a:latin typeface="Times New Roman" panose="02020603050405020304" pitchFamily="18" charset="0"/>
              <a:ea typeface="微软雅黑" panose="020B0503020204020204" pitchFamily="34" charset="-122"/>
            </a:endParaRPr>
          </a:p>
        </p:txBody>
      </p:sp>
      <p:pic>
        <p:nvPicPr>
          <p:cNvPr id="10" name="图片 9"/>
          <p:cNvPicPr>
            <a:picLocks noChangeAspect="1"/>
          </p:cNvPicPr>
          <p:nvPr/>
        </p:nvPicPr>
        <p:blipFill>
          <a:blip r:embed="rId5"/>
          <a:stretch>
            <a:fillRect/>
          </a:stretch>
        </p:blipFill>
        <p:spPr>
          <a:xfrm>
            <a:off x="8211575" y="3492065"/>
            <a:ext cx="2991304" cy="2905480"/>
          </a:xfrm>
          <a:prstGeom prst="rect">
            <a:avLst/>
          </a:prstGeom>
        </p:spPr>
      </p:pic>
      <p:sp>
        <p:nvSpPr>
          <p:cNvPr id="27" name="矩形 8"/>
          <p:cNvSpPr>
            <a:spLocks noChangeArrowheads="1"/>
          </p:cNvSpPr>
          <p:nvPr/>
        </p:nvSpPr>
        <p:spPr bwMode="auto">
          <a:xfrm>
            <a:off x="1139932" y="6454613"/>
            <a:ext cx="181644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r>
              <a:rPr lang="zh-CN" altLang="en-US" sz="1100" dirty="0" smtClean="0">
                <a:latin typeface="Times New Roman" panose="02020603050405020304" pitchFamily="18" charset="0"/>
                <a:ea typeface="微软雅黑" panose="020B0503020204020204" pitchFamily="34" charset="-122"/>
              </a:rPr>
              <a:t>射流流向平均速度云图</a:t>
            </a:r>
            <a:endParaRPr lang="zh-CN" altLang="en-US" sz="1100" dirty="0">
              <a:latin typeface="Times New Roman" panose="02020603050405020304" pitchFamily="18" charset="0"/>
              <a:ea typeface="微软雅黑" panose="020B0503020204020204" pitchFamily="34" charset="-122"/>
            </a:endParaRPr>
          </a:p>
        </p:txBody>
      </p:sp>
      <p:sp>
        <p:nvSpPr>
          <p:cNvPr id="28" name="矩形 8"/>
          <p:cNvSpPr>
            <a:spLocks noChangeArrowheads="1"/>
          </p:cNvSpPr>
          <p:nvPr/>
        </p:nvSpPr>
        <p:spPr bwMode="auto">
          <a:xfrm>
            <a:off x="8643921" y="6405239"/>
            <a:ext cx="255895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zh-CN" altLang="en-US" sz="1050" dirty="0" smtClean="0">
                <a:latin typeface="Times New Roman" panose="02020603050405020304" pitchFamily="18" charset="0"/>
                <a:ea typeface="微软雅黑" panose="020B0503020204020204" pitchFamily="34" charset="-122"/>
              </a:rPr>
              <a:t>优化前后射流轴线处流向速度分布以及偏差</a:t>
            </a:r>
            <a:endParaRPr lang="zh-CN" altLang="en-US" sz="1050" dirty="0">
              <a:latin typeface="Times New Roman" panose="02020603050405020304" pitchFamily="18" charset="0"/>
              <a:ea typeface="微软雅黑" panose="020B0503020204020204" pitchFamily="34" charset="-122"/>
            </a:endParaRPr>
          </a:p>
        </p:txBody>
      </p:sp>
      <p:sp>
        <p:nvSpPr>
          <p:cNvPr id="31" name="矩形 8"/>
          <p:cNvSpPr>
            <a:spLocks noChangeArrowheads="1"/>
          </p:cNvSpPr>
          <p:nvPr/>
        </p:nvSpPr>
        <p:spPr bwMode="auto">
          <a:xfrm>
            <a:off x="7688003" y="2738492"/>
            <a:ext cx="25139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marL="171450" indent="-171450">
              <a:buFont typeface="Arial" panose="020B0604020202020204" pitchFamily="34" charset="0"/>
              <a:buChar char="•"/>
            </a:pPr>
            <a:r>
              <a:rPr lang="zh-CN" altLang="en-US" sz="1200" dirty="0" smtClean="0">
                <a:latin typeface="Times New Roman" panose="02020603050405020304" pitchFamily="18" charset="0"/>
                <a:ea typeface="微软雅黑" panose="020B0503020204020204" pitchFamily="34" charset="-122"/>
              </a:rPr>
              <a:t>优化后的</a:t>
            </a:r>
            <a:r>
              <a:rPr lang="en-US" altLang="zh-CN" sz="1200" b="1" i="1" dirty="0" smtClean="0">
                <a:latin typeface="Times New Roman" panose="02020603050405020304" pitchFamily="18" charset="0"/>
                <a:ea typeface="微软雅黑" panose="020B0503020204020204" pitchFamily="34" charset="-122"/>
              </a:rPr>
              <a:t>k-ε</a:t>
            </a:r>
            <a:r>
              <a:rPr lang="zh-CN" altLang="en-US" sz="1200" dirty="0" smtClean="0">
                <a:latin typeface="Times New Roman" panose="02020603050405020304" pitchFamily="18" charset="0"/>
                <a:ea typeface="微软雅黑" panose="020B0503020204020204" pitchFamily="34" charset="-122"/>
              </a:rPr>
              <a:t>模型预测误差最小</a:t>
            </a:r>
            <a:endParaRPr lang="zh-CN" altLang="en-US" sz="1200" dirty="0">
              <a:latin typeface="Times New Roman" panose="02020603050405020304" pitchFamily="18" charset="0"/>
              <a:ea typeface="微软雅黑" panose="020B0503020204020204" pitchFamily="34" charset="-122"/>
            </a:endParaRPr>
          </a:p>
        </p:txBody>
      </p:sp>
      <p:sp>
        <p:nvSpPr>
          <p:cNvPr id="32" name="矩形 8"/>
          <p:cNvSpPr>
            <a:spLocks noChangeArrowheads="1"/>
          </p:cNvSpPr>
          <p:nvPr/>
        </p:nvSpPr>
        <p:spPr bwMode="auto">
          <a:xfrm>
            <a:off x="7688002" y="3034265"/>
            <a:ext cx="286916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marL="171450" indent="-171450">
              <a:buFont typeface="Arial" panose="020B0604020202020204" pitchFamily="34" charset="0"/>
              <a:buChar char="•"/>
            </a:pPr>
            <a:r>
              <a:rPr lang="zh-CN" altLang="en-US" sz="1200" dirty="0">
                <a:latin typeface="Times New Roman" panose="02020603050405020304" pitchFamily="18" charset="0"/>
                <a:ea typeface="微软雅黑" panose="020B0503020204020204" pitchFamily="34" charset="-122"/>
              </a:rPr>
              <a:t>优化</a:t>
            </a:r>
            <a:r>
              <a:rPr lang="zh-CN" altLang="en-US" sz="1200" dirty="0" smtClean="0">
                <a:latin typeface="Times New Roman" panose="02020603050405020304" pitchFamily="18" charset="0"/>
                <a:ea typeface="微软雅黑" panose="020B0503020204020204" pitchFamily="34" charset="-122"/>
              </a:rPr>
              <a:t>参数的</a:t>
            </a:r>
            <a:r>
              <a:rPr lang="zh-CN" altLang="en-US" sz="1200" b="1" dirty="0" smtClean="0">
                <a:latin typeface="Times New Roman" panose="02020603050405020304" pitchFamily="18" charset="0"/>
                <a:ea typeface="微软雅黑" panose="020B0503020204020204" pitchFamily="34" charset="-122"/>
              </a:rPr>
              <a:t>鲁棒性</a:t>
            </a:r>
            <a:r>
              <a:rPr lang="zh-CN" altLang="en-US" sz="1200" dirty="0" smtClean="0">
                <a:latin typeface="Times New Roman" panose="02020603050405020304" pitchFamily="18" charset="0"/>
                <a:ea typeface="微软雅黑" panose="020B0503020204020204" pitchFamily="34" charset="-122"/>
              </a:rPr>
              <a:t>尚需深入研究</a:t>
            </a:r>
            <a:endParaRPr lang="zh-CN" altLang="en-US" sz="1200" dirty="0">
              <a:latin typeface="Times New Roman" panose="02020603050405020304" pitchFamily="18" charset="0"/>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16D8DD02-547D-47A5-AAEA-525C7BEEAE57}" type="slidenum">
              <a:rPr lang="zh-CN" altLang="en-US" smtClean="0"/>
              <a:t>67</a:t>
            </a:fld>
            <a:endParaRPr lang="zh-CN" altLang="en-US"/>
          </a:p>
        </p:txBody>
      </p:sp>
    </p:spTree>
    <p:extLst>
      <p:ext uri="{BB962C8B-B14F-4D97-AF65-F5344CB8AC3E}">
        <p14:creationId xmlns:p14="http://schemas.microsoft.com/office/powerpoint/2010/main" val="19555731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847" y="3777097"/>
            <a:ext cx="3317875"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00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8846" y="3288147"/>
            <a:ext cx="35496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00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75759" y="2130860"/>
            <a:ext cx="2665413"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00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9097" y="2708806"/>
            <a:ext cx="294957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8009" name="矩形 10"/>
          <p:cNvSpPr>
            <a:spLocks noChangeArrowheads="1"/>
          </p:cNvSpPr>
          <p:nvPr/>
        </p:nvSpPr>
        <p:spPr bwMode="auto">
          <a:xfrm>
            <a:off x="2002308" y="2214998"/>
            <a:ext cx="35067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a:solidFill>
                  <a:srgbClr val="000000"/>
                </a:solidFill>
                <a:latin typeface="黑体" panose="02010609060101010101" pitchFamily="49" charset="-122"/>
                <a:ea typeface="黑体" panose="02010609060101010101" pitchFamily="49" charset="-122"/>
              </a:rPr>
              <a:t>计算模型：</a:t>
            </a:r>
            <a:r>
              <a:rPr lang="en-US" altLang="zh-CN" sz="1400">
                <a:solidFill>
                  <a:srgbClr val="000000"/>
                </a:solidFill>
                <a:latin typeface="黑体" panose="02010609060101010101" pitchFamily="49" charset="-122"/>
                <a:ea typeface="黑体" panose="02010609060101010101" pitchFamily="49" charset="-122"/>
              </a:rPr>
              <a:t>Spalart–Allmaras</a:t>
            </a:r>
            <a:r>
              <a:rPr lang="zh-CN" altLang="en-US" sz="1400">
                <a:solidFill>
                  <a:srgbClr val="000000"/>
                </a:solidFill>
                <a:latin typeface="黑体" panose="02010609060101010101" pitchFamily="49" charset="-122"/>
                <a:ea typeface="黑体" panose="02010609060101010101" pitchFamily="49" charset="-122"/>
              </a:rPr>
              <a:t>湍流模型：</a:t>
            </a:r>
          </a:p>
        </p:txBody>
      </p:sp>
      <p:sp>
        <p:nvSpPr>
          <p:cNvPr id="128010" name="矩形 11"/>
          <p:cNvSpPr>
            <a:spLocks noChangeArrowheads="1"/>
          </p:cNvSpPr>
          <p:nvPr/>
        </p:nvSpPr>
        <p:spPr bwMode="auto">
          <a:xfrm>
            <a:off x="2002308" y="2651561"/>
            <a:ext cx="33607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400" dirty="0">
                <a:solidFill>
                  <a:srgbClr val="000000"/>
                </a:solidFill>
                <a:latin typeface="黑体" panose="02010609060101010101" pitchFamily="49" charset="-122"/>
                <a:ea typeface="黑体" panose="02010609060101010101" pitchFamily="49" charset="-122"/>
              </a:rPr>
              <a:t>ABDA</a:t>
            </a:r>
            <a:r>
              <a:rPr lang="zh-CN" altLang="en-US" sz="1400" dirty="0">
                <a:solidFill>
                  <a:srgbClr val="000000"/>
                </a:solidFill>
                <a:latin typeface="黑体" panose="02010609060101010101" pitchFamily="49" charset="-122"/>
                <a:ea typeface="黑体" panose="02010609060101010101" pitchFamily="49" charset="-122"/>
              </a:rPr>
              <a:t>模型的思想：构建空间分布函数</a:t>
            </a:r>
            <a:r>
              <a:rPr lang="el-GR" altLang="zh-CN" sz="1400"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β</a:t>
            </a:r>
            <a:r>
              <a:rPr lang="en-US" altLang="zh-CN" sz="1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x</a:t>
            </a:r>
            <a:r>
              <a:rPr lang="en-US" altLang="zh-CN" sz="1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dirty="0">
                <a:solidFill>
                  <a:srgbClr val="000000"/>
                </a:solidFill>
                <a:latin typeface="黑体" panose="02010609060101010101" pitchFamily="49" charset="-122"/>
                <a:ea typeface="黑体" panose="02010609060101010101" pitchFamily="49" charset="-122"/>
              </a:rPr>
              <a:t>，对产生项加权，修正计算</a:t>
            </a:r>
            <a:r>
              <a:rPr lang="zh-CN" altLang="en-US" sz="1400" dirty="0" smtClean="0">
                <a:solidFill>
                  <a:srgbClr val="000000"/>
                </a:solidFill>
                <a:latin typeface="黑体" panose="02010609060101010101" pitchFamily="49" charset="-122"/>
                <a:ea typeface="黑体" panose="02010609060101010101" pitchFamily="49" charset="-122"/>
              </a:rPr>
              <a:t>模型误差：</a:t>
            </a:r>
            <a:endParaRPr lang="zh-CN" altLang="en-US" sz="1400" dirty="0">
              <a:solidFill>
                <a:srgbClr val="000000"/>
              </a:solidFill>
              <a:latin typeface="黑体" panose="02010609060101010101" pitchFamily="49" charset="-122"/>
              <a:ea typeface="黑体" panose="02010609060101010101" pitchFamily="49" charset="-122"/>
            </a:endParaRPr>
          </a:p>
        </p:txBody>
      </p:sp>
      <p:sp>
        <p:nvSpPr>
          <p:cNvPr id="128011" name="矩形 12"/>
          <p:cNvSpPr>
            <a:spLocks noChangeArrowheads="1"/>
          </p:cNvSpPr>
          <p:nvPr/>
        </p:nvSpPr>
        <p:spPr bwMode="auto">
          <a:xfrm>
            <a:off x="869662" y="3429436"/>
            <a:ext cx="20343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1400" dirty="0" smtClean="0">
                <a:solidFill>
                  <a:srgbClr val="000000"/>
                </a:solidFill>
                <a:latin typeface="黑体" panose="02010609060101010101" pitchFamily="49" charset="-122"/>
                <a:ea typeface="黑体" panose="02010609060101010101" pitchFamily="49" charset="-122"/>
              </a:rPr>
              <a:t>目标函数</a:t>
            </a:r>
            <a:r>
              <a:rPr lang="en-US" altLang="zh-CN" sz="1400" dirty="0" smtClean="0">
                <a:solidFill>
                  <a:srgbClr val="000000"/>
                </a:solidFill>
                <a:latin typeface="黑体" panose="02010609060101010101" pitchFamily="49" charset="-122"/>
                <a:ea typeface="黑体" panose="02010609060101010101" pitchFamily="49" charset="-122"/>
              </a:rPr>
              <a:t>(</a:t>
            </a:r>
            <a:r>
              <a:rPr lang="zh-CN" altLang="en-US" sz="1400" dirty="0" smtClean="0">
                <a:solidFill>
                  <a:srgbClr val="000000"/>
                </a:solidFill>
                <a:latin typeface="黑体" panose="02010609060101010101" pitchFamily="49" charset="-122"/>
                <a:ea typeface="黑体" panose="02010609060101010101" pitchFamily="49" charset="-122"/>
              </a:rPr>
              <a:t>模型结果与实验结果偏差</a:t>
            </a:r>
            <a:r>
              <a:rPr lang="en-US" altLang="zh-CN" sz="1400" dirty="0" smtClean="0">
                <a:solidFill>
                  <a:srgbClr val="000000"/>
                </a:solidFill>
                <a:latin typeface="黑体" panose="02010609060101010101" pitchFamily="49" charset="-122"/>
                <a:ea typeface="黑体" panose="02010609060101010101" pitchFamily="49" charset="-122"/>
              </a:rPr>
              <a:t>)</a:t>
            </a:r>
            <a:r>
              <a:rPr lang="zh-CN" altLang="en-US" sz="1400" dirty="0" smtClean="0">
                <a:solidFill>
                  <a:srgbClr val="000000"/>
                </a:solidFill>
                <a:latin typeface="黑体" panose="02010609060101010101" pitchFamily="49" charset="-122"/>
                <a:ea typeface="黑体" panose="02010609060101010101" pitchFamily="49" charset="-122"/>
              </a:rPr>
              <a:t>：</a:t>
            </a:r>
            <a:endParaRPr lang="zh-CN" altLang="en-US" sz="1400" dirty="0">
              <a:solidFill>
                <a:srgbClr val="000000"/>
              </a:solidFill>
              <a:latin typeface="黑体" panose="02010609060101010101" pitchFamily="49" charset="-122"/>
              <a:ea typeface="黑体" panose="02010609060101010101" pitchFamily="49" charset="-122"/>
            </a:endParaRPr>
          </a:p>
        </p:txBody>
      </p:sp>
      <p:sp>
        <p:nvSpPr>
          <p:cNvPr id="128012" name="矩形 13"/>
          <p:cNvSpPr>
            <a:spLocks noChangeArrowheads="1"/>
          </p:cNvSpPr>
          <p:nvPr/>
        </p:nvSpPr>
        <p:spPr bwMode="auto">
          <a:xfrm>
            <a:off x="8479309" y="3378733"/>
            <a:ext cx="31230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a:solidFill>
                  <a:srgbClr val="000000"/>
                </a:solidFill>
                <a:latin typeface="黑体" panose="02010609060101010101" pitchFamily="49" charset="-122"/>
                <a:ea typeface="黑体" panose="02010609060101010101" pitchFamily="49" charset="-122"/>
              </a:rPr>
              <a:t>以实验获得的平均速度作为观察数据</a:t>
            </a:r>
          </a:p>
        </p:txBody>
      </p:sp>
      <p:sp>
        <p:nvSpPr>
          <p:cNvPr id="128013" name="矩形 14"/>
          <p:cNvSpPr>
            <a:spLocks noChangeArrowheads="1"/>
          </p:cNvSpPr>
          <p:nvPr/>
        </p:nvSpPr>
        <p:spPr bwMode="auto">
          <a:xfrm>
            <a:off x="8479309" y="3845361"/>
            <a:ext cx="29567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a:solidFill>
                  <a:srgbClr val="000000"/>
                </a:solidFill>
                <a:latin typeface="黑体" panose="02010609060101010101" pitchFamily="49" charset="-122"/>
                <a:ea typeface="黑体" panose="02010609060101010101" pitchFamily="49" charset="-122"/>
              </a:rPr>
              <a:t>以实验获得的压力作为观察数据</a:t>
            </a:r>
          </a:p>
        </p:txBody>
      </p:sp>
      <p:sp>
        <p:nvSpPr>
          <p:cNvPr id="128014" name="矩形 15"/>
          <p:cNvSpPr>
            <a:spLocks noChangeArrowheads="1"/>
          </p:cNvSpPr>
          <p:nvPr/>
        </p:nvSpPr>
        <p:spPr bwMode="auto">
          <a:xfrm>
            <a:off x="720542" y="4438291"/>
            <a:ext cx="4642504"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smtClean="0">
                <a:solidFill>
                  <a:srgbClr val="000000"/>
                </a:solidFill>
                <a:latin typeface="黑体" panose="02010609060101010101" pitchFamily="49" charset="-122"/>
                <a:ea typeface="黑体" panose="02010609060101010101" pitchFamily="49" charset="-122"/>
              </a:rPr>
              <a:t>驼峰流动 </a:t>
            </a:r>
            <a:r>
              <a:rPr lang="en-US" altLang="zh-CN" sz="14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(hump flow): </a:t>
            </a:r>
            <a:r>
              <a:rPr lang="zh-CN" altLang="en-US" sz="12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对剪切层的雷诺应力利用一般</a:t>
            </a:r>
            <a:r>
              <a:rPr lang="en-US" altLang="zh-CN" sz="12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RANS</a:t>
            </a:r>
            <a:r>
              <a:rPr lang="zh-CN" altLang="en-US" sz="1200"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模型会</a:t>
            </a:r>
            <a:r>
              <a:rPr lang="zh-CN" altLang="en-US" sz="1200" b="1" dirty="0" smtClean="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低估</a:t>
            </a:r>
            <a:endParaRPr lang="zh-CN" altLang="en-US" sz="12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128015" name="直接连接符 16"/>
          <p:cNvCxnSpPr>
            <a:cxnSpLocks noChangeShapeType="1"/>
          </p:cNvCxnSpPr>
          <p:nvPr/>
        </p:nvCxnSpPr>
        <p:spPr bwMode="auto">
          <a:xfrm>
            <a:off x="720541" y="4324785"/>
            <a:ext cx="11103448" cy="0"/>
          </a:xfrm>
          <a:prstGeom prst="line">
            <a:avLst/>
          </a:prstGeom>
          <a:noFill/>
          <a:ln w="22225" algn="ctr">
            <a:solidFill>
              <a:srgbClr val="000000"/>
            </a:solidFill>
            <a:prstDash val="dash"/>
            <a:miter lim="800000"/>
            <a:headEnd/>
            <a:tailEnd/>
          </a:ln>
          <a:extLst>
            <a:ext uri="{909E8E84-426E-40DD-AFC4-6F175D3DCCD1}">
              <a14:hiddenFill xmlns:a14="http://schemas.microsoft.com/office/drawing/2010/main">
                <a:noFill/>
              </a14:hiddenFill>
            </a:ext>
          </a:extLst>
        </p:spPr>
      </p:cxnSp>
      <p:sp>
        <p:nvSpPr>
          <p:cNvPr id="128016" name="矩形 17"/>
          <p:cNvSpPr>
            <a:spLocks noChangeArrowheads="1"/>
          </p:cNvSpPr>
          <p:nvPr/>
        </p:nvSpPr>
        <p:spPr bwMode="auto">
          <a:xfrm>
            <a:off x="6028208" y="1992748"/>
            <a:ext cx="76993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a:solidFill>
                  <a:srgbClr val="000000"/>
                </a:solidFill>
                <a:latin typeface="黑体" panose="02010609060101010101" pitchFamily="49" charset="-122"/>
                <a:ea typeface="黑体" panose="02010609060101010101" pitchFamily="49" charset="-122"/>
              </a:rPr>
              <a:t>产生项</a:t>
            </a:r>
          </a:p>
        </p:txBody>
      </p:sp>
      <p:sp>
        <p:nvSpPr>
          <p:cNvPr id="128017" name="矩形 18"/>
          <p:cNvSpPr>
            <a:spLocks noChangeArrowheads="1"/>
          </p:cNvSpPr>
          <p:nvPr/>
        </p:nvSpPr>
        <p:spPr bwMode="auto">
          <a:xfrm>
            <a:off x="6733058" y="1992748"/>
            <a:ext cx="769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a:solidFill>
                  <a:srgbClr val="000000"/>
                </a:solidFill>
                <a:latin typeface="黑体" panose="02010609060101010101" pitchFamily="49" charset="-122"/>
                <a:ea typeface="黑体" panose="02010609060101010101" pitchFamily="49" charset="-122"/>
              </a:rPr>
              <a:t>耗散</a:t>
            </a:r>
            <a:r>
              <a:rPr lang="zh-CN" altLang="en-US" sz="1200" dirty="0" smtClean="0">
                <a:solidFill>
                  <a:srgbClr val="000000"/>
                </a:solidFill>
                <a:latin typeface="黑体" panose="02010609060101010101" pitchFamily="49" charset="-122"/>
                <a:ea typeface="黑体" panose="02010609060101010101" pitchFamily="49" charset="-122"/>
              </a:rPr>
              <a:t>项</a:t>
            </a:r>
            <a:endParaRPr lang="zh-CN" altLang="en-US" sz="1200" dirty="0">
              <a:solidFill>
                <a:srgbClr val="000000"/>
              </a:solidFill>
              <a:latin typeface="黑体" panose="02010609060101010101" pitchFamily="49" charset="-122"/>
              <a:ea typeface="黑体" panose="02010609060101010101" pitchFamily="49" charset="-122"/>
            </a:endParaRPr>
          </a:p>
        </p:txBody>
      </p:sp>
      <p:sp>
        <p:nvSpPr>
          <p:cNvPr id="128018" name="矩形 19"/>
          <p:cNvSpPr>
            <a:spLocks noChangeArrowheads="1"/>
          </p:cNvSpPr>
          <p:nvPr/>
        </p:nvSpPr>
        <p:spPr bwMode="auto">
          <a:xfrm>
            <a:off x="7333133" y="1992748"/>
            <a:ext cx="76358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a:solidFill>
                  <a:srgbClr val="000000"/>
                </a:solidFill>
                <a:latin typeface="黑体" panose="02010609060101010101" pitchFamily="49" charset="-122"/>
                <a:ea typeface="黑体" panose="02010609060101010101" pitchFamily="49" charset="-122"/>
              </a:rPr>
              <a:t>扩散项</a:t>
            </a:r>
          </a:p>
        </p:txBody>
      </p:sp>
      <p:grpSp>
        <p:nvGrpSpPr>
          <p:cNvPr id="128019" name="组合 20"/>
          <p:cNvGrpSpPr>
            <a:grpSpLocks/>
          </p:cNvGrpSpPr>
          <p:nvPr/>
        </p:nvGrpSpPr>
        <p:grpSpPr bwMode="auto">
          <a:xfrm>
            <a:off x="5650142" y="4410076"/>
            <a:ext cx="3596902" cy="2428876"/>
            <a:chOff x="4667525" y="4049234"/>
            <a:chExt cx="4040421" cy="2728112"/>
          </a:xfrm>
        </p:grpSpPr>
        <p:pic>
          <p:nvPicPr>
            <p:cNvPr id="128024" name="Picture 8"/>
            <p:cNvPicPr>
              <a:picLocks noChangeAspect="1" noChangeArrowheads="1"/>
            </p:cNvPicPr>
            <p:nvPr/>
          </p:nvPicPr>
          <p:blipFill rotWithShape="1">
            <a:blip r:embed="rId7">
              <a:extLst>
                <a:ext uri="{28A0092B-C50C-407E-A947-70E740481C1C}">
                  <a14:useLocalDpi xmlns:a14="http://schemas.microsoft.com/office/drawing/2010/main" val="0"/>
                </a:ext>
              </a:extLst>
            </a:blip>
            <a:srcRect t="1084" b="2840"/>
            <a:stretch/>
          </p:blipFill>
          <p:spPr bwMode="auto">
            <a:xfrm>
              <a:off x="4963530" y="4049234"/>
              <a:ext cx="3744416" cy="272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矩形 22"/>
            <p:cNvSpPr/>
            <p:nvPr/>
          </p:nvSpPr>
          <p:spPr>
            <a:xfrm>
              <a:off x="4667525" y="4480864"/>
              <a:ext cx="736764" cy="518542"/>
            </a:xfrm>
            <a:prstGeom prst="rect">
              <a:avLst/>
            </a:prstGeom>
          </p:spPr>
          <p:txBody>
            <a:bodyPr wrap="square">
              <a:spAutoFit/>
            </a:bodyPr>
            <a:lstStyle/>
            <a:p>
              <a:pPr>
                <a:defRPr/>
              </a:pPr>
              <a:r>
                <a:rPr lang="zh-CN" altLang="en-US" sz="1200" kern="0" dirty="0">
                  <a:solidFill>
                    <a:prstClr val="black"/>
                  </a:solidFill>
                  <a:latin typeface="黑体" pitchFamily="49" charset="-122"/>
                  <a:ea typeface="黑体" pitchFamily="49" charset="-122"/>
                </a:rPr>
                <a:t>壁面压力系数</a:t>
              </a:r>
            </a:p>
          </p:txBody>
        </p:sp>
        <p:sp>
          <p:nvSpPr>
            <p:cNvPr id="24" name="矩形 23"/>
            <p:cNvSpPr/>
            <p:nvPr/>
          </p:nvSpPr>
          <p:spPr>
            <a:xfrm>
              <a:off x="7271363" y="5789793"/>
              <a:ext cx="1260383" cy="269830"/>
            </a:xfrm>
            <a:prstGeom prst="rect">
              <a:avLst/>
            </a:prstGeom>
            <a:noFill/>
            <a:ln w="25400" cap="flat" cmpd="sng" algn="ctr">
              <a:solidFill>
                <a:srgbClr val="C00000"/>
              </a:solidFill>
              <a:prstDash val="solid"/>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sp>
          <p:nvSpPr>
            <p:cNvPr id="25" name="矩形 24"/>
            <p:cNvSpPr/>
            <p:nvPr/>
          </p:nvSpPr>
          <p:spPr>
            <a:xfrm>
              <a:off x="7268189" y="6077082"/>
              <a:ext cx="1260383" cy="269830"/>
            </a:xfrm>
            <a:prstGeom prst="rect">
              <a:avLst/>
            </a:prstGeom>
            <a:noFill/>
            <a:ln w="25400" cap="flat" cmpd="sng" algn="ctr">
              <a:solidFill>
                <a:sysClr val="windowText" lastClr="000000"/>
              </a:solidFill>
              <a:prstDash val="solid"/>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grpSp>
      <p:sp>
        <p:nvSpPr>
          <p:cNvPr id="128020" name="矩形 25"/>
          <p:cNvSpPr>
            <a:spLocks noChangeArrowheads="1"/>
          </p:cNvSpPr>
          <p:nvPr/>
        </p:nvSpPr>
        <p:spPr bwMode="auto">
          <a:xfrm>
            <a:off x="9135819" y="5937388"/>
            <a:ext cx="162158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100" dirty="0">
                <a:solidFill>
                  <a:srgbClr val="C00000"/>
                </a:solidFill>
                <a:latin typeface="黑体" panose="02010609060101010101" pitchFamily="49" charset="-122"/>
                <a:ea typeface="黑体" panose="02010609060101010101" pitchFamily="49" charset="-122"/>
              </a:rPr>
              <a:t>以速度作为观察数据</a:t>
            </a:r>
          </a:p>
        </p:txBody>
      </p:sp>
      <p:sp>
        <p:nvSpPr>
          <p:cNvPr id="128021" name="矩形 26"/>
          <p:cNvSpPr>
            <a:spLocks noChangeArrowheads="1"/>
          </p:cNvSpPr>
          <p:nvPr/>
        </p:nvSpPr>
        <p:spPr bwMode="auto">
          <a:xfrm>
            <a:off x="9135819" y="6214332"/>
            <a:ext cx="184326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100" dirty="0">
                <a:solidFill>
                  <a:srgbClr val="0D0D0D"/>
                </a:solidFill>
                <a:latin typeface="黑体" panose="02010609060101010101" pitchFamily="49" charset="-122"/>
                <a:ea typeface="黑体" panose="02010609060101010101" pitchFamily="49" charset="-122"/>
              </a:rPr>
              <a:t>以表面压力作为观察数据</a:t>
            </a:r>
          </a:p>
        </p:txBody>
      </p:sp>
      <p:pic>
        <p:nvPicPr>
          <p:cNvPr id="128022"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26222" y="3372286"/>
            <a:ext cx="1584325" cy="43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8023" name="矩形 28"/>
          <p:cNvSpPr>
            <a:spLocks noChangeArrowheads="1"/>
          </p:cNvSpPr>
          <p:nvPr/>
        </p:nvSpPr>
        <p:spPr bwMode="auto">
          <a:xfrm>
            <a:off x="2826221" y="3777098"/>
            <a:ext cx="177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a:solidFill>
                  <a:srgbClr val="000000"/>
                </a:solidFill>
                <a:latin typeface="黑体" panose="02010609060101010101" pitchFamily="49" charset="-122"/>
                <a:ea typeface="黑体" panose="02010609060101010101" pitchFamily="49" charset="-122"/>
              </a:rPr>
              <a:t>以</a:t>
            </a:r>
            <a:r>
              <a:rPr lang="el-GR" altLang="zh-CN" sz="1400">
                <a:solidFill>
                  <a:srgbClr val="000000"/>
                </a:solidFill>
                <a:latin typeface="黑体" panose="02010609060101010101" pitchFamily="49" charset="-122"/>
                <a:ea typeface="黑体" panose="02010609060101010101" pitchFamily="49" charset="-122"/>
              </a:rPr>
              <a:t>β</a:t>
            </a:r>
            <a:r>
              <a:rPr lang="zh-CN" altLang="en-US" sz="1400">
                <a:solidFill>
                  <a:srgbClr val="000000"/>
                </a:solidFill>
                <a:latin typeface="黑体" panose="02010609060101010101" pitchFamily="49" charset="-122"/>
                <a:ea typeface="黑体" panose="02010609060101010101" pitchFamily="49" charset="-122"/>
              </a:rPr>
              <a:t>作为变量</a:t>
            </a:r>
          </a:p>
        </p:txBody>
      </p:sp>
      <p:sp>
        <p:nvSpPr>
          <p:cNvPr id="28" name="文本框 27"/>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2" name="矩形 1"/>
          <p:cNvSpPr/>
          <p:nvPr/>
        </p:nvSpPr>
        <p:spPr>
          <a:xfrm>
            <a:off x="5602517" y="1515205"/>
            <a:ext cx="21323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smtClean="0">
                <a:solidFill>
                  <a:srgbClr val="FF0000"/>
                </a:solidFill>
                <a:latin typeface="Times New Roman" panose="02020603050405020304" pitchFamily="18" charset="0"/>
                <a:ea typeface="微软雅黑" panose="020B0503020204020204" pitchFamily="34" charset="-122"/>
              </a:rPr>
              <a:t>He et al. </a:t>
            </a:r>
            <a:r>
              <a:rPr lang="en-US" altLang="zh-CN" sz="1400" b="1" dirty="0">
                <a:solidFill>
                  <a:srgbClr val="FF0000"/>
                </a:solidFill>
                <a:latin typeface="Times New Roman" panose="02020603050405020304" pitchFamily="18" charset="0"/>
                <a:ea typeface="微软雅黑" panose="020B0503020204020204" pitchFamily="34" charset="-122"/>
              </a:rPr>
              <a:t>(</a:t>
            </a:r>
            <a:r>
              <a:rPr lang="en-US" altLang="zh-CN" sz="1400" b="1" dirty="0" smtClean="0">
                <a:solidFill>
                  <a:srgbClr val="FF0000"/>
                </a:solidFill>
                <a:latin typeface="Times New Roman" panose="02020603050405020304" pitchFamily="18" charset="0"/>
                <a:ea typeface="微软雅黑" panose="020B0503020204020204" pitchFamily="34" charset="-122"/>
              </a:rPr>
              <a:t>2018), POF</a:t>
            </a:r>
            <a:endParaRPr lang="zh-CN" altLang="en-US" sz="1400" b="1" dirty="0">
              <a:solidFill>
                <a:srgbClr val="FF0000"/>
              </a:solidFill>
              <a:latin typeface="Times New Roman" panose="02020603050405020304" pitchFamily="18" charset="0"/>
              <a:ea typeface="微软雅黑" panose="020B0503020204020204" pitchFamily="34" charset="-122"/>
            </a:endParaRPr>
          </a:p>
        </p:txBody>
      </p:sp>
      <p:sp>
        <p:nvSpPr>
          <p:cNvPr id="30" name="内容占位符 2"/>
          <p:cNvSpPr txBox="1">
            <a:spLocks/>
          </p:cNvSpPr>
          <p:nvPr/>
        </p:nvSpPr>
        <p:spPr bwMode="auto">
          <a:xfrm>
            <a:off x="672916" y="1438217"/>
            <a:ext cx="5801775"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smtClean="0"/>
              <a:t>基于伴随模型</a:t>
            </a:r>
            <a:r>
              <a:rPr lang="en-US" altLang="zh-CN" dirty="0" smtClean="0"/>
              <a:t>(</a:t>
            </a:r>
            <a:r>
              <a:rPr lang="en-US" altLang="zh-CN" dirty="0" err="1" smtClean="0"/>
              <a:t>Adjoint</a:t>
            </a:r>
            <a:r>
              <a:rPr lang="en-US" altLang="zh-CN" dirty="0" smtClean="0"/>
              <a:t>-based)</a:t>
            </a:r>
            <a:r>
              <a:rPr lang="zh-CN" altLang="en-US" dirty="0" smtClean="0"/>
              <a:t>数据同化示例</a:t>
            </a:r>
            <a:endParaRPr lang="zh-CN" altLang="en-US" dirty="0"/>
          </a:p>
        </p:txBody>
      </p:sp>
      <p:pic>
        <p:nvPicPr>
          <p:cNvPr id="3" name="图片 2"/>
          <p:cNvPicPr>
            <a:picLocks noChangeAspect="1"/>
          </p:cNvPicPr>
          <p:nvPr/>
        </p:nvPicPr>
        <p:blipFill rotWithShape="1">
          <a:blip r:embed="rId9"/>
          <a:srcRect l="9923" t="12969"/>
          <a:stretch/>
        </p:blipFill>
        <p:spPr>
          <a:xfrm>
            <a:off x="720541" y="4924926"/>
            <a:ext cx="4267200" cy="1212786"/>
          </a:xfrm>
          <a:prstGeom prst="rect">
            <a:avLst/>
          </a:prstGeom>
        </p:spPr>
      </p:pic>
      <p:sp>
        <p:nvSpPr>
          <p:cNvPr id="4" name="灯片编号占位符 3"/>
          <p:cNvSpPr>
            <a:spLocks noGrp="1"/>
          </p:cNvSpPr>
          <p:nvPr>
            <p:ph type="sldNum" sz="quarter" idx="12"/>
          </p:nvPr>
        </p:nvSpPr>
        <p:spPr/>
        <p:txBody>
          <a:bodyPr/>
          <a:lstStyle/>
          <a:p>
            <a:fld id="{16D8DD02-547D-47A5-AAEA-525C7BEEAE57}" type="slidenum">
              <a:rPr lang="zh-CN" altLang="en-US" smtClean="0"/>
              <a:t>68</a:t>
            </a:fld>
            <a:endParaRPr lang="zh-CN" altLang="en-US"/>
          </a:p>
        </p:txBody>
      </p:sp>
    </p:spTree>
    <p:extLst>
      <p:ext uri="{BB962C8B-B14F-4D97-AF65-F5344CB8AC3E}">
        <p14:creationId xmlns:p14="http://schemas.microsoft.com/office/powerpoint/2010/main" val="3121785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6786" y="6060012"/>
            <a:ext cx="1366838"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0056" name="矩形 9"/>
          <p:cNvSpPr>
            <a:spLocks noChangeArrowheads="1"/>
          </p:cNvSpPr>
          <p:nvPr/>
        </p:nvSpPr>
        <p:spPr bwMode="auto">
          <a:xfrm>
            <a:off x="685249" y="1997295"/>
            <a:ext cx="21595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a:solidFill>
                  <a:srgbClr val="000000"/>
                </a:solidFill>
                <a:latin typeface="黑体" panose="02010609060101010101" pitchFamily="49" charset="-122"/>
                <a:ea typeface="黑体" panose="02010609060101010101" pitchFamily="49" charset="-122"/>
              </a:rPr>
              <a:t>计算模型：</a:t>
            </a:r>
            <a:r>
              <a:rPr lang="en-US" altLang="zh-CN" sz="1400" dirty="0" smtClean="0">
                <a:solidFill>
                  <a:srgbClr val="000000"/>
                </a:solidFill>
                <a:latin typeface="黑体" panose="02010609060101010101" pitchFamily="49" charset="-122"/>
                <a:ea typeface="黑体" panose="02010609060101010101" pitchFamily="49" charset="-122"/>
              </a:rPr>
              <a:t>k-</a:t>
            </a:r>
            <a:r>
              <a:rPr lang="en-US" altLang="zh-CN" sz="1400" dirty="0">
                <a:solidFill>
                  <a:srgbClr val="000000"/>
                </a:solidFill>
                <a:latin typeface="黑体" panose="02010609060101010101" pitchFamily="49" charset="-122"/>
                <a:ea typeface="黑体" panose="02010609060101010101" pitchFamily="49" charset="-122"/>
              </a:rPr>
              <a:t>ω</a:t>
            </a:r>
            <a:r>
              <a:rPr lang="zh-CN" altLang="en-US" sz="1400" dirty="0" smtClean="0">
                <a:solidFill>
                  <a:srgbClr val="000000"/>
                </a:solidFill>
                <a:latin typeface="黑体" panose="02010609060101010101" pitchFamily="49" charset="-122"/>
                <a:ea typeface="黑体" panose="02010609060101010101" pitchFamily="49" charset="-122"/>
              </a:rPr>
              <a:t>湍流</a:t>
            </a:r>
            <a:r>
              <a:rPr lang="zh-CN" altLang="en-US" sz="1400" dirty="0">
                <a:solidFill>
                  <a:srgbClr val="000000"/>
                </a:solidFill>
                <a:latin typeface="黑体" panose="02010609060101010101" pitchFamily="49" charset="-122"/>
                <a:ea typeface="黑体" panose="02010609060101010101" pitchFamily="49" charset="-122"/>
              </a:rPr>
              <a:t>模型</a:t>
            </a:r>
          </a:p>
        </p:txBody>
      </p:sp>
      <p:grpSp>
        <p:nvGrpSpPr>
          <p:cNvPr id="7" name="组合 6"/>
          <p:cNvGrpSpPr/>
          <p:nvPr/>
        </p:nvGrpSpPr>
        <p:grpSpPr>
          <a:xfrm>
            <a:off x="2365123" y="4593215"/>
            <a:ext cx="5044135" cy="1444625"/>
            <a:chOff x="3625996" y="2485791"/>
            <a:chExt cx="5044135" cy="1444625"/>
          </a:xfrm>
        </p:grpSpPr>
        <p:pic>
          <p:nvPicPr>
            <p:cNvPr id="13005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8469" y="2485791"/>
              <a:ext cx="3141662" cy="144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0058" name="矩形 11"/>
            <p:cNvSpPr>
              <a:spLocks noChangeArrowheads="1"/>
            </p:cNvSpPr>
            <p:nvPr/>
          </p:nvSpPr>
          <p:spPr bwMode="auto">
            <a:xfrm>
              <a:off x="3625996" y="2855674"/>
              <a:ext cx="191192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a:solidFill>
                    <a:srgbClr val="000000"/>
                  </a:solidFill>
                  <a:latin typeface="黑体" panose="02010609060101010101" pitchFamily="49" charset="-122"/>
                  <a:ea typeface="黑体" panose="02010609060101010101" pitchFamily="49" charset="-122"/>
                </a:rPr>
                <a:t>计算方法：对</a:t>
              </a:r>
              <a:r>
                <a:rPr lang="el-GR" altLang="zh-CN" sz="1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θ</a:t>
              </a:r>
              <a:r>
                <a:rPr lang="zh-CN" altLang="en-US" sz="1400" dirty="0">
                  <a:solidFill>
                    <a:srgbClr val="000000"/>
                  </a:solidFill>
                  <a:latin typeface="黑体" panose="02010609060101010101" pitchFamily="49" charset="-122"/>
                  <a:ea typeface="黑体" panose="02010609060101010101" pitchFamily="49" charset="-122"/>
                </a:rPr>
                <a:t>作小</a:t>
              </a:r>
              <a:r>
                <a:rPr lang="zh-CN" altLang="en-US" sz="1400" dirty="0" smtClean="0">
                  <a:solidFill>
                    <a:srgbClr val="000000"/>
                  </a:solidFill>
                  <a:latin typeface="黑体" panose="02010609060101010101" pitchFamily="49" charset="-122"/>
                  <a:ea typeface="黑体" panose="02010609060101010101" pitchFamily="49" charset="-122"/>
                </a:rPr>
                <a:t>扰动</a:t>
              </a:r>
              <a:r>
                <a:rPr lang="en-US" altLang="zh-CN" sz="1400" dirty="0" smtClean="0">
                  <a:solidFill>
                    <a:srgbClr val="000000"/>
                  </a:solidFill>
                  <a:latin typeface="黑体" panose="02010609060101010101" pitchFamily="49" charset="-122"/>
                  <a:ea typeface="黑体" panose="02010609060101010101" pitchFamily="49" charset="-122"/>
                </a:rPr>
                <a:t>ε</a:t>
              </a:r>
              <a:r>
                <a:rPr lang="zh-CN" altLang="en-US" sz="1400" dirty="0" smtClean="0">
                  <a:solidFill>
                    <a:srgbClr val="000000"/>
                  </a:solidFill>
                  <a:latin typeface="黑体" panose="02010609060101010101" pitchFamily="49" charset="-122"/>
                  <a:ea typeface="黑体" panose="02010609060101010101" pitchFamily="49" charset="-122"/>
                </a:rPr>
                <a:t>，计算</a:t>
              </a:r>
              <a:r>
                <a:rPr lang="el-GR" altLang="zh-CN" sz="1400" dirty="0" smtClean="0">
                  <a:solidFill>
                    <a:srgbClr val="000000"/>
                  </a:solidFill>
                  <a:latin typeface="Times New Roman" panose="02020603050405020304" pitchFamily="18" charset="0"/>
                  <a:ea typeface="黑体" panose="02010609060101010101" pitchFamily="49" charset="-122"/>
                </a:rPr>
                <a:t>Γ</a:t>
              </a:r>
              <a:r>
                <a:rPr lang="en-US" altLang="zh-CN" sz="1400" dirty="0">
                  <a:solidFill>
                    <a:srgbClr val="000000"/>
                  </a:solidFill>
                  <a:latin typeface="Times New Roman" panose="02020603050405020304" pitchFamily="18" charset="0"/>
                  <a:ea typeface="黑体" panose="02010609060101010101" pitchFamily="49" charset="-122"/>
                </a:rPr>
                <a:t>(</a:t>
              </a:r>
              <a:r>
                <a:rPr lang="el-GR" altLang="zh-CN" sz="1400" dirty="0">
                  <a:solidFill>
                    <a:srgbClr val="000000"/>
                  </a:solidFill>
                  <a:latin typeface="Times New Roman" panose="02020603050405020304" pitchFamily="18" charset="0"/>
                  <a:ea typeface="黑体" panose="02010609060101010101" pitchFamily="49" charset="-122"/>
                </a:rPr>
                <a:t>θ</a:t>
              </a:r>
              <a:r>
                <a:rPr lang="en-US" altLang="zh-CN" sz="1400" dirty="0" smtClean="0">
                  <a:solidFill>
                    <a:srgbClr val="000000"/>
                  </a:solidFill>
                  <a:latin typeface="Times New Roman" panose="02020603050405020304" pitchFamily="18" charset="0"/>
                  <a:ea typeface="黑体" panose="02010609060101010101" pitchFamily="49" charset="-122"/>
                </a:rPr>
                <a:t>)</a:t>
              </a:r>
              <a:r>
                <a:rPr lang="zh-CN" altLang="en-US" sz="1400" dirty="0" smtClean="0">
                  <a:solidFill>
                    <a:srgbClr val="000000"/>
                  </a:solidFill>
                  <a:latin typeface="Times New Roman" panose="02020603050405020304" pitchFamily="18" charset="0"/>
                  <a:ea typeface="黑体" panose="02010609060101010101" pitchFamily="49" charset="-122"/>
                </a:rPr>
                <a:t>近似梯度</a:t>
              </a:r>
              <a:r>
                <a:rPr lang="el-GR" altLang="zh-CN" sz="1400" dirty="0" smtClean="0">
                  <a:solidFill>
                    <a:srgbClr val="000000"/>
                  </a:solidFill>
                  <a:latin typeface="黑体" panose="02010609060101010101" pitchFamily="49" charset="-122"/>
                  <a:ea typeface="黑体" panose="02010609060101010101" pitchFamily="49" charset="-122"/>
                </a:rPr>
                <a:t> </a:t>
              </a:r>
              <a:r>
                <a:rPr lang="zh-CN" altLang="en-US" sz="1400" dirty="0">
                  <a:solidFill>
                    <a:srgbClr val="000000"/>
                  </a:solidFill>
                  <a:latin typeface="黑体" panose="02010609060101010101" pitchFamily="49" charset="-122"/>
                  <a:ea typeface="黑体" panose="02010609060101010101" pitchFamily="49" charset="-122"/>
                </a:rPr>
                <a:t>，使目标函数</a:t>
              </a:r>
              <a:r>
                <a:rPr lang="en-US" altLang="zh-CN" sz="1400" dirty="0">
                  <a:solidFill>
                    <a:srgbClr val="000000"/>
                  </a:solidFill>
                  <a:latin typeface="Times New Roman" panose="02020603050405020304" pitchFamily="18" charset="0"/>
                  <a:ea typeface="黑体" panose="02010609060101010101" pitchFamily="49" charset="-122"/>
                </a:rPr>
                <a:t>J</a:t>
              </a:r>
              <a:r>
                <a:rPr lang="zh-CN" altLang="en-US" sz="1400" dirty="0">
                  <a:solidFill>
                    <a:srgbClr val="000000"/>
                  </a:solidFill>
                  <a:latin typeface="黑体" panose="02010609060101010101" pitchFamily="49" charset="-122"/>
                  <a:ea typeface="黑体" panose="02010609060101010101" pitchFamily="49" charset="-122"/>
                </a:rPr>
                <a:t>取得最小值</a:t>
              </a:r>
            </a:p>
          </p:txBody>
        </p:sp>
      </p:grpSp>
      <p:grpSp>
        <p:nvGrpSpPr>
          <p:cNvPr id="5" name="组合 4"/>
          <p:cNvGrpSpPr/>
          <p:nvPr/>
        </p:nvGrpSpPr>
        <p:grpSpPr>
          <a:xfrm>
            <a:off x="2325111" y="2381509"/>
            <a:ext cx="4342553" cy="713998"/>
            <a:chOff x="5938819" y="1366550"/>
            <a:chExt cx="4342553" cy="713998"/>
          </a:xfrm>
        </p:grpSpPr>
        <p:sp>
          <p:nvSpPr>
            <p:cNvPr id="130057" name="矩形 10"/>
            <p:cNvSpPr>
              <a:spLocks noChangeArrowheads="1"/>
            </p:cNvSpPr>
            <p:nvPr/>
          </p:nvSpPr>
          <p:spPr bwMode="auto">
            <a:xfrm>
              <a:off x="5938819" y="1556651"/>
              <a:ext cx="10394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a:solidFill>
                    <a:srgbClr val="000000"/>
                  </a:solidFill>
                  <a:latin typeface="黑体" panose="02010609060101010101" pitchFamily="49" charset="-122"/>
                  <a:ea typeface="黑体" panose="02010609060101010101" pitchFamily="49" charset="-122"/>
                </a:rPr>
                <a:t>目标函数</a:t>
              </a:r>
              <a:r>
                <a:rPr lang="en-US" altLang="zh-CN" sz="1400" dirty="0" smtClean="0">
                  <a:solidFill>
                    <a:srgbClr val="000000"/>
                  </a:solidFill>
                  <a:latin typeface="黑体" panose="02010609060101010101" pitchFamily="49" charset="-122"/>
                  <a:ea typeface="黑体" panose="02010609060101010101" pitchFamily="49" charset="-122"/>
                </a:rPr>
                <a:t>J</a:t>
              </a:r>
              <a:endParaRPr lang="zh-CN" altLang="en-US" sz="1400" dirty="0">
                <a:solidFill>
                  <a:srgbClr val="000000"/>
                </a:solidFill>
                <a:latin typeface="黑体" panose="02010609060101010101" pitchFamily="49" charset="-122"/>
                <a:ea typeface="黑体" panose="02010609060101010101" pitchFamily="49" charset="-122"/>
              </a:endParaRPr>
            </a:p>
          </p:txBody>
        </p:sp>
        <p:grpSp>
          <p:nvGrpSpPr>
            <p:cNvPr id="130059" name="组合 12"/>
            <p:cNvGrpSpPr>
              <a:grpSpLocks/>
            </p:cNvGrpSpPr>
            <p:nvPr/>
          </p:nvGrpSpPr>
          <p:grpSpPr bwMode="auto">
            <a:xfrm>
              <a:off x="6836497" y="1366550"/>
              <a:ext cx="3444875" cy="713998"/>
              <a:chOff x="837319" y="2315330"/>
              <a:chExt cx="3443865" cy="713509"/>
            </a:xfrm>
          </p:grpSpPr>
          <p:pic>
            <p:nvPicPr>
              <p:cNvPr id="130068"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7319" y="2364501"/>
                <a:ext cx="3443865" cy="66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0069" name="矩形 14"/>
              <p:cNvSpPr>
                <a:spLocks noChangeArrowheads="1"/>
              </p:cNvSpPr>
              <p:nvPr/>
            </p:nvSpPr>
            <p:spPr bwMode="auto">
              <a:xfrm>
                <a:off x="1597725" y="2315331"/>
                <a:ext cx="778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a:solidFill>
                      <a:srgbClr val="C00000"/>
                    </a:solidFill>
                    <a:latin typeface="黑体" panose="02010609060101010101" pitchFamily="49" charset="-122"/>
                    <a:ea typeface="黑体" panose="02010609060101010101" pitchFamily="49" charset="-122"/>
                  </a:rPr>
                  <a:t>计算值</a:t>
                </a:r>
              </a:p>
            </p:txBody>
          </p:sp>
          <p:sp>
            <p:nvSpPr>
              <p:cNvPr id="130070" name="矩形 15"/>
              <p:cNvSpPr>
                <a:spLocks noChangeArrowheads="1"/>
              </p:cNvSpPr>
              <p:nvPr/>
            </p:nvSpPr>
            <p:spPr bwMode="auto">
              <a:xfrm>
                <a:off x="2158848" y="2315330"/>
                <a:ext cx="778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a:solidFill>
                      <a:srgbClr val="C00000"/>
                    </a:solidFill>
                    <a:latin typeface="黑体" panose="02010609060101010101" pitchFamily="49" charset="-122"/>
                    <a:ea typeface="黑体" panose="02010609060101010101" pitchFamily="49" charset="-122"/>
                  </a:rPr>
                  <a:t>测量值</a:t>
                </a:r>
              </a:p>
            </p:txBody>
          </p:sp>
          <p:sp>
            <p:nvSpPr>
              <p:cNvPr id="130071" name="矩形 16"/>
              <p:cNvSpPr>
                <a:spLocks noChangeArrowheads="1"/>
              </p:cNvSpPr>
              <p:nvPr/>
            </p:nvSpPr>
            <p:spPr bwMode="auto">
              <a:xfrm>
                <a:off x="2769076" y="2322080"/>
                <a:ext cx="7785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a:solidFill>
                      <a:srgbClr val="C00000"/>
                    </a:solidFill>
                    <a:latin typeface="黑体" panose="02010609060101010101" pitchFamily="49" charset="-122"/>
                    <a:ea typeface="黑体" panose="02010609060101010101" pitchFamily="49" charset="-122"/>
                  </a:rPr>
                  <a:t>权重</a:t>
                </a:r>
              </a:p>
            </p:txBody>
          </p:sp>
        </p:grpSp>
      </p:grpSp>
      <p:sp>
        <p:nvSpPr>
          <p:cNvPr id="26" name="文本框 25"/>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2" name="矩形 1"/>
          <p:cNvSpPr/>
          <p:nvPr/>
        </p:nvSpPr>
        <p:spPr>
          <a:xfrm>
            <a:off x="3596935" y="1565467"/>
            <a:ext cx="26743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smtClean="0">
                <a:solidFill>
                  <a:srgbClr val="FF0000"/>
                </a:solidFill>
                <a:latin typeface="Times New Roman" panose="02020603050405020304" pitchFamily="18" charset="0"/>
                <a:ea typeface="微软雅黑" panose="020B0503020204020204" pitchFamily="34" charset="-122"/>
              </a:rPr>
              <a:t>Li et al. (2017), J. </a:t>
            </a:r>
            <a:r>
              <a:rPr lang="en-US" altLang="zh-CN" sz="1400" b="1" dirty="0" err="1" smtClean="0">
                <a:solidFill>
                  <a:srgbClr val="FF0000"/>
                </a:solidFill>
                <a:latin typeface="Times New Roman" panose="02020603050405020304" pitchFamily="18" charset="0"/>
                <a:ea typeface="微软雅黑" panose="020B0503020204020204" pitchFamily="34" charset="-122"/>
              </a:rPr>
              <a:t>Comput</a:t>
            </a:r>
            <a:r>
              <a:rPr lang="en-US" altLang="zh-CN" sz="1400" b="1" dirty="0" smtClean="0">
                <a:solidFill>
                  <a:srgbClr val="FF0000"/>
                </a:solidFill>
                <a:latin typeface="Times New Roman" panose="02020603050405020304" pitchFamily="18" charset="0"/>
                <a:ea typeface="微软雅黑" panose="020B0503020204020204" pitchFamily="34" charset="-122"/>
              </a:rPr>
              <a:t>. Phys.</a:t>
            </a:r>
            <a:endParaRPr lang="zh-CN" altLang="en-US" sz="1400" b="1" dirty="0">
              <a:solidFill>
                <a:srgbClr val="FF0000"/>
              </a:solidFill>
              <a:latin typeface="Times New Roman" panose="02020603050405020304" pitchFamily="18" charset="0"/>
              <a:ea typeface="微软雅黑" panose="020B0503020204020204" pitchFamily="34" charset="-122"/>
            </a:endParaRPr>
          </a:p>
        </p:txBody>
      </p:sp>
      <p:sp>
        <p:nvSpPr>
          <p:cNvPr id="27" name="内容占位符 2"/>
          <p:cNvSpPr txBox="1">
            <a:spLocks/>
          </p:cNvSpPr>
          <p:nvPr/>
        </p:nvSpPr>
        <p:spPr bwMode="auto">
          <a:xfrm>
            <a:off x="672915" y="1436190"/>
            <a:ext cx="3878329"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smtClean="0"/>
              <a:t>小扰动模型数据同化示例</a:t>
            </a:r>
            <a:endParaRPr lang="zh-CN" altLang="en-US" dirty="0"/>
          </a:p>
        </p:txBody>
      </p:sp>
      <p:grpSp>
        <p:nvGrpSpPr>
          <p:cNvPr id="6" name="组合 5"/>
          <p:cNvGrpSpPr/>
          <p:nvPr/>
        </p:nvGrpSpPr>
        <p:grpSpPr>
          <a:xfrm>
            <a:off x="2325111" y="3564279"/>
            <a:ext cx="4067175" cy="523220"/>
            <a:chOff x="4984101" y="2057112"/>
            <a:chExt cx="4067175" cy="523220"/>
          </a:xfrm>
        </p:grpSpPr>
        <p:pic>
          <p:nvPicPr>
            <p:cNvPr id="130055"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5776" y="2094056"/>
              <a:ext cx="2095500"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4984101" y="2057112"/>
              <a:ext cx="21246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dirty="0" smtClean="0">
                  <a:solidFill>
                    <a:srgbClr val="000000"/>
                  </a:solidFill>
                  <a:latin typeface="黑体" panose="02010609060101010101" pitchFamily="49" charset="-122"/>
                  <a:ea typeface="黑体" panose="02010609060101010101" pitchFamily="49" charset="-122"/>
                </a:rPr>
                <a:t>以</a:t>
              </a:r>
              <a:r>
                <a:rPr lang="en-US" altLang="zh-CN" sz="1400" dirty="0">
                  <a:solidFill>
                    <a:srgbClr val="000000"/>
                  </a:solidFill>
                  <a:latin typeface="黑体" panose="02010609060101010101" pitchFamily="49" charset="-122"/>
                  <a:ea typeface="黑体" panose="02010609060101010101" pitchFamily="49" charset="-122"/>
                </a:rPr>
                <a:t>k-ω</a:t>
              </a:r>
              <a:r>
                <a:rPr lang="zh-CN" altLang="en-US" sz="1400" dirty="0">
                  <a:solidFill>
                    <a:srgbClr val="000000"/>
                  </a:solidFill>
                  <a:latin typeface="黑体" panose="02010609060101010101" pitchFamily="49" charset="-122"/>
                  <a:ea typeface="黑体" panose="02010609060101010101" pitchFamily="49" charset="-122"/>
                </a:rPr>
                <a:t>模型中方程的封闭参数</a:t>
              </a:r>
              <a:r>
                <a:rPr lang="el-GR" altLang="zh-CN" sz="1400" dirty="0">
                  <a:solidFill>
                    <a:srgbClr val="000000"/>
                  </a:solidFill>
                  <a:latin typeface="黑体" panose="02010609060101010101" pitchFamily="49" charset="-122"/>
                  <a:ea typeface="黑体" panose="02010609060101010101" pitchFamily="49" charset="-122"/>
                </a:rPr>
                <a:t>θ</a:t>
              </a:r>
              <a:r>
                <a:rPr lang="zh-CN" altLang="en-US" sz="1400" dirty="0">
                  <a:solidFill>
                    <a:srgbClr val="000000"/>
                  </a:solidFill>
                  <a:latin typeface="黑体" panose="02010609060101010101" pitchFamily="49" charset="-122"/>
                  <a:ea typeface="黑体" panose="02010609060101010101" pitchFamily="49" charset="-122"/>
                </a:rPr>
                <a:t>作为变量</a:t>
              </a:r>
            </a:p>
          </p:txBody>
        </p:sp>
      </p:grpSp>
      <p:sp>
        <p:nvSpPr>
          <p:cNvPr id="8" name="下箭头 7"/>
          <p:cNvSpPr/>
          <p:nvPr/>
        </p:nvSpPr>
        <p:spPr>
          <a:xfrm>
            <a:off x="4653468" y="3144711"/>
            <a:ext cx="371776" cy="3504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组合 8"/>
          <p:cNvGrpSpPr/>
          <p:nvPr/>
        </p:nvGrpSpPr>
        <p:grpSpPr>
          <a:xfrm>
            <a:off x="6949648" y="5165083"/>
            <a:ext cx="3769217" cy="642526"/>
            <a:chOff x="6548033" y="3890942"/>
            <a:chExt cx="3769217" cy="642526"/>
          </a:xfrm>
        </p:grpSpPr>
        <p:pic>
          <p:nvPicPr>
            <p:cNvPr id="4" name="图片 3"/>
            <p:cNvPicPr>
              <a:picLocks noChangeAspect="1"/>
            </p:cNvPicPr>
            <p:nvPr/>
          </p:nvPicPr>
          <p:blipFill>
            <a:blip r:embed="rId7"/>
            <a:stretch>
              <a:fillRect/>
            </a:stretch>
          </p:blipFill>
          <p:spPr>
            <a:xfrm>
              <a:off x="7643645" y="3899853"/>
              <a:ext cx="1563410" cy="314178"/>
            </a:xfrm>
            <a:prstGeom prst="rect">
              <a:avLst/>
            </a:prstGeom>
          </p:spPr>
        </p:pic>
        <p:pic>
          <p:nvPicPr>
            <p:cNvPr id="34" name="图片 33"/>
            <p:cNvPicPr>
              <a:picLocks noChangeAspect="1"/>
            </p:cNvPicPr>
            <p:nvPr/>
          </p:nvPicPr>
          <p:blipFill rotWithShape="1">
            <a:blip r:embed="rId7"/>
            <a:srcRect l="61580" r="28672" b="-7053"/>
            <a:stretch/>
          </p:blipFill>
          <p:spPr>
            <a:xfrm>
              <a:off x="9333707" y="3890942"/>
              <a:ext cx="152400" cy="336332"/>
            </a:xfrm>
            <a:prstGeom prst="rect">
              <a:avLst/>
            </a:prstGeom>
          </p:spPr>
        </p:pic>
        <p:sp>
          <p:nvSpPr>
            <p:cNvPr id="35" name="矩形 21"/>
            <p:cNvSpPr>
              <a:spLocks noChangeArrowheads="1"/>
            </p:cNvSpPr>
            <p:nvPr/>
          </p:nvSpPr>
          <p:spPr bwMode="auto">
            <a:xfrm>
              <a:off x="9427263" y="3918377"/>
              <a:ext cx="88998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100" b="1" dirty="0" smtClean="0">
                  <a:solidFill>
                    <a:srgbClr val="000000"/>
                  </a:solidFill>
                  <a:latin typeface="黑体" panose="02010609060101010101" pitchFamily="49" charset="-122"/>
                  <a:ea typeface="黑体" panose="02010609060101010101" pitchFamily="49" charset="-122"/>
                </a:rPr>
                <a:t>为变化步长</a:t>
              </a:r>
              <a:endParaRPr lang="zh-CN" altLang="en-US" sz="1100" b="1" dirty="0">
                <a:solidFill>
                  <a:srgbClr val="000000"/>
                </a:solidFill>
                <a:latin typeface="黑体" panose="02010609060101010101" pitchFamily="49" charset="-122"/>
                <a:ea typeface="黑体" panose="02010609060101010101" pitchFamily="49" charset="-122"/>
              </a:endParaRPr>
            </a:p>
          </p:txBody>
        </p:sp>
        <p:sp>
          <p:nvSpPr>
            <p:cNvPr id="52" name="矩形 21"/>
            <p:cNvSpPr>
              <a:spLocks noChangeArrowheads="1"/>
            </p:cNvSpPr>
            <p:nvPr/>
          </p:nvSpPr>
          <p:spPr bwMode="auto">
            <a:xfrm>
              <a:off x="6548033" y="4271858"/>
              <a:ext cx="194796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100" b="1" dirty="0" smtClean="0">
                  <a:solidFill>
                    <a:srgbClr val="000000"/>
                  </a:solidFill>
                  <a:latin typeface="黑体" panose="02010609060101010101" pitchFamily="49" charset="-122"/>
                  <a:ea typeface="黑体" panose="02010609060101010101" pitchFamily="49" charset="-122"/>
                </a:rPr>
                <a:t>确定变化步长，模式参数值</a:t>
              </a:r>
              <a:endParaRPr lang="zh-CN" altLang="en-US" sz="1100" b="1" dirty="0">
                <a:solidFill>
                  <a:srgbClr val="000000"/>
                </a:solidFill>
                <a:latin typeface="黑体" panose="02010609060101010101" pitchFamily="49" charset="-122"/>
                <a:ea typeface="黑体" panose="02010609060101010101" pitchFamily="49" charset="-122"/>
              </a:endParaRPr>
            </a:p>
          </p:txBody>
        </p:sp>
      </p:grpSp>
      <p:grpSp>
        <p:nvGrpSpPr>
          <p:cNvPr id="10" name="组合 9"/>
          <p:cNvGrpSpPr/>
          <p:nvPr/>
        </p:nvGrpSpPr>
        <p:grpSpPr>
          <a:xfrm>
            <a:off x="8009465" y="3479597"/>
            <a:ext cx="1703062" cy="307777"/>
            <a:chOff x="7830322" y="2860576"/>
            <a:chExt cx="1703062" cy="307777"/>
          </a:xfrm>
        </p:grpSpPr>
        <p:pic>
          <p:nvPicPr>
            <p:cNvPr id="3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4021" t="34304" r="86025" b="37040"/>
            <a:stretch/>
          </p:blipFill>
          <p:spPr bwMode="auto">
            <a:xfrm>
              <a:off x="7830322" y="2921437"/>
              <a:ext cx="342900" cy="190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 name="矩形 21"/>
            <p:cNvSpPr>
              <a:spLocks noChangeArrowheads="1"/>
            </p:cNvSpPr>
            <p:nvPr/>
          </p:nvSpPr>
          <p:spPr bwMode="auto">
            <a:xfrm>
              <a:off x="8091964" y="2860576"/>
              <a:ext cx="144142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dirty="0">
                  <a:solidFill>
                    <a:srgbClr val="000000"/>
                  </a:solidFill>
                  <a:latin typeface="黑体" panose="02010609060101010101" pitchFamily="49" charset="-122"/>
                  <a:ea typeface="黑体" panose="02010609060101010101" pitchFamily="49" charset="-122"/>
                </a:rPr>
                <a:t>收敛后迭代结束</a:t>
              </a:r>
            </a:p>
          </p:txBody>
        </p:sp>
      </p:grpSp>
      <p:sp>
        <p:nvSpPr>
          <p:cNvPr id="45" name="矩形 10"/>
          <p:cNvSpPr>
            <a:spLocks noChangeArrowheads="1"/>
          </p:cNvSpPr>
          <p:nvPr/>
        </p:nvSpPr>
        <p:spPr bwMode="auto">
          <a:xfrm>
            <a:off x="7870905" y="4323063"/>
            <a:ext cx="19995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smtClean="0">
                <a:solidFill>
                  <a:srgbClr val="000000"/>
                </a:solidFill>
                <a:latin typeface="黑体" panose="02010609060101010101" pitchFamily="49" charset="-122"/>
                <a:ea typeface="黑体" panose="02010609060101010101" pitchFamily="49" charset="-122"/>
              </a:rPr>
              <a:t>新参数下</a:t>
            </a:r>
            <a:r>
              <a:rPr lang="en-US" altLang="zh-CN" sz="1400" dirty="0" smtClean="0">
                <a:solidFill>
                  <a:srgbClr val="000000"/>
                </a:solidFill>
                <a:latin typeface="黑体" panose="02010609060101010101" pitchFamily="49" charset="-122"/>
                <a:ea typeface="黑体" panose="02010609060101010101" pitchFamily="49" charset="-122"/>
              </a:rPr>
              <a:t>CFD</a:t>
            </a:r>
            <a:r>
              <a:rPr lang="zh-CN" altLang="en-US" sz="1400" dirty="0" smtClean="0">
                <a:solidFill>
                  <a:srgbClr val="000000"/>
                </a:solidFill>
                <a:latin typeface="黑体" panose="02010609060101010101" pitchFamily="49" charset="-122"/>
                <a:ea typeface="黑体" panose="02010609060101010101" pitchFamily="49" charset="-122"/>
              </a:rPr>
              <a:t>流场结果</a:t>
            </a:r>
            <a:endParaRPr lang="zh-CN" altLang="en-US" sz="1400" dirty="0">
              <a:solidFill>
                <a:srgbClr val="000000"/>
              </a:solidFill>
              <a:latin typeface="黑体" panose="02010609060101010101" pitchFamily="49" charset="-122"/>
              <a:ea typeface="黑体" panose="02010609060101010101" pitchFamily="49" charset="-122"/>
            </a:endParaRPr>
          </a:p>
        </p:txBody>
      </p:sp>
      <p:sp>
        <p:nvSpPr>
          <p:cNvPr id="48" name="下箭头 47"/>
          <p:cNvSpPr/>
          <p:nvPr/>
        </p:nvSpPr>
        <p:spPr>
          <a:xfrm rot="7351058">
            <a:off x="7299550" y="2706217"/>
            <a:ext cx="303070" cy="1691125"/>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下箭头 48"/>
          <p:cNvSpPr/>
          <p:nvPr/>
        </p:nvSpPr>
        <p:spPr>
          <a:xfrm>
            <a:off x="4608429" y="4198215"/>
            <a:ext cx="371776" cy="3504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下箭头 49"/>
          <p:cNvSpPr/>
          <p:nvPr/>
        </p:nvSpPr>
        <p:spPr>
          <a:xfrm rot="16200000">
            <a:off x="7475454" y="5140319"/>
            <a:ext cx="371776" cy="3504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下箭头 52"/>
          <p:cNvSpPr/>
          <p:nvPr/>
        </p:nvSpPr>
        <p:spPr>
          <a:xfrm rot="10800000">
            <a:off x="8466915" y="4708511"/>
            <a:ext cx="371776" cy="3504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下箭头 54"/>
          <p:cNvSpPr/>
          <p:nvPr/>
        </p:nvSpPr>
        <p:spPr>
          <a:xfrm rot="10800000">
            <a:off x="8455189" y="3845201"/>
            <a:ext cx="371776" cy="3504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矩形 21"/>
          <p:cNvSpPr>
            <a:spLocks noChangeArrowheads="1"/>
          </p:cNvSpPr>
          <p:nvPr/>
        </p:nvSpPr>
        <p:spPr bwMode="auto">
          <a:xfrm>
            <a:off x="8801630" y="3914975"/>
            <a:ext cx="74892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100" b="1" dirty="0" smtClean="0">
                <a:solidFill>
                  <a:srgbClr val="000000"/>
                </a:solidFill>
                <a:latin typeface="黑体" panose="02010609060101010101" pitchFamily="49" charset="-122"/>
                <a:ea typeface="黑体" panose="02010609060101010101" pitchFamily="49" charset="-122"/>
              </a:rPr>
              <a:t>收敛判断</a:t>
            </a:r>
            <a:endParaRPr lang="zh-CN" altLang="en-US" sz="1100" b="1" dirty="0">
              <a:solidFill>
                <a:srgbClr val="000000"/>
              </a:solidFill>
              <a:latin typeface="黑体" panose="02010609060101010101" pitchFamily="49" charset="-122"/>
              <a:ea typeface="黑体" panose="02010609060101010101" pitchFamily="49" charset="-122"/>
            </a:endParaRPr>
          </a:p>
        </p:txBody>
      </p:sp>
      <p:sp>
        <p:nvSpPr>
          <p:cNvPr id="11" name="灯片编号占位符 10"/>
          <p:cNvSpPr>
            <a:spLocks noGrp="1"/>
          </p:cNvSpPr>
          <p:nvPr>
            <p:ph type="sldNum" sz="quarter" idx="12"/>
          </p:nvPr>
        </p:nvSpPr>
        <p:spPr/>
        <p:txBody>
          <a:bodyPr/>
          <a:lstStyle/>
          <a:p>
            <a:fld id="{16D8DD02-547D-47A5-AAEA-525C7BEEAE57}" type="slidenum">
              <a:rPr lang="zh-CN" altLang="en-US" smtClean="0"/>
              <a:t>69</a:t>
            </a:fld>
            <a:endParaRPr lang="zh-CN" altLang="en-US"/>
          </a:p>
        </p:txBody>
      </p:sp>
    </p:spTree>
    <p:extLst>
      <p:ext uri="{BB962C8B-B14F-4D97-AF65-F5344CB8AC3E}">
        <p14:creationId xmlns:p14="http://schemas.microsoft.com/office/powerpoint/2010/main" val="302453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61" name="矩形 18"/>
          <p:cNvSpPr>
            <a:spLocks noChangeArrowheads="1"/>
          </p:cNvSpPr>
          <p:nvPr/>
        </p:nvSpPr>
        <p:spPr bwMode="auto">
          <a:xfrm>
            <a:off x="672915" y="1836300"/>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smtClean="0">
                <a:solidFill>
                  <a:srgbClr val="000000"/>
                </a:solidFill>
                <a:latin typeface="黑体" panose="02010609060101010101" pitchFamily="49" charset="-122"/>
                <a:ea typeface="黑体" panose="02010609060101010101" pitchFamily="49" charset="-122"/>
              </a:rPr>
              <a:t>后</a:t>
            </a:r>
            <a:r>
              <a:rPr lang="zh-CN" altLang="en-US" sz="1400" dirty="0">
                <a:solidFill>
                  <a:srgbClr val="000000"/>
                </a:solidFill>
                <a:latin typeface="黑体" panose="02010609060101010101" pitchFamily="49" charset="-122"/>
                <a:ea typeface="黑体" panose="02010609060101010101" pitchFamily="49" charset="-122"/>
              </a:rPr>
              <a:t>台阶流动</a:t>
            </a:r>
          </a:p>
        </p:txBody>
      </p:sp>
      <p:grpSp>
        <p:nvGrpSpPr>
          <p:cNvPr id="9" name="组合 8"/>
          <p:cNvGrpSpPr/>
          <p:nvPr/>
        </p:nvGrpSpPr>
        <p:grpSpPr>
          <a:xfrm>
            <a:off x="263525" y="2784098"/>
            <a:ext cx="3529013" cy="2430463"/>
            <a:chOff x="1676401" y="4365626"/>
            <a:chExt cx="3529013" cy="2430463"/>
          </a:xfrm>
        </p:grpSpPr>
        <p:pic>
          <p:nvPicPr>
            <p:cNvPr id="13006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4365626"/>
              <a:ext cx="3529013" cy="243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矩形 24"/>
            <p:cNvSpPr/>
            <p:nvPr/>
          </p:nvSpPr>
          <p:spPr>
            <a:xfrm>
              <a:off x="1908175" y="4508500"/>
              <a:ext cx="1430338" cy="431800"/>
            </a:xfrm>
            <a:prstGeom prst="rect">
              <a:avLst/>
            </a:prstGeom>
            <a:solidFill>
              <a:sysClr val="window" lastClr="FFFFFF"/>
            </a:solidFill>
          </p:spPr>
          <p:txBody>
            <a:bodyPr>
              <a:spAutoFit/>
            </a:bodyPr>
            <a:lstStyle/>
            <a:p>
              <a:pPr>
                <a:defRPr/>
              </a:pPr>
              <a:r>
                <a:rPr lang="zh-CN" altLang="en-US" sz="1100" kern="0" dirty="0">
                  <a:solidFill>
                    <a:srgbClr val="C00000"/>
                  </a:solidFill>
                  <a:latin typeface="黑体" pitchFamily="49" charset="-122"/>
                  <a:ea typeface="黑体" pitchFamily="49" charset="-122"/>
                </a:rPr>
                <a:t>以实验测量的速度剖面作为观察数据</a:t>
              </a:r>
            </a:p>
          </p:txBody>
        </p:sp>
      </p:grpSp>
      <p:sp>
        <p:nvSpPr>
          <p:cNvPr id="26" name="文本框 25"/>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27" name="内容占位符 2"/>
          <p:cNvSpPr txBox="1">
            <a:spLocks/>
          </p:cNvSpPr>
          <p:nvPr/>
        </p:nvSpPr>
        <p:spPr bwMode="auto">
          <a:xfrm>
            <a:off x="672915" y="1436190"/>
            <a:ext cx="3878329"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smtClean="0"/>
              <a:t>小扰动模型数据同化示例</a:t>
            </a:r>
            <a:endParaRPr lang="zh-CN" altLang="en-US" dirty="0"/>
          </a:p>
        </p:txBody>
      </p:sp>
      <p:pic>
        <p:nvPicPr>
          <p:cNvPr id="10" name="图片 9"/>
          <p:cNvPicPr>
            <a:picLocks noChangeAspect="1"/>
          </p:cNvPicPr>
          <p:nvPr/>
        </p:nvPicPr>
        <p:blipFill>
          <a:blip r:embed="rId4"/>
          <a:stretch>
            <a:fillRect/>
          </a:stretch>
        </p:blipFill>
        <p:spPr>
          <a:xfrm>
            <a:off x="263525" y="2211992"/>
            <a:ext cx="6848610" cy="649940"/>
          </a:xfrm>
          <a:prstGeom prst="rect">
            <a:avLst/>
          </a:prstGeom>
        </p:spPr>
      </p:pic>
      <p:pic>
        <p:nvPicPr>
          <p:cNvPr id="11" name="图片 10"/>
          <p:cNvPicPr>
            <a:picLocks noChangeAspect="1"/>
          </p:cNvPicPr>
          <p:nvPr/>
        </p:nvPicPr>
        <p:blipFill>
          <a:blip r:embed="rId5"/>
          <a:stretch>
            <a:fillRect/>
          </a:stretch>
        </p:blipFill>
        <p:spPr>
          <a:xfrm>
            <a:off x="3914220" y="2861932"/>
            <a:ext cx="3266790" cy="2274794"/>
          </a:xfrm>
          <a:prstGeom prst="rect">
            <a:avLst/>
          </a:prstGeom>
        </p:spPr>
      </p:pic>
      <p:sp>
        <p:nvSpPr>
          <p:cNvPr id="47" name="矩形 18"/>
          <p:cNvSpPr>
            <a:spLocks noChangeArrowheads="1"/>
          </p:cNvSpPr>
          <p:nvPr/>
        </p:nvSpPr>
        <p:spPr bwMode="auto">
          <a:xfrm>
            <a:off x="1696379" y="5136726"/>
            <a:ext cx="37240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smtClean="0">
                <a:solidFill>
                  <a:srgbClr val="000000"/>
                </a:solidFill>
                <a:latin typeface="黑体" panose="02010609060101010101" pitchFamily="49" charset="-122"/>
                <a:ea typeface="黑体" panose="02010609060101010101" pitchFamily="49" charset="-122"/>
              </a:rPr>
              <a:t>后</a:t>
            </a:r>
            <a:r>
              <a:rPr lang="zh-CN" altLang="en-US" sz="1200" dirty="0">
                <a:solidFill>
                  <a:srgbClr val="000000"/>
                </a:solidFill>
                <a:latin typeface="黑体" panose="02010609060101010101" pitchFamily="49" charset="-122"/>
                <a:ea typeface="黑体" panose="02010609060101010101" pitchFamily="49" charset="-122"/>
              </a:rPr>
              <a:t>台阶</a:t>
            </a:r>
            <a:r>
              <a:rPr lang="zh-CN" altLang="en-US" sz="1200" dirty="0" smtClean="0">
                <a:solidFill>
                  <a:srgbClr val="000000"/>
                </a:solidFill>
                <a:latin typeface="黑体" panose="02010609060101010101" pitchFamily="49" charset="-122"/>
                <a:ea typeface="黑体" panose="02010609060101010101" pitchFamily="49" charset="-122"/>
              </a:rPr>
              <a:t>流动网格划分以及用去</a:t>
            </a:r>
            <a:r>
              <a:rPr lang="en-US" altLang="zh-CN" sz="1200" dirty="0" smtClean="0">
                <a:solidFill>
                  <a:srgbClr val="000000"/>
                </a:solidFill>
                <a:latin typeface="黑体" panose="02010609060101010101" pitchFamily="49" charset="-122"/>
                <a:ea typeface="黑体" panose="02010609060101010101" pitchFamily="49" charset="-122"/>
              </a:rPr>
              <a:t>DA</a:t>
            </a:r>
            <a:r>
              <a:rPr lang="zh-CN" altLang="en-US" sz="1200" dirty="0" smtClean="0">
                <a:solidFill>
                  <a:srgbClr val="000000"/>
                </a:solidFill>
                <a:latin typeface="黑体" panose="02010609060101010101" pitchFamily="49" charset="-122"/>
                <a:ea typeface="黑体" panose="02010609060101010101" pitchFamily="49" charset="-122"/>
              </a:rPr>
              <a:t>的数据点位置示意图</a:t>
            </a:r>
            <a:endParaRPr lang="zh-CN" altLang="en-US" sz="1200" dirty="0">
              <a:solidFill>
                <a:srgbClr val="000000"/>
              </a:solidFill>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6"/>
          <a:stretch>
            <a:fillRect/>
          </a:stretch>
        </p:blipFill>
        <p:spPr>
          <a:xfrm>
            <a:off x="271042" y="5481411"/>
            <a:ext cx="6841093" cy="999974"/>
          </a:xfrm>
          <a:prstGeom prst="rect">
            <a:avLst/>
          </a:prstGeom>
        </p:spPr>
      </p:pic>
      <p:sp>
        <p:nvSpPr>
          <p:cNvPr id="49" name="矩形 18"/>
          <p:cNvSpPr>
            <a:spLocks noChangeArrowheads="1"/>
          </p:cNvSpPr>
          <p:nvPr/>
        </p:nvSpPr>
        <p:spPr bwMode="auto">
          <a:xfrm>
            <a:off x="2309428" y="6376729"/>
            <a:ext cx="17235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200" dirty="0" smtClean="0">
                <a:solidFill>
                  <a:srgbClr val="000000"/>
                </a:solidFill>
                <a:latin typeface="黑体" panose="02010609060101010101" pitchFamily="49" charset="-122"/>
                <a:ea typeface="黑体" panose="02010609060101010101" pitchFamily="49" charset="-122"/>
              </a:rPr>
              <a:t>DA</a:t>
            </a:r>
            <a:r>
              <a:rPr lang="zh-CN" altLang="en-US" sz="1200" dirty="0" smtClean="0">
                <a:solidFill>
                  <a:srgbClr val="000000"/>
                </a:solidFill>
                <a:latin typeface="黑体" panose="02010609060101010101" pitchFamily="49" charset="-122"/>
                <a:ea typeface="黑体" panose="02010609060101010101" pitchFamily="49" charset="-122"/>
              </a:rPr>
              <a:t>前后的</a:t>
            </a:r>
            <a:r>
              <a:rPr lang="en-US" altLang="zh-CN" sz="1200" i="1" dirty="0" smtClean="0">
                <a:solidFill>
                  <a:srgbClr val="000000"/>
                </a:solidFill>
                <a:latin typeface="黑体" panose="02010609060101010101" pitchFamily="49" charset="-122"/>
                <a:ea typeface="黑体" panose="02010609060101010101" pitchFamily="49" charset="-122"/>
              </a:rPr>
              <a:t>k-ω</a:t>
            </a:r>
            <a:r>
              <a:rPr lang="zh-CN" altLang="en-US" sz="1200" dirty="0" smtClean="0">
                <a:solidFill>
                  <a:srgbClr val="000000"/>
                </a:solidFill>
                <a:latin typeface="黑体" panose="02010609060101010101" pitchFamily="49" charset="-122"/>
                <a:ea typeface="黑体" panose="02010609060101010101" pitchFamily="49" charset="-122"/>
              </a:rPr>
              <a:t>模式系数</a:t>
            </a:r>
            <a:endParaRPr lang="en-US" altLang="zh-CN" sz="1200" i="1" dirty="0" smtClean="0">
              <a:solidFill>
                <a:srgbClr val="000000"/>
              </a:solidFill>
              <a:latin typeface="黑体" panose="02010609060101010101" pitchFamily="49" charset="-122"/>
              <a:ea typeface="黑体" panose="02010609060101010101" pitchFamily="49" charset="-122"/>
            </a:endParaRPr>
          </a:p>
        </p:txBody>
      </p:sp>
      <p:sp>
        <p:nvSpPr>
          <p:cNvPr id="13" name="椭圆 12"/>
          <p:cNvSpPr/>
          <p:nvPr/>
        </p:nvSpPr>
        <p:spPr>
          <a:xfrm>
            <a:off x="3792538" y="5481412"/>
            <a:ext cx="2122487" cy="1067660"/>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矩形 20"/>
          <p:cNvSpPr>
            <a:spLocks noChangeArrowheads="1"/>
          </p:cNvSpPr>
          <p:nvPr/>
        </p:nvSpPr>
        <p:spPr bwMode="auto">
          <a:xfrm>
            <a:off x="5547615" y="5342912"/>
            <a:ext cx="12618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b="1" dirty="0" smtClean="0">
                <a:solidFill>
                  <a:srgbClr val="000000"/>
                </a:solidFill>
                <a:latin typeface="黑体" panose="02010609060101010101" pitchFamily="49" charset="-122"/>
                <a:ea typeface="黑体" panose="02010609060101010101" pitchFamily="49" charset="-122"/>
              </a:rPr>
              <a:t>主要影响参数</a:t>
            </a:r>
            <a:endParaRPr lang="zh-CN" altLang="en-US" sz="1400" b="1" dirty="0">
              <a:solidFill>
                <a:srgbClr val="000000"/>
              </a:solidFill>
              <a:latin typeface="黑体" panose="02010609060101010101" pitchFamily="49" charset="-122"/>
              <a:ea typeface="黑体" panose="02010609060101010101" pitchFamily="49" charset="-122"/>
            </a:endParaRPr>
          </a:p>
        </p:txBody>
      </p:sp>
      <p:grpSp>
        <p:nvGrpSpPr>
          <p:cNvPr id="16" name="组合 15"/>
          <p:cNvGrpSpPr/>
          <p:nvPr/>
        </p:nvGrpSpPr>
        <p:grpSpPr>
          <a:xfrm>
            <a:off x="7678525" y="2031627"/>
            <a:ext cx="3241465" cy="4230442"/>
            <a:chOff x="-3326960" y="-329784"/>
            <a:chExt cx="5905468" cy="7707237"/>
          </a:xfrm>
        </p:grpSpPr>
        <p:pic>
          <p:nvPicPr>
            <p:cNvPr id="15" name="图片 14"/>
            <p:cNvPicPr>
              <a:picLocks noChangeAspect="1"/>
            </p:cNvPicPr>
            <p:nvPr/>
          </p:nvPicPr>
          <p:blipFill rotWithShape="1">
            <a:blip r:embed="rId7"/>
            <a:srcRect r="50405" b="58138"/>
            <a:stretch/>
          </p:blipFill>
          <p:spPr>
            <a:xfrm>
              <a:off x="-3279124" y="-329784"/>
              <a:ext cx="5857632" cy="3624527"/>
            </a:xfrm>
            <a:prstGeom prst="rect">
              <a:avLst/>
            </a:prstGeom>
          </p:spPr>
        </p:pic>
        <p:pic>
          <p:nvPicPr>
            <p:cNvPr id="52" name="图片 51"/>
            <p:cNvPicPr>
              <a:picLocks noChangeAspect="1"/>
            </p:cNvPicPr>
            <p:nvPr/>
          </p:nvPicPr>
          <p:blipFill rotWithShape="1">
            <a:blip r:embed="rId7"/>
            <a:srcRect t="44677" r="68994" b="52151"/>
            <a:stretch/>
          </p:blipFill>
          <p:spPr>
            <a:xfrm>
              <a:off x="-3293421" y="3280125"/>
              <a:ext cx="3662129" cy="274628"/>
            </a:xfrm>
            <a:prstGeom prst="rect">
              <a:avLst/>
            </a:prstGeom>
          </p:spPr>
        </p:pic>
        <p:pic>
          <p:nvPicPr>
            <p:cNvPr id="56" name="图片 55"/>
            <p:cNvPicPr>
              <a:picLocks noChangeAspect="1"/>
            </p:cNvPicPr>
            <p:nvPr/>
          </p:nvPicPr>
          <p:blipFill rotWithShape="1">
            <a:blip r:embed="rId7"/>
            <a:srcRect l="50040" b="58138"/>
            <a:stretch/>
          </p:blipFill>
          <p:spPr>
            <a:xfrm>
              <a:off x="-3326960" y="3506467"/>
              <a:ext cx="5900738" cy="3624527"/>
            </a:xfrm>
            <a:prstGeom prst="rect">
              <a:avLst/>
            </a:prstGeom>
          </p:spPr>
        </p:pic>
        <p:pic>
          <p:nvPicPr>
            <p:cNvPr id="57" name="图片 56"/>
            <p:cNvPicPr>
              <a:picLocks noChangeAspect="1"/>
            </p:cNvPicPr>
            <p:nvPr/>
          </p:nvPicPr>
          <p:blipFill rotWithShape="1">
            <a:blip r:embed="rId7"/>
            <a:srcRect l="65998" t="45497" r="15544" b="51867"/>
            <a:stretch/>
          </p:blipFill>
          <p:spPr>
            <a:xfrm>
              <a:off x="-760393" y="7149218"/>
              <a:ext cx="2180025" cy="228235"/>
            </a:xfrm>
            <a:prstGeom prst="rect">
              <a:avLst/>
            </a:prstGeom>
          </p:spPr>
        </p:pic>
      </p:grpSp>
      <p:sp>
        <p:nvSpPr>
          <p:cNvPr id="59" name="矩形 18"/>
          <p:cNvSpPr>
            <a:spLocks noChangeArrowheads="1"/>
          </p:cNvSpPr>
          <p:nvPr/>
        </p:nvSpPr>
        <p:spPr bwMode="auto">
          <a:xfrm>
            <a:off x="8476461" y="6272073"/>
            <a:ext cx="15696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200" dirty="0" smtClean="0">
                <a:solidFill>
                  <a:srgbClr val="000000"/>
                </a:solidFill>
                <a:latin typeface="黑体" panose="02010609060101010101" pitchFamily="49" charset="-122"/>
                <a:ea typeface="黑体" panose="02010609060101010101" pitchFamily="49" charset="-122"/>
              </a:rPr>
              <a:t>DA</a:t>
            </a:r>
            <a:r>
              <a:rPr lang="zh-CN" altLang="en-US" sz="1200" dirty="0" smtClean="0">
                <a:solidFill>
                  <a:srgbClr val="000000"/>
                </a:solidFill>
                <a:latin typeface="黑体" panose="02010609060101010101" pitchFamily="49" charset="-122"/>
                <a:ea typeface="黑体" panose="02010609060101010101" pitchFamily="49" charset="-122"/>
              </a:rPr>
              <a:t>前后的</a:t>
            </a:r>
            <a:r>
              <a:rPr lang="zh-CN" altLang="en-US" sz="1200" dirty="0">
                <a:solidFill>
                  <a:srgbClr val="000000"/>
                </a:solidFill>
                <a:latin typeface="黑体" panose="02010609060101010101" pitchFamily="49" charset="-122"/>
                <a:ea typeface="黑体" panose="02010609060101010101" pitchFamily="49" charset="-122"/>
              </a:rPr>
              <a:t>后</a:t>
            </a:r>
            <a:r>
              <a:rPr lang="zh-CN" altLang="en-US" sz="1200" dirty="0" smtClean="0">
                <a:solidFill>
                  <a:srgbClr val="000000"/>
                </a:solidFill>
                <a:latin typeface="黑体" panose="02010609060101010101" pitchFamily="49" charset="-122"/>
                <a:ea typeface="黑体" panose="02010609060101010101" pitchFamily="49" charset="-122"/>
              </a:rPr>
              <a:t>台阶流场</a:t>
            </a:r>
            <a:endParaRPr lang="en-US" altLang="zh-CN" sz="1200" i="1" dirty="0" smtClean="0">
              <a:solidFill>
                <a:srgbClr val="000000"/>
              </a:solidFill>
              <a:latin typeface="黑体" panose="02010609060101010101" pitchFamily="49" charset="-122"/>
              <a:ea typeface="黑体" panose="02010609060101010101" pitchFamily="49" charset="-122"/>
            </a:endParaRPr>
          </a:p>
        </p:txBody>
      </p:sp>
      <p:sp>
        <p:nvSpPr>
          <p:cNvPr id="60" name="矩形 18"/>
          <p:cNvSpPr>
            <a:spLocks noChangeArrowheads="1"/>
          </p:cNvSpPr>
          <p:nvPr/>
        </p:nvSpPr>
        <p:spPr bwMode="auto">
          <a:xfrm>
            <a:off x="10935803" y="3697935"/>
            <a:ext cx="11133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200" b="1" dirty="0" smtClean="0">
                <a:solidFill>
                  <a:srgbClr val="000000"/>
                </a:solidFill>
                <a:latin typeface="黑体" panose="02010609060101010101" pitchFamily="49" charset="-122"/>
                <a:ea typeface="黑体" panose="02010609060101010101" pitchFamily="49" charset="-122"/>
              </a:rPr>
              <a:t>DA</a:t>
            </a:r>
            <a:r>
              <a:rPr lang="zh-CN" altLang="en-US" sz="1200" b="1" dirty="0" smtClean="0">
                <a:solidFill>
                  <a:srgbClr val="000000"/>
                </a:solidFill>
                <a:latin typeface="黑体" panose="02010609060101010101" pitchFamily="49" charset="-122"/>
                <a:ea typeface="黑体" panose="02010609060101010101" pitchFamily="49" charset="-122"/>
              </a:rPr>
              <a:t>后二次涡更为明显，再附点靠后</a:t>
            </a:r>
            <a:endParaRPr lang="en-US" altLang="zh-CN" sz="1200" b="1" i="1" dirty="0" smtClean="0">
              <a:solidFill>
                <a:srgbClr val="000000"/>
              </a:solidFill>
              <a:latin typeface="黑体" panose="02010609060101010101" pitchFamily="49" charset="-122"/>
              <a:ea typeface="黑体" panose="02010609060101010101" pitchFamily="49" charset="-122"/>
            </a:endParaRPr>
          </a:p>
        </p:txBody>
      </p:sp>
      <p:sp>
        <p:nvSpPr>
          <p:cNvPr id="76" name="矩形 75"/>
          <p:cNvSpPr/>
          <p:nvPr/>
        </p:nvSpPr>
        <p:spPr>
          <a:xfrm>
            <a:off x="3596935" y="1565467"/>
            <a:ext cx="26743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smtClean="0">
                <a:solidFill>
                  <a:srgbClr val="FF0000"/>
                </a:solidFill>
                <a:latin typeface="Times New Roman" panose="02020603050405020304" pitchFamily="18" charset="0"/>
                <a:ea typeface="微软雅黑" panose="020B0503020204020204" pitchFamily="34" charset="-122"/>
              </a:rPr>
              <a:t>Li et al. (2017), J. </a:t>
            </a:r>
            <a:r>
              <a:rPr lang="en-US" altLang="zh-CN" sz="1400" b="1" dirty="0" err="1" smtClean="0">
                <a:solidFill>
                  <a:srgbClr val="FF0000"/>
                </a:solidFill>
                <a:latin typeface="Times New Roman" panose="02020603050405020304" pitchFamily="18" charset="0"/>
                <a:ea typeface="微软雅黑" panose="020B0503020204020204" pitchFamily="34" charset="-122"/>
              </a:rPr>
              <a:t>Comput</a:t>
            </a:r>
            <a:r>
              <a:rPr lang="en-US" altLang="zh-CN" sz="1400" b="1" dirty="0" smtClean="0">
                <a:solidFill>
                  <a:srgbClr val="FF0000"/>
                </a:solidFill>
                <a:latin typeface="Times New Roman" panose="02020603050405020304" pitchFamily="18" charset="0"/>
                <a:ea typeface="微软雅黑" panose="020B0503020204020204" pitchFamily="34" charset="-122"/>
              </a:rPr>
              <a:t>. Phys.</a:t>
            </a:r>
            <a:endParaRPr lang="zh-CN" altLang="en-US" sz="1400" b="1" dirty="0">
              <a:solidFill>
                <a:srgbClr val="FF0000"/>
              </a:solidFill>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70</a:t>
            </a:fld>
            <a:endParaRPr lang="zh-CN" altLang="en-US"/>
          </a:p>
        </p:txBody>
      </p:sp>
    </p:spTree>
    <p:extLst>
      <p:ext uri="{BB962C8B-B14F-4D97-AF65-F5344CB8AC3E}">
        <p14:creationId xmlns:p14="http://schemas.microsoft.com/office/powerpoint/2010/main" val="11439803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61" name="矩形 18"/>
          <p:cNvSpPr>
            <a:spLocks noChangeArrowheads="1"/>
          </p:cNvSpPr>
          <p:nvPr/>
        </p:nvSpPr>
        <p:spPr bwMode="auto">
          <a:xfrm>
            <a:off x="672915" y="1787412"/>
            <a:ext cx="10823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smtClean="0">
                <a:solidFill>
                  <a:srgbClr val="000000"/>
                </a:solidFill>
                <a:latin typeface="黑体" panose="02010609060101010101" pitchFamily="49" charset="-122"/>
                <a:ea typeface="黑体" panose="02010609060101010101" pitchFamily="49" charset="-122"/>
              </a:rPr>
              <a:t>后</a:t>
            </a:r>
            <a:r>
              <a:rPr lang="zh-CN" altLang="en-US" sz="1400" dirty="0">
                <a:solidFill>
                  <a:srgbClr val="000000"/>
                </a:solidFill>
                <a:latin typeface="黑体" panose="02010609060101010101" pitchFamily="49" charset="-122"/>
                <a:ea typeface="黑体" panose="02010609060101010101" pitchFamily="49" charset="-122"/>
              </a:rPr>
              <a:t>台阶流动</a:t>
            </a:r>
          </a:p>
        </p:txBody>
      </p:sp>
      <p:sp>
        <p:nvSpPr>
          <p:cNvPr id="26" name="文本框 25"/>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27" name="内容占位符 2"/>
          <p:cNvSpPr txBox="1">
            <a:spLocks/>
          </p:cNvSpPr>
          <p:nvPr/>
        </p:nvSpPr>
        <p:spPr bwMode="auto">
          <a:xfrm>
            <a:off x="672915" y="1436190"/>
            <a:ext cx="3878329" cy="400110"/>
          </a:xfrm>
          <a:prstGeom prst="rect">
            <a:avLst/>
          </a:prstGeom>
          <a:noFill/>
          <a:extLst/>
        </p:spPr>
        <p:txBody>
          <a:bodyPr wrap="square" rtlCol="0">
            <a:spAutoFit/>
          </a:bodyPr>
          <a:lstStyle>
            <a:defPPr>
              <a:defRPr lang="zh-CN"/>
            </a:defPPr>
            <a:lvl1pPr>
              <a:defRPr sz="2000">
                <a:latin typeface="华文细黑" panose="02010600040101010101" pitchFamily="2" charset="-122"/>
                <a:ea typeface="华文细黑" panose="02010600040101010101" pitchFamily="2" charset="-122"/>
              </a:defRPr>
            </a:lvl1pPr>
          </a:lstStyle>
          <a:p>
            <a:r>
              <a:rPr lang="zh-CN" altLang="en-US" dirty="0" smtClean="0"/>
              <a:t>小扰动模型数据同化示例</a:t>
            </a:r>
            <a:endParaRPr lang="zh-CN" altLang="en-US" dirty="0"/>
          </a:p>
        </p:txBody>
      </p:sp>
      <p:pic>
        <p:nvPicPr>
          <p:cNvPr id="14" name="图片 13"/>
          <p:cNvPicPr>
            <a:picLocks noChangeAspect="1"/>
          </p:cNvPicPr>
          <p:nvPr/>
        </p:nvPicPr>
        <p:blipFill>
          <a:blip r:embed="rId3"/>
          <a:stretch>
            <a:fillRect/>
          </a:stretch>
        </p:blipFill>
        <p:spPr>
          <a:xfrm>
            <a:off x="1531863" y="2134562"/>
            <a:ext cx="1608806" cy="495539"/>
          </a:xfrm>
          <a:prstGeom prst="rect">
            <a:avLst/>
          </a:prstGeom>
        </p:spPr>
      </p:pic>
      <p:pic>
        <p:nvPicPr>
          <p:cNvPr id="71" name="Picture 8"/>
          <p:cNvPicPr>
            <a:picLocks noChangeAspect="1" noChangeArrowheads="1"/>
          </p:cNvPicPr>
          <p:nvPr/>
        </p:nvPicPr>
        <p:blipFill rotWithShape="1">
          <a:blip r:embed="rId4">
            <a:extLst>
              <a:ext uri="{28A0092B-C50C-407E-A947-70E740481C1C}">
                <a14:useLocalDpi xmlns:a14="http://schemas.microsoft.com/office/drawing/2010/main" val="0"/>
              </a:ext>
            </a:extLst>
          </a:blip>
          <a:srcRect r="51407"/>
          <a:stretch/>
        </p:blipFill>
        <p:spPr bwMode="auto">
          <a:xfrm>
            <a:off x="9186859" y="1828111"/>
            <a:ext cx="2719391" cy="2403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2" name="矩形 20"/>
          <p:cNvSpPr>
            <a:spLocks noChangeArrowheads="1"/>
          </p:cNvSpPr>
          <p:nvPr/>
        </p:nvSpPr>
        <p:spPr bwMode="auto">
          <a:xfrm>
            <a:off x="10278299" y="1624244"/>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a:solidFill>
                  <a:srgbClr val="000000"/>
                </a:solidFill>
                <a:latin typeface="黑体" panose="02010609060101010101" pitchFamily="49" charset="-122"/>
                <a:ea typeface="黑体" panose="02010609060101010101" pitchFamily="49" charset="-122"/>
              </a:rPr>
              <a:t>表面压力系数</a:t>
            </a:r>
          </a:p>
        </p:txBody>
      </p:sp>
      <p:sp>
        <p:nvSpPr>
          <p:cNvPr id="74" name="矩形 73"/>
          <p:cNvSpPr/>
          <p:nvPr/>
        </p:nvSpPr>
        <p:spPr>
          <a:xfrm>
            <a:off x="10401296" y="3200491"/>
            <a:ext cx="1260475" cy="217487"/>
          </a:xfrm>
          <a:prstGeom prst="rect">
            <a:avLst/>
          </a:prstGeom>
          <a:noFill/>
          <a:ln w="25400" cap="flat" cmpd="sng" algn="ctr">
            <a:solidFill>
              <a:srgbClr val="C00000"/>
            </a:solidFill>
            <a:prstDash val="solid"/>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sp>
        <p:nvSpPr>
          <p:cNvPr id="75" name="矩形 23"/>
          <p:cNvSpPr>
            <a:spLocks noChangeArrowheads="1"/>
          </p:cNvSpPr>
          <p:nvPr/>
        </p:nvSpPr>
        <p:spPr bwMode="auto">
          <a:xfrm>
            <a:off x="10499720" y="2463891"/>
            <a:ext cx="11620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000" dirty="0">
                <a:solidFill>
                  <a:srgbClr val="C00000"/>
                </a:solidFill>
                <a:latin typeface="黑体" panose="02010609060101010101" pitchFamily="49" charset="-122"/>
                <a:ea typeface="黑体" panose="02010609060101010101" pitchFamily="49" charset="-122"/>
              </a:rPr>
              <a:t>小扰动模型（根据速度梯度分</a:t>
            </a:r>
            <a:r>
              <a:rPr lang="en-US" altLang="zh-CN" sz="1000" dirty="0">
                <a:solidFill>
                  <a:srgbClr val="C00000"/>
                </a:solidFill>
                <a:latin typeface="黑体" panose="02010609060101010101" pitchFamily="49" charset="-122"/>
                <a:ea typeface="黑体" panose="02010609060101010101" pitchFamily="49" charset="-122"/>
              </a:rPr>
              <a:t>1</a:t>
            </a:r>
            <a:r>
              <a:rPr lang="zh-CN" altLang="en-US" sz="1000" dirty="0">
                <a:solidFill>
                  <a:srgbClr val="C00000"/>
                </a:solidFill>
                <a:latin typeface="黑体" panose="02010609060101010101" pitchFamily="49" charset="-122"/>
                <a:ea typeface="黑体" panose="02010609060101010101" pitchFamily="49" charset="-122"/>
              </a:rPr>
              <a:t>个、</a:t>
            </a:r>
            <a:r>
              <a:rPr lang="en-US" altLang="zh-CN" sz="1000" dirty="0">
                <a:solidFill>
                  <a:srgbClr val="C00000"/>
                </a:solidFill>
                <a:latin typeface="黑体" panose="02010609060101010101" pitchFamily="49" charset="-122"/>
                <a:ea typeface="黑体" panose="02010609060101010101" pitchFamily="49" charset="-122"/>
              </a:rPr>
              <a:t>2</a:t>
            </a:r>
            <a:r>
              <a:rPr lang="zh-CN" altLang="en-US" sz="1000" dirty="0">
                <a:solidFill>
                  <a:srgbClr val="C00000"/>
                </a:solidFill>
                <a:latin typeface="黑体" panose="02010609060101010101" pitchFamily="49" charset="-122"/>
                <a:ea typeface="黑体" panose="02010609060101010101" pitchFamily="49" charset="-122"/>
              </a:rPr>
              <a:t>个区域分别计算）</a:t>
            </a:r>
          </a:p>
        </p:txBody>
      </p:sp>
      <p:sp>
        <p:nvSpPr>
          <p:cNvPr id="30" name="矩形 20"/>
          <p:cNvSpPr>
            <a:spLocks noChangeArrowheads="1"/>
          </p:cNvSpPr>
          <p:nvPr/>
        </p:nvSpPr>
        <p:spPr bwMode="auto">
          <a:xfrm>
            <a:off x="670237" y="5866845"/>
            <a:ext cx="340073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100" dirty="0" smtClean="0">
                <a:solidFill>
                  <a:srgbClr val="000000"/>
                </a:solidFill>
                <a:latin typeface="黑体" panose="02010609060101010101" pitchFamily="49" charset="-122"/>
                <a:ea typeface="黑体" panose="02010609060101010101" pitchFamily="49" charset="-122"/>
              </a:rPr>
              <a:t>根据流场无量纲速度梯度对流场进行分区域</a:t>
            </a:r>
            <a:r>
              <a:rPr lang="en-US" altLang="zh-CN" sz="1100" dirty="0" smtClean="0">
                <a:solidFill>
                  <a:srgbClr val="000000"/>
                </a:solidFill>
                <a:latin typeface="黑体" panose="02010609060101010101" pitchFamily="49" charset="-122"/>
                <a:ea typeface="黑体" panose="02010609060101010101" pitchFamily="49" charset="-122"/>
              </a:rPr>
              <a:t>DA</a:t>
            </a:r>
            <a:r>
              <a:rPr lang="zh-CN" altLang="en-US" sz="1100" dirty="0" smtClean="0">
                <a:solidFill>
                  <a:srgbClr val="000000"/>
                </a:solidFill>
                <a:latin typeface="黑体" panose="02010609060101010101" pitchFamily="49" charset="-122"/>
                <a:ea typeface="黑体" panose="02010609060101010101" pitchFamily="49" charset="-122"/>
              </a:rPr>
              <a:t>，不同区域分别进行</a:t>
            </a:r>
            <a:r>
              <a:rPr lang="en-US" altLang="zh-CN" sz="1100" dirty="0" smtClean="0">
                <a:solidFill>
                  <a:srgbClr val="000000"/>
                </a:solidFill>
                <a:latin typeface="黑体" panose="02010609060101010101" pitchFamily="49" charset="-122"/>
                <a:ea typeface="黑体" panose="02010609060101010101" pitchFamily="49" charset="-122"/>
              </a:rPr>
              <a:t>DA</a:t>
            </a:r>
            <a:r>
              <a:rPr lang="zh-CN" altLang="en-US" sz="1100" dirty="0" smtClean="0">
                <a:solidFill>
                  <a:srgbClr val="000000"/>
                </a:solidFill>
                <a:latin typeface="黑体" panose="02010609060101010101" pitchFamily="49" charset="-122"/>
                <a:ea typeface="黑体" panose="02010609060101010101" pitchFamily="49" charset="-122"/>
              </a:rPr>
              <a:t>，实现区域不同的模式参数选取</a:t>
            </a:r>
            <a:r>
              <a:rPr lang="en-US" altLang="zh-CN" sz="1100" dirty="0" smtClean="0">
                <a:solidFill>
                  <a:srgbClr val="000000"/>
                </a:solidFill>
                <a:latin typeface="黑体" panose="02010609060101010101" pitchFamily="49" charset="-122"/>
                <a:ea typeface="黑体" panose="02010609060101010101" pitchFamily="49" charset="-122"/>
              </a:rPr>
              <a:t>;3-</a:t>
            </a:r>
            <a:r>
              <a:rPr lang="zh-CN" altLang="en-US" sz="1100" dirty="0" smtClean="0">
                <a:solidFill>
                  <a:srgbClr val="000000"/>
                </a:solidFill>
                <a:latin typeface="黑体" panose="02010609060101010101" pitchFamily="49" charset="-122"/>
                <a:ea typeface="黑体" panose="02010609060101010101" pitchFamily="49" charset="-122"/>
              </a:rPr>
              <a:t>区域分割的一个阈值为</a:t>
            </a:r>
            <a:r>
              <a:rPr lang="en-US" altLang="zh-CN" sz="1100" dirty="0" smtClean="0">
                <a:solidFill>
                  <a:srgbClr val="000000"/>
                </a:solidFill>
                <a:latin typeface="黑体" panose="02010609060101010101" pitchFamily="49" charset="-122"/>
                <a:ea typeface="黑体" panose="02010609060101010101" pitchFamily="49" charset="-122"/>
              </a:rPr>
              <a:t>G=15</a:t>
            </a:r>
            <a:endParaRPr lang="zh-CN" altLang="en-US" sz="1100" dirty="0">
              <a:solidFill>
                <a:srgbClr val="00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5"/>
          <a:stretch>
            <a:fillRect/>
          </a:stretch>
        </p:blipFill>
        <p:spPr>
          <a:xfrm>
            <a:off x="435876" y="2746410"/>
            <a:ext cx="3635091" cy="2807849"/>
          </a:xfrm>
          <a:prstGeom prst="rect">
            <a:avLst/>
          </a:prstGeom>
        </p:spPr>
      </p:pic>
      <p:sp>
        <p:nvSpPr>
          <p:cNvPr id="32" name="矩形 20"/>
          <p:cNvSpPr>
            <a:spLocks noChangeArrowheads="1"/>
          </p:cNvSpPr>
          <p:nvPr/>
        </p:nvSpPr>
        <p:spPr bwMode="auto">
          <a:xfrm>
            <a:off x="1283864" y="5510177"/>
            <a:ext cx="244169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100" dirty="0" smtClean="0">
                <a:solidFill>
                  <a:srgbClr val="000000"/>
                </a:solidFill>
                <a:latin typeface="黑体" panose="02010609060101010101" pitchFamily="49" charset="-122"/>
                <a:ea typeface="黑体" panose="02010609060101010101" pitchFamily="49" charset="-122"/>
              </a:rPr>
              <a:t>不同梯度分区域阈值下收敛偏差变化</a:t>
            </a:r>
            <a:endParaRPr lang="zh-CN" altLang="en-US" sz="1100" dirty="0">
              <a:solidFill>
                <a:srgbClr val="000000"/>
              </a:solidFill>
              <a:latin typeface="黑体" panose="02010609060101010101" pitchFamily="49" charset="-122"/>
              <a:ea typeface="黑体" panose="02010609060101010101" pitchFamily="49" charset="-122"/>
            </a:endParaRPr>
          </a:p>
        </p:txBody>
      </p:sp>
      <p:sp>
        <p:nvSpPr>
          <p:cNvPr id="33" name="椭圆 32"/>
          <p:cNvSpPr/>
          <p:nvPr/>
        </p:nvSpPr>
        <p:spPr>
          <a:xfrm>
            <a:off x="1767771" y="4411350"/>
            <a:ext cx="736940" cy="638683"/>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矩形 20"/>
          <p:cNvSpPr>
            <a:spLocks noChangeArrowheads="1"/>
          </p:cNvSpPr>
          <p:nvPr/>
        </p:nvSpPr>
        <p:spPr bwMode="auto">
          <a:xfrm>
            <a:off x="2700192" y="3776584"/>
            <a:ext cx="1136414"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100" b="1" dirty="0" smtClean="0">
                <a:solidFill>
                  <a:srgbClr val="000000"/>
                </a:solidFill>
                <a:latin typeface="黑体" panose="02010609060101010101" pitchFamily="49" charset="-122"/>
                <a:ea typeface="黑体" panose="02010609060101010101" pitchFamily="49" charset="-122"/>
              </a:rPr>
              <a:t>G-&gt;10~20</a:t>
            </a:r>
            <a:r>
              <a:rPr lang="zh-CN" altLang="en-US" sz="1100" b="1" dirty="0" smtClean="0">
                <a:solidFill>
                  <a:srgbClr val="000000"/>
                </a:solidFill>
                <a:latin typeface="黑体" panose="02010609060101010101" pitchFamily="49" charset="-122"/>
                <a:ea typeface="黑体" panose="02010609060101010101" pitchFamily="49" charset="-122"/>
              </a:rPr>
              <a:t>之间可以获得小的收敛偏差</a:t>
            </a:r>
            <a:endParaRPr lang="zh-CN" altLang="en-US" sz="1100" b="1" dirty="0">
              <a:solidFill>
                <a:srgbClr val="000000"/>
              </a:solidFill>
              <a:latin typeface="黑体" panose="02010609060101010101" pitchFamily="49" charset="-122"/>
              <a:ea typeface="黑体" panose="02010609060101010101" pitchFamily="49" charset="-122"/>
            </a:endParaRPr>
          </a:p>
        </p:txBody>
      </p:sp>
      <p:cxnSp>
        <p:nvCxnSpPr>
          <p:cNvPr id="5" name="直接箭头连接符 4"/>
          <p:cNvCxnSpPr/>
          <p:nvPr/>
        </p:nvCxnSpPr>
        <p:spPr>
          <a:xfrm flipH="1">
            <a:off x="2524990" y="4359617"/>
            <a:ext cx="486202" cy="3193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6"/>
          <a:stretch>
            <a:fillRect/>
          </a:stretch>
        </p:blipFill>
        <p:spPr>
          <a:xfrm>
            <a:off x="4551244" y="2390664"/>
            <a:ext cx="4584365" cy="3972168"/>
          </a:xfrm>
          <a:prstGeom prst="rect">
            <a:avLst/>
          </a:prstGeom>
        </p:spPr>
      </p:pic>
      <p:sp>
        <p:nvSpPr>
          <p:cNvPr id="39" name="矩形 20"/>
          <p:cNvSpPr>
            <a:spLocks noChangeArrowheads="1"/>
          </p:cNvSpPr>
          <p:nvPr/>
        </p:nvSpPr>
        <p:spPr bwMode="auto">
          <a:xfrm>
            <a:off x="5975239" y="6510879"/>
            <a:ext cx="173637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100" dirty="0" smtClean="0">
                <a:solidFill>
                  <a:srgbClr val="000000"/>
                </a:solidFill>
                <a:latin typeface="黑体" panose="02010609060101010101" pitchFamily="49" charset="-122"/>
                <a:ea typeface="黑体" panose="02010609060101010101" pitchFamily="49" charset="-122"/>
              </a:rPr>
              <a:t>DA</a:t>
            </a:r>
            <a:r>
              <a:rPr lang="zh-CN" altLang="en-US" sz="1100" dirty="0" smtClean="0">
                <a:solidFill>
                  <a:srgbClr val="000000"/>
                </a:solidFill>
                <a:latin typeface="黑体" panose="02010609060101010101" pitchFamily="49" charset="-122"/>
                <a:ea typeface="黑体" panose="02010609060101010101" pitchFamily="49" charset="-122"/>
              </a:rPr>
              <a:t>前后剖面测点速度分布</a:t>
            </a:r>
            <a:endParaRPr lang="zh-CN" altLang="en-US" sz="1100" dirty="0">
              <a:solidFill>
                <a:srgbClr val="000000"/>
              </a:solidFill>
              <a:latin typeface="黑体" panose="02010609060101010101" pitchFamily="49" charset="-122"/>
              <a:ea typeface="黑体" panose="02010609060101010101" pitchFamily="49" charset="-122"/>
            </a:endParaRPr>
          </a:p>
        </p:txBody>
      </p:sp>
      <p:pic>
        <p:nvPicPr>
          <p:cNvPr id="41" name="Picture 8"/>
          <p:cNvPicPr>
            <a:picLocks noChangeAspect="1" noChangeArrowheads="1"/>
          </p:cNvPicPr>
          <p:nvPr/>
        </p:nvPicPr>
        <p:blipFill rotWithShape="1">
          <a:blip r:embed="rId4">
            <a:extLst>
              <a:ext uri="{28A0092B-C50C-407E-A947-70E740481C1C}">
                <a14:useLocalDpi xmlns:a14="http://schemas.microsoft.com/office/drawing/2010/main" val="0"/>
              </a:ext>
            </a:extLst>
          </a:blip>
          <a:srcRect l="51406"/>
          <a:stretch/>
        </p:blipFill>
        <p:spPr bwMode="auto">
          <a:xfrm>
            <a:off x="9294775" y="4376748"/>
            <a:ext cx="2719405" cy="2403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2" name="矩形 21"/>
          <p:cNvSpPr>
            <a:spLocks noChangeArrowheads="1"/>
          </p:cNvSpPr>
          <p:nvPr/>
        </p:nvSpPr>
        <p:spPr bwMode="auto">
          <a:xfrm>
            <a:off x="10221887" y="4197057"/>
            <a:ext cx="11079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dirty="0">
                <a:solidFill>
                  <a:srgbClr val="000000"/>
                </a:solidFill>
                <a:latin typeface="黑体" panose="02010609060101010101" pitchFamily="49" charset="-122"/>
                <a:ea typeface="黑体" panose="02010609060101010101" pitchFamily="49" charset="-122"/>
              </a:rPr>
              <a:t>表面摩阻系数</a:t>
            </a:r>
          </a:p>
        </p:txBody>
      </p:sp>
      <p:sp>
        <p:nvSpPr>
          <p:cNvPr id="43" name="矩形 42"/>
          <p:cNvSpPr/>
          <p:nvPr/>
        </p:nvSpPr>
        <p:spPr>
          <a:xfrm>
            <a:off x="3596935" y="1565467"/>
            <a:ext cx="26743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smtClean="0">
                <a:solidFill>
                  <a:srgbClr val="FF0000"/>
                </a:solidFill>
                <a:latin typeface="Times New Roman" panose="02020603050405020304" pitchFamily="18" charset="0"/>
                <a:ea typeface="微软雅黑" panose="020B0503020204020204" pitchFamily="34" charset="-122"/>
              </a:rPr>
              <a:t>Li et al. (2017), J. </a:t>
            </a:r>
            <a:r>
              <a:rPr lang="en-US" altLang="zh-CN" sz="1400" b="1" dirty="0" err="1" smtClean="0">
                <a:solidFill>
                  <a:srgbClr val="FF0000"/>
                </a:solidFill>
                <a:latin typeface="Times New Roman" panose="02020603050405020304" pitchFamily="18" charset="0"/>
                <a:ea typeface="微软雅黑" panose="020B0503020204020204" pitchFamily="34" charset="-122"/>
              </a:rPr>
              <a:t>Comput</a:t>
            </a:r>
            <a:r>
              <a:rPr lang="en-US" altLang="zh-CN" sz="1400" b="1" dirty="0" smtClean="0">
                <a:solidFill>
                  <a:srgbClr val="FF0000"/>
                </a:solidFill>
                <a:latin typeface="Times New Roman" panose="02020603050405020304" pitchFamily="18" charset="0"/>
                <a:ea typeface="微软雅黑" panose="020B0503020204020204" pitchFamily="34" charset="-122"/>
              </a:rPr>
              <a:t>. Phys.</a:t>
            </a:r>
            <a:endParaRPr lang="zh-CN" altLang="en-US" sz="1400" b="1" dirty="0">
              <a:solidFill>
                <a:srgbClr val="FF0000"/>
              </a:solidFill>
              <a:latin typeface="Times New Roman" panose="02020603050405020304" pitchFamily="18" charset="0"/>
              <a:ea typeface="微软雅黑" panose="020B0503020204020204" pitchFamily="34"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71</a:t>
            </a:fld>
            <a:endParaRPr lang="zh-CN" altLang="en-US"/>
          </a:p>
        </p:txBody>
      </p:sp>
    </p:spTree>
    <p:extLst>
      <p:ext uri="{BB962C8B-B14F-4D97-AF65-F5344CB8AC3E}">
        <p14:creationId xmlns:p14="http://schemas.microsoft.com/office/powerpoint/2010/main" val="31228312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内容占位符 2"/>
          <p:cNvSpPr txBox="1">
            <a:spLocks/>
          </p:cNvSpPr>
          <p:nvPr/>
        </p:nvSpPr>
        <p:spPr bwMode="auto">
          <a:xfrm>
            <a:off x="683886" y="1208928"/>
            <a:ext cx="9532873"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spcBef>
                <a:spcPts val="1000"/>
              </a:spcBef>
            </a:pP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r>
              <a:rPr lang="zh-CN" altLang="en-US" sz="2000" dirty="0">
                <a:solidFill>
                  <a:srgbClr val="000000"/>
                </a:solidFill>
                <a:latin typeface="宋体" panose="02010600030101010101" pitchFamily="2" charset="-122"/>
                <a:ea typeface="宋体" panose="02010600030101010101" pitchFamily="2" charset="-122"/>
              </a:rPr>
              <a:t>目标函数的选取</a:t>
            </a: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r>
              <a:rPr lang="zh-CN" altLang="en-US" sz="2000" dirty="0">
                <a:solidFill>
                  <a:srgbClr val="000000"/>
                </a:solidFill>
                <a:latin typeface="宋体" panose="02010600030101010101" pitchFamily="2" charset="-122"/>
                <a:ea typeface="宋体" panose="02010600030101010101" pitchFamily="2" charset="-122"/>
              </a:rPr>
              <a:t>误差分析</a:t>
            </a: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endParaRPr lang="en-US" altLang="zh-CN" sz="2000" dirty="0">
              <a:solidFill>
                <a:srgbClr val="000000"/>
              </a:solidFill>
              <a:latin typeface="宋体" panose="02010600030101010101" pitchFamily="2" charset="-122"/>
              <a:ea typeface="宋体" panose="02010600030101010101" pitchFamily="2" charset="-122"/>
            </a:endParaRPr>
          </a:p>
          <a:p>
            <a:pPr>
              <a:spcBef>
                <a:spcPts val="1000"/>
              </a:spcBef>
            </a:pPr>
            <a:r>
              <a:rPr lang="zh-CN" altLang="en-US" sz="2000" dirty="0">
                <a:solidFill>
                  <a:srgbClr val="000000"/>
                </a:solidFill>
                <a:latin typeface="宋体" panose="02010600030101010101" pitchFamily="2" charset="-122"/>
                <a:ea typeface="宋体" panose="02010600030101010101" pitchFamily="2" charset="-122"/>
              </a:rPr>
              <a:t>先验假设的选取</a:t>
            </a:r>
          </a:p>
        </p:txBody>
      </p:sp>
      <p:sp>
        <p:nvSpPr>
          <p:cNvPr id="132100" name="矩形 5"/>
          <p:cNvSpPr>
            <a:spLocks noChangeArrowheads="1"/>
          </p:cNvSpPr>
          <p:nvPr/>
        </p:nvSpPr>
        <p:spPr bwMode="auto">
          <a:xfrm>
            <a:off x="1562722" y="1966599"/>
            <a:ext cx="8790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dirty="0">
                <a:solidFill>
                  <a:srgbClr val="000000"/>
                </a:solidFill>
                <a:latin typeface="黑体" panose="02010609060101010101" pitchFamily="49" charset="-122"/>
                <a:ea typeface="黑体" panose="02010609060101010101" pitchFamily="49" charset="-122"/>
              </a:rPr>
              <a:t>实验观测数据的选取会对</a:t>
            </a:r>
            <a:r>
              <a:rPr lang="zh-CN" altLang="en-US" dirty="0" smtClean="0">
                <a:solidFill>
                  <a:srgbClr val="000000"/>
                </a:solidFill>
                <a:latin typeface="黑体" panose="02010609060101010101" pitchFamily="49" charset="-122"/>
                <a:ea typeface="黑体" panose="02010609060101010101" pitchFamily="49" charset="-122"/>
              </a:rPr>
              <a:t>数据同化结果</a:t>
            </a:r>
            <a:r>
              <a:rPr lang="zh-CN" altLang="en-US" dirty="0">
                <a:solidFill>
                  <a:srgbClr val="000000"/>
                </a:solidFill>
                <a:latin typeface="黑体" panose="02010609060101010101" pitchFamily="49" charset="-122"/>
                <a:ea typeface="黑体" panose="02010609060101010101" pitchFamily="49" charset="-122"/>
              </a:rPr>
              <a:t>产生重要影响，如何针对不同问题选取合适的观测数据，是否可结合机器学习的</a:t>
            </a:r>
            <a:r>
              <a:rPr lang="zh-CN" altLang="en-US" dirty="0" smtClean="0">
                <a:solidFill>
                  <a:srgbClr val="000000"/>
                </a:solidFill>
                <a:latin typeface="黑体" panose="02010609060101010101" pitchFamily="49" charset="-122"/>
                <a:ea typeface="黑体" panose="02010609060101010101" pitchFamily="49" charset="-122"/>
              </a:rPr>
              <a:t>方法</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132101" name="矩形 6"/>
          <p:cNvSpPr>
            <a:spLocks noChangeArrowheads="1"/>
          </p:cNvSpPr>
          <p:nvPr/>
        </p:nvSpPr>
        <p:spPr bwMode="auto">
          <a:xfrm>
            <a:off x="1562722" y="3474724"/>
            <a:ext cx="86540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dirty="0" err="1">
                <a:solidFill>
                  <a:srgbClr val="000000"/>
                </a:solidFill>
                <a:latin typeface="黑体" panose="02010609060101010101" pitchFamily="49" charset="-122"/>
                <a:ea typeface="黑体" panose="02010609060101010101" pitchFamily="49" charset="-122"/>
              </a:rPr>
              <a:t>Kalman</a:t>
            </a:r>
            <a:r>
              <a:rPr lang="zh-CN" altLang="en-US" dirty="0">
                <a:solidFill>
                  <a:srgbClr val="000000"/>
                </a:solidFill>
                <a:latin typeface="黑体" panose="02010609060101010101" pitchFamily="49" charset="-122"/>
                <a:ea typeface="黑体" panose="02010609060101010101" pitchFamily="49" charset="-122"/>
              </a:rPr>
              <a:t>滤波方法假设的观测数据、预测模型误差服从高斯分布，是否满足真实规律？</a:t>
            </a:r>
            <a:r>
              <a:rPr lang="zh-CN" altLang="en-US" dirty="0" smtClean="0">
                <a:solidFill>
                  <a:srgbClr val="000000"/>
                </a:solidFill>
                <a:latin typeface="黑体" panose="02010609060101010101" pitchFamily="49" charset="-122"/>
                <a:ea typeface="黑体" panose="02010609060101010101" pitchFamily="49" charset="-122"/>
              </a:rPr>
              <a:t>数据同化后</a:t>
            </a:r>
            <a:r>
              <a:rPr lang="zh-CN" altLang="en-US" dirty="0">
                <a:solidFill>
                  <a:srgbClr val="000000"/>
                </a:solidFill>
                <a:latin typeface="黑体" panose="02010609060101010101" pitchFamily="49" charset="-122"/>
                <a:ea typeface="黑体" panose="02010609060101010101" pitchFamily="49" charset="-122"/>
              </a:rPr>
              <a:t>的结果误差对数据的敏感性</a:t>
            </a:r>
            <a:r>
              <a:rPr lang="zh-CN" altLang="en-US" dirty="0" smtClean="0">
                <a:solidFill>
                  <a:srgbClr val="000000"/>
                </a:solidFill>
                <a:latin typeface="黑体" panose="02010609060101010101" pitchFamily="49" charset="-122"/>
                <a:ea typeface="黑体" panose="02010609060101010101" pitchFamily="49" charset="-122"/>
              </a:rPr>
              <a:t>如何</a:t>
            </a:r>
            <a:endParaRPr lang="en-US" altLang="zh-CN" dirty="0">
              <a:solidFill>
                <a:srgbClr val="000000"/>
              </a:solidFill>
              <a:latin typeface="黑体" panose="02010609060101010101" pitchFamily="49" charset="-122"/>
              <a:ea typeface="黑体" panose="02010609060101010101" pitchFamily="49" charset="-122"/>
            </a:endParaRPr>
          </a:p>
        </p:txBody>
      </p:sp>
      <p:sp>
        <p:nvSpPr>
          <p:cNvPr id="132102" name="矩形 7"/>
          <p:cNvSpPr>
            <a:spLocks noChangeArrowheads="1"/>
          </p:cNvSpPr>
          <p:nvPr/>
        </p:nvSpPr>
        <p:spPr bwMode="auto">
          <a:xfrm>
            <a:off x="1562722" y="5062224"/>
            <a:ext cx="86540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dirty="0">
                <a:solidFill>
                  <a:srgbClr val="000000"/>
                </a:solidFill>
                <a:latin typeface="黑体" panose="02010609060101010101" pitchFamily="49" charset="-122"/>
                <a:ea typeface="黑体" panose="02010609060101010101" pitchFamily="49" charset="-122"/>
              </a:rPr>
              <a:t>即预测模型参数的初始值如何选取（如上述小扰动方法中</a:t>
            </a:r>
            <a:r>
              <a:rPr lang="el-GR" altLang="zh-CN"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θ</a:t>
            </a:r>
            <a:r>
              <a:rPr lang="zh-CN" altLang="en-US" dirty="0" smtClean="0">
                <a:solidFill>
                  <a:srgbClr val="000000"/>
                </a:solidFill>
                <a:latin typeface="黑体" panose="02010609060101010101" pitchFamily="49" charset="-122"/>
                <a:ea typeface="黑体" panose="02010609060101010101" pitchFamily="49" charset="-122"/>
                <a:cs typeface="Times New Roman" panose="02020603050405020304" pitchFamily="18" charset="0"/>
              </a:rPr>
              <a:t>的</a:t>
            </a:r>
            <a:r>
              <a:rPr lang="zh-CN" altLang="en-US"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初始值</a:t>
            </a:r>
            <a:r>
              <a:rPr lang="zh-CN" altLang="en-US" dirty="0">
                <a:solidFill>
                  <a:srgbClr val="000000"/>
                </a:solidFill>
                <a:latin typeface="黑体" panose="02010609060101010101" pitchFamily="49" charset="-122"/>
                <a:ea typeface="黑体" panose="02010609060101010101" pitchFamily="49" charset="-122"/>
              </a:rPr>
              <a:t>），先验假设的合理选择将很大程度上提高</a:t>
            </a:r>
            <a:r>
              <a:rPr lang="zh-CN" altLang="en-US" dirty="0" smtClean="0">
                <a:solidFill>
                  <a:srgbClr val="000000"/>
                </a:solidFill>
                <a:latin typeface="黑体" panose="02010609060101010101" pitchFamily="49" charset="-122"/>
                <a:ea typeface="黑体" panose="02010609060101010101" pitchFamily="49" charset="-122"/>
              </a:rPr>
              <a:t>数据同化的精度</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8" name="文本框 7"/>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数据同化</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a:xfrm>
            <a:off x="7824542" y="5674565"/>
            <a:ext cx="2743200" cy="365125"/>
          </a:xfrm>
        </p:spPr>
        <p:txBody>
          <a:bodyPr/>
          <a:lstStyle/>
          <a:p>
            <a:fld id="{16D8DD02-547D-47A5-AAEA-525C7BEEAE57}" type="slidenum">
              <a:rPr lang="zh-CN" altLang="en-US" smtClean="0"/>
              <a:t>72</a:t>
            </a:fld>
            <a:endParaRPr lang="zh-CN" altLang="en-US"/>
          </a:p>
        </p:txBody>
      </p:sp>
    </p:spTree>
    <p:extLst>
      <p:ext uri="{BB962C8B-B14F-4D97-AF65-F5344CB8AC3E}">
        <p14:creationId xmlns:p14="http://schemas.microsoft.com/office/powerpoint/2010/main" val="8279095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244" y="3545781"/>
            <a:ext cx="10220520" cy="3168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24" name="内容占位符 2"/>
          <p:cNvSpPr txBox="1">
            <a:spLocks/>
          </p:cNvSpPr>
          <p:nvPr/>
        </p:nvSpPr>
        <p:spPr bwMode="auto">
          <a:xfrm>
            <a:off x="672916" y="1384074"/>
            <a:ext cx="3137084" cy="352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90000"/>
              </a:lnSpc>
              <a:spcBef>
                <a:spcPts val="1000"/>
              </a:spcBef>
              <a:buFont typeface="Arial" panose="020B0604020202020204" pitchFamily="34" charset="0"/>
              <a:buNone/>
              <a:defRPr sz="2000">
                <a:solidFill>
                  <a:srgbClr val="000000"/>
                </a:solidFill>
                <a:latin typeface="黑体" panose="02010609060101010101" pitchFamily="49" charset="-122"/>
                <a:ea typeface="黑体" panose="02010609060101010101" pitchFamily="49" charset="-122"/>
              </a:defRPr>
            </a:lvl1pPr>
            <a:lvl2pPr marL="685800" indent="-228600">
              <a:lnSpc>
                <a:spcPct val="90000"/>
              </a:lnSpc>
              <a:spcBef>
                <a:spcPts val="375"/>
              </a:spcBef>
              <a:buFont typeface="Arial" panose="020B0604020202020204" pitchFamily="34" charset="0"/>
              <a:buChar char="•"/>
              <a:defRPr>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9pPr>
          </a:lstStyle>
          <a:p>
            <a:r>
              <a:rPr lang="zh-CN" altLang="en-US" dirty="0"/>
              <a:t>人工智能的核心</a:t>
            </a:r>
            <a:r>
              <a:rPr lang="en-US" altLang="zh-CN" dirty="0"/>
              <a:t>-</a:t>
            </a:r>
            <a:r>
              <a:rPr lang="zh-CN" altLang="en-US" dirty="0"/>
              <a:t>机器学习</a:t>
            </a:r>
          </a:p>
        </p:txBody>
      </p:sp>
      <p:sp>
        <p:nvSpPr>
          <p:cNvPr id="133125" name="TextBox 4"/>
          <p:cNvSpPr txBox="1">
            <a:spLocks noChangeArrowheads="1"/>
          </p:cNvSpPr>
          <p:nvPr/>
        </p:nvSpPr>
        <p:spPr bwMode="auto">
          <a:xfrm>
            <a:off x="672916" y="1808163"/>
            <a:ext cx="1082635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600" dirty="0">
                <a:solidFill>
                  <a:srgbClr val="000000"/>
                </a:solidFill>
                <a:latin typeface="黑体" panose="02010609060101010101" pitchFamily="49" charset="-122"/>
                <a:ea typeface="黑体" panose="02010609060101010101" pitchFamily="49" charset="-122"/>
              </a:rPr>
              <a:t>机器学习：通过分析大量数据来进行学习，从而归纳和识别特定的目标。重在发现数据之间内在的模式，并作出预测</a:t>
            </a:r>
          </a:p>
        </p:txBody>
      </p:sp>
      <p:sp>
        <p:nvSpPr>
          <p:cNvPr id="8" name="TextBox 6"/>
          <p:cNvSpPr txBox="1"/>
          <p:nvPr/>
        </p:nvSpPr>
        <p:spPr>
          <a:xfrm>
            <a:off x="672916" y="2307640"/>
            <a:ext cx="10493848" cy="1077218"/>
          </a:xfrm>
          <a:prstGeom prst="rect">
            <a:avLst/>
          </a:prstGeom>
          <a:noFill/>
        </p:spPr>
        <p:txBody>
          <a:bodyPr wrap="square">
            <a:spAutoFit/>
          </a:bodyPr>
          <a:lstStyle/>
          <a:p>
            <a:pPr>
              <a:defRPr/>
            </a:pPr>
            <a:r>
              <a:rPr lang="zh-CN" altLang="en-US" sz="1600" dirty="0">
                <a:solidFill>
                  <a:prstClr val="black"/>
                </a:solidFill>
                <a:latin typeface="黑体" pitchFamily="49" charset="-122"/>
                <a:ea typeface="黑体" pitchFamily="49" charset="-122"/>
              </a:rPr>
              <a:t>分类：</a:t>
            </a:r>
            <a:endParaRPr lang="en-US" altLang="zh-CN" sz="1600" dirty="0">
              <a:solidFill>
                <a:prstClr val="black"/>
              </a:solidFill>
              <a:latin typeface="黑体" pitchFamily="49" charset="-122"/>
              <a:ea typeface="黑体" pitchFamily="49" charset="-122"/>
            </a:endParaRPr>
          </a:p>
          <a:p>
            <a:pPr marL="285750" indent="-285750">
              <a:buFont typeface="Wingdings" pitchFamily="2" charset="2"/>
              <a:buChar char="ü"/>
              <a:defRPr/>
            </a:pPr>
            <a:r>
              <a:rPr lang="zh-CN" altLang="en-US" sz="1600" dirty="0">
                <a:solidFill>
                  <a:prstClr val="black"/>
                </a:solidFill>
                <a:latin typeface="黑体" pitchFamily="49" charset="-122"/>
                <a:ea typeface="黑体" pitchFamily="49" charset="-122"/>
              </a:rPr>
              <a:t>监督式学习：用有标签的数据来训练算法进行机器学习</a:t>
            </a:r>
            <a:endParaRPr lang="en-US" altLang="zh-CN" sz="1600" dirty="0">
              <a:solidFill>
                <a:prstClr val="black"/>
              </a:solidFill>
              <a:latin typeface="黑体" pitchFamily="49" charset="-122"/>
              <a:ea typeface="黑体" pitchFamily="49" charset="-122"/>
            </a:endParaRPr>
          </a:p>
          <a:p>
            <a:pPr marL="285750" indent="-285750">
              <a:buFont typeface="Wingdings" pitchFamily="2" charset="2"/>
              <a:buChar char="ü"/>
              <a:defRPr/>
            </a:pPr>
            <a:r>
              <a:rPr lang="zh-CN" altLang="en-US" sz="1600" dirty="0">
                <a:solidFill>
                  <a:prstClr val="black"/>
                </a:solidFill>
                <a:latin typeface="黑体" pitchFamily="49" charset="-122"/>
                <a:ea typeface="黑体" pitchFamily="49" charset="-122"/>
              </a:rPr>
              <a:t>非监督式学习：训练数据没有标签，找出数据内部的关联和模式</a:t>
            </a:r>
            <a:endParaRPr lang="en-US" altLang="zh-CN" sz="1600" dirty="0">
              <a:solidFill>
                <a:prstClr val="black"/>
              </a:solidFill>
              <a:latin typeface="黑体" pitchFamily="49" charset="-122"/>
              <a:ea typeface="黑体" pitchFamily="49" charset="-122"/>
            </a:endParaRPr>
          </a:p>
          <a:p>
            <a:pPr marL="285750" indent="-285750">
              <a:buFont typeface="Wingdings" pitchFamily="2" charset="2"/>
              <a:buChar char="ü"/>
              <a:defRPr/>
            </a:pPr>
            <a:r>
              <a:rPr lang="zh-CN" altLang="en-US" sz="1600" dirty="0">
                <a:solidFill>
                  <a:prstClr val="black"/>
                </a:solidFill>
                <a:latin typeface="黑体" pitchFamily="49" charset="-122"/>
                <a:ea typeface="黑体" pitchFamily="49" charset="-122"/>
              </a:rPr>
              <a:t>半监督式学习：使用一部分有标签的训练数据和另一部分没有标签的训练数据，提高数据整体的准确率</a:t>
            </a:r>
            <a:endParaRPr lang="en-US" altLang="zh-CN" sz="1600" dirty="0">
              <a:solidFill>
                <a:prstClr val="black"/>
              </a:solidFill>
              <a:latin typeface="黑体" pitchFamily="49" charset="-122"/>
              <a:ea typeface="黑体" pitchFamily="49" charset="-122"/>
            </a:endParaRPr>
          </a:p>
        </p:txBody>
      </p:sp>
      <p:sp>
        <p:nvSpPr>
          <p:cNvPr id="7" name="文本框 6"/>
          <p:cNvSpPr txBox="1"/>
          <p:nvPr/>
        </p:nvSpPr>
        <p:spPr>
          <a:xfrm>
            <a:off x="672916" y="772765"/>
            <a:ext cx="2652175"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人工智能</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73</a:t>
            </a:fld>
            <a:endParaRPr lang="zh-CN" altLang="en-US"/>
          </a:p>
        </p:txBody>
      </p:sp>
    </p:spTree>
    <p:extLst>
      <p:ext uri="{BB962C8B-B14F-4D97-AF65-F5344CB8AC3E}">
        <p14:creationId xmlns:p14="http://schemas.microsoft.com/office/powerpoint/2010/main" val="23009224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内容占位符 2"/>
          <p:cNvSpPr txBox="1">
            <a:spLocks/>
          </p:cNvSpPr>
          <p:nvPr/>
        </p:nvSpPr>
        <p:spPr bwMode="auto">
          <a:xfrm>
            <a:off x="672916" y="1487489"/>
            <a:ext cx="78867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90000"/>
              </a:lnSpc>
              <a:spcBef>
                <a:spcPts val="1000"/>
              </a:spcBef>
              <a:buFont typeface="Arial" panose="020B0604020202020204" pitchFamily="34" charset="0"/>
              <a:buNone/>
              <a:defRPr sz="2000">
                <a:solidFill>
                  <a:srgbClr val="000000"/>
                </a:solidFill>
                <a:latin typeface="黑体" panose="02010609060101010101" pitchFamily="49" charset="-122"/>
                <a:ea typeface="黑体" panose="02010609060101010101" pitchFamily="49" charset="-122"/>
              </a:defRPr>
            </a:lvl1pPr>
            <a:lvl2pPr marL="685800" indent="-228600">
              <a:lnSpc>
                <a:spcPct val="90000"/>
              </a:lnSpc>
              <a:spcBef>
                <a:spcPts val="375"/>
              </a:spcBef>
              <a:buFont typeface="Arial" panose="020B0604020202020204" pitchFamily="34" charset="0"/>
              <a:buChar char="•"/>
              <a:defRPr>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9pPr>
          </a:lstStyle>
          <a:p>
            <a:r>
              <a:rPr lang="zh-CN" altLang="en-US" dirty="0"/>
              <a:t>机器学习在流体力学中的应用：模型降阶、流动控制</a:t>
            </a:r>
          </a:p>
        </p:txBody>
      </p:sp>
      <p:pic>
        <p:nvPicPr>
          <p:cNvPr id="13414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473" y="2516982"/>
            <a:ext cx="11185493" cy="2833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4149" name="TextBox 6"/>
          <p:cNvSpPr txBox="1">
            <a:spLocks noChangeArrowheads="1"/>
          </p:cNvSpPr>
          <p:nvPr/>
        </p:nvSpPr>
        <p:spPr bwMode="auto">
          <a:xfrm>
            <a:off x="424837" y="5585617"/>
            <a:ext cx="229981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dirty="0" smtClean="0">
                <a:solidFill>
                  <a:srgbClr val="000000"/>
                </a:solidFill>
                <a:latin typeface="黑体" panose="02010609060101010101" pitchFamily="49" charset="-122"/>
                <a:ea typeface="黑体" panose="02010609060101010101" pitchFamily="49" charset="-122"/>
              </a:rPr>
              <a:t>POD/PCA(</a:t>
            </a:r>
            <a:r>
              <a:rPr lang="zh-CN" altLang="en-US" sz="1600" dirty="0">
                <a:solidFill>
                  <a:srgbClr val="000000"/>
                </a:solidFill>
                <a:latin typeface="黑体" panose="02010609060101010101" pitchFamily="49" charset="-122"/>
                <a:ea typeface="黑体" panose="02010609060101010101" pitchFamily="49" charset="-122"/>
              </a:rPr>
              <a:t>本征正交分解</a:t>
            </a:r>
            <a:r>
              <a:rPr lang="en-US" altLang="zh-CN" sz="1600" dirty="0">
                <a:solidFill>
                  <a:srgbClr val="000000"/>
                </a:solidFill>
                <a:latin typeface="黑体" panose="02010609060101010101" pitchFamily="49" charset="-122"/>
                <a:ea typeface="黑体" panose="02010609060101010101" pitchFamily="49" charset="-122"/>
              </a:rPr>
              <a:t>)</a:t>
            </a:r>
          </a:p>
          <a:p>
            <a:pPr eaLnBrk="1" hangingPunct="1"/>
            <a:r>
              <a:rPr lang="en-US" altLang="zh-CN" sz="1600" dirty="0" smtClean="0">
                <a:solidFill>
                  <a:srgbClr val="000000"/>
                </a:solidFill>
                <a:latin typeface="黑体" panose="02010609060101010101" pitchFamily="49" charset="-122"/>
                <a:ea typeface="黑体" panose="02010609060101010101" pitchFamily="49" charset="-122"/>
              </a:rPr>
              <a:t>DMD</a:t>
            </a:r>
            <a:r>
              <a:rPr lang="en-US" altLang="zh-CN" sz="1600" dirty="0">
                <a:solidFill>
                  <a:srgbClr val="000000"/>
                </a:solidFill>
                <a:latin typeface="黑体" panose="02010609060101010101" pitchFamily="49" charset="-122"/>
                <a:ea typeface="黑体" panose="02010609060101010101" pitchFamily="49" charset="-122"/>
              </a:rPr>
              <a:t>(</a:t>
            </a:r>
            <a:r>
              <a:rPr lang="zh-CN" altLang="en-US" sz="1600" dirty="0">
                <a:solidFill>
                  <a:srgbClr val="000000"/>
                </a:solidFill>
                <a:latin typeface="黑体" panose="02010609060101010101" pitchFamily="49" charset="-122"/>
                <a:ea typeface="黑体" panose="02010609060101010101" pitchFamily="49" charset="-122"/>
              </a:rPr>
              <a:t>动力学模态分解</a:t>
            </a:r>
            <a:r>
              <a:rPr lang="en-US" altLang="zh-CN" sz="1600" dirty="0">
                <a:solidFill>
                  <a:srgbClr val="000000"/>
                </a:solidFill>
                <a:latin typeface="黑体" panose="02010609060101010101" pitchFamily="49" charset="-122"/>
                <a:ea typeface="黑体" panose="02010609060101010101" pitchFamily="49" charset="-122"/>
              </a:rPr>
              <a:t>)</a:t>
            </a:r>
            <a:endParaRPr lang="zh-CN" altLang="en-US" sz="1600" dirty="0">
              <a:solidFill>
                <a:srgbClr val="000000"/>
              </a:solidFill>
              <a:latin typeface="黑体" panose="02010609060101010101" pitchFamily="49" charset="-122"/>
              <a:ea typeface="黑体" panose="02010609060101010101" pitchFamily="49" charset="-122"/>
            </a:endParaRPr>
          </a:p>
        </p:txBody>
      </p:sp>
      <p:sp>
        <p:nvSpPr>
          <p:cNvPr id="134150" name="TextBox 8"/>
          <p:cNvSpPr txBox="1">
            <a:spLocks noChangeArrowheads="1"/>
          </p:cNvSpPr>
          <p:nvPr/>
        </p:nvSpPr>
        <p:spPr bwMode="auto">
          <a:xfrm>
            <a:off x="2746533" y="5585617"/>
            <a:ext cx="25255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1400" dirty="0" smtClean="0">
                <a:solidFill>
                  <a:srgbClr val="000000"/>
                </a:solidFill>
                <a:latin typeface="黑体" panose="02010609060101010101" pitchFamily="49" charset="-122"/>
                <a:ea typeface="黑体" panose="02010609060101010101" pitchFamily="49" charset="-122"/>
              </a:rPr>
              <a:t>sAE(shallow autoencoder, </a:t>
            </a:r>
            <a:r>
              <a:rPr lang="zh-CN" altLang="en-US" sz="1400" dirty="0" smtClean="0">
                <a:solidFill>
                  <a:srgbClr val="000000"/>
                </a:solidFill>
                <a:latin typeface="黑体" panose="02010609060101010101" pitchFamily="49" charset="-122"/>
                <a:ea typeface="黑体" panose="02010609060101010101" pitchFamily="49" charset="-122"/>
              </a:rPr>
              <a:t>浅层</a:t>
            </a:r>
            <a:r>
              <a:rPr lang="zh-CN" altLang="en-US" sz="1400" dirty="0">
                <a:solidFill>
                  <a:srgbClr val="000000"/>
                </a:solidFill>
                <a:latin typeface="黑体" panose="02010609060101010101" pitchFamily="49" charset="-122"/>
                <a:ea typeface="黑体" panose="02010609060101010101" pitchFamily="49" charset="-122"/>
              </a:rPr>
              <a:t>自编码器</a:t>
            </a:r>
            <a:r>
              <a:rPr lang="en-US" altLang="zh-CN" sz="1400" dirty="0">
                <a:solidFill>
                  <a:srgbClr val="000000"/>
                </a:solidFill>
                <a:latin typeface="黑体" panose="02010609060101010101" pitchFamily="49" charset="-122"/>
                <a:ea typeface="黑体" panose="02010609060101010101" pitchFamily="49" charset="-122"/>
              </a:rPr>
              <a:t>)</a:t>
            </a:r>
            <a:endParaRPr lang="zh-CN" altLang="en-US" sz="1400" dirty="0">
              <a:solidFill>
                <a:srgbClr val="000000"/>
              </a:solidFill>
              <a:latin typeface="黑体" panose="02010609060101010101" pitchFamily="49" charset="-122"/>
              <a:ea typeface="黑体" panose="02010609060101010101" pitchFamily="49" charset="-122"/>
            </a:endParaRPr>
          </a:p>
        </p:txBody>
      </p:sp>
      <p:sp>
        <p:nvSpPr>
          <p:cNvPr id="134151" name="TextBox 9"/>
          <p:cNvSpPr txBox="1">
            <a:spLocks noChangeArrowheads="1"/>
          </p:cNvSpPr>
          <p:nvPr/>
        </p:nvSpPr>
        <p:spPr bwMode="auto">
          <a:xfrm>
            <a:off x="6659178" y="5826287"/>
            <a:ext cx="38008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dirty="0" smtClean="0">
                <a:solidFill>
                  <a:srgbClr val="000000"/>
                </a:solidFill>
                <a:latin typeface="黑体" panose="02010609060101010101" pitchFamily="49" charset="-122"/>
                <a:ea typeface="黑体" panose="02010609060101010101" pitchFamily="49" charset="-122"/>
              </a:rPr>
              <a:t>dAE(deep autoencoder, </a:t>
            </a:r>
            <a:r>
              <a:rPr lang="zh-CN" altLang="en-US" sz="1600" dirty="0" smtClean="0">
                <a:solidFill>
                  <a:srgbClr val="000000"/>
                </a:solidFill>
                <a:latin typeface="黑体" panose="02010609060101010101" pitchFamily="49" charset="-122"/>
                <a:ea typeface="黑体" panose="02010609060101010101" pitchFamily="49" charset="-122"/>
              </a:rPr>
              <a:t>深层</a:t>
            </a:r>
            <a:r>
              <a:rPr lang="zh-CN" altLang="en-US" sz="1600" dirty="0">
                <a:solidFill>
                  <a:srgbClr val="000000"/>
                </a:solidFill>
                <a:latin typeface="黑体" panose="02010609060101010101" pitchFamily="49" charset="-122"/>
                <a:ea typeface="黑体" panose="02010609060101010101" pitchFamily="49" charset="-122"/>
              </a:rPr>
              <a:t>自编码器</a:t>
            </a:r>
            <a:r>
              <a:rPr lang="en-US" altLang="zh-CN" sz="1600" dirty="0">
                <a:solidFill>
                  <a:srgbClr val="000000"/>
                </a:solidFill>
                <a:latin typeface="黑体" panose="02010609060101010101" pitchFamily="49" charset="-122"/>
                <a:ea typeface="黑体" panose="02010609060101010101" pitchFamily="49" charset="-122"/>
              </a:rPr>
              <a:t>)</a:t>
            </a:r>
            <a:endParaRPr lang="zh-CN" altLang="en-US" sz="1600" dirty="0">
              <a:solidFill>
                <a:srgbClr val="000000"/>
              </a:solidFill>
              <a:latin typeface="黑体" panose="02010609060101010101" pitchFamily="49" charset="-122"/>
              <a:ea typeface="黑体" panose="02010609060101010101" pitchFamily="49" charset="-122"/>
            </a:endParaRPr>
          </a:p>
        </p:txBody>
      </p:sp>
      <p:sp>
        <p:nvSpPr>
          <p:cNvPr id="134152" name="TextBox 10"/>
          <p:cNvSpPr txBox="1">
            <a:spLocks noChangeArrowheads="1"/>
          </p:cNvSpPr>
          <p:nvPr/>
        </p:nvSpPr>
        <p:spPr bwMode="auto">
          <a:xfrm>
            <a:off x="672916" y="2005093"/>
            <a:ext cx="8321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buFont typeface="Wingdings" panose="05000000000000000000" pitchFamily="2" charset="2"/>
              <a:buChar char="Ø"/>
            </a:pPr>
            <a:r>
              <a:rPr lang="zh-CN" altLang="en-US">
                <a:solidFill>
                  <a:srgbClr val="000000"/>
                </a:solidFill>
                <a:latin typeface="黑体" panose="02010609060101010101" pitchFamily="49" charset="-122"/>
                <a:ea typeface="黑体" panose="02010609060101010101" pitchFamily="49" charset="-122"/>
              </a:rPr>
              <a:t>利用机器学习进行模型降阶：提取流场中的有效、关键特征（多为非监督学习）</a:t>
            </a:r>
          </a:p>
        </p:txBody>
      </p:sp>
      <p:cxnSp>
        <p:nvCxnSpPr>
          <p:cNvPr id="134153" name="直接连接符 10"/>
          <p:cNvCxnSpPr>
            <a:cxnSpLocks noChangeShapeType="1"/>
          </p:cNvCxnSpPr>
          <p:nvPr/>
        </p:nvCxnSpPr>
        <p:spPr bwMode="auto">
          <a:xfrm>
            <a:off x="2724655" y="5552066"/>
            <a:ext cx="0" cy="1225550"/>
          </a:xfrm>
          <a:prstGeom prst="line">
            <a:avLst/>
          </a:prstGeom>
          <a:noFill/>
          <a:ln w="22225" algn="ctr">
            <a:solidFill>
              <a:srgbClr val="000000"/>
            </a:solidFill>
            <a:prstDash val="dash"/>
            <a:miter lim="800000"/>
            <a:headEnd/>
            <a:tailEnd/>
          </a:ln>
          <a:extLst>
            <a:ext uri="{909E8E84-426E-40DD-AFC4-6F175D3DCCD1}">
              <a14:hiddenFill xmlns:a14="http://schemas.microsoft.com/office/drawing/2010/main">
                <a:noFill/>
              </a14:hiddenFill>
            </a:ext>
          </a:extLst>
        </p:spPr>
      </p:cxnSp>
      <p:cxnSp>
        <p:nvCxnSpPr>
          <p:cNvPr id="134154" name="直接连接符 11"/>
          <p:cNvCxnSpPr>
            <a:cxnSpLocks noChangeShapeType="1"/>
          </p:cNvCxnSpPr>
          <p:nvPr/>
        </p:nvCxnSpPr>
        <p:spPr bwMode="auto">
          <a:xfrm>
            <a:off x="5374516" y="5535397"/>
            <a:ext cx="0" cy="1258888"/>
          </a:xfrm>
          <a:prstGeom prst="line">
            <a:avLst/>
          </a:prstGeom>
          <a:noFill/>
          <a:ln w="22225" algn="ctr">
            <a:solidFill>
              <a:srgbClr val="000000"/>
            </a:solidFill>
            <a:prstDash val="dash"/>
            <a:miter lim="800000"/>
            <a:headEnd/>
            <a:tailEnd/>
          </a:ln>
          <a:extLst>
            <a:ext uri="{909E8E84-426E-40DD-AFC4-6F175D3DCCD1}">
              <a14:hiddenFill xmlns:a14="http://schemas.microsoft.com/office/drawing/2010/main">
                <a:noFill/>
              </a14:hiddenFill>
            </a:ext>
          </a:extLst>
        </p:spPr>
      </p:cxnSp>
      <p:sp>
        <p:nvSpPr>
          <p:cNvPr id="134156" name="TextBox 17"/>
          <p:cNvSpPr txBox="1">
            <a:spLocks noChangeArrowheads="1"/>
          </p:cNvSpPr>
          <p:nvPr/>
        </p:nvSpPr>
        <p:spPr bwMode="auto">
          <a:xfrm>
            <a:off x="2917394" y="6128029"/>
            <a:ext cx="22094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1600" dirty="0">
                <a:solidFill>
                  <a:srgbClr val="C00000"/>
                </a:solidFill>
                <a:latin typeface="黑体" panose="02010609060101010101" pitchFamily="49" charset="-122"/>
                <a:ea typeface="黑体" panose="02010609060101010101" pitchFamily="49" charset="-122"/>
              </a:rPr>
              <a:t>双层</a:t>
            </a:r>
            <a:r>
              <a:rPr lang="zh-CN" altLang="en-US" sz="1600" dirty="0" smtClean="0">
                <a:solidFill>
                  <a:srgbClr val="C00000"/>
                </a:solidFill>
                <a:latin typeface="黑体" panose="02010609060101010101" pitchFamily="49" charset="-122"/>
                <a:ea typeface="黑体" panose="02010609060101010101" pitchFamily="49" charset="-122"/>
              </a:rPr>
              <a:t>神经网络</a:t>
            </a:r>
            <a:r>
              <a:rPr lang="en-US" altLang="zh-CN" sz="1600" dirty="0" smtClean="0">
                <a:solidFill>
                  <a:srgbClr val="C00000"/>
                </a:solidFill>
                <a:latin typeface="黑体" panose="02010609060101010101" pitchFamily="49" charset="-122"/>
                <a:ea typeface="黑体" panose="02010609060101010101" pitchFamily="49" charset="-122"/>
              </a:rPr>
              <a:t>:</a:t>
            </a:r>
            <a:r>
              <a:rPr lang="zh-CN" altLang="en-US" sz="1600" dirty="0" smtClean="0">
                <a:solidFill>
                  <a:srgbClr val="C00000"/>
                </a:solidFill>
                <a:latin typeface="黑体" panose="02010609060101010101" pitchFamily="49" charset="-122"/>
                <a:ea typeface="黑体" panose="02010609060101010101" pitchFamily="49" charset="-122"/>
              </a:rPr>
              <a:t>可实现</a:t>
            </a:r>
            <a:r>
              <a:rPr lang="en-US" altLang="zh-CN" sz="1600" dirty="0" smtClean="0">
                <a:solidFill>
                  <a:srgbClr val="C00000"/>
                </a:solidFill>
                <a:latin typeface="黑体" panose="02010609060101010101" pitchFamily="49" charset="-122"/>
                <a:ea typeface="黑体" panose="02010609060101010101" pitchFamily="49" charset="-122"/>
              </a:rPr>
              <a:t>POD</a:t>
            </a:r>
            <a:r>
              <a:rPr lang="zh-CN" altLang="en-US" sz="1600" dirty="0" smtClean="0">
                <a:solidFill>
                  <a:srgbClr val="000000"/>
                </a:solidFill>
                <a:latin typeface="黑体" panose="02010609060101010101" pitchFamily="49" charset="-122"/>
                <a:ea typeface="黑体" panose="02010609060101010101" pitchFamily="49" charset="-122"/>
              </a:rPr>
              <a:t>（</a:t>
            </a:r>
            <a:r>
              <a:rPr lang="zh-CN" altLang="en-US" sz="1600" dirty="0">
                <a:solidFill>
                  <a:srgbClr val="000000"/>
                </a:solidFill>
                <a:latin typeface="黑体" panose="02010609060101010101" pitchFamily="49" charset="-122"/>
                <a:ea typeface="黑体" panose="02010609060101010101" pitchFamily="49" charset="-122"/>
              </a:rPr>
              <a:t>线性问题）</a:t>
            </a:r>
          </a:p>
        </p:txBody>
      </p:sp>
      <p:sp>
        <p:nvSpPr>
          <p:cNvPr id="134157" name="TextBox 18"/>
          <p:cNvSpPr txBox="1">
            <a:spLocks noChangeArrowheads="1"/>
          </p:cNvSpPr>
          <p:nvPr/>
        </p:nvSpPr>
        <p:spPr bwMode="auto">
          <a:xfrm>
            <a:off x="7024287" y="6164841"/>
            <a:ext cx="26463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600" dirty="0">
                <a:solidFill>
                  <a:srgbClr val="C00000"/>
                </a:solidFill>
                <a:latin typeface="黑体" panose="02010609060101010101" pitchFamily="49" charset="-122"/>
                <a:ea typeface="黑体" panose="02010609060101010101" pitchFamily="49" charset="-122"/>
              </a:rPr>
              <a:t>深层神经网络</a:t>
            </a:r>
            <a:r>
              <a:rPr lang="zh-CN" altLang="en-US" sz="1600" dirty="0">
                <a:solidFill>
                  <a:srgbClr val="000000"/>
                </a:solidFill>
                <a:latin typeface="黑体" panose="02010609060101010101" pitchFamily="49" charset="-122"/>
                <a:ea typeface="黑体" panose="02010609060101010101" pitchFamily="49" charset="-122"/>
              </a:rPr>
              <a:t>（非线性问题）</a:t>
            </a:r>
          </a:p>
        </p:txBody>
      </p:sp>
      <p:sp>
        <p:nvSpPr>
          <p:cNvPr id="14" name="文本框 13"/>
          <p:cNvSpPr txBox="1"/>
          <p:nvPr/>
        </p:nvSpPr>
        <p:spPr>
          <a:xfrm>
            <a:off x="672916" y="772765"/>
            <a:ext cx="2652175"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人工智能</a:t>
            </a:r>
            <a:endParaRPr lang="zh-CN" altLang="en-US" sz="3200" b="1" dirty="0">
              <a:latin typeface="华文细黑" panose="02010600040101010101" pitchFamily="2" charset="-122"/>
              <a:ea typeface="华文细黑" panose="02010600040101010101" pitchFamily="2" charset="-122"/>
            </a:endParaRPr>
          </a:p>
        </p:txBody>
      </p:sp>
      <p:sp>
        <p:nvSpPr>
          <p:cNvPr id="2" name="矩形 1"/>
          <p:cNvSpPr/>
          <p:nvPr/>
        </p:nvSpPr>
        <p:spPr>
          <a:xfrm>
            <a:off x="6119219" y="5126877"/>
            <a:ext cx="47679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err="1">
                <a:solidFill>
                  <a:srgbClr val="FF0000"/>
                </a:solidFill>
                <a:latin typeface="Times New Roman" panose="02020603050405020304" pitchFamily="18" charset="0"/>
                <a:ea typeface="微软雅黑" panose="020B0503020204020204" pitchFamily="34" charset="-122"/>
              </a:rPr>
              <a:t>Brunton</a:t>
            </a:r>
            <a:r>
              <a:rPr lang="en-US" altLang="zh-CN" sz="1400" b="1" dirty="0">
                <a:solidFill>
                  <a:srgbClr val="FF0000"/>
                </a:solidFill>
                <a:latin typeface="Times New Roman" panose="02020603050405020304" pitchFamily="18" charset="0"/>
                <a:ea typeface="微软雅黑" panose="020B0503020204020204" pitchFamily="34" charset="-122"/>
              </a:rPr>
              <a:t> </a:t>
            </a:r>
            <a:r>
              <a:rPr lang="en-US" altLang="zh-CN" sz="1400" b="1" dirty="0" smtClean="0">
                <a:solidFill>
                  <a:srgbClr val="FF0000"/>
                </a:solidFill>
                <a:latin typeface="Times New Roman" panose="02020603050405020304" pitchFamily="18" charset="0"/>
                <a:ea typeface="微软雅黑" panose="020B0503020204020204" pitchFamily="34" charset="-122"/>
              </a:rPr>
              <a:t>S et al. (2019), preprint, </a:t>
            </a:r>
            <a:r>
              <a:rPr lang="en-US" sz="1400" b="1" dirty="0" err="1" smtClean="0">
                <a:solidFill>
                  <a:srgbClr val="FF0000"/>
                </a:solidFill>
                <a:latin typeface="Times New Roman" panose="02020603050405020304" pitchFamily="18" charset="0"/>
                <a:ea typeface="微软雅黑" panose="020B0503020204020204" pitchFamily="34" charset="-122"/>
              </a:rPr>
              <a:t>Annu</a:t>
            </a:r>
            <a:r>
              <a:rPr lang="en-US" sz="1400" b="1" dirty="0" smtClean="0">
                <a:solidFill>
                  <a:srgbClr val="FF0000"/>
                </a:solidFill>
                <a:latin typeface="Times New Roman" panose="02020603050405020304" pitchFamily="18" charset="0"/>
                <a:ea typeface="微软雅黑" panose="020B0503020204020204" pitchFamily="34" charset="-122"/>
              </a:rPr>
              <a:t>. Rev. Fluid Mech.</a:t>
            </a:r>
            <a:endParaRPr lang="en-US" sz="1400" b="1" dirty="0">
              <a:solidFill>
                <a:srgbClr val="FF0000"/>
              </a:solidFill>
              <a:latin typeface="Times New Roman" panose="02020603050405020304" pitchFamily="18" charset="0"/>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16D8DD02-547D-47A5-AAEA-525C7BEEAE57}" type="slidenum">
              <a:rPr lang="zh-CN" altLang="en-US" smtClean="0"/>
              <a:t>74</a:t>
            </a:fld>
            <a:endParaRPr lang="zh-CN" altLang="en-US"/>
          </a:p>
        </p:txBody>
      </p:sp>
      <p:sp>
        <p:nvSpPr>
          <p:cNvPr id="4" name="矩形 3"/>
          <p:cNvSpPr/>
          <p:nvPr/>
        </p:nvSpPr>
        <p:spPr>
          <a:xfrm>
            <a:off x="2355920" y="112301"/>
            <a:ext cx="8279995" cy="1200329"/>
          </a:xfrm>
          <a:prstGeom prst="rect">
            <a:avLst/>
          </a:prstGeom>
        </p:spPr>
        <p:txBody>
          <a:bodyPr wrap="square">
            <a:spAutoFit/>
          </a:bodyPr>
          <a:lstStyle/>
          <a:p>
            <a:r>
              <a:rPr lang="zh-CN" altLang="en-US" dirty="0" smtClean="0"/>
              <a:t>每一层对应的数学运算可能是求和、卷积、相关、取极值等运算。最终，通过不断输入数据和已知的输出结果，确定出中间运算需要的参数，以便新的输入数据进来后按照这些参数确定的中间计算方法得到最终的输出结果，因为，整个模型是基于数据库建立的，正常来说，新的输入的计算结果也在这个数据库范围。</a:t>
            </a:r>
            <a:endParaRPr lang="zh-CN" altLang="en-US" dirty="0"/>
          </a:p>
        </p:txBody>
      </p:sp>
    </p:spTree>
    <p:extLst>
      <p:ext uri="{BB962C8B-B14F-4D97-AF65-F5344CB8AC3E}">
        <p14:creationId xmlns:p14="http://schemas.microsoft.com/office/powerpoint/2010/main" val="3073472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6194" name="组合 3"/>
          <p:cNvGrpSpPr>
            <a:grpSpLocks/>
          </p:cNvGrpSpPr>
          <p:nvPr/>
        </p:nvGrpSpPr>
        <p:grpSpPr bwMode="auto">
          <a:xfrm>
            <a:off x="6735885" y="1785034"/>
            <a:ext cx="3589206" cy="2848238"/>
            <a:chOff x="5220072" y="1247468"/>
            <a:chExt cx="3744416" cy="2971457"/>
          </a:xfrm>
        </p:grpSpPr>
        <p:pic>
          <p:nvPicPr>
            <p:cNvPr id="13620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1247468"/>
              <a:ext cx="3744416" cy="2971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3"/>
            <p:cNvSpPr txBox="1"/>
            <p:nvPr/>
          </p:nvSpPr>
          <p:spPr>
            <a:xfrm>
              <a:off x="7164502" y="1387152"/>
              <a:ext cx="1569829" cy="339686"/>
            </a:xfrm>
            <a:prstGeom prst="rect">
              <a:avLst/>
            </a:prstGeom>
            <a:noFill/>
            <a:ln w="19050">
              <a:solidFill>
                <a:sysClr val="windowText" lastClr="000000"/>
              </a:solidFill>
            </a:ln>
          </p:spPr>
          <p:txBody>
            <a:bodyPr>
              <a:spAutoFit/>
            </a:bodyPr>
            <a:lstStyle/>
            <a:p>
              <a:pPr>
                <a:defRPr/>
              </a:pPr>
              <a:r>
                <a:rPr lang="zh-CN" altLang="en-US" sz="1600" kern="0" dirty="0">
                  <a:solidFill>
                    <a:prstClr val="black"/>
                  </a:solidFill>
                  <a:latin typeface="黑体" pitchFamily="49" charset="-122"/>
                  <a:ea typeface="黑体" pitchFamily="49" charset="-122"/>
                </a:rPr>
                <a:t>近壁速度剖面</a:t>
              </a:r>
            </a:p>
          </p:txBody>
        </p:sp>
        <p:sp>
          <p:nvSpPr>
            <p:cNvPr id="7" name="TextBox 14"/>
            <p:cNvSpPr txBox="1"/>
            <p:nvPr/>
          </p:nvSpPr>
          <p:spPr>
            <a:xfrm>
              <a:off x="5599435" y="1726838"/>
              <a:ext cx="1322212" cy="306353"/>
            </a:xfrm>
            <a:prstGeom prst="rect">
              <a:avLst/>
            </a:prstGeom>
            <a:noFill/>
          </p:spPr>
          <p:txBody>
            <a:bodyPr>
              <a:spAutoFit/>
            </a:bodyPr>
            <a:lstStyle/>
            <a:p>
              <a:pPr>
                <a:defRPr/>
              </a:pPr>
              <a:r>
                <a:rPr lang="en-US" altLang="zh-CN" sz="1400" kern="0" dirty="0">
                  <a:solidFill>
                    <a:prstClr val="black"/>
                  </a:solidFill>
                  <a:latin typeface="黑体" pitchFamily="49" charset="-122"/>
                  <a:ea typeface="黑体" pitchFamily="49" charset="-122"/>
                </a:rPr>
                <a:t>POD</a:t>
              </a:r>
              <a:r>
                <a:rPr lang="zh-CN" altLang="en-US" sz="1400" kern="0" dirty="0">
                  <a:solidFill>
                    <a:prstClr val="black"/>
                  </a:solidFill>
                  <a:latin typeface="黑体" pitchFamily="49" charset="-122"/>
                  <a:ea typeface="黑体" pitchFamily="49" charset="-122"/>
                </a:rPr>
                <a:t>线性重构</a:t>
              </a:r>
            </a:p>
          </p:txBody>
        </p:sp>
        <p:sp>
          <p:nvSpPr>
            <p:cNvPr id="8" name="TextBox 15"/>
            <p:cNvSpPr txBox="1"/>
            <p:nvPr/>
          </p:nvSpPr>
          <p:spPr>
            <a:xfrm>
              <a:off x="7093073" y="1814141"/>
              <a:ext cx="1574591" cy="307939"/>
            </a:xfrm>
            <a:prstGeom prst="rect">
              <a:avLst/>
            </a:prstGeom>
            <a:noFill/>
          </p:spPr>
          <p:txBody>
            <a:bodyPr>
              <a:spAutoFit/>
            </a:bodyPr>
            <a:lstStyle/>
            <a:p>
              <a:pPr>
                <a:defRPr/>
              </a:pPr>
              <a:r>
                <a:rPr lang="zh-CN" altLang="en-US" sz="1400" kern="0" dirty="0">
                  <a:solidFill>
                    <a:prstClr val="black"/>
                  </a:solidFill>
                  <a:latin typeface="黑体" pitchFamily="49" charset="-122"/>
                  <a:ea typeface="黑体" pitchFamily="49" charset="-122"/>
                </a:rPr>
                <a:t>深层神经网络</a:t>
              </a:r>
            </a:p>
          </p:txBody>
        </p:sp>
        <p:sp>
          <p:nvSpPr>
            <p:cNvPr id="9" name="TextBox 16"/>
            <p:cNvSpPr txBox="1"/>
            <p:nvPr/>
          </p:nvSpPr>
          <p:spPr>
            <a:xfrm>
              <a:off x="7091487" y="2290336"/>
              <a:ext cx="1368243" cy="307939"/>
            </a:xfrm>
            <a:prstGeom prst="rect">
              <a:avLst/>
            </a:prstGeom>
            <a:noFill/>
          </p:spPr>
          <p:txBody>
            <a:bodyPr>
              <a:spAutoFit/>
            </a:bodyPr>
            <a:lstStyle/>
            <a:p>
              <a:pPr>
                <a:defRPr/>
              </a:pPr>
              <a:r>
                <a:rPr lang="en-US" altLang="zh-CN" sz="1400" kern="0" dirty="0">
                  <a:solidFill>
                    <a:prstClr val="black"/>
                  </a:solidFill>
                  <a:latin typeface="黑体" pitchFamily="49" charset="-122"/>
                  <a:ea typeface="黑体" pitchFamily="49" charset="-122"/>
                </a:rPr>
                <a:t>DNS</a:t>
              </a:r>
              <a:r>
                <a:rPr lang="zh-CN" altLang="en-US" sz="1400" kern="0" dirty="0">
                  <a:solidFill>
                    <a:prstClr val="black"/>
                  </a:solidFill>
                  <a:latin typeface="黑体" pitchFamily="49" charset="-122"/>
                  <a:ea typeface="黑体" pitchFamily="49" charset="-122"/>
                </a:rPr>
                <a:t>原始数据</a:t>
              </a:r>
            </a:p>
          </p:txBody>
        </p:sp>
        <p:cxnSp>
          <p:nvCxnSpPr>
            <p:cNvPr id="136214" name="直接箭头连接符 9"/>
            <p:cNvCxnSpPr>
              <a:cxnSpLocks noChangeShapeType="1"/>
            </p:cNvCxnSpPr>
            <p:nvPr/>
          </p:nvCxnSpPr>
          <p:spPr bwMode="auto">
            <a:xfrm flipH="1">
              <a:off x="6840252" y="2480122"/>
              <a:ext cx="324036" cy="170514"/>
            </a:xfrm>
            <a:prstGeom prst="straightConnector1">
              <a:avLst/>
            </a:prstGeom>
            <a:noFill/>
            <a:ln w="12700" algn="ctr">
              <a:solidFill>
                <a:srgbClr val="0D0D0D"/>
              </a:solidFill>
              <a:miter lim="800000"/>
              <a:headEnd/>
              <a:tailEnd type="stealth" w="med" len="lg"/>
            </a:ln>
            <a:extLst>
              <a:ext uri="{909E8E84-426E-40DD-AFC4-6F175D3DCCD1}">
                <a14:hiddenFill xmlns:a14="http://schemas.microsoft.com/office/drawing/2010/main">
                  <a:noFill/>
                </a14:hiddenFill>
              </a:ext>
            </a:extLst>
          </p:spPr>
        </p:cxnSp>
        <p:cxnSp>
          <p:nvCxnSpPr>
            <p:cNvPr id="136215" name="直接箭头连接符 10"/>
            <p:cNvCxnSpPr>
              <a:cxnSpLocks noChangeShapeType="1"/>
            </p:cNvCxnSpPr>
            <p:nvPr/>
          </p:nvCxnSpPr>
          <p:spPr bwMode="auto">
            <a:xfrm flipH="1">
              <a:off x="6893774" y="1968381"/>
              <a:ext cx="270514" cy="85257"/>
            </a:xfrm>
            <a:prstGeom prst="straightConnector1">
              <a:avLst/>
            </a:prstGeom>
            <a:noFill/>
            <a:ln w="12700" algn="ctr">
              <a:solidFill>
                <a:srgbClr val="0D0D0D"/>
              </a:solidFill>
              <a:miter lim="800000"/>
              <a:headEnd/>
              <a:tailEnd type="stealth" w="med" len="lg"/>
            </a:ln>
            <a:extLst>
              <a:ext uri="{909E8E84-426E-40DD-AFC4-6F175D3DCCD1}">
                <a14:hiddenFill xmlns:a14="http://schemas.microsoft.com/office/drawing/2010/main">
                  <a:noFill/>
                </a14:hiddenFill>
              </a:ext>
            </a:extLst>
          </p:spPr>
        </p:cxnSp>
        <p:cxnSp>
          <p:nvCxnSpPr>
            <p:cNvPr id="136216" name="直接箭头连接符 11"/>
            <p:cNvCxnSpPr>
              <a:cxnSpLocks noChangeShapeType="1"/>
            </p:cNvCxnSpPr>
            <p:nvPr/>
          </p:nvCxnSpPr>
          <p:spPr bwMode="auto">
            <a:xfrm>
              <a:off x="6291433" y="2063928"/>
              <a:ext cx="449566" cy="85257"/>
            </a:xfrm>
            <a:prstGeom prst="straightConnector1">
              <a:avLst/>
            </a:prstGeom>
            <a:noFill/>
            <a:ln w="12700" algn="ctr">
              <a:solidFill>
                <a:srgbClr val="0D0D0D"/>
              </a:solidFill>
              <a:miter lim="800000"/>
              <a:headEnd/>
              <a:tailEnd type="stealth" w="med" len="lg"/>
            </a:ln>
            <a:extLst>
              <a:ext uri="{909E8E84-426E-40DD-AFC4-6F175D3DCCD1}">
                <a14:hiddenFill xmlns:a14="http://schemas.microsoft.com/office/drawing/2010/main">
                  <a:noFill/>
                </a14:hiddenFill>
              </a:ext>
            </a:extLst>
          </p:spPr>
        </p:cxnSp>
      </p:grpSp>
      <p:grpSp>
        <p:nvGrpSpPr>
          <p:cNvPr id="136197" name="组合 14"/>
          <p:cNvGrpSpPr>
            <a:grpSpLocks/>
          </p:cNvGrpSpPr>
          <p:nvPr/>
        </p:nvGrpSpPr>
        <p:grpSpPr bwMode="auto">
          <a:xfrm>
            <a:off x="2855008" y="4545822"/>
            <a:ext cx="6840538" cy="2230582"/>
            <a:chOff x="1641959" y="4446386"/>
            <a:chExt cx="6840760" cy="2230095"/>
          </a:xfrm>
        </p:grpSpPr>
        <p:pic>
          <p:nvPicPr>
            <p:cNvPr id="13620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3002" b="5223"/>
            <a:stretch/>
          </p:blipFill>
          <p:spPr bwMode="auto">
            <a:xfrm>
              <a:off x="1641959" y="4446386"/>
              <a:ext cx="6840760" cy="2230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6206" name="TextBox 8"/>
            <p:cNvSpPr txBox="1">
              <a:spLocks noChangeArrowheads="1"/>
            </p:cNvSpPr>
            <p:nvPr/>
          </p:nvSpPr>
          <p:spPr bwMode="auto">
            <a:xfrm>
              <a:off x="1857983" y="4509120"/>
              <a:ext cx="13681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a:solidFill>
                    <a:srgbClr val="000000"/>
                  </a:solidFill>
                  <a:latin typeface="黑体" panose="02010609060101010101" pitchFamily="49" charset="-122"/>
                  <a:ea typeface="黑体" panose="02010609060101010101" pitchFamily="49" charset="-122"/>
                </a:rPr>
                <a:t>DNS</a:t>
              </a:r>
              <a:r>
                <a:rPr lang="zh-CN" altLang="en-US" sz="1600">
                  <a:solidFill>
                    <a:srgbClr val="000000"/>
                  </a:solidFill>
                  <a:latin typeface="黑体" panose="02010609060101010101" pitchFamily="49" charset="-122"/>
                  <a:ea typeface="黑体" panose="02010609060101010101" pitchFamily="49" charset="-122"/>
                </a:rPr>
                <a:t>原始数据</a:t>
              </a:r>
            </a:p>
          </p:txBody>
        </p:sp>
        <p:sp>
          <p:nvSpPr>
            <p:cNvPr id="136207" name="TextBox 9"/>
            <p:cNvSpPr txBox="1">
              <a:spLocks noChangeArrowheads="1"/>
            </p:cNvSpPr>
            <p:nvPr/>
          </p:nvSpPr>
          <p:spPr bwMode="auto">
            <a:xfrm>
              <a:off x="4090231" y="4509120"/>
              <a:ext cx="13681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dirty="0">
                  <a:solidFill>
                    <a:srgbClr val="000000"/>
                  </a:solidFill>
                  <a:latin typeface="黑体" panose="02010609060101010101" pitchFamily="49" charset="-122"/>
                  <a:ea typeface="黑体" panose="02010609060101010101" pitchFamily="49" charset="-122"/>
                </a:rPr>
                <a:t>POD</a:t>
              </a:r>
              <a:r>
                <a:rPr lang="zh-CN" altLang="en-US" sz="1600" dirty="0">
                  <a:solidFill>
                    <a:srgbClr val="000000"/>
                  </a:solidFill>
                  <a:latin typeface="黑体" panose="02010609060101010101" pitchFamily="49" charset="-122"/>
                  <a:ea typeface="黑体" panose="02010609060101010101" pitchFamily="49" charset="-122"/>
                </a:rPr>
                <a:t>线性重构</a:t>
              </a:r>
            </a:p>
          </p:txBody>
        </p:sp>
        <p:sp>
          <p:nvSpPr>
            <p:cNvPr id="136208" name="TextBox 10"/>
            <p:cNvSpPr txBox="1">
              <a:spLocks noChangeArrowheads="1"/>
            </p:cNvSpPr>
            <p:nvPr/>
          </p:nvSpPr>
          <p:spPr bwMode="auto">
            <a:xfrm>
              <a:off x="6259995" y="4493865"/>
              <a:ext cx="15746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600">
                  <a:solidFill>
                    <a:srgbClr val="000000"/>
                  </a:solidFill>
                  <a:latin typeface="黑体" panose="02010609060101010101" pitchFamily="49" charset="-122"/>
                  <a:ea typeface="黑体" panose="02010609060101010101" pitchFamily="49" charset="-122"/>
                </a:rPr>
                <a:t>深层神经网络</a:t>
              </a:r>
            </a:p>
          </p:txBody>
        </p:sp>
      </p:grpSp>
      <p:sp>
        <p:nvSpPr>
          <p:cNvPr id="136198" name="TextBox 12"/>
          <p:cNvSpPr txBox="1">
            <a:spLocks noChangeArrowheads="1"/>
          </p:cNvSpPr>
          <p:nvPr/>
        </p:nvSpPr>
        <p:spPr bwMode="auto">
          <a:xfrm>
            <a:off x="1309475" y="5563480"/>
            <a:ext cx="13684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600" dirty="0">
                <a:solidFill>
                  <a:srgbClr val="000000"/>
                </a:solidFill>
                <a:latin typeface="黑体" panose="02010609060101010101" pitchFamily="49" charset="-122"/>
                <a:ea typeface="黑体" panose="02010609060101010101" pitchFamily="49" charset="-122"/>
              </a:rPr>
              <a:t>近壁涡量场：</a:t>
            </a:r>
          </a:p>
        </p:txBody>
      </p:sp>
      <p:grpSp>
        <p:nvGrpSpPr>
          <p:cNvPr id="136199" name="组合 20"/>
          <p:cNvGrpSpPr>
            <a:grpSpLocks/>
          </p:cNvGrpSpPr>
          <p:nvPr/>
        </p:nvGrpSpPr>
        <p:grpSpPr bwMode="auto">
          <a:xfrm>
            <a:off x="1333771" y="1881354"/>
            <a:ext cx="4937125" cy="2584450"/>
            <a:chOff x="107504" y="1989722"/>
            <a:chExt cx="4938117" cy="2585323"/>
          </a:xfrm>
        </p:grpSpPr>
        <p:sp>
          <p:nvSpPr>
            <p:cNvPr id="22" name="TextBox 24"/>
            <p:cNvSpPr txBox="1"/>
            <p:nvPr/>
          </p:nvSpPr>
          <p:spPr>
            <a:xfrm>
              <a:off x="107504" y="1989722"/>
              <a:ext cx="4938117" cy="2585323"/>
            </a:xfrm>
            <a:prstGeom prst="rect">
              <a:avLst/>
            </a:prstGeom>
            <a:noFill/>
            <a:ln w="19050">
              <a:solidFill>
                <a:sysClr val="windowText" lastClr="000000"/>
              </a:solidFill>
              <a:prstDash val="dash"/>
            </a:ln>
          </p:spPr>
          <p:txBody>
            <a:bodyPr>
              <a:spAutoFit/>
            </a:bodyPr>
            <a:lstStyle/>
            <a:p>
              <a:pPr>
                <a:defRPr/>
              </a:pPr>
              <a:endParaRPr lang="en-US" altLang="zh-CN" kern="0" dirty="0">
                <a:solidFill>
                  <a:prstClr val="black"/>
                </a:solidFill>
                <a:latin typeface="Calibri"/>
                <a:ea typeface="宋体" panose="02010600030101010101" pitchFamily="2" charset="-122"/>
              </a:endParaRPr>
            </a:p>
            <a:p>
              <a:pPr>
                <a:defRPr/>
              </a:pPr>
              <a:endParaRPr lang="en-US" altLang="zh-CN" kern="0" dirty="0">
                <a:solidFill>
                  <a:prstClr val="black"/>
                </a:solidFill>
                <a:latin typeface="Calibri"/>
                <a:ea typeface="宋体" panose="02010600030101010101" pitchFamily="2" charset="-122"/>
              </a:endParaRPr>
            </a:p>
            <a:p>
              <a:pPr>
                <a:defRPr/>
              </a:pPr>
              <a:endParaRPr lang="en-US" altLang="zh-CN" kern="0" dirty="0">
                <a:solidFill>
                  <a:prstClr val="black"/>
                </a:solidFill>
                <a:latin typeface="Calibri"/>
                <a:ea typeface="宋体" panose="02010600030101010101" pitchFamily="2" charset="-122"/>
              </a:endParaRPr>
            </a:p>
            <a:p>
              <a:pPr>
                <a:defRPr/>
              </a:pPr>
              <a:endParaRPr lang="en-US" altLang="zh-CN" kern="0" dirty="0">
                <a:solidFill>
                  <a:prstClr val="black"/>
                </a:solidFill>
                <a:latin typeface="Calibri"/>
                <a:ea typeface="宋体" panose="02010600030101010101" pitchFamily="2" charset="-122"/>
              </a:endParaRPr>
            </a:p>
            <a:p>
              <a:pPr>
                <a:defRPr/>
              </a:pPr>
              <a:endParaRPr lang="en-US" altLang="zh-CN" kern="0" dirty="0">
                <a:solidFill>
                  <a:prstClr val="black"/>
                </a:solidFill>
                <a:latin typeface="Calibri"/>
                <a:ea typeface="宋体" panose="02010600030101010101" pitchFamily="2" charset="-122"/>
              </a:endParaRPr>
            </a:p>
            <a:p>
              <a:pPr>
                <a:defRPr/>
              </a:pPr>
              <a:endParaRPr lang="en-US" altLang="zh-CN" kern="0" dirty="0">
                <a:solidFill>
                  <a:prstClr val="black"/>
                </a:solidFill>
                <a:latin typeface="Calibri"/>
                <a:ea typeface="宋体" panose="02010600030101010101" pitchFamily="2" charset="-122"/>
              </a:endParaRPr>
            </a:p>
            <a:p>
              <a:pPr>
                <a:defRPr/>
              </a:pPr>
              <a:endParaRPr lang="en-US" altLang="zh-CN" kern="0" dirty="0">
                <a:solidFill>
                  <a:prstClr val="black"/>
                </a:solidFill>
                <a:latin typeface="Calibri"/>
                <a:ea typeface="宋体" panose="02010600030101010101" pitchFamily="2" charset="-122"/>
              </a:endParaRPr>
            </a:p>
            <a:p>
              <a:pPr>
                <a:defRPr/>
              </a:pPr>
              <a:endParaRPr lang="en-US" altLang="zh-CN" kern="0" dirty="0">
                <a:solidFill>
                  <a:prstClr val="black"/>
                </a:solidFill>
                <a:latin typeface="Calibri"/>
                <a:ea typeface="宋体" panose="02010600030101010101" pitchFamily="2" charset="-122"/>
              </a:endParaRPr>
            </a:p>
            <a:p>
              <a:pPr>
                <a:defRPr/>
              </a:pPr>
              <a:endParaRPr lang="zh-CN" altLang="en-US" kern="0" dirty="0">
                <a:solidFill>
                  <a:prstClr val="black"/>
                </a:solidFill>
                <a:latin typeface="Calibri"/>
                <a:ea typeface="宋体" panose="02010600030101010101" pitchFamily="2" charset="-122"/>
              </a:endParaRPr>
            </a:p>
          </p:txBody>
        </p:sp>
        <p:pic>
          <p:nvPicPr>
            <p:cNvPr id="13620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9245" y="2549844"/>
              <a:ext cx="3431207" cy="1935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TextBox 4"/>
            <p:cNvSpPr txBox="1"/>
            <p:nvPr/>
          </p:nvSpPr>
          <p:spPr>
            <a:xfrm>
              <a:off x="455237" y="2178699"/>
              <a:ext cx="4242652" cy="338251"/>
            </a:xfrm>
            <a:prstGeom prst="rect">
              <a:avLst/>
            </a:prstGeom>
            <a:noFill/>
          </p:spPr>
          <p:txBody>
            <a:bodyPr>
              <a:spAutoFit/>
            </a:bodyPr>
            <a:lstStyle/>
            <a:p>
              <a:pPr>
                <a:defRPr/>
              </a:pPr>
              <a:r>
                <a:rPr lang="zh-CN" altLang="en-US" sz="1600" kern="0" dirty="0">
                  <a:solidFill>
                    <a:prstClr val="black"/>
                  </a:solidFill>
                  <a:latin typeface="黑体" pitchFamily="49" charset="-122"/>
                  <a:ea typeface="黑体" pitchFamily="49" charset="-122"/>
                </a:rPr>
                <a:t>使用</a:t>
              </a:r>
              <a:r>
                <a:rPr lang="zh-CN" altLang="en-US" sz="1600" kern="0" dirty="0">
                  <a:solidFill>
                    <a:srgbClr val="C00000"/>
                  </a:solidFill>
                  <a:latin typeface="黑体" pitchFamily="49" charset="-122"/>
                  <a:ea typeface="黑体" pitchFamily="49" charset="-122"/>
                </a:rPr>
                <a:t>壁面剪应力</a:t>
              </a:r>
              <a:r>
                <a:rPr lang="zh-CN" altLang="en-US" sz="1600" kern="0" dirty="0">
                  <a:solidFill>
                    <a:prstClr val="black"/>
                  </a:solidFill>
                  <a:latin typeface="黑体" pitchFamily="49" charset="-122"/>
                  <a:ea typeface="黑体" pitchFamily="49" charset="-122"/>
                </a:rPr>
                <a:t>与</a:t>
              </a:r>
              <a:r>
                <a:rPr lang="zh-CN" altLang="en-US" sz="1600" kern="0" dirty="0">
                  <a:solidFill>
                    <a:srgbClr val="C00000"/>
                  </a:solidFill>
                  <a:latin typeface="黑体" pitchFamily="49" charset="-122"/>
                  <a:ea typeface="黑体" pitchFamily="49" charset="-122"/>
                </a:rPr>
                <a:t>壁面压力</a:t>
              </a:r>
              <a:r>
                <a:rPr lang="zh-CN" altLang="en-US" sz="1600" kern="0" dirty="0">
                  <a:solidFill>
                    <a:prstClr val="black"/>
                  </a:solidFill>
                  <a:latin typeface="黑体" pitchFamily="49" charset="-122"/>
                  <a:ea typeface="黑体" pitchFamily="49" charset="-122"/>
                </a:rPr>
                <a:t>作为输入数据</a:t>
              </a:r>
            </a:p>
          </p:txBody>
        </p:sp>
        <p:sp>
          <p:nvSpPr>
            <p:cNvPr id="25" name="矩形 24"/>
            <p:cNvSpPr/>
            <p:nvPr/>
          </p:nvSpPr>
          <p:spPr>
            <a:xfrm>
              <a:off x="286928" y="3079115"/>
              <a:ext cx="1132114" cy="738437"/>
            </a:xfrm>
            <a:prstGeom prst="rect">
              <a:avLst/>
            </a:prstGeom>
          </p:spPr>
          <p:txBody>
            <a:bodyPr>
              <a:spAutoFit/>
            </a:bodyPr>
            <a:lstStyle/>
            <a:p>
              <a:pPr>
                <a:defRPr/>
              </a:pPr>
              <a:r>
                <a:rPr lang="zh-CN" altLang="en-US" sz="1400" kern="0" dirty="0">
                  <a:solidFill>
                    <a:prstClr val="black"/>
                  </a:solidFill>
                  <a:latin typeface="黑体" pitchFamily="49" charset="-122"/>
                  <a:ea typeface="黑体" pitchFamily="49" charset="-122"/>
                </a:rPr>
                <a:t>基于</a:t>
              </a:r>
              <a:r>
                <a:rPr lang="en-US" altLang="zh-CN" sz="1400" kern="0" dirty="0">
                  <a:solidFill>
                    <a:prstClr val="black"/>
                  </a:solidFill>
                  <a:latin typeface="黑体" pitchFamily="49" charset="-122"/>
                  <a:ea typeface="黑体" pitchFamily="49" charset="-122"/>
                </a:rPr>
                <a:t>PCA</a:t>
              </a:r>
              <a:r>
                <a:rPr lang="zh-CN" altLang="en-US" sz="1400" kern="0" dirty="0">
                  <a:solidFill>
                    <a:prstClr val="black"/>
                  </a:solidFill>
                  <a:latin typeface="黑体" pitchFamily="49" charset="-122"/>
                  <a:ea typeface="黑体" pitchFamily="49" charset="-122"/>
                </a:rPr>
                <a:t>的深层神经网络结构图：</a:t>
              </a:r>
              <a:endParaRPr lang="zh-CN" altLang="en-US" sz="1400" kern="0" dirty="0">
                <a:solidFill>
                  <a:prstClr val="black"/>
                </a:solidFill>
                <a:latin typeface="Calibri"/>
                <a:ea typeface="宋体" panose="02010600030101010101" pitchFamily="2" charset="-122"/>
              </a:endParaRPr>
            </a:p>
          </p:txBody>
        </p:sp>
      </p:grpSp>
      <p:sp>
        <p:nvSpPr>
          <p:cNvPr id="136200" name="TextBox 26"/>
          <p:cNvSpPr txBox="1">
            <a:spLocks noChangeArrowheads="1"/>
          </p:cNvSpPr>
          <p:nvPr/>
        </p:nvSpPr>
        <p:spPr bwMode="auto">
          <a:xfrm>
            <a:off x="672916" y="1374775"/>
            <a:ext cx="4751492" cy="410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90000"/>
              </a:lnSpc>
              <a:spcBef>
                <a:spcPts val="1000"/>
              </a:spcBef>
              <a:buFont typeface="Arial" panose="020B0604020202020204" pitchFamily="34" charset="0"/>
              <a:buNone/>
              <a:defRPr sz="2000">
                <a:solidFill>
                  <a:srgbClr val="000000"/>
                </a:solidFill>
                <a:latin typeface="黑体" panose="02010609060101010101" pitchFamily="49" charset="-122"/>
                <a:ea typeface="黑体" panose="02010609060101010101" pitchFamily="49" charset="-122"/>
              </a:defRPr>
            </a:lvl1pPr>
            <a:lvl2pPr marL="685800" indent="-228600">
              <a:lnSpc>
                <a:spcPct val="90000"/>
              </a:lnSpc>
              <a:spcBef>
                <a:spcPts val="375"/>
              </a:spcBef>
              <a:buFont typeface="Arial" panose="020B0604020202020204" pitchFamily="34" charset="0"/>
              <a:buChar char="•"/>
              <a:defRPr>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9pPr>
          </a:lstStyle>
          <a:p>
            <a:r>
              <a:rPr lang="zh-CN" altLang="en-US" dirty="0" smtClean="0"/>
              <a:t>示例</a:t>
            </a:r>
            <a:r>
              <a:rPr lang="en-US" altLang="zh-CN" dirty="0" smtClean="0"/>
              <a:t>(1)</a:t>
            </a:r>
            <a:r>
              <a:rPr lang="zh-CN" altLang="en-US" dirty="0" smtClean="0"/>
              <a:t>：近壁</a:t>
            </a:r>
            <a:r>
              <a:rPr lang="zh-CN" altLang="en-US" dirty="0"/>
              <a:t>区流场流场降阶、</a:t>
            </a:r>
            <a:r>
              <a:rPr lang="zh-CN" altLang="en-US" dirty="0" smtClean="0"/>
              <a:t>重构</a:t>
            </a:r>
            <a:endParaRPr lang="zh-CN" altLang="en-US" dirty="0"/>
          </a:p>
        </p:txBody>
      </p:sp>
      <p:sp>
        <p:nvSpPr>
          <p:cNvPr id="27" name="文本框 26"/>
          <p:cNvSpPr txBox="1"/>
          <p:nvPr/>
        </p:nvSpPr>
        <p:spPr>
          <a:xfrm>
            <a:off x="672916" y="772765"/>
            <a:ext cx="2652175"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人工智能</a:t>
            </a:r>
            <a:endParaRPr lang="zh-CN" altLang="en-US" sz="3200" b="1" dirty="0">
              <a:latin typeface="华文细黑" panose="02010600040101010101" pitchFamily="2" charset="-122"/>
              <a:ea typeface="华文细黑" panose="02010600040101010101" pitchFamily="2" charset="-122"/>
            </a:endParaRPr>
          </a:p>
        </p:txBody>
      </p:sp>
      <p:sp>
        <p:nvSpPr>
          <p:cNvPr id="2" name="矩形 1"/>
          <p:cNvSpPr/>
          <p:nvPr/>
        </p:nvSpPr>
        <p:spPr>
          <a:xfrm>
            <a:off x="4913563" y="1397239"/>
            <a:ext cx="44670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fi-FI" altLang="zh-CN" sz="1400" b="1" dirty="0">
                <a:solidFill>
                  <a:srgbClr val="FF0000"/>
                </a:solidFill>
                <a:latin typeface="Times New Roman" panose="02020603050405020304" pitchFamily="18" charset="0"/>
                <a:ea typeface="微软雅黑" panose="020B0503020204020204" pitchFamily="34" charset="-122"/>
              </a:rPr>
              <a:t>Milano M, Koumoutsakos P. </a:t>
            </a:r>
            <a:r>
              <a:rPr lang="en-US" altLang="zh-CN" sz="1400" b="1" dirty="0">
                <a:solidFill>
                  <a:srgbClr val="FF0000"/>
                </a:solidFill>
                <a:latin typeface="Times New Roman" panose="02020603050405020304" pitchFamily="18" charset="0"/>
                <a:ea typeface="微软雅黑" panose="020B0503020204020204" pitchFamily="34" charset="-122"/>
              </a:rPr>
              <a:t>(</a:t>
            </a:r>
            <a:r>
              <a:rPr lang="fi-FI" altLang="zh-CN" sz="1400" b="1" dirty="0" smtClean="0">
                <a:solidFill>
                  <a:srgbClr val="FF0000"/>
                </a:solidFill>
                <a:latin typeface="Times New Roman" panose="02020603050405020304" pitchFamily="18" charset="0"/>
                <a:ea typeface="微软雅黑" panose="020B0503020204020204" pitchFamily="34" charset="-122"/>
              </a:rPr>
              <a:t>2002), J. Comput. Phys.</a:t>
            </a:r>
            <a:endParaRPr lang="en-US" sz="1400" b="1" dirty="0">
              <a:solidFill>
                <a:srgbClr val="FF0000"/>
              </a:solidFill>
              <a:latin typeface="Times New Roman" panose="02020603050405020304" pitchFamily="18" charset="0"/>
              <a:ea typeface="微软雅黑" panose="020B0503020204020204" pitchFamily="34" charset="-122"/>
            </a:endParaRPr>
          </a:p>
        </p:txBody>
      </p:sp>
      <p:sp>
        <p:nvSpPr>
          <p:cNvPr id="29" name="TextBox 15"/>
          <p:cNvSpPr txBox="1"/>
          <p:nvPr/>
        </p:nvSpPr>
        <p:spPr bwMode="auto">
          <a:xfrm>
            <a:off x="10104474" y="5086426"/>
            <a:ext cx="1509323" cy="954107"/>
          </a:xfrm>
          <a:prstGeom prst="rect">
            <a:avLst/>
          </a:prstGeom>
          <a:noFill/>
        </p:spPr>
        <p:txBody>
          <a:bodyPr>
            <a:spAutoFit/>
          </a:bodyPr>
          <a:lstStyle/>
          <a:p>
            <a:pPr>
              <a:defRPr/>
            </a:pPr>
            <a:r>
              <a:rPr lang="zh-CN" altLang="en-US" sz="1400" kern="0" dirty="0">
                <a:solidFill>
                  <a:prstClr val="black"/>
                </a:solidFill>
                <a:latin typeface="黑体" pitchFamily="49" charset="-122"/>
                <a:ea typeface="黑体" pitchFamily="49" charset="-122"/>
              </a:rPr>
              <a:t>深层</a:t>
            </a:r>
            <a:r>
              <a:rPr lang="zh-CN" altLang="en-US" sz="1400" kern="0" dirty="0" smtClean="0">
                <a:solidFill>
                  <a:prstClr val="black"/>
                </a:solidFill>
                <a:latin typeface="黑体" pitchFamily="49" charset="-122"/>
                <a:ea typeface="黑体" pitchFamily="49" charset="-122"/>
              </a:rPr>
              <a:t>神经网络在训练良好的情况下可以很好地重构处流场</a:t>
            </a:r>
            <a:endParaRPr lang="zh-CN" altLang="en-US" sz="1400" kern="0" dirty="0">
              <a:solidFill>
                <a:prstClr val="black"/>
              </a:solidFill>
              <a:latin typeface="黑体" pitchFamily="49" charset="-122"/>
              <a:ea typeface="黑体" pitchFamily="49" charset="-122"/>
            </a:endParaRPr>
          </a:p>
        </p:txBody>
      </p:sp>
      <p:sp>
        <p:nvSpPr>
          <p:cNvPr id="3" name="灯片编号占位符 2"/>
          <p:cNvSpPr>
            <a:spLocks noGrp="1"/>
          </p:cNvSpPr>
          <p:nvPr>
            <p:ph type="sldNum" sz="quarter" idx="12"/>
          </p:nvPr>
        </p:nvSpPr>
        <p:spPr/>
        <p:txBody>
          <a:bodyPr/>
          <a:lstStyle/>
          <a:p>
            <a:fld id="{16D8DD02-547D-47A5-AAEA-525C7BEEAE57}" type="slidenum">
              <a:rPr lang="zh-CN" altLang="en-US" smtClean="0"/>
              <a:t>75</a:t>
            </a:fld>
            <a:endParaRPr lang="zh-CN" altLang="en-US"/>
          </a:p>
        </p:txBody>
      </p:sp>
    </p:spTree>
    <p:extLst>
      <p:ext uri="{BB962C8B-B14F-4D97-AF65-F5344CB8AC3E}">
        <p14:creationId xmlns:p14="http://schemas.microsoft.com/office/powerpoint/2010/main" val="14429124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029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837" y="2768716"/>
            <a:ext cx="10928763" cy="3720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0292" name="TextBox 5"/>
          <p:cNvSpPr txBox="1">
            <a:spLocks noChangeArrowheads="1"/>
          </p:cNvSpPr>
          <p:nvPr/>
        </p:nvSpPr>
        <p:spPr bwMode="auto">
          <a:xfrm>
            <a:off x="672916" y="1425693"/>
            <a:ext cx="8547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90000"/>
              </a:lnSpc>
              <a:spcBef>
                <a:spcPts val="1000"/>
              </a:spcBef>
              <a:buFont typeface="Arial" panose="020B0604020202020204" pitchFamily="34" charset="0"/>
              <a:buNone/>
              <a:defRPr sz="2000">
                <a:solidFill>
                  <a:srgbClr val="000000"/>
                </a:solidFill>
                <a:latin typeface="黑体" panose="02010609060101010101" pitchFamily="49" charset="-122"/>
                <a:ea typeface="黑体" panose="02010609060101010101" pitchFamily="49" charset="-122"/>
              </a:defRPr>
            </a:lvl1pPr>
            <a:lvl2pPr marL="685800" indent="-228600">
              <a:lnSpc>
                <a:spcPct val="90000"/>
              </a:lnSpc>
              <a:spcBef>
                <a:spcPts val="375"/>
              </a:spcBef>
              <a:buFont typeface="Arial" panose="020B0604020202020204" pitchFamily="34" charset="0"/>
              <a:buChar char="•"/>
              <a:defRPr>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9pPr>
          </a:lstStyle>
          <a:p>
            <a:r>
              <a:rPr lang="zh-CN" altLang="en-US" dirty="0"/>
              <a:t>利用机器学习进行流动控制</a:t>
            </a:r>
            <a:r>
              <a:rPr lang="zh-CN" altLang="en-US" dirty="0">
                <a:sym typeface="Wingdings" panose="05000000000000000000" pitchFamily="2" charset="2"/>
              </a:rPr>
              <a:t>（多为半监督学习（强化学习））</a:t>
            </a:r>
            <a:endParaRPr lang="zh-CN" altLang="en-US" dirty="0"/>
          </a:p>
        </p:txBody>
      </p:sp>
      <p:sp>
        <p:nvSpPr>
          <p:cNvPr id="140293" name="矩形 6"/>
          <p:cNvSpPr>
            <a:spLocks noChangeArrowheads="1"/>
          </p:cNvSpPr>
          <p:nvPr/>
        </p:nvSpPr>
        <p:spPr bwMode="auto">
          <a:xfrm>
            <a:off x="672916" y="1863733"/>
            <a:ext cx="1085868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spcBef>
                <a:spcPts val="100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rPr>
              <a:t>强化学习</a:t>
            </a:r>
            <a:r>
              <a:rPr lang="en-US" altLang="zh-CN" sz="2000" dirty="0">
                <a:solidFill>
                  <a:srgbClr val="000000"/>
                </a:solidFill>
                <a:latin typeface="黑体" panose="02010609060101010101" pitchFamily="49" charset="-122"/>
                <a:ea typeface="黑体" panose="02010609060101010101" pitchFamily="49" charset="-122"/>
              </a:rPr>
              <a:t>(reinforcement learning)</a:t>
            </a:r>
            <a:r>
              <a:rPr lang="zh-CN" altLang="en-US" sz="2000" dirty="0">
                <a:solidFill>
                  <a:srgbClr val="000000"/>
                </a:solidFill>
                <a:latin typeface="黑体" panose="02010609060101010101" pitchFamily="49" charset="-122"/>
                <a:ea typeface="黑体" panose="02010609060101010101" pitchFamily="49" charset="-122"/>
              </a:rPr>
              <a:t>：不断与环境进行交互，通过试错的方式进行学习，从而改变行动</a:t>
            </a:r>
            <a:r>
              <a:rPr lang="zh-CN" altLang="en-US" sz="2000" dirty="0" smtClean="0">
                <a:solidFill>
                  <a:srgbClr val="000000"/>
                </a:solidFill>
                <a:latin typeface="黑体" panose="02010609060101010101" pitchFamily="49" charset="-122"/>
                <a:ea typeface="黑体" panose="02010609060101010101" pitchFamily="49" charset="-122"/>
              </a:rPr>
              <a:t>方案</a:t>
            </a:r>
            <a:endParaRPr lang="zh-CN" altLang="en-US" sz="2000" dirty="0">
              <a:solidFill>
                <a:srgbClr val="000000"/>
              </a:solidFill>
              <a:latin typeface="黑体" panose="02010609060101010101" pitchFamily="49" charset="-122"/>
              <a:ea typeface="黑体" panose="02010609060101010101" pitchFamily="49" charset="-122"/>
            </a:endParaRPr>
          </a:p>
        </p:txBody>
      </p:sp>
      <p:sp>
        <p:nvSpPr>
          <p:cNvPr id="6" name="文本框 5"/>
          <p:cNvSpPr txBox="1"/>
          <p:nvPr/>
        </p:nvSpPr>
        <p:spPr>
          <a:xfrm>
            <a:off x="672916" y="772765"/>
            <a:ext cx="2652175"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人工智能</a:t>
            </a:r>
            <a:endParaRPr lang="zh-CN" altLang="en-US" sz="3200" b="1" dirty="0">
              <a:latin typeface="华文细黑" panose="02010600040101010101" pitchFamily="2" charset="-122"/>
              <a:ea typeface="华文细黑" panose="02010600040101010101" pitchFamily="2" charset="-122"/>
            </a:endParaRPr>
          </a:p>
        </p:txBody>
      </p:sp>
      <p:sp>
        <p:nvSpPr>
          <p:cNvPr id="7" name="TextBox 9"/>
          <p:cNvSpPr txBox="1">
            <a:spLocks noChangeArrowheads="1"/>
          </p:cNvSpPr>
          <p:nvPr/>
        </p:nvSpPr>
        <p:spPr bwMode="auto">
          <a:xfrm>
            <a:off x="1878545" y="2768716"/>
            <a:ext cx="19360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smtClean="0">
                <a:solidFill>
                  <a:srgbClr val="000000"/>
                </a:solidFill>
                <a:latin typeface="黑体" panose="02010609060101010101" pitchFamily="49" charset="-122"/>
                <a:ea typeface="黑体" panose="02010609060101010101" pitchFamily="49" charset="-122"/>
              </a:rPr>
              <a:t>强化学习过程简图</a:t>
            </a:r>
            <a:endParaRPr lang="zh-CN" altLang="en-US" sz="1400" dirty="0">
              <a:solidFill>
                <a:srgbClr val="000000"/>
              </a:solidFill>
              <a:latin typeface="黑体" panose="02010609060101010101" pitchFamily="49" charset="-122"/>
              <a:ea typeface="黑体" panose="02010609060101010101" pitchFamily="49" charset="-122"/>
            </a:endParaRPr>
          </a:p>
        </p:txBody>
      </p:sp>
      <p:sp>
        <p:nvSpPr>
          <p:cNvPr id="8" name="矩形 7"/>
          <p:cNvSpPr/>
          <p:nvPr/>
        </p:nvSpPr>
        <p:spPr>
          <a:xfrm>
            <a:off x="3814558" y="6489699"/>
            <a:ext cx="476794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err="1">
                <a:solidFill>
                  <a:srgbClr val="FF0000"/>
                </a:solidFill>
                <a:latin typeface="Times New Roman" panose="02020603050405020304" pitchFamily="18" charset="0"/>
                <a:ea typeface="微软雅黑" panose="020B0503020204020204" pitchFamily="34" charset="-122"/>
              </a:rPr>
              <a:t>Brunton</a:t>
            </a:r>
            <a:r>
              <a:rPr lang="en-US" altLang="zh-CN" sz="1400" b="1" dirty="0">
                <a:solidFill>
                  <a:srgbClr val="FF0000"/>
                </a:solidFill>
                <a:latin typeface="Times New Roman" panose="02020603050405020304" pitchFamily="18" charset="0"/>
                <a:ea typeface="微软雅黑" panose="020B0503020204020204" pitchFamily="34" charset="-122"/>
              </a:rPr>
              <a:t> </a:t>
            </a:r>
            <a:r>
              <a:rPr lang="en-US" altLang="zh-CN" sz="1400" b="1" dirty="0" smtClean="0">
                <a:solidFill>
                  <a:srgbClr val="FF0000"/>
                </a:solidFill>
                <a:latin typeface="Times New Roman" panose="02020603050405020304" pitchFamily="18" charset="0"/>
                <a:ea typeface="微软雅黑" panose="020B0503020204020204" pitchFamily="34" charset="-122"/>
              </a:rPr>
              <a:t>S et al. (2019), preprint, </a:t>
            </a:r>
            <a:r>
              <a:rPr lang="en-US" sz="1400" b="1" dirty="0" err="1" smtClean="0">
                <a:solidFill>
                  <a:srgbClr val="FF0000"/>
                </a:solidFill>
                <a:latin typeface="Times New Roman" panose="02020603050405020304" pitchFamily="18" charset="0"/>
                <a:ea typeface="微软雅黑" panose="020B0503020204020204" pitchFamily="34" charset="-122"/>
              </a:rPr>
              <a:t>Annu</a:t>
            </a:r>
            <a:r>
              <a:rPr lang="en-US" sz="1400" b="1" dirty="0" smtClean="0">
                <a:solidFill>
                  <a:srgbClr val="FF0000"/>
                </a:solidFill>
                <a:latin typeface="Times New Roman" panose="02020603050405020304" pitchFamily="18" charset="0"/>
                <a:ea typeface="微软雅黑" panose="020B0503020204020204" pitchFamily="34" charset="-122"/>
              </a:rPr>
              <a:t>. Rev. Fluid Mech.</a:t>
            </a:r>
            <a:endParaRPr lang="en-US" sz="1400" b="1" dirty="0">
              <a:solidFill>
                <a:srgbClr val="FF0000"/>
              </a:solidFill>
              <a:latin typeface="Times New Roman" panose="02020603050405020304" pitchFamily="18" charset="0"/>
              <a:ea typeface="微软雅黑" panose="020B0503020204020204" pitchFamily="34" charset="-122"/>
            </a:endParaRPr>
          </a:p>
        </p:txBody>
      </p:sp>
      <p:sp>
        <p:nvSpPr>
          <p:cNvPr id="9" name="TextBox 9"/>
          <p:cNvSpPr txBox="1">
            <a:spLocks noChangeArrowheads="1"/>
          </p:cNvSpPr>
          <p:nvPr/>
        </p:nvSpPr>
        <p:spPr bwMode="auto">
          <a:xfrm>
            <a:off x="7184759" y="2696326"/>
            <a:ext cx="12687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smtClean="0">
                <a:solidFill>
                  <a:srgbClr val="000000"/>
                </a:solidFill>
                <a:latin typeface="黑体" panose="02010609060101010101" pitchFamily="49" charset="-122"/>
                <a:ea typeface="黑体" panose="02010609060101010101" pitchFamily="49" charset="-122"/>
              </a:rPr>
              <a:t>自动驾驶应用</a:t>
            </a:r>
            <a:endParaRPr lang="zh-CN" altLang="en-US" sz="1400" dirty="0">
              <a:solidFill>
                <a:srgbClr val="000000"/>
              </a:solidFill>
              <a:latin typeface="黑体" panose="02010609060101010101" pitchFamily="49" charset="-122"/>
              <a:ea typeface="黑体" panose="02010609060101010101" pitchFamily="49" charset="-122"/>
            </a:endParaRPr>
          </a:p>
        </p:txBody>
      </p:sp>
      <p:sp>
        <p:nvSpPr>
          <p:cNvPr id="10" name="TextBox 9"/>
          <p:cNvSpPr txBox="1">
            <a:spLocks noChangeArrowheads="1"/>
          </p:cNvSpPr>
          <p:nvPr/>
        </p:nvSpPr>
        <p:spPr bwMode="auto">
          <a:xfrm>
            <a:off x="9626798" y="2768716"/>
            <a:ext cx="15393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400" dirty="0" smtClean="0">
                <a:solidFill>
                  <a:srgbClr val="000000"/>
                </a:solidFill>
                <a:latin typeface="黑体" panose="02010609060101010101" pitchFamily="49" charset="-122"/>
                <a:ea typeface="黑体" panose="02010609060101010101" pitchFamily="49" charset="-122"/>
              </a:rPr>
              <a:t>鱼群运动“学习”</a:t>
            </a:r>
            <a:endParaRPr lang="zh-CN" altLang="en-US" sz="1400" dirty="0">
              <a:solidFill>
                <a:srgbClr val="000000"/>
              </a:solidFill>
              <a:latin typeface="黑体" panose="02010609060101010101" pitchFamily="49" charset="-122"/>
              <a:ea typeface="黑体" panose="02010609060101010101" pitchFamily="49"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76</a:t>
            </a:fld>
            <a:endParaRPr lang="zh-CN" altLang="en-US"/>
          </a:p>
        </p:txBody>
      </p:sp>
    </p:spTree>
    <p:extLst>
      <p:ext uri="{BB962C8B-B14F-4D97-AF65-F5344CB8AC3E}">
        <p14:creationId xmlns:p14="http://schemas.microsoft.com/office/powerpoint/2010/main" val="24013954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5360" y="1808063"/>
            <a:ext cx="2592388" cy="231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1316"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b="4025"/>
          <a:stretch/>
        </p:blipFill>
        <p:spPr bwMode="auto">
          <a:xfrm>
            <a:off x="5980113" y="3702054"/>
            <a:ext cx="5041900" cy="3103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18" name="内容占位符 2"/>
          <p:cNvSpPr txBox="1">
            <a:spLocks/>
          </p:cNvSpPr>
          <p:nvPr/>
        </p:nvSpPr>
        <p:spPr bwMode="auto">
          <a:xfrm>
            <a:off x="672916" y="1437481"/>
            <a:ext cx="459330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90000"/>
              </a:lnSpc>
              <a:spcBef>
                <a:spcPts val="1000"/>
              </a:spcBef>
              <a:buFont typeface="Arial" panose="020B0604020202020204" pitchFamily="34" charset="0"/>
              <a:buNone/>
              <a:defRPr sz="2000">
                <a:solidFill>
                  <a:srgbClr val="000000"/>
                </a:solidFill>
                <a:latin typeface="黑体" panose="02010609060101010101" pitchFamily="49" charset="-122"/>
                <a:ea typeface="黑体" panose="02010609060101010101" pitchFamily="49" charset="-122"/>
              </a:defRPr>
            </a:lvl1pPr>
            <a:lvl2pPr marL="685800" indent="-228600">
              <a:lnSpc>
                <a:spcPct val="90000"/>
              </a:lnSpc>
              <a:spcBef>
                <a:spcPts val="375"/>
              </a:spcBef>
              <a:buFont typeface="Arial" panose="020B0604020202020204" pitchFamily="34" charset="0"/>
              <a:buChar char="•"/>
              <a:defRPr>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9pPr>
          </a:lstStyle>
          <a:p>
            <a:r>
              <a:rPr lang="zh-CN" altLang="en-US" dirty="0" smtClean="0"/>
              <a:t>示例</a:t>
            </a:r>
            <a:r>
              <a:rPr lang="en-US" altLang="zh-CN" dirty="0" smtClean="0"/>
              <a:t>(2):</a:t>
            </a:r>
            <a:r>
              <a:rPr lang="zh-CN" altLang="en-US" dirty="0" smtClean="0"/>
              <a:t>自适应神经网络</a:t>
            </a:r>
            <a:r>
              <a:rPr lang="zh-CN" altLang="en-US" dirty="0"/>
              <a:t>控制吹吸</a:t>
            </a:r>
            <a:r>
              <a:rPr lang="zh-CN" altLang="en-US" dirty="0" smtClean="0"/>
              <a:t>减阻</a:t>
            </a:r>
            <a:endParaRPr lang="zh-CN" altLang="en-US" dirty="0"/>
          </a:p>
        </p:txBody>
      </p:sp>
      <p:pic>
        <p:nvPicPr>
          <p:cNvPr id="14131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97" y="4661588"/>
            <a:ext cx="3875088"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20" name="TextBox 4"/>
          <p:cNvSpPr txBox="1">
            <a:spLocks noChangeArrowheads="1"/>
          </p:cNvSpPr>
          <p:nvPr/>
        </p:nvSpPr>
        <p:spPr bwMode="auto">
          <a:xfrm>
            <a:off x="1436718" y="5932652"/>
            <a:ext cx="247103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600" dirty="0" err="1">
                <a:solidFill>
                  <a:srgbClr val="000000"/>
                </a:solidFill>
                <a:latin typeface="黑体" panose="02010609060101010101" pitchFamily="49" charset="-122"/>
                <a:ea typeface="黑体" panose="02010609060101010101" pitchFamily="49" charset="-122"/>
              </a:rPr>
              <a:t>j,k</a:t>
            </a:r>
            <a:r>
              <a:rPr lang="zh-CN" altLang="en-US" sz="1600" dirty="0">
                <a:solidFill>
                  <a:srgbClr val="000000"/>
                </a:solidFill>
                <a:latin typeface="黑体" panose="02010609060101010101" pitchFamily="49" charset="-122"/>
                <a:ea typeface="黑体" panose="02010609060101010101" pitchFamily="49" charset="-122"/>
              </a:rPr>
              <a:t>：网格点</a:t>
            </a:r>
            <a:r>
              <a:rPr lang="en-US" altLang="zh-CN" sz="1600" dirty="0">
                <a:solidFill>
                  <a:srgbClr val="000000"/>
                </a:solidFill>
                <a:latin typeface="黑体" panose="02010609060101010101" pitchFamily="49" charset="-122"/>
                <a:ea typeface="黑体" panose="02010609060101010101" pitchFamily="49" charset="-122"/>
              </a:rPr>
              <a:t>, </a:t>
            </a:r>
          </a:p>
          <a:p>
            <a:pPr eaLnBrk="1" hangingPunct="1"/>
            <a:r>
              <a:rPr lang="en-US" altLang="zh-CN" sz="1600" dirty="0" err="1">
                <a:solidFill>
                  <a:srgbClr val="000000"/>
                </a:solidFill>
                <a:latin typeface="黑体" panose="02010609060101010101" pitchFamily="49" charset="-122"/>
                <a:ea typeface="黑体" panose="02010609060101010101" pitchFamily="49" charset="-122"/>
              </a:rPr>
              <a:t>v</a:t>
            </a:r>
            <a:r>
              <a:rPr lang="en-US" altLang="zh-CN" sz="1600" baseline="-25000" dirty="0" err="1">
                <a:solidFill>
                  <a:srgbClr val="000000"/>
                </a:solidFill>
                <a:latin typeface="黑体" panose="02010609060101010101" pitchFamily="49" charset="-122"/>
                <a:ea typeface="黑体" panose="02010609060101010101" pitchFamily="49" charset="-122"/>
              </a:rPr>
              <a:t>jk</a:t>
            </a:r>
            <a:r>
              <a:rPr lang="zh-CN" altLang="en-US" sz="1600" dirty="0">
                <a:solidFill>
                  <a:srgbClr val="000000"/>
                </a:solidFill>
                <a:latin typeface="黑体" panose="02010609060101010101" pitchFamily="49" charset="-122"/>
                <a:ea typeface="黑体" panose="02010609060101010101" pitchFamily="49" charset="-122"/>
              </a:rPr>
              <a:t>：输出的壁面吹吸速度</a:t>
            </a:r>
            <a:endParaRPr lang="en-US" altLang="zh-CN" sz="1600" dirty="0">
              <a:solidFill>
                <a:srgbClr val="000000"/>
              </a:solidFill>
              <a:latin typeface="黑体" panose="02010609060101010101" pitchFamily="49" charset="-122"/>
              <a:ea typeface="黑体" panose="02010609060101010101" pitchFamily="49" charset="-122"/>
            </a:endParaRPr>
          </a:p>
          <a:p>
            <a:pPr eaLnBrk="1" hangingPunct="1"/>
            <a:r>
              <a:rPr lang="en-US" altLang="zh-CN" sz="1600" dirty="0">
                <a:solidFill>
                  <a:srgbClr val="000000"/>
                </a:solidFill>
                <a:latin typeface="黑体" panose="02010609060101010101" pitchFamily="49" charset="-122"/>
                <a:ea typeface="黑体" panose="02010609060101010101" pitchFamily="49" charset="-122"/>
              </a:rPr>
              <a:t>W</a:t>
            </a:r>
            <a:r>
              <a:rPr lang="zh-CN" altLang="en-US" sz="1600" dirty="0">
                <a:solidFill>
                  <a:srgbClr val="000000"/>
                </a:solidFill>
                <a:latin typeface="黑体" panose="02010609060101010101" pitchFamily="49" charset="-122"/>
                <a:ea typeface="黑体" panose="02010609060101010101" pitchFamily="49" charset="-122"/>
              </a:rPr>
              <a:t>：权重</a:t>
            </a:r>
          </a:p>
        </p:txBody>
      </p:sp>
      <p:sp>
        <p:nvSpPr>
          <p:cNvPr id="16" name="内容占位符 2"/>
          <p:cNvSpPr txBox="1">
            <a:spLocks/>
          </p:cNvSpPr>
          <p:nvPr/>
        </p:nvSpPr>
        <p:spPr>
          <a:xfrm>
            <a:off x="8785225" y="4148141"/>
            <a:ext cx="865188" cy="404813"/>
          </a:xfrm>
          <a:prstGeom prst="rect">
            <a:avLst/>
          </a:prstGeom>
          <a:solidFill>
            <a:sysClr val="window" lastClr="FFFFFF"/>
          </a:solidFill>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800" dirty="0">
                <a:solidFill>
                  <a:prstClr val="black"/>
                </a:solidFill>
              </a:rPr>
              <a:t>无控制</a:t>
            </a:r>
          </a:p>
        </p:txBody>
      </p:sp>
      <p:sp>
        <p:nvSpPr>
          <p:cNvPr id="17" name="内容占位符 2"/>
          <p:cNvSpPr txBox="1">
            <a:spLocks/>
          </p:cNvSpPr>
          <p:nvPr/>
        </p:nvSpPr>
        <p:spPr>
          <a:xfrm>
            <a:off x="8929688" y="5581653"/>
            <a:ext cx="863600" cy="404812"/>
          </a:xfrm>
          <a:prstGeom prst="rect">
            <a:avLst/>
          </a:prstGeom>
          <a:solidFill>
            <a:sysClr val="window" lastClr="FFFFFF"/>
          </a:solidFill>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800" dirty="0">
                <a:solidFill>
                  <a:prstClr val="black"/>
                </a:solidFill>
              </a:rPr>
              <a:t>有控制</a:t>
            </a:r>
          </a:p>
        </p:txBody>
      </p:sp>
      <p:sp>
        <p:nvSpPr>
          <p:cNvPr id="18" name="内容占位符 2"/>
          <p:cNvSpPr txBox="1">
            <a:spLocks/>
          </p:cNvSpPr>
          <p:nvPr/>
        </p:nvSpPr>
        <p:spPr>
          <a:xfrm>
            <a:off x="5761039" y="4332290"/>
            <a:ext cx="720725" cy="438150"/>
          </a:xfrm>
          <a:prstGeom prst="rect">
            <a:avLst/>
          </a:prstGeom>
          <a:noFill/>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zh-CN" altLang="en-US" sz="1400" dirty="0">
                <a:solidFill>
                  <a:prstClr val="black"/>
                </a:solidFill>
              </a:rPr>
              <a:t>壁面</a:t>
            </a:r>
            <a:r>
              <a:rPr lang="en-US" altLang="zh-CN" sz="1400" dirty="0">
                <a:solidFill>
                  <a:prstClr val="black"/>
                </a:solidFill>
              </a:rPr>
              <a:t> </a:t>
            </a:r>
            <a:r>
              <a:rPr lang="zh-CN" altLang="en-US" sz="1400" dirty="0">
                <a:solidFill>
                  <a:prstClr val="black"/>
                </a:solidFill>
              </a:rPr>
              <a:t>剪应力</a:t>
            </a:r>
          </a:p>
        </p:txBody>
      </p:sp>
      <p:sp>
        <p:nvSpPr>
          <p:cNvPr id="19" name="内容占位符 2"/>
          <p:cNvSpPr txBox="1">
            <a:spLocks/>
          </p:cNvSpPr>
          <p:nvPr/>
        </p:nvSpPr>
        <p:spPr>
          <a:xfrm>
            <a:off x="1220790" y="4154505"/>
            <a:ext cx="2879725" cy="297551"/>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600" dirty="0">
                <a:solidFill>
                  <a:prstClr val="black"/>
                </a:solidFill>
              </a:rPr>
              <a:t>以展向剪应力</a:t>
            </a:r>
            <a:r>
              <a:rPr lang="zh-CN" altLang="en-US" sz="1600" dirty="0">
                <a:solidFill>
                  <a:prstClr val="black"/>
                </a:solidFill>
                <a:latin typeface="Times New Roman" pitchFamily="18" charset="0"/>
                <a:cs typeface="Times New Roman" pitchFamily="18" charset="0"/>
              </a:rPr>
              <a:t>∂</a:t>
            </a:r>
            <a:r>
              <a:rPr lang="en-US" altLang="zh-CN" sz="1600" dirty="0">
                <a:solidFill>
                  <a:prstClr val="black"/>
                </a:solidFill>
                <a:latin typeface="Times New Roman" pitchFamily="18" charset="0"/>
                <a:cs typeface="Times New Roman" pitchFamily="18" charset="0"/>
              </a:rPr>
              <a:t>w/∂y</a:t>
            </a:r>
            <a:r>
              <a:rPr lang="zh-CN" altLang="en-US" sz="1600" dirty="0">
                <a:solidFill>
                  <a:prstClr val="black"/>
                </a:solidFill>
              </a:rPr>
              <a:t>作为输入数据</a:t>
            </a:r>
          </a:p>
        </p:txBody>
      </p:sp>
      <p:sp>
        <p:nvSpPr>
          <p:cNvPr id="141325" name="内容占位符 2"/>
          <p:cNvSpPr txBox="1">
            <a:spLocks/>
          </p:cNvSpPr>
          <p:nvPr/>
        </p:nvSpPr>
        <p:spPr bwMode="auto">
          <a:xfrm>
            <a:off x="4932363" y="2146301"/>
            <a:ext cx="1174750"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spcBef>
                <a:spcPts val="1000"/>
              </a:spcBef>
              <a:buNone/>
            </a:pPr>
            <a:r>
              <a:rPr lang="zh-CN" altLang="en-US" sz="1600">
                <a:solidFill>
                  <a:srgbClr val="000000"/>
                </a:solidFill>
                <a:latin typeface="黑体" panose="02010609060101010101" pitchFamily="49" charset="-122"/>
                <a:ea typeface="黑体" panose="02010609060101010101" pitchFamily="49" charset="-122"/>
              </a:rPr>
              <a:t>控制策略：</a:t>
            </a:r>
          </a:p>
        </p:txBody>
      </p:sp>
      <p:sp>
        <p:nvSpPr>
          <p:cNvPr id="21" name="内容占位符 2"/>
          <p:cNvSpPr txBox="1">
            <a:spLocks/>
          </p:cNvSpPr>
          <p:nvPr/>
        </p:nvSpPr>
        <p:spPr>
          <a:xfrm>
            <a:off x="6875464" y="5578478"/>
            <a:ext cx="1457325" cy="519112"/>
          </a:xfrm>
          <a:prstGeom prst="rect">
            <a:avLst/>
          </a:prstGeom>
          <a:noFill/>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en-US" altLang="zh-CN" sz="1400" dirty="0">
                <a:solidFill>
                  <a:prstClr val="black"/>
                </a:solidFill>
              </a:rPr>
              <a:t>DNS</a:t>
            </a:r>
            <a:r>
              <a:rPr lang="zh-CN" altLang="en-US" sz="1400" dirty="0">
                <a:solidFill>
                  <a:prstClr val="black"/>
                </a:solidFill>
              </a:rPr>
              <a:t>模拟结果</a:t>
            </a:r>
            <a:endParaRPr lang="en-US" altLang="zh-CN" sz="1400" dirty="0">
              <a:solidFill>
                <a:prstClr val="black"/>
              </a:solidFill>
            </a:endParaRPr>
          </a:p>
          <a:p>
            <a:pPr marL="0" indent="0">
              <a:buNone/>
              <a:defRPr/>
            </a:pPr>
            <a:r>
              <a:rPr lang="zh-CN" altLang="en-US" sz="1400" dirty="0">
                <a:solidFill>
                  <a:prstClr val="black"/>
                </a:solidFill>
              </a:rPr>
              <a:t>减阻率可达</a:t>
            </a:r>
            <a:r>
              <a:rPr lang="en-US" altLang="zh-CN" sz="1400" dirty="0">
                <a:solidFill>
                  <a:prstClr val="black"/>
                </a:solidFill>
              </a:rPr>
              <a:t>18%</a:t>
            </a:r>
            <a:endParaRPr lang="zh-CN" altLang="en-US" sz="1400" dirty="0">
              <a:solidFill>
                <a:prstClr val="black"/>
              </a:solidFill>
            </a:endParaRPr>
          </a:p>
        </p:txBody>
      </p:sp>
      <p:cxnSp>
        <p:nvCxnSpPr>
          <p:cNvPr id="141327" name="直接连接符 21"/>
          <p:cNvCxnSpPr>
            <a:cxnSpLocks noChangeShapeType="1"/>
          </p:cNvCxnSpPr>
          <p:nvPr/>
        </p:nvCxnSpPr>
        <p:spPr bwMode="auto">
          <a:xfrm>
            <a:off x="5371651" y="3882933"/>
            <a:ext cx="0" cy="2881569"/>
          </a:xfrm>
          <a:prstGeom prst="line">
            <a:avLst/>
          </a:prstGeom>
          <a:noFill/>
          <a:ln w="22225" algn="ctr">
            <a:solidFill>
              <a:srgbClr val="000000"/>
            </a:solidFill>
            <a:prstDash val="dash"/>
            <a:miter lim="800000"/>
            <a:headEnd/>
            <a:tailEnd/>
          </a:ln>
          <a:extLst>
            <a:ext uri="{909E8E84-426E-40DD-AFC4-6F175D3DCCD1}">
              <a14:hiddenFill xmlns:a14="http://schemas.microsoft.com/office/drawing/2010/main">
                <a:noFill/>
              </a14:hiddenFill>
            </a:ext>
          </a:extLst>
        </p:spPr>
      </p:cxnSp>
      <p:sp>
        <p:nvSpPr>
          <p:cNvPr id="23" name="文本框 22"/>
          <p:cNvSpPr txBox="1"/>
          <p:nvPr/>
        </p:nvSpPr>
        <p:spPr>
          <a:xfrm>
            <a:off x="672916" y="772765"/>
            <a:ext cx="2652175"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人工智能</a:t>
            </a:r>
            <a:endParaRPr lang="zh-CN" altLang="en-US" sz="3200" b="1" dirty="0">
              <a:latin typeface="华文细黑" panose="02010600040101010101" pitchFamily="2" charset="-122"/>
              <a:ea typeface="华文细黑" panose="02010600040101010101" pitchFamily="2" charset="-122"/>
            </a:endParaRPr>
          </a:p>
        </p:txBody>
      </p:sp>
      <p:grpSp>
        <p:nvGrpSpPr>
          <p:cNvPr id="141314" name="组合 3"/>
          <p:cNvGrpSpPr>
            <a:grpSpLocks/>
          </p:cNvGrpSpPr>
          <p:nvPr/>
        </p:nvGrpSpPr>
        <p:grpSpPr bwMode="auto">
          <a:xfrm>
            <a:off x="6227763" y="1412875"/>
            <a:ext cx="4546600" cy="2511426"/>
            <a:chOff x="-190910" y="4353798"/>
            <a:chExt cx="4546886" cy="2510314"/>
          </a:xfrm>
        </p:grpSpPr>
        <p:pic>
          <p:nvPicPr>
            <p:cNvPr id="141329" name="Picture 7"/>
            <p:cNvPicPr>
              <a:picLocks noChangeAspect="1" noChangeArrowheads="1"/>
            </p:cNvPicPr>
            <p:nvPr/>
          </p:nvPicPr>
          <p:blipFill rotWithShape="1">
            <a:blip r:embed="rId6">
              <a:extLst>
                <a:ext uri="{28A0092B-C50C-407E-A947-70E740481C1C}">
                  <a14:useLocalDpi xmlns:a14="http://schemas.microsoft.com/office/drawing/2010/main" val="0"/>
                </a:ext>
              </a:extLst>
            </a:blip>
            <a:srcRect t="7431"/>
            <a:stretch/>
          </p:blipFill>
          <p:spPr bwMode="auto">
            <a:xfrm>
              <a:off x="-190910" y="4353798"/>
              <a:ext cx="4546886" cy="251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30" name="TextBox 15"/>
            <p:cNvSpPr txBox="1">
              <a:spLocks noChangeArrowheads="1"/>
            </p:cNvSpPr>
            <p:nvPr/>
          </p:nvSpPr>
          <p:spPr bwMode="auto">
            <a:xfrm>
              <a:off x="1409532" y="4874173"/>
              <a:ext cx="1034033" cy="27699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1200">
                  <a:solidFill>
                    <a:srgbClr val="000000"/>
                  </a:solidFill>
                  <a:latin typeface="黑体" panose="02010609060101010101" pitchFamily="49" charset="-122"/>
                  <a:ea typeface="黑体" panose="02010609060101010101" pitchFamily="49" charset="-122"/>
                </a:rPr>
                <a:t>N-S</a:t>
              </a:r>
              <a:r>
                <a:rPr lang="zh-CN" altLang="en-US" sz="1200">
                  <a:solidFill>
                    <a:srgbClr val="000000"/>
                  </a:solidFill>
                  <a:latin typeface="黑体" panose="02010609060101010101" pitchFamily="49" charset="-122"/>
                  <a:ea typeface="黑体" panose="02010609060101010101" pitchFamily="49" charset="-122"/>
                </a:rPr>
                <a:t>方程求解</a:t>
              </a:r>
            </a:p>
          </p:txBody>
        </p:sp>
        <p:sp>
          <p:nvSpPr>
            <p:cNvPr id="141331" name="TextBox 16"/>
            <p:cNvSpPr txBox="1">
              <a:spLocks noChangeArrowheads="1"/>
            </p:cNvSpPr>
            <p:nvPr/>
          </p:nvSpPr>
          <p:spPr bwMode="auto">
            <a:xfrm>
              <a:off x="128935" y="4874173"/>
              <a:ext cx="1199703" cy="27699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a:solidFill>
                    <a:srgbClr val="000000"/>
                  </a:solidFill>
                  <a:latin typeface="黑体" panose="02010609060101010101" pitchFamily="49" charset="-122"/>
                  <a:ea typeface="黑体" panose="02010609060101010101" pitchFamily="49" charset="-122"/>
                </a:rPr>
                <a:t>第一次</a:t>
              </a:r>
              <a:r>
                <a:rPr lang="en-US" altLang="zh-CN" sz="1200">
                  <a:solidFill>
                    <a:srgbClr val="000000"/>
                  </a:solidFill>
                  <a:latin typeface="黑体" panose="02010609060101010101" pitchFamily="49" charset="-122"/>
                  <a:ea typeface="黑体" panose="02010609060101010101" pitchFamily="49" charset="-122"/>
                </a:rPr>
                <a:t>NN</a:t>
              </a:r>
              <a:r>
                <a:rPr lang="zh-CN" altLang="en-US" sz="1200">
                  <a:solidFill>
                    <a:srgbClr val="000000"/>
                  </a:solidFill>
                  <a:latin typeface="黑体" panose="02010609060101010101" pitchFamily="49" charset="-122"/>
                  <a:ea typeface="黑体" panose="02010609060101010101" pitchFamily="49" charset="-122"/>
                </a:rPr>
                <a:t>计算</a:t>
              </a:r>
            </a:p>
          </p:txBody>
        </p:sp>
        <p:sp>
          <p:nvSpPr>
            <p:cNvPr id="141332" name="TextBox 17"/>
            <p:cNvSpPr txBox="1">
              <a:spLocks noChangeArrowheads="1"/>
            </p:cNvSpPr>
            <p:nvPr/>
          </p:nvSpPr>
          <p:spPr bwMode="auto">
            <a:xfrm>
              <a:off x="2443566" y="6480442"/>
              <a:ext cx="1264338" cy="27699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a:solidFill>
                    <a:srgbClr val="000000"/>
                  </a:solidFill>
                  <a:latin typeface="黑体" panose="02010609060101010101" pitchFamily="49" charset="-122"/>
                  <a:ea typeface="黑体" panose="02010609060101010101" pitchFamily="49" charset="-122"/>
                </a:rPr>
                <a:t>误差、权重反馈</a:t>
              </a:r>
            </a:p>
          </p:txBody>
        </p:sp>
        <p:sp>
          <p:nvSpPr>
            <p:cNvPr id="141333" name="TextBox 19"/>
            <p:cNvSpPr txBox="1">
              <a:spLocks noChangeArrowheads="1"/>
            </p:cNvSpPr>
            <p:nvPr/>
          </p:nvSpPr>
          <p:spPr bwMode="auto">
            <a:xfrm>
              <a:off x="2537858" y="4898685"/>
              <a:ext cx="1170045" cy="27699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1200">
                  <a:solidFill>
                    <a:srgbClr val="000000"/>
                  </a:solidFill>
                  <a:latin typeface="黑体" panose="02010609060101010101" pitchFamily="49" charset="-122"/>
                  <a:ea typeface="黑体" panose="02010609060101010101" pitchFamily="49" charset="-122"/>
                </a:rPr>
                <a:t>第二次</a:t>
              </a:r>
              <a:r>
                <a:rPr lang="en-US" altLang="zh-CN" sz="1200">
                  <a:solidFill>
                    <a:srgbClr val="000000"/>
                  </a:solidFill>
                  <a:latin typeface="黑体" panose="02010609060101010101" pitchFamily="49" charset="-122"/>
                  <a:ea typeface="黑体" panose="02010609060101010101" pitchFamily="49" charset="-122"/>
                </a:rPr>
                <a:t>NN</a:t>
              </a:r>
              <a:r>
                <a:rPr lang="zh-CN" altLang="en-US" sz="1200">
                  <a:solidFill>
                    <a:srgbClr val="000000"/>
                  </a:solidFill>
                  <a:latin typeface="黑体" panose="02010609060101010101" pitchFamily="49" charset="-122"/>
                  <a:ea typeface="黑体" panose="02010609060101010101" pitchFamily="49" charset="-122"/>
                </a:rPr>
                <a:t>计算</a:t>
              </a:r>
            </a:p>
          </p:txBody>
        </p:sp>
      </p:grpSp>
      <p:sp>
        <p:nvSpPr>
          <p:cNvPr id="2" name="矩形 1"/>
          <p:cNvSpPr/>
          <p:nvPr/>
        </p:nvSpPr>
        <p:spPr>
          <a:xfrm>
            <a:off x="5164933" y="1500286"/>
            <a:ext cx="188436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en-US" altLang="zh-CN" sz="1400" b="1" dirty="0" smtClean="0">
                <a:solidFill>
                  <a:srgbClr val="FF0000"/>
                </a:solidFill>
                <a:latin typeface="Times New Roman" panose="02020603050405020304" pitchFamily="18" charset="0"/>
                <a:ea typeface="微软雅黑" panose="020B0503020204020204" pitchFamily="34" charset="-122"/>
              </a:rPr>
              <a:t>Lee et al</a:t>
            </a:r>
            <a:r>
              <a:rPr lang="en-US" altLang="zh-CN" sz="1400" b="1" dirty="0">
                <a:solidFill>
                  <a:srgbClr val="FF0000"/>
                </a:solidFill>
                <a:latin typeface="Times New Roman" panose="02020603050405020304" pitchFamily="18" charset="0"/>
                <a:ea typeface="微软雅黑" panose="020B0503020204020204" pitchFamily="34" charset="-122"/>
              </a:rPr>
              <a:t>. </a:t>
            </a:r>
            <a:r>
              <a:rPr lang="en-US" altLang="zh-CN" sz="1400" b="1" dirty="0" smtClean="0">
                <a:solidFill>
                  <a:srgbClr val="FF0000"/>
                </a:solidFill>
                <a:latin typeface="Times New Roman" panose="02020603050405020304" pitchFamily="18" charset="0"/>
                <a:ea typeface="微软雅黑" panose="020B0503020204020204" pitchFamily="34" charset="-122"/>
              </a:rPr>
              <a:t>(1997), POF</a:t>
            </a:r>
            <a:endParaRPr lang="zh-CN" altLang="en-US" sz="1400" b="1" dirty="0">
              <a:solidFill>
                <a:srgbClr val="FF0000"/>
              </a:solidFill>
              <a:latin typeface="Times New Roman" panose="02020603050405020304" pitchFamily="18" charset="0"/>
              <a:ea typeface="微软雅黑" panose="020B0503020204020204" pitchFamily="34" charset="-122"/>
            </a:endParaRPr>
          </a:p>
        </p:txBody>
      </p:sp>
      <p:cxnSp>
        <p:nvCxnSpPr>
          <p:cNvPr id="141328" name="直接连接符 22"/>
          <p:cNvCxnSpPr>
            <a:cxnSpLocks noChangeShapeType="1"/>
          </p:cNvCxnSpPr>
          <p:nvPr/>
        </p:nvCxnSpPr>
        <p:spPr bwMode="auto">
          <a:xfrm>
            <a:off x="5371651" y="3881348"/>
            <a:ext cx="5931349" cy="1585"/>
          </a:xfrm>
          <a:prstGeom prst="line">
            <a:avLst/>
          </a:prstGeom>
          <a:noFill/>
          <a:ln w="22225" algn="ctr">
            <a:solidFill>
              <a:srgbClr val="000000"/>
            </a:solidFill>
            <a:prstDash val="dash"/>
            <a:miter lim="800000"/>
            <a:headEnd/>
            <a:tailEnd/>
          </a:ln>
          <a:extLst>
            <a:ext uri="{909E8E84-426E-40DD-AFC4-6F175D3DCCD1}">
              <a14:hiddenFill xmlns:a14="http://schemas.microsoft.com/office/drawing/2010/main">
                <a:noFill/>
              </a14:hiddenFill>
            </a:ext>
          </a:extLst>
        </p:spPr>
      </p:cxnSp>
      <p:sp>
        <p:nvSpPr>
          <p:cNvPr id="3" name="灯片编号占位符 2"/>
          <p:cNvSpPr>
            <a:spLocks noGrp="1"/>
          </p:cNvSpPr>
          <p:nvPr>
            <p:ph type="sldNum" sz="quarter" idx="12"/>
          </p:nvPr>
        </p:nvSpPr>
        <p:spPr/>
        <p:txBody>
          <a:bodyPr/>
          <a:lstStyle/>
          <a:p>
            <a:fld id="{16D8DD02-547D-47A5-AAEA-525C7BEEAE57}" type="slidenum">
              <a:rPr lang="zh-CN" altLang="en-US" smtClean="0"/>
              <a:t>77</a:t>
            </a:fld>
            <a:endParaRPr lang="zh-CN" altLang="en-US"/>
          </a:p>
        </p:txBody>
      </p:sp>
    </p:spTree>
    <p:extLst>
      <p:ext uri="{BB962C8B-B14F-4D97-AF65-F5344CB8AC3E}">
        <p14:creationId xmlns:p14="http://schemas.microsoft.com/office/powerpoint/2010/main" val="21620129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内容占位符 2"/>
          <p:cNvSpPr txBox="1">
            <a:spLocks/>
          </p:cNvSpPr>
          <p:nvPr/>
        </p:nvSpPr>
        <p:spPr bwMode="auto">
          <a:xfrm>
            <a:off x="672916" y="1458915"/>
            <a:ext cx="572547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90000"/>
              </a:lnSpc>
              <a:spcBef>
                <a:spcPts val="1000"/>
              </a:spcBef>
              <a:buFont typeface="Arial" panose="020B0604020202020204" pitchFamily="34" charset="0"/>
              <a:buNone/>
              <a:defRPr sz="2000">
                <a:solidFill>
                  <a:srgbClr val="000000"/>
                </a:solidFill>
                <a:latin typeface="黑体" panose="02010609060101010101" pitchFamily="49" charset="-122"/>
                <a:ea typeface="黑体" panose="02010609060101010101" pitchFamily="49" charset="-122"/>
              </a:defRPr>
            </a:lvl1pPr>
            <a:lvl2pPr marL="685800" indent="-228600">
              <a:lnSpc>
                <a:spcPct val="90000"/>
              </a:lnSpc>
              <a:spcBef>
                <a:spcPts val="375"/>
              </a:spcBef>
              <a:buFont typeface="Arial" panose="020B0604020202020204" pitchFamily="34" charset="0"/>
              <a:buChar char="•"/>
              <a:defRPr>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9pPr>
          </a:lstStyle>
          <a:p>
            <a:r>
              <a:rPr lang="zh-CN" altLang="en-US" dirty="0" smtClean="0"/>
              <a:t>示例</a:t>
            </a:r>
            <a:r>
              <a:rPr lang="en-US" altLang="zh-CN" dirty="0" smtClean="0"/>
              <a:t>(3)</a:t>
            </a:r>
            <a:r>
              <a:rPr lang="zh-CN" altLang="en-US" dirty="0" smtClean="0"/>
              <a:t>：</a:t>
            </a:r>
            <a:r>
              <a:rPr lang="en-US" altLang="zh-CN" dirty="0" smtClean="0"/>
              <a:t>PEGASUS</a:t>
            </a:r>
            <a:r>
              <a:rPr lang="zh-CN" altLang="en-US" dirty="0"/>
              <a:t>强化学习方法控制直升机</a:t>
            </a:r>
            <a:r>
              <a:rPr lang="zh-CN" altLang="en-US" dirty="0" smtClean="0"/>
              <a:t>悬停</a:t>
            </a:r>
            <a:endParaRPr lang="zh-CN" altLang="en-US" dirty="0"/>
          </a:p>
        </p:txBody>
      </p:sp>
      <p:sp>
        <p:nvSpPr>
          <p:cNvPr id="8" name="内容占位符 2"/>
          <p:cNvSpPr txBox="1">
            <a:spLocks/>
          </p:cNvSpPr>
          <p:nvPr/>
        </p:nvSpPr>
        <p:spPr>
          <a:xfrm>
            <a:off x="2235863" y="5122068"/>
            <a:ext cx="1547813" cy="406400"/>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800" dirty="0">
                <a:solidFill>
                  <a:prstClr val="black"/>
                </a:solidFill>
              </a:rPr>
              <a:t>悬停效果比较</a:t>
            </a:r>
          </a:p>
        </p:txBody>
      </p:sp>
      <p:grpSp>
        <p:nvGrpSpPr>
          <p:cNvPr id="3" name="组合 2"/>
          <p:cNvGrpSpPr/>
          <p:nvPr/>
        </p:nvGrpSpPr>
        <p:grpSpPr>
          <a:xfrm>
            <a:off x="3887062" y="3783011"/>
            <a:ext cx="6190204" cy="3065463"/>
            <a:chOff x="3243264" y="3398838"/>
            <a:chExt cx="6962775" cy="3448050"/>
          </a:xfrm>
        </p:grpSpPr>
        <p:pic>
          <p:nvPicPr>
            <p:cNvPr id="14336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672" b="9720"/>
            <a:stretch/>
          </p:blipFill>
          <p:spPr bwMode="auto">
            <a:xfrm>
              <a:off x="3243264" y="3398838"/>
              <a:ext cx="6962775"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67" name="内容占位符 2"/>
            <p:cNvSpPr txBox="1">
              <a:spLocks/>
            </p:cNvSpPr>
            <p:nvPr/>
          </p:nvSpPr>
          <p:spPr bwMode="auto">
            <a:xfrm>
              <a:off x="6096001" y="5602288"/>
              <a:ext cx="15478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spcBef>
                  <a:spcPts val="1000"/>
                </a:spcBef>
                <a:buNone/>
              </a:pPr>
              <a:r>
                <a:rPr lang="zh-CN" altLang="en-US" sz="1200" dirty="0">
                  <a:solidFill>
                    <a:srgbClr val="FF0000"/>
                  </a:solidFill>
                  <a:latin typeface="黑体" panose="02010609060101010101" pitchFamily="49" charset="-122"/>
                  <a:ea typeface="黑体" panose="02010609060101010101" pitchFamily="49" charset="-122"/>
                </a:rPr>
                <a:t>飞行员控制</a:t>
              </a:r>
            </a:p>
          </p:txBody>
        </p:sp>
        <p:sp>
          <p:nvSpPr>
            <p:cNvPr id="143368" name="内容占位符 2"/>
            <p:cNvSpPr txBox="1">
              <a:spLocks/>
            </p:cNvSpPr>
            <p:nvPr/>
          </p:nvSpPr>
          <p:spPr bwMode="auto">
            <a:xfrm>
              <a:off x="5880100" y="6122988"/>
              <a:ext cx="1763713" cy="304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spcBef>
                  <a:spcPts val="1000"/>
                </a:spcBef>
                <a:buNone/>
              </a:pPr>
              <a:r>
                <a:rPr lang="zh-CN" altLang="en-US" sz="1200" dirty="0">
                  <a:solidFill>
                    <a:srgbClr val="0000FF"/>
                  </a:solidFill>
                  <a:latin typeface="黑体" panose="02010609060101010101" pitchFamily="49" charset="-122"/>
                  <a:ea typeface="黑体" panose="02010609060101010101" pitchFamily="49" charset="-122"/>
                </a:rPr>
                <a:t>强化学习方法控制</a:t>
              </a:r>
            </a:p>
          </p:txBody>
        </p:sp>
      </p:grpSp>
      <p:grpSp>
        <p:nvGrpSpPr>
          <p:cNvPr id="4" name="组合 3"/>
          <p:cNvGrpSpPr/>
          <p:nvPr/>
        </p:nvGrpSpPr>
        <p:grpSpPr>
          <a:xfrm>
            <a:off x="1232240" y="1864519"/>
            <a:ext cx="8891587" cy="1873250"/>
            <a:chOff x="1847851" y="1468438"/>
            <a:chExt cx="8891587" cy="1873250"/>
          </a:xfrm>
        </p:grpSpPr>
        <p:pic>
          <p:nvPicPr>
            <p:cNvPr id="14336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1" y="1514476"/>
              <a:ext cx="2663825" cy="176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3369" name="组合 10"/>
            <p:cNvGrpSpPr>
              <a:grpSpLocks/>
            </p:cNvGrpSpPr>
            <p:nvPr/>
          </p:nvGrpSpPr>
          <p:grpSpPr bwMode="auto">
            <a:xfrm>
              <a:off x="4527550" y="1468438"/>
              <a:ext cx="6140450" cy="1873250"/>
              <a:chOff x="3003798" y="1467798"/>
              <a:chExt cx="6140202" cy="1873452"/>
            </a:xfrm>
          </p:grpSpPr>
          <p:pic>
            <p:nvPicPr>
              <p:cNvPr id="14337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1467799"/>
                <a:ext cx="2702396" cy="1873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72" name="内容占位符 2"/>
              <p:cNvSpPr txBox="1">
                <a:spLocks/>
              </p:cNvSpPr>
              <p:nvPr/>
            </p:nvSpPr>
            <p:spPr bwMode="auto">
              <a:xfrm>
                <a:off x="3059832" y="1989468"/>
                <a:ext cx="1764583" cy="803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a:spcBef>
                    <a:spcPts val="1000"/>
                  </a:spcBef>
                  <a:buNone/>
                </a:pPr>
                <a:r>
                  <a:rPr lang="zh-CN" altLang="en-US" sz="1400">
                    <a:solidFill>
                      <a:srgbClr val="000000"/>
                    </a:solidFill>
                    <a:latin typeface="黑体" panose="02010609060101010101" pitchFamily="49" charset="-122"/>
                    <a:ea typeface="黑体" panose="02010609060101010101" pitchFamily="49" charset="-122"/>
                  </a:rPr>
                  <a:t>控制策略</a:t>
                </a:r>
                <a:endParaRPr lang="en-US" altLang="zh-CN" sz="1400">
                  <a:solidFill>
                    <a:srgbClr val="000000"/>
                  </a:solidFill>
                  <a:latin typeface="黑体" panose="02010609060101010101" pitchFamily="49" charset="-122"/>
                  <a:ea typeface="黑体" panose="02010609060101010101" pitchFamily="49" charset="-122"/>
                </a:endParaRPr>
              </a:p>
              <a:p>
                <a:pPr algn="ctr">
                  <a:spcBef>
                    <a:spcPts val="1000"/>
                  </a:spcBef>
                  <a:buNone/>
                </a:pPr>
                <a:r>
                  <a:rPr lang="zh-CN" altLang="en-US" sz="1400">
                    <a:solidFill>
                      <a:srgbClr val="000000"/>
                    </a:solidFill>
                    <a:latin typeface="黑体" panose="02010609060101010101" pitchFamily="49" charset="-122"/>
                    <a:ea typeface="黑体" panose="02010609060101010101" pitchFamily="49" charset="-122"/>
                  </a:rPr>
                  <a:t>（神经网络图）：</a:t>
                </a:r>
              </a:p>
            </p:txBody>
          </p:sp>
          <p:sp>
            <p:nvSpPr>
              <p:cNvPr id="14" name="内容占位符 2"/>
              <p:cNvSpPr txBox="1">
                <a:spLocks/>
              </p:cNvSpPr>
              <p:nvPr/>
            </p:nvSpPr>
            <p:spPr>
              <a:xfrm>
                <a:off x="4572185" y="1634503"/>
                <a:ext cx="1306460" cy="164482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400" dirty="0">
                    <a:solidFill>
                      <a:prstClr val="black"/>
                    </a:solidFill>
                  </a:rPr>
                  <a:t>输入：</a:t>
                </a:r>
                <a:endParaRPr lang="en-US" altLang="zh-CN" sz="1400" dirty="0">
                  <a:solidFill>
                    <a:prstClr val="black"/>
                  </a:solidFill>
                </a:endParaRPr>
              </a:p>
              <a:p>
                <a:pPr>
                  <a:buFont typeface="Wingdings" pitchFamily="2" charset="2"/>
                  <a:buChar char="ü"/>
                  <a:defRPr/>
                </a:pPr>
                <a:r>
                  <a:rPr lang="zh-CN" altLang="en-US" sz="1400" dirty="0">
                    <a:solidFill>
                      <a:prstClr val="black"/>
                    </a:solidFill>
                  </a:rPr>
                  <a:t>位置</a:t>
                </a:r>
                <a:endParaRPr lang="en-US" altLang="zh-CN" sz="1400" dirty="0">
                  <a:solidFill>
                    <a:prstClr val="black"/>
                  </a:solidFill>
                </a:endParaRPr>
              </a:p>
              <a:p>
                <a:pPr>
                  <a:buFont typeface="Wingdings" pitchFamily="2" charset="2"/>
                  <a:buChar char="ü"/>
                  <a:defRPr/>
                </a:pPr>
                <a:r>
                  <a:rPr lang="zh-CN" altLang="en-US" sz="1400" dirty="0">
                    <a:solidFill>
                      <a:prstClr val="black"/>
                    </a:solidFill>
                  </a:rPr>
                  <a:t>速度</a:t>
                </a:r>
                <a:endParaRPr lang="en-US" altLang="zh-CN" sz="1400" dirty="0">
                  <a:solidFill>
                    <a:prstClr val="black"/>
                  </a:solidFill>
                </a:endParaRPr>
              </a:p>
              <a:p>
                <a:pPr>
                  <a:buFont typeface="Wingdings" pitchFamily="2" charset="2"/>
                  <a:buChar char="ü"/>
                  <a:defRPr/>
                </a:pPr>
                <a:r>
                  <a:rPr lang="zh-CN" altLang="en-US" sz="1400" dirty="0">
                    <a:solidFill>
                      <a:prstClr val="black"/>
                    </a:solidFill>
                  </a:rPr>
                  <a:t>误差（目标位置与真实位置的差）</a:t>
                </a:r>
              </a:p>
            </p:txBody>
          </p:sp>
          <p:sp>
            <p:nvSpPr>
              <p:cNvPr id="15" name="矩形 14"/>
              <p:cNvSpPr/>
              <p:nvPr/>
            </p:nvSpPr>
            <p:spPr>
              <a:xfrm>
                <a:off x="3003798" y="1467798"/>
                <a:ext cx="6140202" cy="1873452"/>
              </a:xfrm>
              <a:prstGeom prst="rect">
                <a:avLst/>
              </a:prstGeom>
              <a:noFill/>
              <a:ln w="22225" cap="flat" cmpd="sng" algn="ctr">
                <a:solidFill>
                  <a:sysClr val="windowText" lastClr="000000"/>
                </a:solidFill>
                <a:prstDash val="dash"/>
                <a:miter lim="800000"/>
              </a:ln>
              <a:effectLst/>
            </p:spPr>
            <p:txBody>
              <a:bodyPr anchor="ctr"/>
              <a:lstStyle/>
              <a:p>
                <a:pPr algn="ctr">
                  <a:defRPr/>
                </a:pPr>
                <a:endParaRPr lang="zh-CN" altLang="en-US" kern="0">
                  <a:solidFill>
                    <a:prstClr val="white"/>
                  </a:solidFill>
                  <a:latin typeface="Calibri"/>
                  <a:ea typeface="宋体" panose="02010600030101010101" pitchFamily="2" charset="-122"/>
                </a:endParaRPr>
              </a:p>
            </p:txBody>
          </p:sp>
        </p:grpSp>
        <p:sp>
          <p:nvSpPr>
            <p:cNvPr id="143370" name="内容占位符 2"/>
            <p:cNvSpPr txBox="1">
              <a:spLocks/>
            </p:cNvSpPr>
            <p:nvPr/>
          </p:nvSpPr>
          <p:spPr bwMode="auto">
            <a:xfrm>
              <a:off x="9767888" y="1692275"/>
              <a:ext cx="97155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spcBef>
                  <a:spcPts val="1000"/>
                </a:spcBef>
                <a:buNone/>
              </a:pPr>
              <a:r>
                <a:rPr lang="zh-CN" altLang="en-US" sz="1400">
                  <a:solidFill>
                    <a:srgbClr val="000000"/>
                  </a:solidFill>
                  <a:latin typeface="黑体" panose="02010609060101010101" pitchFamily="49" charset="-122"/>
                  <a:ea typeface="黑体" panose="02010609060101010101" pitchFamily="49" charset="-122"/>
                </a:rPr>
                <a:t>输出：</a:t>
              </a:r>
              <a:endParaRPr lang="en-US" altLang="zh-CN" sz="1400">
                <a:solidFill>
                  <a:srgbClr val="000000"/>
                </a:solidFill>
                <a:latin typeface="黑体" panose="02010609060101010101" pitchFamily="49" charset="-122"/>
                <a:ea typeface="黑体" panose="02010609060101010101" pitchFamily="49" charset="-122"/>
              </a:endParaRPr>
            </a:p>
            <a:p>
              <a:pPr>
                <a:spcBef>
                  <a:spcPts val="1000"/>
                </a:spcBef>
                <a:buNone/>
              </a:pPr>
              <a:r>
                <a:rPr lang="zh-CN" altLang="en-US" sz="1400">
                  <a:solidFill>
                    <a:srgbClr val="000000"/>
                  </a:solidFill>
                  <a:latin typeface="黑体" panose="02010609060101010101" pitchFamily="49" charset="-122"/>
                  <a:ea typeface="黑体" panose="02010609060101010101" pitchFamily="49" charset="-122"/>
                </a:rPr>
                <a:t>控制参数</a:t>
              </a:r>
            </a:p>
          </p:txBody>
        </p:sp>
      </p:grpSp>
      <p:sp>
        <p:nvSpPr>
          <p:cNvPr id="16" name="文本框 15"/>
          <p:cNvSpPr txBox="1"/>
          <p:nvPr/>
        </p:nvSpPr>
        <p:spPr>
          <a:xfrm>
            <a:off x="672916" y="772765"/>
            <a:ext cx="2652175" cy="584775"/>
          </a:xfrm>
          <a:prstGeom prst="rect">
            <a:avLst/>
          </a:prstGeom>
          <a:noFill/>
        </p:spPr>
        <p:txBody>
          <a:bodyPr wrap="square" rtlCol="0">
            <a:spAutoFit/>
          </a:bodyPr>
          <a:lstStyle/>
          <a:p>
            <a:r>
              <a:rPr lang="zh-CN" altLang="en-US" sz="3200" b="1" smtClean="0">
                <a:latin typeface="华文细黑" panose="02010600040101010101" pitchFamily="2" charset="-122"/>
                <a:ea typeface="华文细黑" panose="02010600040101010101" pitchFamily="2" charset="-122"/>
              </a:rPr>
              <a:t>人工智能</a:t>
            </a:r>
            <a:endParaRPr lang="zh-CN" altLang="en-US" sz="3200" b="1" dirty="0">
              <a:latin typeface="华文细黑" panose="02010600040101010101" pitchFamily="2" charset="-122"/>
              <a:ea typeface="华文细黑" panose="02010600040101010101" pitchFamily="2" charset="-122"/>
            </a:endParaRPr>
          </a:p>
        </p:txBody>
      </p:sp>
      <p:sp>
        <p:nvSpPr>
          <p:cNvPr id="2" name="矩形 1"/>
          <p:cNvSpPr/>
          <p:nvPr/>
        </p:nvSpPr>
        <p:spPr>
          <a:xfrm>
            <a:off x="5992920" y="1504404"/>
            <a:ext cx="19287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b">
            <a:spAutoFit/>
          </a:bodyPr>
          <a:lstStyle/>
          <a:p>
            <a:pPr algn="ctr"/>
            <a:r>
              <a:rPr lang="pl-PL" altLang="zh-CN" sz="1400" b="1" dirty="0" smtClean="0">
                <a:solidFill>
                  <a:srgbClr val="FF0000"/>
                </a:solidFill>
                <a:latin typeface="Times New Roman" panose="02020603050405020304" pitchFamily="18" charset="0"/>
                <a:ea typeface="微软雅黑" panose="020B0503020204020204" pitchFamily="34" charset="-122"/>
              </a:rPr>
              <a:t>Kim H</a:t>
            </a:r>
            <a:r>
              <a:rPr lang="en-US" altLang="zh-CN" sz="1400" b="1" dirty="0" smtClean="0">
                <a:solidFill>
                  <a:srgbClr val="FF0000"/>
                </a:solidFill>
                <a:latin typeface="Times New Roman" panose="02020603050405020304" pitchFamily="18" charset="0"/>
                <a:ea typeface="微软雅黑" panose="020B0503020204020204" pitchFamily="34" charset="-122"/>
              </a:rPr>
              <a:t> et al</a:t>
            </a:r>
            <a:r>
              <a:rPr lang="pl-PL" altLang="zh-CN" sz="1400" b="1" dirty="0">
                <a:solidFill>
                  <a:srgbClr val="FF0000"/>
                </a:solidFill>
                <a:latin typeface="Times New Roman" panose="02020603050405020304" pitchFamily="18" charset="0"/>
                <a:ea typeface="微软雅黑" panose="020B0503020204020204" pitchFamily="34" charset="-122"/>
              </a:rPr>
              <a:t>. </a:t>
            </a:r>
            <a:r>
              <a:rPr lang="en-US" altLang="zh-CN" sz="1400" b="1" dirty="0" smtClean="0">
                <a:solidFill>
                  <a:srgbClr val="FF0000"/>
                </a:solidFill>
                <a:latin typeface="Times New Roman" panose="02020603050405020304" pitchFamily="18" charset="0"/>
                <a:ea typeface="微软雅黑" panose="020B0503020204020204" pitchFamily="34" charset="-122"/>
              </a:rPr>
              <a:t>(</a:t>
            </a:r>
            <a:r>
              <a:rPr lang="pl-PL" altLang="zh-CN" sz="1400" b="1" dirty="0" smtClean="0">
                <a:solidFill>
                  <a:srgbClr val="FF0000"/>
                </a:solidFill>
                <a:latin typeface="Times New Roman" panose="02020603050405020304" pitchFamily="18" charset="0"/>
                <a:ea typeface="微软雅黑" panose="020B0503020204020204" pitchFamily="34" charset="-122"/>
              </a:rPr>
              <a:t>2004</a:t>
            </a:r>
            <a:r>
              <a:rPr lang="en-US" altLang="zh-CN" sz="1400" b="1" dirty="0" smtClean="0">
                <a:solidFill>
                  <a:srgbClr val="FF0000"/>
                </a:solidFill>
                <a:latin typeface="Times New Roman" panose="02020603050405020304" pitchFamily="18" charset="0"/>
                <a:ea typeface="微软雅黑" panose="020B0503020204020204" pitchFamily="34" charset="-122"/>
              </a:rPr>
              <a:t>)</a:t>
            </a:r>
            <a:endParaRPr lang="zh-CN" altLang="en-US" sz="1400" b="1" dirty="0">
              <a:solidFill>
                <a:srgbClr val="FF0000"/>
              </a:solidFill>
              <a:latin typeface="Times New Roman" panose="02020603050405020304" pitchFamily="18" charset="0"/>
              <a:ea typeface="微软雅黑" panose="020B0503020204020204" pitchFamily="34" charset="-122"/>
            </a:endParaRPr>
          </a:p>
        </p:txBody>
      </p:sp>
      <p:sp>
        <p:nvSpPr>
          <p:cNvPr id="18" name="内容占位符 2"/>
          <p:cNvSpPr txBox="1">
            <a:spLocks/>
          </p:cNvSpPr>
          <p:nvPr/>
        </p:nvSpPr>
        <p:spPr>
          <a:xfrm>
            <a:off x="10052389" y="4700750"/>
            <a:ext cx="1666673" cy="82771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黑体" pitchFamily="49" charset="-122"/>
                <a:ea typeface="黑体"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黑体" pitchFamily="49" charset="-122"/>
                <a:ea typeface="黑体"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黑体" pitchFamily="49" charset="-122"/>
                <a:ea typeface="黑体"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黑体" pitchFamily="49" charset="-122"/>
                <a:ea typeface="黑体"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zh-CN" altLang="en-US" sz="1400" dirty="0" smtClean="0">
                <a:solidFill>
                  <a:prstClr val="black"/>
                </a:solidFill>
              </a:rPr>
              <a:t>通过强化学习方式悬停控制</a:t>
            </a:r>
            <a:r>
              <a:rPr lang="zh-CN" altLang="en-US" sz="1400" b="1" dirty="0" smtClean="0">
                <a:solidFill>
                  <a:prstClr val="black"/>
                </a:solidFill>
              </a:rPr>
              <a:t>位置更平稳</a:t>
            </a:r>
            <a:r>
              <a:rPr lang="zh-CN" altLang="en-US" sz="1400" dirty="0" smtClean="0">
                <a:solidFill>
                  <a:prstClr val="black"/>
                </a:solidFill>
              </a:rPr>
              <a:t>，速度</a:t>
            </a:r>
            <a:r>
              <a:rPr lang="zh-CN" altLang="en-US" sz="1400" b="1" dirty="0" smtClean="0">
                <a:solidFill>
                  <a:prstClr val="black"/>
                </a:solidFill>
              </a:rPr>
              <a:t>波动更小</a:t>
            </a:r>
            <a:endParaRPr lang="en-US" altLang="zh-CN" sz="1400" b="1" dirty="0" smtClean="0">
              <a:solidFill>
                <a:prstClr val="black"/>
              </a:solidFill>
            </a:endParaRPr>
          </a:p>
        </p:txBody>
      </p:sp>
      <p:sp>
        <p:nvSpPr>
          <p:cNvPr id="5" name="灯片编号占位符 4"/>
          <p:cNvSpPr>
            <a:spLocks noGrp="1"/>
          </p:cNvSpPr>
          <p:nvPr>
            <p:ph type="sldNum" sz="quarter" idx="12"/>
          </p:nvPr>
        </p:nvSpPr>
        <p:spPr/>
        <p:txBody>
          <a:bodyPr/>
          <a:lstStyle/>
          <a:p>
            <a:fld id="{16D8DD02-547D-47A5-AAEA-525C7BEEAE57}" type="slidenum">
              <a:rPr lang="zh-CN" altLang="en-US" smtClean="0"/>
              <a:t>78</a:t>
            </a:fld>
            <a:endParaRPr lang="zh-CN" altLang="en-US"/>
          </a:p>
        </p:txBody>
      </p:sp>
    </p:spTree>
    <p:extLst>
      <p:ext uri="{BB962C8B-B14F-4D97-AF65-F5344CB8AC3E}">
        <p14:creationId xmlns:p14="http://schemas.microsoft.com/office/powerpoint/2010/main" val="25231107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内容占位符 2"/>
          <p:cNvSpPr txBox="1">
            <a:spLocks/>
          </p:cNvSpPr>
          <p:nvPr/>
        </p:nvSpPr>
        <p:spPr bwMode="auto">
          <a:xfrm>
            <a:off x="672916" y="1430452"/>
            <a:ext cx="1079500" cy="3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nSpc>
                <a:spcPct val="90000"/>
              </a:lnSpc>
              <a:spcBef>
                <a:spcPts val="1000"/>
              </a:spcBef>
              <a:buFont typeface="Arial" panose="020B0604020202020204" pitchFamily="34" charset="0"/>
              <a:buNone/>
              <a:defRPr sz="2000">
                <a:solidFill>
                  <a:srgbClr val="000000"/>
                </a:solidFill>
                <a:latin typeface="黑体" panose="02010609060101010101" pitchFamily="49" charset="-122"/>
                <a:ea typeface="黑体" panose="02010609060101010101" pitchFamily="49" charset="-122"/>
              </a:defRPr>
            </a:lvl1pPr>
            <a:lvl2pPr marL="685800" indent="-228600">
              <a:lnSpc>
                <a:spcPct val="90000"/>
              </a:lnSpc>
              <a:spcBef>
                <a:spcPts val="375"/>
              </a:spcBef>
              <a:buFont typeface="Arial" panose="020B0604020202020204" pitchFamily="34" charset="0"/>
              <a:buChar char="•"/>
              <a:defRPr>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latin typeface="等线" panose="02010600030101010101" pitchFamily="2" charset="-122"/>
                <a:ea typeface="等线" panose="02010600030101010101" pitchFamily="2" charset="-122"/>
              </a:defRPr>
            </a:lvl9pPr>
          </a:lstStyle>
          <a:p>
            <a:r>
              <a:rPr lang="zh-CN" altLang="en-US" dirty="0"/>
              <a:t>展望</a:t>
            </a:r>
          </a:p>
        </p:txBody>
      </p:sp>
      <p:sp>
        <p:nvSpPr>
          <p:cNvPr id="145412" name="内容占位符 2"/>
          <p:cNvSpPr txBox="1">
            <a:spLocks/>
          </p:cNvSpPr>
          <p:nvPr/>
        </p:nvSpPr>
        <p:spPr bwMode="auto">
          <a:xfrm>
            <a:off x="1752416" y="2155826"/>
            <a:ext cx="9114499"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685800" indent="-2286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spcBef>
                <a:spcPts val="1000"/>
              </a:spcBef>
            </a:pPr>
            <a:r>
              <a:rPr lang="zh-CN" altLang="en-US" sz="2000" dirty="0">
                <a:solidFill>
                  <a:srgbClr val="000000"/>
                </a:solidFill>
                <a:latin typeface="+mj-ea"/>
                <a:ea typeface="+mj-ea"/>
              </a:rPr>
              <a:t>机器学习方法的准确性、鲁棒性、收敛性分析</a:t>
            </a:r>
            <a:endParaRPr lang="en-US" altLang="zh-CN" sz="2000" dirty="0">
              <a:solidFill>
                <a:srgbClr val="000000"/>
              </a:solidFill>
              <a:latin typeface="+mj-ea"/>
              <a:ea typeface="+mj-ea"/>
            </a:endParaRPr>
          </a:p>
          <a:p>
            <a:pPr>
              <a:spcBef>
                <a:spcPts val="1000"/>
              </a:spcBef>
            </a:pPr>
            <a:endParaRPr lang="en-US" altLang="zh-CN" sz="2000" dirty="0">
              <a:solidFill>
                <a:srgbClr val="000000"/>
              </a:solidFill>
              <a:latin typeface="+mj-ea"/>
              <a:ea typeface="+mj-ea"/>
            </a:endParaRPr>
          </a:p>
          <a:p>
            <a:pPr>
              <a:spcBef>
                <a:spcPts val="1000"/>
              </a:spcBef>
            </a:pPr>
            <a:endParaRPr lang="en-US" altLang="zh-CN" sz="2000" dirty="0">
              <a:solidFill>
                <a:srgbClr val="000000"/>
              </a:solidFill>
              <a:latin typeface="+mj-ea"/>
              <a:ea typeface="+mj-ea"/>
            </a:endParaRPr>
          </a:p>
          <a:p>
            <a:pPr>
              <a:spcBef>
                <a:spcPts val="1000"/>
              </a:spcBef>
            </a:pPr>
            <a:r>
              <a:rPr lang="zh-CN" altLang="en-US" sz="2000" dirty="0">
                <a:solidFill>
                  <a:srgbClr val="000000"/>
                </a:solidFill>
                <a:latin typeface="+mj-ea"/>
                <a:ea typeface="+mj-ea"/>
              </a:rPr>
              <a:t>与</a:t>
            </a:r>
            <a:r>
              <a:rPr lang="zh-CN" altLang="en-US" sz="2000" dirty="0" smtClean="0">
                <a:solidFill>
                  <a:srgbClr val="000000"/>
                </a:solidFill>
                <a:latin typeface="+mj-ea"/>
                <a:ea typeface="+mj-ea"/>
              </a:rPr>
              <a:t>数据同化方法</a:t>
            </a:r>
            <a:r>
              <a:rPr lang="zh-CN" altLang="en-US" sz="2000" dirty="0">
                <a:solidFill>
                  <a:srgbClr val="000000"/>
                </a:solidFill>
                <a:latin typeface="+mj-ea"/>
                <a:ea typeface="+mj-ea"/>
              </a:rPr>
              <a:t>的结合</a:t>
            </a:r>
            <a:endParaRPr lang="en-US" altLang="zh-CN" sz="2000" dirty="0">
              <a:solidFill>
                <a:srgbClr val="000000"/>
              </a:solidFill>
              <a:latin typeface="+mj-ea"/>
              <a:ea typeface="+mj-ea"/>
            </a:endParaRPr>
          </a:p>
          <a:p>
            <a:pPr>
              <a:spcBef>
                <a:spcPts val="1000"/>
              </a:spcBef>
            </a:pPr>
            <a:endParaRPr lang="en-US" altLang="zh-CN" sz="2000" dirty="0">
              <a:solidFill>
                <a:srgbClr val="000000"/>
              </a:solidFill>
              <a:latin typeface="+mj-ea"/>
              <a:ea typeface="+mj-ea"/>
            </a:endParaRPr>
          </a:p>
          <a:p>
            <a:pPr>
              <a:spcBef>
                <a:spcPts val="1000"/>
              </a:spcBef>
            </a:pPr>
            <a:endParaRPr lang="en-US" altLang="zh-CN" sz="2000" dirty="0">
              <a:solidFill>
                <a:srgbClr val="000000"/>
              </a:solidFill>
              <a:latin typeface="+mj-ea"/>
              <a:ea typeface="+mj-ea"/>
            </a:endParaRPr>
          </a:p>
          <a:p>
            <a:pPr>
              <a:spcBef>
                <a:spcPts val="1000"/>
              </a:spcBef>
            </a:pPr>
            <a:r>
              <a:rPr lang="zh-CN" altLang="en-US" sz="2000" dirty="0">
                <a:solidFill>
                  <a:srgbClr val="000000"/>
                </a:solidFill>
                <a:latin typeface="+mj-ea"/>
                <a:ea typeface="+mj-ea"/>
              </a:rPr>
              <a:t>探寻新的流动规律</a:t>
            </a:r>
            <a:endParaRPr lang="en-US" altLang="zh-CN" sz="2000" dirty="0">
              <a:solidFill>
                <a:srgbClr val="000000"/>
              </a:solidFill>
              <a:latin typeface="+mj-ea"/>
              <a:ea typeface="+mj-ea"/>
            </a:endParaRPr>
          </a:p>
          <a:p>
            <a:pPr>
              <a:spcBef>
                <a:spcPts val="1000"/>
              </a:spcBef>
            </a:pPr>
            <a:endParaRPr lang="en-US" altLang="zh-CN" sz="2000" dirty="0">
              <a:solidFill>
                <a:srgbClr val="000000"/>
              </a:solidFill>
              <a:latin typeface="+mj-ea"/>
              <a:ea typeface="+mj-ea"/>
            </a:endParaRPr>
          </a:p>
          <a:p>
            <a:pPr>
              <a:spcBef>
                <a:spcPts val="1000"/>
              </a:spcBef>
            </a:pPr>
            <a:endParaRPr lang="en-US" altLang="zh-CN" sz="2000" dirty="0">
              <a:solidFill>
                <a:srgbClr val="000000"/>
              </a:solidFill>
              <a:latin typeface="+mj-ea"/>
              <a:ea typeface="+mj-ea"/>
            </a:endParaRPr>
          </a:p>
        </p:txBody>
      </p:sp>
      <p:sp>
        <p:nvSpPr>
          <p:cNvPr id="145413" name="矩形 6"/>
          <p:cNvSpPr>
            <a:spLocks noChangeArrowheads="1"/>
          </p:cNvSpPr>
          <p:nvPr/>
        </p:nvSpPr>
        <p:spPr bwMode="auto">
          <a:xfrm>
            <a:off x="2444568" y="3833813"/>
            <a:ext cx="82742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dirty="0">
                <a:solidFill>
                  <a:srgbClr val="000000"/>
                </a:solidFill>
                <a:latin typeface="黑体" panose="02010609060101010101" pitchFamily="49" charset="-122"/>
                <a:ea typeface="黑体" panose="02010609060101010101" pitchFamily="49" charset="-122"/>
              </a:rPr>
              <a:t>如何将一些已知的流动规律融入到机器学习算法当中</a:t>
            </a:r>
            <a:r>
              <a:rPr lang="zh-CN" altLang="en-US" dirty="0" smtClean="0">
                <a:solidFill>
                  <a:srgbClr val="000000"/>
                </a:solidFill>
                <a:latin typeface="黑体" panose="02010609060101010101" pitchFamily="49" charset="-122"/>
                <a:ea typeface="黑体" panose="02010609060101010101" pitchFamily="49" charset="-122"/>
              </a:rPr>
              <a:t>，</a:t>
            </a:r>
            <a:r>
              <a:rPr lang="zh-CN" altLang="en-US" dirty="0">
                <a:solidFill>
                  <a:srgbClr val="000000"/>
                </a:solidFill>
                <a:latin typeface="黑体" panose="02010609060101010101" pitchFamily="49" charset="-122"/>
                <a:ea typeface="黑体" panose="02010609060101010101" pitchFamily="49" charset="-122"/>
              </a:rPr>
              <a:t>是否</a:t>
            </a:r>
            <a:r>
              <a:rPr lang="zh-CN" altLang="en-US" dirty="0" smtClean="0">
                <a:solidFill>
                  <a:srgbClr val="000000"/>
                </a:solidFill>
                <a:latin typeface="黑体" panose="02010609060101010101" pitchFamily="49" charset="-122"/>
                <a:ea typeface="黑体" panose="02010609060101010101" pitchFamily="49" charset="-122"/>
              </a:rPr>
              <a:t>能</a:t>
            </a:r>
            <a:r>
              <a:rPr lang="zh-CN" altLang="en-US" dirty="0">
                <a:solidFill>
                  <a:srgbClr val="000000"/>
                </a:solidFill>
                <a:latin typeface="黑体" panose="02010609060101010101" pitchFamily="49" charset="-122"/>
                <a:ea typeface="黑体" panose="02010609060101010101" pitchFamily="49" charset="-122"/>
              </a:rPr>
              <a:t>与</a:t>
            </a:r>
            <a:r>
              <a:rPr lang="zh-CN" altLang="en-US" dirty="0" smtClean="0">
                <a:solidFill>
                  <a:srgbClr val="000000"/>
                </a:solidFill>
                <a:latin typeface="黑体" panose="02010609060101010101" pitchFamily="49" charset="-122"/>
                <a:ea typeface="黑体" panose="02010609060101010101" pitchFamily="49" charset="-122"/>
              </a:rPr>
              <a:t>数据同化相</a:t>
            </a:r>
            <a:r>
              <a:rPr lang="zh-CN" altLang="en-US" dirty="0">
                <a:solidFill>
                  <a:srgbClr val="000000"/>
                </a:solidFill>
                <a:latin typeface="黑体" panose="02010609060101010101" pitchFamily="49" charset="-122"/>
                <a:ea typeface="黑体" panose="02010609060101010101" pitchFamily="49" charset="-122"/>
              </a:rPr>
              <a:t>结合</a:t>
            </a:r>
            <a:endParaRPr lang="en-US" altLang="zh-CN" dirty="0">
              <a:solidFill>
                <a:srgbClr val="000000"/>
              </a:solidFill>
              <a:latin typeface="黑体" panose="02010609060101010101" pitchFamily="49" charset="-122"/>
              <a:ea typeface="黑体" panose="02010609060101010101" pitchFamily="49" charset="-122"/>
            </a:endParaRPr>
          </a:p>
        </p:txBody>
      </p:sp>
      <p:sp>
        <p:nvSpPr>
          <p:cNvPr id="145414" name="矩形 7"/>
          <p:cNvSpPr>
            <a:spLocks noChangeArrowheads="1"/>
          </p:cNvSpPr>
          <p:nvPr/>
        </p:nvSpPr>
        <p:spPr bwMode="auto">
          <a:xfrm>
            <a:off x="2457268" y="4991100"/>
            <a:ext cx="827423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a:solidFill>
                  <a:srgbClr val="000000"/>
                </a:solidFill>
                <a:latin typeface="黑体" panose="02010609060101010101" pitchFamily="49" charset="-122"/>
                <a:ea typeface="黑体" panose="02010609060101010101" pitchFamily="49" charset="-122"/>
              </a:rPr>
              <a:t>目前使用机器学习对流动数据进行分析多偏向应用，未来是否能有流动机理研究上的突破</a:t>
            </a:r>
            <a:endParaRPr lang="en-US" altLang="zh-CN">
              <a:solidFill>
                <a:srgbClr val="000000"/>
              </a:solidFill>
              <a:latin typeface="黑体" panose="02010609060101010101" pitchFamily="49" charset="-122"/>
              <a:ea typeface="黑体" panose="02010609060101010101" pitchFamily="49" charset="-122"/>
            </a:endParaRPr>
          </a:p>
        </p:txBody>
      </p:sp>
      <p:sp>
        <p:nvSpPr>
          <p:cNvPr id="145415" name="矩形 8"/>
          <p:cNvSpPr>
            <a:spLocks noChangeArrowheads="1"/>
          </p:cNvSpPr>
          <p:nvPr/>
        </p:nvSpPr>
        <p:spPr bwMode="auto">
          <a:xfrm>
            <a:off x="2415993" y="2700339"/>
            <a:ext cx="855309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a:solidFill>
                  <a:srgbClr val="000000"/>
                </a:solidFill>
                <a:latin typeface="黑体" panose="02010609060101010101" pitchFamily="49" charset="-122"/>
                <a:ea typeface="黑体" panose="02010609060101010101" pitchFamily="49" charset="-122"/>
              </a:rPr>
              <a:t>当前的研究很少对机器算法本身进行深入探讨</a:t>
            </a:r>
            <a:endParaRPr lang="en-US" altLang="zh-CN">
              <a:solidFill>
                <a:srgbClr val="000000"/>
              </a:solidFill>
              <a:latin typeface="黑体" panose="02010609060101010101" pitchFamily="49" charset="-122"/>
              <a:ea typeface="黑体" panose="02010609060101010101" pitchFamily="49" charset="-122"/>
            </a:endParaRPr>
          </a:p>
        </p:txBody>
      </p:sp>
      <p:sp>
        <p:nvSpPr>
          <p:cNvPr id="8" name="文本框 7"/>
          <p:cNvSpPr txBox="1"/>
          <p:nvPr/>
        </p:nvSpPr>
        <p:spPr>
          <a:xfrm>
            <a:off x="672916" y="772765"/>
            <a:ext cx="2652175" cy="584775"/>
          </a:xfrm>
          <a:prstGeom prst="rect">
            <a:avLst/>
          </a:prstGeom>
          <a:noFill/>
        </p:spPr>
        <p:txBody>
          <a:bodyPr wrap="square" rtlCol="0">
            <a:spAutoFit/>
          </a:bodyPr>
          <a:lstStyle/>
          <a:p>
            <a:r>
              <a:rPr lang="zh-CN" altLang="en-US" sz="3200" b="1" dirty="0" smtClean="0">
                <a:latin typeface="华文细黑" panose="02010600040101010101" pitchFamily="2" charset="-122"/>
                <a:ea typeface="华文细黑" panose="02010600040101010101" pitchFamily="2" charset="-122"/>
              </a:rPr>
              <a:t>人工智能</a:t>
            </a:r>
            <a:endParaRPr lang="zh-CN" altLang="en-US" sz="3200" b="1" dirty="0">
              <a:latin typeface="华文细黑" panose="02010600040101010101" pitchFamily="2" charset="-122"/>
              <a:ea typeface="华文细黑" panose="02010600040101010101" pitchFamily="2" charset="-122"/>
            </a:endParaRPr>
          </a:p>
        </p:txBody>
      </p:sp>
      <p:sp>
        <p:nvSpPr>
          <p:cNvPr id="2" name="灯片编号占位符 1"/>
          <p:cNvSpPr>
            <a:spLocks noGrp="1"/>
          </p:cNvSpPr>
          <p:nvPr>
            <p:ph type="sldNum" sz="quarter" idx="12"/>
          </p:nvPr>
        </p:nvSpPr>
        <p:spPr/>
        <p:txBody>
          <a:bodyPr/>
          <a:lstStyle/>
          <a:p>
            <a:fld id="{16D8DD02-547D-47A5-AAEA-525C7BEEAE57}" type="slidenum">
              <a:rPr lang="zh-CN" altLang="en-US" smtClean="0"/>
              <a:t>79</a:t>
            </a:fld>
            <a:endParaRPr lang="zh-CN" altLang="en-US"/>
          </a:p>
        </p:txBody>
      </p:sp>
    </p:spTree>
    <p:extLst>
      <p:ext uri="{BB962C8B-B14F-4D97-AF65-F5344CB8AC3E}">
        <p14:creationId xmlns:p14="http://schemas.microsoft.com/office/powerpoint/2010/main" val="12159702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5672</Words>
  <Application>Microsoft Office PowerPoint</Application>
  <PresentationFormat>宽屏</PresentationFormat>
  <Paragraphs>760</Paragraphs>
  <Slides>79</Slides>
  <Notes>20</Notes>
  <HiddenSlides>0</HiddenSlides>
  <MMClips>2</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4</vt:i4>
      </vt:variant>
      <vt:variant>
        <vt:lpstr>幻灯片标题</vt:lpstr>
      </vt:variant>
      <vt:variant>
        <vt:i4>79</vt:i4>
      </vt:variant>
    </vt:vector>
  </HeadingPairs>
  <TitlesOfParts>
    <vt:vector size="102" baseType="lpstr">
      <vt:lpstr>-apple-system</vt:lpstr>
      <vt:lpstr>Helvetica-Bold</vt:lpstr>
      <vt:lpstr>HelveticaLTStd-Roman</vt:lpstr>
      <vt:lpstr>等线</vt:lpstr>
      <vt:lpstr>等线 Light</vt:lpstr>
      <vt:lpstr>黑体</vt:lpstr>
      <vt:lpstr>华文细黑</vt:lpstr>
      <vt:lpstr>楷体</vt:lpstr>
      <vt:lpstr>楷体_GB2312</vt:lpstr>
      <vt:lpstr>宋体</vt:lpstr>
      <vt:lpstr>微软雅黑</vt:lpstr>
      <vt:lpstr>Arial</vt:lpstr>
      <vt:lpstr>Calibri</vt:lpstr>
      <vt:lpstr>Cambria Math</vt:lpstr>
      <vt:lpstr>Helvetica</vt:lpstr>
      <vt:lpstr>Symbol</vt:lpstr>
      <vt:lpstr>Times New Roman</vt:lpstr>
      <vt:lpstr>Wingdings</vt:lpstr>
      <vt:lpstr>Office 主题​​</vt:lpstr>
      <vt:lpstr>Equation</vt:lpstr>
      <vt:lpstr>Graph</vt:lpstr>
      <vt:lpstr>公式</vt:lpstr>
      <vt:lpstr>Visio</vt:lpstr>
      <vt:lpstr>实验流体力学  流动显示与PIV</vt:lpstr>
      <vt:lpstr>   流动显示与PIV</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实验流体力学  流动显示与PIV</dc:title>
  <dc:creator>admin</dc:creator>
  <cp:lastModifiedBy>admin</cp:lastModifiedBy>
  <cp:revision>4</cp:revision>
  <dcterms:created xsi:type="dcterms:W3CDTF">2023-05-24T04:44:08Z</dcterms:created>
  <dcterms:modified xsi:type="dcterms:W3CDTF">2023-05-24T04:59:33Z</dcterms:modified>
</cp:coreProperties>
</file>