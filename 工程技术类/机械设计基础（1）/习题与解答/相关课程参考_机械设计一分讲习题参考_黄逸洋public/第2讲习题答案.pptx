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09" r:id="rId2"/>
  </p:sldMasterIdLst>
  <p:sldIdLst>
    <p:sldId id="264" r:id="rId3"/>
    <p:sldId id="387" r:id="rId4"/>
    <p:sldId id="278" r:id="rId5"/>
    <p:sldId id="287" r:id="rId6"/>
    <p:sldId id="279" r:id="rId7"/>
    <p:sldId id="288" r:id="rId8"/>
    <p:sldId id="280" r:id="rId9"/>
    <p:sldId id="281" r:id="rId10"/>
    <p:sldId id="282" r:id="rId11"/>
    <p:sldId id="283" r:id="rId12"/>
    <p:sldId id="358" r:id="rId13"/>
    <p:sldId id="365" r:id="rId14"/>
    <p:sldId id="363" r:id="rId15"/>
    <p:sldId id="284" r:id="rId16"/>
    <p:sldId id="360" r:id="rId17"/>
    <p:sldId id="367" r:id="rId18"/>
    <p:sldId id="285" r:id="rId19"/>
    <p:sldId id="349" r:id="rId20"/>
    <p:sldId id="350" r:id="rId21"/>
    <p:sldId id="351" r:id="rId22"/>
    <p:sldId id="359" r:id="rId23"/>
    <p:sldId id="352" r:id="rId24"/>
    <p:sldId id="353" r:id="rId25"/>
    <p:sldId id="369" r:id="rId26"/>
    <p:sldId id="370" r:id="rId27"/>
    <p:sldId id="388" r:id="rId28"/>
    <p:sldId id="376" r:id="rId29"/>
    <p:sldId id="375" r:id="rId30"/>
    <p:sldId id="371" r:id="rId31"/>
    <p:sldId id="372" r:id="rId32"/>
    <p:sldId id="373" r:id="rId33"/>
    <p:sldId id="374" r:id="rId34"/>
    <p:sldId id="377" r:id="rId35"/>
    <p:sldId id="378" r:id="rId36"/>
    <p:sldId id="379" r:id="rId37"/>
    <p:sldId id="380" r:id="rId38"/>
    <p:sldId id="381" r:id="rId39"/>
    <p:sldId id="382" r:id="rId40"/>
    <p:sldId id="383" r:id="rId41"/>
    <p:sldId id="384" r:id="rId42"/>
    <p:sldId id="385" r:id="rId43"/>
    <p:sldId id="386" r:id="rId44"/>
    <p:sldId id="366" r:id="rId45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99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4" autoAdjust="0"/>
    <p:restoredTop sz="94660"/>
  </p:normalViewPr>
  <p:slideViewPr>
    <p:cSldViewPr snapToGrid="0">
      <p:cViewPr varScale="1">
        <p:scale>
          <a:sx n="83" d="100"/>
          <a:sy n="83" d="100"/>
        </p:scale>
        <p:origin x="-1531" y="-58"/>
      </p:cViewPr>
      <p:guideLst>
        <p:guide orient="horz" pos="2160"/>
        <p:guide orient="horz" pos="119"/>
        <p:guide orient="horz" pos="4201"/>
        <p:guide orient="horz" pos="663"/>
        <p:guide orient="horz" pos="3657"/>
        <p:guide pos="2880"/>
        <p:guide pos="1383"/>
        <p:guide pos="4377"/>
        <p:guide pos="839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884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 smtClean="0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</p:grpSp>
      <p:sp>
        <p:nvSpPr>
          <p:cNvPr id="399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7E89FCA3-773B-4D9D-958E-530314B1FA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120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3F424D-314F-421B-AAC2-54F0DB8EB5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7221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274679-3A13-4348-90FE-E25E0AC1B4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5806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F5B3D5-608B-4797-B58F-BA2E831ABE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299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FD3728-5278-40F9-89D0-C4A270DAFA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16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041C9-F4EC-4689-8A60-E723BF110A1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031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9C02CB-AC86-4993-AAE9-2E991529CE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2249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6C9C2D-E2F4-46C6-AE9F-C89E7C23C1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3382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D14BA5-61F1-408F-9E8D-A09057B5BDC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532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881F2-C4D6-4603-BD46-07704C7E3F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1029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55D0E8-2619-49BE-BD05-05F931474E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0724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en-US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en-US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en-US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en-US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399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1FA5FCA-7DF9-4B22-95BD-22162CB52F1C}" type="slidenum">
              <a:rPr lang="en-US" altLang="zh-CN">
                <a:solidFill>
                  <a:srgbClr val="1C1C1C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056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47B43C-1F0A-46A0-A421-4DC765CD49E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71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BBF73-7AB5-44DC-AA31-5E2F91ECAB3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238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477E4A-55A9-4E46-B98F-355B1864D0A4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734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90BB7-7427-4C68-AF48-0E858C9594BB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9398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F2ABF9-0516-45C5-818D-4CCD6E7CFDC2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0864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5C51E4-16E5-446C-A043-B21E4238DB3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688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CD96F-6972-4569-9A61-384044DCADE9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500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D6496-89CE-40AB-890A-3A83EFE62CB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3604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E5562-0110-417C-B667-F6ED828661F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3565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DC391-4D5A-432B-B2FE-627C171BE2FD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70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kumimoji="1" lang="zh-CN" altLang="zh-CN" sz="2400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kumimoji="1" lang="zh-CN" altLang="zh-CN" sz="2400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89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DF90DAF-68D6-48E4-A6FA-6CA9B21169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kumimoji="1" lang="zh-CN" altLang="zh-CN" sz="2400" smtClean="0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kumimoji="1" lang="zh-CN" altLang="zh-CN" sz="2400" smtClean="0">
              <a:solidFill>
                <a:srgbClr val="000000"/>
              </a:solidFill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kumimoji="1" lang="zh-CN" altLang="zh-CN" sz="2400" smtClean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kumimoji="1" lang="zh-CN" altLang="zh-CN" sz="2400" smtClean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kumimoji="1" lang="zh-CN" altLang="zh-CN" sz="2400" smtClean="0">
              <a:solidFill>
                <a:srgbClr val="000000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kumimoji="1" lang="zh-CN" altLang="zh-CN" sz="2400" smtClean="0">
              <a:solidFill>
                <a:srgbClr val="000000"/>
              </a:solidFill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kumimoji="1" lang="zh-CN" altLang="zh-CN" sz="2400" smtClean="0">
              <a:solidFill>
                <a:srgbClr val="000000"/>
              </a:solidFill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89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 algn="l"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89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89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fld id="{03B82B1B-2769-47CE-B3CC-7C767B90FCF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697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CCFF"/>
            </a:gs>
            <a:gs pos="100000">
              <a:srgbClr val="765E76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ChangeArrowheads="1"/>
          </p:cNvSpPr>
          <p:nvPr/>
        </p:nvSpPr>
        <p:spPr bwMode="auto">
          <a:xfrm>
            <a:off x="0" y="749300"/>
            <a:ext cx="91440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 dirty="0">
                <a:latin typeface="Arial" charset="0"/>
                <a:ea typeface="隶书" pitchFamily="49" charset="-122"/>
              </a:rPr>
              <a:t>第二讲习题答案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6000" b="1" dirty="0">
              <a:latin typeface="Arial" charset="0"/>
              <a:ea typeface="隶书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dirty="0" smtClean="0">
                <a:latin typeface="Arial" charset="0"/>
                <a:ea typeface="黑体" pitchFamily="2" charset="-122"/>
              </a:rPr>
              <a:t>平面的</a:t>
            </a:r>
            <a:r>
              <a:rPr lang="zh-CN" altLang="en-US" sz="4800" dirty="0">
                <a:latin typeface="Arial" charset="0"/>
                <a:ea typeface="黑体" pitchFamily="2" charset="-122"/>
              </a:rPr>
              <a:t>投影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800" dirty="0">
                <a:latin typeface="Arial" charset="0"/>
                <a:ea typeface="黑体" pitchFamily="2" charset="-122"/>
              </a:rPr>
              <a:t>几何元素</a:t>
            </a:r>
            <a:r>
              <a:rPr lang="zh-CN" altLang="en-US" sz="4800" dirty="0" smtClean="0">
                <a:latin typeface="Arial" charset="0"/>
                <a:ea typeface="黑体" pitchFamily="2" charset="-122"/>
              </a:rPr>
              <a:t>的相对位置关系</a:t>
            </a:r>
            <a:endParaRPr lang="zh-CN" altLang="en-US" sz="4800" dirty="0">
              <a:latin typeface="Arial" charset="0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1549400" y="1455738"/>
            <a:ext cx="5089525" cy="4005262"/>
            <a:chOff x="976" y="917"/>
            <a:chExt cx="3206" cy="2523"/>
          </a:xfrm>
        </p:grpSpPr>
        <p:sp>
          <p:nvSpPr>
            <p:cNvPr id="4129" name="Text Box 3"/>
            <p:cNvSpPr txBox="1">
              <a:spLocks noChangeArrowheads="1"/>
            </p:cNvSpPr>
            <p:nvPr/>
          </p:nvSpPr>
          <p:spPr bwMode="auto">
            <a:xfrm>
              <a:off x="2280" y="917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smtClean="0">
                  <a:solidFill>
                    <a:srgbClr val="000000"/>
                  </a:solidFill>
                  <a:latin typeface="ISOCPEUR" pitchFamily="34" charset="0"/>
                </a:rPr>
                <a:t>e’</a:t>
              </a:r>
            </a:p>
          </p:txBody>
        </p:sp>
        <p:grpSp>
          <p:nvGrpSpPr>
            <p:cNvPr id="4130" name="Group 4"/>
            <p:cNvGrpSpPr>
              <a:grpSpLocks/>
            </p:cNvGrpSpPr>
            <p:nvPr/>
          </p:nvGrpSpPr>
          <p:grpSpPr bwMode="auto">
            <a:xfrm>
              <a:off x="976" y="1034"/>
              <a:ext cx="3206" cy="2406"/>
              <a:chOff x="976" y="1034"/>
              <a:chExt cx="3206" cy="2406"/>
            </a:xfrm>
          </p:grpSpPr>
          <p:sp>
            <p:nvSpPr>
              <p:cNvPr id="4131" name="Line 5"/>
              <p:cNvSpPr>
                <a:spLocks noChangeShapeType="1"/>
              </p:cNvSpPr>
              <p:nvPr/>
            </p:nvSpPr>
            <p:spPr bwMode="auto">
              <a:xfrm>
                <a:off x="1176" y="2423"/>
                <a:ext cx="2809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132" name="Line 6"/>
              <p:cNvSpPr>
                <a:spLocks noChangeShapeType="1"/>
              </p:cNvSpPr>
              <p:nvPr/>
            </p:nvSpPr>
            <p:spPr bwMode="auto">
              <a:xfrm flipV="1">
                <a:off x="1536" y="2089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133" name="Line 7"/>
              <p:cNvSpPr>
                <a:spLocks noChangeShapeType="1"/>
              </p:cNvSpPr>
              <p:nvPr/>
            </p:nvSpPr>
            <p:spPr bwMode="auto">
              <a:xfrm flipV="1">
                <a:off x="2649" y="1259"/>
                <a:ext cx="0" cy="140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134" name="Line 8"/>
              <p:cNvSpPr>
                <a:spLocks noChangeShapeType="1"/>
              </p:cNvSpPr>
              <p:nvPr/>
            </p:nvSpPr>
            <p:spPr bwMode="auto">
              <a:xfrm flipV="1">
                <a:off x="2788" y="2089"/>
                <a:ext cx="0" cy="1212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135" name="Line 9"/>
              <p:cNvSpPr>
                <a:spLocks noChangeShapeType="1"/>
              </p:cNvSpPr>
              <p:nvPr/>
            </p:nvSpPr>
            <p:spPr bwMode="auto">
              <a:xfrm flipV="1">
                <a:off x="2298" y="2274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136" name="Freeform 10"/>
              <p:cNvSpPr>
                <a:spLocks/>
              </p:cNvSpPr>
              <p:nvPr/>
            </p:nvSpPr>
            <p:spPr bwMode="auto">
              <a:xfrm>
                <a:off x="1537" y="1255"/>
                <a:ext cx="1249" cy="837"/>
              </a:xfrm>
              <a:custGeom>
                <a:avLst/>
                <a:gdLst>
                  <a:gd name="T0" fmla="*/ 1114 w 1250"/>
                  <a:gd name="T1" fmla="*/ 0 h 837"/>
                  <a:gd name="T2" fmla="*/ 0 w 1250"/>
                  <a:gd name="T3" fmla="*/ 837 h 837"/>
                  <a:gd name="T4" fmla="*/ 1246 w 1250"/>
                  <a:gd name="T5" fmla="*/ 837 h 8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50" h="837">
                    <a:moveTo>
                      <a:pt x="1118" y="0"/>
                    </a:moveTo>
                    <a:lnTo>
                      <a:pt x="0" y="837"/>
                    </a:lnTo>
                    <a:lnTo>
                      <a:pt x="1250" y="837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137" name="Freeform 11"/>
              <p:cNvSpPr>
                <a:spLocks/>
              </p:cNvSpPr>
              <p:nvPr/>
            </p:nvSpPr>
            <p:spPr bwMode="auto">
              <a:xfrm>
                <a:off x="1536" y="2663"/>
                <a:ext cx="1255" cy="640"/>
              </a:xfrm>
              <a:custGeom>
                <a:avLst/>
                <a:gdLst>
                  <a:gd name="T0" fmla="*/ 1113 w 1255"/>
                  <a:gd name="T1" fmla="*/ 0 h 640"/>
                  <a:gd name="T2" fmla="*/ 0 w 1255"/>
                  <a:gd name="T3" fmla="*/ 0 h 640"/>
                  <a:gd name="T4" fmla="*/ 1255 w 1255"/>
                  <a:gd name="T5" fmla="*/ 640 h 6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55" h="640">
                    <a:moveTo>
                      <a:pt x="1113" y="0"/>
                    </a:moveTo>
                    <a:lnTo>
                      <a:pt x="0" y="0"/>
                    </a:lnTo>
                    <a:lnTo>
                      <a:pt x="1255" y="64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138" name="Line 12"/>
              <p:cNvSpPr>
                <a:spLocks noChangeShapeType="1"/>
              </p:cNvSpPr>
              <p:nvPr/>
            </p:nvSpPr>
            <p:spPr bwMode="auto">
              <a:xfrm>
                <a:off x="2299" y="1118"/>
                <a:ext cx="0" cy="3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139" name="Line 13"/>
              <p:cNvSpPr>
                <a:spLocks noChangeShapeType="1"/>
              </p:cNvSpPr>
              <p:nvPr/>
            </p:nvSpPr>
            <p:spPr bwMode="auto">
              <a:xfrm>
                <a:off x="2299" y="2097"/>
                <a:ext cx="0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140" name="Line 14"/>
              <p:cNvSpPr>
                <a:spLocks noChangeShapeType="1"/>
              </p:cNvSpPr>
              <p:nvPr/>
            </p:nvSpPr>
            <p:spPr bwMode="auto">
              <a:xfrm>
                <a:off x="2299" y="2526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141" name="Line 15"/>
              <p:cNvSpPr>
                <a:spLocks noChangeShapeType="1"/>
              </p:cNvSpPr>
              <p:nvPr/>
            </p:nvSpPr>
            <p:spPr bwMode="auto">
              <a:xfrm>
                <a:off x="2299" y="3057"/>
                <a:ext cx="0" cy="2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142" name="Text Box 16"/>
              <p:cNvSpPr txBox="1">
                <a:spLocks noChangeArrowheads="1"/>
              </p:cNvSpPr>
              <p:nvPr/>
            </p:nvSpPr>
            <p:spPr bwMode="auto">
              <a:xfrm>
                <a:off x="976" y="2241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X</a:t>
                </a:r>
              </a:p>
            </p:txBody>
          </p:sp>
          <p:sp>
            <p:nvSpPr>
              <p:cNvPr id="4143" name="Text Box 17"/>
              <p:cNvSpPr txBox="1">
                <a:spLocks noChangeArrowheads="1"/>
              </p:cNvSpPr>
              <p:nvPr/>
            </p:nvSpPr>
            <p:spPr bwMode="auto">
              <a:xfrm>
                <a:off x="2060" y="2206"/>
                <a:ext cx="19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f’</a:t>
                </a:r>
              </a:p>
            </p:txBody>
          </p:sp>
          <p:sp>
            <p:nvSpPr>
              <p:cNvPr id="4144" name="Text Box 18"/>
              <p:cNvSpPr txBox="1">
                <a:spLocks noChangeArrowheads="1"/>
              </p:cNvSpPr>
              <p:nvPr/>
            </p:nvSpPr>
            <p:spPr bwMode="auto">
              <a:xfrm>
                <a:off x="2762" y="1890"/>
                <a:ext cx="23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c’</a:t>
                </a:r>
              </a:p>
            </p:txBody>
          </p:sp>
          <p:sp>
            <p:nvSpPr>
              <p:cNvPr id="4145" name="Text Box 19"/>
              <p:cNvSpPr txBox="1">
                <a:spLocks noChangeArrowheads="1"/>
              </p:cNvSpPr>
              <p:nvPr/>
            </p:nvSpPr>
            <p:spPr bwMode="auto">
              <a:xfrm>
                <a:off x="2630" y="1034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b’</a:t>
                </a:r>
              </a:p>
            </p:txBody>
          </p:sp>
          <p:sp>
            <p:nvSpPr>
              <p:cNvPr id="4146" name="Text Box 20"/>
              <p:cNvSpPr txBox="1">
                <a:spLocks noChangeArrowheads="1"/>
              </p:cNvSpPr>
              <p:nvPr/>
            </p:nvSpPr>
            <p:spPr bwMode="auto">
              <a:xfrm>
                <a:off x="1309" y="1925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a’</a:t>
                </a:r>
              </a:p>
            </p:txBody>
          </p:sp>
          <p:sp>
            <p:nvSpPr>
              <p:cNvPr id="4147" name="Text Box 21"/>
              <p:cNvSpPr txBox="1">
                <a:spLocks noChangeArrowheads="1"/>
              </p:cNvSpPr>
              <p:nvPr/>
            </p:nvSpPr>
            <p:spPr bwMode="auto">
              <a:xfrm>
                <a:off x="3963" y="2244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O</a:t>
                </a:r>
              </a:p>
            </p:txBody>
          </p:sp>
          <p:sp>
            <p:nvSpPr>
              <p:cNvPr id="4148" name="Text Box 22"/>
              <p:cNvSpPr txBox="1">
                <a:spLocks noChangeArrowheads="1"/>
              </p:cNvSpPr>
              <p:nvPr/>
            </p:nvSpPr>
            <p:spPr bwMode="auto">
              <a:xfrm>
                <a:off x="1306" y="2500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a</a:t>
                </a:r>
              </a:p>
            </p:txBody>
          </p:sp>
          <p:sp>
            <p:nvSpPr>
              <p:cNvPr id="4149" name="Text Box 23"/>
              <p:cNvSpPr txBox="1">
                <a:spLocks noChangeArrowheads="1"/>
              </p:cNvSpPr>
              <p:nvPr/>
            </p:nvSpPr>
            <p:spPr bwMode="auto">
              <a:xfrm>
                <a:off x="2072" y="2417"/>
                <a:ext cx="17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f</a:t>
                </a:r>
              </a:p>
            </p:txBody>
          </p:sp>
          <p:sp>
            <p:nvSpPr>
              <p:cNvPr id="4150" name="Text Box 24"/>
              <p:cNvSpPr txBox="1">
                <a:spLocks noChangeArrowheads="1"/>
              </p:cNvSpPr>
              <p:nvPr/>
            </p:nvSpPr>
            <p:spPr bwMode="auto">
              <a:xfrm>
                <a:off x="2268" y="3152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e</a:t>
                </a:r>
              </a:p>
            </p:txBody>
          </p:sp>
          <p:sp>
            <p:nvSpPr>
              <p:cNvPr id="4151" name="Text Box 25"/>
              <p:cNvSpPr txBox="1">
                <a:spLocks noChangeArrowheads="1"/>
              </p:cNvSpPr>
              <p:nvPr/>
            </p:nvSpPr>
            <p:spPr bwMode="auto">
              <a:xfrm>
                <a:off x="2620" y="2433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b</a:t>
                </a:r>
              </a:p>
            </p:txBody>
          </p:sp>
          <p:sp>
            <p:nvSpPr>
              <p:cNvPr id="4152" name="Text Box 26"/>
              <p:cNvSpPr txBox="1">
                <a:spLocks noChangeArrowheads="1"/>
              </p:cNvSpPr>
              <p:nvPr/>
            </p:nvSpPr>
            <p:spPr bwMode="auto">
              <a:xfrm>
                <a:off x="2786" y="3136"/>
                <a:ext cx="19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c</a:t>
                </a:r>
              </a:p>
            </p:txBody>
          </p:sp>
        </p:grpSp>
      </p:grpSp>
      <p:sp>
        <p:nvSpPr>
          <p:cNvPr id="115739" name="Line 27"/>
          <p:cNvSpPr>
            <a:spLocks noChangeShapeType="1"/>
          </p:cNvSpPr>
          <p:nvPr/>
        </p:nvSpPr>
        <p:spPr bwMode="auto">
          <a:xfrm flipV="1">
            <a:off x="2438400" y="1654175"/>
            <a:ext cx="1306513" cy="16621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40" name="Line 28"/>
          <p:cNvSpPr>
            <a:spLocks noChangeShapeType="1"/>
          </p:cNvSpPr>
          <p:nvPr/>
        </p:nvSpPr>
        <p:spPr bwMode="auto">
          <a:xfrm>
            <a:off x="2090738" y="3232150"/>
            <a:ext cx="1755775" cy="4254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41" name="Line 29"/>
          <p:cNvSpPr>
            <a:spLocks noChangeShapeType="1"/>
          </p:cNvSpPr>
          <p:nvPr/>
        </p:nvSpPr>
        <p:spPr bwMode="auto">
          <a:xfrm flipH="1" flipV="1">
            <a:off x="2333625" y="4143375"/>
            <a:ext cx="1590675" cy="1316038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42" name="Line 30"/>
          <p:cNvSpPr>
            <a:spLocks noChangeShapeType="1"/>
          </p:cNvSpPr>
          <p:nvPr/>
        </p:nvSpPr>
        <p:spPr bwMode="auto">
          <a:xfrm flipV="1">
            <a:off x="2024063" y="4010025"/>
            <a:ext cx="1624012" cy="2921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43" name="Line 31"/>
          <p:cNvSpPr>
            <a:spLocks noChangeShapeType="1"/>
          </p:cNvSpPr>
          <p:nvPr/>
        </p:nvSpPr>
        <p:spPr bwMode="auto">
          <a:xfrm flipH="1" flipV="1">
            <a:off x="4168775" y="4060825"/>
            <a:ext cx="257175" cy="11826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44" name="Line 32"/>
          <p:cNvSpPr>
            <a:spLocks noChangeShapeType="1"/>
          </p:cNvSpPr>
          <p:nvPr/>
        </p:nvSpPr>
        <p:spPr bwMode="auto">
          <a:xfrm flipH="1" flipV="1">
            <a:off x="4156075" y="1703388"/>
            <a:ext cx="317500" cy="190341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45" name="Line 33"/>
          <p:cNvSpPr>
            <a:spLocks noChangeShapeType="1"/>
          </p:cNvSpPr>
          <p:nvPr/>
        </p:nvSpPr>
        <p:spPr bwMode="auto">
          <a:xfrm flipH="1" flipV="1">
            <a:off x="2460625" y="2492375"/>
            <a:ext cx="2120900" cy="51593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46" name="Line 34"/>
          <p:cNvSpPr>
            <a:spLocks noChangeShapeType="1"/>
          </p:cNvSpPr>
          <p:nvPr/>
        </p:nvSpPr>
        <p:spPr bwMode="auto">
          <a:xfrm>
            <a:off x="3278188" y="2027238"/>
            <a:ext cx="0" cy="1819275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47" name="Line 35"/>
          <p:cNvSpPr>
            <a:spLocks noChangeShapeType="1"/>
          </p:cNvSpPr>
          <p:nvPr/>
        </p:nvSpPr>
        <p:spPr bwMode="auto">
          <a:xfrm>
            <a:off x="4365625" y="2697163"/>
            <a:ext cx="0" cy="27193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48" name="Line 36"/>
          <p:cNvSpPr>
            <a:spLocks noChangeShapeType="1"/>
          </p:cNvSpPr>
          <p:nvPr/>
        </p:nvSpPr>
        <p:spPr bwMode="auto">
          <a:xfrm>
            <a:off x="3014663" y="4051300"/>
            <a:ext cx="1501775" cy="103346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49" name="Line 37"/>
          <p:cNvSpPr>
            <a:spLocks noChangeShapeType="1"/>
          </p:cNvSpPr>
          <p:nvPr/>
        </p:nvSpPr>
        <p:spPr bwMode="auto">
          <a:xfrm flipH="1">
            <a:off x="2527300" y="4416425"/>
            <a:ext cx="1978025" cy="341313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50" name="Line 38"/>
          <p:cNvSpPr>
            <a:spLocks noChangeShapeType="1"/>
          </p:cNvSpPr>
          <p:nvPr/>
        </p:nvSpPr>
        <p:spPr bwMode="auto">
          <a:xfrm>
            <a:off x="2979738" y="2216150"/>
            <a:ext cx="0" cy="16319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51" name="Line 39"/>
          <p:cNvSpPr>
            <a:spLocks noChangeShapeType="1"/>
          </p:cNvSpPr>
          <p:nvPr/>
        </p:nvSpPr>
        <p:spPr bwMode="auto">
          <a:xfrm flipV="1">
            <a:off x="3738563" y="3838575"/>
            <a:ext cx="0" cy="11144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52" name="Line 40"/>
          <p:cNvSpPr>
            <a:spLocks noChangeShapeType="1"/>
          </p:cNvSpPr>
          <p:nvPr/>
        </p:nvSpPr>
        <p:spPr bwMode="auto">
          <a:xfrm>
            <a:off x="2443163" y="4229100"/>
            <a:ext cx="2019300" cy="4921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53" name="Line 41"/>
          <p:cNvSpPr>
            <a:spLocks noChangeShapeType="1"/>
          </p:cNvSpPr>
          <p:nvPr/>
        </p:nvSpPr>
        <p:spPr bwMode="auto">
          <a:xfrm flipV="1">
            <a:off x="2443163" y="2524125"/>
            <a:ext cx="2001837" cy="790575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54" name="Line 42"/>
          <p:cNvSpPr>
            <a:spLocks noChangeShapeType="1"/>
          </p:cNvSpPr>
          <p:nvPr/>
        </p:nvSpPr>
        <p:spPr bwMode="auto">
          <a:xfrm flipV="1">
            <a:off x="3646488" y="4525963"/>
            <a:ext cx="0" cy="322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55" name="Line 43"/>
          <p:cNvSpPr>
            <a:spLocks noChangeShapeType="1"/>
          </p:cNvSpPr>
          <p:nvPr/>
        </p:nvSpPr>
        <p:spPr bwMode="auto">
          <a:xfrm flipH="1">
            <a:off x="3646488" y="4252913"/>
            <a:ext cx="4762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56" name="Line 44"/>
          <p:cNvSpPr>
            <a:spLocks noChangeShapeType="1"/>
          </p:cNvSpPr>
          <p:nvPr/>
        </p:nvSpPr>
        <p:spPr bwMode="auto">
          <a:xfrm>
            <a:off x="3648075" y="2413000"/>
            <a:ext cx="0" cy="425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57" name="Line 45"/>
          <p:cNvSpPr>
            <a:spLocks noChangeShapeType="1"/>
          </p:cNvSpPr>
          <p:nvPr/>
        </p:nvSpPr>
        <p:spPr bwMode="auto">
          <a:xfrm>
            <a:off x="3648075" y="2908300"/>
            <a:ext cx="0" cy="363538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58" name="Line 46"/>
          <p:cNvSpPr>
            <a:spLocks noChangeShapeType="1"/>
          </p:cNvSpPr>
          <p:nvPr/>
        </p:nvSpPr>
        <p:spPr bwMode="auto">
          <a:xfrm>
            <a:off x="2979738" y="3848100"/>
            <a:ext cx="0" cy="8318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59" name="Line 47"/>
          <p:cNvSpPr>
            <a:spLocks noChangeShapeType="1"/>
          </p:cNvSpPr>
          <p:nvPr/>
        </p:nvSpPr>
        <p:spPr bwMode="auto">
          <a:xfrm>
            <a:off x="3278188" y="3844925"/>
            <a:ext cx="0" cy="382588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60" name="Line 48"/>
          <p:cNvSpPr>
            <a:spLocks noChangeShapeType="1"/>
          </p:cNvSpPr>
          <p:nvPr/>
        </p:nvSpPr>
        <p:spPr bwMode="auto">
          <a:xfrm flipV="1">
            <a:off x="3738563" y="2071688"/>
            <a:ext cx="0" cy="176847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4121" name="Text Box 49"/>
          <p:cNvSpPr txBox="1">
            <a:spLocks noChangeArrowheads="1"/>
          </p:cNvSpPr>
          <p:nvPr/>
        </p:nvSpPr>
        <p:spPr bwMode="auto">
          <a:xfrm>
            <a:off x="1219200" y="207963"/>
            <a:ext cx="7924800" cy="66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zh-CN" sz="1500" smtClean="0">
                <a:solidFill>
                  <a:srgbClr val="000000"/>
                </a:solidFill>
                <a:latin typeface="宋体" charset="-122"/>
              </a:rPr>
              <a:t>2-2-2  </a:t>
            </a:r>
            <a:r>
              <a:rPr lang="zh-CN" altLang="en-US" sz="1500" smtClean="0">
                <a:solidFill>
                  <a:srgbClr val="000000"/>
                </a:solidFill>
                <a:latin typeface="宋体" charset="-122"/>
              </a:rPr>
              <a:t>几何元素的相交问题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smtClean="0">
                <a:solidFill>
                  <a:srgbClr val="000000"/>
                </a:solidFill>
                <a:latin typeface="宋体" charset="-122"/>
              </a:rPr>
              <a:t>3  </a:t>
            </a:r>
            <a:r>
              <a:rPr lang="zh-CN" altLang="en-US" sz="1500" smtClean="0">
                <a:solidFill>
                  <a:srgbClr val="000000"/>
                </a:solidFill>
                <a:latin typeface="宋体" charset="-122"/>
              </a:rPr>
              <a:t>求直线</a:t>
            </a:r>
            <a:r>
              <a:rPr lang="en-US" altLang="zh-CN" sz="1500" smtClean="0">
                <a:solidFill>
                  <a:srgbClr val="000000"/>
                </a:solidFill>
                <a:latin typeface="宋体" charset="-122"/>
              </a:rPr>
              <a:t>EF</a:t>
            </a:r>
            <a:r>
              <a:rPr lang="zh-CN" altLang="en-US" sz="1500" smtClean="0">
                <a:solidFill>
                  <a:srgbClr val="000000"/>
                </a:solidFill>
                <a:latin typeface="宋体" charset="-122"/>
              </a:rPr>
              <a:t>与由两相交直线</a:t>
            </a:r>
            <a:r>
              <a:rPr lang="en-US" altLang="zh-CN" sz="1500" smtClean="0">
                <a:solidFill>
                  <a:srgbClr val="000000"/>
                </a:solidFill>
                <a:latin typeface="宋体" charset="-122"/>
              </a:rPr>
              <a:t>AB,AC</a:t>
            </a:r>
            <a:r>
              <a:rPr lang="zh-CN" altLang="en-US" sz="1500" smtClean="0">
                <a:solidFill>
                  <a:srgbClr val="000000"/>
                </a:solidFill>
                <a:latin typeface="宋体" charset="-122"/>
              </a:rPr>
              <a:t>确定的平面的交点，并判断可见性。</a:t>
            </a:r>
          </a:p>
        </p:txBody>
      </p:sp>
      <p:sp>
        <p:nvSpPr>
          <p:cNvPr id="4122" name="Rectangle 50"/>
          <p:cNvSpPr>
            <a:spLocks noChangeArrowheads="1"/>
          </p:cNvSpPr>
          <p:nvPr/>
        </p:nvSpPr>
        <p:spPr bwMode="auto">
          <a:xfrm>
            <a:off x="1187450" y="546100"/>
            <a:ext cx="5951538" cy="516572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115763" name="Text Box 51"/>
          <p:cNvSpPr txBox="1">
            <a:spLocks noChangeArrowheads="1"/>
          </p:cNvSpPr>
          <p:nvPr/>
        </p:nvSpPr>
        <p:spPr bwMode="auto">
          <a:xfrm>
            <a:off x="7138988" y="1168400"/>
            <a:ext cx="183356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latin typeface="宋体" charset="-122"/>
                <a:ea typeface="黑体" pitchFamily="2" charset="-122"/>
              </a:rPr>
              <a:t>·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辅助面 </a:t>
            </a:r>
          </a:p>
          <a:p>
            <a:pPr algn="l" eaLnBrk="1" hangingPunct="1">
              <a:spcBef>
                <a:spcPct val="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latin typeface="宋体" charset="-122"/>
                <a:ea typeface="黑体" pitchFamily="2" charset="-122"/>
              </a:rPr>
              <a:t>·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标注交点 </a:t>
            </a:r>
          </a:p>
          <a:p>
            <a:pPr algn="l" eaLnBrk="1" hangingPunct="1">
              <a:spcBef>
                <a:spcPct val="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latin typeface="宋体" charset="-122"/>
                <a:ea typeface="黑体" pitchFamily="2" charset="-122"/>
              </a:rPr>
              <a:t>·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线型</a:t>
            </a:r>
            <a:endParaRPr lang="en-US" altLang="zh-CN" sz="2400" b="1" dirty="0" smtClean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algn="l" eaLnBrk="1" hangingPunct="1">
              <a:spcBef>
                <a:spcPct val="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latin typeface="宋体" charset="-122"/>
                <a:ea typeface="黑体" pitchFamily="2" charset="-122"/>
              </a:rPr>
              <a:t>·</a:t>
            </a:r>
            <a:r>
              <a:rPr lang="zh-CN" altLang="en-US" sz="24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直线画法</a:t>
            </a:r>
            <a:endParaRPr lang="zh-CN" altLang="en-US" sz="2400" b="1" dirty="0" smtClean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algn="l" eaLnBrk="1" hangingPunct="1">
              <a:spcBef>
                <a:spcPct val="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latin typeface="宋体" charset="-122"/>
                <a:ea typeface="黑体" pitchFamily="2" charset="-122"/>
              </a:rPr>
              <a:t>·</a:t>
            </a:r>
            <a:r>
              <a:rPr lang="zh-CN" altLang="en-US" sz="2400" b="1" dirty="0" smtClean="0">
                <a:solidFill>
                  <a:srgbClr val="FF0000"/>
                </a:solidFill>
                <a:latin typeface="宋体" charset="-122"/>
                <a:ea typeface="黑体" pitchFamily="2" charset="-122"/>
              </a:rPr>
              <a:t>清理图面</a:t>
            </a:r>
            <a:endParaRPr lang="zh-CN" altLang="en-US" sz="2400" b="1" dirty="0" smtClean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15764" name="Text Box 52"/>
          <p:cNvSpPr txBox="1">
            <a:spLocks noChangeArrowheads="1"/>
          </p:cNvSpPr>
          <p:nvPr/>
        </p:nvSpPr>
        <p:spPr bwMode="auto">
          <a:xfrm>
            <a:off x="5589588" y="4395788"/>
            <a:ext cx="17526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spcAft>
                <a:spcPct val="50000"/>
              </a:spcAft>
              <a:buClrTx/>
              <a:buSzTx/>
              <a:buFontTx/>
              <a:buNone/>
            </a:pPr>
            <a:r>
              <a:rPr lang="zh-CN" altLang="en-US" sz="6600" b="1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？</a:t>
            </a:r>
          </a:p>
        </p:txBody>
      </p:sp>
      <p:sp>
        <p:nvSpPr>
          <p:cNvPr id="115765" name="Line 53"/>
          <p:cNvSpPr>
            <a:spLocks noChangeShapeType="1"/>
          </p:cNvSpPr>
          <p:nvPr/>
        </p:nvSpPr>
        <p:spPr bwMode="auto">
          <a:xfrm>
            <a:off x="1673225" y="1225550"/>
            <a:ext cx="3795713" cy="3795713"/>
          </a:xfrm>
          <a:prstGeom prst="line">
            <a:avLst/>
          </a:prstGeom>
          <a:noFill/>
          <a:ln w="203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66" name="Line 54"/>
          <p:cNvSpPr>
            <a:spLocks noChangeShapeType="1"/>
          </p:cNvSpPr>
          <p:nvPr/>
        </p:nvSpPr>
        <p:spPr bwMode="auto">
          <a:xfrm flipH="1">
            <a:off x="1852613" y="1230313"/>
            <a:ext cx="3795712" cy="3795712"/>
          </a:xfrm>
          <a:prstGeom prst="line">
            <a:avLst/>
          </a:prstGeom>
          <a:noFill/>
          <a:ln w="203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5768" name="Line 56"/>
          <p:cNvSpPr>
            <a:spLocks noChangeShapeType="1"/>
          </p:cNvSpPr>
          <p:nvPr/>
        </p:nvSpPr>
        <p:spPr bwMode="auto">
          <a:xfrm flipH="1" flipV="1">
            <a:off x="4262438" y="2216150"/>
            <a:ext cx="111125" cy="692150"/>
          </a:xfrm>
          <a:prstGeom prst="line">
            <a:avLst/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019175" y="5862638"/>
            <a:ext cx="78422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People live in their own language. 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 smtClean="0">
                <a:solidFill>
                  <a:srgbClr val="000000"/>
                </a:solidFill>
              </a:rPr>
              <a:t>                                                    Martin Heidegger</a:t>
            </a:r>
            <a:endParaRPr lang="zh-CN" altLang="en-US" sz="2400" b="1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5514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5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15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5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5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5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5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15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1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15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15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15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15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15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1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15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1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8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1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15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1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1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4" dur="500"/>
                                        <p:tgtEl>
                                          <p:spTgt spid="11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1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0"/>
                                        <p:tgtEl>
                                          <p:spTgt spid="11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2000"/>
                                        <p:tgtEl>
                                          <p:spTgt spid="11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2000"/>
                                        <p:tgtEl>
                                          <p:spTgt spid="11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39" grpId="0" animBg="1"/>
      <p:bldP spid="115740" grpId="0" animBg="1"/>
      <p:bldP spid="115741" grpId="0" animBg="1"/>
      <p:bldP spid="115742" grpId="0" animBg="1"/>
      <p:bldP spid="115743" grpId="0" animBg="1"/>
      <p:bldP spid="115744" grpId="0" animBg="1"/>
      <p:bldP spid="115745" grpId="0" animBg="1"/>
      <p:bldP spid="115746" grpId="0" animBg="1"/>
      <p:bldP spid="115747" grpId="0" animBg="1"/>
      <p:bldP spid="115748" grpId="0" animBg="1"/>
      <p:bldP spid="115749" grpId="0" animBg="1"/>
      <p:bldP spid="115750" grpId="0" animBg="1"/>
      <p:bldP spid="115751" grpId="0" animBg="1"/>
      <p:bldP spid="115752" grpId="0" animBg="1"/>
      <p:bldP spid="115753" grpId="0" animBg="1"/>
      <p:bldP spid="115754" grpId="0" animBg="1"/>
      <p:bldP spid="115755" grpId="0" animBg="1"/>
      <p:bldP spid="115756" grpId="0" animBg="1"/>
      <p:bldP spid="115757" grpId="0" animBg="1"/>
      <p:bldP spid="115758" grpId="0" animBg="1"/>
      <p:bldP spid="115759" grpId="0" animBg="1"/>
      <p:bldP spid="115760" grpId="0" animBg="1"/>
      <p:bldP spid="115764" grpId="0"/>
      <p:bldP spid="115765" grpId="0" animBg="1"/>
      <p:bldP spid="115766" grpId="0" animBg="1"/>
      <p:bldP spid="115768" grpId="0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 b="52229"/>
          <a:stretch>
            <a:fillRect/>
          </a:stretch>
        </p:blipFill>
        <p:spPr bwMode="auto">
          <a:xfrm>
            <a:off x="2182813" y="469900"/>
            <a:ext cx="4778375" cy="281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2-1-3-1  已知平面的两个投影，求作第三投影。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64"/>
          <a:stretch>
            <a:fillRect/>
          </a:stretch>
        </p:blipFill>
        <p:spPr bwMode="auto">
          <a:xfrm>
            <a:off x="2195513" y="469900"/>
            <a:ext cx="4778375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2-1-3-</a:t>
            </a:r>
            <a:r>
              <a:rPr lang="en-US" altLang="zh-CN" sz="1600" b="1">
                <a:latin typeface="宋体" pitchFamily="2" charset="-122"/>
              </a:rPr>
              <a:t>2</a:t>
            </a:r>
            <a:r>
              <a:rPr lang="en-US" altLang="en-US" sz="1600" b="1">
                <a:latin typeface="宋体" pitchFamily="2" charset="-122"/>
              </a:rPr>
              <a:t>  已知平面的两个投影，求作第三投影。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 b="52229"/>
          <a:stretch>
            <a:fillRect/>
          </a:stretch>
        </p:blipFill>
        <p:spPr bwMode="auto">
          <a:xfrm>
            <a:off x="2197100" y="469900"/>
            <a:ext cx="4751388" cy="281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2-1-3-</a:t>
            </a:r>
            <a:r>
              <a:rPr lang="en-US" altLang="zh-CN" sz="1600" b="1">
                <a:latin typeface="宋体" pitchFamily="2" charset="-122"/>
              </a:rPr>
              <a:t>3</a:t>
            </a:r>
            <a:r>
              <a:rPr lang="en-US" altLang="en-US" sz="1600" b="1">
                <a:latin typeface="宋体" pitchFamily="2" charset="-122"/>
              </a:rPr>
              <a:t>  已知平面的两个投影，求作第三投影。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38"/>
          <a:stretch>
            <a:fillRect/>
          </a:stretch>
        </p:blipFill>
        <p:spPr bwMode="auto">
          <a:xfrm>
            <a:off x="2197100" y="469900"/>
            <a:ext cx="4751388" cy="288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2-1-3-</a:t>
            </a:r>
            <a:r>
              <a:rPr lang="en-US" altLang="zh-CN" sz="1600" b="1">
                <a:latin typeface="宋体" pitchFamily="2" charset="-122"/>
              </a:rPr>
              <a:t>4</a:t>
            </a:r>
            <a:r>
              <a:rPr lang="en-US" altLang="en-US" sz="1600" b="1">
                <a:latin typeface="宋体" pitchFamily="2" charset="-122"/>
              </a:rPr>
              <a:t>  已知平面的两个投影，求作第三投影。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7172" name="Oval 4"/>
          <p:cNvSpPr>
            <a:spLocks noChangeArrowheads="1"/>
          </p:cNvSpPr>
          <p:nvPr/>
        </p:nvSpPr>
        <p:spPr bwMode="auto">
          <a:xfrm>
            <a:off x="177800" y="477838"/>
            <a:ext cx="287338" cy="287337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65"/>
          <a:stretch>
            <a:fillRect/>
          </a:stretch>
        </p:blipFill>
        <p:spPr bwMode="auto">
          <a:xfrm>
            <a:off x="2195513" y="469900"/>
            <a:ext cx="4752975" cy="268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2-1-3-5  已知平面上一点Ｋ的一个投影，作出此平面的第三投影及点Ｋ的其他两个投影。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8196" name="Oval 4"/>
          <p:cNvSpPr>
            <a:spLocks noChangeArrowheads="1"/>
          </p:cNvSpPr>
          <p:nvPr/>
        </p:nvSpPr>
        <p:spPr bwMode="auto">
          <a:xfrm>
            <a:off x="177800" y="477838"/>
            <a:ext cx="287338" cy="287337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5"/>
          <a:stretch>
            <a:fillRect/>
          </a:stretch>
        </p:blipFill>
        <p:spPr bwMode="auto">
          <a:xfrm>
            <a:off x="2195513" y="469900"/>
            <a:ext cx="4752975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2-1-3-</a:t>
            </a:r>
            <a:r>
              <a:rPr lang="en-US" altLang="zh-CN" sz="1600" b="1">
                <a:latin typeface="宋体" pitchFamily="2" charset="-122"/>
              </a:rPr>
              <a:t>6</a:t>
            </a:r>
            <a:r>
              <a:rPr lang="en-US" altLang="en-US" sz="1600" b="1">
                <a:latin typeface="宋体" pitchFamily="2" charset="-122"/>
              </a:rPr>
              <a:t>  已知平面上一点Ｋ的一个投影，作出此平面的第三投影及点Ｋ的其他两个投影。</a:t>
            </a:r>
            <a:endParaRPr lang="zh-CN" altLang="en-US" sz="1600" b="1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9"/>
          <a:stretch>
            <a:fillRect/>
          </a:stretch>
        </p:blipFill>
        <p:spPr bwMode="auto">
          <a:xfrm>
            <a:off x="2195513" y="633413"/>
            <a:ext cx="4618037" cy="603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2-1-3-7  </a:t>
            </a:r>
            <a:r>
              <a:rPr lang="zh-CN" altLang="en-US" sz="1600" b="1">
                <a:latin typeface="宋体" pitchFamily="2" charset="-122"/>
              </a:rPr>
              <a:t>在已知平面内作一点</a:t>
            </a:r>
            <a:r>
              <a:rPr lang="en-US" altLang="zh-CN" sz="1600" b="1">
                <a:latin typeface="宋体" pitchFamily="2" charset="-122"/>
              </a:rPr>
              <a:t>D,</a:t>
            </a:r>
            <a:r>
              <a:rPr lang="zh-CN" altLang="en-US" sz="1600" b="1">
                <a:latin typeface="宋体" pitchFamily="2" charset="-122"/>
              </a:rPr>
              <a:t>使其距</a:t>
            </a:r>
            <a:r>
              <a:rPr lang="en-US" altLang="zh-CN" sz="1600" b="1">
                <a:latin typeface="宋体" pitchFamily="2" charset="-122"/>
              </a:rPr>
              <a:t>H</a:t>
            </a:r>
            <a:r>
              <a:rPr lang="zh-CN" altLang="en-US" sz="1600" b="1">
                <a:latin typeface="宋体" pitchFamily="2" charset="-122"/>
              </a:rPr>
              <a:t>面</a:t>
            </a:r>
            <a:r>
              <a:rPr lang="en-US" altLang="zh-CN" sz="1600" b="1">
                <a:latin typeface="宋体" pitchFamily="2" charset="-122"/>
              </a:rPr>
              <a:t>30</a:t>
            </a:r>
            <a:r>
              <a:rPr lang="zh-CN" altLang="en-US" sz="1600" b="1">
                <a:latin typeface="宋体" pitchFamily="2" charset="-122"/>
              </a:rPr>
              <a:t>，距</a:t>
            </a:r>
            <a:r>
              <a:rPr lang="en-US" altLang="zh-CN" sz="1600" b="1">
                <a:latin typeface="宋体" pitchFamily="2" charset="-122"/>
              </a:rPr>
              <a:t>W</a:t>
            </a:r>
            <a:r>
              <a:rPr lang="zh-CN" altLang="en-US" sz="1600" b="1">
                <a:latin typeface="宋体" pitchFamily="2" charset="-122"/>
              </a:rPr>
              <a:t>面</a:t>
            </a:r>
            <a:r>
              <a:rPr lang="en-US" altLang="zh-CN" sz="1600" b="1">
                <a:latin typeface="宋体" pitchFamily="2" charset="-122"/>
              </a:rPr>
              <a:t>20</a:t>
            </a:r>
            <a:r>
              <a:rPr lang="zh-CN" altLang="en-US" sz="1600" b="1">
                <a:latin typeface="宋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/>
          <a:stretch>
            <a:fillRect/>
          </a:stretch>
        </p:blipFill>
        <p:spPr bwMode="auto">
          <a:xfrm>
            <a:off x="2176463" y="469900"/>
            <a:ext cx="4789487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2-1-3-8  </a:t>
            </a:r>
            <a:r>
              <a:rPr lang="zh-CN" altLang="en-US" sz="1600" b="1">
                <a:latin typeface="宋体" pitchFamily="2" charset="-122"/>
              </a:rPr>
              <a:t>已知平面 </a:t>
            </a:r>
            <a:r>
              <a:rPr lang="en-US" altLang="zh-CN" sz="1600" b="1">
                <a:latin typeface="宋体" pitchFamily="2" charset="-122"/>
              </a:rPr>
              <a:t>ABCD </a:t>
            </a:r>
            <a:r>
              <a:rPr lang="zh-CN" altLang="en-US" sz="1600" b="1">
                <a:latin typeface="宋体" pitchFamily="2" charset="-122"/>
              </a:rPr>
              <a:t>的一个投影，求作另一个投影。</a:t>
            </a:r>
          </a:p>
        </p:txBody>
      </p:sp>
      <p:sp>
        <p:nvSpPr>
          <p:cNvPr id="11268" name="Oval 5"/>
          <p:cNvSpPr>
            <a:spLocks noChangeArrowheads="1"/>
          </p:cNvSpPr>
          <p:nvPr/>
        </p:nvSpPr>
        <p:spPr bwMode="auto">
          <a:xfrm>
            <a:off x="177800" y="477838"/>
            <a:ext cx="287338" cy="287337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214503" y="5506022"/>
            <a:ext cx="784225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rgbClr val="000000"/>
                </a:solidFill>
              </a:rPr>
              <a:t>如何在平面上确定点：面上画线，线上定点</a:t>
            </a:r>
            <a:endParaRPr lang="en-US" altLang="zh-CN" sz="2000" b="1" dirty="0" smtClean="0">
              <a:solidFill>
                <a:srgbClr val="000000"/>
              </a:solidFill>
            </a:endParaRPr>
          </a:p>
          <a:p>
            <a:pPr marL="457200" indent="-457200"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000" b="1" dirty="0" smtClean="0">
                <a:solidFill>
                  <a:srgbClr val="000000"/>
                </a:solidFill>
              </a:rPr>
              <a:t>两个已知点；</a:t>
            </a:r>
            <a:endParaRPr lang="en-US" altLang="zh-CN" sz="2000" b="1" dirty="0" smtClean="0">
              <a:solidFill>
                <a:srgbClr val="000000"/>
              </a:solidFill>
            </a:endParaRPr>
          </a:p>
          <a:p>
            <a:pPr marL="457200" indent="-457200"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2000" b="1" dirty="0">
                <a:solidFill>
                  <a:srgbClr val="000000"/>
                </a:solidFill>
              </a:rPr>
              <a:t>一</a:t>
            </a:r>
            <a:r>
              <a:rPr lang="zh-CN" altLang="en-US" sz="2000" b="1" dirty="0" smtClean="0">
                <a:solidFill>
                  <a:srgbClr val="000000"/>
                </a:solidFill>
              </a:rPr>
              <a:t>个已知点，平行于一条已知直线。</a:t>
            </a:r>
            <a:endParaRPr lang="zh-CN" altLang="en-US" sz="2000" b="1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2-1-3-8  </a:t>
            </a:r>
            <a:r>
              <a:rPr lang="zh-CN" altLang="en-US" sz="1600" b="1">
                <a:latin typeface="宋体" pitchFamily="2" charset="-122"/>
              </a:rPr>
              <a:t>已知平面 </a:t>
            </a:r>
            <a:r>
              <a:rPr lang="en-US" altLang="zh-CN" sz="1600" b="1">
                <a:latin typeface="宋体" pitchFamily="2" charset="-122"/>
              </a:rPr>
              <a:t>ABCD </a:t>
            </a:r>
            <a:r>
              <a:rPr lang="zh-CN" altLang="en-US" sz="1600" b="1">
                <a:latin typeface="宋体" pitchFamily="2" charset="-122"/>
              </a:rPr>
              <a:t>的一个投影，求作另一个投影。</a:t>
            </a:r>
          </a:p>
        </p:txBody>
      </p:sp>
      <p:sp>
        <p:nvSpPr>
          <p:cNvPr id="12291" name="Oval 3"/>
          <p:cNvSpPr>
            <a:spLocks noChangeArrowheads="1"/>
          </p:cNvSpPr>
          <p:nvPr/>
        </p:nvSpPr>
        <p:spPr bwMode="auto">
          <a:xfrm>
            <a:off x="177800" y="477838"/>
            <a:ext cx="287338" cy="287337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12292" name="Object 5"/>
          <p:cNvGraphicFramePr>
            <a:graphicFrameLocks noChangeAspect="1"/>
          </p:cNvGraphicFramePr>
          <p:nvPr/>
        </p:nvGraphicFramePr>
        <p:xfrm>
          <a:off x="4241800" y="893763"/>
          <a:ext cx="4506913" cy="492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6" name="Image" r:id="rId3" imgW="6526984" imgH="7136508" progId="Photoshop.Image.6">
                  <p:embed/>
                </p:oleObj>
              </mc:Choice>
              <mc:Fallback>
                <p:oleObj name="Image" r:id="rId3" imgW="6526984" imgH="7136508" progId="Photoshop.Image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1800" y="893763"/>
                        <a:ext cx="4506913" cy="492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6"/>
          <p:cNvGraphicFramePr>
            <a:graphicFrameLocks noChangeAspect="1"/>
          </p:cNvGraphicFramePr>
          <p:nvPr/>
        </p:nvGraphicFramePr>
        <p:xfrm>
          <a:off x="0" y="765175"/>
          <a:ext cx="4105275" cy="522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7" name="Image" r:id="rId5" imgW="5803175" imgH="7390476" progId="Photoshop.Image.6">
                  <p:embed/>
                </p:oleObj>
              </mc:Choice>
              <mc:Fallback>
                <p:oleObj name="Image" r:id="rId5" imgW="5803175" imgH="7390476" progId="Photoshop.Image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765175"/>
                        <a:ext cx="4105275" cy="5227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4"/>
          <p:cNvSpPr txBox="1">
            <a:spLocks noChangeArrowheads="1"/>
          </p:cNvSpPr>
          <p:nvPr/>
        </p:nvSpPr>
        <p:spPr bwMode="auto">
          <a:xfrm>
            <a:off x="1220788" y="454025"/>
            <a:ext cx="7758112" cy="88423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solidFill>
                  <a:schemeClr val="hlink"/>
                </a:solidFill>
              </a:rPr>
              <a:t>思考题</a:t>
            </a:r>
            <a:endParaRPr lang="zh-CN" altLang="en-US" sz="28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/>
              <a:t>             </a:t>
            </a:r>
            <a:r>
              <a:rPr lang="en-US" altLang="zh-CN" sz="2400" b="1"/>
              <a:t>CD</a:t>
            </a:r>
            <a:r>
              <a:rPr lang="zh-CN" altLang="en-US" sz="2400" b="1"/>
              <a:t>是水平线，完成平面</a:t>
            </a:r>
            <a:r>
              <a:rPr lang="en-US" altLang="zh-CN" sz="2400" b="1"/>
              <a:t>ABCD</a:t>
            </a:r>
            <a:r>
              <a:rPr lang="zh-CN" altLang="en-US" sz="2400" b="1"/>
              <a:t>的正面投影。</a:t>
            </a:r>
          </a:p>
        </p:txBody>
      </p:sp>
      <p:grpSp>
        <p:nvGrpSpPr>
          <p:cNvPr id="13315" name="Group 5"/>
          <p:cNvGrpSpPr>
            <a:grpSpLocks/>
          </p:cNvGrpSpPr>
          <p:nvPr/>
        </p:nvGrpSpPr>
        <p:grpSpPr bwMode="auto">
          <a:xfrm>
            <a:off x="1433513" y="3059113"/>
            <a:ext cx="5035550" cy="458787"/>
            <a:chOff x="3259" y="2784"/>
            <a:chExt cx="2122" cy="304"/>
          </a:xfrm>
        </p:grpSpPr>
        <p:sp>
          <p:nvSpPr>
            <p:cNvPr id="13346" name="Text Box 6"/>
            <p:cNvSpPr txBox="1">
              <a:spLocks noChangeArrowheads="1"/>
            </p:cNvSpPr>
            <p:nvPr/>
          </p:nvSpPr>
          <p:spPr bwMode="auto">
            <a:xfrm>
              <a:off x="3259" y="2785"/>
              <a:ext cx="155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latin typeface="ISOCPEUR" pitchFamily="34" charset="0"/>
                </a:rPr>
                <a:t>X</a:t>
              </a:r>
            </a:p>
          </p:txBody>
        </p:sp>
        <p:sp>
          <p:nvSpPr>
            <p:cNvPr id="13347" name="Text Box 7"/>
            <p:cNvSpPr txBox="1">
              <a:spLocks noChangeArrowheads="1"/>
            </p:cNvSpPr>
            <p:nvPr/>
          </p:nvSpPr>
          <p:spPr bwMode="auto">
            <a:xfrm>
              <a:off x="5234" y="2784"/>
              <a:ext cx="147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latin typeface="ISOCPEUR" pitchFamily="34" charset="0"/>
                </a:rPr>
                <a:t>O</a:t>
              </a:r>
            </a:p>
          </p:txBody>
        </p:sp>
        <p:sp>
          <p:nvSpPr>
            <p:cNvPr id="13348" name="Line 8"/>
            <p:cNvSpPr>
              <a:spLocks noChangeShapeType="1"/>
            </p:cNvSpPr>
            <p:nvPr/>
          </p:nvSpPr>
          <p:spPr bwMode="auto">
            <a:xfrm>
              <a:off x="3400" y="3052"/>
              <a:ext cx="1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5961" name="Line 9"/>
          <p:cNvSpPr>
            <a:spLocks noChangeShapeType="1"/>
          </p:cNvSpPr>
          <p:nvPr/>
        </p:nvSpPr>
        <p:spPr bwMode="auto">
          <a:xfrm>
            <a:off x="4675188" y="3997325"/>
            <a:ext cx="1204912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5962" name="Line 10"/>
          <p:cNvSpPr>
            <a:spLocks noChangeShapeType="1"/>
          </p:cNvSpPr>
          <p:nvPr/>
        </p:nvSpPr>
        <p:spPr bwMode="auto">
          <a:xfrm flipV="1">
            <a:off x="4637088" y="2459038"/>
            <a:ext cx="1238250" cy="312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5978" name="Line 26"/>
          <p:cNvSpPr>
            <a:spLocks noChangeShapeType="1"/>
          </p:cNvSpPr>
          <p:nvPr/>
        </p:nvSpPr>
        <p:spPr bwMode="auto">
          <a:xfrm flipV="1">
            <a:off x="4230688" y="4241800"/>
            <a:ext cx="1665287" cy="638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5979" name="Line 27"/>
          <p:cNvSpPr>
            <a:spLocks noChangeShapeType="1"/>
          </p:cNvSpPr>
          <p:nvPr/>
        </p:nvSpPr>
        <p:spPr bwMode="auto">
          <a:xfrm flipH="1">
            <a:off x="2689225" y="2439988"/>
            <a:ext cx="31892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5981" name="Line 29"/>
          <p:cNvSpPr>
            <a:spLocks noChangeShapeType="1"/>
          </p:cNvSpPr>
          <p:nvPr/>
        </p:nvSpPr>
        <p:spPr bwMode="auto">
          <a:xfrm>
            <a:off x="5888038" y="2435225"/>
            <a:ext cx="0" cy="175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5983" name="AutoShape 31"/>
          <p:cNvSpPr>
            <a:spLocks noChangeArrowheads="1"/>
          </p:cNvSpPr>
          <p:nvPr/>
        </p:nvSpPr>
        <p:spPr bwMode="auto">
          <a:xfrm>
            <a:off x="5854700" y="2387600"/>
            <a:ext cx="74613" cy="746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5984" name="Text Box 32"/>
          <p:cNvSpPr txBox="1">
            <a:spLocks noChangeArrowheads="1"/>
          </p:cNvSpPr>
          <p:nvPr/>
        </p:nvSpPr>
        <p:spPr bwMode="auto">
          <a:xfrm>
            <a:off x="5529263" y="2044700"/>
            <a:ext cx="10493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latin typeface="ISOCPEUR" pitchFamily="34" charset="0"/>
              </a:rPr>
              <a:t>1</a:t>
            </a:r>
            <a:r>
              <a:rPr kumimoji="1" lang="en-US" altLang="zh-CN" sz="2000" b="1" i="1">
                <a:latin typeface="ISOCPEUR" pitchFamily="34" charset="0"/>
                <a:ea typeface="仿宋_GB2312" pitchFamily="49" charset="-122"/>
              </a:rPr>
              <a:t>'</a:t>
            </a:r>
          </a:p>
        </p:txBody>
      </p:sp>
      <p:sp>
        <p:nvSpPr>
          <p:cNvPr id="125985" name="Text Box 33"/>
          <p:cNvSpPr txBox="1">
            <a:spLocks noChangeArrowheads="1"/>
          </p:cNvSpPr>
          <p:nvPr/>
        </p:nvSpPr>
        <p:spPr bwMode="auto">
          <a:xfrm>
            <a:off x="5956300" y="4087813"/>
            <a:ext cx="4206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latin typeface="ISOCPEUR" pitchFamily="34" charset="0"/>
              </a:rPr>
              <a:t>1</a:t>
            </a:r>
            <a:endParaRPr kumimoji="1" lang="en-US" altLang="zh-CN" sz="2000">
              <a:latin typeface="ISOCPEUR" pitchFamily="34" charset="0"/>
            </a:endParaRPr>
          </a:p>
        </p:txBody>
      </p:sp>
      <p:sp>
        <p:nvSpPr>
          <p:cNvPr id="13324" name="Text Box 34"/>
          <p:cNvSpPr txBox="1">
            <a:spLocks noChangeArrowheads="1"/>
          </p:cNvSpPr>
          <p:nvPr/>
        </p:nvSpPr>
        <p:spPr bwMode="auto">
          <a:xfrm>
            <a:off x="2800350" y="3592513"/>
            <a:ext cx="500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latin typeface="ISOCPEUR" pitchFamily="34" charset="0"/>
              </a:rPr>
              <a:t>a</a:t>
            </a:r>
            <a:endParaRPr kumimoji="1" lang="en-US" altLang="zh-CN" sz="2400">
              <a:latin typeface="ISOCPEUR" pitchFamily="34" charset="0"/>
            </a:endParaRPr>
          </a:p>
        </p:txBody>
      </p:sp>
      <p:sp>
        <p:nvSpPr>
          <p:cNvPr id="125988" name="AutoShape 36"/>
          <p:cNvSpPr>
            <a:spLocks noChangeArrowheads="1"/>
          </p:cNvSpPr>
          <p:nvPr/>
        </p:nvSpPr>
        <p:spPr bwMode="auto">
          <a:xfrm>
            <a:off x="5849938" y="4205288"/>
            <a:ext cx="74612" cy="746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3326" name="Line 70"/>
          <p:cNvSpPr>
            <a:spLocks noChangeShapeType="1"/>
          </p:cNvSpPr>
          <p:nvPr/>
        </p:nvSpPr>
        <p:spPr bwMode="auto">
          <a:xfrm>
            <a:off x="3279775" y="3721100"/>
            <a:ext cx="1419225" cy="269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7" name="Line 71"/>
          <p:cNvSpPr>
            <a:spLocks noChangeShapeType="1"/>
          </p:cNvSpPr>
          <p:nvPr/>
        </p:nvSpPr>
        <p:spPr bwMode="auto">
          <a:xfrm flipH="1">
            <a:off x="4235450" y="3990975"/>
            <a:ext cx="463550" cy="903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8" name="Line 72"/>
          <p:cNvSpPr>
            <a:spLocks noChangeShapeType="1"/>
          </p:cNvSpPr>
          <p:nvPr/>
        </p:nvSpPr>
        <p:spPr bwMode="auto">
          <a:xfrm flipH="1">
            <a:off x="2659063" y="4881563"/>
            <a:ext cx="1576387" cy="6588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9" name="Line 73"/>
          <p:cNvSpPr>
            <a:spLocks noChangeShapeType="1"/>
          </p:cNvSpPr>
          <p:nvPr/>
        </p:nvSpPr>
        <p:spPr bwMode="auto">
          <a:xfrm flipH="1">
            <a:off x="2659063" y="3700463"/>
            <a:ext cx="631825" cy="18399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30" name="Line 74"/>
          <p:cNvSpPr>
            <a:spLocks noChangeShapeType="1"/>
          </p:cNvSpPr>
          <p:nvPr/>
        </p:nvSpPr>
        <p:spPr bwMode="auto">
          <a:xfrm flipV="1">
            <a:off x="3270250" y="3113088"/>
            <a:ext cx="0" cy="59848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31" name="Line 75"/>
          <p:cNvSpPr>
            <a:spLocks noChangeShapeType="1"/>
          </p:cNvSpPr>
          <p:nvPr/>
        </p:nvSpPr>
        <p:spPr bwMode="auto">
          <a:xfrm flipV="1">
            <a:off x="4678363" y="2765425"/>
            <a:ext cx="0" cy="1228725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32" name="Line 76"/>
          <p:cNvSpPr>
            <a:spLocks noChangeShapeType="1"/>
          </p:cNvSpPr>
          <p:nvPr/>
        </p:nvSpPr>
        <p:spPr bwMode="auto">
          <a:xfrm flipV="1">
            <a:off x="3270250" y="2763838"/>
            <a:ext cx="1408113" cy="336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33" name="Text Box 77"/>
          <p:cNvSpPr txBox="1">
            <a:spLocks noChangeArrowheads="1"/>
          </p:cNvSpPr>
          <p:nvPr/>
        </p:nvSpPr>
        <p:spPr bwMode="auto">
          <a:xfrm>
            <a:off x="4029075" y="4824413"/>
            <a:ext cx="500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latin typeface="ISOCPEUR" pitchFamily="34" charset="0"/>
              </a:rPr>
              <a:t>c</a:t>
            </a:r>
            <a:endParaRPr kumimoji="1" lang="en-US" altLang="zh-CN" sz="2400">
              <a:latin typeface="ISOCPEUR" pitchFamily="34" charset="0"/>
            </a:endParaRPr>
          </a:p>
        </p:txBody>
      </p:sp>
      <p:sp>
        <p:nvSpPr>
          <p:cNvPr id="13334" name="Text Box 78"/>
          <p:cNvSpPr txBox="1">
            <a:spLocks noChangeArrowheads="1"/>
          </p:cNvSpPr>
          <p:nvPr/>
        </p:nvSpPr>
        <p:spPr bwMode="auto">
          <a:xfrm>
            <a:off x="2328863" y="5453063"/>
            <a:ext cx="500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latin typeface="ISOCPEUR" pitchFamily="34" charset="0"/>
              </a:rPr>
              <a:t>d</a:t>
            </a:r>
            <a:endParaRPr kumimoji="1" lang="en-US" altLang="zh-CN" sz="2400">
              <a:latin typeface="ISOCPEUR" pitchFamily="34" charset="0"/>
            </a:endParaRPr>
          </a:p>
        </p:txBody>
      </p:sp>
      <p:sp>
        <p:nvSpPr>
          <p:cNvPr id="13335" name="Text Box 79"/>
          <p:cNvSpPr txBox="1">
            <a:spLocks noChangeArrowheads="1"/>
          </p:cNvSpPr>
          <p:nvPr/>
        </p:nvSpPr>
        <p:spPr bwMode="auto">
          <a:xfrm>
            <a:off x="4578350" y="3633788"/>
            <a:ext cx="500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latin typeface="ISOCPEUR" pitchFamily="34" charset="0"/>
              </a:rPr>
              <a:t>b</a:t>
            </a:r>
            <a:endParaRPr kumimoji="1" lang="en-US" altLang="zh-CN" sz="2400">
              <a:latin typeface="ISOCPEUR" pitchFamily="34" charset="0"/>
            </a:endParaRPr>
          </a:p>
        </p:txBody>
      </p:sp>
      <p:sp>
        <p:nvSpPr>
          <p:cNvPr id="126032" name="Line 80"/>
          <p:cNvSpPr>
            <a:spLocks noChangeShapeType="1"/>
          </p:cNvSpPr>
          <p:nvPr/>
        </p:nvSpPr>
        <p:spPr bwMode="auto">
          <a:xfrm flipV="1">
            <a:off x="2662238" y="2449513"/>
            <a:ext cx="11112" cy="3068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6033" name="Line 81"/>
          <p:cNvSpPr>
            <a:spLocks noChangeShapeType="1"/>
          </p:cNvSpPr>
          <p:nvPr/>
        </p:nvSpPr>
        <p:spPr bwMode="auto">
          <a:xfrm flipV="1">
            <a:off x="4240213" y="2460625"/>
            <a:ext cx="11112" cy="2395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6034" name="Line 82"/>
          <p:cNvSpPr>
            <a:spLocks noChangeShapeType="1"/>
          </p:cNvSpPr>
          <p:nvPr/>
        </p:nvSpPr>
        <p:spPr bwMode="auto">
          <a:xfrm>
            <a:off x="2673350" y="2459038"/>
            <a:ext cx="606425" cy="6524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035" name="Line 83"/>
          <p:cNvSpPr>
            <a:spLocks noChangeShapeType="1"/>
          </p:cNvSpPr>
          <p:nvPr/>
        </p:nvSpPr>
        <p:spPr bwMode="auto">
          <a:xfrm>
            <a:off x="4225925" y="2435225"/>
            <a:ext cx="461963" cy="3397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036" name="Line 84"/>
          <p:cNvSpPr>
            <a:spLocks noChangeShapeType="1"/>
          </p:cNvSpPr>
          <p:nvPr/>
        </p:nvSpPr>
        <p:spPr bwMode="auto">
          <a:xfrm flipH="1">
            <a:off x="2671763" y="2449513"/>
            <a:ext cx="15668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037" name="Text Box 85"/>
          <p:cNvSpPr txBox="1">
            <a:spLocks noChangeArrowheads="1"/>
          </p:cNvSpPr>
          <p:nvPr/>
        </p:nvSpPr>
        <p:spPr bwMode="auto">
          <a:xfrm>
            <a:off x="4084638" y="2078038"/>
            <a:ext cx="500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latin typeface="ISOCPEUR" pitchFamily="34" charset="0"/>
              </a:rPr>
              <a:t>c’</a:t>
            </a:r>
            <a:endParaRPr kumimoji="1" lang="en-US" altLang="zh-CN" sz="2400">
              <a:latin typeface="ISOCPEUR" pitchFamily="34" charset="0"/>
            </a:endParaRPr>
          </a:p>
        </p:txBody>
      </p:sp>
      <p:sp>
        <p:nvSpPr>
          <p:cNvPr id="126038" name="Text Box 86"/>
          <p:cNvSpPr txBox="1">
            <a:spLocks noChangeArrowheads="1"/>
          </p:cNvSpPr>
          <p:nvPr/>
        </p:nvSpPr>
        <p:spPr bwMode="auto">
          <a:xfrm>
            <a:off x="2474913" y="2090738"/>
            <a:ext cx="500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latin typeface="ISOCPEUR" pitchFamily="34" charset="0"/>
              </a:rPr>
              <a:t>d’</a:t>
            </a:r>
            <a:endParaRPr kumimoji="1" lang="en-US" altLang="zh-CN" sz="2400">
              <a:latin typeface="ISOCPEUR" pitchFamily="34" charset="0"/>
            </a:endParaRPr>
          </a:p>
        </p:txBody>
      </p:sp>
      <p:sp>
        <p:nvSpPr>
          <p:cNvPr id="13343" name="Text Box 87"/>
          <p:cNvSpPr txBox="1">
            <a:spLocks noChangeArrowheads="1"/>
          </p:cNvSpPr>
          <p:nvPr/>
        </p:nvSpPr>
        <p:spPr bwMode="auto">
          <a:xfrm>
            <a:off x="4621213" y="2660650"/>
            <a:ext cx="500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latin typeface="ISOCPEUR" pitchFamily="34" charset="0"/>
              </a:rPr>
              <a:t>b’</a:t>
            </a:r>
            <a:endParaRPr kumimoji="1" lang="en-US" altLang="zh-CN" sz="2400">
              <a:latin typeface="ISOCPEUR" pitchFamily="34" charset="0"/>
            </a:endParaRPr>
          </a:p>
        </p:txBody>
      </p:sp>
      <p:sp>
        <p:nvSpPr>
          <p:cNvPr id="13344" name="Text Box 88"/>
          <p:cNvSpPr txBox="1">
            <a:spLocks noChangeArrowheads="1"/>
          </p:cNvSpPr>
          <p:nvPr/>
        </p:nvSpPr>
        <p:spPr bwMode="auto">
          <a:xfrm>
            <a:off x="2824163" y="2963863"/>
            <a:ext cx="500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b="1" i="1">
                <a:latin typeface="ISOCPEUR" pitchFamily="34" charset="0"/>
              </a:rPr>
              <a:t>a’</a:t>
            </a:r>
            <a:endParaRPr kumimoji="1" lang="en-US" altLang="zh-CN" sz="2400">
              <a:latin typeface="ISOCPEUR" pitchFamily="34" charset="0"/>
            </a:endParaRPr>
          </a:p>
        </p:txBody>
      </p:sp>
      <p:sp>
        <p:nvSpPr>
          <p:cNvPr id="126041" name="Text Box 89"/>
          <p:cNvSpPr txBox="1">
            <a:spLocks noChangeArrowheads="1"/>
          </p:cNvSpPr>
          <p:nvPr/>
        </p:nvSpPr>
        <p:spPr bwMode="auto">
          <a:xfrm>
            <a:off x="4006850" y="5588000"/>
            <a:ext cx="4678363" cy="519113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>
                <a:solidFill>
                  <a:schemeClr val="hlink"/>
                </a:solidFill>
              </a:rPr>
              <a:t>Thinking out of the box</a:t>
            </a:r>
            <a:endParaRPr lang="en-US" altLang="zh-CN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5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5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25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5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25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5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2000"/>
                                        <p:tgtEl>
                                          <p:spTgt spid="12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000"/>
                                        <p:tgtEl>
                                          <p:spTgt spid="12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1000"/>
                                        <p:tgtEl>
                                          <p:spTgt spid="12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2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2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61" grpId="0" animBg="1"/>
      <p:bldP spid="125962" grpId="0" animBg="1"/>
      <p:bldP spid="125978" grpId="0" animBg="1"/>
      <p:bldP spid="125979" grpId="0" animBg="1"/>
      <p:bldP spid="125981" grpId="0" animBg="1"/>
      <p:bldP spid="125983" grpId="0" animBg="1"/>
      <p:bldP spid="125984" grpId="0"/>
      <p:bldP spid="125985" grpId="0"/>
      <p:bldP spid="125988" grpId="0" animBg="1"/>
      <p:bldP spid="126032" grpId="0" animBg="1"/>
      <p:bldP spid="126033" grpId="0" animBg="1"/>
      <p:bldP spid="126034" grpId="0" animBg="1"/>
      <p:bldP spid="126035" grpId="0" animBg="1"/>
      <p:bldP spid="126036" grpId="0" animBg="1"/>
      <p:bldP spid="126037" grpId="0"/>
      <p:bldP spid="126038" grpId="0"/>
      <p:bldP spid="12604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2-1-3-8  </a:t>
            </a:r>
            <a:r>
              <a:rPr lang="zh-CN" altLang="en-US" sz="1600" b="1">
                <a:latin typeface="宋体" pitchFamily="2" charset="-122"/>
              </a:rPr>
              <a:t>已知平面 </a:t>
            </a:r>
            <a:r>
              <a:rPr lang="en-US" altLang="zh-CN" sz="1600" b="1">
                <a:latin typeface="宋体" pitchFamily="2" charset="-122"/>
              </a:rPr>
              <a:t>ABCD </a:t>
            </a:r>
            <a:r>
              <a:rPr lang="zh-CN" altLang="en-US" sz="1600" b="1">
                <a:latin typeface="宋体" pitchFamily="2" charset="-122"/>
              </a:rPr>
              <a:t>的一个投影，求作另一个投影。</a:t>
            </a:r>
          </a:p>
        </p:txBody>
      </p:sp>
      <p:sp>
        <p:nvSpPr>
          <p:cNvPr id="14339" name="Oval 3"/>
          <p:cNvSpPr>
            <a:spLocks noChangeArrowheads="1"/>
          </p:cNvSpPr>
          <p:nvPr/>
        </p:nvSpPr>
        <p:spPr bwMode="auto">
          <a:xfrm>
            <a:off x="177800" y="477838"/>
            <a:ext cx="287338" cy="287337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1435100" y="968375"/>
          <a:ext cx="6781800" cy="523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7" name="Image" r:id="rId3" imgW="9041270" imgH="6984127" progId="Photoshop.Image.6">
                  <p:embed/>
                </p:oleObj>
              </mc:Choice>
              <mc:Fallback>
                <p:oleObj name="Image" r:id="rId3" imgW="9041270" imgH="6984127" progId="Photoshop.Image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968375"/>
                        <a:ext cx="6781800" cy="523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/>
          <a:stretch>
            <a:fillRect/>
          </a:stretch>
        </p:blipFill>
        <p:spPr bwMode="auto">
          <a:xfrm>
            <a:off x="3897313" y="469900"/>
            <a:ext cx="4816475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ext Box 5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2-1-3-9  完成平面图形 ABCDEFGH 的另一个投影。</a:t>
            </a:r>
            <a:endParaRPr lang="zh-CN" altLang="en-US" sz="1600" b="1">
              <a:latin typeface="宋体" pitchFamily="2" charset="-122"/>
            </a:endParaRPr>
          </a:p>
        </p:txBody>
      </p:sp>
      <p:sp>
        <p:nvSpPr>
          <p:cNvPr id="15364" name="Text Box 6"/>
          <p:cNvSpPr txBox="1">
            <a:spLocks noChangeArrowheads="1"/>
          </p:cNvSpPr>
          <p:nvPr/>
        </p:nvSpPr>
        <p:spPr bwMode="auto">
          <a:xfrm>
            <a:off x="755650" y="649288"/>
            <a:ext cx="6759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solidFill>
                  <a:schemeClr val="hlink"/>
                </a:solidFill>
                <a:latin typeface="宋体" pitchFamily="2" charset="-122"/>
              </a:rPr>
              <a:t>注：假如同学认为</a:t>
            </a:r>
            <a:r>
              <a:rPr lang="en-US" altLang="zh-CN" sz="1600" b="1">
                <a:solidFill>
                  <a:schemeClr val="hlink"/>
                </a:solidFill>
                <a:latin typeface="宋体" pitchFamily="2" charset="-122"/>
              </a:rPr>
              <a:t>CDGH</a:t>
            </a:r>
            <a:r>
              <a:rPr lang="zh-CN" altLang="en-US" sz="1600" b="1">
                <a:solidFill>
                  <a:schemeClr val="hlink"/>
                </a:solidFill>
                <a:latin typeface="宋体" pitchFamily="2" charset="-122"/>
              </a:rPr>
              <a:t>在一条直线上，可以按照下面的方法做。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2-1-3-9  完成平面图形 ABCDEFGH 的另一个投影。</a:t>
            </a:r>
            <a:endParaRPr lang="zh-CN" altLang="en-US" sz="1600" b="1">
              <a:latin typeface="宋体" pitchFamily="2" charset="-122"/>
            </a:endParaRPr>
          </a:p>
        </p:txBody>
      </p:sp>
      <p:graphicFrame>
        <p:nvGraphicFramePr>
          <p:cNvPr id="16387" name="Object 5"/>
          <p:cNvGraphicFramePr>
            <a:graphicFrameLocks noChangeAspect="1"/>
          </p:cNvGraphicFramePr>
          <p:nvPr/>
        </p:nvGraphicFramePr>
        <p:xfrm>
          <a:off x="1979613" y="750888"/>
          <a:ext cx="6450012" cy="529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" name="Image" r:id="rId3" imgW="8596825" imgH="7060317" progId="Photoshop.Image.6">
                  <p:embed/>
                </p:oleObj>
              </mc:Choice>
              <mc:Fallback>
                <p:oleObj name="Image" r:id="rId3" imgW="8596825" imgH="7060317" progId="Photoshop.Image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750888"/>
                        <a:ext cx="6450012" cy="529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latin typeface="宋体" pitchFamily="2" charset="-122"/>
              </a:rPr>
              <a:t>2-1-3-</a:t>
            </a:r>
            <a:r>
              <a:rPr lang="en-US" altLang="zh-CN" sz="1600" b="1">
                <a:latin typeface="宋体" pitchFamily="2" charset="-122"/>
              </a:rPr>
              <a:t>10</a:t>
            </a:r>
            <a:r>
              <a:rPr lang="en-US" altLang="en-US" sz="1600" b="1">
                <a:latin typeface="宋体" pitchFamily="2" charset="-122"/>
              </a:rPr>
              <a:t>  </a:t>
            </a:r>
            <a:r>
              <a:rPr lang="zh-CN" altLang="en-US" sz="1600" b="1">
                <a:latin typeface="宋体" pitchFamily="2" charset="-122"/>
              </a:rPr>
              <a:t>三角形</a:t>
            </a:r>
            <a:r>
              <a:rPr lang="en-US" altLang="zh-CN" sz="1600" b="1">
                <a:latin typeface="宋体" pitchFamily="2" charset="-122"/>
              </a:rPr>
              <a:t>EFG</a:t>
            </a:r>
            <a:r>
              <a:rPr lang="zh-CN" altLang="en-US" sz="1600" b="1">
                <a:latin typeface="宋体" pitchFamily="2" charset="-122"/>
              </a:rPr>
              <a:t>位于平面</a:t>
            </a:r>
            <a:r>
              <a:rPr lang="en-US" altLang="zh-CN" sz="1600" b="1">
                <a:latin typeface="宋体" pitchFamily="2" charset="-122"/>
              </a:rPr>
              <a:t>ABCD</a:t>
            </a:r>
            <a:r>
              <a:rPr lang="zh-CN" altLang="en-US" sz="1600" b="1">
                <a:latin typeface="宋体" pitchFamily="2" charset="-122"/>
              </a:rPr>
              <a:t>内，求作</a:t>
            </a:r>
            <a:r>
              <a:rPr lang="en-US" altLang="zh-CN" sz="1600" b="1">
                <a:latin typeface="宋体" pitchFamily="2" charset="-122"/>
              </a:rPr>
              <a:t>ABCD</a:t>
            </a:r>
            <a:r>
              <a:rPr lang="zh-CN" altLang="en-US" sz="1600" b="1">
                <a:latin typeface="宋体" pitchFamily="2" charset="-122"/>
              </a:rPr>
              <a:t>及</a:t>
            </a:r>
            <a:r>
              <a:rPr lang="en-US" altLang="zh-CN" sz="1600" b="1">
                <a:latin typeface="宋体" pitchFamily="2" charset="-122"/>
              </a:rPr>
              <a:t>EFG</a:t>
            </a:r>
            <a:r>
              <a:rPr lang="zh-CN" altLang="en-US" sz="1600" b="1">
                <a:latin typeface="宋体" pitchFamily="2" charset="-122"/>
              </a:rPr>
              <a:t>的水平投影。</a:t>
            </a: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72" t="23943" r="33060" b="27034"/>
          <a:stretch>
            <a:fillRect/>
          </a:stretch>
        </p:blipFill>
        <p:spPr bwMode="auto">
          <a:xfrm>
            <a:off x="1965325" y="1003300"/>
            <a:ext cx="5311775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2-2-1-1  </a:t>
            </a:r>
            <a:r>
              <a:rPr lang="zh-CN" altLang="en-US" sz="1600" b="1">
                <a:latin typeface="宋体" pitchFamily="2" charset="-122"/>
              </a:rPr>
              <a:t>已知直线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平行于由两条平行直线</a:t>
            </a:r>
            <a:r>
              <a:rPr lang="en-US" altLang="zh-CN" sz="1600" b="1">
                <a:latin typeface="宋体" pitchFamily="2" charset="-122"/>
              </a:rPr>
              <a:t>CD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EF</a:t>
            </a:r>
            <a:r>
              <a:rPr lang="zh-CN" altLang="en-US" sz="1600" b="1">
                <a:latin typeface="宋体" pitchFamily="2" charset="-122"/>
              </a:rPr>
              <a:t>确定的平面，完成 </a:t>
            </a:r>
            <a:r>
              <a:rPr lang="en-US" altLang="zh-CN" sz="1600" b="1">
                <a:latin typeface="宋体" pitchFamily="2" charset="-122"/>
              </a:rPr>
              <a:t>AB </a:t>
            </a:r>
            <a:r>
              <a:rPr lang="zh-CN" altLang="en-US" sz="1600" b="1">
                <a:latin typeface="宋体" pitchFamily="2" charset="-122"/>
              </a:rPr>
              <a:t>的投影。</a:t>
            </a:r>
          </a:p>
        </p:txBody>
      </p:sp>
      <p:pic>
        <p:nvPicPr>
          <p:cNvPr id="1843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0"/>
          <a:stretch>
            <a:fillRect/>
          </a:stretch>
        </p:blipFill>
        <p:spPr bwMode="auto">
          <a:xfrm>
            <a:off x="1849438" y="469900"/>
            <a:ext cx="5027612" cy="574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2-2-1-2  </a:t>
            </a:r>
            <a:r>
              <a:rPr lang="zh-CN" altLang="en-US" sz="1600" b="1">
                <a:latin typeface="宋体" pitchFamily="2" charset="-122"/>
              </a:rPr>
              <a:t>已知直线</a:t>
            </a:r>
            <a:r>
              <a:rPr lang="en-US" altLang="zh-CN" sz="1600" b="1">
                <a:latin typeface="宋体" pitchFamily="2" charset="-122"/>
              </a:rPr>
              <a:t>MN</a:t>
            </a:r>
            <a:r>
              <a:rPr lang="zh-CN" altLang="en-US" sz="1600" b="1">
                <a:latin typeface="宋体" pitchFamily="2" charset="-122"/>
              </a:rPr>
              <a:t>和三角形</a:t>
            </a:r>
            <a:r>
              <a:rPr lang="en-US" altLang="zh-CN" sz="1600" b="1">
                <a:latin typeface="宋体" pitchFamily="2" charset="-122"/>
              </a:rPr>
              <a:t>ABC</a:t>
            </a:r>
            <a:r>
              <a:rPr lang="zh-CN" altLang="en-US" sz="1600" b="1">
                <a:latin typeface="宋体" pitchFamily="2" charset="-122"/>
              </a:rPr>
              <a:t>平行，求作此三角形的水平投影。</a:t>
            </a:r>
          </a:p>
        </p:txBody>
      </p:sp>
      <p:pic>
        <p:nvPicPr>
          <p:cNvPr id="1945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7"/>
          <a:stretch>
            <a:fillRect/>
          </a:stretch>
        </p:blipFill>
        <p:spPr bwMode="auto">
          <a:xfrm>
            <a:off x="1874838" y="469900"/>
            <a:ext cx="4973637" cy="574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Oval 5"/>
          <p:cNvSpPr>
            <a:spLocks noChangeArrowheads="1"/>
          </p:cNvSpPr>
          <p:nvPr/>
        </p:nvSpPr>
        <p:spPr bwMode="auto">
          <a:xfrm>
            <a:off x="177800" y="477838"/>
            <a:ext cx="287338" cy="287337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2-2-1-3  </a:t>
            </a:r>
            <a:r>
              <a:rPr lang="zh-CN" altLang="en-US" sz="1600" b="1">
                <a:latin typeface="宋体" pitchFamily="2" charset="-122"/>
              </a:rPr>
              <a:t>过点Ｋ做一条长</a:t>
            </a:r>
            <a:r>
              <a:rPr lang="en-US" altLang="zh-CN" sz="1600" b="1">
                <a:latin typeface="宋体" pitchFamily="2" charset="-122"/>
              </a:rPr>
              <a:t>12</a:t>
            </a:r>
            <a:r>
              <a:rPr lang="zh-CN" altLang="en-US" sz="1600" b="1">
                <a:latin typeface="宋体" pitchFamily="2" charset="-122"/>
              </a:rPr>
              <a:t>的直线</a:t>
            </a:r>
            <a:r>
              <a:rPr lang="en-US" altLang="zh-CN" sz="1600" b="1">
                <a:latin typeface="宋体" pitchFamily="2" charset="-122"/>
              </a:rPr>
              <a:t>KL</a:t>
            </a:r>
            <a:r>
              <a:rPr lang="zh-CN" altLang="en-US" sz="1600" b="1">
                <a:latin typeface="宋体" pitchFamily="2" charset="-122"/>
              </a:rPr>
              <a:t>平行于三角形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和Ｖ面。</a:t>
            </a:r>
          </a:p>
        </p:txBody>
      </p:sp>
      <p:pic>
        <p:nvPicPr>
          <p:cNvPr id="2048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72"/>
          <a:stretch>
            <a:fillRect/>
          </a:stretch>
        </p:blipFill>
        <p:spPr bwMode="auto">
          <a:xfrm>
            <a:off x="1981200" y="469900"/>
            <a:ext cx="5181600" cy="549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Oval 5"/>
          <p:cNvSpPr>
            <a:spLocks noChangeArrowheads="1"/>
          </p:cNvSpPr>
          <p:nvPr/>
        </p:nvSpPr>
        <p:spPr bwMode="auto">
          <a:xfrm>
            <a:off x="177800" y="477838"/>
            <a:ext cx="287338" cy="287337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7526" name="Oval 6"/>
          <p:cNvSpPr>
            <a:spLocks noChangeArrowheads="1"/>
          </p:cNvSpPr>
          <p:nvPr/>
        </p:nvSpPr>
        <p:spPr bwMode="auto">
          <a:xfrm>
            <a:off x="5619750" y="1492250"/>
            <a:ext cx="287338" cy="287338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7527" name="Text Box 7"/>
          <p:cNvSpPr txBox="1">
            <a:spLocks noChangeArrowheads="1"/>
          </p:cNvSpPr>
          <p:nvPr/>
        </p:nvSpPr>
        <p:spPr bwMode="auto">
          <a:xfrm>
            <a:off x="6232613" y="4986515"/>
            <a:ext cx="186037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 smtClean="0">
                <a:solidFill>
                  <a:schemeClr val="hlink"/>
                </a:solidFill>
                <a:latin typeface="宋体" pitchFamily="2" charset="-122"/>
              </a:rPr>
              <a:t>2</a:t>
            </a:r>
            <a:r>
              <a:rPr lang="zh-CN" altLang="en-US" sz="2800" b="1" dirty="0" smtClean="0">
                <a:solidFill>
                  <a:schemeClr val="hlink"/>
                </a:solidFill>
                <a:latin typeface="宋体" pitchFamily="2" charset="-122"/>
              </a:rPr>
              <a:t>解？</a:t>
            </a:r>
            <a:endParaRPr lang="zh-CN" altLang="en-US" sz="2800" b="1" dirty="0">
              <a:solidFill>
                <a:schemeClr val="hlink"/>
              </a:solidFill>
              <a:latin typeface="宋体" pitchFamily="2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907088" y="985192"/>
            <a:ext cx="30287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chemeClr val="hlink"/>
                </a:solidFill>
                <a:latin typeface="宋体" pitchFamily="2" charset="-122"/>
              </a:rPr>
              <a:t>长度单位毫米</a:t>
            </a:r>
            <a:r>
              <a:rPr lang="en-US" altLang="zh-CN" sz="2000" b="1" dirty="0" smtClean="0">
                <a:solidFill>
                  <a:schemeClr val="hlink"/>
                </a:solidFill>
                <a:latin typeface="宋体" pitchFamily="2" charset="-122"/>
              </a:rPr>
              <a:t>(mm)</a:t>
            </a:r>
            <a:endParaRPr lang="zh-CN" altLang="en-US" sz="2000" b="1" dirty="0">
              <a:solidFill>
                <a:schemeClr val="hlink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6" grpId="0" animBg="1"/>
      <p:bldP spid="107527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2-2-1-4  </a:t>
            </a:r>
            <a:r>
              <a:rPr lang="zh-CN" altLang="en-US" sz="1600" b="1">
                <a:latin typeface="宋体" pitchFamily="2" charset="-122"/>
              </a:rPr>
              <a:t>已知两条平行直线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CD</a:t>
            </a:r>
            <a:r>
              <a:rPr lang="zh-CN" altLang="en-US" sz="1600" b="1">
                <a:latin typeface="宋体" pitchFamily="2" charset="-122"/>
              </a:rPr>
              <a:t>确定的平面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平行于三角形 </a:t>
            </a:r>
            <a:r>
              <a:rPr lang="en-US" altLang="zh-CN" sz="1600" b="1">
                <a:latin typeface="宋体" pitchFamily="2" charset="-122"/>
              </a:rPr>
              <a:t>EFG</a:t>
            </a:r>
            <a:r>
              <a:rPr lang="zh-CN" altLang="en-US" sz="1600" b="1">
                <a:latin typeface="宋体" pitchFamily="2" charset="-122"/>
              </a:rPr>
              <a:t>，试完成平面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的投影。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13"/>
          <a:stretch>
            <a:fillRect/>
          </a:stretch>
        </p:blipFill>
        <p:spPr bwMode="auto">
          <a:xfrm>
            <a:off x="2000250" y="750888"/>
            <a:ext cx="5143500" cy="555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Oval 5"/>
          <p:cNvSpPr>
            <a:spLocks noChangeArrowheads="1"/>
          </p:cNvSpPr>
          <p:nvPr/>
        </p:nvSpPr>
        <p:spPr bwMode="auto">
          <a:xfrm>
            <a:off x="177800" y="477838"/>
            <a:ext cx="287338" cy="287337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2-2-1-4  </a:t>
            </a:r>
            <a:r>
              <a:rPr lang="zh-CN" altLang="en-US" sz="1600" b="1">
                <a:latin typeface="宋体" pitchFamily="2" charset="-122"/>
              </a:rPr>
              <a:t>已知两条平行直线</a:t>
            </a:r>
            <a:r>
              <a:rPr lang="en-US" altLang="zh-CN" sz="1600" b="1">
                <a:latin typeface="宋体" pitchFamily="2" charset="-122"/>
              </a:rPr>
              <a:t>AB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CD</a:t>
            </a:r>
            <a:r>
              <a:rPr lang="zh-CN" altLang="en-US" sz="1600" b="1">
                <a:latin typeface="宋体" pitchFamily="2" charset="-122"/>
              </a:rPr>
              <a:t>确定的平面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平行于三角形 </a:t>
            </a:r>
            <a:r>
              <a:rPr lang="en-US" altLang="zh-CN" sz="1600" b="1">
                <a:latin typeface="宋体" pitchFamily="2" charset="-122"/>
              </a:rPr>
              <a:t>EFG</a:t>
            </a:r>
            <a:r>
              <a:rPr lang="zh-CN" altLang="en-US" sz="1600" b="1">
                <a:latin typeface="宋体" pitchFamily="2" charset="-122"/>
              </a:rPr>
              <a:t>，试完成平面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的投影。</a:t>
            </a:r>
          </a:p>
        </p:txBody>
      </p:sp>
      <p:sp>
        <p:nvSpPr>
          <p:cNvPr id="22531" name="Oval 4"/>
          <p:cNvSpPr>
            <a:spLocks noChangeArrowheads="1"/>
          </p:cNvSpPr>
          <p:nvPr/>
        </p:nvSpPr>
        <p:spPr bwMode="auto">
          <a:xfrm>
            <a:off x="177800" y="477838"/>
            <a:ext cx="287338" cy="287337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22532" name="Object 5"/>
          <p:cNvGraphicFramePr>
            <a:graphicFrameLocks noChangeAspect="1"/>
          </p:cNvGraphicFramePr>
          <p:nvPr/>
        </p:nvGraphicFramePr>
        <p:xfrm>
          <a:off x="2390775" y="919163"/>
          <a:ext cx="6045200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1" name="Image" r:id="rId3" imgW="6044444" imgH="5104762" progId="Photoshop.Image.6">
                  <p:embed/>
                </p:oleObj>
              </mc:Choice>
              <mc:Fallback>
                <p:oleObj name="Image" r:id="rId3" imgW="6044444" imgH="5104762" progId="Photoshop.Image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919163"/>
                        <a:ext cx="6045200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4" name="Line 6"/>
          <p:cNvSpPr>
            <a:spLocks noChangeShapeType="1"/>
          </p:cNvSpPr>
          <p:nvPr/>
        </p:nvSpPr>
        <p:spPr bwMode="auto">
          <a:xfrm>
            <a:off x="1382713" y="4945063"/>
            <a:ext cx="1008062" cy="1079500"/>
          </a:xfrm>
          <a:prstGeom prst="line">
            <a:avLst/>
          </a:prstGeom>
          <a:noFill/>
          <a:ln w="203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815" name="Line 7"/>
          <p:cNvSpPr>
            <a:spLocks noChangeShapeType="1"/>
          </p:cNvSpPr>
          <p:nvPr/>
        </p:nvSpPr>
        <p:spPr bwMode="auto">
          <a:xfrm flipH="1">
            <a:off x="1311275" y="5016500"/>
            <a:ext cx="1079500" cy="1008063"/>
          </a:xfrm>
          <a:prstGeom prst="line">
            <a:avLst/>
          </a:prstGeom>
          <a:noFill/>
          <a:ln w="203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11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4" grpId="0" animBg="1"/>
      <p:bldP spid="1198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2-2-1-5  </a:t>
            </a:r>
            <a:r>
              <a:rPr lang="zh-CN" altLang="en-US" sz="1600" b="1">
                <a:latin typeface="宋体" pitchFamily="2" charset="-122"/>
              </a:rPr>
              <a:t>平面 </a:t>
            </a:r>
            <a:r>
              <a:rPr lang="en-US" altLang="zh-CN" sz="1600" b="1">
                <a:latin typeface="宋体" pitchFamily="2" charset="-122"/>
              </a:rPr>
              <a:t>ABC </a:t>
            </a:r>
            <a:r>
              <a:rPr lang="zh-CN" altLang="en-US" sz="1600" b="1">
                <a:latin typeface="宋体" pitchFamily="2" charset="-122"/>
              </a:rPr>
              <a:t>和 </a:t>
            </a:r>
            <a:r>
              <a:rPr lang="en-US" altLang="zh-CN" sz="1600" b="1">
                <a:latin typeface="宋体" pitchFamily="2" charset="-122"/>
              </a:rPr>
              <a:t>DEF </a:t>
            </a:r>
            <a:r>
              <a:rPr lang="zh-CN" altLang="en-US" sz="1600" b="1">
                <a:latin typeface="宋体" pitchFamily="2" charset="-122"/>
              </a:rPr>
              <a:t>相互平行，完成 </a:t>
            </a:r>
            <a:r>
              <a:rPr lang="en-US" altLang="zh-CN" sz="1600" b="1">
                <a:latin typeface="宋体" pitchFamily="2" charset="-122"/>
              </a:rPr>
              <a:t>DEF </a:t>
            </a:r>
            <a:r>
              <a:rPr lang="zh-CN" altLang="en-US" sz="1600" b="1">
                <a:latin typeface="宋体" pitchFamily="2" charset="-122"/>
              </a:rPr>
              <a:t>的水平投影。</a:t>
            </a:r>
          </a:p>
        </p:txBody>
      </p:sp>
      <p:pic>
        <p:nvPicPr>
          <p:cNvPr id="2355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5"/>
          <a:stretch>
            <a:fillRect/>
          </a:stretch>
        </p:blipFill>
        <p:spPr bwMode="auto">
          <a:xfrm>
            <a:off x="1895475" y="469900"/>
            <a:ext cx="5353050" cy="551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2-2-1-6  </a:t>
            </a:r>
            <a:r>
              <a:rPr lang="zh-CN" altLang="en-US" sz="1600" b="1">
                <a:latin typeface="宋体" pitchFamily="2" charset="-122"/>
              </a:rPr>
              <a:t>三角形</a:t>
            </a:r>
            <a:r>
              <a:rPr lang="en-US" altLang="zh-CN" sz="1600" b="1">
                <a:latin typeface="宋体" pitchFamily="2" charset="-122"/>
              </a:rPr>
              <a:t>ABC</a:t>
            </a:r>
            <a:r>
              <a:rPr lang="zh-CN" altLang="en-US" sz="1600" b="1">
                <a:latin typeface="宋体" pitchFamily="2" charset="-122"/>
              </a:rPr>
              <a:t>平行于直线</a:t>
            </a:r>
            <a:r>
              <a:rPr lang="en-US" altLang="zh-CN" sz="1600" b="1">
                <a:latin typeface="宋体" pitchFamily="2" charset="-122"/>
              </a:rPr>
              <a:t>DE</a:t>
            </a:r>
            <a:r>
              <a:rPr lang="zh-CN" altLang="en-US" sz="1600" b="1">
                <a:latin typeface="宋体" pitchFamily="2" charset="-122"/>
              </a:rPr>
              <a:t>和</a:t>
            </a:r>
            <a:r>
              <a:rPr lang="en-US" altLang="zh-CN" sz="1600" b="1">
                <a:latin typeface="宋体" pitchFamily="2" charset="-122"/>
              </a:rPr>
              <a:t>FG</a:t>
            </a:r>
            <a:r>
              <a:rPr lang="zh-CN" altLang="en-US" sz="1600" b="1">
                <a:latin typeface="宋体" pitchFamily="2" charset="-122"/>
              </a:rPr>
              <a:t>，画出三角形</a:t>
            </a:r>
            <a:r>
              <a:rPr lang="en-US" altLang="zh-CN" sz="1600" b="1">
                <a:latin typeface="宋体" pitchFamily="2" charset="-122"/>
              </a:rPr>
              <a:t>ABC</a:t>
            </a:r>
            <a:r>
              <a:rPr lang="zh-CN" altLang="en-US" sz="1600" b="1">
                <a:latin typeface="宋体" pitchFamily="2" charset="-122"/>
              </a:rPr>
              <a:t>的水平投影。</a:t>
            </a: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4"/>
          <a:stretch>
            <a:fillRect/>
          </a:stretch>
        </p:blipFill>
        <p:spPr bwMode="auto">
          <a:xfrm>
            <a:off x="2081213" y="469900"/>
            <a:ext cx="4981575" cy="550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/>
          <a:stretch>
            <a:fillRect/>
          </a:stretch>
        </p:blipFill>
        <p:spPr bwMode="auto">
          <a:xfrm>
            <a:off x="2192338" y="469900"/>
            <a:ext cx="4757737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2-2-2-1 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求直线 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EF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与已知平面的交点，并判断可见性。</a:t>
            </a:r>
          </a:p>
        </p:txBody>
      </p:sp>
    </p:spTree>
    <p:extLst>
      <p:ext uri="{BB962C8B-B14F-4D97-AF65-F5344CB8AC3E}">
        <p14:creationId xmlns:p14="http://schemas.microsoft.com/office/powerpoint/2010/main" val="351492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/>
          <a:stretch>
            <a:fillRect/>
          </a:stretch>
        </p:blipFill>
        <p:spPr bwMode="auto">
          <a:xfrm>
            <a:off x="2179638" y="447675"/>
            <a:ext cx="4783137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2-2-2-2 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求直线 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EF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与已知平面的交点，并判断可见性。</a:t>
            </a:r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415925" y="4832350"/>
            <a:ext cx="363061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 smtClean="0">
                <a:solidFill>
                  <a:srgbClr val="000000"/>
                </a:solidFill>
                <a:latin typeface="宋体" charset="-122"/>
              </a:rPr>
              <a:t>问题：</a:t>
            </a:r>
            <a:endParaRPr lang="zh-CN" altLang="en-US" sz="1800" b="1" dirty="0" smtClean="0">
              <a:solidFill>
                <a:srgbClr val="000000"/>
              </a:solidFill>
              <a:latin typeface="宋体" charset="-122"/>
            </a:endParaRP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dirty="0" smtClean="0">
                <a:solidFill>
                  <a:srgbClr val="000000"/>
                </a:solidFill>
                <a:latin typeface="宋体" charset="-122"/>
              </a:rPr>
              <a:t>作图规范，包括线型、标注。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dirty="0" smtClean="0">
                <a:solidFill>
                  <a:srgbClr val="000000"/>
                </a:solidFill>
                <a:latin typeface="宋体" charset="-122"/>
              </a:rPr>
              <a:t>辅助平面。</a:t>
            </a:r>
          </a:p>
        </p:txBody>
      </p:sp>
    </p:spTree>
    <p:extLst>
      <p:ext uri="{BB962C8B-B14F-4D97-AF65-F5344CB8AC3E}">
        <p14:creationId xmlns:p14="http://schemas.microsoft.com/office/powerpoint/2010/main" val="84018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81"/>
          <p:cNvGrpSpPr>
            <a:grpSpLocks/>
          </p:cNvGrpSpPr>
          <p:nvPr/>
        </p:nvGrpSpPr>
        <p:grpSpPr bwMode="auto">
          <a:xfrm>
            <a:off x="1547813" y="1465263"/>
            <a:ext cx="5089525" cy="4005262"/>
            <a:chOff x="975" y="923"/>
            <a:chExt cx="3206" cy="2523"/>
          </a:xfrm>
        </p:grpSpPr>
        <p:sp>
          <p:nvSpPr>
            <p:cNvPr id="7225" name="Text Box 3"/>
            <p:cNvSpPr txBox="1">
              <a:spLocks noChangeArrowheads="1"/>
            </p:cNvSpPr>
            <p:nvPr/>
          </p:nvSpPr>
          <p:spPr bwMode="auto">
            <a:xfrm>
              <a:off x="2279" y="923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smtClean="0">
                  <a:solidFill>
                    <a:srgbClr val="000000"/>
                  </a:solidFill>
                  <a:latin typeface="ISOCPEUR" pitchFamily="34" charset="0"/>
                </a:rPr>
                <a:t>e’</a:t>
              </a:r>
            </a:p>
          </p:txBody>
        </p:sp>
        <p:grpSp>
          <p:nvGrpSpPr>
            <p:cNvPr id="7226" name="Group 80"/>
            <p:cNvGrpSpPr>
              <a:grpSpLocks/>
            </p:cNvGrpSpPr>
            <p:nvPr/>
          </p:nvGrpSpPr>
          <p:grpSpPr bwMode="auto">
            <a:xfrm>
              <a:off x="975" y="1040"/>
              <a:ext cx="3206" cy="2406"/>
              <a:chOff x="975" y="1040"/>
              <a:chExt cx="3206" cy="2406"/>
            </a:xfrm>
          </p:grpSpPr>
          <p:sp>
            <p:nvSpPr>
              <p:cNvPr id="7227" name="Line 5"/>
              <p:cNvSpPr>
                <a:spLocks noChangeShapeType="1"/>
              </p:cNvSpPr>
              <p:nvPr/>
            </p:nvSpPr>
            <p:spPr bwMode="auto">
              <a:xfrm>
                <a:off x="1175" y="2429"/>
                <a:ext cx="2809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28" name="Line 6"/>
              <p:cNvSpPr>
                <a:spLocks noChangeShapeType="1"/>
              </p:cNvSpPr>
              <p:nvPr/>
            </p:nvSpPr>
            <p:spPr bwMode="auto">
              <a:xfrm flipV="1">
                <a:off x="1535" y="2095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29" name="Line 7"/>
              <p:cNvSpPr>
                <a:spLocks noChangeShapeType="1"/>
              </p:cNvSpPr>
              <p:nvPr/>
            </p:nvSpPr>
            <p:spPr bwMode="auto">
              <a:xfrm flipV="1">
                <a:off x="2648" y="1265"/>
                <a:ext cx="0" cy="140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0" name="Line 8"/>
              <p:cNvSpPr>
                <a:spLocks noChangeShapeType="1"/>
              </p:cNvSpPr>
              <p:nvPr/>
            </p:nvSpPr>
            <p:spPr bwMode="auto">
              <a:xfrm flipV="1">
                <a:off x="2787" y="2095"/>
                <a:ext cx="0" cy="1212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1" name="Line 9"/>
              <p:cNvSpPr>
                <a:spLocks noChangeShapeType="1"/>
              </p:cNvSpPr>
              <p:nvPr/>
            </p:nvSpPr>
            <p:spPr bwMode="auto">
              <a:xfrm flipV="1">
                <a:off x="2297" y="2280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2" name="Freeform 10"/>
              <p:cNvSpPr>
                <a:spLocks/>
              </p:cNvSpPr>
              <p:nvPr/>
            </p:nvSpPr>
            <p:spPr bwMode="auto">
              <a:xfrm>
                <a:off x="1536" y="1261"/>
                <a:ext cx="1249" cy="837"/>
              </a:xfrm>
              <a:custGeom>
                <a:avLst/>
                <a:gdLst>
                  <a:gd name="T0" fmla="*/ 1114 w 1250"/>
                  <a:gd name="T1" fmla="*/ 0 h 837"/>
                  <a:gd name="T2" fmla="*/ 0 w 1250"/>
                  <a:gd name="T3" fmla="*/ 837 h 837"/>
                  <a:gd name="T4" fmla="*/ 1246 w 1250"/>
                  <a:gd name="T5" fmla="*/ 837 h 8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50" h="837">
                    <a:moveTo>
                      <a:pt x="1118" y="0"/>
                    </a:moveTo>
                    <a:lnTo>
                      <a:pt x="0" y="837"/>
                    </a:lnTo>
                    <a:lnTo>
                      <a:pt x="1250" y="837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3" name="Freeform 11"/>
              <p:cNvSpPr>
                <a:spLocks/>
              </p:cNvSpPr>
              <p:nvPr/>
            </p:nvSpPr>
            <p:spPr bwMode="auto">
              <a:xfrm>
                <a:off x="1535" y="2669"/>
                <a:ext cx="1255" cy="640"/>
              </a:xfrm>
              <a:custGeom>
                <a:avLst/>
                <a:gdLst>
                  <a:gd name="T0" fmla="*/ 1113 w 1255"/>
                  <a:gd name="T1" fmla="*/ 0 h 640"/>
                  <a:gd name="T2" fmla="*/ 0 w 1255"/>
                  <a:gd name="T3" fmla="*/ 0 h 640"/>
                  <a:gd name="T4" fmla="*/ 1255 w 1255"/>
                  <a:gd name="T5" fmla="*/ 640 h 6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55" h="640">
                    <a:moveTo>
                      <a:pt x="1113" y="0"/>
                    </a:moveTo>
                    <a:lnTo>
                      <a:pt x="0" y="0"/>
                    </a:lnTo>
                    <a:lnTo>
                      <a:pt x="1255" y="64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4" name="Line 12"/>
              <p:cNvSpPr>
                <a:spLocks noChangeShapeType="1"/>
              </p:cNvSpPr>
              <p:nvPr/>
            </p:nvSpPr>
            <p:spPr bwMode="auto">
              <a:xfrm>
                <a:off x="2298" y="1124"/>
                <a:ext cx="0" cy="3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5" name="Line 13"/>
              <p:cNvSpPr>
                <a:spLocks noChangeShapeType="1"/>
              </p:cNvSpPr>
              <p:nvPr/>
            </p:nvSpPr>
            <p:spPr bwMode="auto">
              <a:xfrm>
                <a:off x="2298" y="2103"/>
                <a:ext cx="0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6" name="Line 14"/>
              <p:cNvSpPr>
                <a:spLocks noChangeShapeType="1"/>
              </p:cNvSpPr>
              <p:nvPr/>
            </p:nvSpPr>
            <p:spPr bwMode="auto">
              <a:xfrm>
                <a:off x="2298" y="2532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7" name="Line 15"/>
              <p:cNvSpPr>
                <a:spLocks noChangeShapeType="1"/>
              </p:cNvSpPr>
              <p:nvPr/>
            </p:nvSpPr>
            <p:spPr bwMode="auto">
              <a:xfrm>
                <a:off x="2298" y="3063"/>
                <a:ext cx="0" cy="2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8" name="Text Box 16"/>
              <p:cNvSpPr txBox="1">
                <a:spLocks noChangeArrowheads="1"/>
              </p:cNvSpPr>
              <p:nvPr/>
            </p:nvSpPr>
            <p:spPr bwMode="auto">
              <a:xfrm>
                <a:off x="975" y="2247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X</a:t>
                </a:r>
              </a:p>
            </p:txBody>
          </p:sp>
          <p:sp>
            <p:nvSpPr>
              <p:cNvPr id="7239" name="Text Box 17"/>
              <p:cNvSpPr txBox="1">
                <a:spLocks noChangeArrowheads="1"/>
              </p:cNvSpPr>
              <p:nvPr/>
            </p:nvSpPr>
            <p:spPr bwMode="auto">
              <a:xfrm>
                <a:off x="2059" y="2212"/>
                <a:ext cx="26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f’</a:t>
                </a:r>
              </a:p>
            </p:txBody>
          </p:sp>
          <p:sp>
            <p:nvSpPr>
              <p:cNvPr id="7240" name="Text Box 18"/>
              <p:cNvSpPr txBox="1">
                <a:spLocks noChangeArrowheads="1"/>
              </p:cNvSpPr>
              <p:nvPr/>
            </p:nvSpPr>
            <p:spPr bwMode="auto">
              <a:xfrm>
                <a:off x="2761" y="1896"/>
                <a:ext cx="23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c’</a:t>
                </a:r>
              </a:p>
            </p:txBody>
          </p:sp>
          <p:sp>
            <p:nvSpPr>
              <p:cNvPr id="7241" name="Text Box 19"/>
              <p:cNvSpPr txBox="1">
                <a:spLocks noChangeArrowheads="1"/>
              </p:cNvSpPr>
              <p:nvPr/>
            </p:nvSpPr>
            <p:spPr bwMode="auto">
              <a:xfrm>
                <a:off x="2629" y="1040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b’</a:t>
                </a:r>
              </a:p>
            </p:txBody>
          </p:sp>
          <p:sp>
            <p:nvSpPr>
              <p:cNvPr id="7242" name="Text Box 20"/>
              <p:cNvSpPr txBox="1">
                <a:spLocks noChangeArrowheads="1"/>
              </p:cNvSpPr>
              <p:nvPr/>
            </p:nvSpPr>
            <p:spPr bwMode="auto">
              <a:xfrm>
                <a:off x="1308" y="1931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a’</a:t>
                </a:r>
              </a:p>
            </p:txBody>
          </p:sp>
          <p:sp>
            <p:nvSpPr>
              <p:cNvPr id="7243" name="Text Box 21"/>
              <p:cNvSpPr txBox="1">
                <a:spLocks noChangeArrowheads="1"/>
              </p:cNvSpPr>
              <p:nvPr/>
            </p:nvSpPr>
            <p:spPr bwMode="auto">
              <a:xfrm>
                <a:off x="3962" y="2250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O</a:t>
                </a:r>
              </a:p>
            </p:txBody>
          </p:sp>
          <p:sp>
            <p:nvSpPr>
              <p:cNvPr id="7244" name="Text Box 22"/>
              <p:cNvSpPr txBox="1">
                <a:spLocks noChangeArrowheads="1"/>
              </p:cNvSpPr>
              <p:nvPr/>
            </p:nvSpPr>
            <p:spPr bwMode="auto">
              <a:xfrm>
                <a:off x="1305" y="2506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a</a:t>
                </a:r>
              </a:p>
            </p:txBody>
          </p:sp>
          <p:sp>
            <p:nvSpPr>
              <p:cNvPr id="7245" name="Text Box 23"/>
              <p:cNvSpPr txBox="1">
                <a:spLocks noChangeArrowheads="1"/>
              </p:cNvSpPr>
              <p:nvPr/>
            </p:nvSpPr>
            <p:spPr bwMode="auto">
              <a:xfrm>
                <a:off x="2062" y="2407"/>
                <a:ext cx="24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f</a:t>
                </a:r>
              </a:p>
            </p:txBody>
          </p:sp>
          <p:sp>
            <p:nvSpPr>
              <p:cNvPr id="7246" name="Text Box 24"/>
              <p:cNvSpPr txBox="1">
                <a:spLocks noChangeArrowheads="1"/>
              </p:cNvSpPr>
              <p:nvPr/>
            </p:nvSpPr>
            <p:spPr bwMode="auto">
              <a:xfrm>
                <a:off x="2267" y="3158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e</a:t>
                </a:r>
              </a:p>
            </p:txBody>
          </p:sp>
          <p:sp>
            <p:nvSpPr>
              <p:cNvPr id="7247" name="Text Box 25"/>
              <p:cNvSpPr txBox="1">
                <a:spLocks noChangeArrowheads="1"/>
              </p:cNvSpPr>
              <p:nvPr/>
            </p:nvSpPr>
            <p:spPr bwMode="auto">
              <a:xfrm>
                <a:off x="2619" y="2439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b</a:t>
                </a:r>
              </a:p>
            </p:txBody>
          </p:sp>
          <p:sp>
            <p:nvSpPr>
              <p:cNvPr id="7248" name="Text Box 26"/>
              <p:cNvSpPr txBox="1">
                <a:spLocks noChangeArrowheads="1"/>
              </p:cNvSpPr>
              <p:nvPr/>
            </p:nvSpPr>
            <p:spPr bwMode="auto">
              <a:xfrm>
                <a:off x="2785" y="3142"/>
                <a:ext cx="19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c</a:t>
                </a:r>
              </a:p>
            </p:txBody>
          </p:sp>
        </p:grpSp>
      </p:grpSp>
      <p:sp>
        <p:nvSpPr>
          <p:cNvPr id="7210" name="Rectangle 67"/>
          <p:cNvSpPr>
            <a:spLocks noChangeArrowheads="1"/>
          </p:cNvSpPr>
          <p:nvPr/>
        </p:nvSpPr>
        <p:spPr bwMode="auto">
          <a:xfrm>
            <a:off x="1187450" y="546100"/>
            <a:ext cx="5951538" cy="5983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77901" name="Text Box 77"/>
          <p:cNvSpPr txBox="1">
            <a:spLocks noChangeArrowheads="1"/>
          </p:cNvSpPr>
          <p:nvPr/>
        </p:nvSpPr>
        <p:spPr bwMode="auto">
          <a:xfrm>
            <a:off x="5958770" y="4231288"/>
            <a:ext cx="2846564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rgbClr val="000000"/>
                </a:solidFill>
                <a:latin typeface="ISOCPEUR" pitchFamily="34" charset="0"/>
              </a:rPr>
              <a:t>方法</a:t>
            </a:r>
            <a:r>
              <a:rPr lang="en-US" altLang="zh-CN" sz="2000" b="1" dirty="0" smtClean="0">
                <a:solidFill>
                  <a:srgbClr val="000000"/>
                </a:solidFill>
                <a:latin typeface="ISOCPEUR" pitchFamily="34" charset="0"/>
              </a:rPr>
              <a:t>1</a:t>
            </a:r>
            <a:r>
              <a:rPr lang="zh-CN" altLang="en-US" sz="2000" b="1" dirty="0" smtClean="0">
                <a:solidFill>
                  <a:srgbClr val="000000"/>
                </a:solidFill>
                <a:latin typeface="ISOCPEUR" pitchFamily="34" charset="0"/>
              </a:rPr>
              <a:t>：逆推法</a:t>
            </a:r>
            <a:endParaRPr lang="en-US" altLang="zh-CN" sz="2000" b="1" dirty="0" smtClean="0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7223" name="Text Box 8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2-2-2-3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　求直线 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EF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与由两相交直线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AB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、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AC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确定的平面的交点，并判断可见性。</a:t>
            </a:r>
          </a:p>
        </p:txBody>
      </p:sp>
      <p:sp>
        <p:nvSpPr>
          <p:cNvPr id="7224" name="Oval 84"/>
          <p:cNvSpPr>
            <a:spLocks noChangeArrowheads="1"/>
          </p:cNvSpPr>
          <p:nvPr/>
        </p:nvSpPr>
        <p:spPr bwMode="auto">
          <a:xfrm>
            <a:off x="200025" y="469900"/>
            <a:ext cx="514350" cy="4826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smtClean="0">
              <a:solidFill>
                <a:srgbClr val="FF0000"/>
              </a:solidFill>
            </a:endParaRPr>
          </a:p>
        </p:txBody>
      </p:sp>
      <p:sp>
        <p:nvSpPr>
          <p:cNvPr id="83" name="Text Box 77"/>
          <p:cNvSpPr txBox="1">
            <a:spLocks noChangeArrowheads="1"/>
          </p:cNvSpPr>
          <p:nvPr/>
        </p:nvSpPr>
        <p:spPr bwMode="auto">
          <a:xfrm>
            <a:off x="5975702" y="4835248"/>
            <a:ext cx="2846564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rgbClr val="000000"/>
                </a:solidFill>
                <a:latin typeface="ISOCPEUR" pitchFamily="34" charset="0"/>
              </a:rPr>
              <a:t>方法</a:t>
            </a:r>
            <a:r>
              <a:rPr lang="en-US" altLang="zh-CN" sz="2000" b="1" dirty="0">
                <a:solidFill>
                  <a:srgbClr val="000000"/>
                </a:solidFill>
                <a:latin typeface="ISOCPEUR" pitchFamily="34" charset="0"/>
              </a:rPr>
              <a:t>2</a:t>
            </a:r>
            <a:r>
              <a:rPr lang="zh-CN" altLang="en-US" sz="2000" b="1" dirty="0" smtClean="0">
                <a:solidFill>
                  <a:srgbClr val="000000"/>
                </a:solidFill>
                <a:latin typeface="ISOCPEUR" pitchFamily="34" charset="0"/>
              </a:rPr>
              <a:t>：构造法</a:t>
            </a:r>
            <a:endParaRPr lang="en-US" altLang="zh-CN" sz="2000" b="1" dirty="0" smtClean="0">
              <a:solidFill>
                <a:srgbClr val="000000"/>
              </a:solidFill>
              <a:latin typeface="ISOCPEUR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213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7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01" grpId="0" animBg="1"/>
      <p:bldP spid="8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ChangeArrowheads="1"/>
          </p:cNvSpPr>
          <p:nvPr/>
        </p:nvSpPr>
        <p:spPr bwMode="auto">
          <a:xfrm>
            <a:off x="1187450" y="546100"/>
            <a:ext cx="5951538" cy="5983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114692" name="Text Box 4"/>
          <p:cNvSpPr txBox="1">
            <a:spLocks noChangeArrowheads="1"/>
          </p:cNvSpPr>
          <p:nvPr/>
        </p:nvSpPr>
        <p:spPr bwMode="auto">
          <a:xfrm>
            <a:off x="7077075" y="3230563"/>
            <a:ext cx="19431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smtClean="0">
                <a:solidFill>
                  <a:srgbClr val="000000"/>
                </a:solidFill>
                <a:latin typeface="ISOCPEUR" pitchFamily="34" charset="0"/>
              </a:rPr>
              <a:t>利用侧面投影求解</a:t>
            </a:r>
            <a:endParaRPr lang="zh-CN" altLang="el-GR" sz="1500" b="1" smtClean="0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7138988" y="2012950"/>
            <a:ext cx="1943100" cy="320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 smtClean="0">
                <a:solidFill>
                  <a:srgbClr val="000000"/>
                </a:solidFill>
                <a:latin typeface="ISOCPEUR" pitchFamily="34" charset="0"/>
              </a:rPr>
              <a:t>方法</a:t>
            </a:r>
            <a:r>
              <a:rPr lang="en-US" altLang="zh-CN" sz="1500" b="1" dirty="0" smtClean="0">
                <a:solidFill>
                  <a:srgbClr val="000000"/>
                </a:solidFill>
                <a:latin typeface="ISOCPEUR" pitchFamily="34" charset="0"/>
              </a:rPr>
              <a:t>1</a:t>
            </a:r>
            <a:endParaRPr lang="el-GR" altLang="zh-CN" sz="1500" dirty="0" smtClean="0">
              <a:solidFill>
                <a:srgbClr val="000000"/>
              </a:solidFill>
              <a:latin typeface="宋体" charset="-122"/>
            </a:endParaRPr>
          </a:p>
        </p:txBody>
      </p:sp>
      <p:sp>
        <p:nvSpPr>
          <p:cNvPr id="114694" name="Text Box 6"/>
          <p:cNvSpPr txBox="1">
            <a:spLocks noChangeArrowheads="1"/>
          </p:cNvSpPr>
          <p:nvPr/>
        </p:nvSpPr>
        <p:spPr bwMode="auto">
          <a:xfrm>
            <a:off x="7138988" y="3844925"/>
            <a:ext cx="1943100" cy="320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smtClean="0">
                <a:solidFill>
                  <a:srgbClr val="000000"/>
                </a:solidFill>
                <a:latin typeface="ISOCPEUR" pitchFamily="34" charset="0"/>
              </a:rPr>
              <a:t>点 </a:t>
            </a:r>
            <a:r>
              <a:rPr lang="en-US" altLang="zh-CN" sz="1500" b="1" smtClean="0">
                <a:solidFill>
                  <a:srgbClr val="000000"/>
                </a:solidFill>
                <a:latin typeface="ISOCPEUR" pitchFamily="34" charset="0"/>
              </a:rPr>
              <a:t>K </a:t>
            </a:r>
            <a:r>
              <a:rPr lang="zh-CN" altLang="en-US" sz="1500" b="1" smtClean="0">
                <a:solidFill>
                  <a:srgbClr val="000000"/>
                </a:solidFill>
                <a:latin typeface="ISOCPEUR" pitchFamily="34" charset="0"/>
              </a:rPr>
              <a:t>为所求。</a:t>
            </a:r>
            <a:endParaRPr lang="zh-CN" altLang="en-US" sz="1500" b="1" i="1" smtClean="0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2294" name="Text Box 7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2-2-2-3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　求直线 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EF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与由两相交直线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AB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、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AC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确定的平面的交点，并判断可见性。</a:t>
            </a:r>
          </a:p>
        </p:txBody>
      </p:sp>
      <p:sp>
        <p:nvSpPr>
          <p:cNvPr id="12295" name="Oval 8"/>
          <p:cNvSpPr>
            <a:spLocks noChangeArrowheads="1"/>
          </p:cNvSpPr>
          <p:nvPr/>
        </p:nvSpPr>
        <p:spPr bwMode="auto">
          <a:xfrm>
            <a:off x="200025" y="469900"/>
            <a:ext cx="514350" cy="4826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smtClean="0">
              <a:solidFill>
                <a:srgbClr val="FF0000"/>
              </a:solidFill>
            </a:endParaRPr>
          </a:p>
        </p:txBody>
      </p:sp>
      <p:graphicFrame>
        <p:nvGraphicFramePr>
          <p:cNvPr id="12296" name="Object 9"/>
          <p:cNvGraphicFramePr>
            <a:graphicFrameLocks noChangeAspect="1"/>
          </p:cNvGraphicFramePr>
          <p:nvPr/>
        </p:nvGraphicFramePr>
        <p:xfrm>
          <a:off x="931863" y="660400"/>
          <a:ext cx="5973762" cy="489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0" name="Image" r:id="rId3" imgW="11542857" imgH="9460317" progId="Photoshop.Image.6">
                  <p:embed/>
                </p:oleObj>
              </mc:Choice>
              <mc:Fallback>
                <p:oleObj name="Image" r:id="rId3" imgW="11542857" imgH="9460317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63" y="660400"/>
                        <a:ext cx="5973762" cy="489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698" name="Text Box 10"/>
          <p:cNvSpPr txBox="1">
            <a:spLocks noChangeArrowheads="1"/>
          </p:cNvSpPr>
          <p:nvPr/>
        </p:nvSpPr>
        <p:spPr bwMode="auto">
          <a:xfrm>
            <a:off x="7077075" y="2749550"/>
            <a:ext cx="19431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smtClean="0">
                <a:solidFill>
                  <a:srgbClr val="000000"/>
                </a:solidFill>
                <a:latin typeface="ISOCPEUR" pitchFamily="34" charset="0"/>
              </a:rPr>
              <a:t>作一侧平面为辅助面</a:t>
            </a:r>
            <a:endParaRPr lang="zh-CN" altLang="el-GR" sz="1500" b="1" smtClean="0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14699" name="Text Box 11"/>
          <p:cNvSpPr txBox="1">
            <a:spLocks noChangeArrowheads="1"/>
          </p:cNvSpPr>
          <p:nvPr/>
        </p:nvSpPr>
        <p:spPr bwMode="auto">
          <a:xfrm>
            <a:off x="6642100" y="4800600"/>
            <a:ext cx="2378075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 smtClean="0">
                <a:solidFill>
                  <a:srgbClr val="000000"/>
                </a:solidFill>
                <a:latin typeface="宋体" charset="-122"/>
              </a:rPr>
              <a:t>问题：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dirty="0" smtClean="0">
                <a:solidFill>
                  <a:srgbClr val="FF0000"/>
                </a:solidFill>
                <a:latin typeface="宋体" charset="-122"/>
              </a:rPr>
              <a:t>标注辅助平面。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CN" sz="1800" b="1" dirty="0">
                <a:solidFill>
                  <a:srgbClr val="FF0000"/>
                </a:solidFill>
                <a:latin typeface="宋体" charset="-122"/>
              </a:rPr>
              <a:t>W</a:t>
            </a:r>
            <a:r>
              <a:rPr lang="zh-CN" altLang="en-US" sz="1800" b="1" dirty="0">
                <a:solidFill>
                  <a:srgbClr val="FF0000"/>
                </a:solidFill>
                <a:latin typeface="宋体" charset="-122"/>
              </a:rPr>
              <a:t>面投影要完整。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CN" sz="1800" b="1" dirty="0" smtClean="0">
                <a:solidFill>
                  <a:srgbClr val="FF0000"/>
                </a:solidFill>
                <a:latin typeface="宋体" charset="-122"/>
              </a:rPr>
              <a:t>W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charset="-122"/>
              </a:rPr>
              <a:t>面的可见性。</a:t>
            </a:r>
          </a:p>
        </p:txBody>
      </p:sp>
    </p:spTree>
    <p:extLst>
      <p:ext uri="{BB962C8B-B14F-4D97-AF65-F5344CB8AC3E}">
        <p14:creationId xmlns:p14="http://schemas.microsoft.com/office/powerpoint/2010/main" val="393584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4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4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4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4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/>
      <p:bldP spid="114694" grpId="0" animBg="1"/>
      <p:bldP spid="11469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6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47" b="13327"/>
          <a:stretch>
            <a:fillRect/>
          </a:stretch>
        </p:blipFill>
        <p:spPr bwMode="auto">
          <a:xfrm>
            <a:off x="1784350" y="1263650"/>
            <a:ext cx="5118100" cy="540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60"/>
          <p:cNvSpPr>
            <a:spLocks noChangeArrowheads="1"/>
          </p:cNvSpPr>
          <p:nvPr/>
        </p:nvSpPr>
        <p:spPr bwMode="auto">
          <a:xfrm>
            <a:off x="1187450" y="546100"/>
            <a:ext cx="5951538" cy="5983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80959" name="Text Box 63"/>
          <p:cNvSpPr txBox="1">
            <a:spLocks noChangeArrowheads="1"/>
          </p:cNvSpPr>
          <p:nvPr/>
        </p:nvSpPr>
        <p:spPr bwMode="auto">
          <a:xfrm>
            <a:off x="7200900" y="4005263"/>
            <a:ext cx="19431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smtClean="0">
                <a:solidFill>
                  <a:srgbClr val="000000"/>
                </a:solidFill>
                <a:latin typeface="ISOCPEUR" pitchFamily="34" charset="0"/>
              </a:rPr>
              <a:t>利用侧面投影求解</a:t>
            </a:r>
            <a:endParaRPr lang="zh-CN" altLang="el-GR" sz="1500" b="1" smtClean="0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1269" name="Text Box 67"/>
          <p:cNvSpPr txBox="1">
            <a:spLocks noChangeArrowheads="1"/>
          </p:cNvSpPr>
          <p:nvPr/>
        </p:nvSpPr>
        <p:spPr bwMode="auto">
          <a:xfrm>
            <a:off x="7200900" y="3108325"/>
            <a:ext cx="1943100" cy="320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 smtClean="0">
                <a:solidFill>
                  <a:srgbClr val="000000"/>
                </a:solidFill>
                <a:latin typeface="ISOCPEUR" pitchFamily="34" charset="0"/>
              </a:rPr>
              <a:t>方法</a:t>
            </a:r>
            <a:r>
              <a:rPr lang="en-US" altLang="zh-CN" sz="1500" b="1" dirty="0" smtClean="0">
                <a:solidFill>
                  <a:srgbClr val="000000"/>
                </a:solidFill>
                <a:latin typeface="ISOCPEUR" pitchFamily="34" charset="0"/>
              </a:rPr>
              <a:t>1 </a:t>
            </a:r>
            <a:r>
              <a:rPr lang="zh-CN" altLang="en-US" sz="1500" b="1" dirty="0" smtClean="0">
                <a:solidFill>
                  <a:srgbClr val="000000"/>
                </a:solidFill>
                <a:latin typeface="ISOCPEUR" pitchFamily="34" charset="0"/>
              </a:rPr>
              <a:t>扩展</a:t>
            </a:r>
            <a:endParaRPr lang="el-GR" altLang="zh-CN" sz="1500" dirty="0" smtClean="0">
              <a:solidFill>
                <a:srgbClr val="000000"/>
              </a:solidFill>
              <a:latin typeface="宋体" charset="-122"/>
            </a:endParaRPr>
          </a:p>
        </p:txBody>
      </p:sp>
      <p:sp>
        <p:nvSpPr>
          <p:cNvPr id="80964" name="Text Box 68"/>
          <p:cNvSpPr txBox="1">
            <a:spLocks noChangeArrowheads="1"/>
          </p:cNvSpPr>
          <p:nvPr/>
        </p:nvSpPr>
        <p:spPr bwMode="auto">
          <a:xfrm>
            <a:off x="7200900" y="4940300"/>
            <a:ext cx="1943100" cy="320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smtClean="0">
                <a:solidFill>
                  <a:srgbClr val="000000"/>
                </a:solidFill>
                <a:latin typeface="ISOCPEUR" pitchFamily="34" charset="0"/>
              </a:rPr>
              <a:t>点 </a:t>
            </a:r>
            <a:r>
              <a:rPr lang="en-US" altLang="zh-CN" sz="1500" b="1" smtClean="0">
                <a:solidFill>
                  <a:srgbClr val="000000"/>
                </a:solidFill>
                <a:latin typeface="ISOCPEUR" pitchFamily="34" charset="0"/>
              </a:rPr>
              <a:t>K </a:t>
            </a:r>
            <a:r>
              <a:rPr lang="zh-CN" altLang="en-US" sz="1500" b="1" smtClean="0">
                <a:solidFill>
                  <a:srgbClr val="000000"/>
                </a:solidFill>
                <a:latin typeface="ISOCPEUR" pitchFamily="34" charset="0"/>
              </a:rPr>
              <a:t>为所求。</a:t>
            </a:r>
            <a:endParaRPr lang="zh-CN" altLang="en-US" sz="1500" b="1" i="1" smtClean="0">
              <a:solidFill>
                <a:srgbClr val="000000"/>
              </a:solidFill>
              <a:latin typeface="ISOCPEUR" pitchFamily="34" charset="0"/>
            </a:endParaRPr>
          </a:p>
        </p:txBody>
      </p:sp>
      <p:sp>
        <p:nvSpPr>
          <p:cNvPr id="11271" name="Text Box 71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2-2-2-3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　求直线 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EF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与由两相交直线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AB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、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AC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确定的平面的交点，并判断可见性。</a:t>
            </a:r>
          </a:p>
        </p:txBody>
      </p:sp>
      <p:sp>
        <p:nvSpPr>
          <p:cNvPr id="11272" name="Oval 72"/>
          <p:cNvSpPr>
            <a:spLocks noChangeArrowheads="1"/>
          </p:cNvSpPr>
          <p:nvPr/>
        </p:nvSpPr>
        <p:spPr bwMode="auto">
          <a:xfrm>
            <a:off x="200025" y="469900"/>
            <a:ext cx="514350" cy="4826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smtClean="0">
              <a:solidFill>
                <a:srgbClr val="FF0000"/>
              </a:solidFill>
            </a:endParaRPr>
          </a:p>
        </p:txBody>
      </p:sp>
      <p:sp>
        <p:nvSpPr>
          <p:cNvPr id="80969" name="Text Box 73"/>
          <p:cNvSpPr txBox="1">
            <a:spLocks noChangeArrowheads="1"/>
          </p:cNvSpPr>
          <p:nvPr/>
        </p:nvSpPr>
        <p:spPr bwMode="auto">
          <a:xfrm>
            <a:off x="7200900" y="4344988"/>
            <a:ext cx="19431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smtClean="0">
                <a:solidFill>
                  <a:srgbClr val="000000"/>
                </a:solidFill>
                <a:latin typeface="ISOCPEUR" pitchFamily="34" charset="0"/>
              </a:rPr>
              <a:t>作一侧垂面为辅助面</a:t>
            </a:r>
            <a:endParaRPr lang="zh-CN" altLang="el-GR" sz="1500" b="1" smtClean="0">
              <a:solidFill>
                <a:srgbClr val="000000"/>
              </a:solidFill>
              <a:latin typeface="ISOCPEUR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97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59" grpId="0"/>
      <p:bldP spid="80964" grpId="0" animBg="1"/>
      <p:bldP spid="8096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81"/>
          <p:cNvGrpSpPr>
            <a:grpSpLocks/>
          </p:cNvGrpSpPr>
          <p:nvPr/>
        </p:nvGrpSpPr>
        <p:grpSpPr bwMode="auto">
          <a:xfrm>
            <a:off x="1547813" y="1465263"/>
            <a:ext cx="5089525" cy="4005262"/>
            <a:chOff x="975" y="923"/>
            <a:chExt cx="3206" cy="2523"/>
          </a:xfrm>
        </p:grpSpPr>
        <p:sp>
          <p:nvSpPr>
            <p:cNvPr id="7225" name="Text Box 3"/>
            <p:cNvSpPr txBox="1">
              <a:spLocks noChangeArrowheads="1"/>
            </p:cNvSpPr>
            <p:nvPr/>
          </p:nvSpPr>
          <p:spPr bwMode="auto">
            <a:xfrm>
              <a:off x="2279" y="923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smtClean="0">
                  <a:solidFill>
                    <a:srgbClr val="000000"/>
                  </a:solidFill>
                  <a:latin typeface="ISOCPEUR" pitchFamily="34" charset="0"/>
                </a:rPr>
                <a:t>e’</a:t>
              </a:r>
            </a:p>
          </p:txBody>
        </p:sp>
        <p:grpSp>
          <p:nvGrpSpPr>
            <p:cNvPr id="7226" name="Group 80"/>
            <p:cNvGrpSpPr>
              <a:grpSpLocks/>
            </p:cNvGrpSpPr>
            <p:nvPr/>
          </p:nvGrpSpPr>
          <p:grpSpPr bwMode="auto">
            <a:xfrm>
              <a:off x="975" y="1040"/>
              <a:ext cx="3206" cy="2406"/>
              <a:chOff x="975" y="1040"/>
              <a:chExt cx="3206" cy="2406"/>
            </a:xfrm>
          </p:grpSpPr>
          <p:sp>
            <p:nvSpPr>
              <p:cNvPr id="7227" name="Line 5"/>
              <p:cNvSpPr>
                <a:spLocks noChangeShapeType="1"/>
              </p:cNvSpPr>
              <p:nvPr/>
            </p:nvSpPr>
            <p:spPr bwMode="auto">
              <a:xfrm>
                <a:off x="1175" y="2429"/>
                <a:ext cx="2809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28" name="Line 6"/>
              <p:cNvSpPr>
                <a:spLocks noChangeShapeType="1"/>
              </p:cNvSpPr>
              <p:nvPr/>
            </p:nvSpPr>
            <p:spPr bwMode="auto">
              <a:xfrm flipV="1">
                <a:off x="1535" y="2095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29" name="Line 7"/>
              <p:cNvSpPr>
                <a:spLocks noChangeShapeType="1"/>
              </p:cNvSpPr>
              <p:nvPr/>
            </p:nvSpPr>
            <p:spPr bwMode="auto">
              <a:xfrm flipV="1">
                <a:off x="2648" y="1265"/>
                <a:ext cx="0" cy="140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0" name="Line 8"/>
              <p:cNvSpPr>
                <a:spLocks noChangeShapeType="1"/>
              </p:cNvSpPr>
              <p:nvPr/>
            </p:nvSpPr>
            <p:spPr bwMode="auto">
              <a:xfrm flipV="1">
                <a:off x="2787" y="2095"/>
                <a:ext cx="0" cy="1212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1" name="Line 9"/>
              <p:cNvSpPr>
                <a:spLocks noChangeShapeType="1"/>
              </p:cNvSpPr>
              <p:nvPr/>
            </p:nvSpPr>
            <p:spPr bwMode="auto">
              <a:xfrm flipV="1">
                <a:off x="2297" y="2280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2" name="Freeform 10"/>
              <p:cNvSpPr>
                <a:spLocks/>
              </p:cNvSpPr>
              <p:nvPr/>
            </p:nvSpPr>
            <p:spPr bwMode="auto">
              <a:xfrm>
                <a:off x="1536" y="1261"/>
                <a:ext cx="1249" cy="837"/>
              </a:xfrm>
              <a:custGeom>
                <a:avLst/>
                <a:gdLst>
                  <a:gd name="T0" fmla="*/ 1114 w 1250"/>
                  <a:gd name="T1" fmla="*/ 0 h 837"/>
                  <a:gd name="T2" fmla="*/ 0 w 1250"/>
                  <a:gd name="T3" fmla="*/ 837 h 837"/>
                  <a:gd name="T4" fmla="*/ 1246 w 1250"/>
                  <a:gd name="T5" fmla="*/ 837 h 8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50" h="837">
                    <a:moveTo>
                      <a:pt x="1118" y="0"/>
                    </a:moveTo>
                    <a:lnTo>
                      <a:pt x="0" y="837"/>
                    </a:lnTo>
                    <a:lnTo>
                      <a:pt x="1250" y="837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3" name="Freeform 11"/>
              <p:cNvSpPr>
                <a:spLocks/>
              </p:cNvSpPr>
              <p:nvPr/>
            </p:nvSpPr>
            <p:spPr bwMode="auto">
              <a:xfrm>
                <a:off x="1535" y="2669"/>
                <a:ext cx="1255" cy="640"/>
              </a:xfrm>
              <a:custGeom>
                <a:avLst/>
                <a:gdLst>
                  <a:gd name="T0" fmla="*/ 1113 w 1255"/>
                  <a:gd name="T1" fmla="*/ 0 h 640"/>
                  <a:gd name="T2" fmla="*/ 0 w 1255"/>
                  <a:gd name="T3" fmla="*/ 0 h 640"/>
                  <a:gd name="T4" fmla="*/ 1255 w 1255"/>
                  <a:gd name="T5" fmla="*/ 640 h 6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55" h="640">
                    <a:moveTo>
                      <a:pt x="1113" y="0"/>
                    </a:moveTo>
                    <a:lnTo>
                      <a:pt x="0" y="0"/>
                    </a:lnTo>
                    <a:lnTo>
                      <a:pt x="1255" y="64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4" name="Line 12"/>
              <p:cNvSpPr>
                <a:spLocks noChangeShapeType="1"/>
              </p:cNvSpPr>
              <p:nvPr/>
            </p:nvSpPr>
            <p:spPr bwMode="auto">
              <a:xfrm>
                <a:off x="2298" y="1124"/>
                <a:ext cx="0" cy="3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5" name="Line 13"/>
              <p:cNvSpPr>
                <a:spLocks noChangeShapeType="1"/>
              </p:cNvSpPr>
              <p:nvPr/>
            </p:nvSpPr>
            <p:spPr bwMode="auto">
              <a:xfrm>
                <a:off x="2298" y="2103"/>
                <a:ext cx="0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6" name="Line 14"/>
              <p:cNvSpPr>
                <a:spLocks noChangeShapeType="1"/>
              </p:cNvSpPr>
              <p:nvPr/>
            </p:nvSpPr>
            <p:spPr bwMode="auto">
              <a:xfrm>
                <a:off x="2298" y="2532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7" name="Line 15"/>
              <p:cNvSpPr>
                <a:spLocks noChangeShapeType="1"/>
              </p:cNvSpPr>
              <p:nvPr/>
            </p:nvSpPr>
            <p:spPr bwMode="auto">
              <a:xfrm>
                <a:off x="2298" y="3063"/>
                <a:ext cx="0" cy="2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238" name="Text Box 16"/>
              <p:cNvSpPr txBox="1">
                <a:spLocks noChangeArrowheads="1"/>
              </p:cNvSpPr>
              <p:nvPr/>
            </p:nvSpPr>
            <p:spPr bwMode="auto">
              <a:xfrm>
                <a:off x="975" y="2247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X</a:t>
                </a:r>
              </a:p>
            </p:txBody>
          </p:sp>
          <p:sp>
            <p:nvSpPr>
              <p:cNvPr id="7239" name="Text Box 17"/>
              <p:cNvSpPr txBox="1">
                <a:spLocks noChangeArrowheads="1"/>
              </p:cNvSpPr>
              <p:nvPr/>
            </p:nvSpPr>
            <p:spPr bwMode="auto">
              <a:xfrm>
                <a:off x="2059" y="2212"/>
                <a:ext cx="26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f’</a:t>
                </a:r>
              </a:p>
            </p:txBody>
          </p:sp>
          <p:sp>
            <p:nvSpPr>
              <p:cNvPr id="7240" name="Text Box 18"/>
              <p:cNvSpPr txBox="1">
                <a:spLocks noChangeArrowheads="1"/>
              </p:cNvSpPr>
              <p:nvPr/>
            </p:nvSpPr>
            <p:spPr bwMode="auto">
              <a:xfrm>
                <a:off x="2761" y="1896"/>
                <a:ext cx="23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c’</a:t>
                </a:r>
              </a:p>
            </p:txBody>
          </p:sp>
          <p:sp>
            <p:nvSpPr>
              <p:cNvPr id="7241" name="Text Box 19"/>
              <p:cNvSpPr txBox="1">
                <a:spLocks noChangeArrowheads="1"/>
              </p:cNvSpPr>
              <p:nvPr/>
            </p:nvSpPr>
            <p:spPr bwMode="auto">
              <a:xfrm>
                <a:off x="2629" y="1040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b’</a:t>
                </a:r>
              </a:p>
            </p:txBody>
          </p:sp>
          <p:sp>
            <p:nvSpPr>
              <p:cNvPr id="7242" name="Text Box 20"/>
              <p:cNvSpPr txBox="1">
                <a:spLocks noChangeArrowheads="1"/>
              </p:cNvSpPr>
              <p:nvPr/>
            </p:nvSpPr>
            <p:spPr bwMode="auto">
              <a:xfrm>
                <a:off x="1308" y="1931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a’</a:t>
                </a:r>
              </a:p>
            </p:txBody>
          </p:sp>
          <p:sp>
            <p:nvSpPr>
              <p:cNvPr id="7243" name="Text Box 21"/>
              <p:cNvSpPr txBox="1">
                <a:spLocks noChangeArrowheads="1"/>
              </p:cNvSpPr>
              <p:nvPr/>
            </p:nvSpPr>
            <p:spPr bwMode="auto">
              <a:xfrm>
                <a:off x="3962" y="2250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O</a:t>
                </a:r>
              </a:p>
            </p:txBody>
          </p:sp>
          <p:sp>
            <p:nvSpPr>
              <p:cNvPr id="7244" name="Text Box 22"/>
              <p:cNvSpPr txBox="1">
                <a:spLocks noChangeArrowheads="1"/>
              </p:cNvSpPr>
              <p:nvPr/>
            </p:nvSpPr>
            <p:spPr bwMode="auto">
              <a:xfrm>
                <a:off x="1305" y="2506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a</a:t>
                </a:r>
              </a:p>
            </p:txBody>
          </p:sp>
          <p:sp>
            <p:nvSpPr>
              <p:cNvPr id="7245" name="Text Box 23"/>
              <p:cNvSpPr txBox="1">
                <a:spLocks noChangeArrowheads="1"/>
              </p:cNvSpPr>
              <p:nvPr/>
            </p:nvSpPr>
            <p:spPr bwMode="auto">
              <a:xfrm>
                <a:off x="2062" y="2407"/>
                <a:ext cx="24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f</a:t>
                </a:r>
              </a:p>
            </p:txBody>
          </p:sp>
          <p:sp>
            <p:nvSpPr>
              <p:cNvPr id="7246" name="Text Box 24"/>
              <p:cNvSpPr txBox="1">
                <a:spLocks noChangeArrowheads="1"/>
              </p:cNvSpPr>
              <p:nvPr/>
            </p:nvSpPr>
            <p:spPr bwMode="auto">
              <a:xfrm>
                <a:off x="2267" y="3158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e</a:t>
                </a:r>
              </a:p>
            </p:txBody>
          </p:sp>
          <p:sp>
            <p:nvSpPr>
              <p:cNvPr id="7247" name="Text Box 25"/>
              <p:cNvSpPr txBox="1">
                <a:spLocks noChangeArrowheads="1"/>
              </p:cNvSpPr>
              <p:nvPr/>
            </p:nvSpPr>
            <p:spPr bwMode="auto">
              <a:xfrm>
                <a:off x="2619" y="2439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b</a:t>
                </a:r>
              </a:p>
            </p:txBody>
          </p:sp>
          <p:sp>
            <p:nvSpPr>
              <p:cNvPr id="7248" name="Text Box 26"/>
              <p:cNvSpPr txBox="1">
                <a:spLocks noChangeArrowheads="1"/>
              </p:cNvSpPr>
              <p:nvPr/>
            </p:nvSpPr>
            <p:spPr bwMode="auto">
              <a:xfrm>
                <a:off x="2785" y="3142"/>
                <a:ext cx="19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c</a:t>
                </a:r>
              </a:p>
            </p:txBody>
          </p:sp>
        </p:grpSp>
      </p:grpSp>
      <p:sp>
        <p:nvSpPr>
          <p:cNvPr id="77851" name="Line 27"/>
          <p:cNvSpPr>
            <a:spLocks noChangeShapeType="1"/>
          </p:cNvSpPr>
          <p:nvPr/>
        </p:nvSpPr>
        <p:spPr bwMode="auto">
          <a:xfrm flipV="1">
            <a:off x="2438400" y="1774825"/>
            <a:ext cx="1211263" cy="15414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52" name="Line 28"/>
          <p:cNvSpPr>
            <a:spLocks noChangeShapeType="1"/>
          </p:cNvSpPr>
          <p:nvPr/>
        </p:nvSpPr>
        <p:spPr bwMode="auto">
          <a:xfrm>
            <a:off x="2438400" y="3316288"/>
            <a:ext cx="1211263" cy="2936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53" name="Line 29"/>
          <p:cNvSpPr>
            <a:spLocks noChangeShapeType="1"/>
          </p:cNvSpPr>
          <p:nvPr/>
        </p:nvSpPr>
        <p:spPr bwMode="auto">
          <a:xfrm flipH="1" flipV="1">
            <a:off x="2438400" y="4230688"/>
            <a:ext cx="1209675" cy="10001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54" name="Line 30"/>
          <p:cNvSpPr>
            <a:spLocks noChangeShapeType="1"/>
          </p:cNvSpPr>
          <p:nvPr/>
        </p:nvSpPr>
        <p:spPr bwMode="auto">
          <a:xfrm flipV="1">
            <a:off x="2438400" y="4010025"/>
            <a:ext cx="1209675" cy="2174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55" name="Line 31"/>
          <p:cNvSpPr>
            <a:spLocks noChangeShapeType="1"/>
          </p:cNvSpPr>
          <p:nvPr/>
        </p:nvSpPr>
        <p:spPr bwMode="auto">
          <a:xfrm flipV="1">
            <a:off x="3648075" y="4227513"/>
            <a:ext cx="1588" cy="6254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56" name="Line 32"/>
          <p:cNvSpPr>
            <a:spLocks noChangeShapeType="1"/>
          </p:cNvSpPr>
          <p:nvPr/>
        </p:nvSpPr>
        <p:spPr bwMode="auto">
          <a:xfrm flipV="1">
            <a:off x="3648075" y="2406650"/>
            <a:ext cx="1588" cy="9096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57" name="Line 33"/>
          <p:cNvSpPr>
            <a:spLocks noChangeShapeType="1"/>
          </p:cNvSpPr>
          <p:nvPr/>
        </p:nvSpPr>
        <p:spPr bwMode="auto">
          <a:xfrm flipH="1" flipV="1">
            <a:off x="4202113" y="4241800"/>
            <a:ext cx="223837" cy="10017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58" name="Line 34"/>
          <p:cNvSpPr>
            <a:spLocks noChangeShapeType="1"/>
          </p:cNvSpPr>
          <p:nvPr/>
        </p:nvSpPr>
        <p:spPr bwMode="auto">
          <a:xfrm flipH="1" flipV="1">
            <a:off x="4205288" y="1998663"/>
            <a:ext cx="220662" cy="13223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59" name="Line 35"/>
          <p:cNvSpPr>
            <a:spLocks noChangeShapeType="1"/>
          </p:cNvSpPr>
          <p:nvPr/>
        </p:nvSpPr>
        <p:spPr bwMode="auto">
          <a:xfrm>
            <a:off x="2352675" y="2690813"/>
            <a:ext cx="24765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60" name="Text Box 36"/>
          <p:cNvSpPr txBox="1">
            <a:spLocks noChangeArrowheads="1"/>
          </p:cNvSpPr>
          <p:nvPr/>
        </p:nvSpPr>
        <p:spPr bwMode="auto">
          <a:xfrm>
            <a:off x="1865313" y="2257425"/>
            <a:ext cx="469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P</a:t>
            </a:r>
            <a:r>
              <a:rPr lang="en-US" altLang="zh-CN" sz="2400" b="1" i="1" baseline="-10000" smtClean="0">
                <a:solidFill>
                  <a:srgbClr val="000000"/>
                </a:solidFill>
                <a:latin typeface="ISOCPEUR" pitchFamily="34" charset="0"/>
              </a:rPr>
              <a:t>V</a:t>
            </a:r>
          </a:p>
        </p:txBody>
      </p:sp>
      <p:sp>
        <p:nvSpPr>
          <p:cNvPr id="77861" name="Line 37"/>
          <p:cNvSpPr>
            <a:spLocks noChangeShapeType="1"/>
          </p:cNvSpPr>
          <p:nvPr/>
        </p:nvSpPr>
        <p:spPr bwMode="auto">
          <a:xfrm flipH="1" flipV="1">
            <a:off x="2301875" y="2459038"/>
            <a:ext cx="2244725" cy="54133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62" name="Line 38"/>
          <p:cNvSpPr>
            <a:spLocks noChangeShapeType="1"/>
          </p:cNvSpPr>
          <p:nvPr/>
        </p:nvSpPr>
        <p:spPr bwMode="auto">
          <a:xfrm>
            <a:off x="3278188" y="2693988"/>
            <a:ext cx="0" cy="11525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63" name="Line 39"/>
          <p:cNvSpPr>
            <a:spLocks noChangeShapeType="1"/>
          </p:cNvSpPr>
          <p:nvPr/>
        </p:nvSpPr>
        <p:spPr bwMode="auto">
          <a:xfrm>
            <a:off x="4365625" y="2959100"/>
            <a:ext cx="0" cy="20193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64" name="Line 40"/>
          <p:cNvSpPr>
            <a:spLocks noChangeShapeType="1"/>
          </p:cNvSpPr>
          <p:nvPr/>
        </p:nvSpPr>
        <p:spPr bwMode="auto">
          <a:xfrm>
            <a:off x="3270250" y="4227513"/>
            <a:ext cx="1093788" cy="75247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65" name="Text Box 41"/>
          <p:cNvSpPr txBox="1">
            <a:spLocks noChangeArrowheads="1"/>
          </p:cNvSpPr>
          <p:nvPr/>
        </p:nvSpPr>
        <p:spPr bwMode="auto">
          <a:xfrm>
            <a:off x="4265613" y="2627313"/>
            <a:ext cx="419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4’</a:t>
            </a:r>
          </a:p>
        </p:txBody>
      </p:sp>
      <p:sp>
        <p:nvSpPr>
          <p:cNvPr id="77866" name="Text Box 42"/>
          <p:cNvSpPr txBox="1">
            <a:spLocks noChangeArrowheads="1"/>
          </p:cNvSpPr>
          <p:nvPr/>
        </p:nvSpPr>
        <p:spPr bwMode="auto">
          <a:xfrm>
            <a:off x="3051175" y="2278063"/>
            <a:ext cx="398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3’</a:t>
            </a:r>
          </a:p>
        </p:txBody>
      </p:sp>
      <p:sp>
        <p:nvSpPr>
          <p:cNvPr id="77867" name="Text Box 43"/>
          <p:cNvSpPr txBox="1">
            <a:spLocks noChangeArrowheads="1"/>
          </p:cNvSpPr>
          <p:nvPr/>
        </p:nvSpPr>
        <p:spPr bwMode="auto">
          <a:xfrm>
            <a:off x="3573463" y="2439988"/>
            <a:ext cx="398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2’</a:t>
            </a:r>
          </a:p>
        </p:txBody>
      </p:sp>
      <p:sp>
        <p:nvSpPr>
          <p:cNvPr id="77868" name="Text Box 44"/>
          <p:cNvSpPr txBox="1">
            <a:spLocks noChangeArrowheads="1"/>
          </p:cNvSpPr>
          <p:nvPr/>
        </p:nvSpPr>
        <p:spPr bwMode="auto">
          <a:xfrm>
            <a:off x="2751138" y="2168525"/>
            <a:ext cx="357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1’</a:t>
            </a:r>
          </a:p>
        </p:txBody>
      </p:sp>
      <p:sp>
        <p:nvSpPr>
          <p:cNvPr id="77869" name="Text Box 45"/>
          <p:cNvSpPr txBox="1">
            <a:spLocks noChangeArrowheads="1"/>
          </p:cNvSpPr>
          <p:nvPr/>
        </p:nvSpPr>
        <p:spPr bwMode="auto">
          <a:xfrm>
            <a:off x="4311650" y="4624388"/>
            <a:ext cx="347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4</a:t>
            </a:r>
          </a:p>
        </p:txBody>
      </p:sp>
      <p:sp>
        <p:nvSpPr>
          <p:cNvPr id="77870" name="Text Box 46"/>
          <p:cNvSpPr txBox="1">
            <a:spLocks noChangeArrowheads="1"/>
          </p:cNvSpPr>
          <p:nvPr/>
        </p:nvSpPr>
        <p:spPr bwMode="auto">
          <a:xfrm>
            <a:off x="2963863" y="3848100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3</a:t>
            </a:r>
          </a:p>
        </p:txBody>
      </p:sp>
      <p:sp>
        <p:nvSpPr>
          <p:cNvPr id="77871" name="Text Box 47"/>
          <p:cNvSpPr txBox="1">
            <a:spLocks noChangeArrowheads="1"/>
          </p:cNvSpPr>
          <p:nvPr/>
        </p:nvSpPr>
        <p:spPr bwMode="auto">
          <a:xfrm>
            <a:off x="3703638" y="4244975"/>
            <a:ext cx="265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l</a:t>
            </a:r>
          </a:p>
        </p:txBody>
      </p:sp>
      <p:sp>
        <p:nvSpPr>
          <p:cNvPr id="77872" name="Text Box 48"/>
          <p:cNvSpPr txBox="1">
            <a:spLocks noChangeArrowheads="1"/>
          </p:cNvSpPr>
          <p:nvPr/>
        </p:nvSpPr>
        <p:spPr bwMode="auto">
          <a:xfrm>
            <a:off x="2536825" y="4425950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1</a:t>
            </a:r>
          </a:p>
        </p:txBody>
      </p:sp>
      <p:sp>
        <p:nvSpPr>
          <p:cNvPr id="77873" name="Line 49"/>
          <p:cNvSpPr>
            <a:spLocks noChangeShapeType="1"/>
          </p:cNvSpPr>
          <p:nvPr/>
        </p:nvSpPr>
        <p:spPr bwMode="auto">
          <a:xfrm flipH="1">
            <a:off x="2979738" y="4565650"/>
            <a:ext cx="663575" cy="1143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74" name="Line 50"/>
          <p:cNvSpPr>
            <a:spLocks noChangeShapeType="1"/>
          </p:cNvSpPr>
          <p:nvPr/>
        </p:nvSpPr>
        <p:spPr bwMode="auto">
          <a:xfrm>
            <a:off x="2979738" y="2620963"/>
            <a:ext cx="0" cy="122713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75" name="Text Box 51"/>
          <p:cNvSpPr txBox="1">
            <a:spLocks noChangeArrowheads="1"/>
          </p:cNvSpPr>
          <p:nvPr/>
        </p:nvSpPr>
        <p:spPr bwMode="auto">
          <a:xfrm>
            <a:off x="3278188" y="2744788"/>
            <a:ext cx="398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k’</a:t>
            </a:r>
          </a:p>
        </p:txBody>
      </p:sp>
      <p:sp>
        <p:nvSpPr>
          <p:cNvPr id="77876" name="Text Box 52"/>
          <p:cNvSpPr txBox="1">
            <a:spLocks noChangeArrowheads="1"/>
          </p:cNvSpPr>
          <p:nvPr/>
        </p:nvSpPr>
        <p:spPr bwMode="auto">
          <a:xfrm>
            <a:off x="3673475" y="26225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l’</a:t>
            </a:r>
          </a:p>
        </p:txBody>
      </p:sp>
      <p:sp>
        <p:nvSpPr>
          <p:cNvPr id="77877" name="Line 53"/>
          <p:cNvSpPr>
            <a:spLocks noChangeShapeType="1"/>
          </p:cNvSpPr>
          <p:nvPr/>
        </p:nvSpPr>
        <p:spPr bwMode="auto">
          <a:xfrm flipV="1">
            <a:off x="3738563" y="3838575"/>
            <a:ext cx="0" cy="7096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78" name="Line 54"/>
          <p:cNvSpPr>
            <a:spLocks noChangeShapeType="1"/>
          </p:cNvSpPr>
          <p:nvPr/>
        </p:nvSpPr>
        <p:spPr bwMode="auto">
          <a:xfrm>
            <a:off x="2443163" y="4229100"/>
            <a:ext cx="1290637" cy="3143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79" name="Line 55"/>
          <p:cNvSpPr>
            <a:spLocks noChangeShapeType="1"/>
          </p:cNvSpPr>
          <p:nvPr/>
        </p:nvSpPr>
        <p:spPr bwMode="auto">
          <a:xfrm flipV="1">
            <a:off x="2443163" y="2805113"/>
            <a:ext cx="1290637" cy="5095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80" name="Text Box 56"/>
          <p:cNvSpPr txBox="1">
            <a:spLocks noChangeArrowheads="1"/>
          </p:cNvSpPr>
          <p:nvPr/>
        </p:nvSpPr>
        <p:spPr bwMode="auto">
          <a:xfrm>
            <a:off x="3371850" y="4171950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k</a:t>
            </a:r>
          </a:p>
        </p:txBody>
      </p:sp>
      <p:sp>
        <p:nvSpPr>
          <p:cNvPr id="77881" name="Line 57"/>
          <p:cNvSpPr>
            <a:spLocks noChangeShapeType="1"/>
          </p:cNvSpPr>
          <p:nvPr/>
        </p:nvSpPr>
        <p:spPr bwMode="auto">
          <a:xfrm flipV="1">
            <a:off x="3646488" y="4511675"/>
            <a:ext cx="0" cy="336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82" name="Line 58"/>
          <p:cNvSpPr>
            <a:spLocks noChangeShapeType="1"/>
          </p:cNvSpPr>
          <p:nvPr/>
        </p:nvSpPr>
        <p:spPr bwMode="auto">
          <a:xfrm flipH="1">
            <a:off x="3646488" y="4268788"/>
            <a:ext cx="4762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83" name="Line 59"/>
          <p:cNvSpPr>
            <a:spLocks noChangeShapeType="1"/>
          </p:cNvSpPr>
          <p:nvPr/>
        </p:nvSpPr>
        <p:spPr bwMode="auto">
          <a:xfrm>
            <a:off x="3648075" y="2413000"/>
            <a:ext cx="0" cy="411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84" name="Oval 60"/>
          <p:cNvSpPr>
            <a:spLocks noChangeArrowheads="1"/>
          </p:cNvSpPr>
          <p:nvPr/>
        </p:nvSpPr>
        <p:spPr bwMode="auto">
          <a:xfrm>
            <a:off x="3619500" y="2808288"/>
            <a:ext cx="58738" cy="587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77885" name="Line 61"/>
          <p:cNvSpPr>
            <a:spLocks noChangeShapeType="1"/>
          </p:cNvSpPr>
          <p:nvPr/>
        </p:nvSpPr>
        <p:spPr bwMode="auto">
          <a:xfrm>
            <a:off x="3648075" y="290830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86" name="Oval 62"/>
          <p:cNvSpPr>
            <a:spLocks noChangeArrowheads="1"/>
          </p:cNvSpPr>
          <p:nvPr/>
        </p:nvSpPr>
        <p:spPr bwMode="auto">
          <a:xfrm>
            <a:off x="3616325" y="4492625"/>
            <a:ext cx="58738" cy="587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77887" name="Line 63"/>
          <p:cNvSpPr>
            <a:spLocks noChangeShapeType="1"/>
          </p:cNvSpPr>
          <p:nvPr/>
        </p:nvSpPr>
        <p:spPr bwMode="auto">
          <a:xfrm>
            <a:off x="2979738" y="3848100"/>
            <a:ext cx="0" cy="8318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88" name="Line 64"/>
          <p:cNvSpPr>
            <a:spLocks noChangeShapeType="1"/>
          </p:cNvSpPr>
          <p:nvPr/>
        </p:nvSpPr>
        <p:spPr bwMode="auto">
          <a:xfrm>
            <a:off x="3278188" y="3844925"/>
            <a:ext cx="0" cy="382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89" name="Line 65"/>
          <p:cNvSpPr>
            <a:spLocks noChangeShapeType="1"/>
          </p:cNvSpPr>
          <p:nvPr/>
        </p:nvSpPr>
        <p:spPr bwMode="auto">
          <a:xfrm flipV="1">
            <a:off x="3738563" y="2805113"/>
            <a:ext cx="0" cy="10350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210" name="Rectangle 67"/>
          <p:cNvSpPr>
            <a:spLocks noChangeArrowheads="1"/>
          </p:cNvSpPr>
          <p:nvPr/>
        </p:nvSpPr>
        <p:spPr bwMode="auto">
          <a:xfrm>
            <a:off x="1187450" y="546100"/>
            <a:ext cx="5951538" cy="5983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77893" name="Text Box 69"/>
          <p:cNvSpPr txBox="1">
            <a:spLocks noChangeArrowheads="1"/>
          </p:cNvSpPr>
          <p:nvPr/>
        </p:nvSpPr>
        <p:spPr bwMode="auto">
          <a:xfrm>
            <a:off x="3552825" y="4452938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2</a:t>
            </a:r>
          </a:p>
        </p:txBody>
      </p:sp>
      <p:sp>
        <p:nvSpPr>
          <p:cNvPr id="77894" name="Line 70"/>
          <p:cNvSpPr>
            <a:spLocks noChangeShapeType="1"/>
          </p:cNvSpPr>
          <p:nvPr/>
        </p:nvSpPr>
        <p:spPr bwMode="auto">
          <a:xfrm flipH="1">
            <a:off x="3648075" y="4548188"/>
            <a:ext cx="88900" cy="1587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7899" name="Oval 75"/>
          <p:cNvSpPr>
            <a:spLocks noChangeArrowheads="1"/>
          </p:cNvSpPr>
          <p:nvPr/>
        </p:nvSpPr>
        <p:spPr bwMode="auto">
          <a:xfrm>
            <a:off x="2414588" y="3286125"/>
            <a:ext cx="66675" cy="66675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77900" name="Oval 76"/>
          <p:cNvSpPr>
            <a:spLocks noChangeArrowheads="1"/>
          </p:cNvSpPr>
          <p:nvPr/>
        </p:nvSpPr>
        <p:spPr bwMode="auto">
          <a:xfrm>
            <a:off x="2411413" y="4208463"/>
            <a:ext cx="66675" cy="66675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77903" name="Text Box 79"/>
          <p:cNvSpPr txBox="1">
            <a:spLocks noChangeArrowheads="1"/>
          </p:cNvSpPr>
          <p:nvPr/>
        </p:nvSpPr>
        <p:spPr bwMode="auto">
          <a:xfrm>
            <a:off x="5292725" y="2645476"/>
            <a:ext cx="3851275" cy="55399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 smtClean="0">
                <a:latin typeface="ISOCPEUR" pitchFamily="34" charset="0"/>
              </a:rPr>
              <a:t>方法</a:t>
            </a:r>
            <a:r>
              <a:rPr lang="en-US" altLang="zh-CN" sz="1500" b="1" dirty="0" smtClean="0">
                <a:latin typeface="ISOCPEUR" pitchFamily="34" charset="0"/>
              </a:rPr>
              <a:t>2 </a:t>
            </a:r>
            <a:r>
              <a:rPr lang="zh-CN" altLang="en-US" sz="1500" b="1" dirty="0" smtClean="0">
                <a:latin typeface="ISOCPEUR" pitchFamily="34" charset="0"/>
              </a:rPr>
              <a:t>：</a:t>
            </a:r>
            <a:endParaRPr lang="en-US" altLang="zh-CN" sz="1500" b="1" dirty="0" smtClean="0">
              <a:latin typeface="ISOCPEUR" pitchFamily="34" charset="0"/>
            </a:endParaRP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 smtClean="0">
                <a:latin typeface="ISOCPEUR" pitchFamily="34" charset="0"/>
              </a:rPr>
              <a:t>求解</a:t>
            </a:r>
            <a:r>
              <a:rPr lang="zh-CN" altLang="en-US" sz="1500" b="1" dirty="0">
                <a:latin typeface="ISOCPEUR" pitchFamily="34" charset="0"/>
              </a:rPr>
              <a:t>△</a:t>
            </a:r>
            <a:r>
              <a:rPr lang="en-US" altLang="zh-CN" sz="1500" b="1" dirty="0">
                <a:latin typeface="ISOCPEUR" pitchFamily="34" charset="0"/>
              </a:rPr>
              <a:t>ABC</a:t>
            </a:r>
            <a:r>
              <a:rPr lang="zh-CN" altLang="en-US" sz="1500" b="1" dirty="0">
                <a:latin typeface="ISOCPEUR" pitchFamily="34" charset="0"/>
              </a:rPr>
              <a:t>与△</a:t>
            </a:r>
            <a:r>
              <a:rPr lang="en-US" altLang="zh-CN" sz="1500" b="1" dirty="0">
                <a:latin typeface="ISOCPEUR" pitchFamily="34" charset="0"/>
              </a:rPr>
              <a:t>AEF</a:t>
            </a:r>
            <a:r>
              <a:rPr lang="zh-CN" altLang="en-US" sz="1500" b="1" dirty="0" smtClean="0">
                <a:latin typeface="ISOCPEUR" pitchFamily="34" charset="0"/>
              </a:rPr>
              <a:t>的另一个交点</a:t>
            </a:r>
            <a:endParaRPr lang="el-GR" altLang="zh-CN" sz="1500" dirty="0" smtClean="0">
              <a:latin typeface="宋体" charset="-122"/>
            </a:endParaRPr>
          </a:p>
        </p:txBody>
      </p:sp>
      <p:sp>
        <p:nvSpPr>
          <p:cNvPr id="77901" name="Text Box 77"/>
          <p:cNvSpPr txBox="1">
            <a:spLocks noChangeArrowheads="1"/>
          </p:cNvSpPr>
          <p:nvPr/>
        </p:nvSpPr>
        <p:spPr bwMode="auto">
          <a:xfrm>
            <a:off x="5292725" y="1944344"/>
            <a:ext cx="3851275" cy="5492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 smtClean="0">
                <a:solidFill>
                  <a:srgbClr val="000000"/>
                </a:solidFill>
                <a:latin typeface="ISOCPEUR" pitchFamily="34" charset="0"/>
              </a:rPr>
              <a:t>提示：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 smtClean="0">
                <a:solidFill>
                  <a:srgbClr val="000000"/>
                </a:solidFill>
                <a:latin typeface="ISOCPEUR" pitchFamily="34" charset="0"/>
              </a:rPr>
              <a:t>点</a:t>
            </a:r>
            <a:r>
              <a:rPr lang="en-US" altLang="zh-CN" sz="1500" b="1" dirty="0" smtClean="0">
                <a:solidFill>
                  <a:srgbClr val="000000"/>
                </a:solidFill>
                <a:latin typeface="ISOCPEUR" pitchFamily="34" charset="0"/>
              </a:rPr>
              <a:t>A</a:t>
            </a:r>
            <a:r>
              <a:rPr lang="zh-CN" altLang="en-US" sz="1500" b="1" dirty="0" smtClean="0">
                <a:solidFill>
                  <a:srgbClr val="000000"/>
                </a:solidFill>
                <a:latin typeface="ISOCPEUR" pitchFamily="34" charset="0"/>
              </a:rPr>
              <a:t>为△</a:t>
            </a:r>
            <a:r>
              <a:rPr lang="en-US" altLang="zh-CN" sz="1500" b="1" dirty="0" smtClean="0">
                <a:solidFill>
                  <a:srgbClr val="000000"/>
                </a:solidFill>
                <a:latin typeface="ISOCPEUR" pitchFamily="34" charset="0"/>
              </a:rPr>
              <a:t>ABC</a:t>
            </a:r>
            <a:r>
              <a:rPr lang="zh-CN" altLang="en-US" sz="1500" b="1" dirty="0" smtClean="0">
                <a:solidFill>
                  <a:srgbClr val="000000"/>
                </a:solidFill>
                <a:latin typeface="ISOCPEUR" pitchFamily="34" charset="0"/>
              </a:rPr>
              <a:t>与△</a:t>
            </a:r>
            <a:r>
              <a:rPr lang="en-US" altLang="zh-CN" sz="1500" b="1" dirty="0" smtClean="0">
                <a:solidFill>
                  <a:srgbClr val="000000"/>
                </a:solidFill>
                <a:latin typeface="ISOCPEUR" pitchFamily="34" charset="0"/>
              </a:rPr>
              <a:t>AEF</a:t>
            </a:r>
            <a:r>
              <a:rPr lang="zh-CN" altLang="en-US" sz="1500" b="1" dirty="0" smtClean="0">
                <a:solidFill>
                  <a:srgbClr val="000000"/>
                </a:solidFill>
                <a:latin typeface="ISOCPEUR" pitchFamily="34" charset="0"/>
              </a:rPr>
              <a:t>的共有点！</a:t>
            </a:r>
            <a:r>
              <a:rPr lang="zh-CN" altLang="en-US" sz="1500" dirty="0" smtClean="0">
                <a:solidFill>
                  <a:srgbClr val="000000"/>
                </a:solidFill>
                <a:latin typeface="宋体" charset="-122"/>
              </a:rPr>
              <a:t> </a:t>
            </a:r>
            <a:endParaRPr lang="zh-CN" altLang="el-GR" sz="1500" dirty="0" smtClean="0">
              <a:solidFill>
                <a:srgbClr val="000000"/>
              </a:solidFill>
              <a:latin typeface="宋体" charset="-122"/>
            </a:endParaRPr>
          </a:p>
        </p:txBody>
      </p:sp>
      <p:sp>
        <p:nvSpPr>
          <p:cNvPr id="7223" name="Text Box 8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2-2-2-3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　求直线 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EF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与由两相交直线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AB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、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AC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确定的平面的交点，并判断可见性。</a:t>
            </a:r>
          </a:p>
        </p:txBody>
      </p:sp>
      <p:sp>
        <p:nvSpPr>
          <p:cNvPr id="7224" name="Oval 84"/>
          <p:cNvSpPr>
            <a:spLocks noChangeArrowheads="1"/>
          </p:cNvSpPr>
          <p:nvPr/>
        </p:nvSpPr>
        <p:spPr bwMode="auto">
          <a:xfrm>
            <a:off x="200025" y="469900"/>
            <a:ext cx="514350" cy="4826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79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7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7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7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7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7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0"/>
                                        <p:tgtEl>
                                          <p:spTgt spid="7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7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7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3" dur="500"/>
                                        <p:tgtEl>
                                          <p:spTgt spid="778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77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77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77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7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7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77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77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7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7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7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7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77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4" dur="500"/>
                                        <p:tgtEl>
                                          <p:spTgt spid="778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77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77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7" dur="500"/>
                                        <p:tgtEl>
                                          <p:spTgt spid="778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000"/>
                            </p:stCondLst>
                            <p:childTnLst>
                              <p:par>
                                <p:cTn id="1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77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51" grpId="0" animBg="1"/>
      <p:bldP spid="77852" grpId="0" animBg="1"/>
      <p:bldP spid="77853" grpId="0" animBg="1"/>
      <p:bldP spid="77854" grpId="0" animBg="1"/>
      <p:bldP spid="77855" grpId="0" animBg="1"/>
      <p:bldP spid="77855" grpId="1" animBg="1"/>
      <p:bldP spid="77856" grpId="0" animBg="1"/>
      <p:bldP spid="77856" grpId="1" animBg="1"/>
      <p:bldP spid="77857" grpId="0" animBg="1"/>
      <p:bldP spid="77858" grpId="0" animBg="1"/>
      <p:bldP spid="77859" grpId="0" animBg="1"/>
      <p:bldP spid="77859" grpId="1" animBg="1"/>
      <p:bldP spid="77860" grpId="0"/>
      <p:bldP spid="77861" grpId="0" animBg="1"/>
      <p:bldP spid="77862" grpId="0" animBg="1"/>
      <p:bldP spid="77863" grpId="0" animBg="1"/>
      <p:bldP spid="77864" grpId="0" animBg="1"/>
      <p:bldP spid="77865" grpId="0"/>
      <p:bldP spid="77866" grpId="0"/>
      <p:bldP spid="77867" grpId="0"/>
      <p:bldP spid="77868" grpId="0"/>
      <p:bldP spid="77869" grpId="0"/>
      <p:bldP spid="77870" grpId="0"/>
      <p:bldP spid="77872" grpId="0"/>
      <p:bldP spid="77873" grpId="0" animBg="1"/>
      <p:bldP spid="77874" grpId="0" animBg="1"/>
      <p:bldP spid="77875" grpId="0"/>
      <p:bldP spid="77876" grpId="0"/>
      <p:bldP spid="77877" grpId="0" animBg="1"/>
      <p:bldP spid="77878" grpId="0" animBg="1"/>
      <p:bldP spid="77879" grpId="0" animBg="1"/>
      <p:bldP spid="77880" grpId="0"/>
      <p:bldP spid="77881" grpId="0" animBg="1"/>
      <p:bldP spid="77882" grpId="0" animBg="1"/>
      <p:bldP spid="77883" grpId="0" animBg="1"/>
      <p:bldP spid="77884" grpId="0" animBg="1"/>
      <p:bldP spid="77885" grpId="0" animBg="1"/>
      <p:bldP spid="77886" grpId="0" animBg="1"/>
      <p:bldP spid="77887" grpId="0" animBg="1"/>
      <p:bldP spid="77888" grpId="0" animBg="1"/>
      <p:bldP spid="77889" grpId="0" animBg="1"/>
      <p:bldP spid="77894" grpId="0" animBg="1"/>
      <p:bldP spid="77899" grpId="0" animBg="1"/>
      <p:bldP spid="77900" grpId="0" animBg="1"/>
      <p:bldP spid="77903" grpId="0" animBg="1"/>
      <p:bldP spid="7790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71"/>
          <p:cNvGrpSpPr>
            <a:grpSpLocks/>
          </p:cNvGrpSpPr>
          <p:nvPr/>
        </p:nvGrpSpPr>
        <p:grpSpPr bwMode="auto">
          <a:xfrm>
            <a:off x="1549400" y="1455738"/>
            <a:ext cx="6262688" cy="4005262"/>
            <a:chOff x="976" y="917"/>
            <a:chExt cx="3945" cy="2523"/>
          </a:xfrm>
        </p:grpSpPr>
        <p:sp>
          <p:nvSpPr>
            <p:cNvPr id="8238" name="Text Box 3"/>
            <p:cNvSpPr txBox="1">
              <a:spLocks noChangeArrowheads="1"/>
            </p:cNvSpPr>
            <p:nvPr/>
          </p:nvSpPr>
          <p:spPr bwMode="auto">
            <a:xfrm>
              <a:off x="2280" y="917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smtClean="0">
                  <a:solidFill>
                    <a:srgbClr val="000000"/>
                  </a:solidFill>
                  <a:latin typeface="ISOCPEUR" pitchFamily="34" charset="0"/>
                </a:rPr>
                <a:t>e’</a:t>
              </a:r>
            </a:p>
          </p:txBody>
        </p:sp>
        <p:grpSp>
          <p:nvGrpSpPr>
            <p:cNvPr id="8239" name="Group 70"/>
            <p:cNvGrpSpPr>
              <a:grpSpLocks/>
            </p:cNvGrpSpPr>
            <p:nvPr/>
          </p:nvGrpSpPr>
          <p:grpSpPr bwMode="auto">
            <a:xfrm>
              <a:off x="976" y="1034"/>
              <a:ext cx="3945" cy="2406"/>
              <a:chOff x="976" y="1034"/>
              <a:chExt cx="3945" cy="2406"/>
            </a:xfrm>
          </p:grpSpPr>
          <p:sp>
            <p:nvSpPr>
              <p:cNvPr id="8240" name="Line 5"/>
              <p:cNvSpPr>
                <a:spLocks noChangeShapeType="1"/>
              </p:cNvSpPr>
              <p:nvPr/>
            </p:nvSpPr>
            <p:spPr bwMode="auto">
              <a:xfrm>
                <a:off x="1176" y="2423"/>
                <a:ext cx="2809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8241" name="Line 6"/>
              <p:cNvSpPr>
                <a:spLocks noChangeShapeType="1"/>
              </p:cNvSpPr>
              <p:nvPr/>
            </p:nvSpPr>
            <p:spPr bwMode="auto">
              <a:xfrm flipV="1">
                <a:off x="1536" y="2089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8242" name="Line 7"/>
              <p:cNvSpPr>
                <a:spLocks noChangeShapeType="1"/>
              </p:cNvSpPr>
              <p:nvPr/>
            </p:nvSpPr>
            <p:spPr bwMode="auto">
              <a:xfrm flipV="1">
                <a:off x="2649" y="1259"/>
                <a:ext cx="0" cy="140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8243" name="Line 8"/>
              <p:cNvSpPr>
                <a:spLocks noChangeShapeType="1"/>
              </p:cNvSpPr>
              <p:nvPr/>
            </p:nvSpPr>
            <p:spPr bwMode="auto">
              <a:xfrm flipV="1">
                <a:off x="2788" y="2089"/>
                <a:ext cx="0" cy="1212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8244" name="Line 9"/>
              <p:cNvSpPr>
                <a:spLocks noChangeShapeType="1"/>
              </p:cNvSpPr>
              <p:nvPr/>
            </p:nvSpPr>
            <p:spPr bwMode="auto">
              <a:xfrm flipV="1">
                <a:off x="2298" y="2274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8245" name="Freeform 10"/>
              <p:cNvSpPr>
                <a:spLocks/>
              </p:cNvSpPr>
              <p:nvPr/>
            </p:nvSpPr>
            <p:spPr bwMode="auto">
              <a:xfrm>
                <a:off x="1537" y="1255"/>
                <a:ext cx="1249" cy="837"/>
              </a:xfrm>
              <a:custGeom>
                <a:avLst/>
                <a:gdLst>
                  <a:gd name="T0" fmla="*/ 1114 w 1250"/>
                  <a:gd name="T1" fmla="*/ 0 h 837"/>
                  <a:gd name="T2" fmla="*/ 0 w 1250"/>
                  <a:gd name="T3" fmla="*/ 837 h 837"/>
                  <a:gd name="T4" fmla="*/ 1246 w 1250"/>
                  <a:gd name="T5" fmla="*/ 837 h 8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50" h="837">
                    <a:moveTo>
                      <a:pt x="1118" y="0"/>
                    </a:moveTo>
                    <a:lnTo>
                      <a:pt x="0" y="837"/>
                    </a:lnTo>
                    <a:lnTo>
                      <a:pt x="1250" y="837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8246" name="Freeform 11"/>
              <p:cNvSpPr>
                <a:spLocks/>
              </p:cNvSpPr>
              <p:nvPr/>
            </p:nvSpPr>
            <p:spPr bwMode="auto">
              <a:xfrm>
                <a:off x="1536" y="2663"/>
                <a:ext cx="1255" cy="640"/>
              </a:xfrm>
              <a:custGeom>
                <a:avLst/>
                <a:gdLst>
                  <a:gd name="T0" fmla="*/ 1113 w 1255"/>
                  <a:gd name="T1" fmla="*/ 0 h 640"/>
                  <a:gd name="T2" fmla="*/ 0 w 1255"/>
                  <a:gd name="T3" fmla="*/ 0 h 640"/>
                  <a:gd name="T4" fmla="*/ 1255 w 1255"/>
                  <a:gd name="T5" fmla="*/ 640 h 6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55" h="640">
                    <a:moveTo>
                      <a:pt x="1113" y="0"/>
                    </a:moveTo>
                    <a:lnTo>
                      <a:pt x="0" y="0"/>
                    </a:lnTo>
                    <a:lnTo>
                      <a:pt x="1255" y="64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8247" name="Line 12"/>
              <p:cNvSpPr>
                <a:spLocks noChangeShapeType="1"/>
              </p:cNvSpPr>
              <p:nvPr/>
            </p:nvSpPr>
            <p:spPr bwMode="auto">
              <a:xfrm>
                <a:off x="2299" y="1118"/>
                <a:ext cx="0" cy="3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8248" name="Line 13"/>
              <p:cNvSpPr>
                <a:spLocks noChangeShapeType="1"/>
              </p:cNvSpPr>
              <p:nvPr/>
            </p:nvSpPr>
            <p:spPr bwMode="auto">
              <a:xfrm>
                <a:off x="2299" y="2097"/>
                <a:ext cx="0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8249" name="Line 14"/>
              <p:cNvSpPr>
                <a:spLocks noChangeShapeType="1"/>
              </p:cNvSpPr>
              <p:nvPr/>
            </p:nvSpPr>
            <p:spPr bwMode="auto">
              <a:xfrm>
                <a:off x="2299" y="2526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8250" name="Line 15"/>
              <p:cNvSpPr>
                <a:spLocks noChangeShapeType="1"/>
              </p:cNvSpPr>
              <p:nvPr/>
            </p:nvSpPr>
            <p:spPr bwMode="auto">
              <a:xfrm>
                <a:off x="2299" y="3057"/>
                <a:ext cx="0" cy="2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8251" name="Text Box 16"/>
              <p:cNvSpPr txBox="1">
                <a:spLocks noChangeArrowheads="1"/>
              </p:cNvSpPr>
              <p:nvPr/>
            </p:nvSpPr>
            <p:spPr bwMode="auto">
              <a:xfrm>
                <a:off x="976" y="2241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X</a:t>
                </a:r>
              </a:p>
            </p:txBody>
          </p:sp>
          <p:sp>
            <p:nvSpPr>
              <p:cNvPr id="8252" name="Text Box 17"/>
              <p:cNvSpPr txBox="1">
                <a:spLocks noChangeArrowheads="1"/>
              </p:cNvSpPr>
              <p:nvPr/>
            </p:nvSpPr>
            <p:spPr bwMode="auto">
              <a:xfrm>
                <a:off x="2060" y="2206"/>
                <a:ext cx="231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f’</a:t>
                </a:r>
              </a:p>
            </p:txBody>
          </p:sp>
          <p:sp>
            <p:nvSpPr>
              <p:cNvPr id="8253" name="Text Box 18"/>
              <p:cNvSpPr txBox="1">
                <a:spLocks noChangeArrowheads="1"/>
              </p:cNvSpPr>
              <p:nvPr/>
            </p:nvSpPr>
            <p:spPr bwMode="auto">
              <a:xfrm>
                <a:off x="2762" y="1890"/>
                <a:ext cx="23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c’</a:t>
                </a:r>
              </a:p>
            </p:txBody>
          </p:sp>
          <p:sp>
            <p:nvSpPr>
              <p:cNvPr id="8254" name="Text Box 19"/>
              <p:cNvSpPr txBox="1">
                <a:spLocks noChangeArrowheads="1"/>
              </p:cNvSpPr>
              <p:nvPr/>
            </p:nvSpPr>
            <p:spPr bwMode="auto">
              <a:xfrm>
                <a:off x="2630" y="1034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b’</a:t>
                </a:r>
              </a:p>
            </p:txBody>
          </p:sp>
          <p:sp>
            <p:nvSpPr>
              <p:cNvPr id="8255" name="Text Box 20"/>
              <p:cNvSpPr txBox="1">
                <a:spLocks noChangeArrowheads="1"/>
              </p:cNvSpPr>
              <p:nvPr/>
            </p:nvSpPr>
            <p:spPr bwMode="auto">
              <a:xfrm>
                <a:off x="1309" y="1925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a’</a:t>
                </a:r>
              </a:p>
            </p:txBody>
          </p:sp>
          <p:sp>
            <p:nvSpPr>
              <p:cNvPr id="8256" name="Text Box 21"/>
              <p:cNvSpPr txBox="1">
                <a:spLocks noChangeArrowheads="1"/>
              </p:cNvSpPr>
              <p:nvPr/>
            </p:nvSpPr>
            <p:spPr bwMode="auto">
              <a:xfrm>
                <a:off x="3963" y="2244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O</a:t>
                </a:r>
              </a:p>
            </p:txBody>
          </p:sp>
          <p:sp>
            <p:nvSpPr>
              <p:cNvPr id="8257" name="Text Box 22"/>
              <p:cNvSpPr txBox="1">
                <a:spLocks noChangeArrowheads="1"/>
              </p:cNvSpPr>
              <p:nvPr/>
            </p:nvSpPr>
            <p:spPr bwMode="auto">
              <a:xfrm>
                <a:off x="1306" y="2500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a</a:t>
                </a:r>
              </a:p>
            </p:txBody>
          </p:sp>
          <p:sp>
            <p:nvSpPr>
              <p:cNvPr id="8258" name="Text Box 23"/>
              <p:cNvSpPr txBox="1">
                <a:spLocks noChangeArrowheads="1"/>
              </p:cNvSpPr>
              <p:nvPr/>
            </p:nvSpPr>
            <p:spPr bwMode="auto">
              <a:xfrm>
                <a:off x="2072" y="2417"/>
                <a:ext cx="284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f</a:t>
                </a:r>
              </a:p>
            </p:txBody>
          </p:sp>
          <p:sp>
            <p:nvSpPr>
              <p:cNvPr id="8259" name="Text Box 24"/>
              <p:cNvSpPr txBox="1">
                <a:spLocks noChangeArrowheads="1"/>
              </p:cNvSpPr>
              <p:nvPr/>
            </p:nvSpPr>
            <p:spPr bwMode="auto">
              <a:xfrm>
                <a:off x="2268" y="3152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e</a:t>
                </a:r>
              </a:p>
            </p:txBody>
          </p:sp>
          <p:sp>
            <p:nvSpPr>
              <p:cNvPr id="8260" name="Text Box 25"/>
              <p:cNvSpPr txBox="1">
                <a:spLocks noChangeArrowheads="1"/>
              </p:cNvSpPr>
              <p:nvPr/>
            </p:nvSpPr>
            <p:spPr bwMode="auto">
              <a:xfrm>
                <a:off x="2620" y="2433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b</a:t>
                </a:r>
              </a:p>
            </p:txBody>
          </p:sp>
          <p:sp>
            <p:nvSpPr>
              <p:cNvPr id="8261" name="Text Box 26"/>
              <p:cNvSpPr txBox="1">
                <a:spLocks noChangeArrowheads="1"/>
              </p:cNvSpPr>
              <p:nvPr/>
            </p:nvSpPr>
            <p:spPr bwMode="auto">
              <a:xfrm>
                <a:off x="2786" y="3136"/>
                <a:ext cx="19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c</a:t>
                </a:r>
              </a:p>
            </p:txBody>
          </p:sp>
        </p:grpSp>
      </p:grpSp>
      <p:sp>
        <p:nvSpPr>
          <p:cNvPr id="78875" name="Line 27"/>
          <p:cNvSpPr>
            <a:spLocks noChangeShapeType="1"/>
          </p:cNvSpPr>
          <p:nvPr/>
        </p:nvSpPr>
        <p:spPr bwMode="auto">
          <a:xfrm flipV="1">
            <a:off x="2438400" y="1774825"/>
            <a:ext cx="1211263" cy="15414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876" name="Line 28"/>
          <p:cNvSpPr>
            <a:spLocks noChangeShapeType="1"/>
          </p:cNvSpPr>
          <p:nvPr/>
        </p:nvSpPr>
        <p:spPr bwMode="auto">
          <a:xfrm>
            <a:off x="2438400" y="3316288"/>
            <a:ext cx="1211263" cy="2936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877" name="Line 29"/>
          <p:cNvSpPr>
            <a:spLocks noChangeShapeType="1"/>
          </p:cNvSpPr>
          <p:nvPr/>
        </p:nvSpPr>
        <p:spPr bwMode="auto">
          <a:xfrm flipH="1" flipV="1">
            <a:off x="2438400" y="4230688"/>
            <a:ext cx="1209675" cy="10001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878" name="Line 30"/>
          <p:cNvSpPr>
            <a:spLocks noChangeShapeType="1"/>
          </p:cNvSpPr>
          <p:nvPr/>
        </p:nvSpPr>
        <p:spPr bwMode="auto">
          <a:xfrm flipV="1">
            <a:off x="2438400" y="4010025"/>
            <a:ext cx="1209675" cy="2174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879" name="Line 31"/>
          <p:cNvSpPr>
            <a:spLocks noChangeShapeType="1"/>
          </p:cNvSpPr>
          <p:nvPr/>
        </p:nvSpPr>
        <p:spPr bwMode="auto">
          <a:xfrm flipV="1">
            <a:off x="3648075" y="4227513"/>
            <a:ext cx="1588" cy="6254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880" name="Line 32"/>
          <p:cNvSpPr>
            <a:spLocks noChangeShapeType="1"/>
          </p:cNvSpPr>
          <p:nvPr/>
        </p:nvSpPr>
        <p:spPr bwMode="auto">
          <a:xfrm flipV="1">
            <a:off x="3648075" y="2406650"/>
            <a:ext cx="1588" cy="9096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881" name="Line 33"/>
          <p:cNvSpPr>
            <a:spLocks noChangeShapeType="1"/>
          </p:cNvSpPr>
          <p:nvPr/>
        </p:nvSpPr>
        <p:spPr bwMode="auto">
          <a:xfrm flipH="1" flipV="1">
            <a:off x="4205288" y="4227513"/>
            <a:ext cx="220662" cy="10160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882" name="Line 34"/>
          <p:cNvSpPr>
            <a:spLocks noChangeShapeType="1"/>
          </p:cNvSpPr>
          <p:nvPr/>
        </p:nvSpPr>
        <p:spPr bwMode="auto">
          <a:xfrm flipH="1" flipV="1">
            <a:off x="4205288" y="1998663"/>
            <a:ext cx="220662" cy="13223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883" name="Text Box 35"/>
          <p:cNvSpPr txBox="1">
            <a:spLocks noChangeArrowheads="1"/>
          </p:cNvSpPr>
          <p:nvPr/>
        </p:nvSpPr>
        <p:spPr bwMode="auto">
          <a:xfrm>
            <a:off x="1928813" y="2371725"/>
            <a:ext cx="469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P</a:t>
            </a:r>
            <a:r>
              <a:rPr lang="en-US" altLang="zh-CN" sz="2400" b="1" i="1" baseline="-10000" smtClean="0">
                <a:solidFill>
                  <a:srgbClr val="000000"/>
                </a:solidFill>
                <a:latin typeface="ISOCPEUR" pitchFamily="34" charset="0"/>
              </a:rPr>
              <a:t>V</a:t>
            </a:r>
          </a:p>
        </p:txBody>
      </p:sp>
      <p:sp>
        <p:nvSpPr>
          <p:cNvPr id="78884" name="Line 36"/>
          <p:cNvSpPr>
            <a:spLocks noChangeShapeType="1"/>
          </p:cNvSpPr>
          <p:nvPr/>
        </p:nvSpPr>
        <p:spPr bwMode="auto">
          <a:xfrm flipH="1" flipV="1">
            <a:off x="2181225" y="2776538"/>
            <a:ext cx="2244725" cy="54133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885" name="Line 37"/>
          <p:cNvSpPr>
            <a:spLocks noChangeShapeType="1"/>
          </p:cNvSpPr>
          <p:nvPr/>
        </p:nvSpPr>
        <p:spPr bwMode="auto">
          <a:xfrm>
            <a:off x="2925763" y="2955925"/>
            <a:ext cx="0" cy="8858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886" name="Line 38"/>
          <p:cNvSpPr>
            <a:spLocks noChangeShapeType="1"/>
          </p:cNvSpPr>
          <p:nvPr/>
        </p:nvSpPr>
        <p:spPr bwMode="auto">
          <a:xfrm>
            <a:off x="2921000" y="4227513"/>
            <a:ext cx="1492250" cy="10048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887" name="Text Box 39"/>
          <p:cNvSpPr txBox="1">
            <a:spLocks noChangeArrowheads="1"/>
          </p:cNvSpPr>
          <p:nvPr/>
        </p:nvSpPr>
        <p:spPr bwMode="auto">
          <a:xfrm>
            <a:off x="2727325" y="2582863"/>
            <a:ext cx="398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3’</a:t>
            </a:r>
          </a:p>
        </p:txBody>
      </p:sp>
      <p:sp>
        <p:nvSpPr>
          <p:cNvPr id="78888" name="Text Box 40"/>
          <p:cNvSpPr txBox="1">
            <a:spLocks noChangeArrowheads="1"/>
          </p:cNvSpPr>
          <p:nvPr/>
        </p:nvSpPr>
        <p:spPr bwMode="auto">
          <a:xfrm>
            <a:off x="3571875" y="2795588"/>
            <a:ext cx="398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2’</a:t>
            </a:r>
          </a:p>
        </p:txBody>
      </p:sp>
      <p:sp>
        <p:nvSpPr>
          <p:cNvPr id="78889" name="Text Box 41"/>
          <p:cNvSpPr txBox="1">
            <a:spLocks noChangeArrowheads="1"/>
          </p:cNvSpPr>
          <p:nvPr/>
        </p:nvSpPr>
        <p:spPr bwMode="auto">
          <a:xfrm>
            <a:off x="2551113" y="2520950"/>
            <a:ext cx="357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1’</a:t>
            </a:r>
          </a:p>
        </p:txBody>
      </p:sp>
      <p:sp>
        <p:nvSpPr>
          <p:cNvPr id="78890" name="Text Box 42"/>
          <p:cNvSpPr txBox="1">
            <a:spLocks noChangeArrowheads="1"/>
          </p:cNvSpPr>
          <p:nvPr/>
        </p:nvSpPr>
        <p:spPr bwMode="auto">
          <a:xfrm>
            <a:off x="3581400" y="4110038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2</a:t>
            </a:r>
          </a:p>
        </p:txBody>
      </p:sp>
      <p:sp>
        <p:nvSpPr>
          <p:cNvPr id="78891" name="Text Box 43"/>
          <p:cNvSpPr txBox="1">
            <a:spLocks noChangeArrowheads="1"/>
          </p:cNvSpPr>
          <p:nvPr/>
        </p:nvSpPr>
        <p:spPr bwMode="auto">
          <a:xfrm>
            <a:off x="2859088" y="3848100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3</a:t>
            </a:r>
          </a:p>
        </p:txBody>
      </p:sp>
      <p:sp>
        <p:nvSpPr>
          <p:cNvPr id="78892" name="Text Box 44"/>
          <p:cNvSpPr txBox="1">
            <a:spLocks noChangeArrowheads="1"/>
          </p:cNvSpPr>
          <p:nvPr/>
        </p:nvSpPr>
        <p:spPr bwMode="auto">
          <a:xfrm>
            <a:off x="2987675" y="4316413"/>
            <a:ext cx="265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l</a:t>
            </a:r>
          </a:p>
        </p:txBody>
      </p:sp>
      <p:sp>
        <p:nvSpPr>
          <p:cNvPr id="78893" name="Text Box 45"/>
          <p:cNvSpPr txBox="1">
            <a:spLocks noChangeArrowheads="1"/>
          </p:cNvSpPr>
          <p:nvPr/>
        </p:nvSpPr>
        <p:spPr bwMode="auto">
          <a:xfrm>
            <a:off x="2536825" y="4425950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1</a:t>
            </a:r>
          </a:p>
        </p:txBody>
      </p:sp>
      <p:sp>
        <p:nvSpPr>
          <p:cNvPr id="78894" name="Line 46"/>
          <p:cNvSpPr>
            <a:spLocks noChangeShapeType="1"/>
          </p:cNvSpPr>
          <p:nvPr/>
        </p:nvSpPr>
        <p:spPr bwMode="auto">
          <a:xfrm flipH="1">
            <a:off x="2751138" y="4335463"/>
            <a:ext cx="896937" cy="1539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895" name="Line 47"/>
          <p:cNvSpPr>
            <a:spLocks noChangeShapeType="1"/>
          </p:cNvSpPr>
          <p:nvPr/>
        </p:nvSpPr>
        <p:spPr bwMode="auto">
          <a:xfrm>
            <a:off x="2751138" y="2916238"/>
            <a:ext cx="0" cy="9318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896" name="Text Box 48"/>
          <p:cNvSpPr txBox="1">
            <a:spLocks noChangeArrowheads="1"/>
          </p:cNvSpPr>
          <p:nvPr/>
        </p:nvSpPr>
        <p:spPr bwMode="auto">
          <a:xfrm>
            <a:off x="3595688" y="2514600"/>
            <a:ext cx="398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k’</a:t>
            </a:r>
          </a:p>
        </p:txBody>
      </p:sp>
      <p:sp>
        <p:nvSpPr>
          <p:cNvPr id="78897" name="Text Box 49"/>
          <p:cNvSpPr txBox="1">
            <a:spLocks noChangeArrowheads="1"/>
          </p:cNvSpPr>
          <p:nvPr/>
        </p:nvSpPr>
        <p:spPr bwMode="auto">
          <a:xfrm>
            <a:off x="3033713" y="26590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l’</a:t>
            </a:r>
          </a:p>
        </p:txBody>
      </p:sp>
      <p:sp>
        <p:nvSpPr>
          <p:cNvPr id="78898" name="Line 50"/>
          <p:cNvSpPr>
            <a:spLocks noChangeShapeType="1"/>
          </p:cNvSpPr>
          <p:nvPr/>
        </p:nvSpPr>
        <p:spPr bwMode="auto">
          <a:xfrm flipV="1">
            <a:off x="3194050" y="3843338"/>
            <a:ext cx="0" cy="56197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899" name="Line 51"/>
          <p:cNvSpPr>
            <a:spLocks noChangeShapeType="1"/>
          </p:cNvSpPr>
          <p:nvPr/>
        </p:nvSpPr>
        <p:spPr bwMode="auto">
          <a:xfrm>
            <a:off x="2443163" y="4229100"/>
            <a:ext cx="1200150" cy="2921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900" name="Line 52"/>
          <p:cNvSpPr>
            <a:spLocks noChangeShapeType="1"/>
          </p:cNvSpPr>
          <p:nvPr/>
        </p:nvSpPr>
        <p:spPr bwMode="auto">
          <a:xfrm flipV="1">
            <a:off x="2443163" y="2838450"/>
            <a:ext cx="1204912" cy="4762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901" name="Text Box 53"/>
          <p:cNvSpPr txBox="1">
            <a:spLocks noChangeArrowheads="1"/>
          </p:cNvSpPr>
          <p:nvPr/>
        </p:nvSpPr>
        <p:spPr bwMode="auto">
          <a:xfrm>
            <a:off x="3587750" y="4357688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k</a:t>
            </a:r>
          </a:p>
        </p:txBody>
      </p:sp>
      <p:sp>
        <p:nvSpPr>
          <p:cNvPr id="78902" name="Line 54"/>
          <p:cNvSpPr>
            <a:spLocks noChangeShapeType="1"/>
          </p:cNvSpPr>
          <p:nvPr/>
        </p:nvSpPr>
        <p:spPr bwMode="auto">
          <a:xfrm flipV="1">
            <a:off x="3646488" y="4511675"/>
            <a:ext cx="0" cy="3365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903" name="Line 55"/>
          <p:cNvSpPr>
            <a:spLocks noChangeShapeType="1"/>
          </p:cNvSpPr>
          <p:nvPr/>
        </p:nvSpPr>
        <p:spPr bwMode="auto">
          <a:xfrm flipH="1">
            <a:off x="3646488" y="4268788"/>
            <a:ext cx="4762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904" name="Line 56"/>
          <p:cNvSpPr>
            <a:spLocks noChangeShapeType="1"/>
          </p:cNvSpPr>
          <p:nvPr/>
        </p:nvSpPr>
        <p:spPr bwMode="auto">
          <a:xfrm>
            <a:off x="3648075" y="2413000"/>
            <a:ext cx="0" cy="411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905" name="Oval 57"/>
          <p:cNvSpPr>
            <a:spLocks noChangeArrowheads="1"/>
          </p:cNvSpPr>
          <p:nvPr/>
        </p:nvSpPr>
        <p:spPr bwMode="auto">
          <a:xfrm>
            <a:off x="3619500" y="2808288"/>
            <a:ext cx="58738" cy="587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78906" name="Line 58"/>
          <p:cNvSpPr>
            <a:spLocks noChangeShapeType="1"/>
          </p:cNvSpPr>
          <p:nvPr/>
        </p:nvSpPr>
        <p:spPr bwMode="auto">
          <a:xfrm>
            <a:off x="3648075" y="290830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907" name="Oval 59"/>
          <p:cNvSpPr>
            <a:spLocks noChangeArrowheads="1"/>
          </p:cNvSpPr>
          <p:nvPr/>
        </p:nvSpPr>
        <p:spPr bwMode="auto">
          <a:xfrm>
            <a:off x="3616325" y="4492625"/>
            <a:ext cx="58738" cy="587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78908" name="Line 60"/>
          <p:cNvSpPr>
            <a:spLocks noChangeShapeType="1"/>
          </p:cNvSpPr>
          <p:nvPr/>
        </p:nvSpPr>
        <p:spPr bwMode="auto">
          <a:xfrm>
            <a:off x="2751138" y="3852863"/>
            <a:ext cx="0" cy="6365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909" name="Line 61"/>
          <p:cNvSpPr>
            <a:spLocks noChangeShapeType="1"/>
          </p:cNvSpPr>
          <p:nvPr/>
        </p:nvSpPr>
        <p:spPr bwMode="auto">
          <a:xfrm>
            <a:off x="2924175" y="3844925"/>
            <a:ext cx="0" cy="382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8910" name="Line 62"/>
          <p:cNvSpPr>
            <a:spLocks noChangeShapeType="1"/>
          </p:cNvSpPr>
          <p:nvPr/>
        </p:nvSpPr>
        <p:spPr bwMode="auto">
          <a:xfrm flipV="1">
            <a:off x="3194050" y="3017838"/>
            <a:ext cx="0" cy="82867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8231" name="Rectangle 64"/>
          <p:cNvSpPr>
            <a:spLocks noChangeArrowheads="1"/>
          </p:cNvSpPr>
          <p:nvPr/>
        </p:nvSpPr>
        <p:spPr bwMode="auto">
          <a:xfrm>
            <a:off x="1187450" y="546100"/>
            <a:ext cx="5951538" cy="5983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8234" name="Text Box 69"/>
          <p:cNvSpPr txBox="1">
            <a:spLocks noChangeArrowheads="1"/>
          </p:cNvSpPr>
          <p:nvPr/>
        </p:nvSpPr>
        <p:spPr bwMode="auto">
          <a:xfrm>
            <a:off x="5292725" y="3108325"/>
            <a:ext cx="3851275" cy="55399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 smtClean="0">
                <a:solidFill>
                  <a:srgbClr val="000000"/>
                </a:solidFill>
                <a:latin typeface="ISOCPEUR" pitchFamily="34" charset="0"/>
              </a:rPr>
              <a:t>方法</a:t>
            </a:r>
            <a:r>
              <a:rPr lang="en-US" altLang="zh-CN" sz="1500" b="1" dirty="0" smtClean="0">
                <a:solidFill>
                  <a:srgbClr val="000000"/>
                </a:solidFill>
                <a:latin typeface="ISOCPEUR" pitchFamily="34" charset="0"/>
              </a:rPr>
              <a:t>2 </a:t>
            </a:r>
            <a:r>
              <a:rPr lang="zh-CN" altLang="en-US" sz="1500" b="1" dirty="0" smtClean="0">
                <a:solidFill>
                  <a:srgbClr val="000000"/>
                </a:solidFill>
                <a:latin typeface="ISOCPEUR" pitchFamily="34" charset="0"/>
              </a:rPr>
              <a:t>改进版</a:t>
            </a:r>
            <a:r>
              <a:rPr lang="en-US" altLang="zh-CN" sz="1500" b="1" dirty="0" smtClean="0">
                <a:solidFill>
                  <a:srgbClr val="000000"/>
                </a:solidFill>
                <a:latin typeface="ISOCPEUR" pitchFamily="34" charset="0"/>
              </a:rPr>
              <a:t> </a:t>
            </a:r>
            <a:r>
              <a:rPr lang="zh-CN" altLang="en-US" sz="1500" b="1" dirty="0" smtClean="0">
                <a:solidFill>
                  <a:srgbClr val="000000"/>
                </a:solidFill>
                <a:latin typeface="ISOCPEUR" pitchFamily="34" charset="0"/>
              </a:rPr>
              <a:t>：</a:t>
            </a:r>
            <a:endParaRPr lang="en-US" altLang="zh-CN" sz="1500" b="1" dirty="0" smtClean="0">
              <a:solidFill>
                <a:srgbClr val="000000"/>
              </a:solidFill>
              <a:latin typeface="ISOCPEUR" pitchFamily="34" charset="0"/>
            </a:endParaRP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 smtClean="0">
                <a:solidFill>
                  <a:srgbClr val="000000"/>
                </a:solidFill>
                <a:latin typeface="ISOCPEUR" pitchFamily="34" charset="0"/>
              </a:rPr>
              <a:t>过</a:t>
            </a:r>
            <a:r>
              <a:rPr lang="en-US" altLang="zh-CN" sz="1500" b="1" dirty="0" smtClean="0">
                <a:solidFill>
                  <a:srgbClr val="000000"/>
                </a:solidFill>
                <a:latin typeface="ISOCPEUR" pitchFamily="34" charset="0"/>
              </a:rPr>
              <a:t>C</a:t>
            </a:r>
            <a:r>
              <a:rPr lang="zh-CN" altLang="en-US" sz="1500" b="1" dirty="0" smtClean="0">
                <a:solidFill>
                  <a:srgbClr val="000000"/>
                </a:solidFill>
                <a:latin typeface="ISOCPEUR" pitchFamily="34" charset="0"/>
              </a:rPr>
              <a:t>点做辅助面</a:t>
            </a:r>
            <a:endParaRPr lang="el-GR" altLang="zh-CN" sz="1500" dirty="0" smtClean="0">
              <a:solidFill>
                <a:srgbClr val="000000"/>
              </a:solidFill>
              <a:latin typeface="宋体" charset="-122"/>
            </a:endParaRPr>
          </a:p>
        </p:txBody>
      </p:sp>
      <p:sp>
        <p:nvSpPr>
          <p:cNvPr id="8236" name="Text Box 7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2-2-2-3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　求直线 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EF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与由两相交直线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AB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、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AC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确定的平面的交点，并判断可见性。</a:t>
            </a:r>
          </a:p>
        </p:txBody>
      </p:sp>
      <p:sp>
        <p:nvSpPr>
          <p:cNvPr id="8237" name="Oval 75"/>
          <p:cNvSpPr>
            <a:spLocks noChangeArrowheads="1"/>
          </p:cNvSpPr>
          <p:nvPr/>
        </p:nvSpPr>
        <p:spPr bwMode="auto">
          <a:xfrm>
            <a:off x="200025" y="469900"/>
            <a:ext cx="514350" cy="4826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70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8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8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8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7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7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78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8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8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78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8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78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78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8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7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5" dur="500"/>
                                        <p:tgtEl>
                                          <p:spTgt spid="788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7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7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6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7" dur="500"/>
                                        <p:tgtEl>
                                          <p:spTgt spid="788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78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75" grpId="0" animBg="1"/>
      <p:bldP spid="78876" grpId="0" animBg="1"/>
      <p:bldP spid="78877" grpId="0" animBg="1"/>
      <p:bldP spid="78878" grpId="0" animBg="1"/>
      <p:bldP spid="78879" grpId="0" animBg="1"/>
      <p:bldP spid="78879" grpId="1" animBg="1"/>
      <p:bldP spid="78880" grpId="0" animBg="1"/>
      <p:bldP spid="78880" grpId="1" animBg="1"/>
      <p:bldP spid="78881" grpId="0" animBg="1"/>
      <p:bldP spid="78882" grpId="0" animBg="1"/>
      <p:bldP spid="78883" grpId="0"/>
      <p:bldP spid="78884" grpId="0" animBg="1"/>
      <p:bldP spid="78885" grpId="0" animBg="1"/>
      <p:bldP spid="78886" grpId="0" animBg="1"/>
      <p:bldP spid="78887" grpId="0"/>
      <p:bldP spid="78888" grpId="0"/>
      <p:bldP spid="78889" grpId="0"/>
      <p:bldP spid="78890" grpId="0"/>
      <p:bldP spid="78891" grpId="0"/>
      <p:bldP spid="78893" grpId="0"/>
      <p:bldP spid="78894" grpId="0" animBg="1"/>
      <p:bldP spid="78895" grpId="0" animBg="1"/>
      <p:bldP spid="78896" grpId="0"/>
      <p:bldP spid="78897" grpId="0"/>
      <p:bldP spid="78898" grpId="0" animBg="1"/>
      <p:bldP spid="78899" grpId="0" animBg="1"/>
      <p:bldP spid="78900" grpId="0" animBg="1"/>
      <p:bldP spid="78901" grpId="0"/>
      <p:bldP spid="78902" grpId="0" animBg="1"/>
      <p:bldP spid="78903" grpId="0" animBg="1"/>
      <p:bldP spid="78904" grpId="0" animBg="1"/>
      <p:bldP spid="78905" grpId="0" animBg="1"/>
      <p:bldP spid="78906" grpId="0" animBg="1"/>
      <p:bldP spid="78907" grpId="0" animBg="1"/>
      <p:bldP spid="78908" grpId="0" animBg="1"/>
      <p:bldP spid="78909" grpId="0" animBg="1"/>
      <p:bldP spid="789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70"/>
          <p:cNvGrpSpPr>
            <a:grpSpLocks/>
          </p:cNvGrpSpPr>
          <p:nvPr/>
        </p:nvGrpSpPr>
        <p:grpSpPr bwMode="auto">
          <a:xfrm>
            <a:off x="1549400" y="1455738"/>
            <a:ext cx="5399088" cy="4005262"/>
            <a:chOff x="976" y="917"/>
            <a:chExt cx="3401" cy="2523"/>
          </a:xfrm>
        </p:grpSpPr>
        <p:sp>
          <p:nvSpPr>
            <p:cNvPr id="9262" name="Text Box 3"/>
            <p:cNvSpPr txBox="1">
              <a:spLocks noChangeArrowheads="1"/>
            </p:cNvSpPr>
            <p:nvPr/>
          </p:nvSpPr>
          <p:spPr bwMode="auto">
            <a:xfrm>
              <a:off x="2280" y="917"/>
              <a:ext cx="2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i="1" smtClean="0">
                  <a:solidFill>
                    <a:srgbClr val="000000"/>
                  </a:solidFill>
                  <a:latin typeface="ISOCPEUR" pitchFamily="34" charset="0"/>
                </a:rPr>
                <a:t>e’</a:t>
              </a:r>
            </a:p>
          </p:txBody>
        </p:sp>
        <p:grpSp>
          <p:nvGrpSpPr>
            <p:cNvPr id="9263" name="Group 69"/>
            <p:cNvGrpSpPr>
              <a:grpSpLocks/>
            </p:cNvGrpSpPr>
            <p:nvPr/>
          </p:nvGrpSpPr>
          <p:grpSpPr bwMode="auto">
            <a:xfrm>
              <a:off x="976" y="1034"/>
              <a:ext cx="3401" cy="2406"/>
              <a:chOff x="976" y="1034"/>
              <a:chExt cx="3401" cy="2406"/>
            </a:xfrm>
          </p:grpSpPr>
          <p:sp>
            <p:nvSpPr>
              <p:cNvPr id="9264" name="Line 5"/>
              <p:cNvSpPr>
                <a:spLocks noChangeShapeType="1"/>
              </p:cNvSpPr>
              <p:nvPr/>
            </p:nvSpPr>
            <p:spPr bwMode="auto">
              <a:xfrm>
                <a:off x="1176" y="2423"/>
                <a:ext cx="2809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265" name="Line 6"/>
              <p:cNvSpPr>
                <a:spLocks noChangeShapeType="1"/>
              </p:cNvSpPr>
              <p:nvPr/>
            </p:nvSpPr>
            <p:spPr bwMode="auto">
              <a:xfrm flipV="1">
                <a:off x="1536" y="2089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266" name="Line 7"/>
              <p:cNvSpPr>
                <a:spLocks noChangeShapeType="1"/>
              </p:cNvSpPr>
              <p:nvPr/>
            </p:nvSpPr>
            <p:spPr bwMode="auto">
              <a:xfrm flipV="1">
                <a:off x="2649" y="1259"/>
                <a:ext cx="0" cy="140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267" name="Line 8"/>
              <p:cNvSpPr>
                <a:spLocks noChangeShapeType="1"/>
              </p:cNvSpPr>
              <p:nvPr/>
            </p:nvSpPr>
            <p:spPr bwMode="auto">
              <a:xfrm flipV="1">
                <a:off x="2788" y="2089"/>
                <a:ext cx="0" cy="1212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268" name="Line 9"/>
              <p:cNvSpPr>
                <a:spLocks noChangeShapeType="1"/>
              </p:cNvSpPr>
              <p:nvPr/>
            </p:nvSpPr>
            <p:spPr bwMode="auto">
              <a:xfrm flipV="1">
                <a:off x="2298" y="2274"/>
                <a:ext cx="0" cy="252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269" name="Freeform 10"/>
              <p:cNvSpPr>
                <a:spLocks/>
              </p:cNvSpPr>
              <p:nvPr/>
            </p:nvSpPr>
            <p:spPr bwMode="auto">
              <a:xfrm>
                <a:off x="1537" y="1255"/>
                <a:ext cx="1249" cy="837"/>
              </a:xfrm>
              <a:custGeom>
                <a:avLst/>
                <a:gdLst>
                  <a:gd name="T0" fmla="*/ 1114 w 1250"/>
                  <a:gd name="T1" fmla="*/ 0 h 837"/>
                  <a:gd name="T2" fmla="*/ 0 w 1250"/>
                  <a:gd name="T3" fmla="*/ 837 h 837"/>
                  <a:gd name="T4" fmla="*/ 1246 w 1250"/>
                  <a:gd name="T5" fmla="*/ 837 h 8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50" h="837">
                    <a:moveTo>
                      <a:pt x="1118" y="0"/>
                    </a:moveTo>
                    <a:lnTo>
                      <a:pt x="0" y="837"/>
                    </a:lnTo>
                    <a:lnTo>
                      <a:pt x="1250" y="837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270" name="Freeform 11"/>
              <p:cNvSpPr>
                <a:spLocks/>
              </p:cNvSpPr>
              <p:nvPr/>
            </p:nvSpPr>
            <p:spPr bwMode="auto">
              <a:xfrm>
                <a:off x="1536" y="2663"/>
                <a:ext cx="1255" cy="640"/>
              </a:xfrm>
              <a:custGeom>
                <a:avLst/>
                <a:gdLst>
                  <a:gd name="T0" fmla="*/ 1113 w 1255"/>
                  <a:gd name="T1" fmla="*/ 0 h 640"/>
                  <a:gd name="T2" fmla="*/ 0 w 1255"/>
                  <a:gd name="T3" fmla="*/ 0 h 640"/>
                  <a:gd name="T4" fmla="*/ 1255 w 1255"/>
                  <a:gd name="T5" fmla="*/ 640 h 6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55" h="640">
                    <a:moveTo>
                      <a:pt x="1113" y="0"/>
                    </a:moveTo>
                    <a:lnTo>
                      <a:pt x="0" y="0"/>
                    </a:lnTo>
                    <a:lnTo>
                      <a:pt x="1255" y="64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271" name="Line 12"/>
              <p:cNvSpPr>
                <a:spLocks noChangeShapeType="1"/>
              </p:cNvSpPr>
              <p:nvPr/>
            </p:nvSpPr>
            <p:spPr bwMode="auto">
              <a:xfrm>
                <a:off x="2299" y="1118"/>
                <a:ext cx="0" cy="3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272" name="Line 13"/>
              <p:cNvSpPr>
                <a:spLocks noChangeShapeType="1"/>
              </p:cNvSpPr>
              <p:nvPr/>
            </p:nvSpPr>
            <p:spPr bwMode="auto">
              <a:xfrm>
                <a:off x="2299" y="2097"/>
                <a:ext cx="0" cy="18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273" name="Line 14"/>
              <p:cNvSpPr>
                <a:spLocks noChangeShapeType="1"/>
              </p:cNvSpPr>
              <p:nvPr/>
            </p:nvSpPr>
            <p:spPr bwMode="auto">
              <a:xfrm>
                <a:off x="2299" y="2526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274" name="Line 15"/>
              <p:cNvSpPr>
                <a:spLocks noChangeShapeType="1"/>
              </p:cNvSpPr>
              <p:nvPr/>
            </p:nvSpPr>
            <p:spPr bwMode="auto">
              <a:xfrm>
                <a:off x="2299" y="3057"/>
                <a:ext cx="0" cy="2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l"/>
                <a:endParaRPr lang="zh-CN" altLang="en-US" smtClean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275" name="Text Box 16"/>
              <p:cNvSpPr txBox="1">
                <a:spLocks noChangeArrowheads="1"/>
              </p:cNvSpPr>
              <p:nvPr/>
            </p:nvSpPr>
            <p:spPr bwMode="auto">
              <a:xfrm>
                <a:off x="976" y="2241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X</a:t>
                </a:r>
              </a:p>
            </p:txBody>
          </p:sp>
          <p:sp>
            <p:nvSpPr>
              <p:cNvPr id="9276" name="Text Box 17"/>
              <p:cNvSpPr txBox="1">
                <a:spLocks noChangeArrowheads="1"/>
              </p:cNvSpPr>
              <p:nvPr/>
            </p:nvSpPr>
            <p:spPr bwMode="auto">
              <a:xfrm>
                <a:off x="2060" y="2206"/>
                <a:ext cx="231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f’</a:t>
                </a:r>
              </a:p>
            </p:txBody>
          </p:sp>
          <p:sp>
            <p:nvSpPr>
              <p:cNvPr id="9277" name="Text Box 18"/>
              <p:cNvSpPr txBox="1">
                <a:spLocks noChangeArrowheads="1"/>
              </p:cNvSpPr>
              <p:nvPr/>
            </p:nvSpPr>
            <p:spPr bwMode="auto">
              <a:xfrm>
                <a:off x="2762" y="1890"/>
                <a:ext cx="23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c’</a:t>
                </a:r>
              </a:p>
            </p:txBody>
          </p:sp>
          <p:sp>
            <p:nvSpPr>
              <p:cNvPr id="9278" name="Text Box 19"/>
              <p:cNvSpPr txBox="1">
                <a:spLocks noChangeArrowheads="1"/>
              </p:cNvSpPr>
              <p:nvPr/>
            </p:nvSpPr>
            <p:spPr bwMode="auto">
              <a:xfrm>
                <a:off x="2630" y="1034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b’</a:t>
                </a:r>
              </a:p>
            </p:txBody>
          </p:sp>
          <p:sp>
            <p:nvSpPr>
              <p:cNvPr id="9279" name="Text Box 20"/>
              <p:cNvSpPr txBox="1">
                <a:spLocks noChangeArrowheads="1"/>
              </p:cNvSpPr>
              <p:nvPr/>
            </p:nvSpPr>
            <p:spPr bwMode="auto">
              <a:xfrm>
                <a:off x="1309" y="1925"/>
                <a:ext cx="25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a’</a:t>
                </a:r>
              </a:p>
            </p:txBody>
          </p:sp>
          <p:sp>
            <p:nvSpPr>
              <p:cNvPr id="9280" name="Text Box 21"/>
              <p:cNvSpPr txBox="1">
                <a:spLocks noChangeArrowheads="1"/>
              </p:cNvSpPr>
              <p:nvPr/>
            </p:nvSpPr>
            <p:spPr bwMode="auto">
              <a:xfrm>
                <a:off x="3963" y="2244"/>
                <a:ext cx="2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O</a:t>
                </a:r>
              </a:p>
            </p:txBody>
          </p:sp>
          <p:sp>
            <p:nvSpPr>
              <p:cNvPr id="9281" name="Text Box 22"/>
              <p:cNvSpPr txBox="1">
                <a:spLocks noChangeArrowheads="1"/>
              </p:cNvSpPr>
              <p:nvPr/>
            </p:nvSpPr>
            <p:spPr bwMode="auto">
              <a:xfrm>
                <a:off x="1306" y="2500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a</a:t>
                </a:r>
              </a:p>
            </p:txBody>
          </p:sp>
          <p:sp>
            <p:nvSpPr>
              <p:cNvPr id="9282" name="Text Box 23"/>
              <p:cNvSpPr txBox="1">
                <a:spLocks noChangeArrowheads="1"/>
              </p:cNvSpPr>
              <p:nvPr/>
            </p:nvSpPr>
            <p:spPr bwMode="auto">
              <a:xfrm>
                <a:off x="2072" y="2417"/>
                <a:ext cx="230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f</a:t>
                </a:r>
              </a:p>
            </p:txBody>
          </p:sp>
          <p:sp>
            <p:nvSpPr>
              <p:cNvPr id="9283" name="Text Box 24"/>
              <p:cNvSpPr txBox="1">
                <a:spLocks noChangeArrowheads="1"/>
              </p:cNvSpPr>
              <p:nvPr/>
            </p:nvSpPr>
            <p:spPr bwMode="auto">
              <a:xfrm>
                <a:off x="2268" y="3152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e</a:t>
                </a:r>
              </a:p>
            </p:txBody>
          </p:sp>
          <p:sp>
            <p:nvSpPr>
              <p:cNvPr id="9284" name="Text Box 25"/>
              <p:cNvSpPr txBox="1">
                <a:spLocks noChangeArrowheads="1"/>
              </p:cNvSpPr>
              <p:nvPr/>
            </p:nvSpPr>
            <p:spPr bwMode="auto">
              <a:xfrm>
                <a:off x="2620" y="2433"/>
                <a:ext cx="20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b</a:t>
                </a:r>
              </a:p>
            </p:txBody>
          </p:sp>
          <p:sp>
            <p:nvSpPr>
              <p:cNvPr id="9285" name="Text Box 26"/>
              <p:cNvSpPr txBox="1">
                <a:spLocks noChangeArrowheads="1"/>
              </p:cNvSpPr>
              <p:nvPr/>
            </p:nvSpPr>
            <p:spPr bwMode="auto">
              <a:xfrm>
                <a:off x="2786" y="3136"/>
                <a:ext cx="19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1" i="1" smtClean="0">
                    <a:solidFill>
                      <a:srgbClr val="000000"/>
                    </a:solidFill>
                    <a:latin typeface="ISOCPEUR" pitchFamily="34" charset="0"/>
                  </a:rPr>
                  <a:t>c</a:t>
                </a:r>
              </a:p>
            </p:txBody>
          </p:sp>
        </p:grpSp>
      </p:grpSp>
      <p:sp>
        <p:nvSpPr>
          <p:cNvPr id="79899" name="Line 27"/>
          <p:cNvSpPr>
            <a:spLocks noChangeShapeType="1"/>
          </p:cNvSpPr>
          <p:nvPr/>
        </p:nvSpPr>
        <p:spPr bwMode="auto">
          <a:xfrm flipV="1">
            <a:off x="2438400" y="1774825"/>
            <a:ext cx="1208088" cy="15414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00" name="Line 28"/>
          <p:cNvSpPr>
            <a:spLocks noChangeShapeType="1"/>
          </p:cNvSpPr>
          <p:nvPr/>
        </p:nvSpPr>
        <p:spPr bwMode="auto">
          <a:xfrm>
            <a:off x="2438400" y="3316288"/>
            <a:ext cx="1525588" cy="3857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01" name="Line 29"/>
          <p:cNvSpPr>
            <a:spLocks noChangeShapeType="1"/>
          </p:cNvSpPr>
          <p:nvPr/>
        </p:nvSpPr>
        <p:spPr bwMode="auto">
          <a:xfrm flipH="1" flipV="1">
            <a:off x="2438400" y="4227513"/>
            <a:ext cx="1208088" cy="10080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02" name="Line 30"/>
          <p:cNvSpPr>
            <a:spLocks noChangeShapeType="1"/>
          </p:cNvSpPr>
          <p:nvPr/>
        </p:nvSpPr>
        <p:spPr bwMode="auto">
          <a:xfrm flipV="1">
            <a:off x="2438400" y="3957638"/>
            <a:ext cx="1527175" cy="2698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03" name="Line 31"/>
          <p:cNvSpPr>
            <a:spLocks noChangeShapeType="1"/>
          </p:cNvSpPr>
          <p:nvPr/>
        </p:nvSpPr>
        <p:spPr bwMode="auto">
          <a:xfrm flipV="1">
            <a:off x="3648075" y="4227513"/>
            <a:ext cx="1588" cy="6254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04" name="Line 32"/>
          <p:cNvSpPr>
            <a:spLocks noChangeShapeType="1"/>
          </p:cNvSpPr>
          <p:nvPr/>
        </p:nvSpPr>
        <p:spPr bwMode="auto">
          <a:xfrm flipV="1">
            <a:off x="3648075" y="2406650"/>
            <a:ext cx="1588" cy="9096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05" name="Line 33"/>
          <p:cNvSpPr>
            <a:spLocks noChangeShapeType="1"/>
          </p:cNvSpPr>
          <p:nvPr/>
        </p:nvSpPr>
        <p:spPr bwMode="auto">
          <a:xfrm flipH="1" flipV="1">
            <a:off x="4205288" y="4227513"/>
            <a:ext cx="220662" cy="10160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06" name="Line 34"/>
          <p:cNvSpPr>
            <a:spLocks noChangeShapeType="1"/>
          </p:cNvSpPr>
          <p:nvPr/>
        </p:nvSpPr>
        <p:spPr bwMode="auto">
          <a:xfrm flipH="1" flipV="1">
            <a:off x="4205288" y="1998663"/>
            <a:ext cx="220662" cy="13223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07" name="Text Box 35"/>
          <p:cNvSpPr txBox="1">
            <a:spLocks noChangeArrowheads="1"/>
          </p:cNvSpPr>
          <p:nvPr/>
        </p:nvSpPr>
        <p:spPr bwMode="auto">
          <a:xfrm>
            <a:off x="3103563" y="1093788"/>
            <a:ext cx="469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P</a:t>
            </a:r>
            <a:r>
              <a:rPr lang="en-US" altLang="zh-CN" sz="2400" b="1" i="1" baseline="-10000" smtClean="0">
                <a:solidFill>
                  <a:srgbClr val="000000"/>
                </a:solidFill>
                <a:latin typeface="ISOCPEUR" pitchFamily="34" charset="0"/>
              </a:rPr>
              <a:t>V</a:t>
            </a:r>
          </a:p>
        </p:txBody>
      </p:sp>
      <p:sp>
        <p:nvSpPr>
          <p:cNvPr id="79908" name="Line 36"/>
          <p:cNvSpPr>
            <a:spLocks noChangeShapeType="1"/>
          </p:cNvSpPr>
          <p:nvPr/>
        </p:nvSpPr>
        <p:spPr bwMode="auto">
          <a:xfrm>
            <a:off x="3813175" y="3844925"/>
            <a:ext cx="0" cy="7254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triangle" w="sm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09" name="Line 37"/>
          <p:cNvSpPr>
            <a:spLocks noChangeShapeType="1"/>
          </p:cNvSpPr>
          <p:nvPr/>
        </p:nvSpPr>
        <p:spPr bwMode="auto">
          <a:xfrm>
            <a:off x="3740150" y="4221163"/>
            <a:ext cx="161925" cy="7493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10" name="Text Box 38"/>
          <p:cNvSpPr txBox="1">
            <a:spLocks noChangeArrowheads="1"/>
          </p:cNvSpPr>
          <p:nvPr/>
        </p:nvSpPr>
        <p:spPr bwMode="auto">
          <a:xfrm>
            <a:off x="3778250" y="248602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l’</a:t>
            </a:r>
          </a:p>
        </p:txBody>
      </p:sp>
      <p:sp>
        <p:nvSpPr>
          <p:cNvPr id="79911" name="Text Box 39"/>
          <p:cNvSpPr txBox="1">
            <a:spLocks noChangeArrowheads="1"/>
          </p:cNvSpPr>
          <p:nvPr/>
        </p:nvSpPr>
        <p:spPr bwMode="auto">
          <a:xfrm>
            <a:off x="3844925" y="2938463"/>
            <a:ext cx="398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2’</a:t>
            </a:r>
          </a:p>
        </p:txBody>
      </p:sp>
      <p:sp>
        <p:nvSpPr>
          <p:cNvPr id="79912" name="Text Box 40"/>
          <p:cNvSpPr txBox="1">
            <a:spLocks noChangeArrowheads="1"/>
          </p:cNvSpPr>
          <p:nvPr/>
        </p:nvSpPr>
        <p:spPr bwMode="auto">
          <a:xfrm>
            <a:off x="3614738" y="1912938"/>
            <a:ext cx="357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1’</a:t>
            </a:r>
          </a:p>
        </p:txBody>
      </p:sp>
      <p:sp>
        <p:nvSpPr>
          <p:cNvPr id="79913" name="Text Box 41"/>
          <p:cNvSpPr txBox="1">
            <a:spLocks noChangeArrowheads="1"/>
          </p:cNvSpPr>
          <p:nvPr/>
        </p:nvSpPr>
        <p:spPr bwMode="auto">
          <a:xfrm>
            <a:off x="3748088" y="4308475"/>
            <a:ext cx="265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l</a:t>
            </a:r>
          </a:p>
        </p:txBody>
      </p:sp>
      <p:sp>
        <p:nvSpPr>
          <p:cNvPr id="79914" name="Text Box 42"/>
          <p:cNvSpPr txBox="1">
            <a:spLocks noChangeArrowheads="1"/>
          </p:cNvSpPr>
          <p:nvPr/>
        </p:nvSpPr>
        <p:spPr bwMode="auto">
          <a:xfrm>
            <a:off x="3824288" y="4624388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2</a:t>
            </a:r>
          </a:p>
        </p:txBody>
      </p:sp>
      <p:sp>
        <p:nvSpPr>
          <p:cNvPr id="79915" name="Text Box 43"/>
          <p:cNvSpPr txBox="1">
            <a:spLocks noChangeArrowheads="1"/>
          </p:cNvSpPr>
          <p:nvPr/>
        </p:nvSpPr>
        <p:spPr bwMode="auto">
          <a:xfrm>
            <a:off x="3513138" y="4133850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1</a:t>
            </a:r>
          </a:p>
        </p:txBody>
      </p:sp>
      <p:sp>
        <p:nvSpPr>
          <p:cNvPr id="79916" name="Line 44"/>
          <p:cNvSpPr>
            <a:spLocks noChangeShapeType="1"/>
          </p:cNvSpPr>
          <p:nvPr/>
        </p:nvSpPr>
        <p:spPr bwMode="auto">
          <a:xfrm>
            <a:off x="3740150" y="2344738"/>
            <a:ext cx="0" cy="150018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 type="none" w="sm" len="lg"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17" name="Text Box 45"/>
          <p:cNvSpPr txBox="1">
            <a:spLocks noChangeArrowheads="1"/>
          </p:cNvSpPr>
          <p:nvPr/>
        </p:nvSpPr>
        <p:spPr bwMode="auto">
          <a:xfrm>
            <a:off x="3284538" y="2516188"/>
            <a:ext cx="398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k’</a:t>
            </a:r>
          </a:p>
        </p:txBody>
      </p:sp>
      <p:sp>
        <p:nvSpPr>
          <p:cNvPr id="79918" name="Line 46"/>
          <p:cNvSpPr>
            <a:spLocks noChangeShapeType="1"/>
          </p:cNvSpPr>
          <p:nvPr/>
        </p:nvSpPr>
        <p:spPr bwMode="auto">
          <a:xfrm>
            <a:off x="2438400" y="4229100"/>
            <a:ext cx="1373188" cy="33337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19" name="Line 47"/>
          <p:cNvSpPr>
            <a:spLocks noChangeShapeType="1"/>
          </p:cNvSpPr>
          <p:nvPr/>
        </p:nvSpPr>
        <p:spPr bwMode="auto">
          <a:xfrm flipV="1">
            <a:off x="2438400" y="2773363"/>
            <a:ext cx="1373188" cy="541337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20" name="Text Box 48"/>
          <p:cNvSpPr txBox="1">
            <a:spLocks noChangeArrowheads="1"/>
          </p:cNvSpPr>
          <p:nvPr/>
        </p:nvSpPr>
        <p:spPr bwMode="auto">
          <a:xfrm>
            <a:off x="3367088" y="4379913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k</a:t>
            </a:r>
          </a:p>
        </p:txBody>
      </p:sp>
      <p:sp>
        <p:nvSpPr>
          <p:cNvPr id="79921" name="Line 49"/>
          <p:cNvSpPr>
            <a:spLocks noChangeShapeType="1"/>
          </p:cNvSpPr>
          <p:nvPr/>
        </p:nvSpPr>
        <p:spPr bwMode="auto">
          <a:xfrm flipV="1">
            <a:off x="3646488" y="4521200"/>
            <a:ext cx="0" cy="327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22" name="Line 50"/>
          <p:cNvSpPr>
            <a:spLocks noChangeShapeType="1"/>
          </p:cNvSpPr>
          <p:nvPr/>
        </p:nvSpPr>
        <p:spPr bwMode="auto">
          <a:xfrm flipH="1">
            <a:off x="3646488" y="4268788"/>
            <a:ext cx="4762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23" name="Line 51"/>
          <p:cNvSpPr>
            <a:spLocks noChangeShapeType="1"/>
          </p:cNvSpPr>
          <p:nvPr/>
        </p:nvSpPr>
        <p:spPr bwMode="auto">
          <a:xfrm>
            <a:off x="3648075" y="2413000"/>
            <a:ext cx="0" cy="4111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24" name="Oval 52"/>
          <p:cNvSpPr>
            <a:spLocks noChangeArrowheads="1"/>
          </p:cNvSpPr>
          <p:nvPr/>
        </p:nvSpPr>
        <p:spPr bwMode="auto">
          <a:xfrm>
            <a:off x="3619500" y="2808288"/>
            <a:ext cx="58738" cy="587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79925" name="Line 53"/>
          <p:cNvSpPr>
            <a:spLocks noChangeShapeType="1"/>
          </p:cNvSpPr>
          <p:nvPr/>
        </p:nvSpPr>
        <p:spPr bwMode="auto">
          <a:xfrm>
            <a:off x="3648075" y="2908300"/>
            <a:ext cx="0" cy="36353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26" name="Line 54"/>
          <p:cNvSpPr>
            <a:spLocks noChangeShapeType="1"/>
          </p:cNvSpPr>
          <p:nvPr/>
        </p:nvSpPr>
        <p:spPr bwMode="auto">
          <a:xfrm>
            <a:off x="3967163" y="3702050"/>
            <a:ext cx="0" cy="254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27" name="Line 55"/>
          <p:cNvSpPr>
            <a:spLocks noChangeShapeType="1"/>
          </p:cNvSpPr>
          <p:nvPr/>
        </p:nvSpPr>
        <p:spPr bwMode="auto">
          <a:xfrm flipV="1">
            <a:off x="3649663" y="3956050"/>
            <a:ext cx="317500" cy="12795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28" name="Line 56"/>
          <p:cNvSpPr>
            <a:spLocks noChangeShapeType="1"/>
          </p:cNvSpPr>
          <p:nvPr/>
        </p:nvSpPr>
        <p:spPr bwMode="auto">
          <a:xfrm flipH="1" flipV="1">
            <a:off x="3589338" y="1433513"/>
            <a:ext cx="55562" cy="34131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29" name="Oval 57"/>
          <p:cNvSpPr>
            <a:spLocks noChangeArrowheads="1"/>
          </p:cNvSpPr>
          <p:nvPr/>
        </p:nvSpPr>
        <p:spPr bwMode="auto">
          <a:xfrm>
            <a:off x="3616325" y="4492625"/>
            <a:ext cx="58738" cy="587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79930" name="Line 58"/>
          <p:cNvSpPr>
            <a:spLocks noChangeShapeType="1"/>
          </p:cNvSpPr>
          <p:nvPr/>
        </p:nvSpPr>
        <p:spPr bwMode="auto">
          <a:xfrm>
            <a:off x="3740150" y="3843338"/>
            <a:ext cx="0" cy="38735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79931" name="Line 59"/>
          <p:cNvSpPr>
            <a:spLocks noChangeShapeType="1"/>
          </p:cNvSpPr>
          <p:nvPr/>
        </p:nvSpPr>
        <p:spPr bwMode="auto">
          <a:xfrm>
            <a:off x="3813175" y="2776538"/>
            <a:ext cx="0" cy="1063625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9252" name="Rectangle 60"/>
          <p:cNvSpPr>
            <a:spLocks noChangeArrowheads="1"/>
          </p:cNvSpPr>
          <p:nvPr/>
        </p:nvSpPr>
        <p:spPr bwMode="auto">
          <a:xfrm>
            <a:off x="1187450" y="546100"/>
            <a:ext cx="5951538" cy="5983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79934" name="Text Box 62"/>
          <p:cNvSpPr txBox="1">
            <a:spLocks noChangeArrowheads="1"/>
          </p:cNvSpPr>
          <p:nvPr/>
        </p:nvSpPr>
        <p:spPr bwMode="auto">
          <a:xfrm>
            <a:off x="3937000" y="3440113"/>
            <a:ext cx="398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d’</a:t>
            </a:r>
          </a:p>
        </p:txBody>
      </p:sp>
      <p:sp>
        <p:nvSpPr>
          <p:cNvPr id="79935" name="Text Box 63"/>
          <p:cNvSpPr txBox="1">
            <a:spLocks noChangeArrowheads="1"/>
          </p:cNvSpPr>
          <p:nvPr/>
        </p:nvSpPr>
        <p:spPr bwMode="auto">
          <a:xfrm>
            <a:off x="3921125" y="3729038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smtClean="0">
                <a:solidFill>
                  <a:srgbClr val="000000"/>
                </a:solidFill>
                <a:latin typeface="ISOCPEUR" pitchFamily="34" charset="0"/>
              </a:rPr>
              <a:t>d</a:t>
            </a:r>
          </a:p>
        </p:txBody>
      </p:sp>
      <p:sp>
        <p:nvSpPr>
          <p:cNvPr id="79937" name="Line 65"/>
          <p:cNvSpPr>
            <a:spLocks noChangeShapeType="1"/>
          </p:cNvSpPr>
          <p:nvPr/>
        </p:nvSpPr>
        <p:spPr bwMode="auto">
          <a:xfrm>
            <a:off x="3646488" y="1774825"/>
            <a:ext cx="319087" cy="192881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endParaRPr lang="zh-CN" altLang="en-US" smtClean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9258" name="Text Box 68"/>
          <p:cNvSpPr txBox="1">
            <a:spLocks noChangeArrowheads="1"/>
          </p:cNvSpPr>
          <p:nvPr/>
        </p:nvSpPr>
        <p:spPr bwMode="auto">
          <a:xfrm>
            <a:off x="5292725" y="3108325"/>
            <a:ext cx="3851275" cy="320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500" b="1" dirty="0" smtClean="0">
                <a:solidFill>
                  <a:srgbClr val="000000"/>
                </a:solidFill>
                <a:latin typeface="ISOCPEUR" pitchFamily="34" charset="0"/>
              </a:rPr>
              <a:t>方法</a:t>
            </a:r>
            <a:r>
              <a:rPr lang="en-US" altLang="zh-CN" sz="1500" b="1" dirty="0" smtClean="0">
                <a:solidFill>
                  <a:srgbClr val="000000"/>
                </a:solidFill>
                <a:latin typeface="ISOCPEUR" pitchFamily="34" charset="0"/>
              </a:rPr>
              <a:t>2 </a:t>
            </a:r>
            <a:r>
              <a:rPr lang="zh-CN" altLang="en-US" sz="1500" b="1" dirty="0" smtClean="0">
                <a:solidFill>
                  <a:srgbClr val="000000"/>
                </a:solidFill>
                <a:latin typeface="ISOCPEUR" pitchFamily="34" charset="0"/>
              </a:rPr>
              <a:t>改进版</a:t>
            </a:r>
            <a:r>
              <a:rPr lang="en-US" altLang="zh-CN" sz="1500" b="1" dirty="0" smtClean="0">
                <a:solidFill>
                  <a:srgbClr val="000000"/>
                </a:solidFill>
                <a:latin typeface="ISOCPEUR" pitchFamily="34" charset="0"/>
              </a:rPr>
              <a:t>2</a:t>
            </a:r>
            <a:endParaRPr lang="el-GR" altLang="zh-CN" sz="1500" dirty="0" smtClean="0">
              <a:solidFill>
                <a:srgbClr val="000000"/>
              </a:solidFill>
              <a:latin typeface="宋体" charset="-122"/>
            </a:endParaRPr>
          </a:p>
        </p:txBody>
      </p:sp>
      <p:sp>
        <p:nvSpPr>
          <p:cNvPr id="9260" name="Text Box 7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2-2-2-3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　求直线 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EF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与由两相交直线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AB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、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AC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确定的平面的交点，并判断可见性。</a:t>
            </a:r>
          </a:p>
        </p:txBody>
      </p:sp>
      <p:sp>
        <p:nvSpPr>
          <p:cNvPr id="9261" name="Oval 74"/>
          <p:cNvSpPr>
            <a:spLocks noChangeArrowheads="1"/>
          </p:cNvSpPr>
          <p:nvPr/>
        </p:nvSpPr>
        <p:spPr bwMode="auto">
          <a:xfrm>
            <a:off x="200025" y="469900"/>
            <a:ext cx="514350" cy="4826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33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9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9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9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9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9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9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79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9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9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7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7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79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79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79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79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7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79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3" dur="500"/>
                                        <p:tgtEl>
                                          <p:spTgt spid="799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79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7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5" dur="500"/>
                                        <p:tgtEl>
                                          <p:spTgt spid="799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7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99" grpId="0" animBg="1"/>
      <p:bldP spid="79900" grpId="0" animBg="1"/>
      <p:bldP spid="79901" grpId="0" animBg="1"/>
      <p:bldP spid="79902" grpId="0" animBg="1"/>
      <p:bldP spid="79903" grpId="0" animBg="1"/>
      <p:bldP spid="79903" grpId="1" animBg="1"/>
      <p:bldP spid="79904" grpId="0" animBg="1"/>
      <p:bldP spid="79904" grpId="1" animBg="1"/>
      <p:bldP spid="79905" grpId="0" animBg="1"/>
      <p:bldP spid="79906" grpId="0" animBg="1"/>
      <p:bldP spid="79907" grpId="0"/>
      <p:bldP spid="79908" grpId="0" animBg="1"/>
      <p:bldP spid="79909" grpId="0" animBg="1"/>
      <p:bldP spid="79910" grpId="0"/>
      <p:bldP spid="79911" grpId="0"/>
      <p:bldP spid="79913" grpId="0"/>
      <p:bldP spid="79914" grpId="0"/>
      <p:bldP spid="79915" grpId="0"/>
      <p:bldP spid="79916" grpId="0" animBg="1"/>
      <p:bldP spid="79917" grpId="0"/>
      <p:bldP spid="79918" grpId="0" animBg="1"/>
      <p:bldP spid="79919" grpId="0" animBg="1"/>
      <p:bldP spid="79920" grpId="0"/>
      <p:bldP spid="79921" grpId="0" animBg="1"/>
      <p:bldP spid="79922" grpId="0" animBg="1"/>
      <p:bldP spid="79923" grpId="0" animBg="1"/>
      <p:bldP spid="79924" grpId="0" animBg="1"/>
      <p:bldP spid="79925" grpId="0" animBg="1"/>
      <p:bldP spid="79926" grpId="0" animBg="1"/>
      <p:bldP spid="79927" grpId="0" animBg="1"/>
      <p:bldP spid="79928" grpId="0" animBg="1"/>
      <p:bldP spid="79929" grpId="0" animBg="1"/>
      <p:bldP spid="79930" grpId="0" animBg="1"/>
      <p:bldP spid="79931" grpId="0" animBg="1"/>
      <p:bldP spid="79934" grpId="0"/>
      <p:bldP spid="79935" grpId="0"/>
      <p:bldP spid="7993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ChangeArrowheads="1"/>
          </p:cNvSpPr>
          <p:nvPr/>
        </p:nvSpPr>
        <p:spPr bwMode="auto">
          <a:xfrm>
            <a:off x="1187450" y="546100"/>
            <a:ext cx="5951538" cy="5983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10243" name="Text Box 7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2-2-2-3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　求直线 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EF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与由两相交直线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AB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、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AC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确定的平面的交点，并判断可见性。</a:t>
            </a:r>
          </a:p>
        </p:txBody>
      </p:sp>
      <p:sp>
        <p:nvSpPr>
          <p:cNvPr id="10244" name="Oval 8"/>
          <p:cNvSpPr>
            <a:spLocks noChangeArrowheads="1"/>
          </p:cNvSpPr>
          <p:nvPr/>
        </p:nvSpPr>
        <p:spPr bwMode="auto">
          <a:xfrm>
            <a:off x="200025" y="469900"/>
            <a:ext cx="514350" cy="4826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smtClean="0">
              <a:solidFill>
                <a:srgbClr val="FF0000"/>
              </a:solidFill>
            </a:endParaRPr>
          </a:p>
        </p:txBody>
      </p:sp>
      <p:pic>
        <p:nvPicPr>
          <p:cNvPr id="10245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1" t="21143" r="20026" b="31902"/>
          <a:stretch>
            <a:fillRect/>
          </a:stretch>
        </p:blipFill>
        <p:spPr bwMode="auto">
          <a:xfrm>
            <a:off x="1052513" y="666750"/>
            <a:ext cx="7485062" cy="573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46" name="Text Box 11"/>
          <p:cNvSpPr txBox="1">
            <a:spLocks noChangeArrowheads="1"/>
          </p:cNvSpPr>
          <p:nvPr/>
        </p:nvSpPr>
        <p:spPr bwMode="auto">
          <a:xfrm>
            <a:off x="6153150" y="792163"/>
            <a:ext cx="2524125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参考解法：</a:t>
            </a:r>
            <a:endParaRPr lang="el-GR" altLang="zh-CN" sz="2000" b="1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859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/>
          <a:stretch>
            <a:fillRect/>
          </a:stretch>
        </p:blipFill>
        <p:spPr bwMode="auto">
          <a:xfrm>
            <a:off x="1974850" y="469900"/>
            <a:ext cx="4770438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2-2-2-4 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求三角形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ABC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与矩形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DEFG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的相交的交线，并判断可见性。</a:t>
            </a:r>
          </a:p>
        </p:txBody>
      </p:sp>
      <p:sp>
        <p:nvSpPr>
          <p:cNvPr id="13316" name="Oval 4"/>
          <p:cNvSpPr>
            <a:spLocks noChangeArrowheads="1"/>
          </p:cNvSpPr>
          <p:nvPr/>
        </p:nvSpPr>
        <p:spPr bwMode="auto">
          <a:xfrm>
            <a:off x="200025" y="469900"/>
            <a:ext cx="514350" cy="4826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smtClean="0">
              <a:solidFill>
                <a:srgbClr val="FF0000"/>
              </a:solidFill>
            </a:endParaRPr>
          </a:p>
        </p:txBody>
      </p:sp>
      <p:sp>
        <p:nvSpPr>
          <p:cNvPr id="69637" name="Oval 5"/>
          <p:cNvSpPr>
            <a:spLocks noChangeArrowheads="1"/>
          </p:cNvSpPr>
          <p:nvPr/>
        </p:nvSpPr>
        <p:spPr bwMode="auto">
          <a:xfrm>
            <a:off x="4341813" y="2036763"/>
            <a:ext cx="514350" cy="4826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smtClean="0">
              <a:solidFill>
                <a:srgbClr val="FF0000"/>
              </a:solidFill>
            </a:endParaRPr>
          </a:p>
        </p:txBody>
      </p:sp>
      <p:sp>
        <p:nvSpPr>
          <p:cNvPr id="69638" name="Oval 6"/>
          <p:cNvSpPr>
            <a:spLocks noChangeArrowheads="1"/>
          </p:cNvSpPr>
          <p:nvPr/>
        </p:nvSpPr>
        <p:spPr bwMode="auto">
          <a:xfrm>
            <a:off x="3703638" y="4298950"/>
            <a:ext cx="638175" cy="566738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smtClean="0">
              <a:solidFill>
                <a:srgbClr val="FF0000"/>
              </a:solidFill>
            </a:endParaRPr>
          </a:p>
        </p:txBody>
      </p:sp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6426200" y="2932113"/>
            <a:ext cx="2378075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smtClean="0">
                <a:solidFill>
                  <a:srgbClr val="000000"/>
                </a:solidFill>
                <a:latin typeface="宋体" charset="-122"/>
              </a:rPr>
              <a:t>问题：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smtClean="0">
                <a:solidFill>
                  <a:srgbClr val="000000"/>
                </a:solidFill>
                <a:latin typeface="宋体" charset="-122"/>
              </a:rPr>
              <a:t>交线是两平面重叠部分的最小区域！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smtClean="0">
                <a:solidFill>
                  <a:srgbClr val="000000"/>
                </a:solidFill>
                <a:latin typeface="宋体" charset="-122"/>
              </a:rPr>
              <a:t>可见性，</a:t>
            </a:r>
            <a:r>
              <a:rPr lang="zh-CN" altLang="en-US" sz="1800" b="1" smtClean="0">
                <a:solidFill>
                  <a:srgbClr val="000000"/>
                </a:solidFill>
              </a:rPr>
              <a:t>如何理解</a:t>
            </a:r>
            <a:r>
              <a:rPr lang="zh-CN" altLang="en-US" sz="1800" b="1" smtClean="0">
                <a:solidFill>
                  <a:srgbClr val="000000"/>
                </a:solidFill>
                <a:latin typeface="Arial" charset="0"/>
              </a:rPr>
              <a:t>“</a:t>
            </a:r>
            <a:r>
              <a:rPr lang="zh-CN" altLang="en-US" sz="1800" b="1" smtClean="0">
                <a:solidFill>
                  <a:srgbClr val="000000"/>
                </a:solidFill>
              </a:rPr>
              <a:t>虚实相间</a:t>
            </a:r>
            <a:r>
              <a:rPr lang="zh-CN" altLang="en-US" sz="1800" b="1" smtClean="0">
                <a:solidFill>
                  <a:srgbClr val="000000"/>
                </a:solidFill>
                <a:latin typeface="Arial" charset="0"/>
              </a:rPr>
              <a:t>”</a:t>
            </a:r>
            <a:r>
              <a:rPr lang="zh-CN" altLang="en-US" sz="1800" b="1" smtClean="0">
                <a:solidFill>
                  <a:srgbClr val="000000"/>
                </a:solidFill>
                <a:latin typeface="宋体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8471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96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96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96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7" grpId="0" animBg="1"/>
      <p:bldP spid="6963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/>
          <a:stretch>
            <a:fillRect/>
          </a:stretch>
        </p:blipFill>
        <p:spPr bwMode="auto">
          <a:xfrm>
            <a:off x="2162175" y="469900"/>
            <a:ext cx="4819650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2-2-2-5 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求作直线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AB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与相交两平面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CDF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及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DEF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的交点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,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并判断可见性。</a:t>
            </a:r>
          </a:p>
        </p:txBody>
      </p:sp>
    </p:spTree>
    <p:extLst>
      <p:ext uri="{BB962C8B-B14F-4D97-AF65-F5344CB8AC3E}">
        <p14:creationId xmlns:p14="http://schemas.microsoft.com/office/powerpoint/2010/main" val="2491429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/>
          <a:stretch>
            <a:fillRect/>
          </a:stretch>
        </p:blipFill>
        <p:spPr bwMode="auto">
          <a:xfrm>
            <a:off x="1822450" y="469900"/>
            <a:ext cx="4806950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2-2-2-6 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求作三角形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ABC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与三角形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DEF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的交线，并判别可见性。</a:t>
            </a:r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200025" y="469900"/>
            <a:ext cx="514350" cy="4826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smtClean="0">
              <a:solidFill>
                <a:srgbClr val="FF0000"/>
              </a:solidFill>
            </a:endParaRPr>
          </a:p>
        </p:txBody>
      </p:sp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6629400" y="3938588"/>
            <a:ext cx="2378075" cy="1281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 smtClean="0">
                <a:solidFill>
                  <a:srgbClr val="000000"/>
                </a:solidFill>
                <a:latin typeface="宋体" charset="-122"/>
              </a:rPr>
              <a:t>问题：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dirty="0" smtClean="0">
                <a:solidFill>
                  <a:srgbClr val="000000"/>
                </a:solidFill>
                <a:latin typeface="宋体" charset="-122"/>
              </a:rPr>
              <a:t>标注辅助平面。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dirty="0" smtClean="0">
                <a:solidFill>
                  <a:srgbClr val="000000"/>
                </a:solidFill>
                <a:latin typeface="宋体" charset="-122"/>
              </a:rPr>
              <a:t>使用不同字母标记不同的辅助平面。</a:t>
            </a:r>
          </a:p>
        </p:txBody>
      </p:sp>
    </p:spTree>
    <p:extLst>
      <p:ext uri="{BB962C8B-B14F-4D97-AF65-F5344CB8AC3E}">
        <p14:creationId xmlns:p14="http://schemas.microsoft.com/office/powerpoint/2010/main" val="69967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7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9" t="21614" r="17084" b="20378"/>
          <a:stretch>
            <a:fillRect/>
          </a:stretch>
        </p:blipFill>
        <p:spPr bwMode="auto">
          <a:xfrm>
            <a:off x="455613" y="660400"/>
            <a:ext cx="8407400" cy="565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7" name="Oval 3"/>
          <p:cNvSpPr>
            <a:spLocks noChangeArrowheads="1"/>
          </p:cNvSpPr>
          <p:nvPr/>
        </p:nvSpPr>
        <p:spPr bwMode="auto">
          <a:xfrm>
            <a:off x="177800" y="477838"/>
            <a:ext cx="439738" cy="4191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177800" y="133350"/>
            <a:ext cx="6975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2-2-2-7 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过点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作直线与两已知直线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BC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和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EF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相交。</a:t>
            </a:r>
          </a:p>
        </p:txBody>
      </p:sp>
      <p:sp>
        <p:nvSpPr>
          <p:cNvPr id="117765" name="Text Box 5"/>
          <p:cNvSpPr txBox="1">
            <a:spLocks noChangeArrowheads="1"/>
          </p:cNvSpPr>
          <p:nvPr/>
        </p:nvSpPr>
        <p:spPr bwMode="auto">
          <a:xfrm>
            <a:off x="6484938" y="5586413"/>
            <a:ext cx="2378075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smtClean="0">
                <a:solidFill>
                  <a:srgbClr val="000000"/>
                </a:solidFill>
                <a:latin typeface="宋体" charset="-122"/>
              </a:rPr>
              <a:t>问题：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smtClean="0">
                <a:solidFill>
                  <a:srgbClr val="000000"/>
                </a:solidFill>
                <a:latin typeface="宋体" charset="-122"/>
              </a:rPr>
              <a:t>所求直线要完整。</a:t>
            </a:r>
          </a:p>
        </p:txBody>
      </p:sp>
    </p:spTree>
    <p:extLst>
      <p:ext uri="{BB962C8B-B14F-4D97-AF65-F5344CB8AC3E}">
        <p14:creationId xmlns:p14="http://schemas.microsoft.com/office/powerpoint/2010/main" val="400893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7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7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59" t="17204" r="17409" b="24707"/>
          <a:stretch>
            <a:fillRect/>
          </a:stretch>
        </p:blipFill>
        <p:spPr bwMode="auto">
          <a:xfrm>
            <a:off x="428625" y="755650"/>
            <a:ext cx="8367713" cy="566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1" name="Oval 3"/>
          <p:cNvSpPr>
            <a:spLocks noChangeArrowheads="1"/>
          </p:cNvSpPr>
          <p:nvPr/>
        </p:nvSpPr>
        <p:spPr bwMode="auto">
          <a:xfrm>
            <a:off x="177800" y="477838"/>
            <a:ext cx="439738" cy="4191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smtClean="0">
              <a:solidFill>
                <a:srgbClr val="000000"/>
              </a:solidFill>
            </a:endParaRP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177800" y="133350"/>
            <a:ext cx="6975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2-2-2-7 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过点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作直线与两已知直线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BC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和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EF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相交。</a:t>
            </a:r>
          </a:p>
        </p:txBody>
      </p:sp>
    </p:spTree>
    <p:extLst>
      <p:ext uri="{BB962C8B-B14F-4D97-AF65-F5344CB8AC3E}">
        <p14:creationId xmlns:p14="http://schemas.microsoft.com/office/powerpoint/2010/main" val="403173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5" t="9241" r="18889" b="14592"/>
          <a:stretch>
            <a:fillRect/>
          </a:stretch>
        </p:blipFill>
        <p:spPr bwMode="auto">
          <a:xfrm>
            <a:off x="1231900" y="1009650"/>
            <a:ext cx="7639050" cy="530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177800" y="133350"/>
            <a:ext cx="69754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2-2-2-8 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求作两已知平面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ABC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与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DEFG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的交线。</a:t>
            </a:r>
          </a:p>
        </p:txBody>
      </p:sp>
    </p:spTree>
    <p:extLst>
      <p:ext uri="{BB962C8B-B14F-4D97-AF65-F5344CB8AC3E}">
        <p14:creationId xmlns:p14="http://schemas.microsoft.com/office/powerpoint/2010/main" val="55851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/>
          <a:stretch>
            <a:fillRect/>
          </a:stretch>
        </p:blipFill>
        <p:spPr bwMode="auto">
          <a:xfrm>
            <a:off x="2182813" y="469900"/>
            <a:ext cx="4776787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2-2-3-1 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求作三角形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ABC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的垂心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K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69037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/>
          <a:stretch>
            <a:fillRect/>
          </a:stretch>
        </p:blipFill>
        <p:spPr bwMode="auto">
          <a:xfrm>
            <a:off x="1835150" y="469900"/>
            <a:ext cx="4781550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2-2-3-2 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试作一正方形 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ABCD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，其 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BC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边在正平线 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BM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上。</a:t>
            </a:r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200025" y="469900"/>
            <a:ext cx="514350" cy="4826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smtClean="0">
              <a:solidFill>
                <a:srgbClr val="FF0000"/>
              </a:solidFill>
            </a:endParaRPr>
          </a:p>
        </p:txBody>
      </p:sp>
      <p:sp>
        <p:nvSpPr>
          <p:cNvPr id="65541" name="Text Box 5"/>
          <p:cNvSpPr txBox="1">
            <a:spLocks noChangeArrowheads="1"/>
          </p:cNvSpPr>
          <p:nvPr/>
        </p:nvSpPr>
        <p:spPr bwMode="auto">
          <a:xfrm>
            <a:off x="6146800" y="4697413"/>
            <a:ext cx="2378075" cy="1281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 smtClean="0">
                <a:solidFill>
                  <a:srgbClr val="000000"/>
                </a:solidFill>
                <a:latin typeface="宋体" charset="-122"/>
              </a:rPr>
              <a:t>问题：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dirty="0" smtClean="0">
                <a:solidFill>
                  <a:srgbClr val="000000"/>
                </a:solidFill>
                <a:latin typeface="宋体" charset="-122"/>
              </a:rPr>
              <a:t>做题过程要标记。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dirty="0" smtClean="0">
                <a:solidFill>
                  <a:srgbClr val="000000"/>
                </a:solidFill>
                <a:latin typeface="宋体" charset="-122"/>
              </a:rPr>
              <a:t>度量问题。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dirty="0" smtClean="0">
                <a:solidFill>
                  <a:srgbClr val="FF0000"/>
                </a:solidFill>
                <a:latin typeface="宋体" charset="-122"/>
              </a:rPr>
              <a:t>一解 </a:t>
            </a:r>
            <a:r>
              <a:rPr lang="en-US" altLang="zh-CN" sz="1800" b="1" dirty="0" smtClean="0">
                <a:solidFill>
                  <a:srgbClr val="FF0000"/>
                </a:solidFill>
                <a:latin typeface="宋体" charset="-122"/>
              </a:rPr>
              <a:t>or 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charset="-122"/>
              </a:rPr>
              <a:t>两解？</a:t>
            </a:r>
          </a:p>
        </p:txBody>
      </p:sp>
    </p:spTree>
    <p:extLst>
      <p:ext uri="{BB962C8B-B14F-4D97-AF65-F5344CB8AC3E}">
        <p14:creationId xmlns:p14="http://schemas.microsoft.com/office/powerpoint/2010/main" val="110182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5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5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5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5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/>
          <a:stretch>
            <a:fillRect/>
          </a:stretch>
        </p:blipFill>
        <p:spPr bwMode="auto">
          <a:xfrm>
            <a:off x="1264876" y="503767"/>
            <a:ext cx="4740275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ext Box 4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2-2-3-3 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求作点Ｐ到三角形 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ABC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的真实距离。</a:t>
            </a:r>
          </a:p>
        </p:txBody>
      </p:sp>
      <p:sp>
        <p:nvSpPr>
          <p:cNvPr id="21508" name="Oval 5"/>
          <p:cNvSpPr>
            <a:spLocks noChangeArrowheads="1"/>
          </p:cNvSpPr>
          <p:nvPr/>
        </p:nvSpPr>
        <p:spPr bwMode="auto">
          <a:xfrm>
            <a:off x="200025" y="469900"/>
            <a:ext cx="514350" cy="4826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smtClean="0">
              <a:solidFill>
                <a:srgbClr val="FF0000"/>
              </a:solidFill>
            </a:endParaRPr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6145210" y="2927689"/>
            <a:ext cx="237807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</a:rPr>
              <a:t>解题思路：</a:t>
            </a:r>
          </a:p>
          <a:p>
            <a:pPr algn="l" eaLnBrk="1" hangingPunct="1">
              <a:buFontTx/>
              <a:buAutoNum type="arabicPeriod"/>
              <a:defRPr/>
            </a:pP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做垂线；</a:t>
            </a:r>
            <a:endParaRPr lang="en-US" altLang="zh-CN" b="1" dirty="0" smtClean="0">
              <a:solidFill>
                <a:srgbClr val="000000"/>
              </a:solidFill>
              <a:latin typeface="宋体" pitchFamily="2" charset="-122"/>
            </a:endParaRPr>
          </a:p>
          <a:p>
            <a:pPr marL="0" indent="0" algn="l" eaLnBrk="1" hangingPunct="1">
              <a:defRPr/>
            </a:pP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2. 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求交点；</a:t>
            </a:r>
          </a:p>
          <a:p>
            <a:pPr marL="0" indent="0" algn="l" eaLnBrk="1" hangingPunct="1">
              <a:defRPr/>
            </a:pPr>
            <a:r>
              <a:rPr lang="en-US" altLang="zh-CN" b="1" dirty="0" smtClean="0">
                <a:latin typeface="宋体" pitchFamily="2" charset="-122"/>
              </a:rPr>
              <a:t>3. </a:t>
            </a:r>
            <a:r>
              <a:rPr lang="zh-CN" altLang="en-US" b="1" dirty="0" smtClean="0">
                <a:latin typeface="宋体" pitchFamily="2" charset="-122"/>
              </a:rPr>
              <a:t>求实长；</a:t>
            </a:r>
            <a:endParaRPr lang="en-US" altLang="zh-CN" b="1" dirty="0" smtClean="0">
              <a:latin typeface="宋体" pitchFamily="2" charset="-122"/>
            </a:endParaRPr>
          </a:p>
          <a:p>
            <a:pPr marL="0" indent="0" algn="l" eaLnBrk="1" hangingPunct="1">
              <a:defRPr/>
            </a:pP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4. 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可见性。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162142" y="4592815"/>
            <a:ext cx="2378075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714500" indent="-3429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171700" indent="-3429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</a:rPr>
              <a:t>注意问题：</a:t>
            </a:r>
          </a:p>
          <a:p>
            <a:pPr algn="l" eaLnBrk="1" hangingPunct="1">
              <a:buFontTx/>
              <a:buAutoNum type="arabicPeriod"/>
              <a:defRPr/>
            </a:pP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标注辅助投影面；</a:t>
            </a:r>
            <a:endParaRPr lang="en-US" altLang="zh-CN" b="1" dirty="0" smtClean="0">
              <a:solidFill>
                <a:srgbClr val="000000"/>
              </a:solidFill>
              <a:latin typeface="宋体" pitchFamily="2" charset="-122"/>
            </a:endParaRPr>
          </a:p>
          <a:p>
            <a:pPr marL="0" indent="0" algn="l" eaLnBrk="1" hangingPunct="1">
              <a:defRPr/>
            </a:pP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2. 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可见性判断；</a:t>
            </a:r>
          </a:p>
          <a:p>
            <a:pPr marL="0" indent="0" algn="l" eaLnBrk="1" hangingPunct="1">
              <a:defRPr/>
            </a:pPr>
            <a:r>
              <a:rPr lang="en-US" altLang="zh-CN" b="1" dirty="0" smtClean="0">
                <a:latin typeface="宋体" pitchFamily="2" charset="-122"/>
              </a:rPr>
              <a:t>3. </a:t>
            </a:r>
            <a:r>
              <a:rPr lang="zh-CN" altLang="en-US" b="1" dirty="0" smtClean="0">
                <a:latin typeface="宋体" pitchFamily="2" charset="-122"/>
              </a:rPr>
              <a:t>绘图的可视性。</a:t>
            </a:r>
            <a:endParaRPr lang="zh-CN" altLang="en-US" b="1" dirty="0" smtClean="0">
              <a:solidFill>
                <a:srgbClr val="000000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111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4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4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4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5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37"/>
          <a:stretch>
            <a:fillRect/>
          </a:stretch>
        </p:blipFill>
        <p:spPr bwMode="auto">
          <a:xfrm>
            <a:off x="1790700" y="469900"/>
            <a:ext cx="4806950" cy="619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0" y="133350"/>
            <a:ext cx="9144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2-2-3-4 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求三角形 </a:t>
            </a:r>
            <a:r>
              <a:rPr lang="en-US" altLang="zh-CN" sz="1600" b="1" smtClean="0">
                <a:solidFill>
                  <a:srgbClr val="000000"/>
                </a:solidFill>
                <a:latin typeface="宋体" charset="-122"/>
              </a:rPr>
              <a:t>ABC </a:t>
            </a:r>
            <a:r>
              <a:rPr lang="zh-CN" altLang="en-US" sz="1600" b="1" smtClean="0">
                <a:solidFill>
                  <a:srgbClr val="000000"/>
                </a:solidFill>
                <a:latin typeface="宋体" charset="-122"/>
              </a:rPr>
              <a:t>与Ｖ面所成倾角的实际大小。</a:t>
            </a: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6629400" y="3938588"/>
            <a:ext cx="23780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smtClean="0">
                <a:solidFill>
                  <a:srgbClr val="000000"/>
                </a:solidFill>
                <a:latin typeface="宋体" charset="-122"/>
              </a:rPr>
              <a:t>问题：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l-GR" altLang="zh-CN" sz="1800" b="1" i="1" smtClean="0">
                <a:solidFill>
                  <a:srgbClr val="000000"/>
                </a:solidFill>
                <a:latin typeface="宋体" charset="-122"/>
              </a:rPr>
              <a:t>α</a:t>
            </a:r>
            <a:r>
              <a:rPr lang="en-US" altLang="zh-CN" sz="1800" b="1" smtClean="0">
                <a:solidFill>
                  <a:srgbClr val="000000"/>
                </a:solidFill>
                <a:latin typeface="宋体" charset="-122"/>
              </a:rPr>
              <a:t> or </a:t>
            </a:r>
            <a:r>
              <a:rPr lang="el-GR" altLang="zh-CN" sz="1800" b="1" i="1" smtClean="0">
                <a:solidFill>
                  <a:srgbClr val="000000"/>
                </a:solidFill>
                <a:latin typeface="宋体" charset="-122"/>
              </a:rPr>
              <a:t>β</a:t>
            </a:r>
            <a:r>
              <a:rPr lang="en-US" altLang="zh-CN" sz="1800" b="1" smtClean="0">
                <a:solidFill>
                  <a:srgbClr val="000000"/>
                </a:solidFill>
                <a:latin typeface="宋体" charset="-122"/>
              </a:rPr>
              <a:t> </a:t>
            </a:r>
            <a:r>
              <a:rPr lang="zh-CN" altLang="en-US" sz="1800" b="1" smtClean="0">
                <a:solidFill>
                  <a:srgbClr val="000000"/>
                </a:solidFill>
                <a:latin typeface="宋体" charset="-122"/>
              </a:rPr>
              <a:t>。</a:t>
            </a:r>
          </a:p>
          <a:p>
            <a:pPr algn="l" eaLnBrk="1" hangingPunct="1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zh-CN" altLang="en-US" sz="1800" b="1" smtClean="0">
                <a:solidFill>
                  <a:srgbClr val="000000"/>
                </a:solidFill>
                <a:latin typeface="宋体" charset="-122"/>
              </a:rPr>
              <a:t>哪个角度是</a:t>
            </a:r>
            <a:r>
              <a:rPr lang="el-GR" altLang="zh-CN" sz="1800" b="1" smtClean="0">
                <a:solidFill>
                  <a:srgbClr val="000000"/>
                </a:solidFill>
                <a:latin typeface="宋体" charset="-122"/>
              </a:rPr>
              <a:t>β</a:t>
            </a:r>
            <a:r>
              <a:rPr lang="zh-CN" altLang="en-US" sz="1800" b="1" smtClean="0">
                <a:solidFill>
                  <a:srgbClr val="000000"/>
                </a:solidFill>
                <a:latin typeface="宋体" charset="-122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378259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3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34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4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AutoShape 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actionButtonBlank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26979" name="Rectangle 3"/>
          <p:cNvSpPr>
            <a:spLocks noChangeArrowheads="1"/>
          </p:cNvSpPr>
          <p:nvPr/>
        </p:nvSpPr>
        <p:spPr bwMode="auto">
          <a:xfrm>
            <a:off x="498475" y="1566863"/>
            <a:ext cx="7840663" cy="304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57200" indent="-457200"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/>
              <a:t>We cannot change what we do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/>
              <a:t>until we change how we think,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/>
              <a:t>and we cannot change how we think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 dirty="0"/>
              <a:t>until we change who we are.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b="1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1800" b="1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1800" b="1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/>
              <a:t> </a:t>
            </a:r>
            <a:r>
              <a:rPr kumimoji="1" lang="en-US" altLang="zh-CN" sz="2000" b="1" dirty="0"/>
              <a:t>Stephanie Pace Marshall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800" b="1" dirty="0"/>
              <a:t> Administrator of the Illinois Mathematics and Science Academy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/>
    </p:bld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folHlink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4046</TotalTime>
  <Words>1016</Words>
  <Application>Microsoft Office PowerPoint</Application>
  <PresentationFormat>全屏显示(4:3)</PresentationFormat>
  <Paragraphs>227</Paragraphs>
  <Slides>43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6" baseType="lpstr">
      <vt:lpstr>Blends</vt:lpstr>
      <vt:lpstr>1_Blends</vt:lpstr>
      <vt:lpstr>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Li Tiemin</cp:lastModifiedBy>
  <cp:revision>135</cp:revision>
  <dcterms:created xsi:type="dcterms:W3CDTF">2006-04-04T11:38:05Z</dcterms:created>
  <dcterms:modified xsi:type="dcterms:W3CDTF">2023-10-04T11:11:36Z</dcterms:modified>
</cp:coreProperties>
</file>