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262" r:id="rId3"/>
    <p:sldId id="265" r:id="rId4"/>
    <p:sldId id="267" r:id="rId5"/>
    <p:sldId id="266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8" r:id="rId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53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884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399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E8BA582-8D7F-4863-ACE5-8F15C61724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71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D937E-A63B-4E9D-B2E6-52D4393851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12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EFC56-8EF3-4338-ADC8-3FF4229205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34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5D23F-EB1D-4267-8146-9817EF7043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161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5FFFE-ECED-4874-90C7-5E23D72787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233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2CEC4-A333-4D03-90BF-E6DE2EF05D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852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B7332-C0C0-4F7E-B314-FC01C2CA0C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7671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3C921-AA06-49C7-934D-84F3269B95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67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1BCC-4A27-4732-BCC0-2B7E62308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09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C06460-BDC8-4EF2-AEBA-89C801C683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897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80D78-86DC-4789-9968-33F00CF815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02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9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31D3D49-4F05-4A4C-8804-1CD7C4F47E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>
                <a:latin typeface="Times New Roman" pitchFamily="18" charset="0"/>
                <a:ea typeface="隶书" pitchFamily="49" charset="-122"/>
              </a:rPr>
              <a:t>第一讲习题答案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6000" b="1">
              <a:latin typeface="Times New Roman" pitchFamily="18" charset="0"/>
              <a:ea typeface="隶书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5400">
                <a:latin typeface="Times New Roman" pitchFamily="18" charset="0"/>
                <a:ea typeface="黑体" pitchFamily="2" charset="-122"/>
              </a:rPr>
              <a:t>点的投影</a:t>
            </a:r>
            <a:endParaRPr lang="en-US" altLang="zh-CN" sz="5400">
              <a:latin typeface="Times New Roman" pitchFamily="18" charset="0"/>
              <a:ea typeface="黑体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5400">
                <a:latin typeface="Times New Roman" pitchFamily="18" charset="0"/>
                <a:ea typeface="黑体" pitchFamily="2" charset="-122"/>
              </a:rPr>
              <a:t>直线的投影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6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"/>
          <a:stretch>
            <a:fillRect/>
          </a:stretch>
        </p:blipFill>
        <p:spPr bwMode="auto">
          <a:xfrm>
            <a:off x="4262438" y="452438"/>
            <a:ext cx="4724400" cy="598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1623"/>
          <p:cNvSpPr txBox="1">
            <a:spLocks noChangeArrowheads="1"/>
          </p:cNvSpPr>
          <p:nvPr/>
        </p:nvSpPr>
        <p:spPr bwMode="auto">
          <a:xfrm>
            <a:off x="0" y="115888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2-1-1-1  </a:t>
            </a:r>
            <a:r>
              <a:rPr lang="zh-CN" altLang="en-US" sz="1600" b="1">
                <a:latin typeface="宋体" pitchFamily="2" charset="-122"/>
              </a:rPr>
              <a:t>已知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D</a:t>
            </a:r>
            <a:r>
              <a:rPr lang="zh-CN" altLang="en-US" sz="1600" b="1">
                <a:latin typeface="宋体" pitchFamily="2" charset="-122"/>
              </a:rPr>
              <a:t>四点的投影图，画出它们的直观图，并说明其空间位置。</a:t>
            </a:r>
          </a:p>
        </p:txBody>
      </p:sp>
      <p:sp>
        <p:nvSpPr>
          <p:cNvPr id="11864" name="Text Box 1624"/>
          <p:cNvSpPr txBox="1">
            <a:spLocks noChangeArrowheads="1"/>
          </p:cNvSpPr>
          <p:nvPr/>
        </p:nvSpPr>
        <p:spPr bwMode="auto">
          <a:xfrm>
            <a:off x="628650" y="2500313"/>
            <a:ext cx="3741738" cy="342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细实线表示绘图的辅助线，虚线表示不可见的轮廓线。在不存在任何遮挡的情况下，不允许用虚线。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一点可能有多种功能。如果强调重合，使用“≡”；如果强调该投影是两个点的重影点，使用（ ）。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空间的</a:t>
            </a:r>
            <a:r>
              <a:rPr lang="en-US" altLang="zh-CN" sz="1600" b="1" dirty="0">
                <a:latin typeface="宋体" pitchFamily="2" charset="-122"/>
              </a:rPr>
              <a:t>4</a:t>
            </a:r>
            <a:r>
              <a:rPr lang="zh-CN" altLang="en-US" sz="1600" b="1" dirty="0">
                <a:latin typeface="宋体" pitchFamily="2" charset="-122"/>
              </a:rPr>
              <a:t>个分角：第一分角、第二分角、第三分角、第四分角，分别用罗马数字</a:t>
            </a:r>
            <a:r>
              <a:rPr lang="en-US" altLang="zh-CN" sz="1600" b="1" dirty="0">
                <a:latin typeface="宋体" pitchFamily="2" charset="-122"/>
              </a:rPr>
              <a:t>Ⅰ</a:t>
            </a:r>
            <a:r>
              <a:rPr lang="zh-CN" altLang="en-US" sz="1600" b="1" dirty="0">
                <a:latin typeface="宋体" pitchFamily="2" charset="-122"/>
              </a:rPr>
              <a:t>、</a:t>
            </a:r>
            <a:r>
              <a:rPr lang="en-US" altLang="zh-CN" sz="1600" b="1" dirty="0">
                <a:latin typeface="宋体" pitchFamily="2" charset="-122"/>
              </a:rPr>
              <a:t>Ⅱ</a:t>
            </a:r>
            <a:r>
              <a:rPr lang="zh-CN" altLang="en-US" sz="1600" b="1" dirty="0">
                <a:latin typeface="宋体" pitchFamily="2" charset="-122"/>
              </a:rPr>
              <a:t>、</a:t>
            </a:r>
            <a:r>
              <a:rPr lang="en-US" altLang="zh-CN" sz="1600" b="1" dirty="0">
                <a:latin typeface="宋体" pitchFamily="2" charset="-122"/>
              </a:rPr>
              <a:t>Ⅲ</a:t>
            </a:r>
            <a:r>
              <a:rPr lang="zh-CN" altLang="en-US" sz="1600" b="1" dirty="0">
                <a:latin typeface="宋体" pitchFamily="2" charset="-122"/>
              </a:rPr>
              <a:t>、</a:t>
            </a:r>
            <a:r>
              <a:rPr lang="en-US" altLang="zh-CN" sz="1600" b="1" dirty="0">
                <a:latin typeface="宋体" pitchFamily="2" charset="-122"/>
              </a:rPr>
              <a:t>Ⅳ</a:t>
            </a:r>
            <a:r>
              <a:rPr lang="zh-CN" altLang="en-US" sz="1600" b="1" dirty="0">
                <a:latin typeface="宋体" pitchFamily="2" charset="-122"/>
              </a:rPr>
              <a:t>表示。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直观图：空间的点必须标注，最好标注出投影</a:t>
            </a:r>
            <a:r>
              <a:rPr lang="zh-CN" altLang="en-US" sz="1800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9"/>
          <a:stretch>
            <a:fillRect/>
          </a:stretch>
        </p:blipFill>
        <p:spPr bwMode="auto">
          <a:xfrm>
            <a:off x="4137025" y="481013"/>
            <a:ext cx="4781550" cy="619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112713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2-1-1-2  </a:t>
            </a:r>
            <a:r>
              <a:rPr lang="zh-CN" altLang="en-US" sz="1600" b="1">
                <a:latin typeface="宋体" pitchFamily="2" charset="-122"/>
              </a:rPr>
              <a:t>已知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各点对投影面的距离，画出它们的三面投影图和直观图。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95288" y="3157538"/>
            <a:ext cx="374173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en-US" altLang="zh-CN" sz="1600" b="1" dirty="0">
                <a:latin typeface="宋体" pitchFamily="2" charset="-122"/>
              </a:rPr>
              <a:t>b”</a:t>
            </a:r>
            <a:r>
              <a:rPr lang="zh-CN" altLang="en-US" sz="1600" b="1" dirty="0">
                <a:latin typeface="宋体" pitchFamily="2" charset="-122"/>
              </a:rPr>
              <a:t>的位置。</a:t>
            </a:r>
            <a:endParaRPr lang="en-US" altLang="zh-CN" sz="16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投影图：各投影必须完全标注，其它各点可标注。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直观图：空间的点必须标注，最好标注出投影</a:t>
            </a:r>
            <a:r>
              <a:rPr lang="zh-CN" altLang="en-US" sz="1600" b="1" dirty="0" smtClean="0">
                <a:latin typeface="宋体" pitchFamily="2" charset="-122"/>
              </a:rPr>
              <a:t>。</a:t>
            </a:r>
            <a:endParaRPr lang="en-US" altLang="zh-CN" sz="1600" b="1" dirty="0" smtClean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一点可能有多种功能。如果强调重合</a:t>
            </a:r>
            <a:r>
              <a:rPr lang="zh-CN" altLang="en-US" sz="1600" b="1" dirty="0" smtClean="0">
                <a:latin typeface="宋体" pitchFamily="2" charset="-122"/>
              </a:rPr>
              <a:t>，可以使用</a:t>
            </a:r>
            <a:r>
              <a:rPr lang="zh-CN" altLang="en-US" sz="1600" b="1" dirty="0">
                <a:latin typeface="宋体" pitchFamily="2" charset="-122"/>
              </a:rPr>
              <a:t>“≡”；如果强调该投影是两个点的重影点，使用（ ）</a:t>
            </a:r>
            <a:r>
              <a:rPr lang="zh-CN" altLang="en-US" sz="1600" b="1" dirty="0" smtClean="0">
                <a:latin typeface="宋体" pitchFamily="2" charset="-122"/>
              </a:rPr>
              <a:t>。</a:t>
            </a:r>
            <a:endParaRPr lang="zh-CN" altLang="en-US" sz="16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600" b="1" dirty="0">
                <a:latin typeface="宋体" pitchFamily="2" charset="-122"/>
              </a:rPr>
              <a:t>度量必须准确，按照</a:t>
            </a:r>
            <a:r>
              <a:rPr lang="en-US" altLang="zh-CN" sz="1600" b="1" dirty="0" smtClean="0">
                <a:latin typeface="宋体" pitchFamily="2" charset="-122"/>
              </a:rPr>
              <a:t>1:1</a:t>
            </a:r>
            <a:r>
              <a:rPr lang="zh-CN" altLang="en-US" sz="1600" b="1" dirty="0" smtClean="0">
                <a:latin typeface="宋体" pitchFamily="2" charset="-122"/>
              </a:rPr>
              <a:t>，尤其注意</a:t>
            </a:r>
            <a:r>
              <a:rPr lang="en-US" altLang="zh-CN" sz="1600" b="1" dirty="0" smtClean="0">
                <a:latin typeface="宋体" pitchFamily="2" charset="-122"/>
              </a:rPr>
              <a:t>Y</a:t>
            </a:r>
            <a:r>
              <a:rPr lang="zh-CN" altLang="en-US" sz="1600" b="1" dirty="0" smtClean="0">
                <a:latin typeface="宋体" pitchFamily="2" charset="-122"/>
              </a:rPr>
              <a:t>方向。</a:t>
            </a:r>
            <a:endParaRPr lang="zh-CN" altLang="en-US" sz="1600" b="1" dirty="0">
              <a:latin typeface="宋体" pitchFamily="2" charset="-122"/>
            </a:endParaRPr>
          </a:p>
        </p:txBody>
      </p:sp>
      <p:sp>
        <p:nvSpPr>
          <p:cNvPr id="5125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6"/>
          <a:stretch>
            <a:fillRect/>
          </a:stretch>
        </p:blipFill>
        <p:spPr bwMode="auto">
          <a:xfrm>
            <a:off x="2252663" y="925513"/>
            <a:ext cx="6465887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111125"/>
            <a:ext cx="9144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2-1-1-3  </a:t>
            </a:r>
            <a:r>
              <a:rPr lang="zh-CN" altLang="en-US" sz="1600" b="1">
                <a:latin typeface="宋体" pitchFamily="2" charset="-122"/>
              </a:rPr>
              <a:t>已知点Ａ的坐标（</a:t>
            </a:r>
            <a:r>
              <a:rPr lang="en-US" altLang="zh-CN" sz="1600" b="1">
                <a:latin typeface="宋体" pitchFamily="2" charset="-122"/>
              </a:rPr>
              <a:t>40</a:t>
            </a:r>
            <a:r>
              <a:rPr lang="zh-CN" altLang="en-US" sz="1600" b="1">
                <a:latin typeface="宋体" pitchFamily="2" charset="-122"/>
              </a:rPr>
              <a:t>，</a:t>
            </a:r>
            <a:r>
              <a:rPr lang="en-US" altLang="zh-CN" sz="1600" b="1">
                <a:latin typeface="宋体" pitchFamily="2" charset="-122"/>
              </a:rPr>
              <a:t>15</a:t>
            </a:r>
            <a:r>
              <a:rPr lang="zh-CN" altLang="en-US" sz="1600" b="1">
                <a:latin typeface="宋体" pitchFamily="2" charset="-122"/>
              </a:rPr>
              <a:t>，</a:t>
            </a:r>
            <a:r>
              <a:rPr lang="en-US" altLang="zh-CN" sz="1600" b="1">
                <a:latin typeface="宋体" pitchFamily="2" charset="-122"/>
              </a:rPr>
              <a:t>0</a:t>
            </a:r>
            <a:r>
              <a:rPr lang="zh-CN" altLang="en-US" sz="1600" b="1">
                <a:latin typeface="宋体" pitchFamily="2" charset="-122"/>
              </a:rPr>
              <a:t>），画出其三面投影并作出点Ｂ和点Ｃ的三面投影。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宋体" pitchFamily="2" charset="-122"/>
              </a:rPr>
              <a:t> ⑴ 点</a:t>
            </a:r>
            <a:r>
              <a:rPr lang="en-US" altLang="zh-CN" sz="1600" b="1">
                <a:latin typeface="宋体" pitchFamily="2" charset="-122"/>
              </a:rPr>
              <a:t>B ——</a:t>
            </a:r>
            <a:r>
              <a:rPr lang="zh-CN" altLang="en-US" sz="1600" b="1">
                <a:latin typeface="宋体" pitchFamily="2" charset="-122"/>
              </a:rPr>
              <a:t>在点Ａ右面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，前面</a:t>
            </a:r>
            <a:r>
              <a:rPr lang="en-US" altLang="zh-CN" sz="1600" b="1">
                <a:latin typeface="宋体" pitchFamily="2" charset="-122"/>
              </a:rPr>
              <a:t>15</a:t>
            </a:r>
            <a:r>
              <a:rPr lang="zh-CN" altLang="en-US" sz="1600" b="1">
                <a:latin typeface="宋体" pitchFamily="2" charset="-122"/>
              </a:rPr>
              <a:t>，上面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； ⑵ 点</a:t>
            </a:r>
            <a:r>
              <a:rPr lang="en-US" altLang="zh-CN" sz="1600" b="1">
                <a:latin typeface="宋体" pitchFamily="2" charset="-122"/>
              </a:rPr>
              <a:t>C ——</a:t>
            </a:r>
            <a:r>
              <a:rPr lang="zh-CN" altLang="en-US" sz="1600" b="1">
                <a:latin typeface="宋体" pitchFamily="2" charset="-122"/>
              </a:rPr>
              <a:t>在点Ａ左面</a:t>
            </a:r>
            <a:r>
              <a:rPr lang="en-US" altLang="zh-CN" sz="1600" b="1">
                <a:latin typeface="宋体" pitchFamily="2" charset="-122"/>
              </a:rPr>
              <a:t>10</a:t>
            </a:r>
            <a:r>
              <a:rPr lang="zh-CN" altLang="en-US" sz="1600" b="1">
                <a:latin typeface="宋体" pitchFamily="2" charset="-122"/>
              </a:rPr>
              <a:t>，后面</a:t>
            </a:r>
            <a:r>
              <a:rPr lang="en-US" altLang="zh-CN" sz="1600" b="1">
                <a:latin typeface="宋体" pitchFamily="2" charset="-122"/>
              </a:rPr>
              <a:t>15</a:t>
            </a:r>
            <a:r>
              <a:rPr lang="zh-CN" altLang="en-US" sz="1600" b="1">
                <a:latin typeface="宋体" pitchFamily="2" charset="-122"/>
              </a:rPr>
              <a:t>，上面</a:t>
            </a:r>
            <a:r>
              <a:rPr lang="en-US" altLang="zh-CN" sz="1600" b="1">
                <a:latin typeface="宋体" pitchFamily="2" charset="-122"/>
              </a:rPr>
              <a:t>15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700088" y="4097338"/>
            <a:ext cx="3741737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en-US" altLang="zh-CN" sz="1800" b="1" dirty="0">
                <a:latin typeface="宋体" pitchFamily="2" charset="-122"/>
              </a:rPr>
              <a:t>a"</a:t>
            </a:r>
            <a:r>
              <a:rPr lang="zh-CN" altLang="en-US" sz="1800" b="1" dirty="0">
                <a:latin typeface="宋体" pitchFamily="2" charset="-122"/>
              </a:rPr>
              <a:t>的位置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800" b="1" dirty="0">
                <a:latin typeface="宋体" pitchFamily="2" charset="-122"/>
              </a:rPr>
              <a:t>表示重合可以使用“≡”。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800" b="1" dirty="0">
                <a:latin typeface="宋体" pitchFamily="2" charset="-122"/>
              </a:rPr>
              <a:t>投影要标注完全。</a:t>
            </a:r>
          </a:p>
        </p:txBody>
      </p:sp>
      <p:sp>
        <p:nvSpPr>
          <p:cNvPr id="6149" name="plant"/>
          <p:cNvSpPr>
            <a:spLocks noEditPoints="1" noChangeArrowheads="1"/>
          </p:cNvSpPr>
          <p:nvPr/>
        </p:nvSpPr>
        <p:spPr bwMode="auto">
          <a:xfrm>
            <a:off x="188913" y="692150"/>
            <a:ext cx="331787" cy="388938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684 h 21600"/>
              <a:gd name="T8" fmla="*/ 78283561 w 21600"/>
              <a:gd name="T9" fmla="*/ 126105386 h 21600"/>
              <a:gd name="T10" fmla="*/ 39141895 w 21600"/>
              <a:gd name="T11" fmla="*/ 126105386 h 21600"/>
              <a:gd name="T12" fmla="*/ 0 w 21600"/>
              <a:gd name="T13" fmla="*/ 126105386 h 21600"/>
              <a:gd name="T14" fmla="*/ 0 w 21600"/>
              <a:gd name="T15" fmla="*/ 63052684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00"/>
          <a:stretch>
            <a:fillRect/>
          </a:stretch>
        </p:blipFill>
        <p:spPr bwMode="auto">
          <a:xfrm>
            <a:off x="2185988" y="879475"/>
            <a:ext cx="6497637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0" y="109538"/>
            <a:ext cx="91011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2-1-1-4  </a:t>
            </a:r>
            <a:r>
              <a:rPr lang="zh-CN" altLang="en-US" sz="1600" b="1">
                <a:latin typeface="宋体" pitchFamily="2" charset="-122"/>
              </a:rPr>
              <a:t>已知点Ａ的两投影，点Ａ、Ｂ对称于Ｖ、Ｗ两面角的分角面，求 </a:t>
            </a:r>
            <a:r>
              <a:rPr lang="en-US" altLang="zh-CN" sz="1600" b="1">
                <a:latin typeface="宋体" pitchFamily="2" charset="-122"/>
              </a:rPr>
              <a:t>a″</a:t>
            </a:r>
            <a:r>
              <a:rPr lang="zh-CN" altLang="en-US" sz="1600" b="1">
                <a:latin typeface="宋体" pitchFamily="2" charset="-122"/>
              </a:rPr>
              <a:t>和点Ｂ的三面投影。</a:t>
            </a: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416802" y="4884746"/>
            <a:ext cx="54647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宋体" pitchFamily="2" charset="-12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000" b="1" dirty="0">
                <a:latin typeface="宋体" pitchFamily="2" charset="-122"/>
              </a:rPr>
              <a:t>用图形的语言把解题的思路和过程表示清楚。</a:t>
            </a:r>
          </a:p>
        </p:txBody>
      </p:sp>
      <p:sp>
        <p:nvSpPr>
          <p:cNvPr id="7173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5"/>
          <a:stretch>
            <a:fillRect/>
          </a:stretch>
        </p:blipFill>
        <p:spPr bwMode="auto">
          <a:xfrm>
            <a:off x="2166938" y="844550"/>
            <a:ext cx="4810125" cy="585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131763"/>
            <a:ext cx="914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2-1-2-1  </a:t>
            </a:r>
            <a:r>
              <a:rPr lang="zh-CN" altLang="en-US" sz="1600" b="1">
                <a:latin typeface="宋体" pitchFamily="2" charset="-122"/>
              </a:rPr>
              <a:t>已知三脚架的两个投影，试判断</a:t>
            </a:r>
            <a:r>
              <a:rPr lang="en-US" altLang="zh-CN" sz="1600" b="1">
                <a:latin typeface="宋体" pitchFamily="2" charset="-122"/>
              </a:rPr>
              <a:t>S</a:t>
            </a:r>
            <a:r>
              <a:rPr lang="en-US" altLang="zh-CN" sz="1000" b="1">
                <a:latin typeface="宋体" pitchFamily="2" charset="-122"/>
              </a:rPr>
              <a:t>1</a:t>
            </a:r>
            <a:r>
              <a:rPr lang="en-US" altLang="zh-CN" sz="1600" b="1">
                <a:latin typeface="宋体" pitchFamily="2" charset="-122"/>
              </a:rPr>
              <a:t>S</a:t>
            </a:r>
            <a:r>
              <a:rPr lang="en-US" altLang="zh-CN" sz="1000" b="1">
                <a:latin typeface="宋体" pitchFamily="2" charset="-122"/>
              </a:rPr>
              <a:t>2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S</a:t>
            </a:r>
            <a:r>
              <a:rPr lang="en-US" altLang="zh-CN" sz="1000" b="1">
                <a:latin typeface="宋体" pitchFamily="2" charset="-122"/>
              </a:rPr>
              <a:t>2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S</a:t>
            </a:r>
            <a:r>
              <a:rPr lang="en-US" altLang="zh-CN" sz="1000" b="1">
                <a:latin typeface="宋体" pitchFamily="2" charset="-122"/>
              </a:rPr>
              <a:t>2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各为何种位置直线，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宋体" pitchFamily="2" charset="-122"/>
              </a:rPr>
              <a:t>         并作出它们的侧面投影。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9"/>
          <a:stretch>
            <a:fillRect/>
          </a:stretch>
        </p:blipFill>
        <p:spPr bwMode="auto">
          <a:xfrm>
            <a:off x="3544196" y="1219200"/>
            <a:ext cx="4810125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2-1-2-2  </a:t>
            </a:r>
            <a:r>
              <a:rPr lang="zh-CN" altLang="en-US" sz="1600" b="1">
                <a:latin typeface="宋体" pitchFamily="2" charset="-122"/>
              </a:rPr>
              <a:t>已知线段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的实长Ｌ及其一个投影，求作其另一投影。</a:t>
            </a:r>
          </a:p>
        </p:txBody>
      </p:sp>
      <p:sp>
        <p:nvSpPr>
          <p:cNvPr id="9220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5896" y="4926897"/>
            <a:ext cx="5349526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注意</a:t>
            </a:r>
            <a:r>
              <a:rPr lang="zh-CN" altLang="en-US" sz="2000" b="1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1" dirty="0">
              <a:latin typeface="宋体" pitchFamily="2" charset="-12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 smtClean="0">
                <a:latin typeface="宋体" pitchFamily="2" charset="-122"/>
              </a:rPr>
              <a:t>1. </a:t>
            </a:r>
            <a:r>
              <a:rPr lang="zh-CN" altLang="en-US" sz="1800" b="1" dirty="0" smtClean="0">
                <a:latin typeface="宋体" pitchFamily="2" charset="-122"/>
              </a:rPr>
              <a:t>用</a:t>
            </a:r>
            <a:r>
              <a:rPr lang="zh-CN" altLang="en-US" sz="1800" b="1" dirty="0" smtClean="0">
                <a:latin typeface="宋体" pitchFamily="2" charset="-122"/>
              </a:rPr>
              <a:t>几何作图的方法解决问题，并描述问题。</a:t>
            </a:r>
            <a:endParaRPr lang="en-US" altLang="zh-CN" sz="1800" b="1" dirty="0" smtClean="0">
              <a:latin typeface="宋体" pitchFamily="2" charset="-12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 smtClean="0">
                <a:latin typeface="宋体" pitchFamily="2" charset="-122"/>
              </a:rPr>
              <a:t>不能采用代数方法求解和表述</a:t>
            </a:r>
            <a:r>
              <a:rPr lang="zh-CN" altLang="en-US" sz="1800" b="1" dirty="0" smtClean="0">
                <a:latin typeface="宋体" pitchFamily="2" charset="-122"/>
              </a:rPr>
              <a:t>。</a:t>
            </a:r>
            <a:endParaRPr lang="en-US" altLang="zh-CN" sz="1800" b="1" dirty="0" smtClean="0">
              <a:latin typeface="宋体" pitchFamily="2" charset="-12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 smtClean="0">
                <a:latin typeface="宋体" pitchFamily="2" charset="-122"/>
              </a:rPr>
              <a:t>2. 1</a:t>
            </a:r>
            <a:r>
              <a:rPr lang="zh-CN" altLang="en-US" sz="1800" b="1" dirty="0" smtClean="0">
                <a:latin typeface="宋体" pitchFamily="2" charset="-122"/>
              </a:rPr>
              <a:t>解 </a:t>
            </a:r>
            <a:r>
              <a:rPr lang="en-US" altLang="zh-CN" sz="1800" b="1" dirty="0" smtClean="0">
                <a:latin typeface="宋体" pitchFamily="2" charset="-122"/>
              </a:rPr>
              <a:t>or 2</a:t>
            </a:r>
            <a:r>
              <a:rPr lang="zh-CN" altLang="en-US" sz="1800" b="1" smtClean="0">
                <a:latin typeface="宋体" pitchFamily="2" charset="-122"/>
              </a:rPr>
              <a:t>解。</a:t>
            </a:r>
            <a:endParaRPr lang="zh-CN" altLang="en-US" sz="18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2-1-2-2  </a:t>
            </a:r>
            <a:r>
              <a:rPr lang="zh-CN" altLang="en-US" sz="1600" b="1">
                <a:latin typeface="宋体" pitchFamily="2" charset="-122"/>
              </a:rPr>
              <a:t>已知线段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的实长Ｌ及其一个投影，求作其另一投影。</a:t>
            </a:r>
          </a:p>
        </p:txBody>
      </p:sp>
      <p:pic>
        <p:nvPicPr>
          <p:cNvPr id="1024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0" t="23909" r="19870" b="23730"/>
          <a:stretch>
            <a:fillRect/>
          </a:stretch>
        </p:blipFill>
        <p:spPr bwMode="auto">
          <a:xfrm>
            <a:off x="1533525" y="771525"/>
            <a:ext cx="5827713" cy="510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2" name="Oval 8"/>
          <p:cNvSpPr>
            <a:spLocks noChangeArrowheads="1"/>
          </p:cNvSpPr>
          <p:nvPr/>
        </p:nvSpPr>
        <p:spPr bwMode="auto">
          <a:xfrm>
            <a:off x="5589588" y="5222875"/>
            <a:ext cx="1250950" cy="6302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45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52400" y="6065838"/>
            <a:ext cx="802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itchFamily="2" charset="-122"/>
              </a:rPr>
              <a:t>注意</a:t>
            </a:r>
            <a:r>
              <a:rPr lang="zh-CN" altLang="en-US" sz="1800" b="1" dirty="0">
                <a:latin typeface="宋体" pitchFamily="2" charset="-122"/>
              </a:rPr>
              <a:t>：遇到多解的问题，必须判断和标记出有几个解，或画出全部解。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2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2-1-2-3  </a:t>
            </a:r>
            <a:r>
              <a:rPr lang="zh-CN" altLang="en-US" sz="1600" b="1">
                <a:latin typeface="宋体" pitchFamily="2" charset="-122"/>
              </a:rPr>
              <a:t>在线段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上取一点Ｃ，使Ａ、Ｃ两点之间的距离为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85"/>
          <a:stretch>
            <a:fillRect/>
          </a:stretch>
        </p:blipFill>
        <p:spPr bwMode="auto">
          <a:xfrm>
            <a:off x="2209800" y="1114425"/>
            <a:ext cx="4724400" cy="553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7"/>
          <a:stretch>
            <a:fillRect/>
          </a:stretch>
        </p:blipFill>
        <p:spPr bwMode="auto">
          <a:xfrm>
            <a:off x="2219325" y="984250"/>
            <a:ext cx="4705350" cy="56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2-1-2-4  </a:t>
            </a:r>
            <a:r>
              <a:rPr lang="zh-CN" altLang="en-US" sz="1600" b="1">
                <a:latin typeface="宋体" pitchFamily="2" charset="-122"/>
              </a:rPr>
              <a:t>在线段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上取一点Ｃ，使Ａ、Ｃ两点之间的距离为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sp>
        <p:nvSpPr>
          <p:cNvPr id="12292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4"/>
          <a:stretch>
            <a:fillRect/>
          </a:stretch>
        </p:blipFill>
        <p:spPr bwMode="auto">
          <a:xfrm>
            <a:off x="1331913" y="1249363"/>
            <a:ext cx="6480175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*2-1-2-5  </a:t>
            </a:r>
            <a:r>
              <a:rPr lang="zh-CN" altLang="en-US" sz="1600" b="1">
                <a:latin typeface="宋体" pitchFamily="2" charset="-122"/>
              </a:rPr>
              <a:t>在线段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上取一点Ｃ，使它与Ｈ面和Ｖ面的距离相等；再取一点Ｄ，使 </a:t>
            </a:r>
            <a:r>
              <a:rPr lang="en-US" altLang="zh-CN" sz="1600" b="1">
                <a:latin typeface="宋体" pitchFamily="2" charset="-122"/>
              </a:rPr>
              <a:t>Z</a:t>
            </a:r>
            <a:r>
              <a:rPr lang="en-US" altLang="zh-CN" sz="1000" b="1">
                <a:latin typeface="宋体" pitchFamily="2" charset="-122"/>
              </a:rPr>
              <a:t>d</a:t>
            </a:r>
            <a:r>
              <a:rPr lang="en-US" altLang="zh-CN" sz="1600" b="1">
                <a:latin typeface="宋体" pitchFamily="2" charset="-122"/>
              </a:rPr>
              <a:t>:Y</a:t>
            </a:r>
            <a:r>
              <a:rPr lang="en-US" altLang="zh-CN" sz="1000" b="1">
                <a:latin typeface="宋体" pitchFamily="2" charset="-122"/>
              </a:rPr>
              <a:t>d</a:t>
            </a:r>
            <a:r>
              <a:rPr lang="en-US" altLang="zh-CN" sz="1600" b="1">
                <a:latin typeface="宋体" pitchFamily="2" charset="-122"/>
              </a:rPr>
              <a:t> = 2:1 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*2-1-2-5  </a:t>
            </a:r>
            <a:r>
              <a:rPr lang="zh-CN" altLang="en-US" sz="1600" b="1">
                <a:latin typeface="宋体" pitchFamily="2" charset="-122"/>
              </a:rPr>
              <a:t>在线段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上取一点Ｃ，使它与Ｈ面和Ｖ面的距离相等；再取一点Ｄ，使 </a:t>
            </a:r>
            <a:r>
              <a:rPr lang="en-US" altLang="zh-CN" sz="1600" b="1">
                <a:latin typeface="宋体" pitchFamily="2" charset="-122"/>
              </a:rPr>
              <a:t>Z</a:t>
            </a:r>
            <a:r>
              <a:rPr lang="en-US" altLang="zh-CN" sz="1000" b="1">
                <a:latin typeface="宋体" pitchFamily="2" charset="-122"/>
              </a:rPr>
              <a:t>d</a:t>
            </a:r>
            <a:r>
              <a:rPr lang="en-US" altLang="zh-CN" sz="1600" b="1">
                <a:latin typeface="宋体" pitchFamily="2" charset="-122"/>
              </a:rPr>
              <a:t>:Y</a:t>
            </a:r>
            <a:r>
              <a:rPr lang="en-US" altLang="zh-CN" sz="1000" b="1">
                <a:latin typeface="宋体" pitchFamily="2" charset="-122"/>
              </a:rPr>
              <a:t>d</a:t>
            </a:r>
            <a:r>
              <a:rPr lang="en-US" altLang="zh-CN" sz="1600" b="1">
                <a:latin typeface="宋体" pitchFamily="2" charset="-122"/>
              </a:rPr>
              <a:t> = 2:1 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1390650" y="1131888"/>
          <a:ext cx="7753350" cy="545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Image" r:id="rId3" imgW="10336508" imgH="7276190" progId="Photoshop.Image.6">
                  <p:embed/>
                </p:oleObj>
              </mc:Choice>
              <mc:Fallback>
                <p:oleObj name="Image" r:id="rId3" imgW="10336508" imgH="7276190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1131888"/>
                        <a:ext cx="7753350" cy="545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31"/>
          <a:stretch>
            <a:fillRect/>
          </a:stretch>
        </p:blipFill>
        <p:spPr bwMode="auto">
          <a:xfrm>
            <a:off x="1331913" y="903288"/>
            <a:ext cx="6480175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2-1-2-6  已知直线 CD = DE ，试求直线 DE 的水平投影。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4"/>
          <a:stretch>
            <a:fillRect/>
          </a:stretch>
        </p:blipFill>
        <p:spPr bwMode="auto">
          <a:xfrm>
            <a:off x="2159000" y="1171575"/>
            <a:ext cx="4824413" cy="549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2-1-2-7  过点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en-US" altLang="en-US" sz="1600" b="1">
                <a:latin typeface="宋体" pitchFamily="2" charset="-122"/>
              </a:rPr>
              <a:t>作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en-US" altLang="en-US" sz="1600" b="1">
                <a:latin typeface="宋体" pitchFamily="2" charset="-122"/>
              </a:rPr>
              <a:t>的平行线CD，实长为20（先作出AB的水平投影，后作CD的三面投影）。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6200775" y="5095875"/>
            <a:ext cx="215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hlink"/>
                </a:solidFill>
                <a:latin typeface="宋体" pitchFamily="2" charset="-122"/>
              </a:rPr>
              <a:t>此题两解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2-1-2-8  作水平线与两已知直线 AB 和 CD 相交并与Ｈ面相距 25。</a:t>
            </a:r>
            <a:endParaRPr lang="zh-CN" altLang="en-US" sz="1600" b="1">
              <a:latin typeface="宋体" pitchFamily="2" charset="-122"/>
            </a:endParaRP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69"/>
          <a:stretch>
            <a:fillRect/>
          </a:stretch>
        </p:blipFill>
        <p:spPr bwMode="auto">
          <a:xfrm>
            <a:off x="1435100" y="598488"/>
            <a:ext cx="4864100" cy="567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649788" y="4859338"/>
            <a:ext cx="425608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宋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2000" b="1">
                <a:latin typeface="宋体" pitchFamily="2" charset="-122"/>
              </a:rPr>
              <a:t>W</a:t>
            </a:r>
            <a:r>
              <a:rPr lang="zh-CN" altLang="en-US" sz="2000" b="1">
                <a:latin typeface="宋体" pitchFamily="2" charset="-122"/>
              </a:rPr>
              <a:t>面的投影必须画完全。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可见的线条必须加粗。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直线一定要有头有尾，标记字母。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箭头的使用问题。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181100" y="5416550"/>
            <a:ext cx="2973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hlink"/>
                </a:solidFill>
                <a:latin typeface="宋体" pitchFamily="2" charset="-122"/>
              </a:rPr>
              <a:t>1</a:t>
            </a:r>
            <a:r>
              <a:rPr lang="zh-CN" altLang="en-US" sz="2800" b="1">
                <a:solidFill>
                  <a:schemeClr val="hlink"/>
                </a:solidFill>
                <a:latin typeface="宋体" pitchFamily="2" charset="-122"/>
              </a:rPr>
              <a:t>解 </a:t>
            </a:r>
            <a:r>
              <a:rPr lang="en-US" altLang="zh-CN" sz="2800" b="1">
                <a:solidFill>
                  <a:schemeClr val="hlink"/>
                </a:solidFill>
                <a:latin typeface="宋体" pitchFamily="2" charset="-122"/>
              </a:rPr>
              <a:t>or 2</a:t>
            </a:r>
            <a:r>
              <a:rPr lang="zh-CN" altLang="en-US" sz="2800" b="1">
                <a:solidFill>
                  <a:schemeClr val="hlink"/>
                </a:solidFill>
                <a:latin typeface="宋体" pitchFamily="2" charset="-122"/>
              </a:rPr>
              <a:t>解？</a:t>
            </a:r>
          </a:p>
        </p:txBody>
      </p:sp>
      <p:sp>
        <p:nvSpPr>
          <p:cNvPr id="17414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  <p:bldP spid="2458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2-1-2-8  作水平线与两已知直线 AB 和 CD 相交并与Ｈ面相距 25。</a:t>
            </a:r>
            <a:endParaRPr lang="zh-CN" altLang="en-US" sz="1600" b="1">
              <a:latin typeface="宋体" pitchFamily="2" charset="-122"/>
            </a:endParaRPr>
          </a:p>
        </p:txBody>
      </p:sp>
      <p:graphicFrame>
        <p:nvGraphicFramePr>
          <p:cNvPr id="18435" name="Object 5"/>
          <p:cNvGraphicFramePr>
            <a:graphicFrameLocks noChangeAspect="1"/>
          </p:cNvGraphicFramePr>
          <p:nvPr/>
        </p:nvGraphicFramePr>
        <p:xfrm>
          <a:off x="2138363" y="946150"/>
          <a:ext cx="5476875" cy="523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Image" r:id="rId3" imgW="7301587" imgH="6984127" progId="Photoshop.Image.6">
                  <p:embed/>
                </p:oleObj>
              </mc:Choice>
              <mc:Fallback>
                <p:oleObj name="Image" r:id="rId3" imgW="7301587" imgH="6984127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946150"/>
                        <a:ext cx="5476875" cy="523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2" name="Text Box 6"/>
          <p:cNvSpPr txBox="1">
            <a:spLocks noChangeArrowheads="1"/>
          </p:cNvSpPr>
          <p:nvPr/>
        </p:nvSpPr>
        <p:spPr bwMode="auto">
          <a:xfrm>
            <a:off x="101600" y="5173663"/>
            <a:ext cx="317217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chemeClr val="hlink"/>
                </a:solidFill>
                <a:latin typeface="宋体" pitchFamily="2" charset="-122"/>
              </a:rPr>
              <a:t>注意：</a:t>
            </a:r>
            <a:endParaRPr lang="zh-CN" altLang="en-US" sz="2400" b="1" dirty="0">
              <a:solidFill>
                <a:schemeClr val="hlink"/>
              </a:solidFill>
              <a:latin typeface="宋体" pitchFamily="2" charset="-12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 smtClean="0">
                <a:latin typeface="宋体" pitchFamily="2" charset="-122"/>
              </a:rPr>
              <a:t>1. </a:t>
            </a:r>
            <a:r>
              <a:rPr lang="zh-CN" altLang="en-US" sz="2000" b="1" dirty="0" smtClean="0">
                <a:latin typeface="宋体" pitchFamily="2" charset="-122"/>
              </a:rPr>
              <a:t>度量的方向和准确性。</a:t>
            </a:r>
            <a:endParaRPr lang="en-US" altLang="zh-CN" sz="2000" b="1" dirty="0" smtClean="0">
              <a:latin typeface="宋体" pitchFamily="2" charset="-122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 smtClean="0">
                <a:latin typeface="宋体" pitchFamily="2" charset="-122"/>
              </a:rPr>
              <a:t>2. </a:t>
            </a:r>
            <a:r>
              <a:rPr lang="zh-CN" altLang="en-US" sz="2000" b="1" dirty="0" smtClean="0">
                <a:latin typeface="宋体" pitchFamily="2" charset="-122"/>
              </a:rPr>
              <a:t>必须有解题过程。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18437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5"/>
          <a:stretch>
            <a:fillRect/>
          </a:stretch>
        </p:blipFill>
        <p:spPr bwMode="auto">
          <a:xfrm>
            <a:off x="2190750" y="914400"/>
            <a:ext cx="4762500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2-1-2-9  </a:t>
            </a:r>
            <a:r>
              <a:rPr lang="zh-CN" altLang="en-US" sz="1600" b="1">
                <a:latin typeface="宋体" pitchFamily="2" charset="-122"/>
              </a:rPr>
              <a:t>作一直线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与已知直线</a:t>
            </a:r>
            <a:r>
              <a:rPr lang="en-US" altLang="zh-CN" sz="1600" b="1">
                <a:latin typeface="宋体" pitchFamily="2" charset="-122"/>
              </a:rPr>
              <a:t>CD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相交，同时与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平行（点</a:t>
            </a:r>
            <a:r>
              <a:rPr lang="en-US" altLang="zh-CN" sz="1600" b="1">
                <a:latin typeface="宋体" pitchFamily="2" charset="-122"/>
              </a:rPr>
              <a:t>M</a:t>
            </a:r>
            <a:r>
              <a:rPr lang="zh-CN" altLang="en-US" sz="1600" b="1">
                <a:latin typeface="宋体" pitchFamily="2" charset="-122"/>
              </a:rPr>
              <a:t>在</a:t>
            </a:r>
            <a:r>
              <a:rPr lang="en-US" altLang="zh-CN" sz="1600" b="1">
                <a:latin typeface="宋体" pitchFamily="2" charset="-122"/>
              </a:rPr>
              <a:t>CD</a:t>
            </a:r>
            <a:r>
              <a:rPr lang="zh-CN" altLang="en-US" sz="1600" b="1">
                <a:latin typeface="宋体" pitchFamily="2" charset="-122"/>
              </a:rPr>
              <a:t>上，点</a:t>
            </a:r>
            <a:r>
              <a:rPr lang="en-US" altLang="zh-CN" sz="1600" b="1">
                <a:latin typeface="宋体" pitchFamily="2" charset="-122"/>
              </a:rPr>
              <a:t>N</a:t>
            </a:r>
            <a:r>
              <a:rPr lang="zh-CN" altLang="en-US" sz="1600" b="1">
                <a:latin typeface="宋体" pitchFamily="2" charset="-122"/>
              </a:rPr>
              <a:t>在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上）。</a:t>
            </a:r>
          </a:p>
        </p:txBody>
      </p:sp>
      <p:sp>
        <p:nvSpPr>
          <p:cNvPr id="19460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2-1-2-10  </a:t>
            </a:r>
            <a:r>
              <a:rPr lang="zh-CN" altLang="en-US" sz="1600" b="1">
                <a:latin typeface="宋体" pitchFamily="2" charset="-122"/>
              </a:rPr>
              <a:t>过点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作一直线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与直线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OX </a:t>
            </a:r>
            <a:r>
              <a:rPr lang="zh-CN" altLang="en-US" sz="1600" b="1">
                <a:latin typeface="宋体" pitchFamily="2" charset="-122"/>
              </a:rPr>
              <a:t>轴都相交。</a:t>
            </a:r>
          </a:p>
        </p:txBody>
      </p:sp>
      <p:graphicFrame>
        <p:nvGraphicFramePr>
          <p:cNvPr id="20483" name="Object 5"/>
          <p:cNvGraphicFramePr>
            <a:graphicFrameLocks noChangeAspect="1"/>
          </p:cNvGraphicFramePr>
          <p:nvPr/>
        </p:nvGraphicFramePr>
        <p:xfrm>
          <a:off x="1698625" y="1158875"/>
          <a:ext cx="7046913" cy="467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Image" r:id="rId3" imgW="10298413" imgH="6831746" progId="Photoshop.Image.6">
                  <p:embed/>
                </p:oleObj>
              </mc:Choice>
              <mc:Fallback>
                <p:oleObj name="Image" r:id="rId3" imgW="10298413" imgH="6831746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25" y="1158875"/>
                        <a:ext cx="7046913" cy="467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6146800" y="5459413"/>
            <a:ext cx="27543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  <a:latin typeface="宋体" pitchFamily="2" charset="-122"/>
              </a:rPr>
              <a:t>解题思路：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逆推法。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>
                <a:latin typeface="宋体" pitchFamily="2" charset="-122"/>
              </a:rPr>
              <a:t>构造法 </a:t>
            </a:r>
            <a:r>
              <a:rPr lang="en-US" altLang="zh-CN" sz="2000" b="1">
                <a:latin typeface="宋体" pitchFamily="2" charset="-122"/>
              </a:rPr>
              <a:t>or </a:t>
            </a:r>
            <a:r>
              <a:rPr lang="zh-CN" altLang="en-US" sz="2000" b="1">
                <a:latin typeface="宋体" pitchFamily="2" charset="-122"/>
              </a:rPr>
              <a:t>轨迹法。</a:t>
            </a:r>
          </a:p>
        </p:txBody>
      </p:sp>
      <p:sp>
        <p:nvSpPr>
          <p:cNvPr id="20485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2-1-2-10  </a:t>
            </a:r>
            <a:r>
              <a:rPr lang="zh-CN" altLang="en-US" sz="1600" b="1">
                <a:latin typeface="宋体" pitchFamily="2" charset="-122"/>
              </a:rPr>
              <a:t>过点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作一直线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与直线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OX </a:t>
            </a:r>
            <a:r>
              <a:rPr lang="zh-CN" altLang="en-US" sz="1600" b="1">
                <a:latin typeface="宋体" pitchFamily="2" charset="-122"/>
              </a:rPr>
              <a:t>轴都相交。</a:t>
            </a:r>
          </a:p>
        </p:txBody>
      </p:sp>
      <p:graphicFrame>
        <p:nvGraphicFramePr>
          <p:cNvPr id="21507" name="Object 5"/>
          <p:cNvGraphicFramePr>
            <a:graphicFrameLocks noChangeAspect="1"/>
          </p:cNvGraphicFramePr>
          <p:nvPr/>
        </p:nvGraphicFramePr>
        <p:xfrm>
          <a:off x="1433513" y="1076325"/>
          <a:ext cx="7477125" cy="503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Image" r:id="rId3" imgW="9968254" imgH="6717460" progId="Photoshop.Image.6">
                  <p:embed/>
                </p:oleObj>
              </mc:Choice>
              <mc:Fallback>
                <p:oleObj name="Image" r:id="rId3" imgW="9968254" imgH="6717460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1076325"/>
                        <a:ext cx="7477125" cy="503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4413956" y="6216651"/>
            <a:ext cx="33044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注意：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投影标注完全。</a:t>
            </a:r>
          </a:p>
        </p:txBody>
      </p:sp>
      <p:sp>
        <p:nvSpPr>
          <p:cNvPr id="21509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2-1-2-10  </a:t>
            </a:r>
            <a:r>
              <a:rPr lang="zh-CN" altLang="en-US" sz="1600" b="1">
                <a:latin typeface="宋体" pitchFamily="2" charset="-122"/>
              </a:rPr>
              <a:t>过点</a:t>
            </a:r>
            <a:r>
              <a:rPr lang="en-US" altLang="zh-CN" sz="1600" b="1">
                <a:latin typeface="宋体" pitchFamily="2" charset="-122"/>
              </a:rPr>
              <a:t>C</a:t>
            </a:r>
            <a:r>
              <a:rPr lang="zh-CN" altLang="en-US" sz="1600" b="1">
                <a:latin typeface="宋体" pitchFamily="2" charset="-122"/>
              </a:rPr>
              <a:t>作一直线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与直线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OX </a:t>
            </a:r>
            <a:r>
              <a:rPr lang="zh-CN" altLang="en-US" sz="1600" b="1">
                <a:latin typeface="宋体" pitchFamily="2" charset="-122"/>
              </a:rPr>
              <a:t>轴都相交。</a:t>
            </a:r>
          </a:p>
        </p:txBody>
      </p:sp>
      <p:pic>
        <p:nvPicPr>
          <p:cNvPr id="2253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1648" r="16992" b="28011"/>
          <a:stretch>
            <a:fillRect/>
          </a:stretch>
        </p:blipFill>
        <p:spPr bwMode="auto">
          <a:xfrm>
            <a:off x="619125" y="1000125"/>
            <a:ext cx="8093075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086350" y="3870325"/>
            <a:ext cx="389731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/>
              <a:t>画法几何通用的结题思路：</a:t>
            </a:r>
            <a:endParaRPr lang="en-US" altLang="zh-CN" sz="24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1. </a:t>
            </a:r>
            <a:r>
              <a:rPr lang="zh-CN" altLang="en-US" sz="2000" b="1"/>
              <a:t>读取</a:t>
            </a:r>
            <a:r>
              <a:rPr lang="zh-CN" altLang="en-US" sz="2000" b="1">
                <a:solidFill>
                  <a:srgbClr val="FF0000"/>
                </a:solidFill>
              </a:rPr>
              <a:t>平面</a:t>
            </a:r>
            <a:r>
              <a:rPr lang="zh-CN" altLang="en-US" sz="2000" b="1"/>
              <a:t>投影信息</a:t>
            </a:r>
            <a:endParaRPr lang="en-US" altLang="zh-CN" sz="20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2. </a:t>
            </a:r>
            <a:r>
              <a:rPr lang="zh-CN" altLang="en-US" sz="2000" b="1"/>
              <a:t>构建</a:t>
            </a:r>
            <a:r>
              <a:rPr lang="zh-CN" altLang="en-US" sz="2000" b="1">
                <a:solidFill>
                  <a:srgbClr val="FF0000"/>
                </a:solidFill>
              </a:rPr>
              <a:t>空间</a:t>
            </a:r>
            <a:r>
              <a:rPr lang="zh-CN" altLang="en-US" sz="2000" b="1"/>
              <a:t>立体模型</a:t>
            </a:r>
            <a:endParaRPr lang="en-US" altLang="zh-CN" sz="20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3. </a:t>
            </a:r>
            <a:r>
              <a:rPr lang="zh-CN" altLang="en-US" sz="2000" b="1"/>
              <a:t>规划</a:t>
            </a:r>
            <a:r>
              <a:rPr lang="zh-CN" altLang="en-US" sz="2000" b="1">
                <a:solidFill>
                  <a:srgbClr val="FF0000"/>
                </a:solidFill>
              </a:rPr>
              <a:t>空间</a:t>
            </a:r>
            <a:r>
              <a:rPr lang="zh-CN" altLang="en-US" sz="2000" b="1"/>
              <a:t>解题过程</a:t>
            </a:r>
            <a:endParaRPr lang="en-US" altLang="zh-CN" sz="20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/>
              <a:t>4. </a:t>
            </a:r>
            <a:r>
              <a:rPr lang="zh-CN" altLang="en-US" sz="2000" b="1"/>
              <a:t>利用</a:t>
            </a:r>
            <a:r>
              <a:rPr lang="zh-CN" altLang="en-US" sz="2000" b="1">
                <a:solidFill>
                  <a:srgbClr val="FF0000"/>
                </a:solidFill>
              </a:rPr>
              <a:t>平面</a:t>
            </a:r>
            <a:r>
              <a:rPr lang="zh-CN" altLang="en-US" sz="2000" b="1"/>
              <a:t>呈现结果</a:t>
            </a:r>
          </a:p>
        </p:txBody>
      </p:sp>
      <p:sp>
        <p:nvSpPr>
          <p:cNvPr id="22533" name="plant"/>
          <p:cNvSpPr>
            <a:spLocks noEditPoints="1" noChangeArrowheads="1"/>
          </p:cNvSpPr>
          <p:nvPr/>
        </p:nvSpPr>
        <p:spPr bwMode="auto">
          <a:xfrm>
            <a:off x="188913" y="452438"/>
            <a:ext cx="331787" cy="388937"/>
          </a:xfrm>
          <a:custGeom>
            <a:avLst/>
            <a:gdLst>
              <a:gd name="T0" fmla="*/ 0 w 21600"/>
              <a:gd name="T1" fmla="*/ 0 h 21600"/>
              <a:gd name="T2" fmla="*/ 39141895 w 21600"/>
              <a:gd name="T3" fmla="*/ 0 h 21600"/>
              <a:gd name="T4" fmla="*/ 78283561 w 21600"/>
              <a:gd name="T5" fmla="*/ 0 h 21600"/>
              <a:gd name="T6" fmla="*/ 78283561 w 21600"/>
              <a:gd name="T7" fmla="*/ 63052360 h 21600"/>
              <a:gd name="T8" fmla="*/ 78283561 w 21600"/>
              <a:gd name="T9" fmla="*/ 126104413 h 21600"/>
              <a:gd name="T10" fmla="*/ 39141895 w 21600"/>
              <a:gd name="T11" fmla="*/ 126104413 h 21600"/>
              <a:gd name="T12" fmla="*/ 0 w 21600"/>
              <a:gd name="T13" fmla="*/ 126104413 h 21600"/>
              <a:gd name="T14" fmla="*/ 0 w 21600"/>
              <a:gd name="T15" fmla="*/ 6305236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7100 w 21600"/>
              <a:gd name="T25" fmla="*/ 10092 h 21600"/>
              <a:gd name="T26" fmla="*/ 14545 w 21600"/>
              <a:gd name="T27" fmla="*/ 1357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9368" y="9002"/>
                </a:moveTo>
                <a:lnTo>
                  <a:pt x="9254" y="8422"/>
                </a:lnTo>
                <a:lnTo>
                  <a:pt x="9139" y="7935"/>
                </a:lnTo>
                <a:lnTo>
                  <a:pt x="8819" y="7355"/>
                </a:lnTo>
                <a:lnTo>
                  <a:pt x="8475" y="6728"/>
                </a:lnTo>
                <a:lnTo>
                  <a:pt x="8040" y="6287"/>
                </a:lnTo>
                <a:lnTo>
                  <a:pt x="7421" y="5707"/>
                </a:lnTo>
                <a:lnTo>
                  <a:pt x="6574" y="5429"/>
                </a:lnTo>
                <a:lnTo>
                  <a:pt x="5452" y="5313"/>
                </a:lnTo>
                <a:lnTo>
                  <a:pt x="4856" y="5220"/>
                </a:lnTo>
                <a:lnTo>
                  <a:pt x="4169" y="5220"/>
                </a:lnTo>
                <a:lnTo>
                  <a:pt x="3665" y="5104"/>
                </a:lnTo>
                <a:lnTo>
                  <a:pt x="3001" y="4872"/>
                </a:lnTo>
                <a:lnTo>
                  <a:pt x="2497" y="4756"/>
                </a:lnTo>
                <a:lnTo>
                  <a:pt x="2062" y="4408"/>
                </a:lnTo>
                <a:lnTo>
                  <a:pt x="1603" y="4083"/>
                </a:lnTo>
                <a:lnTo>
                  <a:pt x="1283" y="3689"/>
                </a:lnTo>
                <a:lnTo>
                  <a:pt x="1283" y="4315"/>
                </a:lnTo>
                <a:lnTo>
                  <a:pt x="1489" y="5104"/>
                </a:lnTo>
                <a:lnTo>
                  <a:pt x="1832" y="6055"/>
                </a:lnTo>
                <a:lnTo>
                  <a:pt x="2382" y="6914"/>
                </a:lnTo>
                <a:lnTo>
                  <a:pt x="2680" y="7471"/>
                </a:lnTo>
                <a:lnTo>
                  <a:pt x="3115" y="7935"/>
                </a:lnTo>
                <a:lnTo>
                  <a:pt x="3573" y="8213"/>
                </a:lnTo>
                <a:lnTo>
                  <a:pt x="4077" y="8654"/>
                </a:lnTo>
                <a:lnTo>
                  <a:pt x="4627" y="9002"/>
                </a:lnTo>
                <a:lnTo>
                  <a:pt x="5245" y="9234"/>
                </a:lnTo>
                <a:lnTo>
                  <a:pt x="6024" y="9443"/>
                </a:lnTo>
                <a:lnTo>
                  <a:pt x="6757" y="9628"/>
                </a:lnTo>
                <a:lnTo>
                  <a:pt x="5177" y="10069"/>
                </a:lnTo>
                <a:lnTo>
                  <a:pt x="3963" y="10649"/>
                </a:lnTo>
                <a:lnTo>
                  <a:pt x="3344" y="11044"/>
                </a:lnTo>
                <a:lnTo>
                  <a:pt x="2886" y="11600"/>
                </a:lnTo>
                <a:lnTo>
                  <a:pt x="2497" y="12041"/>
                </a:lnTo>
                <a:lnTo>
                  <a:pt x="1947" y="12343"/>
                </a:lnTo>
                <a:lnTo>
                  <a:pt x="1168" y="12668"/>
                </a:lnTo>
                <a:lnTo>
                  <a:pt x="0" y="12900"/>
                </a:lnTo>
                <a:lnTo>
                  <a:pt x="435" y="13248"/>
                </a:lnTo>
                <a:lnTo>
                  <a:pt x="779" y="13456"/>
                </a:lnTo>
                <a:lnTo>
                  <a:pt x="1283" y="13642"/>
                </a:lnTo>
                <a:lnTo>
                  <a:pt x="1718" y="13758"/>
                </a:lnTo>
                <a:lnTo>
                  <a:pt x="2680" y="13851"/>
                </a:lnTo>
                <a:lnTo>
                  <a:pt x="3573" y="13758"/>
                </a:lnTo>
                <a:lnTo>
                  <a:pt x="4512" y="13526"/>
                </a:lnTo>
                <a:lnTo>
                  <a:pt x="5360" y="13248"/>
                </a:lnTo>
                <a:lnTo>
                  <a:pt x="6139" y="12900"/>
                </a:lnTo>
                <a:lnTo>
                  <a:pt x="6757" y="12552"/>
                </a:lnTo>
                <a:lnTo>
                  <a:pt x="6459" y="13132"/>
                </a:lnTo>
                <a:lnTo>
                  <a:pt x="6139" y="13642"/>
                </a:lnTo>
                <a:lnTo>
                  <a:pt x="5910" y="14199"/>
                </a:lnTo>
                <a:lnTo>
                  <a:pt x="5681" y="14663"/>
                </a:lnTo>
                <a:lnTo>
                  <a:pt x="5681" y="15150"/>
                </a:lnTo>
                <a:lnTo>
                  <a:pt x="5681" y="15730"/>
                </a:lnTo>
                <a:lnTo>
                  <a:pt x="5681" y="16241"/>
                </a:lnTo>
                <a:lnTo>
                  <a:pt x="5795" y="16913"/>
                </a:lnTo>
                <a:lnTo>
                  <a:pt x="5910" y="17586"/>
                </a:lnTo>
                <a:lnTo>
                  <a:pt x="5910" y="18213"/>
                </a:lnTo>
                <a:lnTo>
                  <a:pt x="5795" y="18885"/>
                </a:lnTo>
                <a:lnTo>
                  <a:pt x="5566" y="19396"/>
                </a:lnTo>
                <a:lnTo>
                  <a:pt x="5245" y="19976"/>
                </a:lnTo>
                <a:lnTo>
                  <a:pt x="4971" y="20370"/>
                </a:lnTo>
                <a:lnTo>
                  <a:pt x="4512" y="20811"/>
                </a:lnTo>
                <a:lnTo>
                  <a:pt x="4077" y="21043"/>
                </a:lnTo>
                <a:lnTo>
                  <a:pt x="5177" y="20927"/>
                </a:lnTo>
                <a:lnTo>
                  <a:pt x="6253" y="20486"/>
                </a:lnTo>
                <a:lnTo>
                  <a:pt x="7421" y="19976"/>
                </a:lnTo>
                <a:lnTo>
                  <a:pt x="8361" y="19187"/>
                </a:lnTo>
                <a:lnTo>
                  <a:pt x="8819" y="18769"/>
                </a:lnTo>
                <a:lnTo>
                  <a:pt x="9139" y="18213"/>
                </a:lnTo>
                <a:lnTo>
                  <a:pt x="9437" y="17772"/>
                </a:lnTo>
                <a:lnTo>
                  <a:pt x="9643" y="17261"/>
                </a:lnTo>
                <a:lnTo>
                  <a:pt x="9872" y="16681"/>
                </a:lnTo>
                <a:lnTo>
                  <a:pt x="9872" y="16171"/>
                </a:lnTo>
                <a:lnTo>
                  <a:pt x="9872" y="15614"/>
                </a:lnTo>
                <a:lnTo>
                  <a:pt x="9758" y="15057"/>
                </a:lnTo>
                <a:lnTo>
                  <a:pt x="10216" y="15498"/>
                </a:lnTo>
                <a:lnTo>
                  <a:pt x="10537" y="16241"/>
                </a:lnTo>
                <a:lnTo>
                  <a:pt x="10834" y="17145"/>
                </a:lnTo>
                <a:lnTo>
                  <a:pt x="11041" y="18213"/>
                </a:lnTo>
                <a:lnTo>
                  <a:pt x="11155" y="19187"/>
                </a:lnTo>
                <a:lnTo>
                  <a:pt x="11155" y="20185"/>
                </a:lnTo>
                <a:lnTo>
                  <a:pt x="11155" y="20579"/>
                </a:lnTo>
                <a:lnTo>
                  <a:pt x="11041" y="21043"/>
                </a:lnTo>
                <a:lnTo>
                  <a:pt x="10926" y="21391"/>
                </a:lnTo>
                <a:lnTo>
                  <a:pt x="10766" y="21600"/>
                </a:lnTo>
                <a:lnTo>
                  <a:pt x="11499" y="21484"/>
                </a:lnTo>
                <a:lnTo>
                  <a:pt x="12323" y="21043"/>
                </a:lnTo>
                <a:lnTo>
                  <a:pt x="13102" y="20370"/>
                </a:lnTo>
                <a:lnTo>
                  <a:pt x="13606" y="19628"/>
                </a:lnTo>
                <a:lnTo>
                  <a:pt x="13950" y="19071"/>
                </a:lnTo>
                <a:lnTo>
                  <a:pt x="14064" y="18677"/>
                </a:lnTo>
                <a:lnTo>
                  <a:pt x="14179" y="18097"/>
                </a:lnTo>
                <a:lnTo>
                  <a:pt x="14293" y="17586"/>
                </a:lnTo>
                <a:lnTo>
                  <a:pt x="14179" y="16913"/>
                </a:lnTo>
                <a:lnTo>
                  <a:pt x="14064" y="16241"/>
                </a:lnTo>
                <a:lnTo>
                  <a:pt x="13835" y="15614"/>
                </a:lnTo>
                <a:lnTo>
                  <a:pt x="13560" y="14872"/>
                </a:lnTo>
                <a:lnTo>
                  <a:pt x="13950" y="14941"/>
                </a:lnTo>
                <a:lnTo>
                  <a:pt x="14408" y="15150"/>
                </a:lnTo>
                <a:lnTo>
                  <a:pt x="14843" y="15266"/>
                </a:lnTo>
                <a:lnTo>
                  <a:pt x="15232" y="15614"/>
                </a:lnTo>
                <a:lnTo>
                  <a:pt x="15576" y="15846"/>
                </a:lnTo>
                <a:lnTo>
                  <a:pt x="15897" y="16171"/>
                </a:lnTo>
                <a:lnTo>
                  <a:pt x="16126" y="16473"/>
                </a:lnTo>
                <a:lnTo>
                  <a:pt x="16240" y="16913"/>
                </a:lnTo>
                <a:lnTo>
                  <a:pt x="16515" y="17261"/>
                </a:lnTo>
                <a:lnTo>
                  <a:pt x="17088" y="17586"/>
                </a:lnTo>
                <a:lnTo>
                  <a:pt x="17798" y="17865"/>
                </a:lnTo>
                <a:lnTo>
                  <a:pt x="18576" y="18097"/>
                </a:lnTo>
                <a:lnTo>
                  <a:pt x="19424" y="18213"/>
                </a:lnTo>
                <a:lnTo>
                  <a:pt x="20317" y="18213"/>
                </a:lnTo>
                <a:lnTo>
                  <a:pt x="21050" y="18213"/>
                </a:lnTo>
                <a:lnTo>
                  <a:pt x="21600" y="17865"/>
                </a:lnTo>
                <a:lnTo>
                  <a:pt x="21165" y="17656"/>
                </a:lnTo>
                <a:lnTo>
                  <a:pt x="20592" y="17470"/>
                </a:lnTo>
                <a:lnTo>
                  <a:pt x="20088" y="17029"/>
                </a:lnTo>
                <a:lnTo>
                  <a:pt x="19653" y="16681"/>
                </a:lnTo>
                <a:lnTo>
                  <a:pt x="19195" y="16241"/>
                </a:lnTo>
                <a:lnTo>
                  <a:pt x="18920" y="15962"/>
                </a:lnTo>
                <a:lnTo>
                  <a:pt x="18576" y="15498"/>
                </a:lnTo>
                <a:lnTo>
                  <a:pt x="18576" y="15057"/>
                </a:lnTo>
                <a:lnTo>
                  <a:pt x="18485" y="14756"/>
                </a:lnTo>
                <a:lnTo>
                  <a:pt x="18256" y="14199"/>
                </a:lnTo>
                <a:lnTo>
                  <a:pt x="17912" y="13526"/>
                </a:lnTo>
                <a:lnTo>
                  <a:pt x="17523" y="13016"/>
                </a:lnTo>
                <a:lnTo>
                  <a:pt x="16973" y="12436"/>
                </a:lnTo>
                <a:lnTo>
                  <a:pt x="16355" y="12041"/>
                </a:lnTo>
                <a:lnTo>
                  <a:pt x="16011" y="11832"/>
                </a:lnTo>
                <a:lnTo>
                  <a:pt x="15690" y="11716"/>
                </a:lnTo>
                <a:lnTo>
                  <a:pt x="15232" y="11716"/>
                </a:lnTo>
                <a:lnTo>
                  <a:pt x="14843" y="11716"/>
                </a:lnTo>
                <a:lnTo>
                  <a:pt x="15461" y="11252"/>
                </a:lnTo>
                <a:lnTo>
                  <a:pt x="16126" y="10858"/>
                </a:lnTo>
                <a:lnTo>
                  <a:pt x="16973" y="10649"/>
                </a:lnTo>
                <a:lnTo>
                  <a:pt x="17798" y="10417"/>
                </a:lnTo>
                <a:lnTo>
                  <a:pt x="18806" y="10301"/>
                </a:lnTo>
                <a:lnTo>
                  <a:pt x="19653" y="10301"/>
                </a:lnTo>
                <a:lnTo>
                  <a:pt x="20478" y="10417"/>
                </a:lnTo>
                <a:lnTo>
                  <a:pt x="21256" y="10533"/>
                </a:lnTo>
                <a:lnTo>
                  <a:pt x="20707" y="9837"/>
                </a:lnTo>
                <a:lnTo>
                  <a:pt x="19859" y="9234"/>
                </a:lnTo>
                <a:lnTo>
                  <a:pt x="18806" y="8538"/>
                </a:lnTo>
                <a:lnTo>
                  <a:pt x="17637" y="8144"/>
                </a:lnTo>
                <a:lnTo>
                  <a:pt x="16973" y="8027"/>
                </a:lnTo>
                <a:lnTo>
                  <a:pt x="16355" y="7935"/>
                </a:lnTo>
                <a:lnTo>
                  <a:pt x="15805" y="7935"/>
                </a:lnTo>
                <a:lnTo>
                  <a:pt x="15118" y="8027"/>
                </a:lnTo>
                <a:lnTo>
                  <a:pt x="14614" y="8144"/>
                </a:lnTo>
                <a:lnTo>
                  <a:pt x="14064" y="8422"/>
                </a:lnTo>
                <a:lnTo>
                  <a:pt x="13606" y="8886"/>
                </a:lnTo>
                <a:lnTo>
                  <a:pt x="13217" y="9327"/>
                </a:lnTo>
                <a:lnTo>
                  <a:pt x="13606" y="8538"/>
                </a:lnTo>
                <a:lnTo>
                  <a:pt x="13950" y="7935"/>
                </a:lnTo>
                <a:lnTo>
                  <a:pt x="14293" y="7123"/>
                </a:lnTo>
                <a:lnTo>
                  <a:pt x="14499" y="6519"/>
                </a:lnTo>
                <a:lnTo>
                  <a:pt x="14614" y="5823"/>
                </a:lnTo>
                <a:lnTo>
                  <a:pt x="14614" y="5220"/>
                </a:lnTo>
                <a:lnTo>
                  <a:pt x="14408" y="4524"/>
                </a:lnTo>
                <a:lnTo>
                  <a:pt x="14064" y="3898"/>
                </a:lnTo>
                <a:lnTo>
                  <a:pt x="13606" y="3225"/>
                </a:lnTo>
                <a:lnTo>
                  <a:pt x="13331" y="2598"/>
                </a:lnTo>
                <a:lnTo>
                  <a:pt x="13102" y="2042"/>
                </a:lnTo>
                <a:lnTo>
                  <a:pt x="12896" y="1485"/>
                </a:lnTo>
                <a:lnTo>
                  <a:pt x="12781" y="1090"/>
                </a:lnTo>
                <a:lnTo>
                  <a:pt x="12667" y="626"/>
                </a:lnTo>
                <a:lnTo>
                  <a:pt x="12667" y="278"/>
                </a:lnTo>
                <a:lnTo>
                  <a:pt x="12667" y="0"/>
                </a:lnTo>
                <a:lnTo>
                  <a:pt x="12163" y="394"/>
                </a:lnTo>
                <a:lnTo>
                  <a:pt x="11728" y="974"/>
                </a:lnTo>
                <a:lnTo>
                  <a:pt x="11155" y="1601"/>
                </a:lnTo>
                <a:lnTo>
                  <a:pt x="10766" y="2390"/>
                </a:lnTo>
                <a:lnTo>
                  <a:pt x="10330" y="3109"/>
                </a:lnTo>
                <a:lnTo>
                  <a:pt x="10101" y="3898"/>
                </a:lnTo>
                <a:lnTo>
                  <a:pt x="9987" y="4524"/>
                </a:lnTo>
                <a:lnTo>
                  <a:pt x="10101" y="5220"/>
                </a:lnTo>
                <a:lnTo>
                  <a:pt x="10216" y="5823"/>
                </a:lnTo>
                <a:lnTo>
                  <a:pt x="10330" y="6403"/>
                </a:lnTo>
                <a:lnTo>
                  <a:pt x="10330" y="6914"/>
                </a:lnTo>
                <a:lnTo>
                  <a:pt x="10216" y="7471"/>
                </a:lnTo>
                <a:lnTo>
                  <a:pt x="10101" y="7935"/>
                </a:lnTo>
                <a:lnTo>
                  <a:pt x="9872" y="8329"/>
                </a:lnTo>
                <a:lnTo>
                  <a:pt x="9643" y="8654"/>
                </a:lnTo>
                <a:lnTo>
                  <a:pt x="9368" y="9002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1330325" y="1044575"/>
            <a:ext cx="5942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错误示例</a:t>
            </a:r>
          </a:p>
        </p:txBody>
      </p:sp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4394200" y="1785938"/>
          <a:ext cx="4718050" cy="473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Image" r:id="rId3" imgW="8990476" imgH="9015873" progId="Photoshop.Image.6">
                  <p:embed/>
                </p:oleObj>
              </mc:Choice>
              <mc:Fallback>
                <p:oleObj name="Image" r:id="rId3" imgW="8990476" imgH="9015873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4200" y="1785938"/>
                        <a:ext cx="4718050" cy="473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4" name="Text Box 6"/>
          <p:cNvSpPr txBox="1">
            <a:spLocks noChangeArrowheads="1"/>
          </p:cNvSpPr>
          <p:nvPr/>
        </p:nvSpPr>
        <p:spPr bwMode="auto">
          <a:xfrm>
            <a:off x="309562" y="2275459"/>
            <a:ext cx="4353878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宋体" pitchFamily="2" charset="-122"/>
              </a:rPr>
              <a:t>主要问题－作图不规范</a:t>
            </a:r>
            <a:endParaRPr lang="zh-CN" altLang="en-US" sz="16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800" b="1" dirty="0"/>
              <a:t>尺规作图要准确。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AutoNum type="arabicPlain"/>
            </a:pPr>
            <a:r>
              <a:rPr lang="zh-CN" altLang="en-US" sz="1800" b="1" dirty="0"/>
              <a:t>线型规范</a:t>
            </a:r>
            <a:r>
              <a:rPr lang="zh-CN" altLang="en-US" sz="1800" b="1" dirty="0" smtClean="0"/>
              <a:t>：</a:t>
            </a:r>
            <a:endParaRPr lang="en-US" altLang="zh-CN" sz="1800" b="1" dirty="0" smtClean="0"/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/>
              <a:t> </a:t>
            </a:r>
            <a:r>
              <a:rPr lang="en-US" altLang="zh-CN" sz="1800" b="1" dirty="0" smtClean="0"/>
              <a:t>     </a:t>
            </a:r>
            <a:r>
              <a:rPr lang="zh-CN" altLang="en-US" sz="1800" b="1" dirty="0" smtClean="0"/>
              <a:t>粗实</a:t>
            </a:r>
            <a:r>
              <a:rPr lang="zh-CN" altLang="en-US" sz="1800" b="1" dirty="0"/>
              <a:t>线表示可见轮廓</a:t>
            </a:r>
            <a:r>
              <a:rPr lang="zh-CN" altLang="en-US" sz="1800" b="1" dirty="0" smtClean="0"/>
              <a:t>线；</a:t>
            </a:r>
            <a:endParaRPr lang="en-US" altLang="zh-CN" sz="1800" b="1" dirty="0" smtClean="0"/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 smtClean="0"/>
              <a:t>      虚线表示不可见轮廓线；</a:t>
            </a:r>
            <a:endParaRPr lang="zh-CN" altLang="en-US" sz="1800" b="1" dirty="0"/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 smtClean="0"/>
              <a:t>      </a:t>
            </a:r>
            <a:r>
              <a:rPr lang="zh-CN" altLang="en-US" sz="1800" b="1" dirty="0" smtClean="0"/>
              <a:t>细</a:t>
            </a:r>
            <a:r>
              <a:rPr lang="zh-CN" altLang="en-US" sz="1800" b="1" dirty="0"/>
              <a:t>实线表示</a:t>
            </a:r>
            <a:r>
              <a:rPr lang="zh-CN" altLang="en-US" sz="1800" b="1" dirty="0" smtClean="0"/>
              <a:t>绘图辅助</a:t>
            </a:r>
            <a:r>
              <a:rPr lang="zh-CN" altLang="en-US" sz="1800" b="1" dirty="0"/>
              <a:t>线。</a:t>
            </a:r>
          </a:p>
          <a:p>
            <a:pPr eaLnBrk="1" hangingPunct="1">
              <a:spcBef>
                <a:spcPct val="0"/>
              </a:spcBef>
              <a:buClrTx/>
              <a:buSzTx/>
              <a:buAutoNum type="arabicPlain" startAt="3"/>
            </a:pPr>
            <a:r>
              <a:rPr lang="zh-CN" altLang="en-US" sz="1800" b="1" dirty="0" smtClean="0"/>
              <a:t>直线规范：</a:t>
            </a:r>
            <a:endParaRPr lang="en-US" altLang="zh-CN" sz="1800" b="1" dirty="0" smtClean="0"/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 smtClean="0"/>
              <a:t>     直线画成线段，要</a:t>
            </a:r>
            <a:r>
              <a:rPr lang="zh-CN" altLang="en-US" sz="1800" b="1" dirty="0"/>
              <a:t>有头有尾</a:t>
            </a:r>
            <a:r>
              <a:rPr lang="zh-CN" altLang="en-US" sz="1800" b="1" dirty="0" smtClean="0"/>
              <a:t>，</a:t>
            </a:r>
            <a:endParaRPr lang="en-US" altLang="zh-CN" sz="1800" b="1" dirty="0" smtClean="0"/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/>
              <a:t> </a:t>
            </a:r>
            <a:r>
              <a:rPr lang="en-US" altLang="zh-CN" sz="1800" b="1" dirty="0" smtClean="0"/>
              <a:t>    </a:t>
            </a:r>
            <a:r>
              <a:rPr lang="zh-CN" altLang="en-US" sz="1800" b="1" dirty="0" smtClean="0"/>
              <a:t>两端</a:t>
            </a:r>
            <a:r>
              <a:rPr lang="zh-CN" altLang="en-US" sz="1800" b="1" dirty="0"/>
              <a:t>有字母标记。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 smtClean="0"/>
              <a:t>4   </a:t>
            </a:r>
            <a:r>
              <a:rPr lang="zh-CN" altLang="en-US" sz="1800" b="1" dirty="0" smtClean="0"/>
              <a:t>箭头</a:t>
            </a:r>
            <a:r>
              <a:rPr lang="zh-CN" altLang="en-US" sz="1800" b="1" dirty="0"/>
              <a:t>的画法：实心箭头。</a:t>
            </a:r>
            <a:endParaRPr lang="zh-CN" altLang="en-US" sz="1800" b="1" dirty="0">
              <a:latin typeface="宋体" pitchFamily="2" charset="-122"/>
            </a:endParaRPr>
          </a:p>
        </p:txBody>
      </p:sp>
      <p:grpSp>
        <p:nvGrpSpPr>
          <p:cNvPr id="114695" name="Group 7"/>
          <p:cNvGrpSpPr>
            <a:grpSpLocks/>
          </p:cNvGrpSpPr>
          <p:nvPr/>
        </p:nvGrpSpPr>
        <p:grpSpPr bwMode="auto">
          <a:xfrm>
            <a:off x="1346200" y="5584762"/>
            <a:ext cx="1103313" cy="76200"/>
            <a:chOff x="1510" y="3894"/>
            <a:chExt cx="695" cy="48"/>
          </a:xfrm>
        </p:grpSpPr>
        <p:sp>
          <p:nvSpPr>
            <p:cNvPr id="23570" name="Line 8"/>
            <p:cNvSpPr>
              <a:spLocks noChangeShapeType="1"/>
            </p:cNvSpPr>
            <p:nvPr/>
          </p:nvSpPr>
          <p:spPr bwMode="auto">
            <a:xfrm>
              <a:off x="1510" y="3917"/>
              <a:ext cx="6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Freeform 9"/>
            <p:cNvSpPr>
              <a:spLocks/>
            </p:cNvSpPr>
            <p:nvPr/>
          </p:nvSpPr>
          <p:spPr bwMode="auto">
            <a:xfrm>
              <a:off x="1887" y="3894"/>
              <a:ext cx="318" cy="48"/>
            </a:xfrm>
            <a:custGeom>
              <a:avLst/>
              <a:gdLst>
                <a:gd name="T0" fmla="*/ 318 w 318"/>
                <a:gd name="T1" fmla="*/ 24 h 48"/>
                <a:gd name="T2" fmla="*/ 0 w 318"/>
                <a:gd name="T3" fmla="*/ 0 h 48"/>
                <a:gd name="T4" fmla="*/ 0 w 318"/>
                <a:gd name="T5" fmla="*/ 48 h 48"/>
                <a:gd name="T6" fmla="*/ 318 w 318"/>
                <a:gd name="T7" fmla="*/ 24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8" h="48">
                  <a:moveTo>
                    <a:pt x="318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318" y="24"/>
                  </a:lnTo>
                  <a:close/>
                </a:path>
              </a:pathLst>
            </a:custGeom>
            <a:solidFill>
              <a:srgbClr val="0000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4698" name="Group 10"/>
          <p:cNvGrpSpPr>
            <a:grpSpLocks/>
          </p:cNvGrpSpPr>
          <p:nvPr/>
        </p:nvGrpSpPr>
        <p:grpSpPr bwMode="auto">
          <a:xfrm>
            <a:off x="1330325" y="5332349"/>
            <a:ext cx="604838" cy="627063"/>
            <a:chOff x="1500" y="3735"/>
            <a:chExt cx="381" cy="395"/>
          </a:xfrm>
        </p:grpSpPr>
        <p:sp>
          <p:nvSpPr>
            <p:cNvPr id="23564" name="Line 11"/>
            <p:cNvSpPr>
              <a:spLocks noChangeShapeType="1"/>
            </p:cNvSpPr>
            <p:nvPr/>
          </p:nvSpPr>
          <p:spPr bwMode="auto">
            <a:xfrm flipH="1">
              <a:off x="1734" y="3894"/>
              <a:ext cx="144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5" name="Line 12"/>
            <p:cNvSpPr>
              <a:spLocks noChangeShapeType="1"/>
            </p:cNvSpPr>
            <p:nvPr/>
          </p:nvSpPr>
          <p:spPr bwMode="auto">
            <a:xfrm flipH="1">
              <a:off x="1731" y="3942"/>
              <a:ext cx="15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Line 13"/>
            <p:cNvSpPr>
              <a:spLocks noChangeShapeType="1"/>
            </p:cNvSpPr>
            <p:nvPr/>
          </p:nvSpPr>
          <p:spPr bwMode="auto">
            <a:xfrm>
              <a:off x="1764" y="3735"/>
              <a:ext cx="0" cy="16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14"/>
            <p:cNvSpPr>
              <a:spLocks noChangeShapeType="1"/>
            </p:cNvSpPr>
            <p:nvPr/>
          </p:nvSpPr>
          <p:spPr bwMode="auto">
            <a:xfrm>
              <a:off x="1764" y="3894"/>
              <a:ext cx="0" cy="5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Line 15"/>
            <p:cNvSpPr>
              <a:spLocks noChangeShapeType="1"/>
            </p:cNvSpPr>
            <p:nvPr/>
          </p:nvSpPr>
          <p:spPr bwMode="auto">
            <a:xfrm flipV="1">
              <a:off x="1764" y="3942"/>
              <a:ext cx="0" cy="129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Text Box 16"/>
            <p:cNvSpPr txBox="1">
              <a:spLocks noChangeArrowheads="1"/>
            </p:cNvSpPr>
            <p:nvPr/>
          </p:nvSpPr>
          <p:spPr bwMode="auto">
            <a:xfrm rot="-5400000">
              <a:off x="1532" y="3875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990000"/>
                  </a:solidFill>
                  <a:latin typeface="Times New Roman" pitchFamily="18" charset="0"/>
                </a:rPr>
                <a:t>d</a:t>
              </a:r>
            </a:p>
          </p:txBody>
        </p:sp>
      </p:grpSp>
      <p:grpSp>
        <p:nvGrpSpPr>
          <p:cNvPr id="114705" name="Group 17"/>
          <p:cNvGrpSpPr>
            <a:grpSpLocks/>
          </p:cNvGrpSpPr>
          <p:nvPr/>
        </p:nvGrpSpPr>
        <p:grpSpPr bwMode="auto">
          <a:xfrm>
            <a:off x="1924050" y="5045012"/>
            <a:ext cx="534988" cy="573087"/>
            <a:chOff x="1874" y="3554"/>
            <a:chExt cx="337" cy="361"/>
          </a:xfrm>
        </p:grpSpPr>
        <p:sp>
          <p:nvSpPr>
            <p:cNvPr id="23560" name="Line 18"/>
            <p:cNvSpPr>
              <a:spLocks noChangeShapeType="1"/>
            </p:cNvSpPr>
            <p:nvPr/>
          </p:nvSpPr>
          <p:spPr bwMode="auto">
            <a:xfrm>
              <a:off x="1887" y="3762"/>
              <a:ext cx="0" cy="135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1" name="Line 19"/>
            <p:cNvSpPr>
              <a:spLocks noChangeShapeType="1"/>
            </p:cNvSpPr>
            <p:nvPr/>
          </p:nvSpPr>
          <p:spPr bwMode="auto">
            <a:xfrm>
              <a:off x="2208" y="3759"/>
              <a:ext cx="0" cy="15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2" name="Line 20"/>
            <p:cNvSpPr>
              <a:spLocks noChangeShapeType="1"/>
            </p:cNvSpPr>
            <p:nvPr/>
          </p:nvSpPr>
          <p:spPr bwMode="auto">
            <a:xfrm>
              <a:off x="1884" y="3798"/>
              <a:ext cx="327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3" name="Text Box 21"/>
            <p:cNvSpPr txBox="1">
              <a:spLocks noChangeArrowheads="1"/>
            </p:cNvSpPr>
            <p:nvPr/>
          </p:nvSpPr>
          <p:spPr bwMode="auto">
            <a:xfrm>
              <a:off x="1874" y="3554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990000"/>
                  </a:solidFill>
                  <a:latin typeface="Times New Roman" pitchFamily="18" charset="0"/>
                </a:rPr>
                <a:t>6</a:t>
              </a:r>
              <a:r>
                <a:rPr kumimoji="1" lang="en-US" altLang="zh-CN" sz="2400" b="1" dirty="0" smtClean="0">
                  <a:solidFill>
                    <a:srgbClr val="990000"/>
                  </a:solidFill>
                  <a:latin typeface="Times New Roman" pitchFamily="18" charset="0"/>
                </a:rPr>
                <a:t>d</a:t>
              </a:r>
              <a:endParaRPr kumimoji="1" lang="en-US" altLang="zh-CN" sz="2400" b="1" dirty="0">
                <a:solidFill>
                  <a:srgbClr val="990000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4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4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4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4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46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46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46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46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46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46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3655</TotalTime>
  <Words>897</Words>
  <Application>Microsoft Office PowerPoint</Application>
  <PresentationFormat>全屏显示(4:3)</PresentationFormat>
  <Paragraphs>84</Paragraphs>
  <Slides>21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Blends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111</cp:revision>
  <dcterms:created xsi:type="dcterms:W3CDTF">2006-04-04T11:38:05Z</dcterms:created>
  <dcterms:modified xsi:type="dcterms:W3CDTF">2023-09-23T08:14:08Z</dcterms:modified>
</cp:coreProperties>
</file>