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40" r:id="rId1"/>
    <p:sldMasterId id="2147483744" r:id="rId2"/>
    <p:sldMasterId id="2147483768" r:id="rId3"/>
  </p:sldMasterIdLst>
  <p:notesMasterIdLst>
    <p:notesMasterId r:id="rId20"/>
  </p:notesMasterIdLst>
  <p:handoutMasterIdLst>
    <p:handoutMasterId r:id="rId21"/>
  </p:handoutMasterIdLst>
  <p:sldIdLst>
    <p:sldId id="256" r:id="rId4"/>
    <p:sldId id="766" r:id="rId5"/>
    <p:sldId id="1128" r:id="rId6"/>
    <p:sldId id="1129" r:id="rId7"/>
    <p:sldId id="1130" r:id="rId8"/>
    <p:sldId id="1131" r:id="rId9"/>
    <p:sldId id="1132" r:id="rId10"/>
    <p:sldId id="1118" r:id="rId11"/>
    <p:sldId id="1121" r:id="rId12"/>
    <p:sldId id="1122" r:id="rId13"/>
    <p:sldId id="1123" r:id="rId14"/>
    <p:sldId id="1124" r:id="rId15"/>
    <p:sldId id="1125" r:id="rId16"/>
    <p:sldId id="1126" r:id="rId17"/>
    <p:sldId id="1133" r:id="rId18"/>
    <p:sldId id="1134" r:id="rId19"/>
  </p:sldIdLst>
  <p:sldSz cx="9144000" cy="6858000" type="screen4x3"/>
  <p:notesSz cx="6858000" cy="9144000"/>
  <p:defaultTextStyle>
    <a:defPPr>
      <a:defRPr lang="en-US"/>
    </a:defPPr>
    <a:lvl1pPr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57">
          <p15:clr>
            <a:srgbClr val="A4A3A4"/>
          </p15:clr>
        </p15:guide>
        <p15:guide id="2" pos="106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5">
          <p15:clr>
            <a:srgbClr val="A4A3A4"/>
          </p15:clr>
        </p15:guide>
        <p15:guide id="2" pos="89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A50021"/>
    <a:srgbClr val="FF9933"/>
    <a:srgbClr val="99CCFF"/>
    <a:srgbClr val="66CCFF"/>
    <a:srgbClr val="FFFFCC"/>
    <a:srgbClr val="FF0000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04" autoAdjust="0"/>
    <p:restoredTop sz="78952" autoAdjust="0"/>
  </p:normalViewPr>
  <p:slideViewPr>
    <p:cSldViewPr snapToGrid="0" showGuides="1">
      <p:cViewPr varScale="1">
        <p:scale>
          <a:sx n="92" d="100"/>
          <a:sy n="92" d="100"/>
        </p:scale>
        <p:origin x="2622" y="84"/>
      </p:cViewPr>
      <p:guideLst>
        <p:guide orient="horz" pos="1257"/>
        <p:guide pos="10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603"/>
    </p:cViewPr>
  </p:sorterViewPr>
  <p:notesViewPr>
    <p:cSldViewPr snapToGrid="0" showGuides="1">
      <p:cViewPr>
        <p:scale>
          <a:sx n="75" d="100"/>
          <a:sy n="75" d="100"/>
        </p:scale>
        <p:origin x="-1580" y="300"/>
      </p:cViewPr>
      <p:guideLst>
        <p:guide orient="horz" pos="2145"/>
        <p:guide pos="89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zh-CN" alt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en-US" altLang="zh-CN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en-US" altLang="zh-CN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fld id="{339075F8-9FF0-4A6B-9E58-ABCA6ADD104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22150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zh-CN" altLang="en-US"/>
          </a:p>
        </p:txBody>
      </p:sp>
      <p:sp>
        <p:nvSpPr>
          <p:cNvPr id="945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en-US" altLang="zh-CN"/>
          </a:p>
        </p:txBody>
      </p:sp>
      <p:sp>
        <p:nvSpPr>
          <p:cNvPr id="945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45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945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en-US" altLang="zh-CN"/>
          </a:p>
        </p:txBody>
      </p:sp>
      <p:sp>
        <p:nvSpPr>
          <p:cNvPr id="945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fld id="{E94BE428-8424-49AF-A984-F0E6574F9E0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2415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B34445-AC5B-4A45-92D7-7EB668A5D382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94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009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0367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8646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799" y="4343400"/>
            <a:ext cx="5596467" cy="4114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BE428-8424-49AF-A984-F0E6574F9E05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1160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372692"/>
      </p:ext>
    </p:extLst>
  </p:cSld>
  <p:clrMapOvr>
    <a:masterClrMapping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772675"/>
      </p:ext>
    </p:extLst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81125163"/>
      </p:ext>
    </p:extLst>
  </p:cSld>
  <p:clrMapOvr>
    <a:masterClrMapping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199108"/>
      </p:ext>
    </p:extLst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919340"/>
      </p:ext>
    </p:extLst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97565"/>
      </p:ext>
    </p:extLst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 descr="xbhs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41" b="57249"/>
          <a:stretch>
            <a:fillRect/>
          </a:stretch>
        </p:blipFill>
        <p:spPr bwMode="auto">
          <a:xfrm>
            <a:off x="1158760" y="4278004"/>
            <a:ext cx="1557808" cy="156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E:\教学2012\清华校徽2.gif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561" y="776294"/>
            <a:ext cx="134302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1536846"/>
      </p:ext>
    </p:extLst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11705459"/>
      </p:ext>
    </p:extLst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08553134"/>
      </p:ext>
    </p:extLst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350387"/>
      </p:ext>
    </p:extLst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023204"/>
      </p:ext>
    </p:extLst>
  </p:cSld>
  <p:clrMapOvr>
    <a:masterClrMapping/>
  </p:clrMapOvr>
  <p:transition spd="med">
    <p:wipe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700952"/>
      </p:ext>
    </p:extLst>
  </p:cSld>
  <p:clrMapOvr>
    <a:masterClrMapping/>
  </p:clrMapOvr>
  <p:transition spd="med">
    <p:wipe dir="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356754"/>
      </p:ext>
    </p:extLst>
  </p:cSld>
  <p:clrMapOvr>
    <a:masterClrMapping/>
  </p:clrMapOvr>
  <p:transition spd="med">
    <p:wipe dir="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67351839"/>
      </p:ext>
    </p:extLst>
  </p:cSld>
  <p:clrMapOvr>
    <a:masterClrMapping/>
  </p:clrMapOvr>
  <p:transition spd="med">
    <p:wipe dir="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499012"/>
      </p:ext>
    </p:extLst>
  </p:cSld>
  <p:clrMapOvr>
    <a:masterClrMapping/>
  </p:clrMapOvr>
  <p:transition spd="med">
    <p:wipe dir="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666435"/>
      </p:ext>
    </p:extLst>
  </p:cSld>
  <p:clrMapOvr>
    <a:masterClrMapping/>
  </p:clrMapOvr>
  <p:transition spd="med"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402199"/>
      </p:ext>
    </p:extLst>
  </p:cSld>
  <p:clrMapOvr>
    <a:masterClrMapping/>
  </p:clrMapOvr>
  <p:transition spd="med">
    <p:wipe dir="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420991"/>
      </p:ext>
    </p:extLst>
  </p:cSld>
  <p:clrMapOvr>
    <a:masterClrMapping/>
  </p:clrMapOvr>
  <p:transition spd="med">
    <p:wipe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28210542"/>
      </p:ext>
    </p:extLst>
  </p:cSld>
  <p:clrMapOvr>
    <a:masterClrMapping/>
  </p:clrMapOvr>
  <p:transition spd="med">
    <p:wipe dir="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02478664"/>
      </p:ext>
    </p:extLst>
  </p:cSld>
  <p:clrMapOvr>
    <a:masterClrMapping/>
  </p:clrMapOvr>
  <p:transition spd="med">
    <p:wipe dir="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883718"/>
      </p:ext>
    </p:extLst>
  </p:cSld>
  <p:clrMapOvr>
    <a:masterClrMapping/>
  </p:clrMapOvr>
  <p:transition spd="med">
    <p:wipe dir="d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591282"/>
      </p:ext>
    </p:extLst>
  </p:cSld>
  <p:clrMapOvr>
    <a:masterClrMapping/>
  </p:clrMapOvr>
  <p:transition spd="med">
    <p:wipe dir="d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426419"/>
      </p:ext>
    </p:extLst>
  </p:cSld>
  <p:clrMapOvr>
    <a:masterClrMapping/>
  </p:clrMapOvr>
  <p:transition spd="med">
    <p:wipe dir="d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793412"/>
      </p:ext>
    </p:extLst>
  </p:cSld>
  <p:clrMapOvr>
    <a:masterClrMapping/>
  </p:clrMapOvr>
  <p:transition spd="med">
    <p:wipe dir="d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04589"/>
      </p:ext>
    </p:extLst>
  </p:cSld>
  <p:clrMapOvr>
    <a:masterClrMapping/>
  </p:clrMapOvr>
  <p:transition spd="med">
    <p:wipe dir="d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7317808"/>
      </p:ext>
    </p:extLst>
  </p:cSld>
  <p:clrMapOvr>
    <a:masterClrMapping/>
  </p:clrMapOvr>
  <p:transition spd="med">
    <p:wipe dir="d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592992"/>
      </p:ext>
    </p:extLst>
  </p:cSld>
  <p:clrMapOvr>
    <a:masterClrMapping/>
  </p:clrMapOvr>
  <p:transition spd="med">
    <p:wipe dir="d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661765"/>
      </p:ext>
    </p:extLst>
  </p:cSld>
  <p:clrMapOvr>
    <a:masterClrMapping/>
  </p:clrMapOvr>
  <p:transition spd="med">
    <p:wipe dir="d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164709"/>
      </p:ext>
    </p:extLst>
  </p:cSld>
  <p:clrMapOvr>
    <a:masterClrMapping/>
  </p:clrMapOvr>
  <p:transition spd="med">
    <p:wipe dir="d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6766184"/>
      </p:ext>
    </p:extLst>
  </p:cSld>
  <p:clrMapOvr>
    <a:masterClrMapping/>
  </p:clrMapOvr>
  <p:transition spd="med">
    <p:wipe dir="d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54473195"/>
      </p:ext>
    </p:extLst>
  </p:cSld>
  <p:clrMapOvr>
    <a:masterClrMapping/>
  </p:clrMapOvr>
  <p:transition spd="med">
    <p:wipe dir="d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49840085"/>
      </p:ext>
    </p:extLst>
  </p:cSld>
  <p:clrMapOvr>
    <a:masterClrMapping/>
  </p:clrMapOvr>
  <p:transition spd="med">
    <p:wipe dir="d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935787"/>
      </p:ext>
    </p:extLst>
  </p:cSld>
  <p:clrMapOvr>
    <a:masterClrMapping/>
  </p:clrMapOvr>
  <p:transition spd="med">
    <p:wipe dir="d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465748"/>
      </p:ext>
    </p:extLst>
  </p:cSld>
  <p:clrMapOvr>
    <a:masterClrMapping/>
  </p:clrMapOvr>
  <p:transition spd="med">
    <p:wipe dir="d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764053"/>
      </p:ext>
    </p:extLst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068" name="Group 148"/>
          <p:cNvGrpSpPr>
            <a:grpSpLocks/>
          </p:cNvGrpSpPr>
          <p:nvPr userDrawn="1"/>
        </p:nvGrpSpPr>
        <p:grpSpPr bwMode="auto">
          <a:xfrm>
            <a:off x="8031163" y="5454650"/>
            <a:ext cx="533400" cy="492125"/>
            <a:chOff x="96" y="2784"/>
            <a:chExt cx="1062" cy="981"/>
          </a:xfrm>
        </p:grpSpPr>
        <p:sp>
          <p:nvSpPr>
            <p:cNvPr id="594069" name="Freeform 149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0" name="Freeform 150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1" name="Freeform 151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2" name="Freeform 152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3" name="Freeform 153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4" name="Freeform 154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5" name="Freeform 155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6" name="Freeform 156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7" name="Freeform 157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8" name="Freeform 158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9" name="Freeform 159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0" name="Freeform 160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1" name="Freeform 161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082" name="Group 162"/>
          <p:cNvGrpSpPr>
            <a:grpSpLocks/>
          </p:cNvGrpSpPr>
          <p:nvPr userDrawn="1"/>
        </p:nvGrpSpPr>
        <p:grpSpPr bwMode="auto">
          <a:xfrm>
            <a:off x="5805488" y="2881313"/>
            <a:ext cx="533400" cy="492125"/>
            <a:chOff x="96" y="2784"/>
            <a:chExt cx="1062" cy="981"/>
          </a:xfrm>
        </p:grpSpPr>
        <p:sp>
          <p:nvSpPr>
            <p:cNvPr id="594083" name="Freeform 163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4" name="Freeform 164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5" name="Freeform 165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6" name="Freeform 166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7" name="Freeform 167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8" name="Freeform 168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9" name="Freeform 169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0" name="Freeform 170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1" name="Freeform 171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2" name="Freeform 172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3" name="Freeform 173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4" name="Freeform 174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5" name="Freeform 175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096" name="Group 176"/>
          <p:cNvGrpSpPr>
            <a:grpSpLocks/>
          </p:cNvGrpSpPr>
          <p:nvPr userDrawn="1"/>
        </p:nvGrpSpPr>
        <p:grpSpPr bwMode="auto">
          <a:xfrm>
            <a:off x="1646238" y="4876800"/>
            <a:ext cx="533400" cy="492125"/>
            <a:chOff x="96" y="2784"/>
            <a:chExt cx="1062" cy="981"/>
          </a:xfrm>
        </p:grpSpPr>
        <p:sp>
          <p:nvSpPr>
            <p:cNvPr id="594097" name="Freeform 177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8" name="Freeform 178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9" name="Freeform 179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0" name="Freeform 180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1" name="Freeform 181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2" name="Freeform 182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3" name="Freeform 183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4" name="Freeform 184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5" name="Freeform 185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6" name="Freeform 186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7" name="Freeform 187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8" name="Freeform 188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9" name="Freeform 189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110" name="Group 190"/>
          <p:cNvGrpSpPr>
            <a:grpSpLocks/>
          </p:cNvGrpSpPr>
          <p:nvPr userDrawn="1"/>
        </p:nvGrpSpPr>
        <p:grpSpPr bwMode="auto">
          <a:xfrm>
            <a:off x="5046663" y="4525963"/>
            <a:ext cx="533400" cy="492125"/>
            <a:chOff x="96" y="2784"/>
            <a:chExt cx="1062" cy="981"/>
          </a:xfrm>
        </p:grpSpPr>
        <p:sp>
          <p:nvSpPr>
            <p:cNvPr id="594111" name="Freeform 191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2" name="Freeform 192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3" name="Freeform 193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4" name="Freeform 194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5" name="Freeform 195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6" name="Freeform 196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7" name="Freeform 197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8" name="Freeform 198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9" name="Freeform 199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0" name="Freeform 200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1" name="Freeform 201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2" name="Freeform 202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3" name="Freeform 203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124" name="Group 204"/>
          <p:cNvGrpSpPr>
            <a:grpSpLocks/>
          </p:cNvGrpSpPr>
          <p:nvPr userDrawn="1"/>
        </p:nvGrpSpPr>
        <p:grpSpPr bwMode="auto">
          <a:xfrm>
            <a:off x="1096963" y="2486025"/>
            <a:ext cx="533400" cy="492125"/>
            <a:chOff x="96" y="2784"/>
            <a:chExt cx="1062" cy="981"/>
          </a:xfrm>
        </p:grpSpPr>
        <p:sp>
          <p:nvSpPr>
            <p:cNvPr id="594125" name="Freeform 205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6" name="Freeform 206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7" name="Freeform 207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8" name="Freeform 208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9" name="Freeform 209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0" name="Freeform 210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1" name="Freeform 211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2" name="Freeform 212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3" name="Freeform 213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4" name="Freeform 214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5" name="Freeform 215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6" name="Freeform 216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7" name="Freeform 217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594193" name="Picture 273" descr="校徽blue2"/>
          <p:cNvPicPr>
            <a:picLocks noChangeAspect="1" noChangeArrowheads="1"/>
          </p:cNvPicPr>
          <p:nvPr userDrawn="1"/>
        </p:nvPicPr>
        <p:blipFill>
          <a:blip r:embed="rId13">
            <a:lum bright="90000" contras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450" y="280988"/>
            <a:ext cx="3387725" cy="3392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ransition spd="med">
    <p:wipe dir="d"/>
  </p:transition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itchFamily="2" charset="2"/>
        <a:buChar char="Ø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 2" pitchFamily="18" charset="2"/>
        <a:buChar char="¡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3B741-5216-414E-B74B-795A24EA3A0B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6" name="Picture 13" descr="xbhs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41" b="57249"/>
          <a:stretch>
            <a:fillRect/>
          </a:stretch>
        </p:blipFill>
        <p:spPr bwMode="auto">
          <a:xfrm>
            <a:off x="423817" y="5489135"/>
            <a:ext cx="1174241" cy="118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 16"/>
          <p:cNvSpPr/>
          <p:nvPr userDrawn="1"/>
        </p:nvSpPr>
        <p:spPr>
          <a:xfrm>
            <a:off x="7101555" y="491380"/>
            <a:ext cx="2042446" cy="115368"/>
          </a:xfrm>
          <a:prstGeom prst="rect">
            <a:avLst/>
          </a:prstGeom>
          <a:solidFill>
            <a:srgbClr val="A74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7007545" y="59819"/>
            <a:ext cx="21595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kern="1000" spc="-170" baseline="0" dirty="0" smtClean="0">
                <a:solidFill>
                  <a:srgbClr val="C00000"/>
                </a:solidFill>
              </a:rPr>
              <a:t>智者乐水  仁者乐山</a:t>
            </a:r>
            <a:endParaRPr lang="zh-CN" altLang="en-US" sz="2000" b="1" kern="1000" spc="-170" baseline="0" dirty="0">
              <a:solidFill>
                <a:srgbClr val="C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</p:sldLayoutIdLst>
  <p:transition spd="med">
    <p:wipe dir="d"/>
  </p:transition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¡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5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¡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3B741-5216-414E-B74B-795A24EA3A0B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16" name="Picture 13" descr="xbhs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41" b="57249"/>
          <a:stretch>
            <a:fillRect/>
          </a:stretch>
        </p:blipFill>
        <p:spPr bwMode="auto">
          <a:xfrm>
            <a:off x="423817" y="5489135"/>
            <a:ext cx="1174241" cy="118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 16"/>
          <p:cNvSpPr/>
          <p:nvPr userDrawn="1"/>
        </p:nvSpPr>
        <p:spPr>
          <a:xfrm>
            <a:off x="7101555" y="491380"/>
            <a:ext cx="2042446" cy="115368"/>
          </a:xfrm>
          <a:prstGeom prst="rect">
            <a:avLst/>
          </a:prstGeom>
          <a:solidFill>
            <a:srgbClr val="A74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7007545" y="59819"/>
            <a:ext cx="21595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kern="1000" spc="-170" dirty="0" smtClean="0">
                <a:solidFill>
                  <a:srgbClr val="C00000"/>
                </a:solidFill>
              </a:rPr>
              <a:t>智者乐水  仁者乐山</a:t>
            </a:r>
            <a:endParaRPr lang="zh-CN" altLang="en-US" sz="2000" b="1" kern="1000" spc="-17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507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</p:sldLayoutIdLst>
  <p:transition spd="med">
    <p:wipe dir="d"/>
  </p:transition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¡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5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¡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" name="Text Box 61"/>
          <p:cNvSpPr txBox="1">
            <a:spLocks noChangeArrowheads="1"/>
          </p:cNvSpPr>
          <p:nvPr/>
        </p:nvSpPr>
        <p:spPr bwMode="auto">
          <a:xfrm>
            <a:off x="1193800" y="1811338"/>
            <a:ext cx="6945313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319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611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90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9700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4272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884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3416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7988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kumimoji="0" lang="zh-CN" altLang="en-US" sz="44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</a:t>
            </a:r>
            <a:r>
              <a:rPr kumimoji="0" lang="zh-CN" altLang="en-US" sz="44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五</a:t>
            </a:r>
            <a:r>
              <a:rPr kumimoji="0" lang="zh-CN" altLang="en-US" sz="44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章习题</a:t>
            </a:r>
            <a:r>
              <a:rPr kumimoji="0" lang="zh-CN" altLang="en-US" sz="44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讨论课</a:t>
            </a:r>
            <a:endParaRPr kumimoji="0" lang="en-US" altLang="zh-CN" sz="4400" b="1" dirty="0">
              <a:solidFill>
                <a:srgbClr val="000066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3849688" y="3218503"/>
            <a:ext cx="2117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张 丙 印</a:t>
            </a:r>
          </a:p>
        </p:txBody>
      </p:sp>
      <p:sp>
        <p:nvSpPr>
          <p:cNvPr id="22" name="Text Box 59"/>
          <p:cNvSpPr txBox="1">
            <a:spLocks noChangeArrowheads="1"/>
          </p:cNvSpPr>
          <p:nvPr/>
        </p:nvSpPr>
        <p:spPr bwMode="auto">
          <a:xfrm>
            <a:off x="2519464" y="822480"/>
            <a:ext cx="35410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《</a:t>
            </a:r>
            <a:r>
              <a:rPr kumimoji="1" lang="zh-CN" altLang="en-US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土力学</a:t>
            </a:r>
            <a:r>
              <a:rPr kumimoji="1" lang="en-US" altLang="zh-CN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》</a:t>
            </a:r>
            <a:r>
              <a:rPr kumimoji="1" lang="zh-CN" altLang="en-US" sz="2400" b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之习题</a:t>
            </a:r>
            <a:r>
              <a:rPr kumimoji="1" lang="zh-CN" altLang="en-US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课</a:t>
            </a:r>
            <a:r>
              <a:rPr kumimoji="1" lang="en-US" altLang="zh-CN" sz="2400" b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3</a:t>
            </a:r>
            <a:endParaRPr kumimoji="1" lang="zh-CN" altLang="en-US" sz="2400" b="1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3" name="Rectangle 2"/>
          <p:cNvSpPr>
            <a:spLocks noChangeArrowheads="1"/>
          </p:cNvSpPr>
          <p:nvPr/>
        </p:nvSpPr>
        <p:spPr bwMode="auto">
          <a:xfrm>
            <a:off x="1580955" y="4390958"/>
            <a:ext cx="642461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tabLst>
                <a:tab pos="1620838" algn="l"/>
              </a:tabLst>
            </a:pPr>
            <a:r>
              <a:rPr kumimoji="1" lang="zh-CN" altLang="en-US" sz="2400" b="1" dirty="0">
                <a:solidFill>
                  <a:srgbClr val="660066"/>
                </a:solidFill>
                <a:latin typeface="幼圆" pitchFamily="49" charset="-122"/>
                <a:ea typeface="幼圆" pitchFamily="49" charset="-122"/>
              </a:rPr>
              <a:t>	</a:t>
            </a:r>
            <a:r>
              <a:rPr kumimoji="1" lang="zh-CN" altLang="en-US" sz="3200" b="1" dirty="0">
                <a:solidFill>
                  <a:srgbClr val="660066"/>
                </a:solidFill>
                <a:latin typeface="黑体" pitchFamily="2" charset="-122"/>
                <a:ea typeface="黑体" pitchFamily="2" charset="-122"/>
              </a:rPr>
              <a:t>清华大学土木水利学院      </a:t>
            </a:r>
          </a:p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tabLst>
                <a:tab pos="1620838" algn="l"/>
              </a:tabLst>
            </a:pPr>
            <a:r>
              <a:rPr kumimoji="1" lang="zh-CN" altLang="en-US" sz="3200" b="1" dirty="0">
                <a:solidFill>
                  <a:srgbClr val="660066"/>
                </a:solidFill>
                <a:latin typeface="黑体" pitchFamily="2" charset="-122"/>
                <a:ea typeface="黑体" pitchFamily="2" charset="-122"/>
              </a:rPr>
              <a:t>      	岩 土 工 程 研 究 所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Box 10"/>
          <p:cNvSpPr txBox="1">
            <a:spLocks noChangeArrowheads="1"/>
          </p:cNvSpPr>
          <p:nvPr/>
        </p:nvSpPr>
        <p:spPr bwMode="auto">
          <a:xfrm>
            <a:off x="1376363" y="714950"/>
            <a:ext cx="64373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52538" indent="-12525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第五章</a:t>
            </a:r>
            <a:r>
              <a:rPr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：习题讨论课</a:t>
            </a:r>
            <a:endParaRPr lang="en-US" altLang="zh-CN" sz="36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" name="Text Box 20"/>
          <p:cNvSpPr txBox="1">
            <a:spLocks noChangeArrowheads="1"/>
          </p:cNvSpPr>
          <p:nvPr/>
        </p:nvSpPr>
        <p:spPr bwMode="auto">
          <a:xfrm>
            <a:off x="1350368" y="2192405"/>
            <a:ext cx="4192588" cy="2265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主要内容：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en-US" sz="3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习题</a:t>
            </a:r>
            <a:r>
              <a:rPr kumimoji="1" lang="zh-CN" altLang="en-US" sz="3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“云”讲解</a:t>
            </a:r>
            <a:endParaRPr kumimoji="1" lang="zh-CN" altLang="en-US" sz="3200" b="1" dirty="0" smtClean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3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方法讨论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3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en-US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概念及难点</a:t>
            </a:r>
            <a:endParaRPr kumimoji="1" lang="en-US" altLang="zh-CN" sz="32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4414243" y="4182986"/>
            <a:ext cx="1035050" cy="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23"/>
          <p:cNvSpPr>
            <a:spLocks noChangeShapeType="1"/>
          </p:cNvSpPr>
          <p:nvPr/>
        </p:nvSpPr>
        <p:spPr bwMode="auto">
          <a:xfrm flipV="1">
            <a:off x="5247825" y="2951018"/>
            <a:ext cx="654211" cy="2521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Box 24"/>
          <p:cNvSpPr txBox="1">
            <a:spLocks noChangeArrowheads="1"/>
          </p:cNvSpPr>
          <p:nvPr/>
        </p:nvSpPr>
        <p:spPr bwMode="auto">
          <a:xfrm>
            <a:off x="5902036" y="2720185"/>
            <a:ext cx="29772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 作业中的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问题评述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7" name="Text Box 28"/>
          <p:cNvSpPr txBox="1">
            <a:spLocks noChangeArrowheads="1"/>
          </p:cNvSpPr>
          <p:nvPr/>
        </p:nvSpPr>
        <p:spPr bwMode="auto">
          <a:xfrm>
            <a:off x="5489714" y="3939608"/>
            <a:ext cx="3244850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4638" indent="-2746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强度指标计算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应力路径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强度指标的应用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4" name="Rectangle 37"/>
          <p:cNvSpPr>
            <a:spLocks noChangeArrowheads="1"/>
          </p:cNvSpPr>
          <p:nvPr/>
        </p:nvSpPr>
        <p:spPr bwMode="auto">
          <a:xfrm>
            <a:off x="570129" y="910589"/>
            <a:ext cx="7632311" cy="3508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 anchor="ctr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课堂讨论题</a:t>
            </a:r>
            <a:r>
              <a:rPr kumimoji="1" lang="en-US" altLang="zh-CN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1】</a:t>
            </a:r>
            <a:r>
              <a:rPr kumimoji="1"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强度指标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计算</a:t>
            </a:r>
            <a:endParaRPr kumimoji="1" lang="en-US" altLang="zh-CN" sz="2800" b="1" dirty="0" smtClean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某饱和正常固结黏性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土的有效应力强度指标为：</a:t>
            </a:r>
            <a:r>
              <a:rPr kumimoji="1"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=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0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/>
            </a:r>
            <a:b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</a:br>
            <a:r>
              <a:rPr kumimoji="1"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 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=30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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。若将该黏土的土样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先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在围压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力</a:t>
            </a:r>
            <a:r>
              <a:rPr kumimoji="1"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=100kPa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下固结，然后关闭排水阀，将</a:t>
            </a:r>
            <a:r>
              <a:rPr kumimoji="1"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增大至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200kPa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进行不固结不排水试验，测得破坏时的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孔压系数</a:t>
            </a:r>
            <a:r>
              <a:rPr kumimoji="1" lang="en-US" altLang="zh-CN" sz="24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kumimoji="1" lang="en-US" altLang="zh-CN" sz="24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=0.5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。</a:t>
            </a:r>
            <a:endParaRPr kumimoji="1" lang="en-US" altLang="zh-CN" sz="24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求该种情况的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不排水抗剪强度指标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。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强度指标计算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559059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3313985" y="5282841"/>
            <a:ext cx="1361649" cy="447676"/>
            <a:chOff x="588" y="2393"/>
            <a:chExt cx="1041" cy="282"/>
          </a:xfrm>
        </p:grpSpPr>
        <p:grpSp>
          <p:nvGrpSpPr>
            <p:cNvPr id="6" name="Group 15"/>
            <p:cNvGrpSpPr>
              <a:grpSpLocks/>
            </p:cNvGrpSpPr>
            <p:nvPr/>
          </p:nvGrpSpPr>
          <p:grpSpPr bwMode="auto">
            <a:xfrm>
              <a:off x="588" y="2505"/>
              <a:ext cx="1041" cy="130"/>
              <a:chOff x="588" y="2505"/>
              <a:chExt cx="1041" cy="130"/>
            </a:xfrm>
          </p:grpSpPr>
          <p:sp>
            <p:nvSpPr>
              <p:cNvPr id="9" name="Line 16"/>
              <p:cNvSpPr>
                <a:spLocks noChangeShapeType="1"/>
              </p:cNvSpPr>
              <p:nvPr/>
            </p:nvSpPr>
            <p:spPr bwMode="auto">
              <a:xfrm>
                <a:off x="588" y="2507"/>
                <a:ext cx="0" cy="1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Line 17"/>
              <p:cNvSpPr>
                <a:spLocks noChangeShapeType="1"/>
              </p:cNvSpPr>
              <p:nvPr/>
            </p:nvSpPr>
            <p:spPr bwMode="auto">
              <a:xfrm>
                <a:off x="1629" y="2505"/>
                <a:ext cx="0" cy="1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Line 18"/>
              <p:cNvSpPr>
                <a:spLocks noChangeShapeType="1"/>
              </p:cNvSpPr>
              <p:nvPr/>
            </p:nvSpPr>
            <p:spPr bwMode="auto">
              <a:xfrm>
                <a:off x="588" y="2576"/>
                <a:ext cx="10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" name="Text Box 19"/>
            <p:cNvSpPr txBox="1">
              <a:spLocks noChangeArrowheads="1"/>
            </p:cNvSpPr>
            <p:nvPr/>
          </p:nvSpPr>
          <p:spPr bwMode="auto">
            <a:xfrm>
              <a:off x="988" y="2393"/>
              <a:ext cx="325" cy="2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000" b="1" i="1" dirty="0" err="1" smtClean="0">
                  <a:solidFill>
                    <a:srgbClr val="000000"/>
                  </a:solidFill>
                </a:rPr>
                <a:t>u</a:t>
              </a:r>
              <a:r>
                <a:rPr lang="en-US" altLang="zh-CN" sz="2000" b="1" baseline="-25000" dirty="0" err="1" smtClean="0">
                  <a:solidFill>
                    <a:srgbClr val="000000"/>
                  </a:solidFill>
                </a:rPr>
                <a:t>f</a:t>
              </a:r>
              <a:r>
                <a:rPr lang="en-US" altLang="zh-CN" sz="2000" b="1" baseline="-25000" dirty="0" smtClean="0">
                  <a:solidFill>
                    <a:srgbClr val="000000"/>
                  </a:solidFill>
                </a:rPr>
                <a:t> </a:t>
              </a:r>
              <a:endParaRPr lang="en-US" altLang="zh-CN" sz="20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613061" y="5652384"/>
            <a:ext cx="1451398" cy="470585"/>
            <a:chOff x="4613061" y="5652384"/>
            <a:chExt cx="1451398" cy="470585"/>
          </a:xfrm>
        </p:grpSpPr>
        <p:sp>
          <p:nvSpPr>
            <p:cNvPr id="15" name="Text Box 22"/>
            <p:cNvSpPr txBox="1">
              <a:spLocks noChangeArrowheads="1"/>
            </p:cNvSpPr>
            <p:nvPr/>
          </p:nvSpPr>
          <p:spPr bwMode="auto">
            <a:xfrm>
              <a:off x="4613061" y="5680056"/>
              <a:ext cx="561975" cy="442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000" b="1" dirty="0" smtClean="0">
                  <a:solidFill>
                    <a:srgbClr val="000000"/>
                  </a:solidFill>
                </a:rPr>
                <a:t>200</a:t>
              </a:r>
              <a:endParaRPr lang="en-US" altLang="zh-CN" sz="2000" b="1" dirty="0">
                <a:solidFill>
                  <a:srgbClr val="000000"/>
                </a:solidFill>
              </a:endParaRPr>
            </a:p>
          </p:txBody>
        </p:sp>
        <p:sp>
          <p:nvSpPr>
            <p:cNvPr id="16" name="Text Box 23"/>
            <p:cNvSpPr txBox="1">
              <a:spLocks noChangeArrowheads="1"/>
            </p:cNvSpPr>
            <p:nvPr/>
          </p:nvSpPr>
          <p:spPr bwMode="auto">
            <a:xfrm>
              <a:off x="5584543" y="5652384"/>
              <a:ext cx="479916" cy="448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000" b="1" i="1" dirty="0" smtClean="0">
                  <a:solidFill>
                    <a:srgbClr val="000000"/>
                  </a:solidFill>
                  <a:sym typeface="Symbol" pitchFamily="18" charset="2"/>
                </a:rPr>
                <a:t></a:t>
              </a:r>
              <a:r>
                <a:rPr lang="en-US" altLang="zh-CN" sz="2000" b="1" baseline="-25000" dirty="0" smtClean="0">
                  <a:solidFill>
                    <a:srgbClr val="000000"/>
                  </a:solidFill>
                  <a:sym typeface="Symbol" pitchFamily="18" charset="2"/>
                </a:rPr>
                <a:t>1f</a:t>
              </a:r>
              <a:endParaRPr lang="en-US" altLang="zh-CN" sz="2000" b="1" dirty="0">
                <a:solidFill>
                  <a:srgbClr val="000000"/>
                </a:solidFill>
                <a:sym typeface="Symbol" pitchFamily="18" charset="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433661" y="3678732"/>
            <a:ext cx="4092576" cy="2393341"/>
            <a:chOff x="2433661" y="3678732"/>
            <a:chExt cx="4092576" cy="2393341"/>
          </a:xfrm>
        </p:grpSpPr>
        <p:sp>
          <p:nvSpPr>
            <p:cNvPr id="24" name="Freeform 38"/>
            <p:cNvSpPr>
              <a:spLocks/>
            </p:cNvSpPr>
            <p:nvPr/>
          </p:nvSpPr>
          <p:spPr bwMode="auto">
            <a:xfrm>
              <a:off x="2433661" y="3928327"/>
              <a:ext cx="4068763" cy="1773513"/>
            </a:xfrm>
            <a:custGeom>
              <a:avLst/>
              <a:gdLst>
                <a:gd name="T0" fmla="*/ 0 w 2794"/>
                <a:gd name="T1" fmla="*/ 0 h 1901"/>
                <a:gd name="T2" fmla="*/ 0 w 2794"/>
                <a:gd name="T3" fmla="*/ 1279 h 1901"/>
                <a:gd name="T4" fmla="*/ 2409 w 2794"/>
                <a:gd name="T5" fmla="*/ 1279 h 1901"/>
                <a:gd name="T6" fmla="*/ 0 60000 65536"/>
                <a:gd name="T7" fmla="*/ 0 60000 65536"/>
                <a:gd name="T8" fmla="*/ 0 60000 65536"/>
                <a:gd name="T9" fmla="*/ 0 w 2794"/>
                <a:gd name="T10" fmla="*/ 0 h 1901"/>
                <a:gd name="T11" fmla="*/ 2794 w 2794"/>
                <a:gd name="T12" fmla="*/ 1901 h 19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94" h="1901">
                  <a:moveTo>
                    <a:pt x="0" y="0"/>
                  </a:moveTo>
                  <a:lnTo>
                    <a:pt x="0" y="1901"/>
                  </a:lnTo>
                  <a:lnTo>
                    <a:pt x="2794" y="1901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5" name="Text Box 39"/>
            <p:cNvSpPr txBox="1">
              <a:spLocks noChangeArrowheads="1"/>
            </p:cNvSpPr>
            <p:nvPr/>
          </p:nvSpPr>
          <p:spPr bwMode="auto">
            <a:xfrm>
              <a:off x="2471761" y="3678732"/>
              <a:ext cx="293688" cy="4187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2000" b="1" i="1" dirty="0">
                  <a:solidFill>
                    <a:srgbClr val="000000"/>
                  </a:solidFill>
                  <a:sym typeface="Symbol" pitchFamily="18" charset="2"/>
                </a:rPr>
                <a:t></a:t>
              </a:r>
            </a:p>
          </p:txBody>
        </p:sp>
        <p:sp>
          <p:nvSpPr>
            <p:cNvPr id="26" name="Text Box 40"/>
            <p:cNvSpPr txBox="1">
              <a:spLocks noChangeArrowheads="1"/>
            </p:cNvSpPr>
            <p:nvPr/>
          </p:nvSpPr>
          <p:spPr bwMode="auto">
            <a:xfrm>
              <a:off x="6189687" y="5653308"/>
              <a:ext cx="336550" cy="4187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2000" b="1" i="1" dirty="0">
                  <a:solidFill>
                    <a:srgbClr val="000000"/>
                  </a:solidFill>
                  <a:sym typeface="Symbol" pitchFamily="18" charset="2"/>
                </a:rPr>
                <a:t>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296118" y="4000640"/>
            <a:ext cx="3755665" cy="1202187"/>
            <a:chOff x="2296118" y="4000640"/>
            <a:chExt cx="3755665" cy="1202187"/>
          </a:xfrm>
        </p:grpSpPr>
        <p:sp>
          <p:nvSpPr>
            <p:cNvPr id="27" name="Line 33"/>
            <p:cNvSpPr>
              <a:spLocks noChangeShapeType="1"/>
            </p:cNvSpPr>
            <p:nvPr/>
          </p:nvSpPr>
          <p:spPr bwMode="auto">
            <a:xfrm rot="19819512">
              <a:off x="2296118" y="4828207"/>
              <a:ext cx="3437721" cy="3746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8" name="Line 34"/>
            <p:cNvSpPr>
              <a:spLocks noChangeShapeType="1"/>
            </p:cNvSpPr>
            <p:nvPr/>
          </p:nvSpPr>
          <p:spPr bwMode="auto">
            <a:xfrm>
              <a:off x="4813624" y="4687935"/>
              <a:ext cx="6838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9" name="Freeform 35"/>
            <p:cNvSpPr>
              <a:spLocks/>
            </p:cNvSpPr>
            <p:nvPr/>
          </p:nvSpPr>
          <p:spPr bwMode="auto">
            <a:xfrm rot="922491">
              <a:off x="5246413" y="4483048"/>
              <a:ext cx="124225" cy="193552"/>
            </a:xfrm>
            <a:custGeom>
              <a:avLst/>
              <a:gdLst>
                <a:gd name="T0" fmla="*/ 35 w 36"/>
                <a:gd name="T1" fmla="*/ 96 h 96"/>
                <a:gd name="T2" fmla="*/ 30 w 36"/>
                <a:gd name="T3" fmla="*/ 40 h 96"/>
                <a:gd name="T4" fmla="*/ 0 w 36"/>
                <a:gd name="T5" fmla="*/ 0 h 96"/>
                <a:gd name="T6" fmla="*/ 0 60000 65536"/>
                <a:gd name="T7" fmla="*/ 0 60000 65536"/>
                <a:gd name="T8" fmla="*/ 0 60000 65536"/>
                <a:gd name="T9" fmla="*/ 0 w 36"/>
                <a:gd name="T10" fmla="*/ 0 h 96"/>
                <a:gd name="T11" fmla="*/ 36 w 36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" h="96">
                  <a:moveTo>
                    <a:pt x="35" y="96"/>
                  </a:moveTo>
                  <a:cubicBezTo>
                    <a:pt x="35" y="76"/>
                    <a:pt x="36" y="56"/>
                    <a:pt x="30" y="40"/>
                  </a:cubicBezTo>
                  <a:cubicBezTo>
                    <a:pt x="24" y="24"/>
                    <a:pt x="12" y="12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0" name="Text Box 36"/>
            <p:cNvSpPr txBox="1">
              <a:spLocks noChangeArrowheads="1"/>
            </p:cNvSpPr>
            <p:nvPr/>
          </p:nvSpPr>
          <p:spPr bwMode="auto">
            <a:xfrm>
              <a:off x="5371245" y="4363018"/>
              <a:ext cx="4302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solidFill>
                    <a:srgbClr val="000000"/>
                  </a:solidFill>
                </a:rPr>
                <a:t>30</a:t>
              </a:r>
              <a:r>
                <a:rPr lang="en-US" altLang="zh-CN" b="1" dirty="0">
                  <a:solidFill>
                    <a:srgbClr val="000000"/>
                  </a:solidFill>
                  <a:sym typeface="Symbol" pitchFamily="18" charset="2"/>
                </a:rPr>
                <a:t></a:t>
              </a:r>
            </a:p>
          </p:txBody>
        </p:sp>
        <p:sp>
          <p:nvSpPr>
            <p:cNvPr id="41" name="Text Box 22"/>
            <p:cNvSpPr txBox="1">
              <a:spLocks noChangeArrowheads="1"/>
            </p:cNvSpPr>
            <p:nvPr/>
          </p:nvSpPr>
          <p:spPr bwMode="auto">
            <a:xfrm>
              <a:off x="5538510" y="4000640"/>
              <a:ext cx="513273" cy="41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1800" b="1" i="1" dirty="0" smtClean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</a:t>
              </a:r>
              <a:r>
                <a:rPr lang="en-US" altLang="zh-CN" sz="1800" b="1" baseline="-25000" dirty="0" smtClean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lang="en-US" altLang="zh-CN" sz="1800" b="1" dirty="0" smtClean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  <a:endParaRPr lang="en-US" altLang="zh-CN" sz="18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Text Box 19"/>
          <p:cNvSpPr txBox="1">
            <a:spLocks noChangeArrowheads="1"/>
          </p:cNvSpPr>
          <p:nvPr/>
        </p:nvSpPr>
        <p:spPr bwMode="auto">
          <a:xfrm>
            <a:off x="751438" y="692150"/>
            <a:ext cx="7976103" cy="297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ts val="1200"/>
              </a:spcAft>
            </a:pPr>
            <a:r>
              <a:rPr kumimoji="1" lang="en-US" altLang="zh-CN" sz="28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分析</a:t>
            </a:r>
            <a:r>
              <a:rPr kumimoji="1" lang="en-US" altLang="zh-CN" sz="28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en-US" sz="28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2800" b="1" dirty="0" smtClean="0">
              <a:solidFill>
                <a:srgbClr val="C00000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361950" indent="-36195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要求求取</a:t>
            </a:r>
            <a:r>
              <a:rPr lang="en-US" altLang="zh-CN" sz="20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</a:t>
            </a:r>
            <a:r>
              <a:rPr lang="en-US" altLang="zh-CN" sz="20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和</a:t>
            </a:r>
            <a:r>
              <a:rPr lang="en-US" altLang="zh-CN" sz="20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20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。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不排水强度包线为水平线，</a:t>
            </a:r>
            <a:r>
              <a:rPr lang="en-US" altLang="zh-CN" sz="20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</a:t>
            </a:r>
            <a:r>
              <a:rPr lang="en-US" altLang="zh-CN" sz="20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=0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lang="en-US" altLang="zh-CN" sz="20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20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为破坏莫尔圆半径</a:t>
            </a:r>
            <a:endParaRPr lang="en-US" altLang="zh-CN" sz="2000" b="1" dirty="0" smtClean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361950" indent="-36195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由题意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知，破坏时</a:t>
            </a:r>
            <a:r>
              <a:rPr kumimoji="1" lang="zh-CN" altLang="en-US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0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=200kPa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，因此，本题的关键是确定</a:t>
            </a:r>
            <a:r>
              <a:rPr lang="en-US" altLang="zh-CN" sz="2000" b="1" i="1" dirty="0" smtClean="0">
                <a:solidFill>
                  <a:srgbClr val="000066"/>
                </a:solidFill>
                <a:sym typeface="Symbol" pitchFamily="18" charset="2"/>
              </a:rPr>
              <a:t></a:t>
            </a:r>
            <a:r>
              <a:rPr lang="en-US" altLang="zh-CN" sz="2000" b="1" baseline="-25000" dirty="0">
                <a:solidFill>
                  <a:srgbClr val="000066"/>
                </a:solidFill>
                <a:sym typeface="Symbol" pitchFamily="18" charset="2"/>
              </a:rPr>
              <a:t>1f</a:t>
            </a:r>
            <a:endParaRPr lang="en-US" altLang="zh-CN" sz="2000" b="1" dirty="0">
              <a:solidFill>
                <a:srgbClr val="000066"/>
              </a:solidFill>
              <a:sym typeface="Symbol" pitchFamily="18" charset="2"/>
            </a:endParaRPr>
          </a:p>
          <a:p>
            <a:pPr marL="361950" indent="-36195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题目已知</a:t>
            </a:r>
            <a:r>
              <a:rPr kumimoji="1" lang="en-US" altLang="zh-CN" sz="2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=0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kumimoji="1" lang="en-US" altLang="zh-CN" sz="2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 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=30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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，破坏时</a:t>
            </a:r>
            <a:r>
              <a:rPr kumimoji="1" lang="en-US" altLang="zh-CN" sz="20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kumimoji="1" lang="en-US" altLang="zh-CN" sz="20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=0.5</a:t>
            </a:r>
          </a:p>
          <a:p>
            <a:pPr marL="361950" indent="-36195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破坏时，有效应力莫尔圆和</a:t>
            </a:r>
            <a:r>
              <a:rPr lang="zh-CN" altLang="en-US" sz="20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线相切</a:t>
            </a:r>
            <a:r>
              <a:rPr lang="zh-CN" altLang="en-US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，满足有效应力极限平衡条件</a:t>
            </a:r>
            <a:endParaRPr lang="en-US" altLang="zh-CN" sz="2000" b="1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361950" indent="-36195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总</a:t>
            </a:r>
            <a:r>
              <a:rPr lang="zh-CN" altLang="en-US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应力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莫尔圆和有效应力莫尔圆相差</a:t>
            </a:r>
            <a:r>
              <a:rPr lang="en-US" altLang="zh-CN" sz="2000" b="1" i="1" dirty="0" err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000" b="1" baseline="-25000" dirty="0" err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。</a:t>
            </a:r>
            <a:r>
              <a:rPr lang="en-US" altLang="zh-CN" sz="2000" b="1" i="1" dirty="0" err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000" b="1" baseline="-25000" dirty="0" err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可用</a:t>
            </a:r>
            <a:r>
              <a:rPr lang="zh-CN" altLang="en-US" sz="20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1f</a:t>
            </a:r>
            <a:r>
              <a:rPr lang="zh-CN" altLang="en-US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来表示</a:t>
            </a:r>
            <a:endParaRPr lang="en-US" altLang="zh-CN" sz="2000" b="1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2451169" y="4698061"/>
            <a:ext cx="4249132" cy="1003779"/>
            <a:chOff x="2451169" y="4698061"/>
            <a:chExt cx="4249132" cy="1003779"/>
          </a:xfrm>
        </p:grpSpPr>
        <p:cxnSp>
          <p:nvCxnSpPr>
            <p:cNvPr id="43" name="直接连接符 42"/>
            <p:cNvCxnSpPr/>
            <p:nvPr/>
          </p:nvCxnSpPr>
          <p:spPr bwMode="auto">
            <a:xfrm>
              <a:off x="2451169" y="5121980"/>
              <a:ext cx="3738518" cy="0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5" name="Text Box 22"/>
            <p:cNvSpPr txBox="1">
              <a:spLocks noChangeArrowheads="1"/>
            </p:cNvSpPr>
            <p:nvPr/>
          </p:nvSpPr>
          <p:spPr bwMode="auto">
            <a:xfrm>
              <a:off x="4521925" y="4698061"/>
              <a:ext cx="705940" cy="419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000" b="1" i="1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</a:t>
              </a:r>
              <a:r>
                <a:rPr lang="en-US" altLang="zh-CN" sz="2000" b="1" baseline="-25000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u</a:t>
              </a:r>
              <a:r>
                <a:rPr lang="en-US" altLang="zh-CN" sz="2000" b="1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=0</a:t>
              </a:r>
              <a:endParaRPr lang="en-US" altLang="zh-CN" sz="2000" b="1" dirty="0">
                <a:solidFill>
                  <a:srgbClr val="000000"/>
                </a:solidFill>
              </a:endParaRPr>
            </a:p>
          </p:txBody>
        </p:sp>
        <p:cxnSp>
          <p:nvCxnSpPr>
            <p:cNvPr id="49" name="直接箭头连接符 48"/>
            <p:cNvCxnSpPr/>
            <p:nvPr/>
          </p:nvCxnSpPr>
          <p:spPr bwMode="auto">
            <a:xfrm>
              <a:off x="5994469" y="5134012"/>
              <a:ext cx="0" cy="56782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0" name="Text Box 22"/>
            <p:cNvSpPr txBox="1">
              <a:spLocks noChangeArrowheads="1"/>
            </p:cNvSpPr>
            <p:nvPr/>
          </p:nvSpPr>
          <p:spPr bwMode="auto">
            <a:xfrm>
              <a:off x="5978990" y="5169177"/>
              <a:ext cx="390148" cy="4200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000" b="1" i="1" dirty="0" smtClean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c</a:t>
              </a:r>
              <a:r>
                <a:rPr lang="en-US" altLang="zh-CN" sz="2000" b="1" baseline="-25000" dirty="0" smtClean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u</a:t>
              </a:r>
              <a:endParaRPr lang="en-US" altLang="zh-CN" sz="2000" b="1" dirty="0">
                <a:solidFill>
                  <a:srgbClr val="000000"/>
                </a:solidFill>
              </a:endParaRPr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6187028" y="4812623"/>
              <a:ext cx="513273" cy="386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1800" b="1" i="1" dirty="0" smtClean="0">
                  <a:solidFill>
                    <a:srgbClr val="A50021"/>
                  </a:solidFill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</a:t>
              </a:r>
              <a:r>
                <a:rPr lang="en-US" altLang="zh-CN" sz="1800" b="1" baseline="-25000" dirty="0" smtClean="0">
                  <a:solidFill>
                    <a:srgbClr val="A50021"/>
                  </a:solidFill>
                  <a:ea typeface="幼圆" panose="020105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endParaRPr lang="en-US" altLang="zh-CN" sz="1800" b="1" dirty="0">
                <a:solidFill>
                  <a:srgbClr val="A50021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682521" y="4245135"/>
            <a:ext cx="1769717" cy="1846076"/>
            <a:chOff x="2682521" y="4245135"/>
            <a:chExt cx="1769717" cy="1846076"/>
          </a:xfrm>
        </p:grpSpPr>
        <p:sp>
          <p:nvSpPr>
            <p:cNvPr id="19" name="Text Box 26"/>
            <p:cNvSpPr txBox="1">
              <a:spLocks noChangeArrowheads="1"/>
            </p:cNvSpPr>
            <p:nvPr/>
          </p:nvSpPr>
          <p:spPr bwMode="auto">
            <a:xfrm>
              <a:off x="3116435" y="5642754"/>
              <a:ext cx="486328" cy="448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000" b="1" i="1" dirty="0">
                  <a:solidFill>
                    <a:srgbClr val="000000"/>
                  </a:solidFill>
                  <a:sym typeface="Symbol" pitchFamily="18" charset="2"/>
                </a:rPr>
                <a:t></a:t>
              </a:r>
              <a:r>
                <a:rPr lang="en-US" altLang="zh-CN" sz="2000" b="1" dirty="0">
                  <a:solidFill>
                    <a:srgbClr val="000000"/>
                  </a:solidFill>
                  <a:sym typeface="Symbol" pitchFamily="18" charset="2"/>
                </a:rPr>
                <a:t></a:t>
              </a:r>
              <a:r>
                <a:rPr lang="en-US" altLang="zh-CN" sz="2000" b="1" baseline="-25000" dirty="0">
                  <a:solidFill>
                    <a:srgbClr val="000000"/>
                  </a:solidFill>
                  <a:sym typeface="Symbol" pitchFamily="18" charset="2"/>
                </a:rPr>
                <a:t>3</a:t>
              </a: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2682521" y="4245135"/>
              <a:ext cx="1769717" cy="1460378"/>
              <a:chOff x="2682521" y="4245135"/>
              <a:chExt cx="1769717" cy="1460378"/>
            </a:xfrm>
          </p:grpSpPr>
          <p:sp>
            <p:nvSpPr>
              <p:cNvPr id="40" name="Arc 21"/>
              <p:cNvSpPr>
                <a:spLocks/>
              </p:cNvSpPr>
              <p:nvPr/>
            </p:nvSpPr>
            <p:spPr bwMode="auto">
              <a:xfrm>
                <a:off x="3321938" y="5134012"/>
                <a:ext cx="1130300" cy="571501"/>
              </a:xfrm>
              <a:custGeom>
                <a:avLst/>
                <a:gdLst>
                  <a:gd name="T0" fmla="*/ 0 w 43199"/>
                  <a:gd name="T1" fmla="*/ 6 h 21844"/>
                  <a:gd name="T2" fmla="*/ 12 w 43199"/>
                  <a:gd name="T3" fmla="*/ 6 h 21844"/>
                  <a:gd name="T4" fmla="*/ 6 w 43199"/>
                  <a:gd name="T5" fmla="*/ 6 h 21844"/>
                  <a:gd name="T6" fmla="*/ 0 60000 65536"/>
                  <a:gd name="T7" fmla="*/ 0 60000 65536"/>
                  <a:gd name="T8" fmla="*/ 0 60000 65536"/>
                  <a:gd name="T9" fmla="*/ 0 w 43199"/>
                  <a:gd name="T10" fmla="*/ 0 h 21844"/>
                  <a:gd name="T11" fmla="*/ 43199 w 43199"/>
                  <a:gd name="T12" fmla="*/ 21844 h 218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99" h="21844" fill="none" extrusionOk="0">
                    <a:moveTo>
                      <a:pt x="0" y="21364"/>
                    </a:moveTo>
                    <a:cubicBezTo>
                      <a:pt x="129" y="9527"/>
                      <a:pt x="9761" y="-1"/>
                      <a:pt x="21599" y="0"/>
                    </a:cubicBezTo>
                    <a:cubicBezTo>
                      <a:pt x="33528" y="0"/>
                      <a:pt x="43199" y="9670"/>
                      <a:pt x="43199" y="21600"/>
                    </a:cubicBezTo>
                    <a:cubicBezTo>
                      <a:pt x="43199" y="21681"/>
                      <a:pt x="43198" y="21762"/>
                      <a:pt x="43197" y="21843"/>
                    </a:cubicBezTo>
                  </a:path>
                  <a:path w="43199" h="21844" stroke="0" extrusionOk="0">
                    <a:moveTo>
                      <a:pt x="0" y="21364"/>
                    </a:moveTo>
                    <a:cubicBezTo>
                      <a:pt x="129" y="9527"/>
                      <a:pt x="9761" y="-1"/>
                      <a:pt x="21599" y="0"/>
                    </a:cubicBezTo>
                    <a:cubicBezTo>
                      <a:pt x="33528" y="0"/>
                      <a:pt x="43199" y="9670"/>
                      <a:pt x="43199" y="21600"/>
                    </a:cubicBezTo>
                    <a:cubicBezTo>
                      <a:pt x="43199" y="21681"/>
                      <a:pt x="43198" y="21762"/>
                      <a:pt x="43197" y="21843"/>
                    </a:cubicBezTo>
                    <a:lnTo>
                      <a:pt x="21599" y="21600"/>
                    </a:lnTo>
                    <a:close/>
                  </a:path>
                </a:pathLst>
              </a:custGeom>
              <a:noFill/>
              <a:ln w="19050">
                <a:solidFill>
                  <a:srgbClr val="C00000"/>
                </a:solidFill>
                <a:prstDash val="dash"/>
                <a:round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3" name="直接连接符 2"/>
              <p:cNvCxnSpPr>
                <a:endCxn id="53" idx="2"/>
              </p:cNvCxnSpPr>
              <p:nvPr/>
            </p:nvCxnSpPr>
            <p:spPr bwMode="auto">
              <a:xfrm flipH="1" flipV="1">
                <a:off x="3238271" y="4893647"/>
                <a:ext cx="140506" cy="489138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3" name="Text Box 22"/>
              <p:cNvSpPr txBox="1">
                <a:spLocks noChangeArrowheads="1"/>
              </p:cNvSpPr>
              <p:nvPr/>
            </p:nvSpPr>
            <p:spPr bwMode="auto">
              <a:xfrm>
                <a:off x="2682521" y="4245135"/>
                <a:ext cx="1111500" cy="648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b="1" dirty="0" smtClean="0">
                    <a:solidFill>
                      <a:srgbClr val="A5002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有效应力</a:t>
                </a:r>
                <a:endParaRPr lang="en-US" altLang="zh-CN" sz="1800" b="1" dirty="0" smtClean="0">
                  <a:solidFill>
                    <a:srgbClr val="A50021"/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  <a:p>
                <a:pPr algn="ctr" ea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b="1" dirty="0">
                    <a:solidFill>
                      <a:srgbClr val="A5002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莫尔圆</a:t>
                </a:r>
                <a:endParaRPr lang="en-US" altLang="zh-CN" sz="1800" b="1" dirty="0">
                  <a:solidFill>
                    <a:srgbClr val="A50021"/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4683587" y="4460910"/>
            <a:ext cx="2611134" cy="1246935"/>
            <a:chOff x="4683587" y="4460910"/>
            <a:chExt cx="2611134" cy="1246935"/>
          </a:xfrm>
        </p:grpSpPr>
        <p:sp>
          <p:nvSpPr>
            <p:cNvPr id="14" name="Arc 21"/>
            <p:cNvSpPr>
              <a:spLocks/>
            </p:cNvSpPr>
            <p:nvPr/>
          </p:nvSpPr>
          <p:spPr bwMode="auto">
            <a:xfrm>
              <a:off x="4683587" y="5136344"/>
              <a:ext cx="1130300" cy="571501"/>
            </a:xfrm>
            <a:custGeom>
              <a:avLst/>
              <a:gdLst>
                <a:gd name="T0" fmla="*/ 0 w 43199"/>
                <a:gd name="T1" fmla="*/ 6 h 21844"/>
                <a:gd name="T2" fmla="*/ 12 w 43199"/>
                <a:gd name="T3" fmla="*/ 6 h 21844"/>
                <a:gd name="T4" fmla="*/ 6 w 43199"/>
                <a:gd name="T5" fmla="*/ 6 h 21844"/>
                <a:gd name="T6" fmla="*/ 0 60000 65536"/>
                <a:gd name="T7" fmla="*/ 0 60000 65536"/>
                <a:gd name="T8" fmla="*/ 0 60000 65536"/>
                <a:gd name="T9" fmla="*/ 0 w 43199"/>
                <a:gd name="T10" fmla="*/ 0 h 21844"/>
                <a:gd name="T11" fmla="*/ 43199 w 43199"/>
                <a:gd name="T12" fmla="*/ 21844 h 218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99" h="21844" fill="none" extrusionOk="0">
                  <a:moveTo>
                    <a:pt x="0" y="21364"/>
                  </a:moveTo>
                  <a:cubicBezTo>
                    <a:pt x="129" y="9527"/>
                    <a:pt x="9761" y="-1"/>
                    <a:pt x="21599" y="0"/>
                  </a:cubicBezTo>
                  <a:cubicBezTo>
                    <a:pt x="33528" y="0"/>
                    <a:pt x="43199" y="9670"/>
                    <a:pt x="43199" y="21600"/>
                  </a:cubicBezTo>
                  <a:cubicBezTo>
                    <a:pt x="43199" y="21681"/>
                    <a:pt x="43198" y="21762"/>
                    <a:pt x="43197" y="21843"/>
                  </a:cubicBezTo>
                </a:path>
                <a:path w="43199" h="21844" stroke="0" extrusionOk="0">
                  <a:moveTo>
                    <a:pt x="0" y="21364"/>
                  </a:moveTo>
                  <a:cubicBezTo>
                    <a:pt x="129" y="9527"/>
                    <a:pt x="9761" y="-1"/>
                    <a:pt x="21599" y="0"/>
                  </a:cubicBezTo>
                  <a:cubicBezTo>
                    <a:pt x="33528" y="0"/>
                    <a:pt x="43199" y="9670"/>
                    <a:pt x="43199" y="21600"/>
                  </a:cubicBezTo>
                  <a:cubicBezTo>
                    <a:pt x="43199" y="21681"/>
                    <a:pt x="43198" y="21762"/>
                    <a:pt x="43197" y="21843"/>
                  </a:cubicBezTo>
                  <a:lnTo>
                    <a:pt x="21599" y="21600"/>
                  </a:lnTo>
                  <a:close/>
                </a:path>
              </a:pathLst>
            </a:custGeom>
            <a:solidFill>
              <a:srgbClr val="FFCC66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 bwMode="auto">
            <a:xfrm flipV="1">
              <a:off x="5676847" y="4810963"/>
              <a:ext cx="411014" cy="515993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" name="Text Box 22"/>
            <p:cNvSpPr txBox="1">
              <a:spLocks noChangeArrowheads="1"/>
            </p:cNvSpPr>
            <p:nvPr/>
          </p:nvSpPr>
          <p:spPr bwMode="auto">
            <a:xfrm>
              <a:off x="5950786" y="4460910"/>
              <a:ext cx="1343935" cy="37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dirty="0" smtClean="0">
                  <a:solidFill>
                    <a:srgbClr val="A5002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破坏莫尔圆</a:t>
              </a:r>
              <a:endParaRPr lang="en-US" altLang="zh-CN" sz="1800" b="1" dirty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sp>
        <p:nvSpPr>
          <p:cNvPr id="44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强度指标计算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370788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7" name="Text Box 186"/>
          <p:cNvSpPr txBox="1">
            <a:spLocks noChangeArrowheads="1"/>
          </p:cNvSpPr>
          <p:nvPr/>
        </p:nvSpPr>
        <p:spPr bwMode="auto">
          <a:xfrm>
            <a:off x="746646" y="1341190"/>
            <a:ext cx="492082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</a:rPr>
              <a:t>1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）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在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围压力</a:t>
            </a:r>
            <a:r>
              <a:rPr kumimoji="1" lang="zh-CN" altLang="en-US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=100kPa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下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排水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固结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：</a:t>
            </a:r>
            <a:endParaRPr lang="en-US" altLang="zh-CN" sz="22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8" name="Text Box 187"/>
          <p:cNvSpPr txBox="1">
            <a:spLocks noChangeArrowheads="1"/>
          </p:cNvSpPr>
          <p:nvPr/>
        </p:nvSpPr>
        <p:spPr bwMode="auto">
          <a:xfrm>
            <a:off x="5386247" y="1325577"/>
            <a:ext cx="3151178" cy="483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 b="1" i="1" dirty="0">
                <a:solidFill>
                  <a:srgbClr val="000066"/>
                </a:solidFill>
                <a:sym typeface="Symbol" pitchFamily="18" charset="2"/>
              </a:rPr>
              <a:t></a:t>
            </a:r>
            <a:r>
              <a:rPr lang="en-US" altLang="zh-CN" sz="2200" b="1" baseline="-25000" dirty="0">
                <a:solidFill>
                  <a:srgbClr val="000066"/>
                </a:solidFill>
                <a:sym typeface="Symbol" pitchFamily="18" charset="2"/>
              </a:rPr>
              <a:t>3</a:t>
            </a:r>
            <a:r>
              <a:rPr lang="en-US" altLang="zh-CN" sz="2200" b="1" dirty="0">
                <a:solidFill>
                  <a:srgbClr val="000066"/>
                </a:solidFill>
                <a:sym typeface="Symbol" pitchFamily="18" charset="2"/>
              </a:rPr>
              <a:t>=</a:t>
            </a:r>
            <a:r>
              <a:rPr lang="en-US" altLang="zh-CN" sz="2200" b="1" i="1" dirty="0">
                <a:solidFill>
                  <a:srgbClr val="000066"/>
                </a:solidFill>
                <a:sym typeface="Symbol" pitchFamily="18" charset="2"/>
              </a:rPr>
              <a:t></a:t>
            </a:r>
            <a:r>
              <a:rPr lang="en-US" altLang="zh-CN" sz="2200" b="1" baseline="-25000" dirty="0" smtClean="0">
                <a:solidFill>
                  <a:srgbClr val="000066"/>
                </a:solidFill>
                <a:sym typeface="Symbol" pitchFamily="18" charset="2"/>
              </a:rPr>
              <a:t>1</a:t>
            </a:r>
            <a:r>
              <a:rPr lang="en-US" altLang="zh-CN" sz="2200" b="1" dirty="0" smtClean="0">
                <a:solidFill>
                  <a:srgbClr val="000066"/>
                </a:solidFill>
                <a:sym typeface="Symbol" pitchFamily="18" charset="2"/>
              </a:rPr>
              <a:t>=100kPa</a:t>
            </a:r>
            <a:r>
              <a:rPr lang="zh-CN" altLang="en-US" sz="2200" b="1" dirty="0" smtClean="0">
                <a:solidFill>
                  <a:srgbClr val="000066"/>
                </a:solidFill>
                <a:sym typeface="Symbol" pitchFamily="18" charset="2"/>
              </a:rPr>
              <a:t>，</a:t>
            </a:r>
            <a:r>
              <a:rPr lang="en-US" altLang="zh-CN" sz="2200" b="1" i="1" dirty="0" smtClean="0">
                <a:solidFill>
                  <a:srgbClr val="000066"/>
                </a:solidFill>
                <a:sym typeface="Symbol" pitchFamily="18" charset="2"/>
              </a:rPr>
              <a:t>u</a:t>
            </a:r>
            <a:r>
              <a:rPr lang="en-US" altLang="zh-CN" sz="2200" b="1" dirty="0" smtClean="0">
                <a:solidFill>
                  <a:srgbClr val="000066"/>
                </a:solidFill>
                <a:sym typeface="Symbol" pitchFamily="18" charset="2"/>
              </a:rPr>
              <a:t>=0</a:t>
            </a:r>
            <a:endParaRPr lang="en-US" altLang="zh-CN" sz="2200" b="1" dirty="0">
              <a:solidFill>
                <a:srgbClr val="000066"/>
              </a:solidFill>
              <a:sym typeface="Symbol" pitchFamily="18" charset="2"/>
            </a:endParaRPr>
          </a:p>
        </p:txBody>
      </p:sp>
      <p:sp>
        <p:nvSpPr>
          <p:cNvPr id="21" name="Text Box 189"/>
          <p:cNvSpPr txBox="1">
            <a:spLocks noChangeArrowheads="1"/>
          </p:cNvSpPr>
          <p:nvPr/>
        </p:nvSpPr>
        <p:spPr bwMode="auto">
          <a:xfrm>
            <a:off x="5300866" y="1839231"/>
            <a:ext cx="3516004" cy="483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en-US" altLang="zh-CN" sz="2200" b="1" i="1" dirty="0">
                <a:solidFill>
                  <a:srgbClr val="000066"/>
                </a:solidFill>
                <a:sym typeface="Symbol" pitchFamily="18" charset="2"/>
              </a:rPr>
              <a:t></a:t>
            </a:r>
            <a:r>
              <a:rPr lang="en-US" altLang="zh-CN" sz="2200" b="1" baseline="-25000" dirty="0">
                <a:solidFill>
                  <a:srgbClr val="000066"/>
                </a:solidFill>
                <a:sym typeface="Symbol" pitchFamily="18" charset="2"/>
              </a:rPr>
              <a:t>3</a:t>
            </a:r>
            <a:r>
              <a:rPr lang="en-US" altLang="zh-CN" sz="2200" b="1" dirty="0">
                <a:solidFill>
                  <a:srgbClr val="000066"/>
                </a:solidFill>
                <a:sym typeface="Symbol" pitchFamily="18" charset="2"/>
              </a:rPr>
              <a:t>=</a:t>
            </a:r>
            <a:r>
              <a:rPr lang="en-US" altLang="zh-CN" sz="2200" b="1" i="1" dirty="0">
                <a:solidFill>
                  <a:srgbClr val="000066"/>
                </a:solidFill>
                <a:sym typeface="Symbol" pitchFamily="18" charset="2"/>
              </a:rPr>
              <a:t></a:t>
            </a:r>
            <a:r>
              <a:rPr lang="en-US" altLang="zh-CN" sz="2200" b="1" baseline="-25000" dirty="0" smtClean="0">
                <a:solidFill>
                  <a:srgbClr val="000066"/>
                </a:solidFill>
                <a:sym typeface="Symbol" pitchFamily="18" charset="2"/>
              </a:rPr>
              <a:t>1</a:t>
            </a:r>
            <a:r>
              <a:rPr lang="en-US" altLang="zh-CN" sz="2200" b="1" dirty="0" smtClean="0">
                <a:solidFill>
                  <a:srgbClr val="000066"/>
                </a:solidFill>
                <a:sym typeface="Symbol" pitchFamily="18" charset="2"/>
              </a:rPr>
              <a:t>=200kPa</a:t>
            </a:r>
            <a:r>
              <a:rPr lang="zh-CN" altLang="en-US" sz="2200" b="1" dirty="0" smtClean="0">
                <a:solidFill>
                  <a:srgbClr val="000066"/>
                </a:solidFill>
                <a:sym typeface="Symbol" pitchFamily="18" charset="2"/>
              </a:rPr>
              <a:t>，</a:t>
            </a:r>
            <a:r>
              <a:rPr lang="en-US" altLang="zh-CN" sz="2200" b="1" i="1" dirty="0" smtClean="0">
                <a:solidFill>
                  <a:srgbClr val="000066"/>
                </a:solidFill>
                <a:sym typeface="Symbol" pitchFamily="18" charset="2"/>
              </a:rPr>
              <a:t>u</a:t>
            </a:r>
            <a:r>
              <a:rPr lang="en-US" altLang="zh-CN" sz="2200" b="1" baseline="-25000" dirty="0" smtClean="0">
                <a:solidFill>
                  <a:srgbClr val="000066"/>
                </a:solidFill>
                <a:sym typeface="Symbol" pitchFamily="18" charset="2"/>
              </a:rPr>
              <a:t>1</a:t>
            </a:r>
            <a:r>
              <a:rPr lang="en-US" altLang="zh-CN" sz="2200" b="1" dirty="0" smtClean="0">
                <a:solidFill>
                  <a:srgbClr val="000066"/>
                </a:solidFill>
                <a:sym typeface="Symbol" pitchFamily="18" charset="2"/>
              </a:rPr>
              <a:t>=100kPa</a:t>
            </a:r>
            <a:endParaRPr lang="en-US" altLang="zh-CN" sz="2200" b="1" dirty="0">
              <a:solidFill>
                <a:srgbClr val="000066"/>
              </a:solidFill>
              <a:sym typeface="Symbol" pitchFamily="18" charset="2"/>
            </a:endParaRPr>
          </a:p>
        </p:txBody>
      </p:sp>
      <p:sp>
        <p:nvSpPr>
          <p:cNvPr id="24" name="Text Box 191"/>
          <p:cNvSpPr txBox="1">
            <a:spLocks noChangeArrowheads="1"/>
          </p:cNvSpPr>
          <p:nvPr/>
        </p:nvSpPr>
        <p:spPr bwMode="auto">
          <a:xfrm>
            <a:off x="1204119" y="2911285"/>
            <a:ext cx="5350591" cy="974755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200" b="1" dirty="0" smtClean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  <a:sym typeface="Symbol" pitchFamily="18" charset="2"/>
              </a:rPr>
              <a:t>总应力状态：</a:t>
            </a:r>
            <a:r>
              <a:rPr lang="en-US" altLang="zh-CN" sz="2200" b="1" i="1" dirty="0" smtClean="0">
                <a:solidFill>
                  <a:srgbClr val="000066"/>
                </a:solidFill>
                <a:sym typeface="Symbol" pitchFamily="18" charset="2"/>
              </a:rPr>
              <a:t></a:t>
            </a:r>
            <a:r>
              <a:rPr lang="en-US" altLang="zh-CN" sz="2200" b="1" baseline="-25000" dirty="0" smtClean="0">
                <a:solidFill>
                  <a:srgbClr val="000066"/>
                </a:solidFill>
                <a:sym typeface="Symbol" pitchFamily="18" charset="2"/>
              </a:rPr>
              <a:t>3</a:t>
            </a:r>
            <a:r>
              <a:rPr lang="en-US" altLang="zh-CN" sz="2200" b="1" dirty="0" smtClean="0">
                <a:solidFill>
                  <a:srgbClr val="000066"/>
                </a:solidFill>
                <a:sym typeface="Symbol" pitchFamily="18" charset="2"/>
              </a:rPr>
              <a:t>=200kPa</a:t>
            </a:r>
            <a:r>
              <a:rPr lang="zh-CN" altLang="en-US" sz="2200" b="1" dirty="0" smtClean="0">
                <a:solidFill>
                  <a:srgbClr val="000066"/>
                </a:solidFill>
                <a:sym typeface="Symbol" pitchFamily="18" charset="2"/>
              </a:rPr>
              <a:t>，</a:t>
            </a:r>
            <a:r>
              <a:rPr lang="en-US" altLang="zh-CN" sz="2200" b="1" i="1" dirty="0" smtClean="0">
                <a:solidFill>
                  <a:srgbClr val="000066"/>
                </a:solidFill>
                <a:sym typeface="Symbol" pitchFamily="18" charset="2"/>
              </a:rPr>
              <a:t></a:t>
            </a:r>
            <a:r>
              <a:rPr lang="en-US" altLang="zh-CN" sz="2200" b="1" baseline="-25000" dirty="0">
                <a:solidFill>
                  <a:srgbClr val="000066"/>
                </a:solidFill>
                <a:sym typeface="Symbol" pitchFamily="18" charset="2"/>
              </a:rPr>
              <a:t>1f</a:t>
            </a:r>
            <a:r>
              <a:rPr lang="en-US" altLang="zh-CN" sz="2200" b="1" dirty="0">
                <a:solidFill>
                  <a:srgbClr val="000066"/>
                </a:solidFill>
                <a:sym typeface="Symbol" pitchFamily="18" charset="2"/>
              </a:rPr>
              <a:t>=</a:t>
            </a:r>
            <a:r>
              <a:rPr lang="en-US" altLang="zh-CN" sz="2200" b="1" dirty="0">
                <a:solidFill>
                  <a:srgbClr val="000066"/>
                </a:solidFill>
              </a:rPr>
              <a:t>200+</a:t>
            </a:r>
            <a:r>
              <a:rPr lang="en-US" altLang="zh-CN" sz="2200" b="1" dirty="0">
                <a:solidFill>
                  <a:srgbClr val="000066"/>
                </a:solidFill>
                <a:sym typeface="Symbol" pitchFamily="18" charset="2"/>
              </a:rPr>
              <a:t></a:t>
            </a:r>
            <a:r>
              <a:rPr lang="en-US" altLang="zh-CN" sz="2200" b="1" i="1" dirty="0">
                <a:solidFill>
                  <a:srgbClr val="000066"/>
                </a:solidFill>
                <a:sym typeface="Symbol" pitchFamily="18" charset="2"/>
              </a:rPr>
              <a:t></a:t>
            </a:r>
            <a:r>
              <a:rPr lang="en-US" altLang="zh-CN" sz="2200" b="1" baseline="-25000" dirty="0" smtClean="0">
                <a:solidFill>
                  <a:srgbClr val="000066"/>
                </a:solidFill>
                <a:sym typeface="Symbol" pitchFamily="18" charset="2"/>
              </a:rPr>
              <a:t>1f</a:t>
            </a:r>
          </a:p>
          <a:p>
            <a:pPr eaLnBrk="1" hangingPunct="1"/>
            <a:r>
              <a:rPr lang="zh-CN" altLang="en-US" sz="2200" b="1" dirty="0" smtClean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  <a:sym typeface="Symbol" pitchFamily="18" charset="2"/>
              </a:rPr>
              <a:t>孔隙水压力：</a:t>
            </a:r>
            <a:r>
              <a:rPr lang="en-US" altLang="zh-CN" sz="2200" b="1" i="1" dirty="0" err="1" smtClean="0">
                <a:solidFill>
                  <a:srgbClr val="000066"/>
                </a:solidFill>
                <a:sym typeface="Symbol" pitchFamily="18" charset="2"/>
              </a:rPr>
              <a:t>u</a:t>
            </a:r>
            <a:r>
              <a:rPr lang="en-US" altLang="zh-CN" sz="2200" b="1" baseline="-25000" dirty="0" err="1" smtClean="0">
                <a:solidFill>
                  <a:srgbClr val="000066"/>
                </a:solidFill>
                <a:sym typeface="Symbol" pitchFamily="18" charset="2"/>
              </a:rPr>
              <a:t>f</a:t>
            </a:r>
            <a:r>
              <a:rPr lang="en-US" altLang="zh-CN" sz="2200" b="1" dirty="0" smtClean="0">
                <a:solidFill>
                  <a:srgbClr val="000066"/>
                </a:solidFill>
                <a:sym typeface="Symbol" pitchFamily="18" charset="2"/>
              </a:rPr>
              <a:t>=</a:t>
            </a:r>
            <a:r>
              <a:rPr lang="en-US" altLang="zh-CN" sz="2200" b="1" i="1" dirty="0" smtClean="0">
                <a:solidFill>
                  <a:srgbClr val="000066"/>
                </a:solidFill>
                <a:sym typeface="Symbol" pitchFamily="18" charset="2"/>
              </a:rPr>
              <a:t>u</a:t>
            </a:r>
            <a:r>
              <a:rPr lang="en-US" altLang="zh-CN" sz="2200" b="1" baseline="-25000" dirty="0" smtClean="0">
                <a:solidFill>
                  <a:srgbClr val="000066"/>
                </a:solidFill>
                <a:sym typeface="Symbol" pitchFamily="18" charset="2"/>
              </a:rPr>
              <a:t>1</a:t>
            </a:r>
            <a:r>
              <a:rPr lang="en-US" altLang="zh-CN" sz="2200" b="1" dirty="0">
                <a:solidFill>
                  <a:srgbClr val="000066"/>
                </a:solidFill>
                <a:sym typeface="Symbol" pitchFamily="18" charset="2"/>
              </a:rPr>
              <a:t>+</a:t>
            </a:r>
            <a:r>
              <a:rPr lang="en-US" altLang="zh-CN" sz="2200" b="1" i="1" dirty="0" smtClean="0">
                <a:solidFill>
                  <a:srgbClr val="000066"/>
                </a:solidFill>
                <a:sym typeface="Symbol" pitchFamily="18" charset="2"/>
              </a:rPr>
              <a:t>u</a:t>
            </a:r>
            <a:r>
              <a:rPr lang="en-US" altLang="zh-CN" sz="2200" b="1" dirty="0" smtClean="0">
                <a:solidFill>
                  <a:srgbClr val="000066"/>
                </a:solidFill>
                <a:sym typeface="Symbol" pitchFamily="18" charset="2"/>
              </a:rPr>
              <a:t>  </a:t>
            </a:r>
            <a:r>
              <a:rPr lang="en-US" altLang="zh-CN" sz="2200" b="1" dirty="0">
                <a:solidFill>
                  <a:srgbClr val="000066"/>
                </a:solidFill>
                <a:sym typeface="Symbol" pitchFamily="18" charset="2"/>
              </a:rPr>
              <a:t>=100+0.5 </a:t>
            </a:r>
            <a:r>
              <a:rPr lang="en-US" altLang="zh-CN" sz="2200" b="1" i="1" dirty="0">
                <a:solidFill>
                  <a:srgbClr val="000066"/>
                </a:solidFill>
                <a:sym typeface="Symbol" pitchFamily="18" charset="2"/>
              </a:rPr>
              <a:t></a:t>
            </a:r>
            <a:r>
              <a:rPr lang="en-US" altLang="zh-CN" sz="2200" b="1" baseline="-25000" dirty="0">
                <a:solidFill>
                  <a:srgbClr val="000066"/>
                </a:solidFill>
                <a:sym typeface="Symbol" pitchFamily="18" charset="2"/>
              </a:rPr>
              <a:t>1f</a:t>
            </a:r>
          </a:p>
        </p:txBody>
      </p:sp>
      <p:sp>
        <p:nvSpPr>
          <p:cNvPr id="33" name="Text Box 192"/>
          <p:cNvSpPr txBox="1">
            <a:spLocks noChangeArrowheads="1"/>
          </p:cNvSpPr>
          <p:nvPr/>
        </p:nvSpPr>
        <p:spPr bwMode="auto">
          <a:xfrm>
            <a:off x="1207538" y="3857487"/>
            <a:ext cx="7013004" cy="483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200" b="1" dirty="0" smtClean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  <a:sym typeface="Symbol" pitchFamily="18" charset="2"/>
              </a:rPr>
              <a:t>可得有效应力状态：</a:t>
            </a:r>
            <a:r>
              <a:rPr lang="en-US" altLang="zh-CN" sz="2200" b="1" i="1" dirty="0" smtClean="0">
                <a:solidFill>
                  <a:srgbClr val="000066"/>
                </a:solidFill>
                <a:sym typeface="Symbol" pitchFamily="18" charset="2"/>
              </a:rPr>
              <a:t></a:t>
            </a:r>
            <a:r>
              <a:rPr lang="en-US" altLang="zh-CN" sz="2200" b="1" baseline="-25000" dirty="0" smtClean="0">
                <a:solidFill>
                  <a:srgbClr val="000066"/>
                </a:solidFill>
                <a:sym typeface="Symbol" pitchFamily="18" charset="2"/>
              </a:rPr>
              <a:t>3</a:t>
            </a:r>
            <a:r>
              <a:rPr lang="en-US" altLang="zh-CN" sz="2200" b="1" dirty="0">
                <a:solidFill>
                  <a:srgbClr val="000066"/>
                </a:solidFill>
                <a:sym typeface="Symbol" pitchFamily="18" charset="2"/>
              </a:rPr>
              <a:t>=100-0.5 </a:t>
            </a:r>
            <a:r>
              <a:rPr lang="en-US" altLang="zh-CN" sz="2200" b="1" i="1" dirty="0">
                <a:solidFill>
                  <a:srgbClr val="000066"/>
                </a:solidFill>
                <a:sym typeface="Symbol" pitchFamily="18" charset="2"/>
              </a:rPr>
              <a:t></a:t>
            </a:r>
            <a:r>
              <a:rPr lang="en-US" altLang="zh-CN" sz="2200" b="1" baseline="-25000" dirty="0" smtClean="0">
                <a:solidFill>
                  <a:srgbClr val="000066"/>
                </a:solidFill>
                <a:sym typeface="Symbol" pitchFamily="18" charset="2"/>
              </a:rPr>
              <a:t>1f</a:t>
            </a:r>
            <a:r>
              <a:rPr lang="zh-CN" altLang="en-US" sz="2200" b="1" dirty="0" smtClean="0">
                <a:solidFill>
                  <a:srgbClr val="000066"/>
                </a:solidFill>
                <a:sym typeface="Symbol" pitchFamily="18" charset="2"/>
              </a:rPr>
              <a:t>，</a:t>
            </a:r>
            <a:r>
              <a:rPr lang="en-US" altLang="zh-CN" sz="2200" b="1" i="1" dirty="0" smtClean="0">
                <a:solidFill>
                  <a:srgbClr val="000066"/>
                </a:solidFill>
                <a:sym typeface="Symbol" pitchFamily="18" charset="2"/>
              </a:rPr>
              <a:t></a:t>
            </a:r>
            <a:r>
              <a:rPr lang="en-US" altLang="zh-CN" sz="2200" b="1" baseline="-25000" dirty="0" smtClean="0">
                <a:solidFill>
                  <a:srgbClr val="000066"/>
                </a:solidFill>
                <a:sym typeface="Symbol" pitchFamily="18" charset="2"/>
              </a:rPr>
              <a:t>1f</a:t>
            </a:r>
            <a:r>
              <a:rPr lang="en-US" altLang="zh-CN" sz="2200" b="1" dirty="0">
                <a:solidFill>
                  <a:srgbClr val="000066"/>
                </a:solidFill>
                <a:sym typeface="Symbol" pitchFamily="18" charset="2"/>
              </a:rPr>
              <a:t>=</a:t>
            </a:r>
            <a:r>
              <a:rPr lang="en-US" altLang="zh-CN" sz="2200" b="1" dirty="0">
                <a:solidFill>
                  <a:srgbClr val="000066"/>
                </a:solidFill>
              </a:rPr>
              <a:t>100+0.5</a:t>
            </a:r>
            <a:r>
              <a:rPr lang="en-US" altLang="zh-CN" sz="2200" b="1" dirty="0">
                <a:solidFill>
                  <a:srgbClr val="000066"/>
                </a:solidFill>
                <a:sym typeface="Symbol" pitchFamily="18" charset="2"/>
              </a:rPr>
              <a:t></a:t>
            </a:r>
            <a:r>
              <a:rPr lang="en-US" altLang="zh-CN" sz="2200" b="1" i="1" dirty="0">
                <a:solidFill>
                  <a:srgbClr val="000066"/>
                </a:solidFill>
                <a:sym typeface="Symbol" pitchFamily="18" charset="2"/>
              </a:rPr>
              <a:t></a:t>
            </a:r>
            <a:r>
              <a:rPr lang="en-US" altLang="zh-CN" sz="2200" b="1" baseline="-25000" dirty="0">
                <a:solidFill>
                  <a:srgbClr val="000066"/>
                </a:solidFill>
                <a:sym typeface="Symbol" pitchFamily="18" charset="2"/>
              </a:rPr>
              <a:t>1f</a:t>
            </a:r>
          </a:p>
        </p:txBody>
      </p:sp>
      <p:sp>
        <p:nvSpPr>
          <p:cNvPr id="37" name="AutoShape 199"/>
          <p:cNvSpPr>
            <a:spLocks noChangeArrowheads="1"/>
          </p:cNvSpPr>
          <p:nvPr/>
        </p:nvSpPr>
        <p:spPr bwMode="auto">
          <a:xfrm>
            <a:off x="1799567" y="5566693"/>
            <a:ext cx="509588" cy="487363"/>
          </a:xfrm>
          <a:prstGeom prst="homePlate">
            <a:avLst>
              <a:gd name="adj" fmla="val 26140"/>
            </a:avLst>
          </a:prstGeom>
          <a:solidFill>
            <a:srgbClr val="FFCC66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0" name="Text Box 19"/>
          <p:cNvSpPr txBox="1">
            <a:spLocks noChangeArrowheads="1"/>
          </p:cNvSpPr>
          <p:nvPr/>
        </p:nvSpPr>
        <p:spPr bwMode="auto">
          <a:xfrm>
            <a:off x="369778" y="692150"/>
            <a:ext cx="200223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求解</a:t>
            </a:r>
            <a:r>
              <a:rPr kumimoji="1" lang="en-US" altLang="zh-CN" sz="28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en-US" sz="2800" b="1" dirty="0" smtClean="0">
                <a:solidFill>
                  <a:srgbClr val="C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2800" b="1" dirty="0" smtClean="0">
              <a:solidFill>
                <a:srgbClr val="C00000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2" name="Text Box 186"/>
          <p:cNvSpPr txBox="1">
            <a:spLocks noChangeArrowheads="1"/>
          </p:cNvSpPr>
          <p:nvPr/>
        </p:nvSpPr>
        <p:spPr bwMode="auto">
          <a:xfrm>
            <a:off x="736087" y="1864783"/>
            <a:ext cx="444196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</a:rPr>
              <a:t>2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）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围压力</a:t>
            </a:r>
            <a:r>
              <a:rPr kumimoji="1" lang="zh-CN" altLang="en-US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增大至</a:t>
            </a:r>
            <a:r>
              <a:rPr kumimoji="1"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200kPa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不固结：</a:t>
            </a:r>
            <a:endParaRPr lang="en-US" altLang="zh-CN" sz="22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53" name="Text Box 186"/>
          <p:cNvSpPr txBox="1">
            <a:spLocks noChangeArrowheads="1"/>
          </p:cNvSpPr>
          <p:nvPr/>
        </p:nvSpPr>
        <p:spPr bwMode="auto">
          <a:xfrm>
            <a:off x="752681" y="2361220"/>
            <a:ext cx="639407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</a:rPr>
              <a:t>3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）不排水剪切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至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破坏状态：假设偏差应力为</a:t>
            </a:r>
            <a:r>
              <a:rPr lang="en-US" altLang="zh-CN" sz="2200" b="1" dirty="0" smtClean="0">
                <a:solidFill>
                  <a:srgbClr val="000066"/>
                </a:solidFill>
                <a:sym typeface="Symbol" pitchFamily="18" charset="2"/>
              </a:rPr>
              <a:t></a:t>
            </a:r>
            <a:r>
              <a:rPr lang="en-US" altLang="zh-CN" sz="2200" b="1" i="1" dirty="0" smtClean="0">
                <a:solidFill>
                  <a:srgbClr val="000066"/>
                </a:solidFill>
                <a:sym typeface="Symbol" pitchFamily="18" charset="2"/>
              </a:rPr>
              <a:t></a:t>
            </a:r>
            <a:r>
              <a:rPr lang="en-US" altLang="zh-CN" sz="2200" b="1" baseline="-25000" dirty="0" smtClean="0">
                <a:solidFill>
                  <a:srgbClr val="000066"/>
                </a:solidFill>
                <a:sym typeface="Symbol" pitchFamily="18" charset="2"/>
              </a:rPr>
              <a:t>1f</a:t>
            </a:r>
            <a:endParaRPr lang="en-US" altLang="zh-CN" sz="2200" b="1" dirty="0">
              <a:solidFill>
                <a:srgbClr val="000066"/>
              </a:solidFill>
              <a:sym typeface="Symbol" pitchFamily="18" charset="2"/>
            </a:endParaRPr>
          </a:p>
        </p:txBody>
      </p:sp>
      <p:sp>
        <p:nvSpPr>
          <p:cNvPr id="54" name="Text Box 192"/>
          <p:cNvSpPr txBox="1">
            <a:spLocks noChangeArrowheads="1"/>
          </p:cNvSpPr>
          <p:nvPr/>
        </p:nvSpPr>
        <p:spPr bwMode="auto">
          <a:xfrm>
            <a:off x="1215087" y="4344985"/>
            <a:ext cx="2622988" cy="483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200" b="1" dirty="0" smtClean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  <a:sym typeface="Symbol" pitchFamily="18" charset="2"/>
              </a:rPr>
              <a:t>满足极限平衡方程：</a:t>
            </a:r>
            <a:endParaRPr lang="en-US" altLang="zh-CN" sz="2200" b="1" baseline="-25000" dirty="0">
              <a:solidFill>
                <a:srgbClr val="000066"/>
              </a:solidFill>
              <a:latin typeface="幼圆" panose="02010509060101010101" pitchFamily="49" charset="-122"/>
              <a:ea typeface="幼圆" panose="02010509060101010101" pitchFamily="49" charset="-122"/>
              <a:sym typeface="Symbol" pitchFamily="18" charset="2"/>
            </a:endParaRPr>
          </a:p>
        </p:txBody>
      </p:sp>
      <p:sp>
        <p:nvSpPr>
          <p:cNvPr id="55" name="Text Box 192"/>
          <p:cNvSpPr txBox="1">
            <a:spLocks noChangeArrowheads="1"/>
          </p:cNvSpPr>
          <p:nvPr/>
        </p:nvSpPr>
        <p:spPr bwMode="auto">
          <a:xfrm>
            <a:off x="3821582" y="4330898"/>
            <a:ext cx="2958567" cy="483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 b="1" i="1" dirty="0" smtClean="0">
                <a:solidFill>
                  <a:srgbClr val="000066"/>
                </a:solidFill>
                <a:sym typeface="Symbol" pitchFamily="18" charset="2"/>
              </a:rPr>
              <a:t></a:t>
            </a:r>
            <a:r>
              <a:rPr lang="en-US" altLang="zh-CN" sz="2200" b="1" baseline="-25000" dirty="0" smtClean="0">
                <a:solidFill>
                  <a:srgbClr val="000066"/>
                </a:solidFill>
                <a:sym typeface="Symbol" pitchFamily="18" charset="2"/>
              </a:rPr>
              <a:t>1f</a:t>
            </a:r>
            <a:r>
              <a:rPr lang="en-US" altLang="zh-CN" sz="2200" b="1" dirty="0">
                <a:solidFill>
                  <a:srgbClr val="000066"/>
                </a:solidFill>
                <a:sym typeface="Symbol" pitchFamily="18" charset="2"/>
              </a:rPr>
              <a:t></a:t>
            </a:r>
            <a:r>
              <a:rPr lang="en-US" altLang="zh-CN" sz="2200" b="1" baseline="-25000" dirty="0" smtClean="0">
                <a:solidFill>
                  <a:srgbClr val="000066"/>
                </a:solidFill>
                <a:sym typeface="Symbol" pitchFamily="18" charset="2"/>
              </a:rPr>
              <a:t> </a:t>
            </a:r>
            <a:r>
              <a:rPr lang="en-US" altLang="zh-CN" sz="2200" b="1" dirty="0" smtClean="0">
                <a:solidFill>
                  <a:srgbClr val="000066"/>
                </a:solidFill>
                <a:sym typeface="Symbol" pitchFamily="18" charset="2"/>
              </a:rPr>
              <a:t>= </a:t>
            </a:r>
            <a:r>
              <a:rPr lang="en-US" altLang="zh-CN" sz="2200" b="1" i="1" dirty="0" smtClean="0">
                <a:solidFill>
                  <a:srgbClr val="000066"/>
                </a:solidFill>
                <a:sym typeface="Symbol" pitchFamily="18" charset="2"/>
              </a:rPr>
              <a:t></a:t>
            </a:r>
            <a:r>
              <a:rPr lang="en-US" altLang="zh-CN" sz="2200" b="1" baseline="-25000" dirty="0" smtClean="0">
                <a:solidFill>
                  <a:srgbClr val="000066"/>
                </a:solidFill>
                <a:sym typeface="Symbol" pitchFamily="18" charset="2"/>
              </a:rPr>
              <a:t>3</a:t>
            </a:r>
            <a:r>
              <a:rPr lang="en-US" altLang="zh-CN" sz="2200" b="1" dirty="0">
                <a:solidFill>
                  <a:srgbClr val="000066"/>
                </a:solidFill>
                <a:sym typeface="Symbol" pitchFamily="18" charset="2"/>
              </a:rPr>
              <a:t></a:t>
            </a:r>
            <a:r>
              <a:rPr lang="en-US" altLang="zh-CN" sz="2200" b="1" dirty="0" smtClean="0">
                <a:solidFill>
                  <a:srgbClr val="000066"/>
                </a:solidFill>
                <a:sym typeface="Symbol"/>
              </a:rPr>
              <a:t>tg</a:t>
            </a:r>
            <a:r>
              <a:rPr lang="en-US" altLang="zh-CN" sz="2200" b="1" baseline="30000" dirty="0" smtClean="0">
                <a:solidFill>
                  <a:srgbClr val="000066"/>
                </a:solidFill>
                <a:sym typeface="Symbol"/>
              </a:rPr>
              <a:t>2</a:t>
            </a:r>
            <a:r>
              <a:rPr lang="en-US" altLang="zh-CN" sz="2200" b="1" dirty="0" smtClean="0">
                <a:solidFill>
                  <a:srgbClr val="000066"/>
                </a:solidFill>
                <a:sym typeface="Symbol" pitchFamily="18" charset="2"/>
              </a:rPr>
              <a:t>(45</a:t>
            </a:r>
            <a:r>
              <a:rPr lang="en-US" altLang="zh-CN" sz="2200" b="1" dirty="0" smtClean="0">
                <a:solidFill>
                  <a:srgbClr val="000066"/>
                </a:solidFill>
                <a:sym typeface="Symbol"/>
              </a:rPr>
              <a:t>+/2)</a:t>
            </a:r>
            <a:endParaRPr lang="en-US" altLang="zh-CN" sz="2200" b="1" baseline="-25000" dirty="0">
              <a:solidFill>
                <a:srgbClr val="000066"/>
              </a:solidFill>
              <a:sym typeface="Symbol" pitchFamily="18" charset="2"/>
            </a:endParaRPr>
          </a:p>
        </p:txBody>
      </p:sp>
      <p:sp>
        <p:nvSpPr>
          <p:cNvPr id="56" name="Text Box 192"/>
          <p:cNvSpPr txBox="1">
            <a:spLocks noChangeArrowheads="1"/>
          </p:cNvSpPr>
          <p:nvPr/>
        </p:nvSpPr>
        <p:spPr bwMode="auto">
          <a:xfrm>
            <a:off x="1196984" y="4842923"/>
            <a:ext cx="5203816" cy="449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200" b="1" dirty="0" smtClean="0">
                <a:solidFill>
                  <a:srgbClr val="000066"/>
                </a:solidFill>
                <a:latin typeface="幼圆" panose="02010509060101010101" pitchFamily="49" charset="-122"/>
                <a:ea typeface="幼圆" panose="02010509060101010101" pitchFamily="49" charset="-122"/>
                <a:sym typeface="Symbol" pitchFamily="18" charset="2"/>
              </a:rPr>
              <a:t>代入已知条件，求解可得：</a:t>
            </a:r>
            <a:r>
              <a:rPr lang="en-US" altLang="zh-CN" sz="2200" b="1" dirty="0">
                <a:solidFill>
                  <a:srgbClr val="000066"/>
                </a:solidFill>
                <a:sym typeface="Symbol" pitchFamily="18" charset="2"/>
              </a:rPr>
              <a:t></a:t>
            </a:r>
            <a:r>
              <a:rPr lang="en-US" altLang="zh-CN" sz="2200" b="1" i="1" dirty="0">
                <a:solidFill>
                  <a:srgbClr val="000066"/>
                </a:solidFill>
                <a:sym typeface="Symbol" pitchFamily="18" charset="2"/>
              </a:rPr>
              <a:t></a:t>
            </a:r>
            <a:r>
              <a:rPr lang="en-US" altLang="zh-CN" sz="2200" b="1" baseline="-25000" dirty="0" smtClean="0">
                <a:solidFill>
                  <a:srgbClr val="000066"/>
                </a:solidFill>
                <a:sym typeface="Symbol" pitchFamily="18" charset="2"/>
              </a:rPr>
              <a:t>1f</a:t>
            </a:r>
            <a:r>
              <a:rPr lang="en-US" altLang="zh-CN" sz="2200" b="1" dirty="0" smtClean="0">
                <a:solidFill>
                  <a:srgbClr val="000066"/>
                </a:solidFill>
                <a:sym typeface="Symbol" pitchFamily="18" charset="2"/>
              </a:rPr>
              <a:t>=100kPa</a:t>
            </a:r>
            <a:endParaRPr lang="en-US" altLang="zh-CN" sz="2200" b="1" dirty="0">
              <a:solidFill>
                <a:srgbClr val="000066"/>
              </a:solidFill>
              <a:sym typeface="Symbol" pitchFamily="18" charset="2"/>
            </a:endParaRPr>
          </a:p>
        </p:txBody>
      </p:sp>
      <p:sp>
        <p:nvSpPr>
          <p:cNvPr id="57" name="Text Box 200"/>
          <p:cNvSpPr txBox="1">
            <a:spLocks noChangeArrowheads="1"/>
          </p:cNvSpPr>
          <p:nvPr/>
        </p:nvSpPr>
        <p:spPr bwMode="auto">
          <a:xfrm>
            <a:off x="2461938" y="5548682"/>
            <a:ext cx="5458843" cy="519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Symbol" pitchFamily="18" charset="2"/>
              </a:rPr>
              <a:t>不排水抗剪强度</a:t>
            </a:r>
            <a:r>
              <a:rPr lang="zh-CN" altLang="en-US" sz="2400" b="1" dirty="0" smtClean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Symbol" pitchFamily="18" charset="2"/>
              </a:rPr>
              <a:t>指标</a:t>
            </a:r>
            <a:r>
              <a:rPr lang="zh-CN" altLang="en-US" sz="2400" b="1" dirty="0" smtClean="0">
                <a:solidFill>
                  <a:srgbClr val="A50021"/>
                </a:solidFill>
                <a:sym typeface="Symbol" pitchFamily="18" charset="2"/>
              </a:rPr>
              <a:t>：</a:t>
            </a:r>
            <a:r>
              <a:rPr lang="en-US" altLang="zh-CN" sz="2400" b="1" i="1" dirty="0" smtClean="0">
                <a:solidFill>
                  <a:srgbClr val="A50021"/>
                </a:solidFill>
                <a:sym typeface="Symbol" pitchFamily="18" charset="2"/>
              </a:rPr>
              <a:t></a:t>
            </a:r>
            <a:r>
              <a:rPr lang="en-US" altLang="zh-CN" sz="2400" b="1" baseline="-25000" dirty="0" smtClean="0">
                <a:solidFill>
                  <a:srgbClr val="A50021"/>
                </a:solidFill>
                <a:sym typeface="Symbol" pitchFamily="18" charset="2"/>
              </a:rPr>
              <a:t>u</a:t>
            </a:r>
            <a:r>
              <a:rPr lang="en-US" altLang="zh-CN" sz="2400" b="1" dirty="0" smtClean="0">
                <a:solidFill>
                  <a:srgbClr val="A50021"/>
                </a:solidFill>
                <a:sym typeface="Symbol" pitchFamily="18" charset="2"/>
              </a:rPr>
              <a:t>=0</a:t>
            </a:r>
            <a:r>
              <a:rPr lang="zh-CN" altLang="en-US" sz="2400" b="1" dirty="0" smtClean="0">
                <a:solidFill>
                  <a:srgbClr val="A50021"/>
                </a:solidFill>
                <a:sym typeface="Symbol" pitchFamily="18" charset="2"/>
              </a:rPr>
              <a:t>，</a:t>
            </a:r>
            <a:r>
              <a:rPr lang="en-US" altLang="zh-CN" sz="2400" b="1" i="1" dirty="0" smtClean="0">
                <a:solidFill>
                  <a:srgbClr val="A50021"/>
                </a:solidFill>
                <a:sym typeface="Symbol" pitchFamily="18" charset="2"/>
              </a:rPr>
              <a:t>c</a:t>
            </a:r>
            <a:r>
              <a:rPr lang="en-US" altLang="zh-CN" sz="2400" b="1" baseline="-25000" dirty="0" smtClean="0">
                <a:solidFill>
                  <a:srgbClr val="A50021"/>
                </a:solidFill>
                <a:sym typeface="Symbol" pitchFamily="18" charset="2"/>
              </a:rPr>
              <a:t>u</a:t>
            </a:r>
            <a:r>
              <a:rPr lang="en-US" altLang="zh-CN" sz="2400" b="1" dirty="0" smtClean="0">
                <a:solidFill>
                  <a:srgbClr val="A50021"/>
                </a:solidFill>
                <a:sym typeface="Symbol" pitchFamily="18" charset="2"/>
              </a:rPr>
              <a:t>=50kPa</a:t>
            </a:r>
            <a:endParaRPr lang="en-US" altLang="zh-CN" sz="2400" b="1" baseline="-25000" dirty="0">
              <a:solidFill>
                <a:srgbClr val="A50021"/>
              </a:solidFill>
              <a:sym typeface="Symbol" pitchFamily="18" charset="2"/>
            </a:endParaRPr>
          </a:p>
        </p:txBody>
      </p:sp>
      <p:sp>
        <p:nvSpPr>
          <p:cNvPr id="58" name="Text Box 19"/>
          <p:cNvSpPr txBox="1">
            <a:spLocks noChangeArrowheads="1"/>
          </p:cNvSpPr>
          <p:nvPr/>
        </p:nvSpPr>
        <p:spPr bwMode="auto">
          <a:xfrm>
            <a:off x="2082298" y="788780"/>
            <a:ext cx="6898740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三</a:t>
            </a:r>
            <a:r>
              <a:rPr lang="zh-CN" altLang="en-US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轴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状态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</a:t>
            </a:r>
            <a:r>
              <a:rPr lang="en-US" altLang="zh-CN" sz="22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 =</a:t>
            </a:r>
            <a:r>
              <a:rPr lang="en-US" altLang="zh-CN" sz="22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en-US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[</a:t>
            </a:r>
            <a:r>
              <a:rPr lang="en-US" altLang="zh-CN" sz="22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en-US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+</a:t>
            </a:r>
            <a:r>
              <a:rPr lang="en-US" altLang="zh-CN" sz="22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(</a:t>
            </a:r>
            <a:r>
              <a:rPr lang="en-US" altLang="zh-CN" sz="22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lang="en-US" altLang="zh-CN" sz="22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)]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=1.0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lang="en-US" altLang="zh-CN" sz="2200" b="1" i="1" dirty="0" err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sz="2200" b="1" baseline="-25000" dirty="0" err="1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=0.5</a:t>
            </a:r>
            <a:endParaRPr lang="en-US" altLang="zh-CN" sz="2200" b="1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强度指标计算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507691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1" grpId="0"/>
      <p:bldP spid="24" grpId="0"/>
      <p:bldP spid="33" grpId="0"/>
      <p:bldP spid="37" grpId="0" animBg="1"/>
      <p:bldP spid="52" grpId="0"/>
      <p:bldP spid="53" grpId="0"/>
      <p:bldP spid="54" grpId="0"/>
      <p:bldP spid="55" grpId="0"/>
      <p:bldP spid="56" grpId="0"/>
      <p:bldP spid="57" grpId="0"/>
      <p:bldP spid="5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强度指标计算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0" name="Text Box 43"/>
          <p:cNvSpPr txBox="1">
            <a:spLocks noChangeArrowheads="1"/>
          </p:cNvSpPr>
          <p:nvPr/>
        </p:nvSpPr>
        <p:spPr bwMode="auto">
          <a:xfrm>
            <a:off x="818819" y="865235"/>
            <a:ext cx="37668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审题及应力变化过程：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41" name="Text Box 43"/>
          <p:cNvSpPr txBox="1">
            <a:spLocks noChangeArrowheads="1"/>
          </p:cNvSpPr>
          <p:nvPr/>
        </p:nvSpPr>
        <p:spPr bwMode="auto">
          <a:xfrm>
            <a:off x="1282841" y="1452089"/>
            <a:ext cx="67283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 smtClean="0">
                <a:solidFill>
                  <a:srgbClr val="000066"/>
                </a:solidFill>
                <a:ea typeface="幼圆" pitchFamily="49" charset="-122"/>
              </a:rPr>
              <a:t>a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</a:rPr>
              <a:t>）分步跟踪应力状态变化    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  <a:sym typeface="Symbol"/>
              </a:rPr>
              <a:t>过程复杂时，可做表</a:t>
            </a:r>
            <a:endParaRPr lang="en-US" altLang="zh-CN" sz="20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42" name="Text Box 43"/>
          <p:cNvSpPr txBox="1">
            <a:spLocks noChangeArrowheads="1"/>
          </p:cNvSpPr>
          <p:nvPr/>
        </p:nvSpPr>
        <p:spPr bwMode="auto">
          <a:xfrm>
            <a:off x="1312410" y="1995488"/>
            <a:ext cx="28365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000066"/>
                </a:solidFill>
                <a:ea typeface="幼圆" pitchFamily="49" charset="-122"/>
              </a:rPr>
              <a:t>b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</a:rPr>
              <a:t>）孔隙水压力计算：</a:t>
            </a:r>
            <a:endParaRPr lang="en-US" altLang="zh-CN" sz="20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4108082"/>
              </p:ext>
            </p:extLst>
          </p:nvPr>
        </p:nvGraphicFramePr>
        <p:xfrm>
          <a:off x="4203510" y="2053986"/>
          <a:ext cx="3160655" cy="361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593" name="公式" r:id="rId3" imgW="1916868" imgH="215806" progId="Equation.3">
                  <p:embed/>
                </p:oleObj>
              </mc:Choice>
              <mc:Fallback>
                <p:oleObj name="公式" r:id="rId3" imgW="1916868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3510" y="2053986"/>
                        <a:ext cx="3160655" cy="3616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矩形 42"/>
          <p:cNvSpPr/>
          <p:nvPr/>
        </p:nvSpPr>
        <p:spPr>
          <a:xfrm>
            <a:off x="1682750" y="3641092"/>
            <a:ext cx="2130711" cy="4147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73050" indent="-273050">
              <a:buFont typeface="Arial" panose="020B0604020202020204" pitchFamily="34" charset="0"/>
              <a:buChar char="•"/>
            </a:pPr>
            <a:r>
              <a:rPr lang="zh-CN" altLang="zh-CN" sz="2000" b="1" dirty="0"/>
              <a:t>饱和土：</a:t>
            </a:r>
            <a:r>
              <a:rPr lang="en-US" altLang="zh-CN" sz="2000" b="1" dirty="0"/>
              <a:t>B=1.0</a:t>
            </a:r>
            <a:endParaRPr lang="zh-CN" altLang="en-US" sz="2000" dirty="0"/>
          </a:p>
        </p:txBody>
      </p:sp>
      <p:sp>
        <p:nvSpPr>
          <p:cNvPr id="44" name="Text Box 43"/>
          <p:cNvSpPr txBox="1">
            <a:spLocks noChangeArrowheads="1"/>
          </p:cNvSpPr>
          <p:nvPr/>
        </p:nvSpPr>
        <p:spPr bwMode="auto">
          <a:xfrm>
            <a:off x="821092" y="3010209"/>
            <a:ext cx="37668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2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常见已知条件：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682750" y="4107392"/>
            <a:ext cx="3847528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73050" indent="-273050">
              <a:buFont typeface="Arial" panose="020B0604020202020204" pitchFamily="34" charset="0"/>
              <a:buChar char="•"/>
            </a:pPr>
            <a:r>
              <a:rPr lang="zh-CN" altLang="en-US" sz="2000" b="1" dirty="0" smtClean="0"/>
              <a:t>正常固结黏土或砂土：</a:t>
            </a:r>
            <a:r>
              <a:rPr lang="en-US" altLang="zh-CN" sz="2000" b="1" dirty="0" smtClean="0"/>
              <a:t>c</a:t>
            </a:r>
            <a:r>
              <a:rPr lang="en-US" altLang="zh-CN" sz="2000" b="1" baseline="-25000" dirty="0" smtClean="0"/>
              <a:t>d</a:t>
            </a:r>
            <a:r>
              <a:rPr lang="en-US" altLang="zh-CN" sz="2000" b="1" dirty="0" smtClean="0"/>
              <a:t>=c</a:t>
            </a:r>
            <a:r>
              <a:rPr lang="en-US" altLang="zh-CN" sz="2000" b="1" dirty="0" smtClean="0">
                <a:sym typeface="Symbol"/>
              </a:rPr>
              <a:t></a:t>
            </a:r>
            <a:r>
              <a:rPr lang="en-US" altLang="zh-CN" sz="2000" b="1" dirty="0" smtClean="0"/>
              <a:t>=0</a:t>
            </a:r>
            <a:endParaRPr lang="zh-CN" altLang="en-US" sz="2000" dirty="0"/>
          </a:p>
        </p:txBody>
      </p:sp>
      <p:sp>
        <p:nvSpPr>
          <p:cNvPr id="51" name="矩形 50"/>
          <p:cNvSpPr/>
          <p:nvPr/>
        </p:nvSpPr>
        <p:spPr>
          <a:xfrm>
            <a:off x="1682750" y="5064263"/>
            <a:ext cx="4145687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73050" indent="-273050">
              <a:buFont typeface="Arial" panose="020B0604020202020204" pitchFamily="34" charset="0"/>
              <a:buChar char="•"/>
            </a:pPr>
            <a:r>
              <a:rPr lang="zh-CN" altLang="en-US" sz="2000" b="1" dirty="0" smtClean="0"/>
              <a:t>饱和黏土不排水强度指标：</a:t>
            </a:r>
            <a:r>
              <a:rPr lang="zh-CN" altLang="en-US" sz="2000" b="1" dirty="0" smtClean="0">
                <a:sym typeface="Symbol"/>
              </a:rPr>
              <a:t></a:t>
            </a:r>
            <a:r>
              <a:rPr lang="en-US" altLang="zh-CN" sz="2000" b="1" baseline="-25000" dirty="0" smtClean="0">
                <a:sym typeface="Symbol"/>
              </a:rPr>
              <a:t>u</a:t>
            </a:r>
            <a:r>
              <a:rPr lang="en-US" altLang="zh-CN" sz="2000" b="1" dirty="0" smtClean="0"/>
              <a:t>=0</a:t>
            </a:r>
            <a:endParaRPr lang="zh-CN" altLang="en-US" sz="2000" dirty="0"/>
          </a:p>
        </p:txBody>
      </p:sp>
      <p:sp>
        <p:nvSpPr>
          <p:cNvPr id="52" name="矩形 51"/>
          <p:cNvSpPr/>
          <p:nvPr/>
        </p:nvSpPr>
        <p:spPr>
          <a:xfrm>
            <a:off x="1682750" y="4574446"/>
            <a:ext cx="2824812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73050" indent="-273050">
              <a:buFont typeface="Arial" panose="020B0604020202020204" pitchFamily="34" charset="0"/>
              <a:buChar char="•"/>
            </a:pPr>
            <a:r>
              <a:rPr lang="zh-CN" altLang="en-US" sz="2000" b="1" dirty="0" smtClean="0"/>
              <a:t>正常固结黏土：</a:t>
            </a:r>
            <a:r>
              <a:rPr lang="en-US" altLang="zh-CN" sz="2000" b="1" dirty="0" err="1" smtClean="0"/>
              <a:t>c</a:t>
            </a:r>
            <a:r>
              <a:rPr lang="en-US" altLang="zh-CN" sz="2000" b="1" baseline="-25000" dirty="0" err="1" smtClean="0"/>
              <a:t>cu</a:t>
            </a:r>
            <a:r>
              <a:rPr lang="en-US" altLang="zh-CN" sz="2000" b="1" dirty="0" smtClean="0"/>
              <a:t>=0</a:t>
            </a:r>
            <a:endParaRPr lang="zh-CN" altLang="en-US" sz="2000" dirty="0"/>
          </a:p>
        </p:txBody>
      </p:sp>
      <p:sp>
        <p:nvSpPr>
          <p:cNvPr id="53" name="矩形 52"/>
          <p:cNvSpPr/>
          <p:nvPr/>
        </p:nvSpPr>
        <p:spPr>
          <a:xfrm>
            <a:off x="6502684" y="4407642"/>
            <a:ext cx="2350323" cy="5170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考试时写上！！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54" name="Text Box 26"/>
          <p:cNvSpPr txBox="1">
            <a:spLocks noChangeArrowheads="1"/>
          </p:cNvSpPr>
          <p:nvPr/>
        </p:nvSpPr>
        <p:spPr bwMode="auto">
          <a:xfrm>
            <a:off x="3354838" y="5843447"/>
            <a:ext cx="30003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 smtClean="0">
                <a:solidFill>
                  <a:srgbClr val="800000"/>
                </a:solidFill>
                <a:ea typeface="黑体" pitchFamily="2" charset="-122"/>
              </a:rPr>
              <a:t>注意事项</a:t>
            </a:r>
            <a:endParaRPr kumimoji="1" lang="zh-CN" altLang="en-US" sz="3200" b="1" dirty="0">
              <a:solidFill>
                <a:srgbClr val="800000"/>
              </a:solidFill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678312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 decel="100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800" decel="100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800" decel="100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8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3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3" grpId="0"/>
      <p:bldP spid="44" grpId="0"/>
      <p:bldP spid="50" grpId="0"/>
      <p:bldP spid="51" grpId="0"/>
      <p:bldP spid="52" grpId="0"/>
      <p:bldP spid="53" grpId="0"/>
      <p:bldP spid="5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强度指标计算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4" name="Text Box 43"/>
          <p:cNvSpPr txBox="1">
            <a:spLocks noChangeArrowheads="1"/>
          </p:cNvSpPr>
          <p:nvPr/>
        </p:nvSpPr>
        <p:spPr bwMode="auto">
          <a:xfrm>
            <a:off x="834740" y="1031249"/>
            <a:ext cx="37668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3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假设基本未知量：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551836" y="1685692"/>
            <a:ext cx="3171061" cy="5170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ym typeface="Symbol"/>
              </a:rPr>
              <a:t></a:t>
            </a:r>
            <a:r>
              <a:rPr lang="en-US" altLang="zh-CN" sz="2400" b="1" baseline="-25000" dirty="0" smtClean="0">
                <a:sym typeface="Symbol"/>
              </a:rPr>
              <a:t>f</a:t>
            </a:r>
            <a:r>
              <a:rPr lang="zh-CN" altLang="en-US" sz="2400" b="1" dirty="0" smtClean="0"/>
              <a:t>、</a:t>
            </a:r>
            <a:r>
              <a:rPr lang="en-US" altLang="zh-CN" sz="2400" b="1" dirty="0" smtClean="0"/>
              <a:t> (</a:t>
            </a:r>
            <a:r>
              <a:rPr lang="zh-CN" altLang="en-US" sz="2400" b="1" dirty="0" smtClean="0">
                <a:sym typeface="Symbol"/>
              </a:rPr>
              <a:t></a:t>
            </a:r>
            <a:r>
              <a:rPr lang="en-US" altLang="zh-CN" sz="2400" b="1" baseline="-25000" dirty="0" smtClean="0">
                <a:sym typeface="Symbol"/>
              </a:rPr>
              <a:t>1 </a:t>
            </a:r>
            <a:r>
              <a:rPr lang="en-US" altLang="zh-CN" sz="2400" b="1" dirty="0" smtClean="0">
                <a:sym typeface="Symbol"/>
              </a:rPr>
              <a:t>-</a:t>
            </a:r>
            <a:r>
              <a:rPr lang="zh-CN" altLang="en-US" sz="2400" b="1" dirty="0" smtClean="0">
                <a:sym typeface="Symbol"/>
              </a:rPr>
              <a:t></a:t>
            </a:r>
            <a:r>
              <a:rPr lang="en-US" altLang="zh-CN" sz="2400" b="1" baseline="-25000" dirty="0" smtClean="0">
                <a:sym typeface="Symbol"/>
              </a:rPr>
              <a:t>3</a:t>
            </a:r>
            <a:r>
              <a:rPr lang="en-US" altLang="zh-CN" sz="2400" b="1" dirty="0" smtClean="0"/>
              <a:t>)</a:t>
            </a:r>
            <a:r>
              <a:rPr lang="en-US" altLang="zh-CN" sz="2400" b="1" baseline="-25000" dirty="0" smtClean="0"/>
              <a:t>f</a:t>
            </a:r>
            <a:r>
              <a:rPr lang="zh-CN" altLang="en-US" sz="2400" b="1" dirty="0" smtClean="0"/>
              <a:t>、</a:t>
            </a:r>
            <a:r>
              <a:rPr lang="en-US" altLang="zh-CN" sz="2400" b="1" dirty="0" err="1"/>
              <a:t>A</a:t>
            </a:r>
            <a:r>
              <a:rPr lang="en-US" altLang="zh-CN" sz="2400" b="1" baseline="-25000" dirty="0" err="1"/>
              <a:t>f</a:t>
            </a:r>
            <a:r>
              <a:rPr lang="zh-CN" altLang="en-US" sz="2400" b="1" dirty="0"/>
              <a:t>、</a:t>
            </a:r>
            <a:r>
              <a:rPr lang="en-US" altLang="zh-CN" sz="2400" b="1" dirty="0" err="1" smtClean="0"/>
              <a:t>u</a:t>
            </a:r>
            <a:r>
              <a:rPr lang="en-US" altLang="zh-CN" sz="2400" b="1" baseline="-25000" dirty="0" err="1" smtClean="0"/>
              <a:t>f</a:t>
            </a:r>
            <a:endParaRPr lang="zh-CN" altLang="en-US" sz="2400" baseline="-25000" dirty="0"/>
          </a:p>
        </p:txBody>
      </p:sp>
      <p:sp>
        <p:nvSpPr>
          <p:cNvPr id="46" name="Text Box 43"/>
          <p:cNvSpPr txBox="1">
            <a:spLocks noChangeArrowheads="1"/>
          </p:cNvSpPr>
          <p:nvPr/>
        </p:nvSpPr>
        <p:spPr bwMode="auto">
          <a:xfrm>
            <a:off x="864309" y="2630322"/>
            <a:ext cx="64099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4"/>
            </a:pP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根据极限平衡列出方程，求解未知量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1111669"/>
              </p:ext>
            </p:extLst>
          </p:nvPr>
        </p:nvGraphicFramePr>
        <p:xfrm>
          <a:off x="1676400" y="3152775"/>
          <a:ext cx="255905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663" name="公式" r:id="rId3" imgW="1600200" imgH="444240" progId="Equation.3">
                  <p:embed/>
                </p:oleObj>
              </mc:Choice>
              <mc:Fallback>
                <p:oleObj name="公式" r:id="rId3" imgW="16002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152775"/>
                        <a:ext cx="255905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681109"/>
              </p:ext>
            </p:extLst>
          </p:nvPr>
        </p:nvGraphicFramePr>
        <p:xfrm>
          <a:off x="1717675" y="4065588"/>
          <a:ext cx="3941763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664" name="公式" r:id="rId5" imgW="2463480" imgH="406080" progId="Equation.3">
                  <p:embed/>
                </p:oleObj>
              </mc:Choice>
              <mc:Fallback>
                <p:oleObj name="公式" r:id="rId5" imgW="24634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7675" y="4065588"/>
                        <a:ext cx="3941763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4659082"/>
              </p:ext>
            </p:extLst>
          </p:nvPr>
        </p:nvGraphicFramePr>
        <p:xfrm>
          <a:off x="1716088" y="4883150"/>
          <a:ext cx="39624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665" name="公式" r:id="rId7" imgW="2476440" imgH="406080" progId="Equation.3">
                  <p:embed/>
                </p:oleObj>
              </mc:Choice>
              <mc:Fallback>
                <p:oleObj name="公式" r:id="rId7" imgW="247644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6088" y="4883150"/>
                        <a:ext cx="396240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26"/>
          <p:cNvSpPr txBox="1">
            <a:spLocks noChangeArrowheads="1"/>
          </p:cNvSpPr>
          <p:nvPr/>
        </p:nvSpPr>
        <p:spPr bwMode="auto">
          <a:xfrm>
            <a:off x="3354838" y="5843447"/>
            <a:ext cx="30003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 smtClean="0">
                <a:solidFill>
                  <a:srgbClr val="800000"/>
                </a:solidFill>
                <a:ea typeface="黑体" pitchFamily="2" charset="-122"/>
              </a:rPr>
              <a:t>注意事项</a:t>
            </a:r>
            <a:endParaRPr kumimoji="1" lang="zh-CN" altLang="en-US" sz="3200" b="1" dirty="0">
              <a:solidFill>
                <a:srgbClr val="800000"/>
              </a:solidFill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851344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 decel="100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应力路径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84213" y="1458325"/>
            <a:ext cx="7921625" cy="3613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对</a:t>
            </a:r>
            <a:r>
              <a:rPr lang="zh-CN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饱和正常固结粘性土进行三轴剪切试验。先将试样在围压</a:t>
            </a:r>
            <a:r>
              <a:rPr lang="en-US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100 </a:t>
            </a:r>
            <a:r>
              <a:rPr lang="en-US" altLang="zh-CN" sz="2200" b="1" dirty="0" err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kPa</a:t>
            </a:r>
            <a:r>
              <a:rPr lang="zh-CN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下排水固结，再第一次关闭排水阀进行不排水剪切，当增加竖向压力</a:t>
            </a:r>
            <a:r>
              <a:rPr lang="en-US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</a:t>
            </a:r>
            <a:r>
              <a:rPr lang="en-US" altLang="zh-CN" sz="22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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= 100 </a:t>
            </a:r>
            <a:r>
              <a:rPr lang="en-US" altLang="zh-CN" sz="2200" b="1" dirty="0" err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kPa</a:t>
            </a:r>
            <a:r>
              <a:rPr lang="zh-CN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时测得试样中的孔隙水压力</a:t>
            </a:r>
            <a:r>
              <a:rPr lang="en-US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u = 50 </a:t>
            </a:r>
            <a:r>
              <a:rPr lang="en-US" altLang="zh-CN" sz="2200" b="1" dirty="0" err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kPa</a:t>
            </a:r>
            <a:r>
              <a:rPr lang="zh-CN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。打开排水阀门，使孔隙水压力完全消散，然后第二次关闭排水阀继续进行不排水剪切，增加竖向压力至</a:t>
            </a:r>
            <a:r>
              <a:rPr lang="en-US" altLang="zh-CN" sz="22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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250 </a:t>
            </a:r>
            <a:r>
              <a:rPr lang="en-US" altLang="zh-CN" sz="2200" b="1" dirty="0" err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kPa</a:t>
            </a:r>
            <a:r>
              <a:rPr lang="zh-CN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时，试样发生破坏。假设整个试验过程中该土样的孔压系数</a:t>
            </a:r>
            <a:r>
              <a:rPr lang="en-US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为常数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200" b="1" dirty="0" smtClean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zh-CN" sz="2200" b="1" dirty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试求：</a:t>
            </a:r>
          </a:p>
          <a:p>
            <a:r>
              <a:rPr lang="en-US" altLang="zh-CN" sz="2200" b="1" dirty="0" smtClean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200" b="1" dirty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1) </a:t>
            </a:r>
            <a:r>
              <a:rPr lang="zh-CN" altLang="zh-CN" sz="2200" b="1" dirty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分别画出上述试验过程的有效应力路径和总应力</a:t>
            </a:r>
            <a:r>
              <a:rPr lang="zh-CN" altLang="zh-CN" sz="2200" b="1" dirty="0" smtClean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路径</a:t>
            </a:r>
            <a:endParaRPr lang="zh-CN" altLang="zh-CN" sz="2200" b="1" dirty="0">
              <a:solidFill>
                <a:srgbClr val="002060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63525" y="552113"/>
            <a:ext cx="564047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课堂讨论题</a:t>
            </a:r>
            <a:r>
              <a:rPr kumimoji="1" lang="en-US" altLang="zh-CN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强度指标计算</a:t>
            </a:r>
            <a:endParaRPr kumimoji="1" lang="en-US" altLang="zh-CN" sz="2800" b="1" dirty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73857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应力路径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84213" y="450250"/>
            <a:ext cx="7921625" cy="288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对</a:t>
            </a:r>
            <a:r>
              <a:rPr lang="zh-CN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饱和正常固结粘性土进行三轴剪切试验。先将试样在围压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100 </a:t>
            </a:r>
            <a:r>
              <a:rPr lang="en-US" altLang="zh-CN" sz="2000" b="1" dirty="0" err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kPa</a:t>
            </a:r>
            <a:r>
              <a:rPr lang="zh-CN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下排水固结，再第一次关闭排水阀进行不排水剪切，当增加竖向压力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</a:t>
            </a:r>
            <a:r>
              <a:rPr lang="en-US" altLang="zh-CN" sz="20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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= 100 </a:t>
            </a:r>
            <a:r>
              <a:rPr lang="en-US" altLang="zh-CN" sz="2000" b="1" dirty="0" err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kPa</a:t>
            </a:r>
            <a:r>
              <a:rPr lang="zh-CN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时测得试样中的孔隙水压力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u = 50 </a:t>
            </a:r>
            <a:r>
              <a:rPr lang="en-US" altLang="zh-CN" sz="2000" b="1" dirty="0" err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kPa</a:t>
            </a:r>
            <a:r>
              <a:rPr lang="zh-CN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。打开排水阀门，使孔隙水压力完全消散，然后第二次关闭排水阀继续进行不排水剪切，增加竖向压力至</a:t>
            </a:r>
            <a:r>
              <a:rPr lang="en-US" altLang="zh-CN" sz="20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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250 </a:t>
            </a:r>
            <a:r>
              <a:rPr lang="en-US" altLang="zh-CN" sz="2000" b="1" dirty="0" err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kPa</a:t>
            </a:r>
            <a:r>
              <a:rPr lang="zh-CN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时，试样发生破坏。假设整个试验过程中该土样的孔压系数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为常数</a:t>
            </a:r>
            <a:r>
              <a:rPr lang="zh-CN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000" b="1" dirty="0" smtClean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zh-CN" sz="2000" b="1" dirty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试求</a:t>
            </a:r>
            <a:r>
              <a:rPr lang="zh-CN" altLang="zh-CN" sz="2000" b="1" dirty="0" smtClean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 smtClean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dirty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1) </a:t>
            </a:r>
            <a:r>
              <a:rPr lang="zh-CN" altLang="zh-CN" sz="2000" b="1" dirty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分别画出上述试验过程的有效应力路径和总应力</a:t>
            </a:r>
            <a:r>
              <a:rPr lang="zh-CN" altLang="zh-CN" sz="2000" b="1" dirty="0" smtClean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路径</a:t>
            </a:r>
            <a:endParaRPr lang="zh-CN" altLang="zh-CN" sz="2000" b="1" dirty="0">
              <a:solidFill>
                <a:srgbClr val="002060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18780" y="3282724"/>
            <a:ext cx="700833" cy="4147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b="1" dirty="0">
                <a:solidFill>
                  <a:srgbClr val="A50021"/>
                </a:solidFill>
              </a:rPr>
              <a:t>解：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9846318"/>
              </p:ext>
            </p:extLst>
          </p:nvPr>
        </p:nvGraphicFramePr>
        <p:xfrm>
          <a:off x="3277590" y="3393920"/>
          <a:ext cx="2719449" cy="311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612" name="公式" r:id="rId3" imgW="1916868" imgH="215806" progId="Equation.3">
                  <p:embed/>
                </p:oleObj>
              </mc:Choice>
              <mc:Fallback>
                <p:oleObj name="公式" r:id="rId3" imgW="1916868" imgH="21580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7590" y="3393920"/>
                        <a:ext cx="2719449" cy="3111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011823"/>
              </p:ext>
            </p:extLst>
          </p:nvPr>
        </p:nvGraphicFramePr>
        <p:xfrm>
          <a:off x="3467593" y="3852925"/>
          <a:ext cx="3300341" cy="327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613" name="公式" r:id="rId5" imgW="2209800" imgH="215900" progId="Equation.3">
                  <p:embed/>
                </p:oleObj>
              </mc:Choice>
              <mc:Fallback>
                <p:oleObj name="公式" r:id="rId5" imgW="2209800" imgH="2159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593" y="3852925"/>
                        <a:ext cx="3300341" cy="3271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306286" y="3325091"/>
            <a:ext cx="1991251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zh-CN" sz="2000" b="1" dirty="0">
                <a:solidFill>
                  <a:srgbClr val="002060"/>
                </a:solidFill>
                <a:latin typeface="幼圆" panose="02010509060101010101" pitchFamily="49" charset="-122"/>
                <a:ea typeface="幼圆" panose="02010509060101010101" pitchFamily="49" charset="-122"/>
                <a:cs typeface="Times New Roman" pitchFamily="18" charset="0"/>
              </a:rPr>
              <a:t>孔压计算公式</a:t>
            </a:r>
            <a:r>
              <a:rPr lang="zh-CN" altLang="zh-CN" sz="2000" b="1" dirty="0" smtClean="0">
                <a:solidFill>
                  <a:srgbClr val="002060"/>
                </a:solidFill>
                <a:latin typeface="幼圆" panose="02010509060101010101" pitchFamily="49" charset="-122"/>
                <a:ea typeface="幼圆" panose="02010509060101010101" pitchFamily="49" charset="-122"/>
                <a:cs typeface="Times New Roman" pitchFamily="18" charset="0"/>
              </a:rPr>
              <a:t>：</a:t>
            </a:r>
            <a:endParaRPr lang="zh-CN" altLang="zh-CN" sz="2000" dirty="0">
              <a:solidFill>
                <a:srgbClr val="002060"/>
              </a:solidFill>
              <a:latin typeface="幼圆" panose="02010509060101010101" pitchFamily="49" charset="-122"/>
              <a:ea typeface="幼圆" panose="02010509060101010101" pitchFamily="49" charset="-122"/>
              <a:cs typeface="宋体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51808" y="3798125"/>
            <a:ext cx="2254143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2000" b="1" dirty="0">
                <a:solidFill>
                  <a:srgbClr val="002060"/>
                </a:solidFill>
                <a:latin typeface="幼圆" panose="02010509060101010101" pitchFamily="49" charset="-122"/>
                <a:ea typeface="幼圆" panose="02010509060101010101" pitchFamily="49" charset="-122"/>
                <a:cs typeface="Times New Roman" pitchFamily="18" charset="0"/>
              </a:rPr>
              <a:t>饱和土：</a:t>
            </a:r>
            <a:r>
              <a:rPr lang="en-US" altLang="zh-CN" sz="2000" b="1" dirty="0">
                <a:solidFill>
                  <a:srgbClr val="002060"/>
                </a:solidFill>
                <a:latin typeface="幼圆" panose="02010509060101010101" pitchFamily="49" charset="-122"/>
                <a:ea typeface="幼圆" panose="02010509060101010101" pitchFamily="49" charset="-122"/>
                <a:cs typeface="Times New Roman" pitchFamily="18" charset="0"/>
              </a:rPr>
              <a:t>B=1.0</a:t>
            </a:r>
            <a:r>
              <a:rPr lang="zh-CN" altLang="en-US" sz="2000" b="1" dirty="0">
                <a:solidFill>
                  <a:srgbClr val="002060"/>
                </a:solidFill>
                <a:latin typeface="幼圆" panose="02010509060101010101" pitchFamily="49" charset="-122"/>
                <a:ea typeface="幼圆" panose="02010509060101010101" pitchFamily="49" charset="-122"/>
                <a:cs typeface="Times New Roman" pitchFamily="18" charset="0"/>
              </a:rPr>
              <a:t>， </a:t>
            </a:r>
            <a:endParaRPr lang="zh-CN" altLang="zh-CN" sz="2000" dirty="0">
              <a:solidFill>
                <a:srgbClr val="002060"/>
              </a:solidFill>
              <a:latin typeface="幼圆" panose="02010509060101010101" pitchFamily="49" charset="-122"/>
              <a:ea typeface="幼圆" panose="02010509060101010101" pitchFamily="49" charset="-122"/>
              <a:cs typeface="宋体" pitchFamily="2" charset="-122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071641"/>
              </p:ext>
            </p:extLst>
          </p:nvPr>
        </p:nvGraphicFramePr>
        <p:xfrm>
          <a:off x="380010" y="4341162"/>
          <a:ext cx="8538357" cy="23343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0676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7555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69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46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4598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69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7646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45988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4690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58852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试验步骤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</a:t>
                      </a:r>
                      <a:r>
                        <a:rPr lang="en-US" sz="1800" kern="100" baseline="-250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</a:t>
                      </a:r>
                      <a:r>
                        <a:rPr lang="en-US" sz="1800" kern="100" baseline="-250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</a:t>
                      </a:r>
                      <a:r>
                        <a:rPr lang="en-US" sz="1800" kern="100" baseline="-250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</a:t>
                      </a:r>
                      <a:r>
                        <a:rPr lang="en-US" sz="1800" kern="100" baseline="-250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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q=q</a:t>
                      </a: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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2385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围压</a:t>
                      </a: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</a:t>
                      </a:r>
                      <a:r>
                        <a:rPr lang="en-US" sz="1800" kern="1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kPa</a:t>
                      </a:r>
                      <a:r>
                        <a:rPr lang="zh-CN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排水固结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42385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不排水剪，</a:t>
                      </a: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</a:t>
                      </a:r>
                      <a:r>
                        <a:rPr lang="en-US" sz="1800" kern="100" baseline="-250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100 </a:t>
                      </a:r>
                      <a:r>
                        <a:rPr lang="en-US" sz="1800" kern="1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kPa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42385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排水，孔隙水压力完全消散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17091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第二次关闭排水阀，不排水剪切至</a:t>
                      </a: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</a:t>
                      </a:r>
                      <a:r>
                        <a:rPr lang="en-US" sz="1800" kern="100" baseline="-250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 kPa</a:t>
                      </a:r>
                      <a:r>
                        <a:rPr lang="zh-CN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时破坏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225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175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358743" y="3938650"/>
            <a:ext cx="1560042" cy="350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1600" b="1" dirty="0">
                <a:solidFill>
                  <a:srgbClr val="C00000"/>
                </a:solidFill>
                <a:ea typeface="宋体" pitchFamily="2" charset="-122"/>
                <a:cs typeface="Times New Roman" pitchFamily="18" charset="0"/>
              </a:rPr>
              <a:t>表中单位：</a:t>
            </a:r>
            <a:r>
              <a:rPr lang="en-US" altLang="zh-CN" sz="1600" b="1" dirty="0" err="1">
                <a:solidFill>
                  <a:srgbClr val="C00000"/>
                </a:solidFill>
                <a:ea typeface="宋体" pitchFamily="2" charset="-122"/>
                <a:cs typeface="Times New Roman" pitchFamily="18" charset="0"/>
              </a:rPr>
              <a:t>kPa</a:t>
            </a:r>
            <a:endParaRPr lang="zh-CN" altLang="zh-CN" sz="1600" dirty="0">
              <a:solidFill>
                <a:srgbClr val="C00000"/>
              </a:solidFill>
              <a:latin typeface="幼圆" panose="02010509060101010101" pitchFamily="49" charset="-122"/>
              <a:ea typeface="幼圆" panose="02010509060101010101" pitchFamily="49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716721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34768" y="3194516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应力路径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828369"/>
              </p:ext>
            </p:extLst>
          </p:nvPr>
        </p:nvGraphicFramePr>
        <p:xfrm>
          <a:off x="368135" y="1170450"/>
          <a:ext cx="8538357" cy="23343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0676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7555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69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46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4598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69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7646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45988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4690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58852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试验步骤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</a:t>
                      </a:r>
                      <a:r>
                        <a:rPr lang="en-US" sz="1800" kern="100" baseline="-250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</a:t>
                      </a:r>
                      <a:r>
                        <a:rPr lang="en-US" sz="1800" kern="100" baseline="-250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</a:t>
                      </a:r>
                      <a:r>
                        <a:rPr lang="en-US" sz="1800" kern="100" baseline="-250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</a:t>
                      </a:r>
                      <a:r>
                        <a:rPr lang="en-US" sz="1800" kern="100" baseline="-250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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q=q</a:t>
                      </a: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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2385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围压</a:t>
                      </a: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</a:t>
                      </a:r>
                      <a:r>
                        <a:rPr lang="en-US" sz="1800" kern="1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kPa</a:t>
                      </a:r>
                      <a:r>
                        <a:rPr lang="zh-CN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排水固结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42385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不排水剪，</a:t>
                      </a: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</a:t>
                      </a:r>
                      <a:r>
                        <a:rPr lang="en-US" sz="1800" kern="100" baseline="-250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100 </a:t>
                      </a:r>
                      <a:r>
                        <a:rPr lang="en-US" sz="1800" kern="1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kPa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42385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排水，孔隙水压力完全消散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17091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第二次关闭排水阀，不排水剪切至</a:t>
                      </a: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</a:t>
                      </a:r>
                      <a:r>
                        <a:rPr lang="en-US" sz="1800" kern="100" baseline="-250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 kPa</a:t>
                      </a:r>
                      <a:r>
                        <a:rPr lang="zh-CN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时破坏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endParaRPr lang="zh-CN" sz="1800" kern="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225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175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endParaRPr lang="zh-CN" sz="1800" kern="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346868" y="767938"/>
            <a:ext cx="1560042" cy="350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1600" b="1" dirty="0">
                <a:solidFill>
                  <a:srgbClr val="C00000"/>
                </a:solidFill>
                <a:ea typeface="宋体" pitchFamily="2" charset="-122"/>
                <a:cs typeface="Times New Roman" pitchFamily="18" charset="0"/>
              </a:rPr>
              <a:t>表中单位：</a:t>
            </a:r>
            <a:r>
              <a:rPr lang="en-US" altLang="zh-CN" sz="1600" b="1" dirty="0" err="1">
                <a:solidFill>
                  <a:srgbClr val="C00000"/>
                </a:solidFill>
                <a:ea typeface="宋体" pitchFamily="2" charset="-122"/>
                <a:cs typeface="Times New Roman" pitchFamily="18" charset="0"/>
              </a:rPr>
              <a:t>kPa</a:t>
            </a:r>
            <a:endParaRPr lang="zh-CN" altLang="zh-CN" sz="1600" dirty="0">
              <a:solidFill>
                <a:srgbClr val="C00000"/>
              </a:solidFill>
              <a:latin typeface="幼圆" panose="02010509060101010101" pitchFamily="49" charset="-122"/>
              <a:ea typeface="幼圆" panose="02010509060101010101" pitchFamily="49" charset="-122"/>
              <a:cs typeface="宋体" pitchFamily="2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7253885"/>
              </p:ext>
            </p:extLst>
          </p:nvPr>
        </p:nvGraphicFramePr>
        <p:xfrm>
          <a:off x="1413164" y="3693475"/>
          <a:ext cx="7053942" cy="310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589" name="幻灯片" r:id="rId3" imgW="2712798" imgH="2171729" progId="PowerPoint.Slide.8">
                  <p:embed/>
                </p:oleObj>
              </mc:Choice>
              <mc:Fallback>
                <p:oleObj name="幻灯片" r:id="rId3" imgW="2712798" imgH="2171729" progId="PowerPoint.Slide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3164" y="3693475"/>
                        <a:ext cx="7053942" cy="3105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688651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应力路径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84213" y="1141525"/>
            <a:ext cx="8162904" cy="4490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对</a:t>
            </a:r>
            <a:r>
              <a:rPr lang="zh-CN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饱和正常固结粘性土进行三轴剪切试验。先将试样在围压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100 </a:t>
            </a:r>
            <a:r>
              <a:rPr lang="en-US" altLang="zh-CN" sz="2000" b="1" dirty="0" err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kPa</a:t>
            </a:r>
            <a:r>
              <a:rPr lang="zh-CN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下排水固结，再第一次关闭排水阀进行不排水剪切，当增加竖向压力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</a:t>
            </a:r>
            <a:r>
              <a:rPr lang="en-US" altLang="zh-CN" sz="20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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= 100 </a:t>
            </a:r>
            <a:r>
              <a:rPr lang="en-US" altLang="zh-CN" sz="2000" b="1" dirty="0" err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kPa</a:t>
            </a:r>
            <a:r>
              <a:rPr lang="zh-CN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时测得试样中的孔隙水压力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u = 50 </a:t>
            </a:r>
            <a:r>
              <a:rPr lang="en-US" altLang="zh-CN" sz="2000" b="1" dirty="0" err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kPa</a:t>
            </a:r>
            <a:r>
              <a:rPr lang="zh-CN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。打开排水阀门，使孔隙水压力完全消散，然后第二次关闭排水阀继续进行不排水剪切，增加竖向压力至</a:t>
            </a:r>
            <a:r>
              <a:rPr lang="en-US" altLang="zh-CN" sz="20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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250 </a:t>
            </a:r>
            <a:r>
              <a:rPr lang="en-US" altLang="zh-CN" sz="2000" b="1" dirty="0" err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kPa</a:t>
            </a:r>
            <a:r>
              <a:rPr lang="zh-CN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时，试样发生破坏。假设整个试验过程中该土样的孔压系数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为常数</a:t>
            </a:r>
            <a:r>
              <a:rPr lang="zh-CN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试</a:t>
            </a:r>
            <a:r>
              <a:rPr lang="zh-CN" altLang="zh-CN" sz="22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求</a:t>
            </a:r>
            <a:r>
              <a:rPr lang="zh-CN" altLang="zh-CN" sz="22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2200" b="1" dirty="0" smtClean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(2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该土样破坏时的破坏面位置和作用在破坏面上的正应力（总应力）及</a:t>
            </a:r>
            <a:r>
              <a:rPr lang="zh-CN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剪应力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2000" b="1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3) </a:t>
            </a:r>
            <a:r>
              <a:rPr lang="zh-CN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若在第二次关闭排水阀后先增加</a:t>
            </a:r>
            <a:r>
              <a:rPr lang="en-US" altLang="zh-CN" sz="20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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，再增加</a:t>
            </a:r>
            <a:r>
              <a:rPr lang="en-US" altLang="zh-CN" sz="20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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至</a:t>
            </a:r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300 </a:t>
            </a:r>
            <a:r>
              <a:rPr lang="en-US" altLang="zh-CN" sz="2000" b="1" dirty="0" err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kPa</a:t>
            </a:r>
            <a:r>
              <a:rPr lang="zh-CN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时试样破坏，求此时的</a:t>
            </a:r>
            <a:r>
              <a:rPr lang="en-US" altLang="zh-CN" sz="20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</a:t>
            </a:r>
            <a:r>
              <a:rPr lang="en-US" altLang="zh-CN" sz="20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3</a:t>
            </a:r>
            <a:endParaRPr lang="zh-CN" altLang="zh-CN" sz="2000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(4) </a:t>
            </a:r>
            <a:r>
              <a:rPr lang="zh-CN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对该土进行一组固结不排水试验，求其总应力强度指标</a:t>
            </a:r>
            <a:r>
              <a:rPr lang="en-US" altLang="zh-CN" sz="2000" b="1" i="1" dirty="0" err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000" b="1" baseline="-25000" dirty="0" err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cu</a:t>
            </a:r>
            <a:r>
              <a:rPr lang="zh-CN" altLang="zh-CN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</a:t>
            </a:r>
            <a:r>
              <a:rPr lang="en-US" altLang="zh-CN" sz="2000" b="1" baseline="-25000" dirty="0" smtClean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cu</a:t>
            </a:r>
            <a:endParaRPr lang="zh-CN" altLang="zh-CN" sz="2000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63525" y="472913"/>
            <a:ext cx="564047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课堂讨论题</a:t>
            </a:r>
            <a:r>
              <a:rPr kumimoji="1" lang="en-US" altLang="zh-CN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强度指标计算</a:t>
            </a:r>
            <a:endParaRPr kumimoji="1" lang="en-US" altLang="zh-CN" sz="2800" b="1" dirty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79724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应力路径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23850" y="596900"/>
            <a:ext cx="73453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8000"/>
                </a:solidFill>
                <a:ea typeface="幼圆" pitchFamily="49" charset="-122"/>
              </a:rPr>
              <a:t>课堂</a:t>
            </a:r>
            <a:r>
              <a:rPr kumimoji="1" lang="zh-CN" altLang="en-US" sz="2800" b="1" dirty="0" smtClean="0">
                <a:solidFill>
                  <a:srgbClr val="008000"/>
                </a:solidFill>
                <a:ea typeface="幼圆" pitchFamily="49" charset="-122"/>
              </a:rPr>
              <a:t>讨论题</a:t>
            </a:r>
            <a:r>
              <a:rPr kumimoji="1" lang="en-US" altLang="zh-CN" sz="2800" b="1" dirty="0">
                <a:solidFill>
                  <a:srgbClr val="008000"/>
                </a:solidFill>
                <a:ea typeface="幼圆" pitchFamily="49" charset="-122"/>
              </a:rPr>
              <a:t>2</a:t>
            </a:r>
          </a:p>
        </p:txBody>
      </p:sp>
      <p:sp>
        <p:nvSpPr>
          <p:cNvPr id="3" name="矩形 2"/>
          <p:cNvSpPr/>
          <p:nvPr/>
        </p:nvSpPr>
        <p:spPr>
          <a:xfrm>
            <a:off x="2666010" y="712507"/>
            <a:ext cx="5634841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(2) </a:t>
            </a:r>
            <a:r>
              <a:rPr lang="zh-CN" altLang="zh-CN" sz="2000" b="1" dirty="0">
                <a:solidFill>
                  <a:srgbClr val="00206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该土样破坏时的破坏面位置和作用在破坏面上的正应力（总应力）及剪应力</a:t>
            </a:r>
            <a:r>
              <a:rPr lang="en-US" altLang="zh-CN" sz="2000" b="1" dirty="0">
                <a:solidFill>
                  <a:srgbClr val="00206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;</a:t>
            </a:r>
          </a:p>
        </p:txBody>
      </p:sp>
      <p:pic>
        <p:nvPicPr>
          <p:cNvPr id="164557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554" y="1504800"/>
            <a:ext cx="8409325" cy="4139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090010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应力路径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23850" y="596900"/>
            <a:ext cx="73453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8000"/>
                </a:solidFill>
                <a:ea typeface="幼圆" pitchFamily="49" charset="-122"/>
              </a:rPr>
              <a:t>课堂</a:t>
            </a:r>
            <a:r>
              <a:rPr kumimoji="1" lang="zh-CN" altLang="en-US" sz="2800" b="1" dirty="0" smtClean="0">
                <a:solidFill>
                  <a:srgbClr val="008000"/>
                </a:solidFill>
                <a:ea typeface="幼圆" pitchFamily="49" charset="-122"/>
              </a:rPr>
              <a:t>讨论题</a:t>
            </a:r>
            <a:r>
              <a:rPr kumimoji="1" lang="en-US" altLang="zh-CN" sz="2800" b="1" dirty="0">
                <a:solidFill>
                  <a:srgbClr val="008000"/>
                </a:solidFill>
                <a:ea typeface="幼圆" pitchFamily="49" charset="-122"/>
              </a:rPr>
              <a:t>2</a:t>
            </a:r>
          </a:p>
        </p:txBody>
      </p:sp>
      <p:sp>
        <p:nvSpPr>
          <p:cNvPr id="12" name="矩形 11"/>
          <p:cNvSpPr/>
          <p:nvPr/>
        </p:nvSpPr>
        <p:spPr>
          <a:xfrm>
            <a:off x="961901" y="1436902"/>
            <a:ext cx="7077694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(3) </a:t>
            </a:r>
            <a:r>
              <a:rPr lang="zh-CN" altLang="zh-CN" sz="2000" b="1" dirty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若在第二次关闭排水阀后先增加</a:t>
            </a:r>
            <a:r>
              <a:rPr lang="en-US" altLang="zh-CN" sz="2000" b="1" i="1" dirty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</a:t>
            </a:r>
            <a:r>
              <a:rPr lang="en-US" altLang="zh-CN" sz="2000" b="1" baseline="-25000" dirty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 sz="2000" b="1" dirty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，再增加</a:t>
            </a:r>
            <a:r>
              <a:rPr lang="en-US" altLang="zh-CN" sz="2000" b="1" i="1" dirty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</a:t>
            </a:r>
            <a:r>
              <a:rPr lang="en-US" altLang="zh-CN" sz="2000" b="1" baseline="-25000" dirty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sz="2000" b="1" dirty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至</a:t>
            </a:r>
            <a:r>
              <a:rPr lang="en-US" altLang="zh-CN" sz="2000" b="1" dirty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300 </a:t>
            </a:r>
            <a:r>
              <a:rPr lang="en-US" altLang="zh-CN" sz="2000" b="1" dirty="0" err="1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kPa</a:t>
            </a:r>
            <a:r>
              <a:rPr lang="zh-CN" altLang="zh-CN" sz="2000" b="1" dirty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时试样破坏，求此时的</a:t>
            </a:r>
            <a:r>
              <a:rPr lang="en-US" altLang="zh-CN" sz="2000" b="1" i="1" dirty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</a:t>
            </a:r>
            <a:r>
              <a:rPr lang="en-US" altLang="zh-CN" sz="2000" b="1" baseline="-25000" dirty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3</a:t>
            </a:r>
            <a:endParaRPr lang="zh-CN" altLang="zh-CN" sz="2000" dirty="0">
              <a:solidFill>
                <a:srgbClr val="002060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646598" name="Picture 6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032"/>
          <a:stretch/>
        </p:blipFill>
        <p:spPr bwMode="auto">
          <a:xfrm>
            <a:off x="1056903" y="2779259"/>
            <a:ext cx="7633089" cy="1903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615256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应力路径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23850" y="596900"/>
            <a:ext cx="73453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8000"/>
                </a:solidFill>
                <a:ea typeface="幼圆" pitchFamily="49" charset="-122"/>
              </a:rPr>
              <a:t>课堂</a:t>
            </a:r>
            <a:r>
              <a:rPr kumimoji="1" lang="zh-CN" altLang="en-US" sz="2800" b="1" dirty="0" smtClean="0">
                <a:solidFill>
                  <a:srgbClr val="008000"/>
                </a:solidFill>
                <a:ea typeface="幼圆" pitchFamily="49" charset="-122"/>
              </a:rPr>
              <a:t>讨论题</a:t>
            </a:r>
            <a:r>
              <a:rPr kumimoji="1" lang="en-US" altLang="zh-CN" sz="2800" b="1" dirty="0">
                <a:solidFill>
                  <a:srgbClr val="008000"/>
                </a:solidFill>
                <a:ea typeface="幼圆" pitchFamily="49" charset="-122"/>
              </a:rPr>
              <a:t>2</a:t>
            </a:r>
          </a:p>
        </p:txBody>
      </p:sp>
      <p:sp>
        <p:nvSpPr>
          <p:cNvPr id="8" name="矩形 7"/>
          <p:cNvSpPr/>
          <p:nvPr/>
        </p:nvSpPr>
        <p:spPr>
          <a:xfrm>
            <a:off x="2666010" y="712507"/>
            <a:ext cx="5634841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(4) </a:t>
            </a:r>
            <a:r>
              <a:rPr lang="zh-CN" altLang="zh-CN" sz="2000" b="1" dirty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对该土进行一组固结不排水试验，求其总应力强度指标</a:t>
            </a:r>
            <a:r>
              <a:rPr lang="en-US" altLang="zh-CN" sz="2000" b="1" i="1" dirty="0" err="1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000" b="1" baseline="-25000" dirty="0" err="1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cu</a:t>
            </a:r>
            <a:r>
              <a:rPr lang="zh-CN" altLang="zh-CN" sz="2000" b="1" dirty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1" i="1" dirty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/>
              </a:rPr>
              <a:t></a:t>
            </a:r>
            <a:r>
              <a:rPr lang="en-US" altLang="zh-CN" sz="2000" b="1" baseline="-25000" dirty="0">
                <a:solidFill>
                  <a:srgbClr val="00206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cu</a:t>
            </a:r>
            <a:endParaRPr lang="zh-CN" altLang="zh-CN" sz="2000" dirty="0">
              <a:solidFill>
                <a:srgbClr val="002060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647619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38" b="10615"/>
          <a:stretch/>
        </p:blipFill>
        <p:spPr bwMode="auto">
          <a:xfrm>
            <a:off x="1083659" y="1648800"/>
            <a:ext cx="7905060" cy="388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674836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强度指标计算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" name="Rectangle 14"/>
          <p:cNvSpPr>
            <a:spLocks noChangeArrowheads="1"/>
          </p:cNvSpPr>
          <p:nvPr/>
        </p:nvSpPr>
        <p:spPr bwMode="auto">
          <a:xfrm>
            <a:off x="1139825" y="1481264"/>
            <a:ext cx="7394575" cy="4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 anchor="ctr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对某正常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固结黏性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土试样进行三轴固结不排水试验，得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=0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，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=30</a:t>
            </a: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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。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若试样在周围压力</a:t>
            </a:r>
            <a:r>
              <a:rPr kumimoji="1" lang="en-US" altLang="zh-CN" sz="2800" b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3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=200kPa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下进行固结不排水试验，试样破坏时的主应力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差</a:t>
            </a: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(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</a:t>
            </a:r>
            <a:r>
              <a:rPr kumimoji="1" lang="en-US" altLang="zh-CN" sz="2800" b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1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-</a:t>
            </a:r>
            <a:r>
              <a:rPr kumimoji="1" lang="en-US" altLang="zh-CN" sz="2800" b="1" baseline="-25000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3</a:t>
            </a: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)</a:t>
            </a:r>
            <a:r>
              <a:rPr kumimoji="1" lang="en-US" altLang="zh-CN" sz="2800" b="1" baseline="-25000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f</a:t>
            </a: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=165kPa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。</a:t>
            </a:r>
            <a:endParaRPr kumimoji="1" lang="en-US" altLang="zh-CN" sz="2800" b="1" dirty="0" smtClean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求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固结不排水总应力强度指标、破坏时试样内的孔隙水压力及相应的孔隙水压力系数、剪切破坏面上的法向总应力和剪应力。</a:t>
            </a:r>
            <a:endParaRPr kumimoji="1" lang="en-US" altLang="zh-CN" sz="28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63525" y="595313"/>
            <a:ext cx="564047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课堂讨论题</a:t>
            </a:r>
            <a:r>
              <a:rPr kumimoji="1" lang="en-US" altLang="zh-CN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800" b="1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2800" b="1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强度指标计算</a:t>
            </a:r>
            <a:endParaRPr kumimoji="1" lang="en-US" altLang="zh-CN" sz="2800" b="1" dirty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54287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方法及讨论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强度指标计算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933450" y="3606800"/>
            <a:ext cx="1652588" cy="442913"/>
            <a:chOff x="588" y="2424"/>
            <a:chExt cx="1041" cy="279"/>
          </a:xfrm>
        </p:grpSpPr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588" y="2505"/>
              <a:ext cx="1041" cy="130"/>
              <a:chOff x="588" y="2505"/>
              <a:chExt cx="1041" cy="130"/>
            </a:xfrm>
          </p:grpSpPr>
          <p:sp>
            <p:nvSpPr>
              <p:cNvPr id="8" name="Line 16"/>
              <p:cNvSpPr>
                <a:spLocks noChangeShapeType="1"/>
              </p:cNvSpPr>
              <p:nvPr/>
            </p:nvSpPr>
            <p:spPr bwMode="auto">
              <a:xfrm>
                <a:off x="588" y="2507"/>
                <a:ext cx="0" cy="1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Line 17"/>
              <p:cNvSpPr>
                <a:spLocks noChangeShapeType="1"/>
              </p:cNvSpPr>
              <p:nvPr/>
            </p:nvSpPr>
            <p:spPr bwMode="auto">
              <a:xfrm>
                <a:off x="1629" y="2505"/>
                <a:ext cx="0" cy="1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" name="Line 18"/>
              <p:cNvSpPr>
                <a:spLocks noChangeShapeType="1"/>
              </p:cNvSpPr>
              <p:nvPr/>
            </p:nvSpPr>
            <p:spPr bwMode="auto">
              <a:xfrm>
                <a:off x="588" y="2585"/>
                <a:ext cx="10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" name="Text Box 19"/>
            <p:cNvSpPr txBox="1">
              <a:spLocks noChangeArrowheads="1"/>
            </p:cNvSpPr>
            <p:nvPr/>
          </p:nvSpPr>
          <p:spPr bwMode="auto">
            <a:xfrm>
              <a:off x="1036" y="2424"/>
              <a:ext cx="238" cy="2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000" b="1"/>
                <a:t>u</a:t>
              </a:r>
              <a:r>
                <a:rPr lang="en-US" altLang="zh-CN" sz="2000" b="1" baseline="-25000"/>
                <a:t>f</a:t>
              </a:r>
              <a:endParaRPr lang="en-US" altLang="zh-CN" sz="2000" b="1"/>
            </a:p>
          </p:txBody>
        </p:sp>
      </p:grpSp>
      <p:grpSp>
        <p:nvGrpSpPr>
          <p:cNvPr id="12" name="Group 20"/>
          <p:cNvGrpSpPr>
            <a:grpSpLocks/>
          </p:cNvGrpSpPr>
          <p:nvPr/>
        </p:nvGrpSpPr>
        <p:grpSpPr bwMode="auto">
          <a:xfrm>
            <a:off x="2309813" y="2693988"/>
            <a:ext cx="1971675" cy="1289050"/>
            <a:chOff x="1455" y="1849"/>
            <a:chExt cx="1242" cy="812"/>
          </a:xfrm>
        </p:grpSpPr>
        <p:sp>
          <p:nvSpPr>
            <p:cNvPr id="13" name="Arc 21"/>
            <p:cNvSpPr>
              <a:spLocks/>
            </p:cNvSpPr>
            <p:nvPr/>
          </p:nvSpPr>
          <p:spPr bwMode="auto">
            <a:xfrm>
              <a:off x="1619" y="1849"/>
              <a:ext cx="712" cy="360"/>
            </a:xfrm>
            <a:custGeom>
              <a:avLst/>
              <a:gdLst>
                <a:gd name="T0" fmla="*/ 0 w 43199"/>
                <a:gd name="T1" fmla="*/ 6 h 21844"/>
                <a:gd name="T2" fmla="*/ 12 w 43199"/>
                <a:gd name="T3" fmla="*/ 6 h 21844"/>
                <a:gd name="T4" fmla="*/ 6 w 43199"/>
                <a:gd name="T5" fmla="*/ 6 h 21844"/>
                <a:gd name="T6" fmla="*/ 0 60000 65536"/>
                <a:gd name="T7" fmla="*/ 0 60000 65536"/>
                <a:gd name="T8" fmla="*/ 0 60000 65536"/>
                <a:gd name="T9" fmla="*/ 0 w 43199"/>
                <a:gd name="T10" fmla="*/ 0 h 21844"/>
                <a:gd name="T11" fmla="*/ 43199 w 43199"/>
                <a:gd name="T12" fmla="*/ 21844 h 218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99" h="21844" fill="none" extrusionOk="0">
                  <a:moveTo>
                    <a:pt x="0" y="21364"/>
                  </a:moveTo>
                  <a:cubicBezTo>
                    <a:pt x="129" y="9527"/>
                    <a:pt x="9761" y="-1"/>
                    <a:pt x="21599" y="0"/>
                  </a:cubicBezTo>
                  <a:cubicBezTo>
                    <a:pt x="33528" y="0"/>
                    <a:pt x="43199" y="9670"/>
                    <a:pt x="43199" y="21600"/>
                  </a:cubicBezTo>
                  <a:cubicBezTo>
                    <a:pt x="43199" y="21681"/>
                    <a:pt x="43198" y="21762"/>
                    <a:pt x="43197" y="21843"/>
                  </a:cubicBezTo>
                </a:path>
                <a:path w="43199" h="21844" stroke="0" extrusionOk="0">
                  <a:moveTo>
                    <a:pt x="0" y="21364"/>
                  </a:moveTo>
                  <a:cubicBezTo>
                    <a:pt x="129" y="9527"/>
                    <a:pt x="9761" y="-1"/>
                    <a:pt x="21599" y="0"/>
                  </a:cubicBezTo>
                  <a:cubicBezTo>
                    <a:pt x="33528" y="0"/>
                    <a:pt x="43199" y="9670"/>
                    <a:pt x="43199" y="21600"/>
                  </a:cubicBezTo>
                  <a:cubicBezTo>
                    <a:pt x="43199" y="21681"/>
                    <a:pt x="43198" y="21762"/>
                    <a:pt x="43197" y="21843"/>
                  </a:cubicBezTo>
                  <a:lnTo>
                    <a:pt x="21599" y="21600"/>
                  </a:lnTo>
                  <a:close/>
                </a:path>
              </a:pathLst>
            </a:custGeom>
            <a:solidFill>
              <a:srgbClr val="FFCC66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Text Box 22"/>
            <p:cNvSpPr txBox="1">
              <a:spLocks noChangeArrowheads="1"/>
            </p:cNvSpPr>
            <p:nvPr/>
          </p:nvSpPr>
          <p:spPr bwMode="auto">
            <a:xfrm>
              <a:off x="1455" y="2203"/>
              <a:ext cx="354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000" b="1"/>
                <a:t>200</a:t>
              </a:r>
            </a:p>
          </p:txBody>
        </p:sp>
        <p:sp>
          <p:nvSpPr>
            <p:cNvPr id="15" name="Text Box 23"/>
            <p:cNvSpPr txBox="1">
              <a:spLocks noChangeArrowheads="1"/>
            </p:cNvSpPr>
            <p:nvPr/>
          </p:nvSpPr>
          <p:spPr bwMode="auto">
            <a:xfrm>
              <a:off x="1921" y="2161"/>
              <a:ext cx="776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000" b="1">
                  <a:sym typeface="Symbol" pitchFamily="18" charset="2"/>
                </a:rPr>
                <a:t>      </a:t>
              </a:r>
              <a:r>
                <a:rPr lang="en-US" altLang="zh-CN" sz="2000" b="1" baseline="-25000">
                  <a:sym typeface="Symbol" pitchFamily="18" charset="2"/>
                </a:rPr>
                <a:t>1f</a:t>
              </a:r>
              <a:br>
                <a:rPr lang="en-US" altLang="zh-CN" sz="2000" b="1" baseline="-25000">
                  <a:sym typeface="Symbol" pitchFamily="18" charset="2"/>
                </a:rPr>
              </a:br>
              <a:r>
                <a:rPr lang="en-US" altLang="zh-CN" sz="2000" b="1">
                  <a:sym typeface="Symbol" pitchFamily="18" charset="2"/>
                </a:rPr>
                <a:t>=</a:t>
              </a:r>
              <a:r>
                <a:rPr lang="en-US" altLang="zh-CN" sz="2000" b="1"/>
                <a:t>200+</a:t>
              </a:r>
              <a:r>
                <a:rPr lang="en-US" altLang="zh-CN" sz="2000" b="1">
                  <a:sym typeface="Symbol" pitchFamily="18" charset="2"/>
                </a:rPr>
                <a:t>165</a:t>
              </a:r>
            </a:p>
          </p:txBody>
        </p:sp>
      </p:grpSp>
      <p:grpSp>
        <p:nvGrpSpPr>
          <p:cNvPr id="16" name="Group 24"/>
          <p:cNvGrpSpPr>
            <a:grpSpLocks/>
          </p:cNvGrpSpPr>
          <p:nvPr/>
        </p:nvGrpSpPr>
        <p:grpSpPr bwMode="auto">
          <a:xfrm>
            <a:off x="700088" y="2686050"/>
            <a:ext cx="1571625" cy="947738"/>
            <a:chOff x="441" y="1844"/>
            <a:chExt cx="990" cy="597"/>
          </a:xfrm>
        </p:grpSpPr>
        <p:sp>
          <p:nvSpPr>
            <p:cNvPr id="17" name="Arc 25"/>
            <p:cNvSpPr>
              <a:spLocks/>
            </p:cNvSpPr>
            <p:nvPr/>
          </p:nvSpPr>
          <p:spPr bwMode="auto">
            <a:xfrm>
              <a:off x="593" y="1844"/>
              <a:ext cx="712" cy="360"/>
            </a:xfrm>
            <a:custGeom>
              <a:avLst/>
              <a:gdLst>
                <a:gd name="T0" fmla="*/ 0 w 43199"/>
                <a:gd name="T1" fmla="*/ 6 h 21844"/>
                <a:gd name="T2" fmla="*/ 12 w 43199"/>
                <a:gd name="T3" fmla="*/ 6 h 21844"/>
                <a:gd name="T4" fmla="*/ 6 w 43199"/>
                <a:gd name="T5" fmla="*/ 6 h 21844"/>
                <a:gd name="T6" fmla="*/ 0 60000 65536"/>
                <a:gd name="T7" fmla="*/ 0 60000 65536"/>
                <a:gd name="T8" fmla="*/ 0 60000 65536"/>
                <a:gd name="T9" fmla="*/ 0 w 43199"/>
                <a:gd name="T10" fmla="*/ 0 h 21844"/>
                <a:gd name="T11" fmla="*/ 43199 w 43199"/>
                <a:gd name="T12" fmla="*/ 21844 h 218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99" h="21844" fill="none" extrusionOk="0">
                  <a:moveTo>
                    <a:pt x="0" y="21364"/>
                  </a:moveTo>
                  <a:cubicBezTo>
                    <a:pt x="129" y="9527"/>
                    <a:pt x="9761" y="-1"/>
                    <a:pt x="21599" y="0"/>
                  </a:cubicBezTo>
                  <a:cubicBezTo>
                    <a:pt x="33528" y="0"/>
                    <a:pt x="43199" y="9670"/>
                    <a:pt x="43199" y="21600"/>
                  </a:cubicBezTo>
                  <a:cubicBezTo>
                    <a:pt x="43199" y="21681"/>
                    <a:pt x="43198" y="21762"/>
                    <a:pt x="43197" y="21843"/>
                  </a:cubicBezTo>
                </a:path>
                <a:path w="43199" h="21844" stroke="0" extrusionOk="0">
                  <a:moveTo>
                    <a:pt x="0" y="21364"/>
                  </a:moveTo>
                  <a:cubicBezTo>
                    <a:pt x="129" y="9527"/>
                    <a:pt x="9761" y="-1"/>
                    <a:pt x="21599" y="0"/>
                  </a:cubicBezTo>
                  <a:cubicBezTo>
                    <a:pt x="33528" y="0"/>
                    <a:pt x="43199" y="9670"/>
                    <a:pt x="43199" y="21600"/>
                  </a:cubicBezTo>
                  <a:cubicBezTo>
                    <a:pt x="43199" y="21681"/>
                    <a:pt x="43198" y="21762"/>
                    <a:pt x="43197" y="21843"/>
                  </a:cubicBezTo>
                  <a:lnTo>
                    <a:pt x="21599" y="21600"/>
                  </a:lnTo>
                  <a:close/>
                </a:path>
              </a:pathLst>
            </a:custGeom>
            <a:noFill/>
            <a:ln w="19050">
              <a:solidFill>
                <a:srgbClr val="A5002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Text Box 26"/>
            <p:cNvSpPr txBox="1">
              <a:spLocks noChangeArrowheads="1"/>
            </p:cNvSpPr>
            <p:nvPr/>
          </p:nvSpPr>
          <p:spPr bwMode="auto">
            <a:xfrm>
              <a:off x="441" y="2162"/>
              <a:ext cx="302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000" b="1">
                  <a:sym typeface="Symbol" pitchFamily="18" charset="2"/>
                </a:rPr>
                <a:t></a:t>
              </a:r>
              <a:r>
                <a:rPr lang="en-US" altLang="zh-CN" sz="2000" b="1" baseline="-25000">
                  <a:sym typeface="Symbol" pitchFamily="18" charset="2"/>
                </a:rPr>
                <a:t>3</a:t>
              </a:r>
            </a:p>
          </p:txBody>
        </p:sp>
        <p:sp>
          <p:nvSpPr>
            <p:cNvPr id="19" name="Text Box 27"/>
            <p:cNvSpPr txBox="1">
              <a:spLocks noChangeArrowheads="1"/>
            </p:cNvSpPr>
            <p:nvPr/>
          </p:nvSpPr>
          <p:spPr bwMode="auto">
            <a:xfrm>
              <a:off x="1094" y="2162"/>
              <a:ext cx="33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000" b="1">
                  <a:sym typeface="Symbol" pitchFamily="18" charset="2"/>
                </a:rPr>
                <a:t></a:t>
              </a:r>
              <a:r>
                <a:rPr lang="en-US" altLang="zh-CN" sz="2000" b="1" baseline="-25000">
                  <a:sym typeface="Symbol" pitchFamily="18" charset="2"/>
                </a:rPr>
                <a:t>1f</a:t>
              </a:r>
            </a:p>
          </p:txBody>
        </p:sp>
      </p:grpSp>
      <p:grpSp>
        <p:nvGrpSpPr>
          <p:cNvPr id="20" name="Group 31"/>
          <p:cNvGrpSpPr>
            <a:grpSpLocks/>
          </p:cNvGrpSpPr>
          <p:nvPr/>
        </p:nvGrpSpPr>
        <p:grpSpPr bwMode="auto">
          <a:xfrm>
            <a:off x="114300" y="987425"/>
            <a:ext cx="4243388" cy="2614613"/>
            <a:chOff x="72" y="774"/>
            <a:chExt cx="2673" cy="1647"/>
          </a:xfrm>
        </p:grpSpPr>
        <p:grpSp>
          <p:nvGrpSpPr>
            <p:cNvPr id="21" name="Group 32"/>
            <p:cNvGrpSpPr>
              <a:grpSpLocks/>
            </p:cNvGrpSpPr>
            <p:nvPr/>
          </p:nvGrpSpPr>
          <p:grpSpPr bwMode="auto">
            <a:xfrm>
              <a:off x="72" y="1253"/>
              <a:ext cx="2268" cy="392"/>
              <a:chOff x="72" y="1253"/>
              <a:chExt cx="2268" cy="392"/>
            </a:xfrm>
          </p:grpSpPr>
          <p:sp>
            <p:nvSpPr>
              <p:cNvPr id="26" name="Line 33"/>
              <p:cNvSpPr>
                <a:spLocks noChangeShapeType="1"/>
              </p:cNvSpPr>
              <p:nvPr/>
            </p:nvSpPr>
            <p:spPr bwMode="auto">
              <a:xfrm rot="-1780488">
                <a:off x="72" y="1645"/>
                <a:ext cx="22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7" name="Line 34"/>
              <p:cNvSpPr>
                <a:spLocks noChangeShapeType="1"/>
              </p:cNvSpPr>
              <p:nvPr/>
            </p:nvSpPr>
            <p:spPr bwMode="auto">
              <a:xfrm>
                <a:off x="1532" y="1462"/>
                <a:ext cx="29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35"/>
              <p:cNvSpPr>
                <a:spLocks/>
              </p:cNvSpPr>
              <p:nvPr/>
            </p:nvSpPr>
            <p:spPr bwMode="auto">
              <a:xfrm>
                <a:off x="1705" y="1365"/>
                <a:ext cx="36" cy="96"/>
              </a:xfrm>
              <a:custGeom>
                <a:avLst/>
                <a:gdLst>
                  <a:gd name="T0" fmla="*/ 35 w 36"/>
                  <a:gd name="T1" fmla="*/ 96 h 96"/>
                  <a:gd name="T2" fmla="*/ 30 w 36"/>
                  <a:gd name="T3" fmla="*/ 40 h 96"/>
                  <a:gd name="T4" fmla="*/ 0 w 36"/>
                  <a:gd name="T5" fmla="*/ 0 h 96"/>
                  <a:gd name="T6" fmla="*/ 0 60000 65536"/>
                  <a:gd name="T7" fmla="*/ 0 60000 65536"/>
                  <a:gd name="T8" fmla="*/ 0 60000 65536"/>
                  <a:gd name="T9" fmla="*/ 0 w 36"/>
                  <a:gd name="T10" fmla="*/ 0 h 96"/>
                  <a:gd name="T11" fmla="*/ 36 w 36"/>
                  <a:gd name="T12" fmla="*/ 96 h 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" h="96">
                    <a:moveTo>
                      <a:pt x="35" y="96"/>
                    </a:moveTo>
                    <a:cubicBezTo>
                      <a:pt x="35" y="76"/>
                      <a:pt x="36" y="56"/>
                      <a:pt x="30" y="40"/>
                    </a:cubicBezTo>
                    <a:cubicBezTo>
                      <a:pt x="24" y="24"/>
                      <a:pt x="12" y="12"/>
                      <a:pt x="0" y="0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Text Box 36"/>
              <p:cNvSpPr txBox="1">
                <a:spLocks noChangeArrowheads="1"/>
              </p:cNvSpPr>
              <p:nvPr/>
            </p:nvSpPr>
            <p:spPr bwMode="auto">
              <a:xfrm>
                <a:off x="1754" y="1253"/>
                <a:ext cx="271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b="1"/>
                  <a:t>30</a:t>
                </a:r>
                <a:r>
                  <a:rPr lang="en-US" altLang="zh-CN" b="1">
                    <a:sym typeface="Symbol" pitchFamily="18" charset="2"/>
                  </a:rPr>
                  <a:t></a:t>
                </a:r>
              </a:p>
            </p:txBody>
          </p:sp>
        </p:grpSp>
        <p:grpSp>
          <p:nvGrpSpPr>
            <p:cNvPr id="22" name="Group 37"/>
            <p:cNvGrpSpPr>
              <a:grpSpLocks/>
            </p:cNvGrpSpPr>
            <p:nvPr/>
          </p:nvGrpSpPr>
          <p:grpSpPr bwMode="auto">
            <a:xfrm>
              <a:off x="211" y="774"/>
              <a:ext cx="2534" cy="1647"/>
              <a:chOff x="211" y="774"/>
              <a:chExt cx="2534" cy="1647"/>
            </a:xfrm>
          </p:grpSpPr>
          <p:sp>
            <p:nvSpPr>
              <p:cNvPr id="23" name="Freeform 38"/>
              <p:cNvSpPr>
                <a:spLocks/>
              </p:cNvSpPr>
              <p:nvPr/>
            </p:nvSpPr>
            <p:spPr bwMode="auto">
              <a:xfrm>
                <a:off x="211" y="926"/>
                <a:ext cx="2409" cy="1279"/>
              </a:xfrm>
              <a:custGeom>
                <a:avLst/>
                <a:gdLst>
                  <a:gd name="T0" fmla="*/ 0 w 2794"/>
                  <a:gd name="T1" fmla="*/ 0 h 1901"/>
                  <a:gd name="T2" fmla="*/ 0 w 2794"/>
                  <a:gd name="T3" fmla="*/ 1279 h 1901"/>
                  <a:gd name="T4" fmla="*/ 2409 w 2794"/>
                  <a:gd name="T5" fmla="*/ 1279 h 1901"/>
                  <a:gd name="T6" fmla="*/ 0 60000 65536"/>
                  <a:gd name="T7" fmla="*/ 0 60000 65536"/>
                  <a:gd name="T8" fmla="*/ 0 60000 65536"/>
                  <a:gd name="T9" fmla="*/ 0 w 2794"/>
                  <a:gd name="T10" fmla="*/ 0 h 1901"/>
                  <a:gd name="T11" fmla="*/ 2794 w 2794"/>
                  <a:gd name="T12" fmla="*/ 1901 h 19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94" h="1901">
                    <a:moveTo>
                      <a:pt x="0" y="0"/>
                    </a:moveTo>
                    <a:lnTo>
                      <a:pt x="0" y="1901"/>
                    </a:lnTo>
                    <a:lnTo>
                      <a:pt x="2794" y="1901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lg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Text Box 39"/>
              <p:cNvSpPr txBox="1">
                <a:spLocks noChangeArrowheads="1"/>
              </p:cNvSpPr>
              <p:nvPr/>
            </p:nvSpPr>
            <p:spPr bwMode="auto">
              <a:xfrm>
                <a:off x="277" y="774"/>
                <a:ext cx="184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ym typeface="Symbol" pitchFamily="18" charset="2"/>
                  </a:rPr>
                  <a:t></a:t>
                </a:r>
              </a:p>
            </p:txBody>
          </p:sp>
          <p:sp>
            <p:nvSpPr>
              <p:cNvPr id="25" name="Text Box 40"/>
              <p:cNvSpPr txBox="1">
                <a:spLocks noChangeArrowheads="1"/>
              </p:cNvSpPr>
              <p:nvPr/>
            </p:nvSpPr>
            <p:spPr bwMode="auto">
              <a:xfrm>
                <a:off x="2535" y="2142"/>
                <a:ext cx="210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zh-CN" altLang="en-US" sz="2000" b="1">
                    <a:sym typeface="Symbol" pitchFamily="18" charset="2"/>
                  </a:rPr>
                  <a:t></a:t>
                </a:r>
              </a:p>
            </p:txBody>
          </p:sp>
        </p:grpSp>
      </p:grpSp>
      <p:sp>
        <p:nvSpPr>
          <p:cNvPr id="30" name="Line 41"/>
          <p:cNvSpPr>
            <a:spLocks noChangeShapeType="1"/>
          </p:cNvSpPr>
          <p:nvPr/>
        </p:nvSpPr>
        <p:spPr bwMode="auto">
          <a:xfrm flipV="1">
            <a:off x="330200" y="2547938"/>
            <a:ext cx="3433763" cy="71120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1" name="Text Box 43"/>
          <p:cNvSpPr txBox="1">
            <a:spLocks noChangeArrowheads="1"/>
          </p:cNvSpPr>
          <p:nvPr/>
        </p:nvSpPr>
        <p:spPr bwMode="auto">
          <a:xfrm>
            <a:off x="4435475" y="760413"/>
            <a:ext cx="312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000066"/>
                </a:solidFill>
                <a:ea typeface="幼圆" pitchFamily="49" charset="-122"/>
              </a:rPr>
              <a:t>a</a:t>
            </a: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</a:rPr>
              <a:t>）总应力强度指标：</a:t>
            </a:r>
            <a:endParaRPr lang="en-US" altLang="zh-CN" sz="20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graphicFrame>
        <p:nvGraphicFramePr>
          <p:cNvPr id="32" name="Object 47"/>
          <p:cNvGraphicFramePr>
            <a:graphicFrameLocks noChangeAspect="1"/>
          </p:cNvGraphicFramePr>
          <p:nvPr>
            <p:extLst/>
          </p:nvPr>
        </p:nvGraphicFramePr>
        <p:xfrm>
          <a:off x="7058025" y="784225"/>
          <a:ext cx="1757363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639" name="公式" r:id="rId3" imgW="1155600" imgH="228600" progId="Equation.3">
                  <p:embed/>
                </p:oleObj>
              </mc:Choice>
              <mc:Fallback>
                <p:oleObj name="公式" r:id="rId3" imgW="1155600" imgH="228600" progId="Equation.3">
                  <p:embed/>
                  <p:pic>
                    <p:nvPicPr>
                      <p:cNvPr id="32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8025" y="784225"/>
                        <a:ext cx="1757363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48"/>
          <p:cNvSpPr txBox="1">
            <a:spLocks noChangeArrowheads="1"/>
          </p:cNvSpPr>
          <p:nvPr/>
        </p:nvSpPr>
        <p:spPr bwMode="auto">
          <a:xfrm>
            <a:off x="4452938" y="1330325"/>
            <a:ext cx="3413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000066"/>
                </a:solidFill>
                <a:ea typeface="幼圆" pitchFamily="49" charset="-122"/>
              </a:rPr>
              <a:t>b</a:t>
            </a: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</a:rPr>
              <a:t>）破坏时的孔隙水压力：</a:t>
            </a:r>
            <a:endParaRPr lang="en-US" altLang="zh-CN" sz="20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34" name="Text Box 51"/>
          <p:cNvSpPr txBox="1">
            <a:spLocks noChangeArrowheads="1"/>
          </p:cNvSpPr>
          <p:nvPr/>
        </p:nvSpPr>
        <p:spPr bwMode="auto">
          <a:xfrm>
            <a:off x="5014913" y="1797050"/>
            <a:ext cx="2339400" cy="448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en-US" altLang="zh-CN" sz="2000" b="1" dirty="0" err="1" smtClean="0">
                <a:sym typeface="Symbol" pitchFamily="18" charset="2"/>
              </a:rPr>
              <a:t>u</a:t>
            </a:r>
            <a:r>
              <a:rPr lang="en-US" altLang="zh-CN" sz="2000" b="1" baseline="-25000" dirty="0" err="1" smtClean="0">
                <a:sym typeface="Symbol" pitchFamily="18" charset="2"/>
              </a:rPr>
              <a:t>f</a:t>
            </a:r>
            <a:r>
              <a:rPr lang="en-US" altLang="zh-CN" sz="2000" b="1" dirty="0" smtClean="0">
                <a:sym typeface="Symbol" pitchFamily="18" charset="2"/>
              </a:rPr>
              <a:t>=</a:t>
            </a:r>
            <a:r>
              <a:rPr lang="en-US" altLang="zh-CN" sz="2000" b="1" dirty="0" err="1" smtClean="0">
                <a:sym typeface="Symbol" pitchFamily="18" charset="2"/>
              </a:rPr>
              <a:t>A</a:t>
            </a:r>
            <a:r>
              <a:rPr lang="en-US" altLang="zh-CN" sz="2000" b="1" baseline="-25000" dirty="0" err="1" smtClean="0">
                <a:sym typeface="Symbol" pitchFamily="18" charset="2"/>
              </a:rPr>
              <a:t>f</a:t>
            </a:r>
            <a:r>
              <a:rPr lang="en-US" altLang="zh-CN" sz="2000" b="1" dirty="0" smtClean="0">
                <a:sym typeface="Symbol" pitchFamily="18" charset="2"/>
              </a:rPr>
              <a:t>(</a:t>
            </a:r>
            <a:r>
              <a:rPr lang="en-US" altLang="zh-CN" sz="2000" b="1" dirty="0">
                <a:sym typeface="Symbol" pitchFamily="18" charset="2"/>
              </a:rPr>
              <a:t></a:t>
            </a:r>
            <a:r>
              <a:rPr lang="en-US" altLang="zh-CN" sz="2000" b="1" baseline="-25000" dirty="0">
                <a:sym typeface="Symbol" pitchFamily="18" charset="2"/>
              </a:rPr>
              <a:t>1</a:t>
            </a:r>
            <a:r>
              <a:rPr lang="en-US" altLang="zh-CN" sz="2000" b="1" dirty="0">
                <a:sym typeface="Symbol" pitchFamily="18" charset="2"/>
              </a:rPr>
              <a:t>-</a:t>
            </a:r>
            <a:r>
              <a:rPr lang="en-US" altLang="zh-CN" sz="2000" b="1" baseline="-25000" dirty="0" smtClean="0">
                <a:sym typeface="Symbol" pitchFamily="18" charset="2"/>
              </a:rPr>
              <a:t>3</a:t>
            </a:r>
            <a:r>
              <a:rPr lang="en-US" altLang="zh-CN" sz="2000" b="1" dirty="0" smtClean="0">
                <a:sym typeface="Symbol" pitchFamily="18" charset="2"/>
              </a:rPr>
              <a:t>)</a:t>
            </a:r>
            <a:r>
              <a:rPr lang="en-US" altLang="zh-CN" sz="2000" b="1" baseline="-25000" dirty="0" smtClean="0">
                <a:sym typeface="Symbol" pitchFamily="18" charset="2"/>
              </a:rPr>
              <a:t>f</a:t>
            </a:r>
            <a:r>
              <a:rPr lang="en-US" altLang="zh-CN" sz="2000" b="1" dirty="0">
                <a:sym typeface="Symbol" pitchFamily="18" charset="2"/>
              </a:rPr>
              <a:t>=165A</a:t>
            </a:r>
            <a:r>
              <a:rPr lang="en-US" altLang="zh-CN" sz="2000" b="1" baseline="-25000" dirty="0">
                <a:sym typeface="Symbol" pitchFamily="18" charset="2"/>
              </a:rPr>
              <a:t>f</a:t>
            </a:r>
            <a:endParaRPr lang="en-US" altLang="zh-CN" sz="2000" b="1" dirty="0">
              <a:sym typeface="Symbol" pitchFamily="18" charset="2"/>
            </a:endParaRPr>
          </a:p>
        </p:txBody>
      </p:sp>
      <p:grpSp>
        <p:nvGrpSpPr>
          <p:cNvPr id="35" name="Group 77"/>
          <p:cNvGrpSpPr>
            <a:grpSpLocks/>
          </p:cNvGrpSpPr>
          <p:nvPr/>
        </p:nvGrpSpPr>
        <p:grpSpPr bwMode="auto">
          <a:xfrm>
            <a:off x="4772025" y="2351088"/>
            <a:ext cx="4138613" cy="1017587"/>
            <a:chOff x="3006" y="1633"/>
            <a:chExt cx="2607" cy="641"/>
          </a:xfrm>
        </p:grpSpPr>
        <p:sp>
          <p:nvSpPr>
            <p:cNvPr id="36" name="Text Box 56"/>
            <p:cNvSpPr txBox="1">
              <a:spLocks noChangeArrowheads="1"/>
            </p:cNvSpPr>
            <p:nvPr/>
          </p:nvSpPr>
          <p:spPr bwMode="auto">
            <a:xfrm>
              <a:off x="3350" y="1633"/>
              <a:ext cx="2263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000" b="1" dirty="0">
                  <a:sym typeface="Symbol" pitchFamily="18" charset="2"/>
                </a:rPr>
                <a:t></a:t>
              </a:r>
              <a:r>
                <a:rPr lang="en-US" altLang="zh-CN" sz="2000" b="1" baseline="-25000" dirty="0" smtClean="0">
                  <a:sym typeface="Symbol" pitchFamily="18" charset="2"/>
                </a:rPr>
                <a:t>3</a:t>
              </a:r>
              <a:r>
                <a:rPr lang="en-US" altLang="zh-CN" sz="2000" b="1" dirty="0">
                  <a:sym typeface="Symbol" pitchFamily="18" charset="2"/>
                </a:rPr>
                <a:t>=200-165A</a:t>
              </a:r>
              <a:r>
                <a:rPr lang="en-US" altLang="zh-CN" sz="2000" b="1" baseline="-25000" dirty="0">
                  <a:sym typeface="Symbol" pitchFamily="18" charset="2"/>
                </a:rPr>
                <a:t>f</a:t>
              </a:r>
              <a:r>
                <a:rPr lang="en-US" altLang="zh-CN" sz="2000" b="1" dirty="0" smtClean="0">
                  <a:sym typeface="Symbol" pitchFamily="18" charset="2"/>
                </a:rPr>
                <a:t>    </a:t>
              </a:r>
              <a:r>
                <a:rPr lang="en-US" altLang="zh-CN" sz="2000" b="1" dirty="0">
                  <a:sym typeface="Symbol" pitchFamily="18" charset="2"/>
                </a:rPr>
                <a:t></a:t>
              </a:r>
              <a:r>
                <a:rPr lang="en-US" altLang="zh-CN" sz="2000" b="1" baseline="-25000" dirty="0" smtClean="0">
                  <a:sym typeface="Symbol" pitchFamily="18" charset="2"/>
                </a:rPr>
                <a:t>1f</a:t>
              </a:r>
              <a:r>
                <a:rPr lang="en-US" altLang="zh-CN" sz="2000" b="1" dirty="0" smtClean="0">
                  <a:sym typeface="Symbol" pitchFamily="18" charset="2"/>
                </a:rPr>
                <a:t>=</a:t>
              </a:r>
              <a:r>
                <a:rPr lang="en-US" altLang="zh-CN" sz="2000" b="1" dirty="0" smtClean="0"/>
                <a:t>365-165</a:t>
              </a:r>
              <a:r>
                <a:rPr lang="en-US" altLang="zh-CN" sz="2000" b="1" dirty="0" smtClean="0">
                  <a:sym typeface="Symbol" pitchFamily="18" charset="2"/>
                </a:rPr>
                <a:t>A</a:t>
              </a:r>
              <a:r>
                <a:rPr lang="en-US" altLang="zh-CN" sz="2000" b="1" baseline="-25000" dirty="0" smtClean="0">
                  <a:sym typeface="Symbol" pitchFamily="18" charset="2"/>
                </a:rPr>
                <a:t>f</a:t>
              </a:r>
              <a:endParaRPr lang="en-US" altLang="zh-CN" sz="2000" b="1" baseline="-25000" dirty="0">
                <a:sym typeface="Symbol" pitchFamily="18" charset="2"/>
              </a:endParaRPr>
            </a:p>
          </p:txBody>
        </p:sp>
        <p:graphicFrame>
          <p:nvGraphicFramePr>
            <p:cNvPr id="37" name="Object 57"/>
            <p:cNvGraphicFramePr>
              <a:graphicFrameLocks noChangeAspect="1"/>
            </p:cNvGraphicFramePr>
            <p:nvPr>
              <p:extLst/>
            </p:nvPr>
          </p:nvGraphicFramePr>
          <p:xfrm>
            <a:off x="3379" y="2006"/>
            <a:ext cx="1734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7640" name="公式" r:id="rId5" imgW="1562040" imgH="241200" progId="Equation.3">
                    <p:embed/>
                  </p:oleObj>
                </mc:Choice>
                <mc:Fallback>
                  <p:oleObj name="公式" r:id="rId5" imgW="1562040" imgH="241200" progId="Equation.3">
                    <p:embed/>
                    <p:pic>
                      <p:nvPicPr>
                        <p:cNvPr id="37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9" y="2006"/>
                          <a:ext cx="1734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AutoShape 58"/>
            <p:cNvSpPr>
              <a:spLocks noChangeArrowheads="1"/>
            </p:cNvSpPr>
            <p:nvPr/>
          </p:nvSpPr>
          <p:spPr bwMode="auto">
            <a:xfrm>
              <a:off x="3006" y="1679"/>
              <a:ext cx="270" cy="241"/>
            </a:xfrm>
            <a:prstGeom prst="homePlate">
              <a:avLst>
                <a:gd name="adj" fmla="val 28008"/>
              </a:avLst>
            </a:prstGeom>
            <a:solidFill>
              <a:srgbClr val="FFCC66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9" name="Text Box 63"/>
          <p:cNvSpPr txBox="1">
            <a:spLocks noChangeArrowheads="1"/>
          </p:cNvSpPr>
          <p:nvPr/>
        </p:nvSpPr>
        <p:spPr bwMode="auto">
          <a:xfrm>
            <a:off x="1482725" y="4511675"/>
            <a:ext cx="49768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000066"/>
                </a:solidFill>
                <a:ea typeface="幼圆" pitchFamily="49" charset="-122"/>
              </a:rPr>
              <a:t>c</a:t>
            </a: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</a:rPr>
              <a:t>）</a:t>
            </a: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剪切破坏面上的法向总应力和剪应力</a:t>
            </a: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</a:rPr>
              <a:t>：</a:t>
            </a:r>
            <a:endParaRPr lang="en-US" altLang="zh-CN" sz="2000" b="1">
              <a:solidFill>
                <a:srgbClr val="000066"/>
              </a:solidFill>
              <a:ea typeface="幼圆" pitchFamily="49" charset="-122"/>
            </a:endParaRPr>
          </a:p>
        </p:txBody>
      </p:sp>
      <p:grpSp>
        <p:nvGrpSpPr>
          <p:cNvPr id="40" name="Group 80"/>
          <p:cNvGrpSpPr>
            <a:grpSpLocks/>
          </p:cNvGrpSpPr>
          <p:nvPr/>
        </p:nvGrpSpPr>
        <p:grpSpPr bwMode="auto">
          <a:xfrm>
            <a:off x="1211263" y="2768600"/>
            <a:ext cx="304800" cy="495300"/>
            <a:chOff x="763" y="1896"/>
            <a:chExt cx="192" cy="312"/>
          </a:xfrm>
        </p:grpSpPr>
        <p:sp>
          <p:nvSpPr>
            <p:cNvPr id="41" name="Line 67"/>
            <p:cNvSpPr>
              <a:spLocks noChangeShapeType="1"/>
            </p:cNvSpPr>
            <p:nvPr/>
          </p:nvSpPr>
          <p:spPr bwMode="auto">
            <a:xfrm>
              <a:off x="768" y="1896"/>
              <a:ext cx="187" cy="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Line 68"/>
            <p:cNvSpPr>
              <a:spLocks noChangeShapeType="1"/>
            </p:cNvSpPr>
            <p:nvPr/>
          </p:nvSpPr>
          <p:spPr bwMode="auto">
            <a:xfrm>
              <a:off x="763" y="1906"/>
              <a:ext cx="0" cy="3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3" name="Group 79"/>
          <p:cNvGrpSpPr>
            <a:grpSpLocks/>
          </p:cNvGrpSpPr>
          <p:nvPr/>
        </p:nvGrpSpPr>
        <p:grpSpPr bwMode="auto">
          <a:xfrm>
            <a:off x="711200" y="1643063"/>
            <a:ext cx="1458913" cy="1168400"/>
            <a:chOff x="448" y="1187"/>
            <a:chExt cx="919" cy="736"/>
          </a:xfrm>
        </p:grpSpPr>
        <p:sp>
          <p:nvSpPr>
            <p:cNvPr id="44" name="Line 65"/>
            <p:cNvSpPr>
              <a:spLocks noChangeShapeType="1"/>
            </p:cNvSpPr>
            <p:nvPr/>
          </p:nvSpPr>
          <p:spPr bwMode="auto">
            <a:xfrm flipV="1">
              <a:off x="752" y="1520"/>
              <a:ext cx="1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Text Box 66"/>
            <p:cNvSpPr txBox="1">
              <a:spLocks noChangeArrowheads="1"/>
            </p:cNvSpPr>
            <p:nvPr/>
          </p:nvSpPr>
          <p:spPr bwMode="auto">
            <a:xfrm>
              <a:off x="448" y="1187"/>
              <a:ext cx="919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solidFill>
                    <a:srgbClr val="A50021"/>
                  </a:solidFill>
                  <a:ea typeface="幼圆" pitchFamily="49" charset="-122"/>
                </a:rPr>
                <a:t>真正破裂面</a:t>
              </a:r>
              <a:endParaRPr lang="en-US" altLang="zh-CN" sz="2000" b="1">
                <a:solidFill>
                  <a:srgbClr val="A50021"/>
                </a:solidFill>
                <a:ea typeface="幼圆" pitchFamily="49" charset="-122"/>
              </a:endParaRPr>
            </a:p>
          </p:txBody>
        </p:sp>
        <p:sp>
          <p:nvSpPr>
            <p:cNvPr id="46" name="Oval 64"/>
            <p:cNvSpPr>
              <a:spLocks noChangeArrowheads="1"/>
            </p:cNvSpPr>
            <p:nvPr/>
          </p:nvSpPr>
          <p:spPr bwMode="auto">
            <a:xfrm>
              <a:off x="740" y="1867"/>
              <a:ext cx="56" cy="56"/>
            </a:xfrm>
            <a:prstGeom prst="ellipse">
              <a:avLst/>
            </a:prstGeom>
            <a:solidFill>
              <a:schemeClr val="accent2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47" name="Object 72"/>
          <p:cNvGraphicFramePr>
            <a:graphicFrameLocks noChangeAspect="1"/>
          </p:cNvGraphicFramePr>
          <p:nvPr>
            <p:extLst/>
          </p:nvPr>
        </p:nvGraphicFramePr>
        <p:xfrm>
          <a:off x="1547813" y="4979988"/>
          <a:ext cx="4991100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641" name="公式" r:id="rId7" imgW="2831760" imgH="812520" progId="Equation.3">
                  <p:embed/>
                </p:oleObj>
              </mc:Choice>
              <mc:Fallback>
                <p:oleObj name="公式" r:id="rId7" imgW="2831760" imgH="812520" progId="Equation.3">
                  <p:embed/>
                  <p:pic>
                    <p:nvPicPr>
                      <p:cNvPr id="47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979988"/>
                        <a:ext cx="4991100" cy="143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Group 78"/>
          <p:cNvGrpSpPr>
            <a:grpSpLocks/>
          </p:cNvGrpSpPr>
          <p:nvPr/>
        </p:nvGrpSpPr>
        <p:grpSpPr bwMode="auto">
          <a:xfrm>
            <a:off x="4768850" y="3444875"/>
            <a:ext cx="3894138" cy="930275"/>
            <a:chOff x="3004" y="2322"/>
            <a:chExt cx="2453" cy="586"/>
          </a:xfrm>
        </p:grpSpPr>
        <p:sp>
          <p:nvSpPr>
            <p:cNvPr id="49" name="Text Box 61"/>
            <p:cNvSpPr txBox="1">
              <a:spLocks noChangeArrowheads="1"/>
            </p:cNvSpPr>
            <p:nvPr/>
          </p:nvSpPr>
          <p:spPr bwMode="auto">
            <a:xfrm>
              <a:off x="3363" y="2322"/>
              <a:ext cx="1727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000" b="1" dirty="0" err="1">
                  <a:sym typeface="Symbol" pitchFamily="18" charset="2"/>
                </a:rPr>
                <a:t>A</a:t>
              </a:r>
              <a:r>
                <a:rPr lang="en-US" altLang="zh-CN" sz="2000" b="1" baseline="-25000" dirty="0" err="1">
                  <a:sym typeface="Symbol" pitchFamily="18" charset="2"/>
                </a:rPr>
                <a:t>f</a:t>
              </a:r>
              <a:r>
                <a:rPr lang="en-US" altLang="zh-CN" sz="2000" b="1" dirty="0" smtClean="0">
                  <a:sym typeface="Symbol" pitchFamily="18" charset="2"/>
                </a:rPr>
                <a:t>=0.712    </a:t>
              </a:r>
              <a:r>
                <a:rPr lang="en-US" altLang="zh-CN" sz="2000" b="1" dirty="0" err="1">
                  <a:sym typeface="Symbol" pitchFamily="18" charset="2"/>
                </a:rPr>
                <a:t>u</a:t>
              </a:r>
              <a:r>
                <a:rPr lang="en-US" altLang="zh-CN" sz="2000" b="1" baseline="-25000" dirty="0" err="1">
                  <a:sym typeface="Symbol" pitchFamily="18" charset="2"/>
                </a:rPr>
                <a:t>f</a:t>
              </a:r>
              <a:r>
                <a:rPr lang="en-US" altLang="zh-CN" sz="2000" b="1" dirty="0">
                  <a:sym typeface="Symbol" pitchFamily="18" charset="2"/>
                </a:rPr>
                <a:t>=117.5kPa</a:t>
              </a:r>
              <a:endParaRPr lang="en-US" altLang="zh-CN" sz="2000" b="1" baseline="-25000" dirty="0">
                <a:sym typeface="Symbol" pitchFamily="18" charset="2"/>
              </a:endParaRPr>
            </a:p>
          </p:txBody>
        </p:sp>
        <p:sp>
          <p:nvSpPr>
            <p:cNvPr id="50" name="AutoShape 62"/>
            <p:cNvSpPr>
              <a:spLocks noChangeArrowheads="1"/>
            </p:cNvSpPr>
            <p:nvPr/>
          </p:nvSpPr>
          <p:spPr bwMode="auto">
            <a:xfrm>
              <a:off x="3004" y="2361"/>
              <a:ext cx="270" cy="241"/>
            </a:xfrm>
            <a:prstGeom prst="homePlate">
              <a:avLst>
                <a:gd name="adj" fmla="val 28008"/>
              </a:avLst>
            </a:prstGeom>
            <a:solidFill>
              <a:srgbClr val="FFCC66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" name="Text Box 74"/>
            <p:cNvSpPr txBox="1">
              <a:spLocks noChangeArrowheads="1"/>
            </p:cNvSpPr>
            <p:nvPr/>
          </p:nvSpPr>
          <p:spPr bwMode="auto">
            <a:xfrm>
              <a:off x="3414" y="2629"/>
              <a:ext cx="2043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000" b="1">
                  <a:sym typeface="Symbol" pitchFamily="18" charset="2"/>
                </a:rPr>
                <a:t></a:t>
              </a:r>
              <a:r>
                <a:rPr lang="en-US" altLang="zh-CN" sz="2000" b="1" baseline="-25000">
                  <a:sym typeface="Symbol" pitchFamily="18" charset="2"/>
                </a:rPr>
                <a:t>3</a:t>
              </a:r>
              <a:r>
                <a:rPr lang="en-US" altLang="zh-CN" sz="2000" b="1">
                  <a:sym typeface="Symbol" pitchFamily="18" charset="2"/>
                </a:rPr>
                <a:t>=82.5kPa    </a:t>
              </a:r>
              <a:r>
                <a:rPr lang="en-US" altLang="zh-CN" sz="2000" b="1" baseline="-25000">
                  <a:sym typeface="Symbol" pitchFamily="18" charset="2"/>
                </a:rPr>
                <a:t>1f</a:t>
              </a:r>
              <a:r>
                <a:rPr lang="en-US" altLang="zh-CN" sz="2000" b="1">
                  <a:sym typeface="Symbol" pitchFamily="18" charset="2"/>
                </a:rPr>
                <a:t>=247.5kPa</a:t>
              </a:r>
              <a:endParaRPr lang="en-US" altLang="zh-CN" sz="2000" b="1" baseline="-25000">
                <a:sym typeface="Symbol" pitchFamily="18" charset="2"/>
              </a:endParaRPr>
            </a:p>
          </p:txBody>
        </p:sp>
      </p:grpSp>
      <p:sp>
        <p:nvSpPr>
          <p:cNvPr id="52" name="Text Box 75"/>
          <p:cNvSpPr txBox="1">
            <a:spLocks noChangeArrowheads="1"/>
          </p:cNvSpPr>
          <p:nvPr/>
        </p:nvSpPr>
        <p:spPr bwMode="auto">
          <a:xfrm>
            <a:off x="5499100" y="5721350"/>
            <a:ext cx="2362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000" b="1">
                <a:sym typeface="Symbol" pitchFamily="18" charset="2"/>
              </a:rPr>
              <a:t></a:t>
            </a:r>
            <a:r>
              <a:rPr lang="en-US" altLang="zh-CN" sz="2000" b="1" baseline="-25000">
                <a:sym typeface="Symbol" pitchFamily="18" charset="2"/>
              </a:rPr>
              <a:t>n</a:t>
            </a:r>
            <a:r>
              <a:rPr lang="en-US" altLang="zh-CN" sz="2000" b="1">
                <a:sym typeface="Symbol" pitchFamily="18" charset="2"/>
              </a:rPr>
              <a:t>=</a:t>
            </a:r>
            <a:r>
              <a:rPr lang="en-US" altLang="zh-CN" sz="2000" b="1" baseline="-25000">
                <a:sym typeface="Symbol" pitchFamily="18" charset="2"/>
              </a:rPr>
              <a:t>n</a:t>
            </a:r>
            <a:r>
              <a:rPr lang="en-US" altLang="zh-CN" sz="2000" b="1">
                <a:sym typeface="Symbol" pitchFamily="18" charset="2"/>
              </a:rPr>
              <a:t>+u</a:t>
            </a:r>
            <a:r>
              <a:rPr lang="en-US" altLang="zh-CN" sz="2000" b="1" baseline="-25000">
                <a:sym typeface="Symbol" pitchFamily="18" charset="2"/>
              </a:rPr>
              <a:t>f</a:t>
            </a:r>
            <a:r>
              <a:rPr lang="en-US" altLang="zh-CN" sz="2000" b="1">
                <a:sym typeface="Symbol" pitchFamily="18" charset="2"/>
              </a:rPr>
              <a:t>=241.3kPa</a:t>
            </a:r>
          </a:p>
        </p:txBody>
      </p:sp>
    </p:spTree>
    <p:extLst>
      <p:ext uri="{BB962C8B-B14F-4D97-AF65-F5344CB8AC3E}">
        <p14:creationId xmlns:p14="http://schemas.microsoft.com/office/powerpoint/2010/main" val="189515765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 decel="100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800" decel="100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800" decel="100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800" decel="100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8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8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  <p:bldP spid="33" grpId="0"/>
      <p:bldP spid="34" grpId="0"/>
      <p:bldP spid="39" grpId="0"/>
      <p:bldP spid="52" grpId="0"/>
    </p:bldLst>
  </p:timing>
</p:sld>
</file>

<file path=ppt/theme/theme1.xml><?xml version="1.0" encoding="utf-8"?>
<a:theme xmlns:a="http://schemas.openxmlformats.org/drawingml/2006/main" name="吉祥如意">
  <a:themeElements>
    <a:clrScheme name="吉祥如意 1">
      <a:dk1>
        <a:srgbClr val="000000"/>
      </a:dk1>
      <a:lt1>
        <a:srgbClr val="FFFFFF"/>
      </a:lt1>
      <a:dk2>
        <a:srgbClr val="E40000"/>
      </a:dk2>
      <a:lt2>
        <a:srgbClr val="DDDDDD"/>
      </a:lt2>
      <a:accent1>
        <a:srgbClr val="E1F4FF"/>
      </a:accent1>
      <a:accent2>
        <a:srgbClr val="FFE2C5"/>
      </a:accent2>
      <a:accent3>
        <a:srgbClr val="FFFFFF"/>
      </a:accent3>
      <a:accent4>
        <a:srgbClr val="000000"/>
      </a:accent4>
      <a:accent5>
        <a:srgbClr val="EEF8FF"/>
      </a:accent5>
      <a:accent6>
        <a:srgbClr val="E7CDB2"/>
      </a:accent6>
      <a:hlink>
        <a:srgbClr val="0066CC"/>
      </a:hlink>
      <a:folHlink>
        <a:srgbClr val="9F9FBF"/>
      </a:folHlink>
    </a:clrScheme>
    <a:fontScheme name="吉祥如意">
      <a:majorFont>
        <a:latin typeface="Arial"/>
        <a:ea typeface="华文新魏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吉祥如意 1">
        <a:dk1>
          <a:srgbClr val="000000"/>
        </a:dk1>
        <a:lt1>
          <a:srgbClr val="FFFFFF"/>
        </a:lt1>
        <a:dk2>
          <a:srgbClr val="E40000"/>
        </a:dk2>
        <a:lt2>
          <a:srgbClr val="DDDDDD"/>
        </a:lt2>
        <a:accent1>
          <a:srgbClr val="E1F4FF"/>
        </a:accent1>
        <a:accent2>
          <a:srgbClr val="FFE2C5"/>
        </a:accent2>
        <a:accent3>
          <a:srgbClr val="FFFFFF"/>
        </a:accent3>
        <a:accent4>
          <a:srgbClr val="000000"/>
        </a:accent4>
        <a:accent5>
          <a:srgbClr val="EEF8FF"/>
        </a:accent5>
        <a:accent6>
          <a:srgbClr val="E7CDB2"/>
        </a:accent6>
        <a:hlink>
          <a:srgbClr val="0066CC"/>
        </a:hlink>
        <a:folHlink>
          <a:srgbClr val="9F9F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2">
        <a:dk1>
          <a:srgbClr val="59582D"/>
        </a:dk1>
        <a:lt1>
          <a:srgbClr val="EAEAEA"/>
        </a:lt1>
        <a:dk2>
          <a:srgbClr val="666699"/>
        </a:dk2>
        <a:lt2>
          <a:srgbClr val="D9D9D9"/>
        </a:lt2>
        <a:accent1>
          <a:srgbClr val="CCECFF"/>
        </a:accent1>
        <a:accent2>
          <a:srgbClr val="B2D2C7"/>
        </a:accent2>
        <a:accent3>
          <a:srgbClr val="F3F3F3"/>
        </a:accent3>
        <a:accent4>
          <a:srgbClr val="4B4A25"/>
        </a:accent4>
        <a:accent5>
          <a:srgbClr val="E2F4FF"/>
        </a:accent5>
        <a:accent6>
          <a:srgbClr val="A1BEB4"/>
        </a:accent6>
        <a:hlink>
          <a:srgbClr val="993366"/>
        </a:hlink>
        <a:folHlink>
          <a:srgbClr val="92B9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3">
        <a:dk1>
          <a:srgbClr val="000099"/>
        </a:dk1>
        <a:lt1>
          <a:srgbClr val="FFFFCC"/>
        </a:lt1>
        <a:dk2>
          <a:srgbClr val="004000"/>
        </a:dk2>
        <a:lt2>
          <a:srgbClr val="FFD9B3"/>
        </a:lt2>
        <a:accent1>
          <a:srgbClr val="FFD9D9"/>
        </a:accent1>
        <a:accent2>
          <a:srgbClr val="DDDDDD"/>
        </a:accent2>
        <a:accent3>
          <a:srgbClr val="FFFFE2"/>
        </a:accent3>
        <a:accent4>
          <a:srgbClr val="000082"/>
        </a:accent4>
        <a:accent5>
          <a:srgbClr val="FFE9E9"/>
        </a:accent5>
        <a:accent6>
          <a:srgbClr val="C8C8C8"/>
        </a:accent6>
        <a:hlink>
          <a:srgbClr val="FF0000"/>
        </a:hlink>
        <a:folHlink>
          <a:srgbClr val="FFAB5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4">
        <a:dk1>
          <a:srgbClr val="000000"/>
        </a:dk1>
        <a:lt1>
          <a:srgbClr val="DCE8E2"/>
        </a:lt1>
        <a:dk2>
          <a:srgbClr val="0033CC"/>
        </a:dk2>
        <a:lt2>
          <a:srgbClr val="C4C4D8"/>
        </a:lt2>
        <a:accent1>
          <a:srgbClr val="FFFFFF"/>
        </a:accent1>
        <a:accent2>
          <a:srgbClr val="A9CFB1"/>
        </a:accent2>
        <a:accent3>
          <a:srgbClr val="EBF2EE"/>
        </a:accent3>
        <a:accent4>
          <a:srgbClr val="000000"/>
        </a:accent4>
        <a:accent5>
          <a:srgbClr val="FFFFFF"/>
        </a:accent5>
        <a:accent6>
          <a:srgbClr val="99BBA0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5">
        <a:dk1>
          <a:srgbClr val="606090"/>
        </a:dk1>
        <a:lt1>
          <a:srgbClr val="E5FFFF"/>
        </a:lt1>
        <a:dk2>
          <a:srgbClr val="0000CC"/>
        </a:dk2>
        <a:lt2>
          <a:srgbClr val="91DAFF"/>
        </a:lt2>
        <a:accent1>
          <a:srgbClr val="EAEAEA"/>
        </a:accent1>
        <a:accent2>
          <a:srgbClr val="FFE2C5"/>
        </a:accent2>
        <a:accent3>
          <a:srgbClr val="F0FFFF"/>
        </a:accent3>
        <a:accent4>
          <a:srgbClr val="51517A"/>
        </a:accent4>
        <a:accent5>
          <a:srgbClr val="F3F3F3"/>
        </a:accent5>
        <a:accent6>
          <a:srgbClr val="E7CDB2"/>
        </a:accent6>
        <a:hlink>
          <a:srgbClr val="000000"/>
        </a:hlink>
        <a:folHlink>
          <a:srgbClr val="3DB7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6">
        <a:dk1>
          <a:srgbClr val="CC0066"/>
        </a:dk1>
        <a:lt1>
          <a:srgbClr val="FFDDBB"/>
        </a:lt1>
        <a:dk2>
          <a:srgbClr val="000000"/>
        </a:dk2>
        <a:lt2>
          <a:srgbClr val="C0C0C0"/>
        </a:lt2>
        <a:accent1>
          <a:srgbClr val="FFFFCC"/>
        </a:accent1>
        <a:accent2>
          <a:srgbClr val="FFFFFF"/>
        </a:accent2>
        <a:accent3>
          <a:srgbClr val="FFEBDA"/>
        </a:accent3>
        <a:accent4>
          <a:srgbClr val="AE0056"/>
        </a:accent4>
        <a:accent5>
          <a:srgbClr val="FFFFE2"/>
        </a:accent5>
        <a:accent6>
          <a:srgbClr val="E7E7E7"/>
        </a:accent6>
        <a:hlink>
          <a:srgbClr val="0066CC"/>
        </a:hlink>
        <a:folHlink>
          <a:srgbClr val="8EB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7">
        <a:dk1>
          <a:srgbClr val="B60000"/>
        </a:dk1>
        <a:lt1>
          <a:srgbClr val="FFFF99"/>
        </a:lt1>
        <a:dk2>
          <a:srgbClr val="800000"/>
        </a:dk2>
        <a:lt2>
          <a:srgbClr val="FFFFFF"/>
        </a:lt2>
        <a:accent1>
          <a:srgbClr val="9888A4"/>
        </a:accent1>
        <a:accent2>
          <a:srgbClr val="A9335D"/>
        </a:accent2>
        <a:accent3>
          <a:srgbClr val="C0AAAA"/>
        </a:accent3>
        <a:accent4>
          <a:srgbClr val="DADA82"/>
        </a:accent4>
        <a:accent5>
          <a:srgbClr val="CAC3CF"/>
        </a:accent5>
        <a:accent6>
          <a:srgbClr val="992D53"/>
        </a:accent6>
        <a:hlink>
          <a:srgbClr val="CCECFF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8">
        <a:dk1>
          <a:srgbClr val="808080"/>
        </a:dk1>
        <a:lt1>
          <a:srgbClr val="FFFFFF"/>
        </a:lt1>
        <a:dk2>
          <a:srgbClr val="1C1C1C"/>
        </a:dk2>
        <a:lt2>
          <a:srgbClr val="FFFF66"/>
        </a:lt2>
        <a:accent1>
          <a:srgbClr val="9898BA"/>
        </a:accent1>
        <a:accent2>
          <a:srgbClr val="777777"/>
        </a:accent2>
        <a:accent3>
          <a:srgbClr val="ABABAB"/>
        </a:accent3>
        <a:accent4>
          <a:srgbClr val="DADADA"/>
        </a:accent4>
        <a:accent5>
          <a:srgbClr val="CACAD9"/>
        </a:accent5>
        <a:accent6>
          <a:srgbClr val="6B6B6B"/>
        </a:accent6>
        <a:hlink>
          <a:srgbClr val="CCFF99"/>
        </a:hlink>
        <a:folHlink>
          <a:srgbClr val="E43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9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00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10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8AB9B9"/>
        </a:accent6>
        <a:hlink>
          <a:srgbClr val="FF00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1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12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99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Eclipse">
  <a:themeElements>
    <a:clrScheme name="Eclipse 14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FFFF99"/>
      </a:accent1>
      <a:accent2>
        <a:srgbClr val="FF9933"/>
      </a:accent2>
      <a:accent3>
        <a:srgbClr val="FFFFFF"/>
      </a:accent3>
      <a:accent4>
        <a:srgbClr val="000000"/>
      </a:accent4>
      <a:accent5>
        <a:srgbClr val="FFFFCA"/>
      </a:accent5>
      <a:accent6>
        <a:srgbClr val="E78A2D"/>
      </a:accent6>
      <a:hlink>
        <a:srgbClr val="0000FF"/>
      </a:hlink>
      <a:folHlink>
        <a:srgbClr val="FF0000"/>
      </a:folHlink>
    </a:clrScheme>
    <a:fontScheme name="Eclipse">
      <a:majorFont>
        <a:latin typeface="Arial"/>
        <a:ea typeface="华文新魏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00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12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8AB9B9"/>
        </a:accent6>
        <a:hlink>
          <a:srgbClr val="FF00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13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14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99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Eclipse">
  <a:themeElements>
    <a:clrScheme name="Eclipse 14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FFFF99"/>
      </a:accent1>
      <a:accent2>
        <a:srgbClr val="FF9933"/>
      </a:accent2>
      <a:accent3>
        <a:srgbClr val="FFFFFF"/>
      </a:accent3>
      <a:accent4>
        <a:srgbClr val="000000"/>
      </a:accent4>
      <a:accent5>
        <a:srgbClr val="FFFFCA"/>
      </a:accent5>
      <a:accent6>
        <a:srgbClr val="E78A2D"/>
      </a:accent6>
      <a:hlink>
        <a:srgbClr val="0000FF"/>
      </a:hlink>
      <a:folHlink>
        <a:srgbClr val="FF0000"/>
      </a:folHlink>
    </a:clrScheme>
    <a:fontScheme name="Eclipse">
      <a:majorFont>
        <a:latin typeface="Arial"/>
        <a:ea typeface="华文新魏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00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12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8AB9B9"/>
        </a:accent6>
        <a:hlink>
          <a:srgbClr val="FF00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13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14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99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32374</TotalTime>
  <Words>1431</Words>
  <Application>Microsoft Office PowerPoint</Application>
  <PresentationFormat>全屏显示(4:3)</PresentationFormat>
  <Paragraphs>228</Paragraphs>
  <Slides>16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黑体</vt:lpstr>
      <vt:lpstr>华文新魏</vt:lpstr>
      <vt:lpstr>宋体</vt:lpstr>
      <vt:lpstr>幼圆</vt:lpstr>
      <vt:lpstr>Arial</vt:lpstr>
      <vt:lpstr>Symbol</vt:lpstr>
      <vt:lpstr>Times New Roman</vt:lpstr>
      <vt:lpstr>Verdana</vt:lpstr>
      <vt:lpstr>Wingdings</vt:lpstr>
      <vt:lpstr>Wingdings 2</vt:lpstr>
      <vt:lpstr>吉祥如意</vt:lpstr>
      <vt:lpstr>Eclipse</vt:lpstr>
      <vt:lpstr>1_Eclipse</vt:lpstr>
      <vt:lpstr>公式</vt:lpstr>
      <vt:lpstr>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zhang0</dc:creator>
  <cp:lastModifiedBy>yinwj18</cp:lastModifiedBy>
  <cp:revision>2463</cp:revision>
  <dcterms:created xsi:type="dcterms:W3CDTF">1601-01-01T00:00:00Z</dcterms:created>
  <dcterms:modified xsi:type="dcterms:W3CDTF">2020-12-20T11:14:16Z</dcterms:modified>
</cp:coreProperties>
</file>