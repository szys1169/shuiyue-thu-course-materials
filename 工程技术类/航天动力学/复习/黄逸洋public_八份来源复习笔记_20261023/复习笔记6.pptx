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38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image" Target="../media/image26.wmf"/><Relationship Id="rId7" Type="http://schemas.openxmlformats.org/officeDocument/2006/relationships/image" Target="../media/image30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Relationship Id="rId6" Type="http://schemas.openxmlformats.org/officeDocument/2006/relationships/image" Target="../media/image29.wmf"/><Relationship Id="rId11" Type="http://schemas.openxmlformats.org/officeDocument/2006/relationships/image" Target="../media/image34.wmf"/><Relationship Id="rId5" Type="http://schemas.openxmlformats.org/officeDocument/2006/relationships/image" Target="../media/image28.wmf"/><Relationship Id="rId10" Type="http://schemas.openxmlformats.org/officeDocument/2006/relationships/image" Target="../media/image33.wmf"/><Relationship Id="rId4" Type="http://schemas.openxmlformats.org/officeDocument/2006/relationships/image" Target="../media/image27.wmf"/><Relationship Id="rId9" Type="http://schemas.openxmlformats.org/officeDocument/2006/relationships/image" Target="../media/image32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13" Type="http://schemas.openxmlformats.org/officeDocument/2006/relationships/image" Target="../media/image61.wmf"/><Relationship Id="rId18" Type="http://schemas.openxmlformats.org/officeDocument/2006/relationships/image" Target="../media/image66.wmf"/><Relationship Id="rId3" Type="http://schemas.openxmlformats.org/officeDocument/2006/relationships/image" Target="../media/image51.wmf"/><Relationship Id="rId7" Type="http://schemas.openxmlformats.org/officeDocument/2006/relationships/image" Target="../media/image55.wmf"/><Relationship Id="rId12" Type="http://schemas.openxmlformats.org/officeDocument/2006/relationships/image" Target="../media/image60.wmf"/><Relationship Id="rId17" Type="http://schemas.openxmlformats.org/officeDocument/2006/relationships/image" Target="../media/image65.wmf"/><Relationship Id="rId2" Type="http://schemas.openxmlformats.org/officeDocument/2006/relationships/image" Target="../media/image50.wmf"/><Relationship Id="rId16" Type="http://schemas.openxmlformats.org/officeDocument/2006/relationships/image" Target="../media/image64.wmf"/><Relationship Id="rId1" Type="http://schemas.openxmlformats.org/officeDocument/2006/relationships/image" Target="../media/image49.wmf"/><Relationship Id="rId6" Type="http://schemas.openxmlformats.org/officeDocument/2006/relationships/image" Target="../media/image54.wmf"/><Relationship Id="rId11" Type="http://schemas.openxmlformats.org/officeDocument/2006/relationships/image" Target="../media/image59.wmf"/><Relationship Id="rId5" Type="http://schemas.openxmlformats.org/officeDocument/2006/relationships/image" Target="../media/image53.wmf"/><Relationship Id="rId15" Type="http://schemas.openxmlformats.org/officeDocument/2006/relationships/image" Target="../media/image63.wmf"/><Relationship Id="rId10" Type="http://schemas.openxmlformats.org/officeDocument/2006/relationships/image" Target="../media/image58.wmf"/><Relationship Id="rId19" Type="http://schemas.openxmlformats.org/officeDocument/2006/relationships/image" Target="../media/image67.wmf"/><Relationship Id="rId4" Type="http://schemas.openxmlformats.org/officeDocument/2006/relationships/image" Target="../media/image52.wmf"/><Relationship Id="rId9" Type="http://schemas.openxmlformats.org/officeDocument/2006/relationships/image" Target="../media/image57.wmf"/><Relationship Id="rId14" Type="http://schemas.openxmlformats.org/officeDocument/2006/relationships/image" Target="../media/image62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image" Target="../media/image79.wmf"/><Relationship Id="rId7" Type="http://schemas.openxmlformats.org/officeDocument/2006/relationships/image" Target="../media/image83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Relationship Id="rId9" Type="http://schemas.openxmlformats.org/officeDocument/2006/relationships/image" Target="../media/image8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312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913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2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1773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2874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863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5847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09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7509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33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219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C5D92-A840-4BDB-9514-80A984FA25FD}" type="datetimeFigureOut">
              <a:rPr lang="zh-CN" altLang="en-US" smtClean="0"/>
              <a:t>2015/1/15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5B8050-E41E-4138-A52C-75A6FDFFB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5896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8.wmf"/><Relationship Id="rId26" Type="http://schemas.openxmlformats.org/officeDocument/2006/relationships/image" Target="../media/image12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6.wmf"/><Relationship Id="rId42" Type="http://schemas.openxmlformats.org/officeDocument/2006/relationships/image" Target="../media/image20.wmf"/><Relationship Id="rId47" Type="http://schemas.openxmlformats.org/officeDocument/2006/relationships/image" Target="../media/image22.wmf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.wmf"/><Relationship Id="rId29" Type="http://schemas.openxmlformats.org/officeDocument/2006/relationships/oleObject" Target="../embeddings/oleObject14.bin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1.wmf"/><Relationship Id="rId32" Type="http://schemas.openxmlformats.org/officeDocument/2006/relationships/image" Target="../media/image15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19.wmf"/><Relationship Id="rId45" Type="http://schemas.openxmlformats.org/officeDocument/2006/relationships/image" Target="../media/image21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3.wmf"/><Relationship Id="rId36" Type="http://schemas.openxmlformats.org/officeDocument/2006/relationships/image" Target="../media/image17.wmf"/><Relationship Id="rId10" Type="http://schemas.openxmlformats.org/officeDocument/2006/relationships/image" Target="../media/image4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oleObject" Target="../embeddings/oleObject22.bin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wmf"/><Relationship Id="rId22" Type="http://schemas.openxmlformats.org/officeDocument/2006/relationships/image" Target="../media/image10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4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48" Type="http://schemas.openxmlformats.org/officeDocument/2006/relationships/image" Target="../media/image23.png"/><Relationship Id="rId8" Type="http://schemas.openxmlformats.org/officeDocument/2006/relationships/image" Target="../media/image3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8.wmf"/><Relationship Id="rId46" Type="http://schemas.openxmlformats.org/officeDocument/2006/relationships/oleObject" Target="../embeddings/oleObject23.bin"/><Relationship Id="rId20" Type="http://schemas.openxmlformats.org/officeDocument/2006/relationships/image" Target="../media/image9.wmf"/><Relationship Id="rId41" Type="http://schemas.openxmlformats.org/officeDocument/2006/relationships/oleObject" Target="../embeddings/oleObject20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28.wmf"/><Relationship Id="rId18" Type="http://schemas.openxmlformats.org/officeDocument/2006/relationships/oleObject" Target="../embeddings/oleObject31.bin"/><Relationship Id="rId3" Type="http://schemas.openxmlformats.org/officeDocument/2006/relationships/oleObject" Target="../embeddings/oleObject24.bin"/><Relationship Id="rId21" Type="http://schemas.openxmlformats.org/officeDocument/2006/relationships/image" Target="../media/image32.wmf"/><Relationship Id="rId7" Type="http://schemas.openxmlformats.org/officeDocument/2006/relationships/image" Target="../media/image35.png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0.wmf"/><Relationship Id="rId25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25.wmf"/><Relationship Id="rId11" Type="http://schemas.openxmlformats.org/officeDocument/2006/relationships/image" Target="../media/image27.wmf"/><Relationship Id="rId24" Type="http://schemas.openxmlformats.org/officeDocument/2006/relationships/oleObject" Target="../embeddings/oleObject34.bin"/><Relationship Id="rId5" Type="http://schemas.openxmlformats.org/officeDocument/2006/relationships/oleObject" Target="../embeddings/oleObject25.bin"/><Relationship Id="rId15" Type="http://schemas.openxmlformats.org/officeDocument/2006/relationships/image" Target="../media/image29.wmf"/><Relationship Id="rId23" Type="http://schemas.openxmlformats.org/officeDocument/2006/relationships/image" Target="../media/image33.w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31.wmf"/><Relationship Id="rId4" Type="http://schemas.openxmlformats.org/officeDocument/2006/relationships/image" Target="../media/image24.wmf"/><Relationship Id="rId9" Type="http://schemas.openxmlformats.org/officeDocument/2006/relationships/image" Target="../media/image26.w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42.bin"/><Relationship Id="rId26" Type="http://schemas.openxmlformats.org/officeDocument/2006/relationships/oleObject" Target="../embeddings/oleObject46.bin"/><Relationship Id="rId3" Type="http://schemas.openxmlformats.org/officeDocument/2006/relationships/oleObject" Target="../embeddings/oleObject35.bin"/><Relationship Id="rId21" Type="http://schemas.openxmlformats.org/officeDocument/2006/relationships/image" Target="../media/image44.wmf"/><Relationship Id="rId7" Type="http://schemas.openxmlformats.org/officeDocument/2006/relationships/oleObject" Target="../embeddings/oleObject37.bin"/><Relationship Id="rId12" Type="http://schemas.openxmlformats.org/officeDocument/2006/relationships/oleObject" Target="../embeddings/oleObject39.bin"/><Relationship Id="rId17" Type="http://schemas.openxmlformats.org/officeDocument/2006/relationships/image" Target="../media/image42.wmf"/><Relationship Id="rId25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1.bin"/><Relationship Id="rId20" Type="http://schemas.openxmlformats.org/officeDocument/2006/relationships/oleObject" Target="../embeddings/oleObject43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37.wmf"/><Relationship Id="rId11" Type="http://schemas.openxmlformats.org/officeDocument/2006/relationships/image" Target="../media/image39.wmf"/><Relationship Id="rId24" Type="http://schemas.openxmlformats.org/officeDocument/2006/relationships/oleObject" Target="../embeddings/oleObject45.bin"/><Relationship Id="rId5" Type="http://schemas.openxmlformats.org/officeDocument/2006/relationships/oleObject" Target="../embeddings/oleObject36.bin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38.bin"/><Relationship Id="rId19" Type="http://schemas.openxmlformats.org/officeDocument/2006/relationships/image" Target="../media/image43.wmf"/><Relationship Id="rId4" Type="http://schemas.openxmlformats.org/officeDocument/2006/relationships/image" Target="../media/image36.wmf"/><Relationship Id="rId9" Type="http://schemas.openxmlformats.org/officeDocument/2006/relationships/image" Target="../media/image48.png"/><Relationship Id="rId14" Type="http://schemas.openxmlformats.org/officeDocument/2006/relationships/oleObject" Target="../embeddings/oleObject40.bin"/><Relationship Id="rId22" Type="http://schemas.openxmlformats.org/officeDocument/2006/relationships/oleObject" Target="../embeddings/oleObject44.bin"/><Relationship Id="rId27" Type="http://schemas.openxmlformats.org/officeDocument/2006/relationships/image" Target="../media/image47.wmf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2.bin"/><Relationship Id="rId18" Type="http://schemas.openxmlformats.org/officeDocument/2006/relationships/image" Target="../media/image56.wmf"/><Relationship Id="rId26" Type="http://schemas.openxmlformats.org/officeDocument/2006/relationships/image" Target="../media/image60.wmf"/><Relationship Id="rId39" Type="http://schemas.openxmlformats.org/officeDocument/2006/relationships/oleObject" Target="../embeddings/oleObject65.bin"/><Relationship Id="rId21" Type="http://schemas.openxmlformats.org/officeDocument/2006/relationships/oleObject" Target="../embeddings/oleObject56.bin"/><Relationship Id="rId34" Type="http://schemas.openxmlformats.org/officeDocument/2006/relationships/image" Target="../media/image64.wmf"/><Relationship Id="rId7" Type="http://schemas.openxmlformats.org/officeDocument/2006/relationships/oleObject" Target="../embeddings/oleObject49.bin"/><Relationship Id="rId12" Type="http://schemas.openxmlformats.org/officeDocument/2006/relationships/image" Target="../media/image53.wmf"/><Relationship Id="rId17" Type="http://schemas.openxmlformats.org/officeDocument/2006/relationships/oleObject" Target="../embeddings/oleObject54.bin"/><Relationship Id="rId25" Type="http://schemas.openxmlformats.org/officeDocument/2006/relationships/oleObject" Target="../embeddings/oleObject58.bin"/><Relationship Id="rId33" Type="http://schemas.openxmlformats.org/officeDocument/2006/relationships/oleObject" Target="../embeddings/oleObject62.bin"/><Relationship Id="rId38" Type="http://schemas.openxmlformats.org/officeDocument/2006/relationships/image" Target="../media/image66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55.wmf"/><Relationship Id="rId20" Type="http://schemas.openxmlformats.org/officeDocument/2006/relationships/image" Target="../media/image57.wmf"/><Relationship Id="rId29" Type="http://schemas.openxmlformats.org/officeDocument/2006/relationships/oleObject" Target="../embeddings/oleObject60.bin"/><Relationship Id="rId1" Type="http://schemas.openxmlformats.org/officeDocument/2006/relationships/vmlDrawing" Target="../drawings/vmlDrawing4.vml"/><Relationship Id="rId6" Type="http://schemas.openxmlformats.org/officeDocument/2006/relationships/image" Target="../media/image50.wmf"/><Relationship Id="rId11" Type="http://schemas.openxmlformats.org/officeDocument/2006/relationships/oleObject" Target="../embeddings/oleObject51.bin"/><Relationship Id="rId24" Type="http://schemas.openxmlformats.org/officeDocument/2006/relationships/image" Target="../media/image59.wmf"/><Relationship Id="rId32" Type="http://schemas.openxmlformats.org/officeDocument/2006/relationships/image" Target="../media/image63.wmf"/><Relationship Id="rId37" Type="http://schemas.openxmlformats.org/officeDocument/2006/relationships/oleObject" Target="../embeddings/oleObject64.bin"/><Relationship Id="rId40" Type="http://schemas.openxmlformats.org/officeDocument/2006/relationships/image" Target="../media/image67.wmf"/><Relationship Id="rId5" Type="http://schemas.openxmlformats.org/officeDocument/2006/relationships/oleObject" Target="../embeddings/oleObject48.bin"/><Relationship Id="rId15" Type="http://schemas.openxmlformats.org/officeDocument/2006/relationships/oleObject" Target="../embeddings/oleObject53.bin"/><Relationship Id="rId23" Type="http://schemas.openxmlformats.org/officeDocument/2006/relationships/oleObject" Target="../embeddings/oleObject57.bin"/><Relationship Id="rId28" Type="http://schemas.openxmlformats.org/officeDocument/2006/relationships/image" Target="../media/image61.wmf"/><Relationship Id="rId36" Type="http://schemas.openxmlformats.org/officeDocument/2006/relationships/image" Target="../media/image65.wmf"/><Relationship Id="rId10" Type="http://schemas.openxmlformats.org/officeDocument/2006/relationships/image" Target="../media/image52.wmf"/><Relationship Id="rId19" Type="http://schemas.openxmlformats.org/officeDocument/2006/relationships/oleObject" Target="../embeddings/oleObject55.bin"/><Relationship Id="rId31" Type="http://schemas.openxmlformats.org/officeDocument/2006/relationships/oleObject" Target="../embeddings/oleObject61.bin"/><Relationship Id="rId4" Type="http://schemas.openxmlformats.org/officeDocument/2006/relationships/image" Target="../media/image49.wmf"/><Relationship Id="rId9" Type="http://schemas.openxmlformats.org/officeDocument/2006/relationships/oleObject" Target="../embeddings/oleObject50.bin"/><Relationship Id="rId14" Type="http://schemas.openxmlformats.org/officeDocument/2006/relationships/image" Target="../media/image54.wmf"/><Relationship Id="rId22" Type="http://schemas.openxmlformats.org/officeDocument/2006/relationships/image" Target="../media/image58.wmf"/><Relationship Id="rId27" Type="http://schemas.openxmlformats.org/officeDocument/2006/relationships/oleObject" Target="../embeddings/oleObject59.bin"/><Relationship Id="rId30" Type="http://schemas.openxmlformats.org/officeDocument/2006/relationships/image" Target="../media/image62.wmf"/><Relationship Id="rId35" Type="http://schemas.openxmlformats.org/officeDocument/2006/relationships/oleObject" Target="../embeddings/oleObject63.bin"/><Relationship Id="rId8" Type="http://schemas.openxmlformats.org/officeDocument/2006/relationships/image" Target="../media/image51.wmf"/><Relationship Id="rId3" Type="http://schemas.openxmlformats.org/officeDocument/2006/relationships/oleObject" Target="../embeddings/oleObject47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5.png"/><Relationship Id="rId3" Type="http://schemas.openxmlformats.org/officeDocument/2006/relationships/image" Target="../media/image73.png"/><Relationship Id="rId7" Type="http://schemas.openxmlformats.org/officeDocument/2006/relationships/image" Target="../media/image69.wmf"/><Relationship Id="rId12" Type="http://schemas.openxmlformats.org/officeDocument/2006/relationships/image" Target="../media/image7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72.wmf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5" Type="http://schemas.openxmlformats.org/officeDocument/2006/relationships/oleObject" Target="../embeddings/oleObject70.bin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0.wmf"/><Relationship Id="rId14" Type="http://schemas.openxmlformats.org/officeDocument/2006/relationships/image" Target="../media/image7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13" Type="http://schemas.openxmlformats.org/officeDocument/2006/relationships/oleObject" Target="../embeddings/oleObject76.bin"/><Relationship Id="rId18" Type="http://schemas.openxmlformats.org/officeDocument/2006/relationships/image" Target="../media/image84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81.wmf"/><Relationship Id="rId17" Type="http://schemas.openxmlformats.org/officeDocument/2006/relationships/oleObject" Target="../embeddings/oleObject78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83.wmf"/><Relationship Id="rId20" Type="http://schemas.openxmlformats.org/officeDocument/2006/relationships/image" Target="../media/image85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5" Type="http://schemas.openxmlformats.org/officeDocument/2006/relationships/oleObject" Target="../embeddings/oleObject77.bin"/><Relationship Id="rId10" Type="http://schemas.openxmlformats.org/officeDocument/2006/relationships/image" Target="../media/image80.wmf"/><Relationship Id="rId19" Type="http://schemas.openxmlformats.org/officeDocument/2006/relationships/oleObject" Target="../embeddings/oleObject79.bin"/><Relationship Id="rId4" Type="http://schemas.openxmlformats.org/officeDocument/2006/relationships/image" Target="../media/image77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53289" y="75052"/>
            <a:ext cx="438515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/>
              <a:t>开普勒轨道</a:t>
            </a:r>
          </a:p>
          <a:p>
            <a:r>
              <a:rPr lang="zh-CN" altLang="en-US" sz="1600" dirty="0">
                <a:solidFill>
                  <a:srgbClr val="FF0000"/>
                </a:solidFill>
              </a:rPr>
              <a:t>椭圆定律：</a:t>
            </a:r>
            <a:r>
              <a:rPr lang="zh-CN" altLang="en-US" sz="1600" dirty="0"/>
              <a:t>航天器绕地球运动的轨道为一</a:t>
            </a:r>
            <a:r>
              <a:rPr lang="zh-CN" altLang="en-US" sz="1600" dirty="0">
                <a:solidFill>
                  <a:srgbClr val="FF0000"/>
                </a:solidFill>
              </a:rPr>
              <a:t>椭圆</a:t>
            </a:r>
            <a:r>
              <a:rPr lang="zh-CN" altLang="en-US" sz="1600" dirty="0"/>
              <a:t>，地球位于椭圆的一个焦点上。</a:t>
            </a:r>
            <a:r>
              <a:rPr lang="zh-CN" altLang="en-US" sz="1600" dirty="0">
                <a:solidFill>
                  <a:srgbClr val="FF0000"/>
                </a:solidFill>
              </a:rPr>
              <a:t>面积定律：</a:t>
            </a:r>
            <a:r>
              <a:rPr lang="zh-CN" altLang="en-US" sz="1600" dirty="0"/>
              <a:t>航天器与地球中心的连线在相同的时间内扫过的面积相等。</a:t>
            </a:r>
            <a:r>
              <a:rPr lang="zh-CN" altLang="en-US" sz="1600" dirty="0">
                <a:solidFill>
                  <a:srgbClr val="FF0000"/>
                </a:solidFill>
              </a:rPr>
              <a:t>谐和定律：</a:t>
            </a:r>
            <a:r>
              <a:rPr lang="zh-CN" altLang="en-US" sz="1600" dirty="0"/>
              <a:t>航天器轨道半长轴的三次方同轨道周期的平方成正比。        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80824" y="1772316"/>
            <a:ext cx="4233576" cy="661390"/>
            <a:chOff x="827089" y="4581524"/>
            <a:chExt cx="7443597" cy="1006767"/>
          </a:xfrm>
        </p:grpSpPr>
        <p:sp>
          <p:nvSpPr>
            <p:cNvPr id="7" name="Rectangle 29"/>
            <p:cNvSpPr>
              <a:spLocks noChangeArrowheads="1"/>
            </p:cNvSpPr>
            <p:nvPr/>
          </p:nvSpPr>
          <p:spPr bwMode="auto">
            <a:xfrm>
              <a:off x="6064621" y="4640996"/>
              <a:ext cx="2151039" cy="456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chemeClr val="accent2"/>
                  </a:solidFill>
                </a:rPr>
                <a:t>万有引力常数</a:t>
              </a:r>
              <a:endParaRPr lang="zh-CN" altLang="en-US" sz="1350" dirty="0"/>
            </a:p>
          </p:txBody>
        </p:sp>
        <p:graphicFrame>
          <p:nvGraphicFramePr>
            <p:cNvPr id="8" name="Object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06442981"/>
                </p:ext>
              </p:extLst>
            </p:nvPr>
          </p:nvGraphicFramePr>
          <p:xfrm>
            <a:off x="2628223" y="4581524"/>
            <a:ext cx="3124200" cy="4048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6" name="公式" r:id="rId3" imgW="3124080" imgH="406080" progId="Equation.3">
                    <p:embed/>
                  </p:oleObj>
                </mc:Choice>
                <mc:Fallback>
                  <p:oleObj name="公式" r:id="rId3" imgW="3124080" imgH="4060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28223" y="4581524"/>
                          <a:ext cx="3124200" cy="4048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11316043"/>
                </p:ext>
              </p:extLst>
            </p:nvPr>
          </p:nvGraphicFramePr>
          <p:xfrm>
            <a:off x="827089" y="4581524"/>
            <a:ext cx="1693983" cy="917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7" name="Equation" r:id="rId5" imgW="774360" imgH="419040" progId="Equation.DSMT4">
                    <p:embed/>
                  </p:oleObj>
                </mc:Choice>
                <mc:Fallback>
                  <p:oleObj name="Equation" r:id="rId5" imgW="774360" imgH="419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27089" y="4581524"/>
                          <a:ext cx="1693983" cy="917574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02734928"/>
                </p:ext>
              </p:extLst>
            </p:nvPr>
          </p:nvGraphicFramePr>
          <p:xfrm>
            <a:off x="2610225" y="5138954"/>
            <a:ext cx="3454399" cy="419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08" name="公式" r:id="rId7" imgW="3454200" imgH="419040" progId="Equation.3">
                    <p:embed/>
                  </p:oleObj>
                </mc:Choice>
                <mc:Fallback>
                  <p:oleObj name="公式" r:id="rId7" imgW="3454200" imgH="4190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0225" y="5138954"/>
                          <a:ext cx="3454399" cy="419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38"/>
            <p:cNvSpPr>
              <a:spLocks noChangeArrowheads="1"/>
            </p:cNvSpPr>
            <p:nvPr/>
          </p:nvSpPr>
          <p:spPr bwMode="auto">
            <a:xfrm>
              <a:off x="6119647" y="5131507"/>
              <a:ext cx="2151039" cy="45678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350" dirty="0">
                  <a:solidFill>
                    <a:schemeClr val="accent2"/>
                  </a:solidFill>
                </a:rPr>
                <a:t>地心引力常数</a:t>
              </a:r>
              <a:endParaRPr lang="zh-CN" altLang="en-US" sz="1350" dirty="0"/>
            </a:p>
          </p:txBody>
        </p:sp>
      </p:grpSp>
      <p:graphicFrame>
        <p:nvGraphicFramePr>
          <p:cNvPr id="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9210887"/>
              </p:ext>
            </p:extLst>
          </p:nvPr>
        </p:nvGraphicFramePr>
        <p:xfrm>
          <a:off x="1980130" y="2868154"/>
          <a:ext cx="2206248" cy="554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9" name="公式" r:id="rId9" imgW="1841400" imgH="723600" progId="Equation.3">
                  <p:embed/>
                </p:oleObj>
              </mc:Choice>
              <mc:Fallback>
                <p:oleObj name="公式" r:id="rId9" imgW="1841400" imgH="723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0130" y="2868154"/>
                        <a:ext cx="2206248" cy="5545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8267195"/>
              </p:ext>
            </p:extLst>
          </p:nvPr>
        </p:nvGraphicFramePr>
        <p:xfrm>
          <a:off x="2057151" y="3245325"/>
          <a:ext cx="1279718" cy="549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0" name="Equation" r:id="rId11" imgW="1371600" imgH="723600" progId="Equation.DSMT4">
                  <p:embed/>
                </p:oleObj>
              </mc:Choice>
              <mc:Fallback>
                <p:oleObj name="Equation" r:id="rId11" imgW="1371600" imgH="723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151" y="3245325"/>
                        <a:ext cx="1279718" cy="54958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6"/>
          <p:cNvSpPr>
            <a:spLocks noChangeArrowheads="1"/>
          </p:cNvSpPr>
          <p:nvPr/>
        </p:nvSpPr>
        <p:spPr bwMode="auto">
          <a:xfrm>
            <a:off x="1" y="4753731"/>
            <a:ext cx="576381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1400" dirty="0"/>
              <a:t>物理意义：航天器单位质量的</a:t>
            </a:r>
            <a:r>
              <a:rPr lang="zh-CN" altLang="en-US" sz="1400" dirty="0">
                <a:solidFill>
                  <a:schemeClr val="accent2"/>
                </a:solidFill>
              </a:rPr>
              <a:t>机械能守恒</a:t>
            </a:r>
            <a:r>
              <a:rPr lang="zh-CN" altLang="en-US" sz="1400" dirty="0"/>
              <a:t>。</a:t>
            </a:r>
          </a:p>
        </p:txBody>
      </p:sp>
      <p:grpSp>
        <p:nvGrpSpPr>
          <p:cNvPr id="17" name="Group 7"/>
          <p:cNvGrpSpPr>
            <a:grpSpLocks/>
          </p:cNvGrpSpPr>
          <p:nvPr/>
        </p:nvGrpSpPr>
        <p:grpSpPr bwMode="auto">
          <a:xfrm>
            <a:off x="20320" y="2976638"/>
            <a:ext cx="2014619" cy="307395"/>
            <a:chOff x="2181" y="2596"/>
            <a:chExt cx="1507" cy="297"/>
          </a:xfrm>
        </p:grpSpPr>
        <p:graphicFrame>
          <p:nvGraphicFramePr>
            <p:cNvPr id="18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69566570"/>
                </p:ext>
              </p:extLst>
            </p:nvPr>
          </p:nvGraphicFramePr>
          <p:xfrm>
            <a:off x="3126" y="2622"/>
            <a:ext cx="56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1" name="公式" r:id="rId13" imgW="634680" imgH="253800" progId="Equation.3">
                    <p:embed/>
                  </p:oleObj>
                </mc:Choice>
                <mc:Fallback>
                  <p:oleObj name="公式" r:id="rId13" imgW="634680" imgH="2538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6" y="2622"/>
                          <a:ext cx="56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2181" y="2596"/>
              <a:ext cx="1466" cy="2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400" dirty="0"/>
                <a:t>方程两边点乘</a:t>
              </a:r>
            </a:p>
          </p:txBody>
        </p:sp>
      </p:grpSp>
      <p:grpSp>
        <p:nvGrpSpPr>
          <p:cNvPr id="20" name="Group 36"/>
          <p:cNvGrpSpPr>
            <a:grpSpLocks/>
          </p:cNvGrpSpPr>
          <p:nvPr/>
        </p:nvGrpSpPr>
        <p:grpSpPr bwMode="auto">
          <a:xfrm>
            <a:off x="70895" y="3311976"/>
            <a:ext cx="1727101" cy="330164"/>
            <a:chOff x="540" y="1794"/>
            <a:chExt cx="1322" cy="319"/>
          </a:xfrm>
        </p:grpSpPr>
        <p:graphicFrame>
          <p:nvGraphicFramePr>
            <p:cNvPr id="21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5856672"/>
                </p:ext>
              </p:extLst>
            </p:nvPr>
          </p:nvGraphicFramePr>
          <p:xfrm>
            <a:off x="902" y="1794"/>
            <a:ext cx="960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2" name="Equation" r:id="rId15" imgW="545760" imgH="164880" progId="Equation.DSMT4">
                    <p:embed/>
                  </p:oleObj>
                </mc:Choice>
                <mc:Fallback>
                  <p:oleObj name="Equation" r:id="rId15" imgW="54576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02" y="1794"/>
                          <a:ext cx="960" cy="2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Rectangle 13"/>
            <p:cNvSpPr>
              <a:spLocks noChangeArrowheads="1"/>
            </p:cNvSpPr>
            <p:nvPr/>
          </p:nvSpPr>
          <p:spPr bwMode="auto">
            <a:xfrm>
              <a:off x="540" y="1845"/>
              <a:ext cx="566" cy="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zh-CN" altLang="en-US" sz="1200" dirty="0"/>
                <a:t>利用</a:t>
              </a:r>
            </a:p>
          </p:txBody>
        </p:sp>
      </p:grpSp>
      <p:grpSp>
        <p:nvGrpSpPr>
          <p:cNvPr id="23" name="Group 14"/>
          <p:cNvGrpSpPr>
            <a:grpSpLocks/>
          </p:cNvGrpSpPr>
          <p:nvPr/>
        </p:nvGrpSpPr>
        <p:grpSpPr bwMode="auto">
          <a:xfrm>
            <a:off x="124505" y="3672154"/>
            <a:ext cx="2099855" cy="496799"/>
            <a:chOff x="618" y="2164"/>
            <a:chExt cx="1654" cy="480"/>
          </a:xfrm>
        </p:grpSpPr>
        <p:graphicFrame>
          <p:nvGraphicFramePr>
            <p:cNvPr id="2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30132113"/>
                </p:ext>
              </p:extLst>
            </p:nvPr>
          </p:nvGraphicFramePr>
          <p:xfrm>
            <a:off x="1328" y="2164"/>
            <a:ext cx="94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3" name="公式" r:id="rId17" imgW="1498320" imgH="761760" progId="Equation.3">
                    <p:embed/>
                  </p:oleObj>
                </mc:Choice>
                <mc:Fallback>
                  <p:oleObj name="公式" r:id="rId17" imgW="1498320" imgH="76176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28" y="2164"/>
                          <a:ext cx="944" cy="480"/>
                        </a:xfrm>
                        <a:prstGeom prst="rect">
                          <a:avLst/>
                        </a:prstGeom>
                        <a:solidFill>
                          <a:schemeClr val="hlink"/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  <a:extLs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Rectangle 16"/>
            <p:cNvSpPr>
              <a:spLocks noChangeArrowheads="1"/>
            </p:cNvSpPr>
            <p:nvPr/>
          </p:nvSpPr>
          <p:spPr bwMode="auto">
            <a:xfrm>
              <a:off x="618" y="2233"/>
              <a:ext cx="630" cy="268"/>
            </a:xfrm>
            <a:prstGeom prst="rect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200" dirty="0"/>
                <a:t>积分后为</a:t>
              </a:r>
            </a:p>
          </p:txBody>
        </p:sp>
      </p:grpSp>
      <p:grpSp>
        <p:nvGrpSpPr>
          <p:cNvPr id="26" name="Group 17"/>
          <p:cNvGrpSpPr>
            <a:grpSpLocks/>
          </p:cNvGrpSpPr>
          <p:nvPr/>
        </p:nvGrpSpPr>
        <p:grpSpPr bwMode="auto">
          <a:xfrm>
            <a:off x="3103164" y="3429518"/>
            <a:ext cx="1706291" cy="1493501"/>
            <a:chOff x="3840" y="45"/>
            <a:chExt cx="1344" cy="1443"/>
          </a:xfrm>
        </p:grpSpPr>
        <p:graphicFrame>
          <p:nvGraphicFramePr>
            <p:cNvPr id="27" name="Object 18"/>
            <p:cNvGraphicFramePr>
              <a:graphicFrameLocks noChangeAspect="1"/>
            </p:cNvGraphicFramePr>
            <p:nvPr/>
          </p:nvGraphicFramePr>
          <p:xfrm>
            <a:off x="3840" y="384"/>
            <a:ext cx="35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4" name="公式" r:id="rId19" imgW="355320" imgH="330120" progId="Equation.3">
                    <p:embed/>
                  </p:oleObj>
                </mc:Choice>
                <mc:Fallback>
                  <p:oleObj name="公式" r:id="rId19" imgW="355320" imgH="3301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84"/>
                          <a:ext cx="35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9"/>
            <p:cNvGraphicFramePr>
              <a:graphicFrameLocks noChangeAspect="1"/>
            </p:cNvGraphicFramePr>
            <p:nvPr/>
          </p:nvGraphicFramePr>
          <p:xfrm>
            <a:off x="4944" y="576"/>
            <a:ext cx="177" cy="2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5" name="公式" r:id="rId21" imgW="177480" imgH="241200" progId="Equation.3">
                    <p:embed/>
                  </p:oleObj>
                </mc:Choice>
                <mc:Fallback>
                  <p:oleObj name="公式" r:id="rId21" imgW="177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576"/>
                          <a:ext cx="177" cy="2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9" name="Group 20"/>
            <p:cNvGrpSpPr>
              <a:grpSpLocks/>
            </p:cNvGrpSpPr>
            <p:nvPr/>
          </p:nvGrpSpPr>
          <p:grpSpPr bwMode="auto">
            <a:xfrm>
              <a:off x="3936" y="336"/>
              <a:ext cx="1248" cy="1152"/>
              <a:chOff x="4128" y="2160"/>
              <a:chExt cx="1248" cy="1152"/>
            </a:xfrm>
          </p:grpSpPr>
          <p:sp>
            <p:nvSpPr>
              <p:cNvPr id="31" name="Line 21"/>
              <p:cNvSpPr>
                <a:spLocks noChangeShapeType="1"/>
              </p:cNvSpPr>
              <p:nvPr/>
            </p:nvSpPr>
            <p:spPr bwMode="auto">
              <a:xfrm flipH="1" flipV="1">
                <a:off x="4656" y="2160"/>
                <a:ext cx="144" cy="672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2" name="Line 22"/>
              <p:cNvSpPr>
                <a:spLocks noChangeShapeType="1"/>
              </p:cNvSpPr>
              <p:nvPr/>
            </p:nvSpPr>
            <p:spPr bwMode="auto">
              <a:xfrm flipV="1">
                <a:off x="4128" y="2784"/>
                <a:ext cx="720" cy="528"/>
              </a:xfrm>
              <a:prstGeom prst="line">
                <a:avLst/>
              </a:prstGeom>
              <a:noFill/>
              <a:ln w="28575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3" name="Line 23"/>
              <p:cNvSpPr>
                <a:spLocks noChangeShapeType="1"/>
              </p:cNvSpPr>
              <p:nvPr/>
            </p:nvSpPr>
            <p:spPr bwMode="auto">
              <a:xfrm flipV="1">
                <a:off x="4848" y="2592"/>
                <a:ext cx="288" cy="19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4" name="Line 24"/>
              <p:cNvSpPr>
                <a:spLocks noChangeShapeType="1"/>
              </p:cNvSpPr>
              <p:nvPr/>
            </p:nvSpPr>
            <p:spPr bwMode="auto">
              <a:xfrm flipH="1" flipV="1">
                <a:off x="4416" y="2352"/>
                <a:ext cx="384" cy="432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5" name="Line 25"/>
              <p:cNvSpPr>
                <a:spLocks noChangeShapeType="1"/>
              </p:cNvSpPr>
              <p:nvPr/>
            </p:nvSpPr>
            <p:spPr bwMode="auto">
              <a:xfrm>
                <a:off x="4128" y="3312"/>
                <a:ext cx="1248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6" name="Line 26"/>
              <p:cNvSpPr>
                <a:spLocks noChangeShapeType="1"/>
              </p:cNvSpPr>
              <p:nvPr/>
            </p:nvSpPr>
            <p:spPr bwMode="auto">
              <a:xfrm flipH="1" flipV="1">
                <a:off x="4416" y="3120"/>
                <a:ext cx="96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37" name="Text Box 27"/>
              <p:cNvSpPr txBox="1">
                <a:spLocks noChangeArrowheads="1"/>
              </p:cNvSpPr>
              <p:nvPr/>
            </p:nvSpPr>
            <p:spPr bwMode="auto">
              <a:xfrm>
                <a:off x="4344" y="2707"/>
                <a:ext cx="229" cy="4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CN" sz="2400" i="1"/>
                  <a:t>r</a:t>
                </a:r>
                <a:endParaRPr lang="en-US" altLang="zh-CN" sz="2400"/>
              </a:p>
            </p:txBody>
          </p:sp>
          <p:graphicFrame>
            <p:nvGraphicFramePr>
              <p:cNvPr id="38" name="Object 28"/>
              <p:cNvGraphicFramePr>
                <a:graphicFrameLocks noChangeAspect="1"/>
              </p:cNvGraphicFramePr>
              <p:nvPr/>
            </p:nvGraphicFramePr>
            <p:xfrm>
              <a:off x="4512" y="3088"/>
              <a:ext cx="127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6" name="公式" r:id="rId23" imgW="203040" imgH="279360" progId="Equation.3">
                      <p:embed/>
                    </p:oleObj>
                  </mc:Choice>
                  <mc:Fallback>
                    <p:oleObj name="公式" r:id="rId23" imgW="20304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512" y="3088"/>
                            <a:ext cx="127" cy="1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9" name="Line 29"/>
              <p:cNvSpPr>
                <a:spLocks noChangeShapeType="1"/>
              </p:cNvSpPr>
              <p:nvPr/>
            </p:nvSpPr>
            <p:spPr bwMode="auto">
              <a:xfrm flipV="1">
                <a:off x="4416" y="2160"/>
                <a:ext cx="24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0" name="Line 30"/>
              <p:cNvSpPr>
                <a:spLocks noChangeShapeType="1"/>
              </p:cNvSpPr>
              <p:nvPr/>
            </p:nvSpPr>
            <p:spPr bwMode="auto">
              <a:xfrm flipH="1" flipV="1">
                <a:off x="4704" y="2160"/>
                <a:ext cx="384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</p:grpSp>
        <p:graphicFrame>
          <p:nvGraphicFramePr>
            <p:cNvPr id="30" name="Object 31"/>
            <p:cNvGraphicFramePr>
              <a:graphicFrameLocks noChangeAspect="1"/>
            </p:cNvGraphicFramePr>
            <p:nvPr/>
          </p:nvGraphicFramePr>
          <p:xfrm>
            <a:off x="4416" y="45"/>
            <a:ext cx="179" cy="2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7" name="公式" r:id="rId25" imgW="177480" imgH="241200" progId="Equation.3">
                    <p:embed/>
                  </p:oleObj>
                </mc:Choice>
                <mc:Fallback>
                  <p:oleObj name="公式" r:id="rId25" imgW="177480" imgH="2412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45"/>
                          <a:ext cx="179" cy="2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1" name="Text Box 32"/>
          <p:cNvSpPr txBox="1">
            <a:spLocks noChangeArrowheads="1"/>
          </p:cNvSpPr>
          <p:nvPr/>
        </p:nvSpPr>
        <p:spPr bwMode="auto">
          <a:xfrm>
            <a:off x="824287" y="4478419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/>
              <a:t>动能</a:t>
            </a:r>
          </a:p>
        </p:txBody>
      </p:sp>
      <p:sp>
        <p:nvSpPr>
          <p:cNvPr id="42" name="Text Box 33"/>
          <p:cNvSpPr txBox="1">
            <a:spLocks noChangeArrowheads="1"/>
          </p:cNvSpPr>
          <p:nvPr/>
        </p:nvSpPr>
        <p:spPr bwMode="auto">
          <a:xfrm>
            <a:off x="1377012" y="4508713"/>
            <a:ext cx="543739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sz="1400" dirty="0"/>
              <a:t>势能</a:t>
            </a:r>
          </a:p>
        </p:txBody>
      </p:sp>
      <p:sp>
        <p:nvSpPr>
          <p:cNvPr id="43" name="AutoShape 34"/>
          <p:cNvSpPr>
            <a:spLocks noChangeArrowheads="1"/>
          </p:cNvSpPr>
          <p:nvPr/>
        </p:nvSpPr>
        <p:spPr bwMode="auto">
          <a:xfrm>
            <a:off x="1068191" y="4238713"/>
            <a:ext cx="60939" cy="198719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1350"/>
          </a:p>
        </p:txBody>
      </p:sp>
      <p:sp>
        <p:nvSpPr>
          <p:cNvPr id="44" name="AutoShape 35"/>
          <p:cNvSpPr>
            <a:spLocks noChangeArrowheads="1"/>
          </p:cNvSpPr>
          <p:nvPr/>
        </p:nvSpPr>
        <p:spPr bwMode="auto">
          <a:xfrm>
            <a:off x="1550336" y="4245547"/>
            <a:ext cx="60939" cy="198719"/>
          </a:xfrm>
          <a:prstGeom prst="downArrow">
            <a:avLst>
              <a:gd name="adj1" fmla="val 50000"/>
              <a:gd name="adj2" fmla="val 10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endParaRPr lang="zh-CN" altLang="en-US" sz="1350"/>
          </a:p>
        </p:txBody>
      </p:sp>
      <p:sp>
        <p:nvSpPr>
          <p:cNvPr id="46" name="矩形 45"/>
          <p:cNvSpPr/>
          <p:nvPr/>
        </p:nvSpPr>
        <p:spPr>
          <a:xfrm>
            <a:off x="99367" y="2533219"/>
            <a:ext cx="1004625" cy="3205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350" dirty="0"/>
              <a:t>能量积分</a:t>
            </a:r>
          </a:p>
        </p:txBody>
      </p:sp>
      <p:grpSp>
        <p:nvGrpSpPr>
          <p:cNvPr id="74" name="组合 73"/>
          <p:cNvGrpSpPr/>
          <p:nvPr/>
        </p:nvGrpSpPr>
        <p:grpSpPr>
          <a:xfrm>
            <a:off x="189399" y="5146661"/>
            <a:ext cx="3949728" cy="1487271"/>
            <a:chOff x="387569" y="2322516"/>
            <a:chExt cx="5253815" cy="1983027"/>
          </a:xfrm>
        </p:grpSpPr>
        <p:sp>
          <p:nvSpPr>
            <p:cNvPr id="47" name="Rectangle 3"/>
            <p:cNvSpPr>
              <a:spLocks noChangeArrowheads="1"/>
            </p:cNvSpPr>
            <p:nvPr/>
          </p:nvSpPr>
          <p:spPr bwMode="auto">
            <a:xfrm>
              <a:off x="387569" y="3905434"/>
              <a:ext cx="5253815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zh-CN" altLang="en-US" sz="1350" dirty="0"/>
                <a:t>物理意义：航天器对地球中心的</a:t>
              </a:r>
              <a:r>
                <a:rPr lang="zh-CN" altLang="en-US" sz="1350" dirty="0">
                  <a:solidFill>
                    <a:schemeClr val="accent2"/>
                  </a:solidFill>
                </a:rPr>
                <a:t>动量矩守恒</a:t>
              </a:r>
              <a:r>
                <a:rPr lang="zh-CN" altLang="en-US" sz="1350" dirty="0" smtClean="0"/>
                <a:t>。</a:t>
              </a:r>
              <a:endParaRPr lang="zh-CN" altLang="en-US" sz="1350" dirty="0"/>
            </a:p>
          </p:txBody>
        </p:sp>
        <p:grpSp>
          <p:nvGrpSpPr>
            <p:cNvPr id="49" name="Group 5"/>
            <p:cNvGrpSpPr>
              <a:grpSpLocks/>
            </p:cNvGrpSpPr>
            <p:nvPr/>
          </p:nvGrpSpPr>
          <p:grpSpPr bwMode="auto">
            <a:xfrm>
              <a:off x="595313" y="2322516"/>
              <a:ext cx="3603626" cy="415926"/>
              <a:chOff x="375" y="1463"/>
              <a:chExt cx="2270" cy="262"/>
            </a:xfrm>
          </p:grpSpPr>
          <p:sp>
            <p:nvSpPr>
              <p:cNvPr id="50" name="Rectangle 6"/>
              <p:cNvSpPr>
                <a:spLocks noChangeArrowheads="1"/>
              </p:cNvSpPr>
              <p:nvPr/>
            </p:nvSpPr>
            <p:spPr bwMode="auto">
              <a:xfrm>
                <a:off x="375" y="1467"/>
                <a:ext cx="1271" cy="25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400" dirty="0"/>
                  <a:t>方程两边叉乘 </a:t>
                </a:r>
                <a:r>
                  <a:rPr lang="en-US" altLang="zh-CN" sz="1400" i="1" dirty="0"/>
                  <a:t>r</a:t>
                </a:r>
                <a:r>
                  <a:rPr lang="zh-CN" altLang="en-US" sz="1200" dirty="0"/>
                  <a:t>：</a:t>
                </a:r>
              </a:p>
            </p:txBody>
          </p:sp>
          <p:graphicFrame>
            <p:nvGraphicFramePr>
              <p:cNvPr id="51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64426106"/>
                  </p:ext>
                </p:extLst>
              </p:nvPr>
            </p:nvGraphicFramePr>
            <p:xfrm>
              <a:off x="1544" y="1463"/>
              <a:ext cx="1101" cy="2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18" name="公式" r:id="rId27" imgW="698400" imgH="164880" progId="Equation.3">
                      <p:embed/>
                    </p:oleObj>
                  </mc:Choice>
                  <mc:Fallback>
                    <p:oleObj name="公式" r:id="rId27" imgW="698400" imgH="1648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8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44" y="1463"/>
                            <a:ext cx="1101" cy="2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2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2872277"/>
                </p:ext>
              </p:extLst>
            </p:nvPr>
          </p:nvGraphicFramePr>
          <p:xfrm>
            <a:off x="875079" y="3340407"/>
            <a:ext cx="3827731" cy="5266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19" name="Equation" r:id="rId29" imgW="3327120" imgH="457200" progId="Equation.DSMT4">
                    <p:embed/>
                  </p:oleObj>
                </mc:Choice>
                <mc:Fallback>
                  <p:oleObj name="Equation" r:id="rId29" imgW="332712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75079" y="3340407"/>
                          <a:ext cx="3827731" cy="5266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3" name="Group 9"/>
            <p:cNvGrpSpPr>
              <a:grpSpLocks/>
            </p:cNvGrpSpPr>
            <p:nvPr/>
          </p:nvGrpSpPr>
          <p:grpSpPr bwMode="auto">
            <a:xfrm>
              <a:off x="768350" y="2901945"/>
              <a:ext cx="2203450" cy="400049"/>
              <a:chOff x="484" y="1919"/>
              <a:chExt cx="1388" cy="252"/>
            </a:xfrm>
          </p:grpSpPr>
          <p:graphicFrame>
            <p:nvGraphicFramePr>
              <p:cNvPr id="5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63402879"/>
                  </p:ext>
                </p:extLst>
              </p:nvPr>
            </p:nvGraphicFramePr>
            <p:xfrm>
              <a:off x="1216" y="1927"/>
              <a:ext cx="656" cy="1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0" name="公式" r:id="rId31" imgW="1041120" imgH="279360" progId="Equation.3">
                      <p:embed/>
                    </p:oleObj>
                  </mc:Choice>
                  <mc:Fallback>
                    <p:oleObj name="公式" r:id="rId31" imgW="1041120" imgH="27936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16" y="1927"/>
                            <a:ext cx="656" cy="176"/>
                          </a:xfrm>
                          <a:prstGeom prst="rect">
                            <a:avLst/>
                          </a:prstGeom>
                          <a:solidFill>
                            <a:srgbClr val="FFFF66"/>
                          </a:solidFill>
                          <a:ln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:ln>
                          <a:effectLst/>
                          <a:extLs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55" name="Rectangle 11"/>
              <p:cNvSpPr>
                <a:spLocks noChangeArrowheads="1"/>
              </p:cNvSpPr>
              <p:nvPr/>
            </p:nvSpPr>
            <p:spPr bwMode="auto">
              <a:xfrm>
                <a:off x="484" y="1919"/>
                <a:ext cx="737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1350" dirty="0"/>
                  <a:t>积分后为</a:t>
                </a:r>
              </a:p>
            </p:txBody>
          </p:sp>
        </p:grpSp>
      </p:grpSp>
      <p:sp>
        <p:nvSpPr>
          <p:cNvPr id="75" name="矩形 74"/>
          <p:cNvSpPr/>
          <p:nvPr/>
        </p:nvSpPr>
        <p:spPr>
          <a:xfrm>
            <a:off x="3103164" y="5447179"/>
            <a:ext cx="1373746" cy="289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350" dirty="0"/>
              <a:t>动量矩积分</a:t>
            </a:r>
          </a:p>
        </p:txBody>
      </p:sp>
      <p:grpSp>
        <p:nvGrpSpPr>
          <p:cNvPr id="101" name="组合 100"/>
          <p:cNvGrpSpPr/>
          <p:nvPr/>
        </p:nvGrpSpPr>
        <p:grpSpPr>
          <a:xfrm>
            <a:off x="4329174" y="632172"/>
            <a:ext cx="4688507" cy="1863354"/>
            <a:chOff x="381000" y="1892753"/>
            <a:chExt cx="6251343" cy="2484471"/>
          </a:xfrm>
        </p:grpSpPr>
        <p:graphicFrame>
          <p:nvGraphicFramePr>
            <p:cNvPr id="89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23152403"/>
                </p:ext>
              </p:extLst>
            </p:nvPr>
          </p:nvGraphicFramePr>
          <p:xfrm>
            <a:off x="3058433" y="1892753"/>
            <a:ext cx="3573910" cy="7001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1" name="Equation" r:id="rId33" imgW="2006280" imgH="393480" progId="Equation.DSMT4">
                    <p:embed/>
                  </p:oleObj>
                </mc:Choice>
                <mc:Fallback>
                  <p:oleObj name="Equation" r:id="rId33" imgW="2006280" imgH="3934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8433" y="1892753"/>
                          <a:ext cx="3573910" cy="7001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9005399"/>
                </p:ext>
              </p:extLst>
            </p:nvPr>
          </p:nvGraphicFramePr>
          <p:xfrm>
            <a:off x="506665" y="2916243"/>
            <a:ext cx="3973260" cy="809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2" name="Equation" r:id="rId35" imgW="3543120" imgH="723600" progId="Equation.DSMT4">
                    <p:embed/>
                  </p:oleObj>
                </mc:Choice>
                <mc:Fallback>
                  <p:oleObj name="Equation" r:id="rId35" imgW="3543120" imgH="723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6665" y="2916243"/>
                          <a:ext cx="3973260" cy="8098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1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9624484"/>
                </p:ext>
              </p:extLst>
            </p:nvPr>
          </p:nvGraphicFramePr>
          <p:xfrm>
            <a:off x="3703628" y="3610374"/>
            <a:ext cx="2912480" cy="7668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3" name="公式" r:id="rId37" imgW="2743200" imgH="723600" progId="Equation.3">
                    <p:embed/>
                  </p:oleObj>
                </mc:Choice>
                <mc:Fallback>
                  <p:oleObj name="公式" r:id="rId37" imgW="2743200" imgH="7236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03628" y="3610374"/>
                          <a:ext cx="2912480" cy="7668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" name="Group 25"/>
            <p:cNvGrpSpPr>
              <a:grpSpLocks/>
            </p:cNvGrpSpPr>
            <p:nvPr/>
          </p:nvGrpSpPr>
          <p:grpSpPr bwMode="auto">
            <a:xfrm>
              <a:off x="381000" y="1987552"/>
              <a:ext cx="2379382" cy="458788"/>
              <a:chOff x="352" y="827"/>
              <a:chExt cx="1456" cy="289"/>
            </a:xfrm>
          </p:grpSpPr>
          <p:sp>
            <p:nvSpPr>
              <p:cNvPr id="93" name="Rectangle 9"/>
              <p:cNvSpPr>
                <a:spLocks noChangeArrowheads="1"/>
              </p:cNvSpPr>
              <p:nvPr/>
            </p:nvSpPr>
            <p:spPr bwMode="auto">
              <a:xfrm>
                <a:off x="352" y="864"/>
                <a:ext cx="1016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350" dirty="0"/>
                  <a:t>两边叉乘</a:t>
                </a:r>
              </a:p>
            </p:txBody>
          </p:sp>
          <p:graphicFrame>
            <p:nvGraphicFramePr>
              <p:cNvPr id="94" name="Object 1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48193996"/>
                  </p:ext>
                </p:extLst>
              </p:nvPr>
            </p:nvGraphicFramePr>
            <p:xfrm>
              <a:off x="1057" y="827"/>
              <a:ext cx="751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4" name="Equation" r:id="rId39" imgW="545760" imgH="177480" progId="Equation.DSMT4">
                      <p:embed/>
                    </p:oleObj>
                  </mc:Choice>
                  <mc:Fallback>
                    <p:oleObj name="Equation" r:id="rId39" imgW="545760" imgH="1774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57" y="827"/>
                            <a:ext cx="751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5" name="Group 14"/>
            <p:cNvGrpSpPr>
              <a:grpSpLocks/>
            </p:cNvGrpSpPr>
            <p:nvPr/>
          </p:nvGrpSpPr>
          <p:grpSpPr bwMode="auto">
            <a:xfrm>
              <a:off x="403225" y="2501896"/>
              <a:ext cx="4076700" cy="400050"/>
              <a:chOff x="590" y="1452"/>
              <a:chExt cx="2568" cy="252"/>
            </a:xfrm>
          </p:grpSpPr>
          <p:graphicFrame>
            <p:nvGraphicFramePr>
              <p:cNvPr id="96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932379399"/>
                  </p:ext>
                </p:extLst>
              </p:nvPr>
            </p:nvGraphicFramePr>
            <p:xfrm>
              <a:off x="1022" y="1463"/>
              <a:ext cx="2136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5" name="公式" r:id="rId41" imgW="3390840" imgH="342720" progId="Equation.3">
                      <p:embed/>
                    </p:oleObj>
                  </mc:Choice>
                  <mc:Fallback>
                    <p:oleObj name="公式" r:id="rId41" imgW="3390840" imgH="34272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022" y="1463"/>
                            <a:ext cx="2136" cy="2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97" name="Text Box 16"/>
              <p:cNvSpPr txBox="1">
                <a:spLocks noChangeArrowheads="1"/>
              </p:cNvSpPr>
              <p:nvPr/>
            </p:nvSpPr>
            <p:spPr bwMode="auto">
              <a:xfrm>
                <a:off x="590" y="1452"/>
                <a:ext cx="682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66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r>
                  <a:rPr lang="zh-CN" altLang="en-US" sz="1350" dirty="0"/>
                  <a:t>利用</a:t>
                </a:r>
              </a:p>
            </p:txBody>
          </p:sp>
        </p:grpSp>
        <p:grpSp>
          <p:nvGrpSpPr>
            <p:cNvPr id="98" name="Group 26"/>
            <p:cNvGrpSpPr>
              <a:grpSpLocks/>
            </p:cNvGrpSpPr>
            <p:nvPr/>
          </p:nvGrpSpPr>
          <p:grpSpPr bwMode="auto">
            <a:xfrm>
              <a:off x="1157813" y="3743333"/>
              <a:ext cx="2248443" cy="498476"/>
              <a:chOff x="1130" y="1363"/>
              <a:chExt cx="1337" cy="314"/>
            </a:xfrm>
          </p:grpSpPr>
          <p:graphicFrame>
            <p:nvGraphicFramePr>
              <p:cNvPr id="99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6681938"/>
                  </p:ext>
                </p:extLst>
              </p:nvPr>
            </p:nvGraphicFramePr>
            <p:xfrm>
              <a:off x="1603" y="1363"/>
              <a:ext cx="864" cy="2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326" name="Equation" r:id="rId43" imgW="545760" imgH="164880" progId="Equation.DSMT4">
                      <p:embed/>
                    </p:oleObj>
                  </mc:Choice>
                  <mc:Fallback>
                    <p:oleObj name="Equation" r:id="rId43" imgW="54576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03" y="1363"/>
                            <a:ext cx="864" cy="2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00" name="Rectangle 28"/>
              <p:cNvSpPr>
                <a:spLocks noChangeArrowheads="1"/>
              </p:cNvSpPr>
              <p:nvPr/>
            </p:nvSpPr>
            <p:spPr bwMode="auto">
              <a:xfrm>
                <a:off x="1130" y="1425"/>
                <a:ext cx="633" cy="2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1350" dirty="0"/>
                  <a:t>利用</a:t>
                </a:r>
              </a:p>
            </p:txBody>
          </p:sp>
        </p:grpSp>
      </p:grpSp>
      <p:grpSp>
        <p:nvGrpSpPr>
          <p:cNvPr id="115" name="组合 114"/>
          <p:cNvGrpSpPr/>
          <p:nvPr/>
        </p:nvGrpSpPr>
        <p:grpSpPr>
          <a:xfrm>
            <a:off x="4252028" y="2356440"/>
            <a:ext cx="3844508" cy="880098"/>
            <a:chOff x="508592" y="1621162"/>
            <a:chExt cx="5126011" cy="1173464"/>
          </a:xfrm>
        </p:grpSpPr>
        <p:graphicFrame>
          <p:nvGraphicFramePr>
            <p:cNvPr id="103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1111648"/>
                </p:ext>
              </p:extLst>
            </p:nvPr>
          </p:nvGraphicFramePr>
          <p:xfrm>
            <a:off x="834829" y="2028358"/>
            <a:ext cx="2075383" cy="6917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7" name="公式" r:id="rId44" imgW="2361960" imgH="787320" progId="Equation.3">
                    <p:embed/>
                  </p:oleObj>
                </mc:Choice>
                <mc:Fallback>
                  <p:oleObj name="公式" r:id="rId44" imgW="2361960" imgH="78732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34829" y="2028358"/>
                          <a:ext cx="2075383" cy="691794"/>
                        </a:xfrm>
                        <a:prstGeom prst="rect">
                          <a:avLst/>
                        </a:prstGeom>
                        <a:solidFill>
                          <a:srgbClr val="FFFF66"/>
                        </a:solidFill>
                        <a:ln w="9525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4" name="Rectangle 5"/>
            <p:cNvSpPr>
              <a:spLocks noChangeArrowheads="1"/>
            </p:cNvSpPr>
            <p:nvPr/>
          </p:nvSpPr>
          <p:spPr bwMode="auto">
            <a:xfrm>
              <a:off x="508592" y="1621162"/>
              <a:ext cx="1169551" cy="4001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CN" altLang="en-US" sz="1350" dirty="0"/>
                <a:t>积分后为</a:t>
              </a:r>
            </a:p>
          </p:txBody>
        </p:sp>
        <p:graphicFrame>
          <p:nvGraphicFramePr>
            <p:cNvPr id="106" name="Object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1237861"/>
                </p:ext>
              </p:extLst>
            </p:nvPr>
          </p:nvGraphicFramePr>
          <p:xfrm>
            <a:off x="3226196" y="1905158"/>
            <a:ext cx="2408407" cy="8894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28" name="Equation" r:id="rId46" imgW="1206360" imgH="444240" progId="Equation.DSMT4">
                    <p:embed/>
                  </p:oleObj>
                </mc:Choice>
                <mc:Fallback>
                  <p:oleObj name="Equation" r:id="rId46" imgW="1206360" imgH="4442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26196" y="1905158"/>
                          <a:ext cx="2408407" cy="8894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6" name="矩形 115"/>
          <p:cNvSpPr/>
          <p:nvPr/>
        </p:nvSpPr>
        <p:spPr>
          <a:xfrm>
            <a:off x="4443822" y="131957"/>
            <a:ext cx="1626773" cy="41926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350" dirty="0"/>
              <a:t>拉普拉斯积分</a:t>
            </a:r>
          </a:p>
        </p:txBody>
      </p:sp>
      <p:pic>
        <p:nvPicPr>
          <p:cNvPr id="159" name="图片 158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963412" y="3448554"/>
            <a:ext cx="3472385" cy="318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49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>
                <a:effectLst/>
              </a:rPr>
              <a:t>轨道顷角 </a:t>
            </a:r>
            <a:r>
              <a:rPr lang="en-US" altLang="zh-CN" i="1" dirty="0" err="1" smtClean="0">
                <a:solidFill>
                  <a:srgbClr val="FF0000"/>
                </a:solidFill>
                <a:effectLst/>
              </a:rPr>
              <a:t>i</a:t>
            </a:r>
            <a:r>
              <a:rPr lang="en-US" altLang="zh-CN" dirty="0" smtClean="0">
                <a:solidFill>
                  <a:srgbClr val="FF0000"/>
                </a:solidFill>
                <a:effectLst/>
              </a:rPr>
              <a:t> </a:t>
            </a:r>
            <a:r>
              <a:rPr lang="zh-CN" altLang="en-US" dirty="0" smtClean="0">
                <a:solidFill>
                  <a:srgbClr val="000000"/>
                </a:solidFill>
                <a:effectLst/>
              </a:rPr>
              <a:t>和</a:t>
            </a:r>
            <a:r>
              <a:rPr lang="zh-CN" altLang="en-US" dirty="0" smtClean="0">
                <a:effectLst/>
              </a:rPr>
              <a:t>升交点赤径</a:t>
            </a:r>
            <a:r>
              <a:rPr lang="en-US" altLang="zh-CN" i="1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Ω </a:t>
            </a:r>
            <a:r>
              <a:rPr lang="zh-CN" altLang="en-US" dirty="0" smtClean="0">
                <a:effectLst/>
              </a:rPr>
              <a:t>表示了轨道平面在空间中的方位；近地点幅角</a:t>
            </a:r>
            <a:r>
              <a:rPr lang="en-US" altLang="zh-CN" i="1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ω</a:t>
            </a:r>
            <a:r>
              <a:rPr lang="zh-CN" altLang="en-US" dirty="0" smtClean="0">
                <a:effectLst/>
              </a:rPr>
              <a:t>表示了轨道的长轴方向；半通经 </a:t>
            </a:r>
            <a:r>
              <a:rPr lang="en-US" altLang="zh-CN" i="1" dirty="0" smtClean="0">
                <a:solidFill>
                  <a:srgbClr val="FF0000"/>
                </a:solidFill>
                <a:effectLst/>
              </a:rPr>
              <a:t>p</a:t>
            </a:r>
            <a:r>
              <a:rPr lang="en-US" altLang="zh-CN" dirty="0" smtClean="0">
                <a:solidFill>
                  <a:srgbClr val="FF0000"/>
                </a:solidFill>
                <a:effectLst/>
              </a:rPr>
              <a:t> </a:t>
            </a:r>
            <a:r>
              <a:rPr lang="zh-CN" altLang="en-US" dirty="0" smtClean="0">
                <a:effectLst/>
              </a:rPr>
              <a:t>和偏心率 </a:t>
            </a:r>
            <a:r>
              <a:rPr lang="en-US" altLang="zh-CN" i="1" dirty="0" smtClean="0">
                <a:solidFill>
                  <a:srgbClr val="FF0000"/>
                </a:solidFill>
                <a:effectLst/>
              </a:rPr>
              <a:t>e</a:t>
            </a:r>
            <a:r>
              <a:rPr lang="en-US" altLang="zh-CN" dirty="0" smtClean="0">
                <a:solidFill>
                  <a:srgbClr val="FF0000"/>
                </a:solidFill>
                <a:effectLst/>
              </a:rPr>
              <a:t> </a:t>
            </a:r>
            <a:r>
              <a:rPr lang="zh-CN" altLang="en-US" dirty="0" smtClean="0">
                <a:effectLst/>
              </a:rPr>
              <a:t>表示了椭圆轨道的大小及形状；过近地点时刻</a:t>
            </a:r>
            <a:r>
              <a:rPr lang="en-US" altLang="zh-CN" i="1" dirty="0" smtClean="0">
                <a:solidFill>
                  <a:srgbClr val="FF0000"/>
                </a:solidFill>
                <a:effectLst/>
                <a:latin typeface="宋体" panose="02010600030101010101" pitchFamily="2" charset="-122"/>
              </a:rPr>
              <a:t>τ </a:t>
            </a:r>
            <a:r>
              <a:rPr lang="zh-CN" altLang="en-US" dirty="0" smtClean="0">
                <a:effectLst/>
              </a:rPr>
              <a:t>表示了航天器在轨道中的相对位置。</a:t>
            </a:r>
          </a:p>
          <a:p>
            <a:endParaRPr lang="zh-CN" altLang="en-US" dirty="0">
              <a:effectLst/>
            </a:endParaRPr>
          </a:p>
        </p:txBody>
      </p:sp>
      <p:graphicFrame>
        <p:nvGraphicFramePr>
          <p:cNvPr id="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51188929"/>
              </p:ext>
            </p:extLst>
          </p:nvPr>
        </p:nvGraphicFramePr>
        <p:xfrm>
          <a:off x="137616" y="964610"/>
          <a:ext cx="2005084" cy="69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0" name="Equation" r:id="rId3" imgW="1193800" imgH="419100" progId="Equation.DSMT4">
                  <p:embed/>
                </p:oleObj>
              </mc:Choice>
              <mc:Fallback>
                <p:oleObj name="Equation" r:id="rId3" imgW="11938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16" y="964610"/>
                        <a:ext cx="2005084" cy="697570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0076708"/>
              </p:ext>
            </p:extLst>
          </p:nvPr>
        </p:nvGraphicFramePr>
        <p:xfrm>
          <a:off x="2423616" y="1020611"/>
          <a:ext cx="1766248" cy="8742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1" name="Equation" r:id="rId5" imgW="888614" imgH="444307" progId="Equation.DSMT4">
                  <p:embed/>
                </p:oleObj>
              </mc:Choice>
              <mc:Fallback>
                <p:oleObj name="Equation" r:id="rId5" imgW="888614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23616" y="1020611"/>
                        <a:ext cx="1766248" cy="874259"/>
                      </a:xfrm>
                      <a:prstGeom prst="rect">
                        <a:avLst/>
                      </a:prstGeom>
                      <a:solidFill>
                        <a:srgbClr val="FFFF66"/>
                      </a:solidFill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3003" y="631354"/>
            <a:ext cx="3196587" cy="2527032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37616" y="2075879"/>
            <a:ext cx="559859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其中 </a:t>
            </a:r>
            <a:r>
              <a:rPr lang="en-US" altLang="zh-CN" i="1" dirty="0" smtClean="0"/>
              <a:t>f 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0000"/>
                </a:solidFill>
              </a:rPr>
              <a:t>真近点角：</a:t>
            </a:r>
            <a:r>
              <a:rPr lang="zh-CN" altLang="en-US" dirty="0" smtClean="0"/>
              <a:t>航天器相对于椭圆长轴的极角。</a:t>
            </a:r>
            <a:endParaRPr lang="zh-CN" altLang="en-US" dirty="0"/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684834"/>
              </p:ext>
            </p:extLst>
          </p:nvPr>
        </p:nvGraphicFramePr>
        <p:xfrm>
          <a:off x="158536" y="4419719"/>
          <a:ext cx="1518954" cy="985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" name="Equation" r:id="rId8" imgW="736600" imgH="482600" progId="Equation.DSMT4">
                  <p:embed/>
                </p:oleObj>
              </mc:Choice>
              <mc:Fallback>
                <p:oleObj name="Equation" r:id="rId8" imgW="736600" imgH="482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36" y="4419719"/>
                        <a:ext cx="1518954" cy="98526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2367913"/>
              </p:ext>
            </p:extLst>
          </p:nvPr>
        </p:nvGraphicFramePr>
        <p:xfrm>
          <a:off x="158536" y="2591164"/>
          <a:ext cx="1711207" cy="727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" name="Equation" r:id="rId10" imgW="914400" imgH="393700" progId="Equation.DSMT4">
                  <p:embed/>
                </p:oleObj>
              </mc:Choice>
              <mc:Fallback>
                <p:oleObj name="Equation" r:id="rId10" imgW="914400" imgH="3937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36" y="2591164"/>
                        <a:ext cx="1711207" cy="7278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6597854"/>
              </p:ext>
            </p:extLst>
          </p:nvPr>
        </p:nvGraphicFramePr>
        <p:xfrm>
          <a:off x="158536" y="3504409"/>
          <a:ext cx="810455" cy="7583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4" name="Equation" r:id="rId12" imgW="469696" imgH="444307" progId="Equation.DSMT4">
                  <p:embed/>
                </p:oleObj>
              </mc:Choice>
              <mc:Fallback>
                <p:oleObj name="Equation" r:id="rId12" imgW="469696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536" y="3504409"/>
                        <a:ext cx="810455" cy="75839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372918"/>
              </p:ext>
            </p:extLst>
          </p:nvPr>
        </p:nvGraphicFramePr>
        <p:xfrm>
          <a:off x="1757363" y="3418744"/>
          <a:ext cx="1968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" name="Equation" r:id="rId14" imgW="850531" imgH="444307" progId="Equation.DSMT4">
                  <p:embed/>
                </p:oleObj>
              </mc:Choice>
              <mc:Fallback>
                <p:oleObj name="Equation" r:id="rId14" imgW="850531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7363" y="3418744"/>
                        <a:ext cx="1968500" cy="101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AutoShape 11"/>
          <p:cNvSpPr>
            <a:spLocks noChangeArrowheads="1"/>
          </p:cNvSpPr>
          <p:nvPr/>
        </p:nvSpPr>
        <p:spPr bwMode="auto">
          <a:xfrm>
            <a:off x="1075709" y="3769115"/>
            <a:ext cx="609600" cy="228600"/>
          </a:xfrm>
          <a:prstGeom prst="rightArrow">
            <a:avLst>
              <a:gd name="adj1" fmla="val 50000"/>
              <a:gd name="adj2" fmla="val 6666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18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8023754"/>
              </p:ext>
            </p:extLst>
          </p:nvPr>
        </p:nvGraphicFramePr>
        <p:xfrm>
          <a:off x="137616" y="5819595"/>
          <a:ext cx="2728414" cy="10384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6" name="Equation" r:id="rId16" imgW="1155199" imgH="444307" progId="Equation.DSMT4">
                  <p:embed/>
                </p:oleObj>
              </mc:Choice>
              <mc:Fallback>
                <p:oleObj name="Equation" r:id="rId16" imgW="1155199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16" y="5819595"/>
                        <a:ext cx="2728414" cy="103840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3"/>
          <p:cNvSpPr>
            <a:spLocks noChangeArrowheads="1"/>
          </p:cNvSpPr>
          <p:nvPr/>
        </p:nvSpPr>
        <p:spPr bwMode="auto">
          <a:xfrm>
            <a:off x="137616" y="5495071"/>
            <a:ext cx="4546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0" dirty="0" smtClean="0"/>
              <a:t>平均</a:t>
            </a:r>
            <a:r>
              <a:rPr lang="zh-CN" altLang="en-US" sz="2000" b="0" dirty="0"/>
              <a:t>角速度 </a:t>
            </a:r>
            <a:r>
              <a:rPr lang="en-US" altLang="zh-CN" sz="2000" b="0" i="1" dirty="0" smtClean="0"/>
              <a:t>n</a:t>
            </a:r>
            <a:r>
              <a:rPr lang="zh-CN" altLang="en-US" sz="2000" b="0" dirty="0" smtClean="0"/>
              <a:t>为</a:t>
            </a:r>
            <a:r>
              <a:rPr lang="zh-CN" altLang="en-US" sz="2000" b="0" dirty="0"/>
              <a:t>：</a:t>
            </a:r>
          </a:p>
        </p:txBody>
      </p:sp>
      <p:sp>
        <p:nvSpPr>
          <p:cNvPr id="20" name="矩形 19"/>
          <p:cNvSpPr/>
          <p:nvPr/>
        </p:nvSpPr>
        <p:spPr>
          <a:xfrm>
            <a:off x="4271773" y="3241923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dirty="0" smtClean="0">
                <a:solidFill>
                  <a:srgbClr val="FF0000"/>
                </a:solidFill>
                <a:latin typeface="宋体" panose="02010600030101010101" pitchFamily="2" charset="-122"/>
              </a:rPr>
              <a:t>平近点角</a:t>
            </a:r>
            <a:r>
              <a:rPr lang="en-US" altLang="zh-CN" i="1" dirty="0" smtClean="0"/>
              <a:t>M</a:t>
            </a:r>
            <a:r>
              <a:rPr lang="en-US" altLang="zh-CN" dirty="0" smtClean="0">
                <a:latin typeface="宋体" panose="02010600030101010101" pitchFamily="2" charset="-122"/>
              </a:rPr>
              <a:t> </a:t>
            </a:r>
            <a:r>
              <a:rPr lang="zh-CN" altLang="en-US" dirty="0" smtClean="0">
                <a:latin typeface="宋体" panose="02010600030101010101" pitchFamily="2" charset="-122"/>
              </a:rPr>
              <a:t>：航天器从近地点开始按平均角速度 </a:t>
            </a:r>
            <a:r>
              <a:rPr lang="en-US" altLang="zh-CN" i="1" dirty="0" smtClean="0"/>
              <a:t>n </a:t>
            </a:r>
            <a:r>
              <a:rPr lang="zh-CN" altLang="en-US" dirty="0" smtClean="0">
                <a:latin typeface="宋体" panose="02010600030101010101" pitchFamily="2" charset="-122"/>
              </a:rPr>
              <a:t>转过的角度。</a:t>
            </a:r>
            <a:endParaRPr lang="zh-CN" altLang="en-US" dirty="0"/>
          </a:p>
        </p:txBody>
      </p:sp>
      <p:graphicFrame>
        <p:nvGraphicFramePr>
          <p:cNvPr id="21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2279477"/>
              </p:ext>
            </p:extLst>
          </p:nvPr>
        </p:nvGraphicFramePr>
        <p:xfrm>
          <a:off x="4311105" y="3917088"/>
          <a:ext cx="2923795" cy="8270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7" name="Equation" r:id="rId18" imgW="1586811" imgH="444307" progId="Equation.DSMT4">
                  <p:embed/>
                </p:oleObj>
              </mc:Choice>
              <mc:Fallback>
                <p:oleObj name="Equation" r:id="rId18" imgW="1586811" imgH="444307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1105" y="3917088"/>
                        <a:ext cx="2923795" cy="82709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6"/>
          <p:cNvSpPr>
            <a:spLocks noChangeArrowheads="1"/>
          </p:cNvSpPr>
          <p:nvPr/>
        </p:nvSpPr>
        <p:spPr bwMode="auto">
          <a:xfrm>
            <a:off x="3610912" y="4862469"/>
            <a:ext cx="535867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1800" b="0" dirty="0">
                <a:solidFill>
                  <a:srgbClr val="FF0000"/>
                </a:solidFill>
                <a:latin typeface="宋体" panose="02010600030101010101" pitchFamily="2" charset="-122"/>
              </a:rPr>
              <a:t>偏近点角</a:t>
            </a:r>
            <a:r>
              <a:rPr lang="zh-CN" altLang="en-US" sz="1800" b="0" dirty="0"/>
              <a:t> </a:t>
            </a:r>
            <a:r>
              <a:rPr lang="en-US" altLang="zh-CN" sz="1800" b="0" i="1" dirty="0"/>
              <a:t>E</a:t>
            </a:r>
            <a:r>
              <a:rPr lang="en-US" altLang="zh-CN" sz="1800" b="0" dirty="0"/>
              <a:t> </a:t>
            </a:r>
            <a:r>
              <a:rPr lang="zh-CN" altLang="en-US" sz="1800" b="0" dirty="0"/>
              <a:t>：椭圆轨道存在内、外接圆，航天器在内、外接圆上的投影点与椭圆中心对应的夹角</a:t>
            </a:r>
            <a:r>
              <a:rPr lang="zh-CN" altLang="en-US" sz="1800" b="0" dirty="0" smtClean="0"/>
              <a:t>。</a:t>
            </a:r>
            <a:endParaRPr lang="zh-CN" altLang="en-US" sz="1800" b="0" dirty="0"/>
          </a:p>
        </p:txBody>
      </p:sp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60910"/>
              </p:ext>
            </p:extLst>
          </p:nvPr>
        </p:nvGraphicFramePr>
        <p:xfrm>
          <a:off x="3610912" y="5674519"/>
          <a:ext cx="2162091" cy="391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8" r:id="rId20" imgW="1002865" imgH="177723" progId="Equation.DSMT4">
                  <p:embed/>
                </p:oleObj>
              </mc:Choice>
              <mc:Fallback>
                <p:oleObj r:id="rId20" imgW="1002865" imgH="177723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0912" y="5674519"/>
                        <a:ext cx="2162091" cy="39131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8244834"/>
              </p:ext>
            </p:extLst>
          </p:nvPr>
        </p:nvGraphicFramePr>
        <p:xfrm>
          <a:off x="6075896" y="5696853"/>
          <a:ext cx="25908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9" r:id="rId22" imgW="1167893" imgH="393529" progId="Equation.DSMT4">
                  <p:embed/>
                </p:oleObj>
              </mc:Choice>
              <mc:Fallback>
                <p:oleObj r:id="rId22" imgW="1167893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896" y="5696853"/>
                        <a:ext cx="2590800" cy="8636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7615846"/>
              </p:ext>
            </p:extLst>
          </p:nvPr>
        </p:nvGraphicFramePr>
        <p:xfrm>
          <a:off x="7339797" y="3916821"/>
          <a:ext cx="1629793" cy="7575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60" name="Equation" r:id="rId24" imgW="965200" imgH="444500" progId="Equation.DSMT4">
                  <p:embed/>
                </p:oleObj>
              </mc:Choice>
              <mc:Fallback>
                <p:oleObj name="Equation" r:id="rId24" imgW="965200" imgH="444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39797" y="3916821"/>
                        <a:ext cx="1629793" cy="75759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866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9" grpId="0" autoUpdateAnimBg="0"/>
      <p:bldP spid="2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2181"/>
              </p:ext>
            </p:extLst>
          </p:nvPr>
        </p:nvGraphicFramePr>
        <p:xfrm>
          <a:off x="126167" y="125621"/>
          <a:ext cx="3171825" cy="639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9" name="Equation" r:id="rId3" imgW="1371600" imgH="279400" progId="Equation.DSMT4">
                  <p:embed/>
                </p:oleObj>
              </mc:Choice>
              <mc:Fallback>
                <p:oleObj name="Equation" r:id="rId3" imgW="1371600" imgH="279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7" y="125621"/>
                        <a:ext cx="3171825" cy="6397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9895200"/>
              </p:ext>
            </p:extLst>
          </p:nvPr>
        </p:nvGraphicFramePr>
        <p:xfrm>
          <a:off x="126167" y="964367"/>
          <a:ext cx="4581525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0" name="Equation" r:id="rId5" imgW="1981200" imgH="469900" progId="Equation.DSMT4">
                  <p:embed/>
                </p:oleObj>
              </mc:Choice>
              <mc:Fallback>
                <p:oleObj name="Equation" r:id="rId5" imgW="19812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7" y="964367"/>
                        <a:ext cx="4581525" cy="1076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057110"/>
              </p:ext>
            </p:extLst>
          </p:nvPr>
        </p:nvGraphicFramePr>
        <p:xfrm>
          <a:off x="5079349" y="125621"/>
          <a:ext cx="3640137" cy="1076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1" name="Equation" r:id="rId7" imgW="1574800" imgH="469900" progId="Equation.DSMT4">
                  <p:embed/>
                </p:oleObj>
              </mc:Choice>
              <mc:Fallback>
                <p:oleObj name="Equation" r:id="rId7" imgW="1574800" imgH="469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9349" y="125621"/>
                        <a:ext cx="3640137" cy="107632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6699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66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126167" y="2239676"/>
            <a:ext cx="4572000" cy="70173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 smtClean="0">
                <a:solidFill>
                  <a:schemeClr val="accent2"/>
                </a:solidFill>
              </a:rPr>
              <a:t>定轨问题</a:t>
            </a:r>
            <a:r>
              <a:rPr lang="zh-CN" altLang="en-US" dirty="0" smtClean="0"/>
              <a:t>：由已知时刻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  <a:r>
              <a:rPr lang="zh-CN" altLang="en-US" dirty="0" smtClean="0"/>
              <a:t>航天器的位置 </a:t>
            </a:r>
            <a:r>
              <a:rPr lang="en-US" altLang="zh-CN" i="1" dirty="0" smtClean="0"/>
              <a:t>r </a:t>
            </a:r>
            <a:r>
              <a:rPr lang="zh-CN" altLang="en-US" dirty="0" smtClean="0"/>
              <a:t>和速度 </a:t>
            </a:r>
            <a:r>
              <a:rPr lang="en-US" altLang="zh-CN" i="1" dirty="0" smtClean="0"/>
              <a:t>v </a:t>
            </a:r>
            <a:r>
              <a:rPr lang="zh-CN" altLang="en-US" dirty="0" smtClean="0"/>
              <a:t>来确定其轨道要素。 </a:t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31709" y="1387810"/>
            <a:ext cx="3647399" cy="3345314"/>
          </a:xfrm>
          <a:prstGeom prst="rect">
            <a:avLst/>
          </a:prstGeom>
        </p:spPr>
      </p:pic>
      <p:graphicFrame>
        <p:nvGraphicFramePr>
          <p:cNvPr id="9" name="Object 10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14877009"/>
              </p:ext>
            </p:extLst>
          </p:nvPr>
        </p:nvGraphicFramePr>
        <p:xfrm>
          <a:off x="258659" y="3089871"/>
          <a:ext cx="15113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2" name="Equation" r:id="rId10" imgW="1040948" imgH="279279" progId="Equation.DSMT4">
                  <p:embed/>
                </p:oleObj>
              </mc:Choice>
              <mc:Fallback>
                <p:oleObj name="Equation" r:id="rId10" imgW="1040948" imgH="27927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659" y="3089871"/>
                        <a:ext cx="15113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0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9365702"/>
              </p:ext>
            </p:extLst>
          </p:nvPr>
        </p:nvGraphicFramePr>
        <p:xfrm>
          <a:off x="2290659" y="2898274"/>
          <a:ext cx="2447925" cy="877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3" name="Equation" r:id="rId12" imgW="1168400" imgH="419100" progId="Equation.DSMT4">
                  <p:embed/>
                </p:oleObj>
              </mc:Choice>
              <mc:Fallback>
                <p:oleObj name="Equation" r:id="rId12" imgW="1168400" imgH="4191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659" y="2898274"/>
                        <a:ext cx="2447925" cy="877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7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5233613"/>
              </p:ext>
            </p:extLst>
          </p:nvPr>
        </p:nvGraphicFramePr>
        <p:xfrm>
          <a:off x="126167" y="3798989"/>
          <a:ext cx="20320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4" name="公式" r:id="rId14" imgW="2032000" imgH="723900" progId="Equation.3">
                  <p:embed/>
                </p:oleObj>
              </mc:Choice>
              <mc:Fallback>
                <p:oleObj name="公式" r:id="rId14" imgW="20320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167" y="3798989"/>
                        <a:ext cx="2032000" cy="7223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4149"/>
              </p:ext>
            </p:extLst>
          </p:nvPr>
        </p:nvGraphicFramePr>
        <p:xfrm>
          <a:off x="172986" y="4825606"/>
          <a:ext cx="2324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5" name="公式" r:id="rId16" imgW="2324100" imgH="381000" progId="Equation.3">
                  <p:embed/>
                </p:oleObj>
              </mc:Choice>
              <mc:Fallback>
                <p:oleObj name="公式" r:id="rId16" imgW="2324100" imgH="381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986" y="4825606"/>
                        <a:ext cx="2324100" cy="381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7892223"/>
              </p:ext>
            </p:extLst>
          </p:nvPr>
        </p:nvGraphicFramePr>
        <p:xfrm>
          <a:off x="2544971" y="4042647"/>
          <a:ext cx="2616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6" name="公式" r:id="rId18" imgW="2616200" imgH="393700" progId="Equation.3">
                  <p:embed/>
                </p:oleObj>
              </mc:Choice>
              <mc:Fallback>
                <p:oleObj name="公式" r:id="rId18" imgW="2616200" imgH="3937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44971" y="4042647"/>
                        <a:ext cx="2616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14376729"/>
              </p:ext>
            </p:extLst>
          </p:nvPr>
        </p:nvGraphicFramePr>
        <p:xfrm>
          <a:off x="128536" y="5378883"/>
          <a:ext cx="1206500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7" name="公式" r:id="rId20" imgW="1205977" imgH="406224" progId="Equation.3">
                  <p:embed/>
                </p:oleObj>
              </mc:Choice>
              <mc:Fallback>
                <p:oleObj name="公式" r:id="rId20" imgW="1205977" imgH="40622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536" y="5378883"/>
                        <a:ext cx="1206500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84868757"/>
              </p:ext>
            </p:extLst>
          </p:nvPr>
        </p:nvGraphicFramePr>
        <p:xfrm>
          <a:off x="112088" y="6044343"/>
          <a:ext cx="1104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8" name="公式" r:id="rId22" imgW="1104900" imgH="723900" progId="Equation.3">
                  <p:embed/>
                </p:oleObj>
              </mc:Choice>
              <mc:Fallback>
                <p:oleObj name="公式" r:id="rId22" imgW="1104900" imgH="723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88" y="6044343"/>
                        <a:ext cx="1104900" cy="7223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670293"/>
              </p:ext>
            </p:extLst>
          </p:nvPr>
        </p:nvGraphicFramePr>
        <p:xfrm>
          <a:off x="1649309" y="6024499"/>
          <a:ext cx="12827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59" name="公式" r:id="rId24" imgW="1282700" imgH="762000" progId="Equation.3">
                  <p:embed/>
                </p:oleObj>
              </mc:Choice>
              <mc:Fallback>
                <p:oleObj name="公式" r:id="rId24" imgW="1282700" imgH="762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9309" y="6024499"/>
                        <a:ext cx="1282700" cy="7620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2874877"/>
              </p:ext>
            </p:extLst>
          </p:nvPr>
        </p:nvGraphicFramePr>
        <p:xfrm>
          <a:off x="3163028" y="6004655"/>
          <a:ext cx="46482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0" name="Equation" r:id="rId26" imgW="3848100" imgH="723900" progId="Equation.DSMT4">
                  <p:embed/>
                </p:oleObj>
              </mc:Choice>
              <mc:Fallback>
                <p:oleObj name="Equation" r:id="rId26" imgW="3848100" imgH="7239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63028" y="6004655"/>
                        <a:ext cx="4648200" cy="8016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45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9903349"/>
              </p:ext>
            </p:extLst>
          </p:nvPr>
        </p:nvGraphicFramePr>
        <p:xfrm>
          <a:off x="4358529" y="3019679"/>
          <a:ext cx="4569413" cy="4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79" name="Equation" r:id="rId3" imgW="3695700" imgH="381000" progId="Equation.DSMT4">
                  <p:embed/>
                </p:oleObj>
              </mc:Choice>
              <mc:Fallback>
                <p:oleObj name="Equation" r:id="rId3" imgW="3695700" imgH="3810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8529" y="3019679"/>
                        <a:ext cx="4569413" cy="4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6247923" y="169809"/>
            <a:ext cx="2823505" cy="2784173"/>
            <a:chOff x="2653" y="1211"/>
            <a:chExt cx="2918" cy="2980"/>
          </a:xfrm>
        </p:grpSpPr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2653" y="1211"/>
              <a:ext cx="2918" cy="2980"/>
              <a:chOff x="2653" y="1211"/>
              <a:chExt cx="2918" cy="2980"/>
            </a:xfrm>
          </p:grpSpPr>
          <p:grpSp>
            <p:nvGrpSpPr>
              <p:cNvPr id="14" name="Group 6"/>
              <p:cNvGrpSpPr>
                <a:grpSpLocks/>
              </p:cNvGrpSpPr>
              <p:nvPr/>
            </p:nvGrpSpPr>
            <p:grpSpPr bwMode="auto">
              <a:xfrm>
                <a:off x="2653" y="1211"/>
                <a:ext cx="2918" cy="2980"/>
                <a:chOff x="2653" y="1207"/>
                <a:chExt cx="2918" cy="2980"/>
              </a:xfrm>
            </p:grpSpPr>
            <p:sp>
              <p:nvSpPr>
                <p:cNvPr id="29" name="Oval 7"/>
                <p:cNvSpPr>
                  <a:spLocks noChangeArrowheads="1"/>
                </p:cNvSpPr>
                <p:nvPr/>
              </p:nvSpPr>
              <p:spPr bwMode="auto">
                <a:xfrm>
                  <a:off x="2653" y="1207"/>
                  <a:ext cx="2880" cy="2935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30" name="Freeform 8"/>
                <p:cNvSpPr>
                  <a:spLocks/>
                </p:cNvSpPr>
                <p:nvPr/>
              </p:nvSpPr>
              <p:spPr bwMode="auto">
                <a:xfrm>
                  <a:off x="4107" y="1207"/>
                  <a:ext cx="611" cy="2967"/>
                </a:xfrm>
                <a:custGeom>
                  <a:avLst/>
                  <a:gdLst>
                    <a:gd name="T0" fmla="*/ 0 w 231"/>
                    <a:gd name="T1" fmla="*/ 23 h 1945"/>
                    <a:gd name="T2" fmla="*/ 241 w 231"/>
                    <a:gd name="T3" fmla="*/ 92 h 1945"/>
                    <a:gd name="T4" fmla="*/ 479 w 231"/>
                    <a:gd name="T5" fmla="*/ 577 h 1945"/>
                    <a:gd name="T6" fmla="*/ 600 w 231"/>
                    <a:gd name="T7" fmla="*/ 1199 h 1945"/>
                    <a:gd name="T8" fmla="*/ 537 w 231"/>
                    <a:gd name="T9" fmla="*/ 2126 h 1945"/>
                    <a:gd name="T10" fmla="*/ 286 w 231"/>
                    <a:gd name="T11" fmla="*/ 2833 h 1945"/>
                    <a:gd name="T12" fmla="*/ 119 w 231"/>
                    <a:gd name="T13" fmla="*/ 2929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" name="Freeform 9"/>
                <p:cNvSpPr>
                  <a:spLocks/>
                </p:cNvSpPr>
                <p:nvPr/>
              </p:nvSpPr>
              <p:spPr bwMode="auto">
                <a:xfrm rot="5277356" flipV="1">
                  <a:off x="3878" y="1465"/>
                  <a:ext cx="471" cy="2914"/>
                </a:xfrm>
                <a:custGeom>
                  <a:avLst/>
                  <a:gdLst>
                    <a:gd name="T0" fmla="*/ 0 w 231"/>
                    <a:gd name="T1" fmla="*/ 22 h 1945"/>
                    <a:gd name="T2" fmla="*/ 186 w 231"/>
                    <a:gd name="T3" fmla="*/ 90 h 1945"/>
                    <a:gd name="T4" fmla="*/ 369 w 231"/>
                    <a:gd name="T5" fmla="*/ 566 h 1945"/>
                    <a:gd name="T6" fmla="*/ 463 w 231"/>
                    <a:gd name="T7" fmla="*/ 1178 h 1945"/>
                    <a:gd name="T8" fmla="*/ 414 w 231"/>
                    <a:gd name="T9" fmla="*/ 2088 h 1945"/>
                    <a:gd name="T10" fmla="*/ 220 w 231"/>
                    <a:gd name="T11" fmla="*/ 2782 h 1945"/>
                    <a:gd name="T12" fmla="*/ 92 w 231"/>
                    <a:gd name="T13" fmla="*/ 2877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2" name="Freeform 10"/>
                <p:cNvSpPr>
                  <a:spLocks/>
                </p:cNvSpPr>
                <p:nvPr/>
              </p:nvSpPr>
              <p:spPr bwMode="auto">
                <a:xfrm rot="2042005">
                  <a:off x="3935" y="1228"/>
                  <a:ext cx="358" cy="2959"/>
                </a:xfrm>
                <a:custGeom>
                  <a:avLst/>
                  <a:gdLst>
                    <a:gd name="T0" fmla="*/ 0 w 231"/>
                    <a:gd name="T1" fmla="*/ 23 h 1945"/>
                    <a:gd name="T2" fmla="*/ 141 w 231"/>
                    <a:gd name="T3" fmla="*/ 91 h 1945"/>
                    <a:gd name="T4" fmla="*/ 281 w 231"/>
                    <a:gd name="T5" fmla="*/ 575 h 1945"/>
                    <a:gd name="T6" fmla="*/ 352 w 231"/>
                    <a:gd name="T7" fmla="*/ 1196 h 1945"/>
                    <a:gd name="T8" fmla="*/ 315 w 231"/>
                    <a:gd name="T9" fmla="*/ 2121 h 1945"/>
                    <a:gd name="T10" fmla="*/ 167 w 231"/>
                    <a:gd name="T11" fmla="*/ 2825 h 1945"/>
                    <a:gd name="T12" fmla="*/ 70 w 231"/>
                    <a:gd name="T13" fmla="*/ 2921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28575" cmpd="sng">
                  <a:solidFill>
                    <a:schemeClr val="accent2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3" name="Freeform 11"/>
                <p:cNvSpPr>
                  <a:spLocks/>
                </p:cNvSpPr>
                <p:nvPr/>
              </p:nvSpPr>
              <p:spPr bwMode="auto">
                <a:xfrm rot="-5400000">
                  <a:off x="3868" y="1097"/>
                  <a:ext cx="484" cy="2913"/>
                </a:xfrm>
                <a:custGeom>
                  <a:avLst/>
                  <a:gdLst>
                    <a:gd name="T0" fmla="*/ 0 w 231"/>
                    <a:gd name="T1" fmla="*/ 22 h 1945"/>
                    <a:gd name="T2" fmla="*/ 191 w 231"/>
                    <a:gd name="T3" fmla="*/ 90 h 1945"/>
                    <a:gd name="T4" fmla="*/ 379 w 231"/>
                    <a:gd name="T5" fmla="*/ 566 h 1945"/>
                    <a:gd name="T6" fmla="*/ 476 w 231"/>
                    <a:gd name="T7" fmla="*/ 1177 h 1945"/>
                    <a:gd name="T8" fmla="*/ 425 w 231"/>
                    <a:gd name="T9" fmla="*/ 2088 h 1945"/>
                    <a:gd name="T10" fmla="*/ 226 w 231"/>
                    <a:gd name="T11" fmla="*/ 2781 h 1945"/>
                    <a:gd name="T12" fmla="*/ 94 w 231"/>
                    <a:gd name="T13" fmla="*/ 2876 h 1945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231" h="1945">
                      <a:moveTo>
                        <a:pt x="0" y="15"/>
                      </a:moveTo>
                      <a:cubicBezTo>
                        <a:pt x="30" y="7"/>
                        <a:pt x="61" y="0"/>
                        <a:pt x="91" y="60"/>
                      </a:cubicBezTo>
                      <a:cubicBezTo>
                        <a:pt x="121" y="120"/>
                        <a:pt x="158" y="257"/>
                        <a:pt x="181" y="378"/>
                      </a:cubicBezTo>
                      <a:cubicBezTo>
                        <a:pt x="204" y="499"/>
                        <a:pt x="223" y="617"/>
                        <a:pt x="227" y="786"/>
                      </a:cubicBezTo>
                      <a:cubicBezTo>
                        <a:pt x="231" y="955"/>
                        <a:pt x="223" y="1216"/>
                        <a:pt x="203" y="1394"/>
                      </a:cubicBezTo>
                      <a:cubicBezTo>
                        <a:pt x="183" y="1572"/>
                        <a:pt x="134" y="1769"/>
                        <a:pt x="108" y="1857"/>
                      </a:cubicBezTo>
                      <a:cubicBezTo>
                        <a:pt x="82" y="1945"/>
                        <a:pt x="58" y="1907"/>
                        <a:pt x="45" y="1920"/>
                      </a:cubicBezTo>
                    </a:path>
                  </a:pathLst>
                </a:custGeom>
                <a:noFill/>
                <a:ln w="9525" cap="flat">
                  <a:solidFill>
                    <a:schemeClr val="tx1"/>
                  </a:solidFill>
                  <a:prstDash val="dashDot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4" name="Line 12"/>
                <p:cNvSpPr>
                  <a:spLocks noChangeShapeType="1"/>
                </p:cNvSpPr>
                <p:nvPr/>
              </p:nvSpPr>
              <p:spPr bwMode="auto">
                <a:xfrm flipH="1">
                  <a:off x="3969" y="2704"/>
                  <a:ext cx="115" cy="454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5" name="Line 13"/>
                <p:cNvSpPr>
                  <a:spLocks noChangeShapeType="1"/>
                </p:cNvSpPr>
                <p:nvPr/>
              </p:nvSpPr>
              <p:spPr bwMode="auto">
                <a:xfrm flipV="1">
                  <a:off x="4105" y="2115"/>
                  <a:ext cx="589" cy="589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6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3288" y="2704"/>
                  <a:ext cx="817" cy="3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7" name="Line 15"/>
                <p:cNvSpPr>
                  <a:spLocks noChangeShapeType="1"/>
                </p:cNvSpPr>
                <p:nvPr/>
              </p:nvSpPr>
              <p:spPr bwMode="auto">
                <a:xfrm flipV="1">
                  <a:off x="4105" y="1251"/>
                  <a:ext cx="0" cy="145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8" name="Line 16"/>
                <p:cNvSpPr>
                  <a:spLocks noChangeShapeType="1"/>
                </p:cNvSpPr>
                <p:nvPr/>
              </p:nvSpPr>
              <p:spPr bwMode="auto">
                <a:xfrm>
                  <a:off x="4105" y="2704"/>
                  <a:ext cx="1361" cy="0"/>
                </a:xfrm>
                <a:prstGeom prst="line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 type="triangle" w="med" len="med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5" name="Object 17"/>
              <p:cNvGraphicFramePr>
                <a:graphicFrameLocks noChangeAspect="1"/>
              </p:cNvGraphicFramePr>
              <p:nvPr/>
            </p:nvGraphicFramePr>
            <p:xfrm>
              <a:off x="3833" y="2844"/>
              <a:ext cx="160" cy="15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80" name="Equation" r:id="rId5" imgW="253890" imgH="241195" progId="Equation.DSMT4">
                      <p:embed/>
                    </p:oleObj>
                  </mc:Choice>
                  <mc:Fallback>
                    <p:oleObj name="Equation" r:id="rId5" imgW="253890" imgH="24119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33" y="2844"/>
                            <a:ext cx="160" cy="15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6" name="Line 18"/>
              <p:cNvSpPr>
                <a:spLocks noChangeShapeType="1"/>
              </p:cNvSpPr>
              <p:nvPr/>
            </p:nvSpPr>
            <p:spPr bwMode="auto">
              <a:xfrm flipV="1">
                <a:off x="4105" y="2704"/>
                <a:ext cx="227" cy="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7" name="Object 19"/>
              <p:cNvGraphicFramePr>
                <a:graphicFrameLocks noChangeAspect="1"/>
              </p:cNvGraphicFramePr>
              <p:nvPr/>
            </p:nvGraphicFramePr>
            <p:xfrm>
              <a:off x="4050" y="2754"/>
              <a:ext cx="144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81" name="Equation" r:id="rId7" imgW="228501" imgH="203112" progId="Equation.DSMT4">
                      <p:embed/>
                    </p:oleObj>
                  </mc:Choice>
                  <mc:Fallback>
                    <p:oleObj name="Equation" r:id="rId7" imgW="228501" imgH="20311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50" y="2754"/>
                            <a:ext cx="144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8" name="Object 20"/>
              <p:cNvGraphicFramePr>
                <a:graphicFrameLocks noChangeAspect="1"/>
              </p:cNvGraphicFramePr>
              <p:nvPr/>
            </p:nvGraphicFramePr>
            <p:xfrm>
              <a:off x="4241" y="2478"/>
              <a:ext cx="152" cy="2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82" name="Equation" r:id="rId9" imgW="241091" imgH="317225" progId="Equation.DSMT4">
                      <p:embed/>
                    </p:oleObj>
                  </mc:Choice>
                  <mc:Fallback>
                    <p:oleObj name="Equation" r:id="rId9" imgW="241091" imgH="317225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41" y="2478"/>
                            <a:ext cx="152" cy="2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" name="Text Box 21"/>
              <p:cNvSpPr txBox="1">
                <a:spLocks noChangeArrowheads="1"/>
              </p:cNvSpPr>
              <p:nvPr/>
            </p:nvSpPr>
            <p:spPr bwMode="auto">
              <a:xfrm>
                <a:off x="3152" y="3139"/>
                <a:ext cx="26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X</a:t>
                </a:r>
              </a:p>
            </p:txBody>
          </p:sp>
          <p:sp>
            <p:nvSpPr>
              <p:cNvPr id="20" name="Text Box 22"/>
              <p:cNvSpPr txBox="1">
                <a:spLocks noChangeArrowheads="1"/>
              </p:cNvSpPr>
              <p:nvPr/>
            </p:nvSpPr>
            <p:spPr bwMode="auto">
              <a:xfrm>
                <a:off x="3878" y="1276"/>
                <a:ext cx="256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Z</a:t>
                </a:r>
              </a:p>
            </p:txBody>
          </p:sp>
          <p:sp>
            <p:nvSpPr>
              <p:cNvPr id="21" name="Text Box 23"/>
              <p:cNvSpPr txBox="1">
                <a:spLocks noChangeArrowheads="1"/>
              </p:cNvSpPr>
              <p:nvPr/>
            </p:nvSpPr>
            <p:spPr bwMode="auto">
              <a:xfrm>
                <a:off x="4739" y="2050"/>
                <a:ext cx="26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S</a:t>
                </a:r>
              </a:p>
            </p:txBody>
          </p:sp>
          <p:sp>
            <p:nvSpPr>
              <p:cNvPr id="22" name="Oval 24"/>
              <p:cNvSpPr>
                <a:spLocks noChangeArrowheads="1"/>
              </p:cNvSpPr>
              <p:nvPr/>
            </p:nvSpPr>
            <p:spPr bwMode="auto">
              <a:xfrm>
                <a:off x="4649" y="2091"/>
                <a:ext cx="45" cy="45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23" name="Text Box 25"/>
              <p:cNvSpPr txBox="1">
                <a:spLocks noChangeArrowheads="1"/>
              </p:cNvSpPr>
              <p:nvPr/>
            </p:nvSpPr>
            <p:spPr bwMode="auto">
              <a:xfrm>
                <a:off x="3923" y="3230"/>
                <a:ext cx="271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N</a:t>
                </a:r>
              </a:p>
            </p:txBody>
          </p:sp>
          <p:sp>
            <p:nvSpPr>
              <p:cNvPr id="24" name="Text Box 26"/>
              <p:cNvSpPr txBox="1">
                <a:spLocks noChangeArrowheads="1"/>
              </p:cNvSpPr>
              <p:nvPr/>
            </p:nvSpPr>
            <p:spPr bwMode="auto">
              <a:xfrm>
                <a:off x="4331" y="2726"/>
                <a:ext cx="26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P</a:t>
                </a:r>
              </a:p>
            </p:txBody>
          </p:sp>
          <p:sp>
            <p:nvSpPr>
              <p:cNvPr id="25" name="Text Box 27"/>
              <p:cNvSpPr txBox="1">
                <a:spLocks noChangeArrowheads="1"/>
              </p:cNvSpPr>
              <p:nvPr/>
            </p:nvSpPr>
            <p:spPr bwMode="auto">
              <a:xfrm>
                <a:off x="4065" y="3017"/>
                <a:ext cx="209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>
                    <a:latin typeface="Arial" panose="020B0604020202020204" pitchFamily="34" charset="0"/>
                  </a:rPr>
                  <a:t>i</a:t>
                </a:r>
              </a:p>
            </p:txBody>
          </p:sp>
          <p:sp>
            <p:nvSpPr>
              <p:cNvPr id="26" name="Text Box 28"/>
              <p:cNvSpPr txBox="1">
                <a:spLocks noChangeArrowheads="1"/>
              </p:cNvSpPr>
              <p:nvPr/>
            </p:nvSpPr>
            <p:spPr bwMode="auto">
              <a:xfrm>
                <a:off x="4859" y="2037"/>
                <a:ext cx="553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(x y z)</a:t>
                </a:r>
              </a:p>
            </p:txBody>
          </p:sp>
          <p:sp>
            <p:nvSpPr>
              <p:cNvPr id="27" name="Text Box 29"/>
              <p:cNvSpPr txBox="1">
                <a:spLocks noChangeArrowheads="1"/>
              </p:cNvSpPr>
              <p:nvPr/>
            </p:nvSpPr>
            <p:spPr bwMode="auto">
              <a:xfrm>
                <a:off x="4684" y="3148"/>
                <a:ext cx="270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D</a:t>
                </a:r>
              </a:p>
            </p:txBody>
          </p:sp>
          <p:sp>
            <p:nvSpPr>
              <p:cNvPr id="28" name="Text Box 30"/>
              <p:cNvSpPr txBox="1">
                <a:spLocks noChangeArrowheads="1"/>
              </p:cNvSpPr>
              <p:nvPr/>
            </p:nvSpPr>
            <p:spPr bwMode="auto">
              <a:xfrm>
                <a:off x="3877" y="2591"/>
                <a:ext cx="279" cy="25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kumimoji="0" lang="en-US" altLang="zh-CN" sz="1200" b="0">
                    <a:latin typeface="Arial" panose="020B0604020202020204" pitchFamily="34" charset="0"/>
                  </a:rPr>
                  <a:t>O</a:t>
                </a:r>
              </a:p>
            </p:txBody>
          </p:sp>
        </p:grpSp>
        <p:grpSp>
          <p:nvGrpSpPr>
            <p:cNvPr id="8" name="Group 31"/>
            <p:cNvGrpSpPr>
              <a:grpSpLocks/>
            </p:cNvGrpSpPr>
            <p:nvPr/>
          </p:nvGrpSpPr>
          <p:grpSpPr bwMode="auto">
            <a:xfrm>
              <a:off x="3288" y="3113"/>
              <a:ext cx="1405" cy="216"/>
              <a:chOff x="3279" y="3115"/>
              <a:chExt cx="1405" cy="216"/>
            </a:xfrm>
          </p:grpSpPr>
          <p:sp>
            <p:nvSpPr>
              <p:cNvPr id="12" name="Freeform 32"/>
              <p:cNvSpPr>
                <a:spLocks/>
              </p:cNvSpPr>
              <p:nvPr/>
            </p:nvSpPr>
            <p:spPr bwMode="auto">
              <a:xfrm>
                <a:off x="3279" y="3115"/>
                <a:ext cx="1405" cy="70"/>
              </a:xfrm>
              <a:custGeom>
                <a:avLst/>
                <a:gdLst>
                  <a:gd name="T0" fmla="*/ 0 w 1405"/>
                  <a:gd name="T1" fmla="*/ 13 h 135"/>
                  <a:gd name="T2" fmla="*/ 300 w 1405"/>
                  <a:gd name="T3" fmla="*/ 54 h 135"/>
                  <a:gd name="T4" fmla="*/ 650 w 1405"/>
                  <a:gd name="T5" fmla="*/ 68 h 135"/>
                  <a:gd name="T6" fmla="*/ 971 w 1405"/>
                  <a:gd name="T7" fmla="*/ 59 h 135"/>
                  <a:gd name="T8" fmla="*/ 1405 w 1405"/>
                  <a:gd name="T9" fmla="*/ 0 h 1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05" h="135">
                    <a:moveTo>
                      <a:pt x="0" y="25"/>
                    </a:moveTo>
                    <a:cubicBezTo>
                      <a:pt x="50" y="38"/>
                      <a:pt x="192" y="86"/>
                      <a:pt x="300" y="104"/>
                    </a:cubicBezTo>
                    <a:cubicBezTo>
                      <a:pt x="408" y="122"/>
                      <a:pt x="538" y="131"/>
                      <a:pt x="650" y="132"/>
                    </a:cubicBezTo>
                    <a:cubicBezTo>
                      <a:pt x="762" y="133"/>
                      <a:pt x="845" y="135"/>
                      <a:pt x="971" y="113"/>
                    </a:cubicBezTo>
                    <a:cubicBezTo>
                      <a:pt x="1097" y="91"/>
                      <a:pt x="1315" y="24"/>
                      <a:pt x="1405" y="0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3" name="Object 33"/>
              <p:cNvGraphicFramePr>
                <a:graphicFrameLocks noChangeAspect="1"/>
              </p:cNvGraphicFramePr>
              <p:nvPr/>
            </p:nvGraphicFramePr>
            <p:xfrm>
              <a:off x="4332" y="3203"/>
              <a:ext cx="144" cy="12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83" name="Equation" r:id="rId11" imgW="228501" imgH="203112" progId="Equation.DSMT4">
                      <p:embed/>
                    </p:oleObj>
                  </mc:Choice>
                  <mc:Fallback>
                    <p:oleObj name="Equation" r:id="rId11" imgW="228501" imgH="203112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332" y="3203"/>
                            <a:ext cx="144" cy="12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9" name="Group 34"/>
            <p:cNvGrpSpPr>
              <a:grpSpLocks/>
            </p:cNvGrpSpPr>
            <p:nvPr/>
          </p:nvGrpSpPr>
          <p:grpSpPr bwMode="auto">
            <a:xfrm>
              <a:off x="4694" y="2115"/>
              <a:ext cx="219" cy="972"/>
              <a:chOff x="4694" y="2125"/>
              <a:chExt cx="219" cy="972"/>
            </a:xfrm>
          </p:grpSpPr>
          <p:sp>
            <p:nvSpPr>
              <p:cNvPr id="10" name="Freeform 35"/>
              <p:cNvSpPr>
                <a:spLocks/>
              </p:cNvSpPr>
              <p:nvPr/>
            </p:nvSpPr>
            <p:spPr bwMode="auto">
              <a:xfrm>
                <a:off x="4694" y="2125"/>
                <a:ext cx="36" cy="972"/>
              </a:xfrm>
              <a:custGeom>
                <a:avLst/>
                <a:gdLst>
                  <a:gd name="T0" fmla="*/ 0 w 78"/>
                  <a:gd name="T1" fmla="*/ 0 h 972"/>
                  <a:gd name="T2" fmla="*/ 26 w 78"/>
                  <a:gd name="T3" fmla="*/ 170 h 972"/>
                  <a:gd name="T4" fmla="*/ 35 w 78"/>
                  <a:gd name="T5" fmla="*/ 425 h 972"/>
                  <a:gd name="T6" fmla="*/ 31 w 78"/>
                  <a:gd name="T7" fmla="*/ 604 h 972"/>
                  <a:gd name="T8" fmla="*/ 22 w 78"/>
                  <a:gd name="T9" fmla="*/ 783 h 972"/>
                  <a:gd name="T10" fmla="*/ 0 w 78"/>
                  <a:gd name="T11" fmla="*/ 972 h 97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8" h="972">
                    <a:moveTo>
                      <a:pt x="0" y="0"/>
                    </a:moveTo>
                    <a:cubicBezTo>
                      <a:pt x="9" y="28"/>
                      <a:pt x="44" y="99"/>
                      <a:pt x="57" y="170"/>
                    </a:cubicBezTo>
                    <a:cubicBezTo>
                      <a:pt x="70" y="241"/>
                      <a:pt x="74" y="353"/>
                      <a:pt x="76" y="425"/>
                    </a:cubicBezTo>
                    <a:cubicBezTo>
                      <a:pt x="78" y="497"/>
                      <a:pt x="72" y="544"/>
                      <a:pt x="67" y="604"/>
                    </a:cubicBezTo>
                    <a:cubicBezTo>
                      <a:pt x="62" y="664"/>
                      <a:pt x="59" y="722"/>
                      <a:pt x="48" y="783"/>
                    </a:cubicBezTo>
                    <a:cubicBezTo>
                      <a:pt x="37" y="844"/>
                      <a:pt x="10" y="933"/>
                      <a:pt x="0" y="972"/>
                    </a:cubicBezTo>
                  </a:path>
                </a:pathLst>
              </a:custGeom>
              <a:noFill/>
              <a:ln w="28575" cmpd="sng">
                <a:solidFill>
                  <a:srgbClr val="FF0000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1" name="Object 36"/>
              <p:cNvGraphicFramePr>
                <a:graphicFrameLocks noChangeAspect="1"/>
              </p:cNvGraphicFramePr>
              <p:nvPr/>
            </p:nvGraphicFramePr>
            <p:xfrm>
              <a:off x="4785" y="2659"/>
              <a:ext cx="128" cy="1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184" name="Equation" r:id="rId13" imgW="203024" imgH="266469" progId="Equation.DSMT4">
                      <p:embed/>
                    </p:oleObj>
                  </mc:Choice>
                  <mc:Fallback>
                    <p:oleObj name="Equation" r:id="rId13" imgW="203024" imgH="266469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85" y="2659"/>
                            <a:ext cx="128" cy="168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9" name="Group 37"/>
          <p:cNvGrpSpPr>
            <a:grpSpLocks/>
          </p:cNvGrpSpPr>
          <p:nvPr/>
        </p:nvGrpSpPr>
        <p:grpSpPr bwMode="auto">
          <a:xfrm>
            <a:off x="3289901" y="-88719"/>
            <a:ext cx="3095925" cy="3071393"/>
            <a:chOff x="227" y="1752"/>
            <a:chExt cx="1999" cy="2138"/>
          </a:xfrm>
        </p:grpSpPr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793" y="2568"/>
              <a:ext cx="1225" cy="8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Line 39"/>
            <p:cNvSpPr>
              <a:spLocks noChangeShapeType="1"/>
            </p:cNvSpPr>
            <p:nvPr/>
          </p:nvSpPr>
          <p:spPr bwMode="auto">
            <a:xfrm flipH="1">
              <a:off x="567" y="2568"/>
              <a:ext cx="226" cy="1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auto">
            <a:xfrm>
              <a:off x="227" y="3437"/>
              <a:ext cx="1822" cy="256"/>
            </a:xfrm>
            <a:custGeom>
              <a:avLst/>
              <a:gdLst>
                <a:gd name="T0" fmla="*/ 0 w 1822"/>
                <a:gd name="T1" fmla="*/ 198 h 256"/>
                <a:gd name="T2" fmla="*/ 595 w 1822"/>
                <a:gd name="T3" fmla="*/ 256 h 256"/>
                <a:gd name="T4" fmla="*/ 1274 w 1822"/>
                <a:gd name="T5" fmla="*/ 200 h 256"/>
                <a:gd name="T6" fmla="*/ 1822 w 1822"/>
                <a:gd name="T7" fmla="*/ 0 h 25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22" h="256">
                  <a:moveTo>
                    <a:pt x="0" y="198"/>
                  </a:moveTo>
                  <a:cubicBezTo>
                    <a:pt x="99" y="211"/>
                    <a:pt x="383" y="256"/>
                    <a:pt x="595" y="256"/>
                  </a:cubicBezTo>
                  <a:cubicBezTo>
                    <a:pt x="807" y="256"/>
                    <a:pt x="1070" y="242"/>
                    <a:pt x="1274" y="200"/>
                  </a:cubicBezTo>
                  <a:cubicBezTo>
                    <a:pt x="1478" y="157"/>
                    <a:pt x="1708" y="42"/>
                    <a:pt x="1822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Line 41"/>
            <p:cNvSpPr>
              <a:spLocks noChangeShapeType="1"/>
            </p:cNvSpPr>
            <p:nvPr/>
          </p:nvSpPr>
          <p:spPr bwMode="auto">
            <a:xfrm flipV="1">
              <a:off x="793" y="2069"/>
              <a:ext cx="862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auto">
            <a:xfrm>
              <a:off x="1579" y="1979"/>
              <a:ext cx="503" cy="1590"/>
            </a:xfrm>
            <a:custGeom>
              <a:avLst/>
              <a:gdLst>
                <a:gd name="T0" fmla="*/ 0 w 503"/>
                <a:gd name="T1" fmla="*/ 0 h 1590"/>
                <a:gd name="T2" fmla="*/ 179 w 503"/>
                <a:gd name="T3" fmla="*/ 181 h 1590"/>
                <a:gd name="T4" fmla="*/ 413 w 503"/>
                <a:gd name="T5" fmla="*/ 618 h 1590"/>
                <a:gd name="T6" fmla="*/ 498 w 503"/>
                <a:gd name="T7" fmla="*/ 1118 h 1590"/>
                <a:gd name="T8" fmla="*/ 442 w 503"/>
                <a:gd name="T9" fmla="*/ 1590 h 159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3" h="1590">
                  <a:moveTo>
                    <a:pt x="0" y="0"/>
                  </a:moveTo>
                  <a:cubicBezTo>
                    <a:pt x="30" y="30"/>
                    <a:pt x="110" y="78"/>
                    <a:pt x="179" y="181"/>
                  </a:cubicBezTo>
                  <a:cubicBezTo>
                    <a:pt x="248" y="284"/>
                    <a:pt x="360" y="462"/>
                    <a:pt x="413" y="618"/>
                  </a:cubicBezTo>
                  <a:cubicBezTo>
                    <a:pt x="466" y="774"/>
                    <a:pt x="493" y="956"/>
                    <a:pt x="498" y="1118"/>
                  </a:cubicBezTo>
                  <a:cubicBezTo>
                    <a:pt x="503" y="1280"/>
                    <a:pt x="454" y="1492"/>
                    <a:pt x="442" y="159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auto">
            <a:xfrm>
              <a:off x="283" y="1752"/>
              <a:ext cx="1463" cy="2138"/>
            </a:xfrm>
            <a:custGeom>
              <a:avLst/>
              <a:gdLst>
                <a:gd name="T0" fmla="*/ 0 w 1463"/>
                <a:gd name="T1" fmla="*/ 2138 h 2138"/>
                <a:gd name="T2" fmla="*/ 567 w 1463"/>
                <a:gd name="T3" fmla="*/ 1713 h 2138"/>
                <a:gd name="T4" fmla="*/ 1011 w 1463"/>
                <a:gd name="T5" fmla="*/ 1194 h 2138"/>
                <a:gd name="T6" fmla="*/ 1301 w 1463"/>
                <a:gd name="T7" fmla="*/ 571 h 2138"/>
                <a:gd name="T8" fmla="*/ 1463 w 1463"/>
                <a:gd name="T9" fmla="*/ 0 h 2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63" h="2138">
                  <a:moveTo>
                    <a:pt x="0" y="2138"/>
                  </a:moveTo>
                  <a:cubicBezTo>
                    <a:pt x="94" y="2067"/>
                    <a:pt x="399" y="1870"/>
                    <a:pt x="567" y="1713"/>
                  </a:cubicBezTo>
                  <a:cubicBezTo>
                    <a:pt x="735" y="1556"/>
                    <a:pt x="889" y="1384"/>
                    <a:pt x="1011" y="1194"/>
                  </a:cubicBezTo>
                  <a:cubicBezTo>
                    <a:pt x="1133" y="1004"/>
                    <a:pt x="1226" y="770"/>
                    <a:pt x="1301" y="571"/>
                  </a:cubicBezTo>
                  <a:cubicBezTo>
                    <a:pt x="1376" y="372"/>
                    <a:pt x="1423" y="187"/>
                    <a:pt x="1463" y="0"/>
                  </a:cubicBezTo>
                </a:path>
              </a:pathLst>
            </a:custGeom>
            <a:noFill/>
            <a:ln w="28575" cmpd="sng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Line 44"/>
            <p:cNvSpPr>
              <a:spLocks noChangeShapeType="1"/>
            </p:cNvSpPr>
            <p:nvPr/>
          </p:nvSpPr>
          <p:spPr bwMode="auto">
            <a:xfrm>
              <a:off x="1655" y="2069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Line 45"/>
            <p:cNvSpPr>
              <a:spLocks noChangeShapeType="1"/>
            </p:cNvSpPr>
            <p:nvPr/>
          </p:nvSpPr>
          <p:spPr bwMode="auto">
            <a:xfrm flipH="1">
              <a:off x="657" y="2069"/>
              <a:ext cx="998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Line 46"/>
            <p:cNvSpPr>
              <a:spLocks noChangeShapeType="1"/>
            </p:cNvSpPr>
            <p:nvPr/>
          </p:nvSpPr>
          <p:spPr bwMode="auto">
            <a:xfrm flipV="1">
              <a:off x="657" y="3158"/>
              <a:ext cx="9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Box 47"/>
            <p:cNvSpPr txBox="1">
              <a:spLocks noChangeArrowheads="1"/>
            </p:cNvSpPr>
            <p:nvPr/>
          </p:nvSpPr>
          <p:spPr bwMode="auto">
            <a:xfrm>
              <a:off x="567" y="2387"/>
              <a:ext cx="22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O</a:t>
              </a:r>
            </a:p>
          </p:txBody>
        </p:sp>
        <p:sp>
          <p:nvSpPr>
            <p:cNvPr id="50" name="Text Box 48"/>
            <p:cNvSpPr txBox="1">
              <a:spLocks noChangeArrowheads="1"/>
            </p:cNvSpPr>
            <p:nvPr/>
          </p:nvSpPr>
          <p:spPr bwMode="auto">
            <a:xfrm>
              <a:off x="2006" y="3443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D</a:t>
              </a:r>
            </a:p>
          </p:txBody>
        </p:sp>
        <p:sp>
          <p:nvSpPr>
            <p:cNvPr id="51" name="Text Box 49"/>
            <p:cNvSpPr txBox="1">
              <a:spLocks noChangeArrowheads="1"/>
            </p:cNvSpPr>
            <p:nvPr/>
          </p:nvSpPr>
          <p:spPr bwMode="auto">
            <a:xfrm>
              <a:off x="567" y="3657"/>
              <a:ext cx="22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N</a:t>
              </a:r>
            </a:p>
          </p:txBody>
        </p:sp>
        <p:sp>
          <p:nvSpPr>
            <p:cNvPr id="52" name="Text Box 50"/>
            <p:cNvSpPr txBox="1">
              <a:spLocks noChangeArrowheads="1"/>
            </p:cNvSpPr>
            <p:nvPr/>
          </p:nvSpPr>
          <p:spPr bwMode="auto">
            <a:xfrm>
              <a:off x="1688" y="1900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S</a:t>
              </a:r>
            </a:p>
          </p:txBody>
        </p:sp>
        <p:sp>
          <p:nvSpPr>
            <p:cNvPr id="53" name="Text Box 51"/>
            <p:cNvSpPr txBox="1">
              <a:spLocks noChangeArrowheads="1"/>
            </p:cNvSpPr>
            <p:nvPr/>
          </p:nvSpPr>
          <p:spPr bwMode="auto">
            <a:xfrm>
              <a:off x="431" y="3067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A</a:t>
              </a:r>
            </a:p>
          </p:txBody>
        </p:sp>
        <p:sp>
          <p:nvSpPr>
            <p:cNvPr id="54" name="Text Box 52"/>
            <p:cNvSpPr txBox="1">
              <a:spLocks noChangeArrowheads="1"/>
            </p:cNvSpPr>
            <p:nvPr/>
          </p:nvSpPr>
          <p:spPr bwMode="auto">
            <a:xfrm>
              <a:off x="1565" y="3158"/>
              <a:ext cx="212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 b="0">
                  <a:latin typeface="Arial" panose="020B0604020202020204" pitchFamily="34" charset="0"/>
                </a:rPr>
                <a:t>B</a:t>
              </a:r>
            </a:p>
          </p:txBody>
        </p:sp>
        <p:sp>
          <p:nvSpPr>
            <p:cNvPr id="55" name="Text Box 53"/>
            <p:cNvSpPr txBox="1">
              <a:spLocks noChangeArrowheads="1"/>
            </p:cNvSpPr>
            <p:nvPr/>
          </p:nvSpPr>
          <p:spPr bwMode="auto">
            <a:xfrm>
              <a:off x="839" y="2931"/>
              <a:ext cx="15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n-US" altLang="zh-CN" sz="1800">
                  <a:latin typeface="Arial" panose="020B0604020202020204" pitchFamily="34" charset="0"/>
                </a:rPr>
                <a:t>i</a:t>
              </a:r>
            </a:p>
          </p:txBody>
        </p:sp>
        <p:sp>
          <p:nvSpPr>
            <p:cNvPr id="56" name="Text Box 54"/>
            <p:cNvSpPr txBox="1">
              <a:spLocks noChangeArrowheads="1"/>
            </p:cNvSpPr>
            <p:nvPr/>
          </p:nvSpPr>
          <p:spPr bwMode="auto">
            <a:xfrm>
              <a:off x="839" y="2473"/>
              <a:ext cx="260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kumimoji="0" lang="el-GR" altLang="zh-CN" sz="1800">
                  <a:latin typeface="宋体" panose="02010600030101010101" pitchFamily="2" charset="-122"/>
                </a:rPr>
                <a:t>δ</a:t>
              </a:r>
            </a:p>
          </p:txBody>
        </p:sp>
      </p:grpSp>
      <p:graphicFrame>
        <p:nvGraphicFramePr>
          <p:cNvPr id="57" name="Object 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7039877"/>
              </p:ext>
            </p:extLst>
          </p:nvPr>
        </p:nvGraphicFramePr>
        <p:xfrm>
          <a:off x="61915" y="94730"/>
          <a:ext cx="910754" cy="3017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5" name="Equation" r:id="rId15" imgW="799753" imgH="266584" progId="Equation.DSMT4">
                  <p:embed/>
                </p:oleObj>
              </mc:Choice>
              <mc:Fallback>
                <p:oleObj name="Equation" r:id="rId15" imgW="799753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915" y="94730"/>
                        <a:ext cx="910754" cy="3017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5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741869"/>
              </p:ext>
            </p:extLst>
          </p:nvPr>
        </p:nvGraphicFramePr>
        <p:xfrm>
          <a:off x="1125206" y="79151"/>
          <a:ext cx="2148638" cy="34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6" name="Equation" r:id="rId17" imgW="1981200" imgH="317500" progId="Equation.DSMT4">
                  <p:embed/>
                </p:oleObj>
              </mc:Choice>
              <mc:Fallback>
                <p:oleObj name="Equation" r:id="rId17" imgW="19812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206" y="79151"/>
                        <a:ext cx="2148638" cy="342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9" name="Object 5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3353956"/>
              </p:ext>
            </p:extLst>
          </p:nvPr>
        </p:nvGraphicFramePr>
        <p:xfrm>
          <a:off x="19250" y="459354"/>
          <a:ext cx="2396930" cy="3656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7" name="Equation" r:id="rId19" imgW="2070100" imgH="317500" progId="Equation.DSMT4">
                  <p:embed/>
                </p:oleObj>
              </mc:Choice>
              <mc:Fallback>
                <p:oleObj name="Equation" r:id="rId19" imgW="20701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250" y="459354"/>
                        <a:ext cx="2396930" cy="3656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0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888059"/>
              </p:ext>
            </p:extLst>
          </p:nvPr>
        </p:nvGraphicFramePr>
        <p:xfrm>
          <a:off x="62912" y="884816"/>
          <a:ext cx="2032000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8" name="Equation" r:id="rId21" imgW="1548728" imgH="266584" progId="Equation.DSMT4">
                  <p:embed/>
                </p:oleObj>
              </mc:Choice>
              <mc:Fallback>
                <p:oleObj name="Equation" r:id="rId21" imgW="1548728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912" y="884816"/>
                        <a:ext cx="2032000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286649"/>
              </p:ext>
            </p:extLst>
          </p:nvPr>
        </p:nvGraphicFramePr>
        <p:xfrm>
          <a:off x="97014" y="1412051"/>
          <a:ext cx="1947863" cy="34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9" name="Equation" r:id="rId23" imgW="1485255" imgH="266584" progId="Equation.DSMT4">
                  <p:embed/>
                </p:oleObj>
              </mc:Choice>
              <mc:Fallback>
                <p:oleObj name="Equation" r:id="rId23" imgW="1485255" imgH="266584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014" y="1412051"/>
                        <a:ext cx="1947863" cy="34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 Box 60"/>
          <p:cNvSpPr txBox="1">
            <a:spLocks noChangeArrowheads="1"/>
          </p:cNvSpPr>
          <p:nvPr/>
        </p:nvSpPr>
        <p:spPr bwMode="auto">
          <a:xfrm>
            <a:off x="15108" y="1878122"/>
            <a:ext cx="23272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800" dirty="0">
                <a:latin typeface="Arial" panose="020B0604020202020204" pitchFamily="34" charset="0"/>
              </a:rPr>
              <a:t>由此可以得到</a:t>
            </a:r>
          </a:p>
        </p:txBody>
      </p:sp>
      <p:graphicFrame>
        <p:nvGraphicFramePr>
          <p:cNvPr id="63" name="Object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2436728"/>
              </p:ext>
            </p:extLst>
          </p:nvPr>
        </p:nvGraphicFramePr>
        <p:xfrm>
          <a:off x="124944" y="2943584"/>
          <a:ext cx="4032250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0" name="Equation" r:id="rId25" imgW="3073400" imgH="317500" progId="Equation.DSMT4">
                  <p:embed/>
                </p:oleObj>
              </mc:Choice>
              <mc:Fallback>
                <p:oleObj name="Equation" r:id="rId25" imgW="3073400" imgH="317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4944" y="2943584"/>
                        <a:ext cx="4032250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c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4572510"/>
              </p:ext>
            </p:extLst>
          </p:nvPr>
        </p:nvGraphicFramePr>
        <p:xfrm>
          <a:off x="205036" y="3591273"/>
          <a:ext cx="2562367" cy="1039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1" name="公式" r:id="rId27" imgW="1752600" imgH="711200" progId="Equation.3">
                  <p:embed/>
                </p:oleObj>
              </mc:Choice>
              <mc:Fallback>
                <p:oleObj name="公式" r:id="rId27" imgW="17526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36" y="3591273"/>
                        <a:ext cx="2562367" cy="1039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" name="Object 5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156092"/>
              </p:ext>
            </p:extLst>
          </p:nvPr>
        </p:nvGraphicFramePr>
        <p:xfrm>
          <a:off x="2876586" y="3591273"/>
          <a:ext cx="2637430" cy="110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2" name="公式" r:id="rId29" imgW="1688367" imgH="710891" progId="Equation.3">
                  <p:embed/>
                </p:oleObj>
              </mc:Choice>
              <mc:Fallback>
                <p:oleObj name="公式" r:id="rId29" imgW="1688367" imgH="710891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586" y="3591273"/>
                        <a:ext cx="2637430" cy="110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" name="Objec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2485648"/>
              </p:ext>
            </p:extLst>
          </p:nvPr>
        </p:nvGraphicFramePr>
        <p:xfrm>
          <a:off x="5623199" y="3550330"/>
          <a:ext cx="2679083" cy="110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3" name="公式" r:id="rId31" imgW="1714500" imgH="711200" progId="Equation.3">
                  <p:embed/>
                </p:oleObj>
              </mc:Choice>
              <mc:Fallback>
                <p:oleObj name="公式" r:id="rId31" imgW="1714500" imgH="71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23199" y="3550330"/>
                        <a:ext cx="2679083" cy="110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3818607"/>
              </p:ext>
            </p:extLst>
          </p:nvPr>
        </p:nvGraphicFramePr>
        <p:xfrm>
          <a:off x="205036" y="4700448"/>
          <a:ext cx="1837743" cy="13009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4" name="Equation" r:id="rId33" imgW="1002865" imgH="710891" progId="Equation.DSMT4">
                  <p:embed/>
                </p:oleObj>
              </mc:Choice>
              <mc:Fallback>
                <p:oleObj name="Equation" r:id="rId33" imgW="1002865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036" y="4700448"/>
                        <a:ext cx="1837743" cy="130091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256344"/>
              </p:ext>
            </p:extLst>
          </p:nvPr>
        </p:nvGraphicFramePr>
        <p:xfrm>
          <a:off x="100483" y="6224474"/>
          <a:ext cx="3129464" cy="4466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5" name="Equation" r:id="rId35" imgW="1333500" imgH="190500" progId="Equation.DSMT4">
                  <p:embed/>
                </p:oleObj>
              </mc:Choice>
              <mc:Fallback>
                <p:oleObj name="Equation" r:id="rId35" imgW="13335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483" y="6224474"/>
                        <a:ext cx="3129464" cy="44667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矩形 77"/>
          <p:cNvSpPr/>
          <p:nvPr/>
        </p:nvSpPr>
        <p:spPr>
          <a:xfrm>
            <a:off x="2064244" y="4700448"/>
            <a:ext cx="131238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</a:rPr>
              <a:t>把轨道平面内卫星轨道坐标系中的曲线转化到惯性坐标系中</a:t>
            </a:r>
            <a:endParaRPr lang="zh-CN" altLang="en-US" sz="1600" dirty="0"/>
          </a:p>
        </p:txBody>
      </p:sp>
      <p:graphicFrame>
        <p:nvGraphicFramePr>
          <p:cNvPr id="7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756001"/>
              </p:ext>
            </p:extLst>
          </p:nvPr>
        </p:nvGraphicFramePr>
        <p:xfrm>
          <a:off x="7226481" y="4929385"/>
          <a:ext cx="1837743" cy="1154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6" name="Equation" r:id="rId37" imgW="1129810" imgH="710891" progId="Equation.DSMT4">
                  <p:embed/>
                </p:oleObj>
              </mc:Choice>
              <mc:Fallback>
                <p:oleObj name="Equation" r:id="rId37" imgW="1129810" imgH="71089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481" y="4929385"/>
                        <a:ext cx="1837743" cy="1154821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" name="矩形 79"/>
          <p:cNvSpPr/>
          <p:nvPr/>
        </p:nvSpPr>
        <p:spPr>
          <a:xfrm>
            <a:off x="6063689" y="4700448"/>
            <a:ext cx="117124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1600" dirty="0">
                <a:latin typeface="Times New Roman" panose="02020603050405020304" pitchFamily="18" charset="0"/>
              </a:rPr>
              <a:t>把惯性坐标系中的曲线转化到了轨道平面内的极坐标中</a:t>
            </a:r>
            <a:endParaRPr kumimoji="1" lang="zh-CN" altLang="en-US" sz="16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8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0715665"/>
              </p:ext>
            </p:extLst>
          </p:nvPr>
        </p:nvGraphicFramePr>
        <p:xfrm>
          <a:off x="6149063" y="6270108"/>
          <a:ext cx="2967037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97" name="Equation" r:id="rId39" imgW="1104900" imgH="190500" progId="Equation.DSMT4">
                  <p:embed/>
                </p:oleObj>
              </mc:Choice>
              <mc:Fallback>
                <p:oleObj name="Equation" r:id="rId39" imgW="1104900" imgH="1905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9063" y="6270108"/>
                        <a:ext cx="2967037" cy="5111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0000FF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00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585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1681" y="0"/>
            <a:ext cx="3382319" cy="3207511"/>
          </a:xfrm>
          <a:prstGeom prst="rect">
            <a:avLst/>
          </a:prstGeom>
        </p:spPr>
      </p:pic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3664268"/>
              </p:ext>
            </p:extLst>
          </p:nvPr>
        </p:nvGraphicFramePr>
        <p:xfrm>
          <a:off x="0" y="0"/>
          <a:ext cx="1651379" cy="8598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公式" r:id="rId4" imgW="876240" imgH="457200" progId="Equation.3">
                  <p:embed/>
                </p:oleObj>
              </mc:Choice>
              <mc:Fallback>
                <p:oleObj name="公式" r:id="rId4" imgW="87624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1651379" cy="85980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9779490"/>
              </p:ext>
            </p:extLst>
          </p:nvPr>
        </p:nvGraphicFramePr>
        <p:xfrm>
          <a:off x="1722584" y="0"/>
          <a:ext cx="3149667" cy="921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7" name="公式" r:id="rId6" imgW="1511280" imgH="444240" progId="Equation.3">
                  <p:embed/>
                </p:oleObj>
              </mc:Choice>
              <mc:Fallback>
                <p:oleObj name="公式" r:id="rId6" imgW="1511280" imgH="4442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22584" y="0"/>
                        <a:ext cx="3149667" cy="9211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349641"/>
              </p:ext>
            </p:extLst>
          </p:nvPr>
        </p:nvGraphicFramePr>
        <p:xfrm>
          <a:off x="0" y="859809"/>
          <a:ext cx="5527343" cy="11129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8" name="Equation" r:id="rId8" imgW="2641320" imgH="533160" progId="Equation.DSMT4">
                  <p:embed/>
                </p:oleObj>
              </mc:Choice>
              <mc:Fallback>
                <p:oleObj name="Equation" r:id="rId8" imgW="264132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859809"/>
                        <a:ext cx="5527343" cy="111295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042767"/>
              </p:ext>
            </p:extLst>
          </p:nvPr>
        </p:nvGraphicFramePr>
        <p:xfrm>
          <a:off x="0" y="1874744"/>
          <a:ext cx="3548418" cy="9578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9" name="Equation" r:id="rId10" imgW="1688760" imgH="457200" progId="Equation.DSMT4">
                  <p:embed/>
                </p:oleObj>
              </mc:Choice>
              <mc:Fallback>
                <p:oleObj name="Equation" r:id="rId10" imgW="168876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874744"/>
                        <a:ext cx="3548418" cy="957831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9" name="图片 1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02584" y="3207511"/>
            <a:ext cx="3059530" cy="248646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270" y="2832575"/>
            <a:ext cx="2731401" cy="180877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80952" y="3207511"/>
            <a:ext cx="2322545" cy="1172547"/>
          </a:xfrm>
          <a:prstGeom prst="rect">
            <a:avLst/>
          </a:prstGeom>
        </p:spPr>
      </p:pic>
      <p:graphicFrame>
        <p:nvGraphicFramePr>
          <p:cNvPr id="2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2765103"/>
              </p:ext>
            </p:extLst>
          </p:nvPr>
        </p:nvGraphicFramePr>
        <p:xfrm>
          <a:off x="32270" y="4631938"/>
          <a:ext cx="3758840" cy="8692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40" name="公式" r:id="rId15" imgW="2082600" imgH="482400" progId="Equation.3">
                  <p:embed/>
                </p:oleObj>
              </mc:Choice>
              <mc:Fallback>
                <p:oleObj name="公式" r:id="rId15" imgW="208260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70" y="4631938"/>
                        <a:ext cx="3758840" cy="8692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81967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7615360"/>
              </p:ext>
            </p:extLst>
          </p:nvPr>
        </p:nvGraphicFramePr>
        <p:xfrm>
          <a:off x="1918447" y="361420"/>
          <a:ext cx="4932529" cy="873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0" name="Equation" r:id="rId3" imgW="2654280" imgH="469800" progId="Equation.DSMT4">
                  <p:embed/>
                </p:oleObj>
              </mc:Choice>
              <mc:Fallback>
                <p:oleObj name="Equation" r:id="rId3" imgW="265428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8447" y="361420"/>
                        <a:ext cx="4932529" cy="87300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017972"/>
              </p:ext>
            </p:extLst>
          </p:nvPr>
        </p:nvGraphicFramePr>
        <p:xfrm>
          <a:off x="7040563" y="58858"/>
          <a:ext cx="2103437" cy="1111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5" imgW="888840" imgH="469800" progId="Equation.DSMT4">
                  <p:embed/>
                </p:oleObj>
              </mc:Choice>
              <mc:Fallback>
                <p:oleObj name="Equation" r:id="rId5" imgW="88884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0563" y="58858"/>
                        <a:ext cx="2103437" cy="11112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8237929"/>
              </p:ext>
            </p:extLst>
          </p:nvPr>
        </p:nvGraphicFramePr>
        <p:xfrm>
          <a:off x="130790" y="1418933"/>
          <a:ext cx="6188123" cy="796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7" imgW="3657600" imgH="469800" progId="Equation.DSMT4">
                  <p:embed/>
                </p:oleObj>
              </mc:Choice>
              <mc:Fallback>
                <p:oleObj name="Equation" r:id="rId7" imgW="36576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90" y="1418933"/>
                        <a:ext cx="6188123" cy="79692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3413866"/>
              </p:ext>
            </p:extLst>
          </p:nvPr>
        </p:nvGraphicFramePr>
        <p:xfrm>
          <a:off x="130790" y="394839"/>
          <a:ext cx="1656867" cy="8061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9" imgW="914400" imgH="444240" progId="Equation.DSMT4">
                  <p:embed/>
                </p:oleObj>
              </mc:Choice>
              <mc:Fallback>
                <p:oleObj name="Equation" r:id="rId9" imgW="9144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90" y="394839"/>
                        <a:ext cx="1656867" cy="80616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9471796"/>
              </p:ext>
            </p:extLst>
          </p:nvPr>
        </p:nvGraphicFramePr>
        <p:xfrm>
          <a:off x="6469038" y="1253039"/>
          <a:ext cx="2564811" cy="962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11" imgW="1180800" imgH="444240" progId="Equation.DSMT4">
                  <p:embed/>
                </p:oleObj>
              </mc:Choice>
              <mc:Fallback>
                <p:oleObj name="Equation" r:id="rId11" imgW="118080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9038" y="1253039"/>
                        <a:ext cx="2564811" cy="96282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矩形 9"/>
          <p:cNvSpPr/>
          <p:nvPr/>
        </p:nvSpPr>
        <p:spPr>
          <a:xfrm>
            <a:off x="0" y="22723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轨道根数摄动方程组：</a:t>
            </a:r>
          </a:p>
        </p:txBody>
      </p:sp>
      <p:graphicFrame>
        <p:nvGraphicFramePr>
          <p:cNvPr id="1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360365"/>
              </p:ext>
            </p:extLst>
          </p:nvPr>
        </p:nvGraphicFramePr>
        <p:xfrm>
          <a:off x="130790" y="2607230"/>
          <a:ext cx="2873975" cy="193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13" imgW="1904760" imgH="1282680" progId="Equation.DSMT4">
                  <p:embed/>
                </p:oleObj>
              </mc:Choice>
              <mc:Fallback>
                <p:oleObj name="Equation" r:id="rId13" imgW="1904760" imgH="12826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790" y="2607230"/>
                        <a:ext cx="2873975" cy="193471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CC00CC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4602975"/>
              </p:ext>
            </p:extLst>
          </p:nvPr>
        </p:nvGraphicFramePr>
        <p:xfrm>
          <a:off x="3117727" y="2257072"/>
          <a:ext cx="2873641" cy="780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6" name="Equation" r:id="rId15" imgW="1587240" imgH="431640" progId="Equation.DSMT4">
                  <p:embed/>
                </p:oleObj>
              </mc:Choice>
              <mc:Fallback>
                <p:oleObj name="Equation" r:id="rId15" imgW="15872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727" y="2257072"/>
                        <a:ext cx="2873641" cy="7808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21546197"/>
              </p:ext>
            </p:extLst>
          </p:nvPr>
        </p:nvGraphicFramePr>
        <p:xfrm>
          <a:off x="50613" y="5053223"/>
          <a:ext cx="2735240" cy="178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7" name="Equation" r:id="rId17" imgW="1688760" imgH="1104840" progId="Equation.DSMT4">
                  <p:embed/>
                </p:oleObj>
              </mc:Choice>
              <mc:Fallback>
                <p:oleObj name="Equation" r:id="rId17" imgW="1688760" imgH="1104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13" y="5053223"/>
                        <a:ext cx="2735240" cy="1785276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0" y="4685526"/>
            <a:ext cx="9028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/>
              <a:t>大气阻力</a:t>
            </a:r>
          </a:p>
        </p:txBody>
      </p:sp>
      <p:graphicFrame>
        <p:nvGraphicFramePr>
          <p:cNvPr id="1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3142144"/>
              </p:ext>
            </p:extLst>
          </p:nvPr>
        </p:nvGraphicFramePr>
        <p:xfrm>
          <a:off x="2830775" y="6204929"/>
          <a:ext cx="1154372" cy="683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8" name="公式" r:id="rId19" imgW="660240" imgH="393480" progId="Equation.3">
                  <p:embed/>
                </p:oleObj>
              </mc:Choice>
              <mc:Fallback>
                <p:oleObj name="公式" r:id="rId19" imgW="660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30775" y="6204929"/>
                        <a:ext cx="1154372" cy="683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4080682" y="6470802"/>
            <a:ext cx="3951723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i="1" dirty="0" smtClean="0"/>
              <a:t>C</a:t>
            </a:r>
            <a:r>
              <a:rPr lang="en-US" altLang="zh-CN" sz="1400" baseline="-25000" dirty="0" smtClean="0"/>
              <a:t>D</a:t>
            </a:r>
            <a:r>
              <a:rPr lang="zh-CN" altLang="en-US" sz="1400" dirty="0" smtClean="0"/>
              <a:t>为阻力系数，</a:t>
            </a:r>
            <a:r>
              <a:rPr lang="en-US" altLang="zh-CN" sz="1400" i="1" dirty="0"/>
              <a:t>S</a:t>
            </a:r>
            <a:r>
              <a:rPr lang="en-US" altLang="zh-CN" sz="1400" baseline="-25000" dirty="0"/>
              <a:t>0</a:t>
            </a:r>
            <a:r>
              <a:rPr lang="zh-CN" altLang="en-US" sz="1400" dirty="0"/>
              <a:t>为特征面积，一般为截面积。</a:t>
            </a:r>
          </a:p>
          <a:p>
            <a:pPr eaLnBrk="1" hangingPunct="1"/>
            <a:endParaRPr lang="zh-CN" altLang="en-US" sz="2800" b="1" dirty="0"/>
          </a:p>
        </p:txBody>
      </p:sp>
      <p:sp>
        <p:nvSpPr>
          <p:cNvPr id="18" name="文本框 17"/>
          <p:cNvSpPr txBox="1"/>
          <p:nvPr/>
        </p:nvSpPr>
        <p:spPr>
          <a:xfrm>
            <a:off x="68160" y="2237898"/>
            <a:ext cx="18715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地球引力场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950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utoUpdateAnimBg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</TotalTime>
  <Words>332</Words>
  <Application>Microsoft Office PowerPoint</Application>
  <PresentationFormat>全屏显示(4:3)</PresentationFormat>
  <Paragraphs>51</Paragraphs>
  <Slides>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宋体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Equation.DSMT4</vt:lpstr>
      <vt:lpstr>Microsoft Equation 3.0</vt:lpstr>
      <vt:lpstr>MathType 5.0 Equation</vt:lpstr>
      <vt:lpstr>MathType 6.0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微软用户</cp:lastModifiedBy>
  <cp:revision>15</cp:revision>
  <dcterms:created xsi:type="dcterms:W3CDTF">2015-01-15T08:21:41Z</dcterms:created>
  <dcterms:modified xsi:type="dcterms:W3CDTF">2015-01-15T11:28:22Z</dcterms:modified>
</cp:coreProperties>
</file>