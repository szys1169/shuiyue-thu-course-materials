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0" r:id="rId1"/>
    <p:sldMasterId id="2147483744" r:id="rId2"/>
    <p:sldMasterId id="2147483768" r:id="rId3"/>
  </p:sldMasterIdLst>
  <p:notesMasterIdLst>
    <p:notesMasterId r:id="rId70"/>
  </p:notesMasterIdLst>
  <p:handoutMasterIdLst>
    <p:handoutMasterId r:id="rId71"/>
  </p:handoutMasterIdLst>
  <p:sldIdLst>
    <p:sldId id="256" r:id="rId4"/>
    <p:sldId id="766" r:id="rId5"/>
    <p:sldId id="806" r:id="rId6"/>
    <p:sldId id="1283" r:id="rId7"/>
    <p:sldId id="1173" r:id="rId8"/>
    <p:sldId id="1358" r:id="rId9"/>
    <p:sldId id="1356" r:id="rId10"/>
    <p:sldId id="1357" r:id="rId11"/>
    <p:sldId id="713" r:id="rId12"/>
    <p:sldId id="1267" r:id="rId13"/>
    <p:sldId id="1361" r:id="rId14"/>
    <p:sldId id="1362" r:id="rId15"/>
    <p:sldId id="1363" r:id="rId16"/>
    <p:sldId id="1364" r:id="rId17"/>
    <p:sldId id="1365" r:id="rId18"/>
    <p:sldId id="1366" r:id="rId19"/>
    <p:sldId id="1367" r:id="rId20"/>
    <p:sldId id="1369" r:id="rId21"/>
    <p:sldId id="1368" r:id="rId22"/>
    <p:sldId id="1371" r:id="rId23"/>
    <p:sldId id="1370" r:id="rId24"/>
    <p:sldId id="1269" r:id="rId25"/>
    <p:sldId id="1372" r:id="rId26"/>
    <p:sldId id="1373" r:id="rId27"/>
    <p:sldId id="1374" r:id="rId28"/>
    <p:sldId id="1375" r:id="rId29"/>
    <p:sldId id="1377" r:id="rId30"/>
    <p:sldId id="1376" r:id="rId31"/>
    <p:sldId id="1378" r:id="rId32"/>
    <p:sldId id="1383" r:id="rId33"/>
    <p:sldId id="1379" r:id="rId34"/>
    <p:sldId id="1381" r:id="rId35"/>
    <p:sldId id="1382" r:id="rId36"/>
    <p:sldId id="1384" r:id="rId37"/>
    <p:sldId id="1284" r:id="rId38"/>
    <p:sldId id="1188" r:id="rId39"/>
    <p:sldId id="1386" r:id="rId40"/>
    <p:sldId id="1385" r:id="rId41"/>
    <p:sldId id="1387" r:id="rId42"/>
    <p:sldId id="1388" r:id="rId43"/>
    <p:sldId id="1389" r:id="rId44"/>
    <p:sldId id="1390" r:id="rId45"/>
    <p:sldId id="1286" r:id="rId46"/>
    <p:sldId id="1287" r:id="rId47"/>
    <p:sldId id="1391" r:id="rId48"/>
    <p:sldId id="1392" r:id="rId49"/>
    <p:sldId id="1393" r:id="rId50"/>
    <p:sldId id="1394" r:id="rId51"/>
    <p:sldId id="1398" r:id="rId52"/>
    <p:sldId id="1395" r:id="rId53"/>
    <p:sldId id="1396" r:id="rId54"/>
    <p:sldId id="1397" r:id="rId55"/>
    <p:sldId id="1399" r:id="rId56"/>
    <p:sldId id="1400" r:id="rId57"/>
    <p:sldId id="1401" r:id="rId58"/>
    <p:sldId id="1209" r:id="rId59"/>
    <p:sldId id="1402" r:id="rId60"/>
    <p:sldId id="1403" r:id="rId61"/>
    <p:sldId id="1415" r:id="rId62"/>
    <p:sldId id="1405" r:id="rId63"/>
    <p:sldId id="1407" r:id="rId64"/>
    <p:sldId id="1408" r:id="rId65"/>
    <p:sldId id="1409" r:id="rId66"/>
    <p:sldId id="1410" r:id="rId67"/>
    <p:sldId id="1411" r:id="rId68"/>
    <p:sldId id="1262" r:id="rId69"/>
  </p:sldIdLst>
  <p:sldSz cx="9144000" cy="6858000" type="screen4x3"/>
  <p:notesSz cx="7099300" cy="10234613"/>
  <p:defaultTex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8" orient="horz" pos="3634" userDrawn="1">
          <p15:clr>
            <a:srgbClr val="A4A3A4"/>
          </p15:clr>
        </p15:guide>
        <p15:guide id="24" pos="2835" userDrawn="1">
          <p15:clr>
            <a:srgbClr val="A4A3A4"/>
          </p15:clr>
        </p15:guide>
        <p15:guide id="26" pos="2200" userDrawn="1">
          <p15:clr>
            <a:srgbClr val="A4A3A4"/>
          </p15:clr>
        </p15:guide>
        <p15:guide id="28" pos="2177" userDrawn="1">
          <p15:clr>
            <a:srgbClr val="A4A3A4"/>
          </p15:clr>
        </p15:guide>
        <p15:guide id="29" orient="horz" pos="1139" userDrawn="1">
          <p15:clr>
            <a:srgbClr val="A4A3A4"/>
          </p15:clr>
        </p15:guide>
        <p15:guide id="30" pos="2585" userDrawn="1">
          <p15:clr>
            <a:srgbClr val="A4A3A4"/>
          </p15:clr>
        </p15:guide>
        <p15:guide id="31" pos="2971" userDrawn="1">
          <p15:clr>
            <a:srgbClr val="A4A3A4"/>
          </p15:clr>
        </p15:guide>
      </p15:sldGuideLst>
    </p:ext>
    <p:ext uri="{2D200454-40CA-4A62-9FC3-DE9A4176ACB9}">
      <p15:notesGuideLst xmlns:p15="http://schemas.microsoft.com/office/powerpoint/2012/main">
        <p15:guide id="1" orient="horz" pos="2401" userDrawn="1">
          <p15:clr>
            <a:srgbClr val="A4A3A4"/>
          </p15:clr>
        </p15:guide>
        <p15:guide id="2" pos="92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99CCFF"/>
    <a:srgbClr val="A50021"/>
    <a:srgbClr val="000066"/>
    <a:srgbClr val="CDE6FF"/>
    <a:srgbClr val="660066"/>
    <a:srgbClr val="FFCCCC"/>
    <a:srgbClr val="FFDB69"/>
    <a:srgbClr val="990033"/>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03" autoAdjust="0"/>
    <p:restoredTop sz="95188" autoAdjust="0"/>
  </p:normalViewPr>
  <p:slideViewPr>
    <p:cSldViewPr snapToGrid="0" showGuides="1">
      <p:cViewPr varScale="1">
        <p:scale>
          <a:sx n="77" d="100"/>
          <a:sy n="77" d="100"/>
        </p:scale>
        <p:origin x="272" y="72"/>
      </p:cViewPr>
      <p:guideLst>
        <p:guide orient="horz" pos="3634"/>
        <p:guide pos="2835"/>
        <p:guide pos="2200"/>
        <p:guide pos="2177"/>
        <p:guide orient="horz" pos="1139"/>
        <p:guide pos="2585"/>
        <p:guide pos="29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603"/>
    </p:cViewPr>
  </p:sorterViewPr>
  <p:notesViewPr>
    <p:cSldViewPr snapToGrid="0" showGuides="1">
      <p:cViewPr varScale="1">
        <p:scale>
          <a:sx n="105" d="100"/>
          <a:sy n="105" d="100"/>
        </p:scale>
        <p:origin x="1950" y="132"/>
      </p:cViewPr>
      <p:guideLst>
        <p:guide orient="horz" pos="2401"/>
        <p:guide pos="92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4"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31.wmf"/><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1" y="1"/>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lvl1pPr>
              <a:lnSpc>
                <a:spcPct val="100000"/>
              </a:lnSpc>
              <a:spcBef>
                <a:spcPct val="0"/>
              </a:spcBef>
              <a:spcAft>
                <a:spcPct val="0"/>
              </a:spcAft>
              <a:defRPr kumimoji="1" sz="1200"/>
            </a:lvl1pPr>
          </a:lstStyle>
          <a:p>
            <a:endParaRPr lang="zh-CN" altLang="en-US"/>
          </a:p>
        </p:txBody>
      </p:sp>
      <p:sp>
        <p:nvSpPr>
          <p:cNvPr id="26627" name="Rectangle 3"/>
          <p:cNvSpPr>
            <a:spLocks noGrp="1" noChangeArrowheads="1"/>
          </p:cNvSpPr>
          <p:nvPr>
            <p:ph type="dt" sz="quarter" idx="1"/>
          </p:nvPr>
        </p:nvSpPr>
        <p:spPr bwMode="auto">
          <a:xfrm>
            <a:off x="4022937" y="1"/>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lvl1pPr algn="r">
              <a:lnSpc>
                <a:spcPct val="100000"/>
              </a:lnSpc>
              <a:spcBef>
                <a:spcPct val="0"/>
              </a:spcBef>
              <a:spcAft>
                <a:spcPct val="0"/>
              </a:spcAft>
              <a:defRPr kumimoji="1" sz="1200"/>
            </a:lvl1pPr>
          </a:lstStyle>
          <a:p>
            <a:endParaRPr lang="en-US" altLang="zh-CN"/>
          </a:p>
        </p:txBody>
      </p:sp>
      <p:sp>
        <p:nvSpPr>
          <p:cNvPr id="26628" name="Rectangle 4"/>
          <p:cNvSpPr>
            <a:spLocks noGrp="1" noChangeArrowheads="1"/>
          </p:cNvSpPr>
          <p:nvPr>
            <p:ph type="ftr" sz="quarter" idx="2"/>
          </p:nvPr>
        </p:nvSpPr>
        <p:spPr bwMode="auto">
          <a:xfrm>
            <a:off x="1" y="9722883"/>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b" anchorCtr="0" compatLnSpc="1">
            <a:prstTxWarp prst="textNoShape">
              <a:avLst/>
            </a:prstTxWarp>
          </a:bodyPr>
          <a:lstStyle>
            <a:lvl1pPr>
              <a:lnSpc>
                <a:spcPct val="100000"/>
              </a:lnSpc>
              <a:spcBef>
                <a:spcPct val="0"/>
              </a:spcBef>
              <a:spcAft>
                <a:spcPct val="0"/>
              </a:spcAft>
              <a:defRPr kumimoji="1" sz="1200"/>
            </a:lvl1pPr>
          </a:lstStyle>
          <a:p>
            <a:endParaRPr lang="en-US" altLang="zh-CN"/>
          </a:p>
        </p:txBody>
      </p:sp>
      <p:sp>
        <p:nvSpPr>
          <p:cNvPr id="26629" name="Rectangle 5"/>
          <p:cNvSpPr>
            <a:spLocks noGrp="1" noChangeArrowheads="1"/>
          </p:cNvSpPr>
          <p:nvPr>
            <p:ph type="sldNum" sz="quarter" idx="3"/>
          </p:nvPr>
        </p:nvSpPr>
        <p:spPr bwMode="auto">
          <a:xfrm>
            <a:off x="4022937" y="9722883"/>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b" anchorCtr="0" compatLnSpc="1">
            <a:prstTxWarp prst="textNoShape">
              <a:avLst/>
            </a:prstTxWarp>
          </a:bodyPr>
          <a:lstStyle>
            <a:lvl1pPr algn="r">
              <a:lnSpc>
                <a:spcPct val="100000"/>
              </a:lnSpc>
              <a:spcBef>
                <a:spcPct val="0"/>
              </a:spcBef>
              <a:spcAft>
                <a:spcPct val="0"/>
              </a:spcAft>
              <a:defRPr kumimoji="1" sz="1200"/>
            </a:lvl1pPr>
          </a:lstStyle>
          <a:p>
            <a:fld id="{339075F8-9FF0-4A6B-9E58-ABCA6ADD104F}" type="slidenum">
              <a:rPr lang="zh-CN" altLang="en-US"/>
              <a:pPr/>
              <a:t>‹#›</a:t>
            </a:fld>
            <a:endParaRPr lang="en-US" altLang="zh-CN"/>
          </a:p>
        </p:txBody>
      </p:sp>
    </p:spTree>
    <p:extLst>
      <p:ext uri="{BB962C8B-B14F-4D97-AF65-F5344CB8AC3E}">
        <p14:creationId xmlns:p14="http://schemas.microsoft.com/office/powerpoint/2010/main" val="1572215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5154" name="Rectangle 2"/>
          <p:cNvSpPr>
            <a:spLocks noGrp="1" noChangeArrowheads="1"/>
          </p:cNvSpPr>
          <p:nvPr>
            <p:ph type="hdr" sz="quarter"/>
          </p:nvPr>
        </p:nvSpPr>
        <p:spPr bwMode="auto">
          <a:xfrm>
            <a:off x="1" y="1"/>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lvl1pPr>
              <a:lnSpc>
                <a:spcPct val="100000"/>
              </a:lnSpc>
              <a:spcBef>
                <a:spcPct val="0"/>
              </a:spcBef>
              <a:spcAft>
                <a:spcPct val="0"/>
              </a:spcAft>
              <a:defRPr kumimoji="1" sz="1200"/>
            </a:lvl1pPr>
          </a:lstStyle>
          <a:p>
            <a:endParaRPr lang="zh-CN" altLang="en-US"/>
          </a:p>
        </p:txBody>
      </p:sp>
      <p:sp>
        <p:nvSpPr>
          <p:cNvPr id="945155" name="Rectangle 3"/>
          <p:cNvSpPr>
            <a:spLocks noGrp="1" noChangeArrowheads="1"/>
          </p:cNvSpPr>
          <p:nvPr>
            <p:ph type="dt" idx="1"/>
          </p:nvPr>
        </p:nvSpPr>
        <p:spPr bwMode="auto">
          <a:xfrm>
            <a:off x="4021295" y="1"/>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lvl1pPr algn="r">
              <a:lnSpc>
                <a:spcPct val="100000"/>
              </a:lnSpc>
              <a:spcBef>
                <a:spcPct val="0"/>
              </a:spcBef>
              <a:spcAft>
                <a:spcPct val="0"/>
              </a:spcAft>
              <a:defRPr kumimoji="1" sz="1200"/>
            </a:lvl1pPr>
          </a:lstStyle>
          <a:p>
            <a:endParaRPr lang="en-US" altLang="zh-CN"/>
          </a:p>
        </p:txBody>
      </p:sp>
      <p:sp>
        <p:nvSpPr>
          <p:cNvPr id="945156"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5157" name="Rectangle 5"/>
          <p:cNvSpPr>
            <a:spLocks noGrp="1" noChangeArrowheads="1"/>
          </p:cNvSpPr>
          <p:nvPr>
            <p:ph type="body" sz="quarter" idx="3"/>
          </p:nvPr>
        </p:nvSpPr>
        <p:spPr bwMode="auto">
          <a:xfrm>
            <a:off x="709931" y="4861442"/>
            <a:ext cx="5679440" cy="4605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45158" name="Rectangle 6"/>
          <p:cNvSpPr>
            <a:spLocks noGrp="1" noChangeArrowheads="1"/>
          </p:cNvSpPr>
          <p:nvPr>
            <p:ph type="ftr" sz="quarter" idx="4"/>
          </p:nvPr>
        </p:nvSpPr>
        <p:spPr bwMode="auto">
          <a:xfrm>
            <a:off x="1" y="9721107"/>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b" anchorCtr="0" compatLnSpc="1">
            <a:prstTxWarp prst="textNoShape">
              <a:avLst/>
            </a:prstTxWarp>
          </a:bodyPr>
          <a:lstStyle>
            <a:lvl1pPr>
              <a:lnSpc>
                <a:spcPct val="100000"/>
              </a:lnSpc>
              <a:spcBef>
                <a:spcPct val="0"/>
              </a:spcBef>
              <a:spcAft>
                <a:spcPct val="0"/>
              </a:spcAft>
              <a:defRPr kumimoji="1" sz="1200"/>
            </a:lvl1pPr>
          </a:lstStyle>
          <a:p>
            <a:endParaRPr lang="en-US" altLang="zh-CN"/>
          </a:p>
        </p:txBody>
      </p:sp>
      <p:sp>
        <p:nvSpPr>
          <p:cNvPr id="945159" name="Rectangle 7"/>
          <p:cNvSpPr>
            <a:spLocks noGrp="1" noChangeArrowheads="1"/>
          </p:cNvSpPr>
          <p:nvPr>
            <p:ph type="sldNum" sz="quarter" idx="5"/>
          </p:nvPr>
        </p:nvSpPr>
        <p:spPr bwMode="auto">
          <a:xfrm>
            <a:off x="4021295" y="9721107"/>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b" anchorCtr="0" compatLnSpc="1">
            <a:prstTxWarp prst="textNoShape">
              <a:avLst/>
            </a:prstTxWarp>
          </a:bodyPr>
          <a:lstStyle>
            <a:lvl1pPr algn="r">
              <a:lnSpc>
                <a:spcPct val="100000"/>
              </a:lnSpc>
              <a:spcBef>
                <a:spcPct val="0"/>
              </a:spcBef>
              <a:spcAft>
                <a:spcPct val="0"/>
              </a:spcAft>
              <a:defRPr kumimoji="1" sz="1200"/>
            </a:lvl1pPr>
          </a:lstStyle>
          <a:p>
            <a:fld id="{E94BE428-8424-49AF-A984-F0E6574F9E05}" type="slidenum">
              <a:rPr lang="zh-CN" altLang="en-US"/>
              <a:pPr/>
              <a:t>‹#›</a:t>
            </a:fld>
            <a:endParaRPr lang="en-US" altLang="zh-CN"/>
          </a:p>
        </p:txBody>
      </p:sp>
    </p:spTree>
    <p:extLst>
      <p:ext uri="{BB962C8B-B14F-4D97-AF65-F5344CB8AC3E}">
        <p14:creationId xmlns:p14="http://schemas.microsoft.com/office/powerpoint/2010/main" val="20524150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notesMaster" Target="../notesMasters/notesMaster1.xml"/><Relationship Id="rId1" Type="http://schemas.openxmlformats.org/officeDocument/2006/relationships/vmlDrawing" Target="../drawings/vmlDrawing26.vml"/><Relationship Id="rId5" Type="http://schemas.openxmlformats.org/officeDocument/2006/relationships/image" Target="../media/image59.wmf"/><Relationship Id="rId4" Type="http://schemas.openxmlformats.org/officeDocument/2006/relationships/oleObject" Target="../embeddings/oleObject44.bin"/></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B34445-AC5B-4A45-92D7-7EB668A5D382}" type="slidenum">
              <a:rPr lang="zh-CN" altLang="en-US"/>
              <a:pPr/>
              <a:t>1</a:t>
            </a:fld>
            <a:endParaRPr lang="en-US" altLang="zh-CN"/>
          </a:p>
        </p:txBody>
      </p:sp>
      <p:sp>
        <p:nvSpPr>
          <p:cNvPr id="946178" name="Rectangle 2"/>
          <p:cNvSpPr>
            <a:spLocks noGrp="1" noRot="1" noChangeAspect="1" noChangeArrowheads="1" noTextEdit="1"/>
          </p:cNvSpPr>
          <p:nvPr>
            <p:ph type="sldImg"/>
          </p:nvPr>
        </p:nvSpPr>
        <p:spPr>
          <a:ln/>
        </p:spPr>
      </p:sp>
      <p:sp>
        <p:nvSpPr>
          <p:cNvPr id="946179" name="Rectangle 3"/>
          <p:cNvSpPr>
            <a:spLocks noGrp="1" noChangeArrowheads="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a:t>
            </a:fld>
            <a:endParaRPr lang="en-US" altLang="zh-CN"/>
          </a:p>
        </p:txBody>
      </p:sp>
    </p:spTree>
    <p:extLst>
      <p:ext uri="{BB962C8B-B14F-4D97-AF65-F5344CB8AC3E}">
        <p14:creationId xmlns:p14="http://schemas.microsoft.com/office/powerpoint/2010/main" val="642557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a:t>
            </a:fld>
            <a:endParaRPr lang="en-US" altLang="zh-CN"/>
          </a:p>
        </p:txBody>
      </p:sp>
    </p:spTree>
    <p:extLst>
      <p:ext uri="{BB962C8B-B14F-4D97-AF65-F5344CB8AC3E}">
        <p14:creationId xmlns:p14="http://schemas.microsoft.com/office/powerpoint/2010/main" val="4044387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a:t>
            </a:fld>
            <a:endParaRPr lang="en-US" altLang="zh-CN"/>
          </a:p>
        </p:txBody>
      </p:sp>
    </p:spTree>
    <p:extLst>
      <p:ext uri="{BB962C8B-B14F-4D97-AF65-F5344CB8AC3E}">
        <p14:creationId xmlns:p14="http://schemas.microsoft.com/office/powerpoint/2010/main" val="1294029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a:solidFill>
                  <a:schemeClr val="tx1"/>
                </a:solidFill>
                <a:latin typeface="Times New Roman" pitchFamily="18" charset="0"/>
                <a:ea typeface="宋体" charset="-122"/>
              </a:defRPr>
            </a:lvl1pPr>
            <a:lvl2pPr marL="769919" indent="-296123" eaLnBrk="0" hangingPunct="0">
              <a:defRPr sz="1500">
                <a:solidFill>
                  <a:schemeClr val="tx1"/>
                </a:solidFill>
                <a:latin typeface="Times New Roman" pitchFamily="18" charset="0"/>
                <a:ea typeface="宋体" charset="-122"/>
              </a:defRPr>
            </a:lvl2pPr>
            <a:lvl3pPr marL="1184491" indent="-236898" eaLnBrk="0" hangingPunct="0">
              <a:defRPr sz="1500">
                <a:solidFill>
                  <a:schemeClr val="tx1"/>
                </a:solidFill>
                <a:latin typeface="Times New Roman" pitchFamily="18" charset="0"/>
                <a:ea typeface="宋体" charset="-122"/>
              </a:defRPr>
            </a:lvl3pPr>
            <a:lvl4pPr marL="1658287" indent="-236898" eaLnBrk="0" hangingPunct="0">
              <a:defRPr sz="1500">
                <a:solidFill>
                  <a:schemeClr val="tx1"/>
                </a:solidFill>
                <a:latin typeface="Times New Roman" pitchFamily="18" charset="0"/>
                <a:ea typeface="宋体" charset="-122"/>
              </a:defRPr>
            </a:lvl4pPr>
            <a:lvl5pPr marL="2132084" indent="-236898" eaLnBrk="0" hangingPunct="0">
              <a:defRPr sz="1500">
                <a:solidFill>
                  <a:schemeClr val="tx1"/>
                </a:solidFill>
                <a:latin typeface="Times New Roman" pitchFamily="18" charset="0"/>
                <a:ea typeface="宋体" charset="-122"/>
              </a:defRPr>
            </a:lvl5pPr>
            <a:lvl6pPr marL="2605880"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6pPr>
            <a:lvl7pPr marL="3079676"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7pPr>
            <a:lvl8pPr marL="3553473"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8pPr>
            <a:lvl9pPr marL="4027269"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5</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1143476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a:solidFill>
                  <a:schemeClr val="tx1"/>
                </a:solidFill>
                <a:latin typeface="Times New Roman" pitchFamily="18" charset="0"/>
                <a:ea typeface="宋体" charset="-122"/>
              </a:defRPr>
            </a:lvl1pPr>
            <a:lvl2pPr marL="769919" indent="-296123" eaLnBrk="0" hangingPunct="0">
              <a:defRPr sz="1500">
                <a:solidFill>
                  <a:schemeClr val="tx1"/>
                </a:solidFill>
                <a:latin typeface="Times New Roman" pitchFamily="18" charset="0"/>
                <a:ea typeface="宋体" charset="-122"/>
              </a:defRPr>
            </a:lvl2pPr>
            <a:lvl3pPr marL="1184491" indent="-236898" eaLnBrk="0" hangingPunct="0">
              <a:defRPr sz="1500">
                <a:solidFill>
                  <a:schemeClr val="tx1"/>
                </a:solidFill>
                <a:latin typeface="Times New Roman" pitchFamily="18" charset="0"/>
                <a:ea typeface="宋体" charset="-122"/>
              </a:defRPr>
            </a:lvl3pPr>
            <a:lvl4pPr marL="1658287" indent="-236898" eaLnBrk="0" hangingPunct="0">
              <a:defRPr sz="1500">
                <a:solidFill>
                  <a:schemeClr val="tx1"/>
                </a:solidFill>
                <a:latin typeface="Times New Roman" pitchFamily="18" charset="0"/>
                <a:ea typeface="宋体" charset="-122"/>
              </a:defRPr>
            </a:lvl4pPr>
            <a:lvl5pPr marL="2132084" indent="-236898" eaLnBrk="0" hangingPunct="0">
              <a:defRPr sz="1500">
                <a:solidFill>
                  <a:schemeClr val="tx1"/>
                </a:solidFill>
                <a:latin typeface="Times New Roman" pitchFamily="18" charset="0"/>
                <a:ea typeface="宋体" charset="-122"/>
              </a:defRPr>
            </a:lvl5pPr>
            <a:lvl6pPr marL="2605880"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6pPr>
            <a:lvl7pPr marL="3079676"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7pPr>
            <a:lvl8pPr marL="3553473"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8pPr>
            <a:lvl9pPr marL="4027269"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6</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714039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r>
              <a:rPr lang="zh-CN" altLang="en-US" sz="1400" dirty="0"/>
              <a:t>下面我们通过一些典型的工程案例，来介绍一些在工程中发生的和土有关的问题。</a:t>
            </a:r>
          </a:p>
          <a:p>
            <a:pPr>
              <a:lnSpc>
                <a:spcPct val="125000"/>
              </a:lnSpc>
            </a:pPr>
            <a:r>
              <a:rPr lang="zh-CN" altLang="en-US" sz="1400" dirty="0"/>
              <a:t>第一个案例是加拿大的特朗斯康谷仓。这是修建的一个用来储存粮食的谷仓，共包括有</a:t>
            </a:r>
            <a:r>
              <a:rPr lang="en-US" altLang="zh-CN" sz="1400" dirty="0"/>
              <a:t>65</a:t>
            </a:r>
            <a:r>
              <a:rPr lang="zh-CN" altLang="en-US" sz="1400" dirty="0"/>
              <a:t>个圆筒仓。 谷仓</a:t>
            </a:r>
            <a:r>
              <a:rPr lang="en-US" altLang="zh-CN" sz="1400" dirty="0"/>
              <a:t>1911</a:t>
            </a:r>
            <a:r>
              <a:rPr lang="zh-CN" altLang="en-US" sz="1400" dirty="0"/>
              <a:t>年动工，</a:t>
            </a:r>
            <a:r>
              <a:rPr lang="en-US" altLang="zh-CN" sz="1400" dirty="0"/>
              <a:t>1913</a:t>
            </a:r>
            <a:r>
              <a:rPr lang="zh-CN" altLang="en-US" sz="1400" dirty="0"/>
              <a:t>年秋完成。谷仓自重</a:t>
            </a:r>
            <a:r>
              <a:rPr lang="en-US" altLang="zh-CN" sz="1400" dirty="0"/>
              <a:t>2</a:t>
            </a:r>
            <a:r>
              <a:rPr lang="zh-CN" altLang="en-US" sz="1400" dirty="0"/>
              <a:t>万吨。当年</a:t>
            </a:r>
            <a:r>
              <a:rPr lang="en-US" altLang="zh-CN" sz="1400" dirty="0"/>
              <a:t>9</a:t>
            </a:r>
            <a:r>
              <a:rPr lang="zh-CN" altLang="en-US" sz="1400" dirty="0"/>
              <a:t>月开始装谷物，至</a:t>
            </a:r>
            <a:r>
              <a:rPr lang="en-US" altLang="zh-CN" sz="1400" dirty="0"/>
              <a:t>10</a:t>
            </a:r>
            <a:r>
              <a:rPr lang="zh-CN" altLang="en-US" sz="1400" dirty="0"/>
              <a:t>月</a:t>
            </a:r>
            <a:r>
              <a:rPr lang="en-US" altLang="zh-CN" sz="1400" dirty="0"/>
              <a:t>17</a:t>
            </a:r>
            <a:r>
              <a:rPr lang="zh-CN" altLang="en-US" sz="1400" dirty="0"/>
              <a:t>日共装入</a:t>
            </a:r>
            <a:r>
              <a:rPr lang="en-US" altLang="zh-CN" sz="1400" dirty="0"/>
              <a:t>3</a:t>
            </a:r>
            <a:r>
              <a:rPr lang="zh-CN" altLang="en-US" sz="1400" dirty="0"/>
              <a:t>万多Ｔ谷物时发生了破坏。</a:t>
            </a:r>
          </a:p>
          <a:p>
            <a:pPr>
              <a:lnSpc>
                <a:spcPct val="125000"/>
              </a:lnSpc>
            </a:pPr>
            <a:r>
              <a:rPr lang="zh-CN" altLang="en-US" sz="1400" dirty="0"/>
              <a:t>当时谷仓</a:t>
            </a:r>
            <a:r>
              <a:rPr lang="en-US" altLang="zh-CN" sz="1400" dirty="0"/>
              <a:t>1</a:t>
            </a:r>
            <a:r>
              <a:rPr lang="zh-CN" altLang="en-US" sz="1400" dirty="0"/>
              <a:t>小时内沉降达</a:t>
            </a:r>
            <a:r>
              <a:rPr lang="en-US" altLang="zh-CN" sz="1400" dirty="0"/>
              <a:t>30.5cm</a:t>
            </a:r>
            <a:r>
              <a:rPr lang="zh-CN" altLang="en-US" sz="1400" dirty="0"/>
              <a:t>，并向西倾斜，</a:t>
            </a:r>
            <a:r>
              <a:rPr lang="en-US" altLang="zh-CN" sz="1400" dirty="0"/>
              <a:t>24</a:t>
            </a:r>
            <a:r>
              <a:rPr lang="zh-CN" altLang="en-US" sz="1400" dirty="0"/>
              <a:t>小时后发生倾倒，角度约为</a:t>
            </a:r>
            <a:r>
              <a:rPr lang="en-US" altLang="zh-CN" sz="1400" dirty="0"/>
              <a:t>27</a:t>
            </a:r>
            <a:r>
              <a:rPr lang="zh-CN" altLang="en-US" sz="1400" dirty="0"/>
              <a:t>度。造成西侧下陷</a:t>
            </a:r>
            <a:r>
              <a:rPr lang="en-US" altLang="zh-CN" sz="1400" dirty="0"/>
              <a:t>7.32m</a:t>
            </a:r>
            <a:r>
              <a:rPr lang="zh-CN" altLang="en-US" sz="1400" dirty="0"/>
              <a:t>，东侧抬高</a:t>
            </a:r>
            <a:r>
              <a:rPr lang="en-US" altLang="zh-CN" sz="1400" dirty="0"/>
              <a:t>1.52m</a:t>
            </a:r>
            <a:r>
              <a:rPr lang="zh-CN" altLang="en-US" sz="1400" dirty="0"/>
              <a:t>。</a:t>
            </a:r>
          </a:p>
          <a:p>
            <a:pPr>
              <a:lnSpc>
                <a:spcPct val="125000"/>
              </a:lnSpc>
            </a:pPr>
            <a:r>
              <a:rPr lang="zh-CN" altLang="en-US" sz="1400" dirty="0"/>
              <a:t>人们发现，该工程的地基虽然发生了破坏，但上部的钢筋混凝土筒仓却都安然无恙，仅有极少的表面裂缝。</a:t>
            </a:r>
          </a:p>
          <a:p>
            <a:pPr>
              <a:lnSpc>
                <a:spcPct val="125000"/>
              </a:lnSpc>
            </a:pPr>
            <a:r>
              <a:rPr lang="zh-CN" altLang="en-US" sz="1400" dirty="0"/>
              <a:t>因此，这是一个由于地基发生整体破坏滑动，造成建筑物失稳的典型例子。</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89A5128-4A2D-41EE-A667-B498D8844668}" type="slidenum">
              <a:rPr kumimoji="1" lang="zh-CN" altLang="en-US" sz="12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1" lang="en-US" altLang="zh-CN" sz="12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020767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r>
              <a:rPr lang="zh-CN" altLang="en-US" sz="1400" dirty="0"/>
              <a:t>经事后调查分析，发现地基失稳破坏的主要原因是：</a:t>
            </a:r>
          </a:p>
          <a:p>
            <a:pPr>
              <a:lnSpc>
                <a:spcPct val="125000"/>
              </a:lnSpc>
            </a:pPr>
            <a:r>
              <a:rPr lang="zh-CN" altLang="en-US" sz="1400" dirty="0"/>
              <a:t>设计时，未对谷仓地基承载力进行勘测和试验研究，而是直接采用了邻近建筑地基的承载力。事后经核实，基础下埋藏有厚达</a:t>
            </a:r>
            <a:r>
              <a:rPr lang="en-US" altLang="zh-CN" sz="1400" dirty="0"/>
              <a:t>16m</a:t>
            </a:r>
            <a:r>
              <a:rPr lang="zh-CN" altLang="en-US" sz="1400" dirty="0"/>
              <a:t>的软黏土层，地基实际承载力远小于谷仓破坏时的基底压力。谷仓地基因超载发生强度破坏而滑动。</a:t>
            </a:r>
          </a:p>
          <a:p>
            <a:pPr>
              <a:lnSpc>
                <a:spcPct val="125000"/>
              </a:lnSpc>
            </a:pPr>
            <a:endParaRPr lang="zh-CN" altLang="en-US" sz="1400" dirty="0"/>
          </a:p>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89A5128-4A2D-41EE-A667-B498D8844668}" type="slidenum">
              <a:rPr kumimoji="1" lang="zh-CN" altLang="en-US" sz="12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1" lang="en-US" altLang="zh-CN" sz="12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496722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9</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10</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11</a:t>
            </a:fld>
            <a:endParaRPr lang="en-US" altLang="zh-CN"/>
          </a:p>
        </p:txBody>
      </p:sp>
    </p:spTree>
    <p:extLst>
      <p:ext uri="{BB962C8B-B14F-4D97-AF65-F5344CB8AC3E}">
        <p14:creationId xmlns:p14="http://schemas.microsoft.com/office/powerpoint/2010/main" val="576185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12</a:t>
            </a:fld>
            <a:endParaRPr lang="en-US" altLang="zh-CN"/>
          </a:p>
        </p:txBody>
      </p:sp>
    </p:spTree>
    <p:extLst>
      <p:ext uri="{BB962C8B-B14F-4D97-AF65-F5344CB8AC3E}">
        <p14:creationId xmlns:p14="http://schemas.microsoft.com/office/powerpoint/2010/main" val="848817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13</a:t>
            </a:fld>
            <a:endParaRPr lang="en-US" altLang="zh-CN"/>
          </a:p>
        </p:txBody>
      </p:sp>
    </p:spTree>
    <p:extLst>
      <p:ext uri="{BB962C8B-B14F-4D97-AF65-F5344CB8AC3E}">
        <p14:creationId xmlns:p14="http://schemas.microsoft.com/office/powerpoint/2010/main" val="3482919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14</a:t>
            </a:fld>
            <a:endParaRPr lang="en-US" altLang="zh-CN"/>
          </a:p>
        </p:txBody>
      </p:sp>
    </p:spTree>
    <p:extLst>
      <p:ext uri="{BB962C8B-B14F-4D97-AF65-F5344CB8AC3E}">
        <p14:creationId xmlns:p14="http://schemas.microsoft.com/office/powerpoint/2010/main" val="2140106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型曲线的特点是板底的压应力</a:t>
            </a:r>
            <a:r>
              <a:rPr lang="en-US" altLang="zh-CN" dirty="0"/>
              <a:t>p</a:t>
            </a:r>
            <a:r>
              <a:rPr lang="zh-CN" altLang="en-US" dirty="0"/>
              <a:t>与变形量</a:t>
            </a:r>
            <a:r>
              <a:rPr lang="en-US" altLang="zh-CN" dirty="0"/>
              <a:t>s</a:t>
            </a:r>
            <a:r>
              <a:rPr lang="zh-CN" altLang="en-US" dirty="0"/>
              <a:t>的关系，从一开始就呈现非线性变化，且随着</a:t>
            </a:r>
            <a:r>
              <a:rPr lang="en-US" altLang="zh-CN" dirty="0"/>
              <a:t>p</a:t>
            </a:r>
            <a:r>
              <a:rPr lang="zh-CN" altLang="en-US" dirty="0"/>
              <a:t>的增加，变形加速发展，但是直至地基破坏，仍然不会出现曲线</a:t>
            </a:r>
            <a:r>
              <a:rPr lang="en-US" altLang="zh-CN" dirty="0"/>
              <a:t>a</a:t>
            </a:r>
            <a:r>
              <a:rPr lang="zh-CN" altLang="en-US" dirty="0"/>
              <a:t>那样明显的沉降突然急剧增加的现象。相应于</a:t>
            </a:r>
            <a:r>
              <a:rPr lang="en-US" altLang="zh-CN" dirty="0"/>
              <a:t>b</a:t>
            </a:r>
            <a:r>
              <a:rPr lang="zh-CN" altLang="en-US" dirty="0"/>
              <a:t>型曲线，荷载板下土体的剪切破坏也是从基础边缘开始，且随着基底压应力</a:t>
            </a:r>
            <a:r>
              <a:rPr lang="en-US" altLang="zh-CN" dirty="0"/>
              <a:t>p</a:t>
            </a:r>
            <a:r>
              <a:rPr lang="zh-CN" altLang="en-US" dirty="0"/>
              <a:t>的增加，极限平衡区在相应扩大。但是荷载进一步增大，极限平衡区却限制在一定的范围内，不会形成延伸至地面的连续破裂面，如图</a:t>
            </a:r>
            <a:r>
              <a:rPr lang="en-US" altLang="zh-CN" dirty="0"/>
              <a:t>8\|3</a:t>
            </a:r>
            <a:r>
              <a:rPr lang="zh-CN" altLang="en-US" dirty="0"/>
              <a:t>（</a:t>
            </a:r>
            <a:r>
              <a:rPr lang="en-US" altLang="zh-CN" dirty="0"/>
              <a:t>c</a:t>
            </a:r>
            <a:r>
              <a:rPr lang="zh-CN" altLang="en-US" dirty="0"/>
              <a:t>）所示。地基破坏时，荷载板两侧地面只略为隆起，但沉降速率加大，总沉降量很大，说明地基也已破坏，这种破坏形式称为局部剪切破坏。局部剪切破坏的发展是渐进的，即破坏面上的抗剪强度未能同时发挥出来，所以地基承载的能力较低。</a:t>
            </a:r>
            <a:r>
              <a:rPr lang="en-US" altLang="zh-CN" dirty="0"/>
              <a:t>b</a:t>
            </a:r>
            <a:r>
              <a:rPr lang="zh-CN" altLang="en-US" dirty="0"/>
              <a:t>型曲线由于没有明显的转折点，只能根据曲线上坡度变化比较强烈处，定为极限荷载</a:t>
            </a:r>
            <a:r>
              <a:rPr lang="en-US" altLang="zh-CN" dirty="0" err="1"/>
              <a:t>pu</a:t>
            </a:r>
            <a:r>
              <a:rPr lang="zh-CN" altLang="en-US" dirty="0"/>
              <a:t>。</a:t>
            </a:r>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15</a:t>
            </a:fld>
            <a:endParaRPr lang="en-US" altLang="zh-CN"/>
          </a:p>
        </p:txBody>
      </p:sp>
    </p:spTree>
    <p:extLst>
      <p:ext uri="{BB962C8B-B14F-4D97-AF65-F5344CB8AC3E}">
        <p14:creationId xmlns:p14="http://schemas.microsoft.com/office/powerpoint/2010/main" val="2120711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型曲线的特点是板底的压应力</a:t>
            </a:r>
            <a:r>
              <a:rPr lang="en-US" altLang="zh-CN" dirty="0"/>
              <a:t>p</a:t>
            </a:r>
            <a:r>
              <a:rPr lang="zh-CN" altLang="en-US" dirty="0"/>
              <a:t>与变形量</a:t>
            </a:r>
            <a:r>
              <a:rPr lang="en-US" altLang="zh-CN" dirty="0"/>
              <a:t>s</a:t>
            </a:r>
            <a:r>
              <a:rPr lang="zh-CN" altLang="en-US" dirty="0"/>
              <a:t>的关系，从一开始就呈现非线性变化，且随着</a:t>
            </a:r>
            <a:r>
              <a:rPr lang="en-US" altLang="zh-CN" dirty="0"/>
              <a:t>p</a:t>
            </a:r>
            <a:r>
              <a:rPr lang="zh-CN" altLang="en-US" dirty="0"/>
              <a:t>的增加，变形加速发展，但是直至地基破坏，仍然不会出现曲线</a:t>
            </a:r>
            <a:r>
              <a:rPr lang="en-US" altLang="zh-CN" dirty="0"/>
              <a:t>a</a:t>
            </a:r>
            <a:r>
              <a:rPr lang="zh-CN" altLang="en-US" dirty="0"/>
              <a:t>那样明显的沉降突然急剧增加的现象。相应于</a:t>
            </a:r>
            <a:r>
              <a:rPr lang="en-US" altLang="zh-CN" dirty="0"/>
              <a:t>b</a:t>
            </a:r>
            <a:r>
              <a:rPr lang="zh-CN" altLang="en-US" dirty="0"/>
              <a:t>型曲线，荷载板下土体的剪切破坏也是从基础边缘开始，且随着基底压应力</a:t>
            </a:r>
            <a:r>
              <a:rPr lang="en-US" altLang="zh-CN" dirty="0"/>
              <a:t>p</a:t>
            </a:r>
            <a:r>
              <a:rPr lang="zh-CN" altLang="en-US" dirty="0"/>
              <a:t>的增加，极限平衡区在相应扩大。但是荷载进一步增大，极限平衡区却限制在一定的范围内，不会形成延伸至地面的连续破裂面，如图</a:t>
            </a:r>
            <a:r>
              <a:rPr lang="en-US" altLang="zh-CN" dirty="0"/>
              <a:t>8\|3</a:t>
            </a:r>
            <a:r>
              <a:rPr lang="zh-CN" altLang="en-US" dirty="0"/>
              <a:t>（</a:t>
            </a:r>
            <a:r>
              <a:rPr lang="en-US" altLang="zh-CN" dirty="0"/>
              <a:t>c</a:t>
            </a:r>
            <a:r>
              <a:rPr lang="zh-CN" altLang="en-US" dirty="0"/>
              <a:t>）所示。地基破坏时，荷载板两侧地面只略为隆起，但沉降速率加大，总沉降量很大，说明地基也已破坏，这种破坏形式称为局部剪切破坏。局部剪切破坏的发展是渐进的，即破坏面上的抗剪强度未能同时发挥出来，所以地基承载的能力较低。</a:t>
            </a:r>
            <a:r>
              <a:rPr lang="en-US" altLang="zh-CN" dirty="0"/>
              <a:t>b</a:t>
            </a:r>
            <a:r>
              <a:rPr lang="zh-CN" altLang="en-US" dirty="0"/>
              <a:t>型曲线由于没有明显的转折点，只能根据曲线上坡度变化比较强烈处，定为极限荷载</a:t>
            </a:r>
            <a:r>
              <a:rPr lang="en-US" altLang="zh-CN" dirty="0" err="1"/>
              <a:t>pu</a:t>
            </a:r>
            <a:r>
              <a:rPr lang="zh-CN" altLang="en-US" dirty="0"/>
              <a:t>。</a:t>
            </a:r>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16</a:t>
            </a:fld>
            <a:endParaRPr lang="en-US" altLang="zh-CN"/>
          </a:p>
        </p:txBody>
      </p:sp>
    </p:spTree>
    <p:extLst>
      <p:ext uri="{BB962C8B-B14F-4D97-AF65-F5344CB8AC3E}">
        <p14:creationId xmlns:p14="http://schemas.microsoft.com/office/powerpoint/2010/main" val="2575960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型曲线的特点是板底的压应力</a:t>
            </a:r>
            <a:r>
              <a:rPr lang="en-US" altLang="zh-CN" dirty="0"/>
              <a:t>p</a:t>
            </a:r>
            <a:r>
              <a:rPr lang="zh-CN" altLang="en-US" dirty="0"/>
              <a:t>与变形量</a:t>
            </a:r>
            <a:r>
              <a:rPr lang="en-US" altLang="zh-CN" dirty="0"/>
              <a:t>s</a:t>
            </a:r>
            <a:r>
              <a:rPr lang="zh-CN" altLang="en-US" dirty="0"/>
              <a:t>的关系，从一开始就呈现非线性变化，且随着</a:t>
            </a:r>
            <a:r>
              <a:rPr lang="en-US" altLang="zh-CN" dirty="0"/>
              <a:t>p</a:t>
            </a:r>
            <a:r>
              <a:rPr lang="zh-CN" altLang="en-US" dirty="0"/>
              <a:t>的增加，变形加速发展，但是直至地基破坏，仍然不会出现曲线</a:t>
            </a:r>
            <a:r>
              <a:rPr lang="en-US" altLang="zh-CN" dirty="0"/>
              <a:t>a</a:t>
            </a:r>
            <a:r>
              <a:rPr lang="zh-CN" altLang="en-US" dirty="0"/>
              <a:t>那样明显的沉降突然急剧增加的现象。相应于</a:t>
            </a:r>
            <a:r>
              <a:rPr lang="en-US" altLang="zh-CN" dirty="0"/>
              <a:t>b</a:t>
            </a:r>
            <a:r>
              <a:rPr lang="zh-CN" altLang="en-US" dirty="0"/>
              <a:t>型曲线，荷载板下土体的剪切破坏也是从基础边缘开始，且随着基底压应力</a:t>
            </a:r>
            <a:r>
              <a:rPr lang="en-US" altLang="zh-CN" dirty="0"/>
              <a:t>p</a:t>
            </a:r>
            <a:r>
              <a:rPr lang="zh-CN" altLang="en-US" dirty="0"/>
              <a:t>的增加，极限平衡区在相应扩大。但是荷载进一步增大，极限平衡区却限制在一定的范围内，不会形成延伸至地面的连续破裂面，如图</a:t>
            </a:r>
            <a:r>
              <a:rPr lang="en-US" altLang="zh-CN" dirty="0"/>
              <a:t>8\|3</a:t>
            </a:r>
            <a:r>
              <a:rPr lang="zh-CN" altLang="en-US" dirty="0"/>
              <a:t>（</a:t>
            </a:r>
            <a:r>
              <a:rPr lang="en-US" altLang="zh-CN" dirty="0"/>
              <a:t>c</a:t>
            </a:r>
            <a:r>
              <a:rPr lang="zh-CN" altLang="en-US" dirty="0"/>
              <a:t>）所示。地基破坏时，荷载板两侧地面只略为隆起，但沉降速率加大，总沉降量很大，说明地基也已破坏，这种破坏形式称为局部剪切破坏。局部剪切破坏的发展是渐进的，即破坏面上的抗剪强度未能同时发挥出来，所以地基承载的能力较低。</a:t>
            </a:r>
            <a:r>
              <a:rPr lang="en-US" altLang="zh-CN" dirty="0"/>
              <a:t>b</a:t>
            </a:r>
            <a:r>
              <a:rPr lang="zh-CN" altLang="en-US" dirty="0"/>
              <a:t>型曲线由于没有明显的转折点，只能根据曲线上坡度变化比较强烈处，定为极限荷载</a:t>
            </a:r>
            <a:r>
              <a:rPr lang="en-US" altLang="zh-CN" dirty="0" err="1"/>
              <a:t>pu</a:t>
            </a:r>
            <a:r>
              <a:rPr lang="zh-CN" altLang="en-US" dirty="0"/>
              <a:t>。</a:t>
            </a:r>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17</a:t>
            </a:fld>
            <a:endParaRPr lang="en-US" altLang="zh-CN"/>
          </a:p>
        </p:txBody>
      </p:sp>
    </p:spTree>
    <p:extLst>
      <p:ext uri="{BB962C8B-B14F-4D97-AF65-F5344CB8AC3E}">
        <p14:creationId xmlns:p14="http://schemas.microsoft.com/office/powerpoint/2010/main" val="2659917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型曲线的特点是板底的压应力</a:t>
            </a:r>
            <a:r>
              <a:rPr lang="en-US" altLang="zh-CN" dirty="0"/>
              <a:t>p</a:t>
            </a:r>
            <a:r>
              <a:rPr lang="zh-CN" altLang="en-US" dirty="0"/>
              <a:t>与变形量</a:t>
            </a:r>
            <a:r>
              <a:rPr lang="en-US" altLang="zh-CN" dirty="0"/>
              <a:t>s</a:t>
            </a:r>
            <a:r>
              <a:rPr lang="zh-CN" altLang="en-US" dirty="0"/>
              <a:t>的关系，从一开始就呈现非线性变化，且随着</a:t>
            </a:r>
            <a:r>
              <a:rPr lang="en-US" altLang="zh-CN" dirty="0"/>
              <a:t>p</a:t>
            </a:r>
            <a:r>
              <a:rPr lang="zh-CN" altLang="en-US" dirty="0"/>
              <a:t>的增加，变形加速发展，但是直至地基破坏，仍然不会出现曲线</a:t>
            </a:r>
            <a:r>
              <a:rPr lang="en-US" altLang="zh-CN" dirty="0"/>
              <a:t>a</a:t>
            </a:r>
            <a:r>
              <a:rPr lang="zh-CN" altLang="en-US" dirty="0"/>
              <a:t>那样明显的沉降突然急剧增加的现象。相应于</a:t>
            </a:r>
            <a:r>
              <a:rPr lang="en-US" altLang="zh-CN" dirty="0"/>
              <a:t>b</a:t>
            </a:r>
            <a:r>
              <a:rPr lang="zh-CN" altLang="en-US" dirty="0"/>
              <a:t>型曲线，荷载板下土体的剪切破坏也是从基础边缘开始，且随着基底压应力</a:t>
            </a:r>
            <a:r>
              <a:rPr lang="en-US" altLang="zh-CN" dirty="0"/>
              <a:t>p</a:t>
            </a:r>
            <a:r>
              <a:rPr lang="zh-CN" altLang="en-US" dirty="0"/>
              <a:t>的增加，极限平衡区在相应扩大。但是荷载进一步增大，极限平衡区却限制在一定的范围内，不会形成延伸至地面的连续破裂面，如图</a:t>
            </a:r>
            <a:r>
              <a:rPr lang="en-US" altLang="zh-CN" dirty="0"/>
              <a:t>8\|3</a:t>
            </a:r>
            <a:r>
              <a:rPr lang="zh-CN" altLang="en-US" dirty="0"/>
              <a:t>（</a:t>
            </a:r>
            <a:r>
              <a:rPr lang="en-US" altLang="zh-CN" dirty="0"/>
              <a:t>c</a:t>
            </a:r>
            <a:r>
              <a:rPr lang="zh-CN" altLang="en-US" dirty="0"/>
              <a:t>）所示。地基破坏时，荷载板两侧地面只略为隆起，但沉降速率加大，总沉降量很大，说明地基也已破坏，这种破坏形式称为局部剪切破坏。局部剪切破坏的发展是渐进的，即破坏面上的抗剪强度未能同时发挥出来，所以地基承载的能力较低。</a:t>
            </a:r>
            <a:r>
              <a:rPr lang="en-US" altLang="zh-CN" dirty="0"/>
              <a:t>b</a:t>
            </a:r>
            <a:r>
              <a:rPr lang="zh-CN" altLang="en-US" dirty="0"/>
              <a:t>型曲线由于没有明显的转折点，只能根据曲线上坡度变化比较强烈处，定为极限荷载</a:t>
            </a:r>
            <a:r>
              <a:rPr lang="en-US" altLang="zh-CN" dirty="0" err="1"/>
              <a:t>pu</a:t>
            </a:r>
            <a:r>
              <a:rPr lang="zh-CN" altLang="en-US" dirty="0"/>
              <a:t>。</a:t>
            </a:r>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18</a:t>
            </a:fld>
            <a:endParaRPr lang="en-US" altLang="zh-CN"/>
          </a:p>
        </p:txBody>
      </p:sp>
    </p:spTree>
    <p:extLst>
      <p:ext uri="{BB962C8B-B14F-4D97-AF65-F5344CB8AC3E}">
        <p14:creationId xmlns:p14="http://schemas.microsoft.com/office/powerpoint/2010/main" val="999595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19</a:t>
            </a:fld>
            <a:endParaRPr lang="en-US" altLang="zh-CN"/>
          </a:p>
        </p:txBody>
      </p:sp>
    </p:spTree>
    <p:extLst>
      <p:ext uri="{BB962C8B-B14F-4D97-AF65-F5344CB8AC3E}">
        <p14:creationId xmlns:p14="http://schemas.microsoft.com/office/powerpoint/2010/main" val="37112260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Times New Roman" pitchFamily="18" charset="0"/>
                <a:ea typeface="宋体" charset="-122"/>
                <a:cs typeface="+mn-cs"/>
              </a:rPr>
              <a:t>设计中往往选用临塑荷载</a:t>
            </a:r>
            <a:r>
              <a:rPr lang="en-US" altLang="zh-CN" sz="1200" kern="1200" dirty="0" err="1">
                <a:solidFill>
                  <a:schemeClr val="tx1"/>
                </a:solidFill>
                <a:effectLst/>
                <a:latin typeface="Times New Roman" pitchFamily="18" charset="0"/>
                <a:ea typeface="宋体" charset="-122"/>
                <a:cs typeface="+mn-cs"/>
              </a:rPr>
              <a:t>pcr</a:t>
            </a:r>
            <a:r>
              <a:rPr lang="zh-CN" altLang="zh-CN" sz="1200" kern="1200" dirty="0">
                <a:solidFill>
                  <a:schemeClr val="tx1"/>
                </a:solidFill>
                <a:effectLst/>
                <a:latin typeface="Times New Roman" pitchFamily="18" charset="0"/>
                <a:ea typeface="宋体" charset="-122"/>
                <a:cs typeface="+mn-cs"/>
              </a:rPr>
              <a:t>或比临塑荷载稍大的临界荷载</a:t>
            </a:r>
            <a:r>
              <a:rPr lang="en-US" altLang="zh-CN" sz="1200" kern="1200" dirty="0">
                <a:solidFill>
                  <a:schemeClr val="tx1"/>
                </a:solidFill>
                <a:effectLst/>
                <a:latin typeface="Times New Roman" pitchFamily="18" charset="0"/>
                <a:ea typeface="宋体" charset="-122"/>
                <a:cs typeface="+mn-cs"/>
              </a:rPr>
              <a:t>p1/4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p1/3</a:t>
            </a:r>
            <a:r>
              <a:rPr lang="zh-CN" altLang="zh-CN" sz="1200" kern="1200" dirty="0">
                <a:solidFill>
                  <a:schemeClr val="tx1"/>
                </a:solidFill>
                <a:effectLst/>
                <a:latin typeface="Times New Roman" pitchFamily="18" charset="0"/>
                <a:ea typeface="宋体" charset="-122"/>
                <a:cs typeface="+mn-cs"/>
              </a:rPr>
              <a:t>作为地基容许承载力的初值。</a:t>
            </a:r>
            <a:r>
              <a:rPr lang="en-US" altLang="zh-CN" sz="1200" kern="1200" dirty="0">
                <a:solidFill>
                  <a:schemeClr val="tx1"/>
                </a:solidFill>
                <a:effectLst/>
                <a:latin typeface="Times New Roman" pitchFamily="18" charset="0"/>
                <a:ea typeface="宋体" charset="-122"/>
                <a:cs typeface="+mn-cs"/>
              </a:rPr>
              <a:t>p1/4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p1/3</a:t>
            </a:r>
            <a:r>
              <a:rPr lang="zh-CN" altLang="zh-CN" sz="1200" kern="1200" dirty="0">
                <a:solidFill>
                  <a:schemeClr val="tx1"/>
                </a:solidFill>
                <a:effectLst/>
                <a:latin typeface="Times New Roman" pitchFamily="18" charset="0"/>
                <a:ea typeface="宋体" charset="-122"/>
                <a:cs typeface="+mn-cs"/>
              </a:rPr>
              <a:t>代表基础下极限平衡区发展的最大深度等于基础宽度</a:t>
            </a:r>
            <a:r>
              <a:rPr lang="en-US" altLang="zh-CN" sz="1200" kern="1200" dirty="0">
                <a:solidFill>
                  <a:schemeClr val="tx1"/>
                </a:solidFill>
                <a:effectLst/>
                <a:latin typeface="Times New Roman" pitchFamily="18" charset="0"/>
                <a:ea typeface="宋体" charset="-122"/>
                <a:cs typeface="+mn-cs"/>
              </a:rPr>
              <a:t>b</a:t>
            </a:r>
            <a:r>
              <a:rPr lang="zh-CN" altLang="zh-CN" sz="1200" kern="1200" dirty="0">
                <a:solidFill>
                  <a:schemeClr val="tx1"/>
                </a:solidFill>
                <a:effectLst/>
                <a:latin typeface="Times New Roman" pitchFamily="18" charset="0"/>
                <a:ea typeface="宋体" charset="-122"/>
                <a:cs typeface="+mn-cs"/>
              </a:rPr>
              <a:t>的</a:t>
            </a:r>
            <a:r>
              <a:rPr lang="en-US" altLang="zh-CN" sz="1200" kern="1200" dirty="0">
                <a:solidFill>
                  <a:schemeClr val="tx1"/>
                </a:solidFill>
                <a:effectLst/>
                <a:latin typeface="Times New Roman" pitchFamily="18" charset="0"/>
                <a:ea typeface="宋体" charset="-122"/>
                <a:cs typeface="+mn-cs"/>
              </a:rPr>
              <a:t>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1/3</a:t>
            </a:r>
            <a:r>
              <a:rPr lang="zh-CN" altLang="zh-CN" sz="1200" kern="1200" dirty="0">
                <a:solidFill>
                  <a:schemeClr val="tx1"/>
                </a:solidFill>
                <a:effectLst/>
                <a:latin typeface="Times New Roman" pitchFamily="18" charset="0"/>
                <a:ea typeface="宋体" charset="-122"/>
                <a:cs typeface="+mn-cs"/>
              </a:rPr>
              <a:t>时所相应的荷载。临塑荷载</a:t>
            </a:r>
            <a:r>
              <a:rPr lang="en-US" altLang="zh-CN" sz="1200" kern="1200" dirty="0" err="1">
                <a:solidFill>
                  <a:schemeClr val="tx1"/>
                </a:solidFill>
                <a:effectLst/>
                <a:latin typeface="Times New Roman" pitchFamily="18" charset="0"/>
                <a:ea typeface="宋体" charset="-122"/>
                <a:cs typeface="+mn-cs"/>
              </a:rPr>
              <a:t>pcr</a:t>
            </a:r>
            <a:r>
              <a:rPr lang="zh-CN" altLang="zh-CN" sz="1200" kern="1200" dirty="0">
                <a:solidFill>
                  <a:schemeClr val="tx1"/>
                </a:solidFill>
                <a:effectLst/>
                <a:latin typeface="Times New Roman" pitchFamily="18" charset="0"/>
                <a:ea typeface="宋体" charset="-122"/>
                <a:cs typeface="+mn-cs"/>
              </a:rPr>
              <a:t>和临界荷载</a:t>
            </a:r>
            <a:r>
              <a:rPr lang="en-US" altLang="zh-CN" sz="1200" kern="1200" dirty="0">
                <a:solidFill>
                  <a:schemeClr val="tx1"/>
                </a:solidFill>
                <a:effectLst/>
                <a:latin typeface="Times New Roman" pitchFamily="18" charset="0"/>
                <a:ea typeface="宋体" charset="-122"/>
                <a:cs typeface="+mn-cs"/>
              </a:rPr>
              <a:t>p1/4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p1/3</a:t>
            </a:r>
            <a:r>
              <a:rPr lang="zh-CN" altLang="zh-CN" sz="1200" kern="1200" dirty="0">
                <a:solidFill>
                  <a:schemeClr val="tx1"/>
                </a:solidFill>
                <a:effectLst/>
                <a:latin typeface="Times New Roman" pitchFamily="18" charset="0"/>
                <a:ea typeface="宋体" charset="-122"/>
                <a:cs typeface="+mn-cs"/>
              </a:rPr>
              <a:t>具有如下的特性：</a:t>
            </a:r>
          </a:p>
          <a:p>
            <a:r>
              <a:rPr lang="zh-CN" altLang="zh-CN" sz="1200" kern="1200" dirty="0">
                <a:solidFill>
                  <a:schemeClr val="tx1"/>
                </a:solidFill>
                <a:effectLst/>
                <a:latin typeface="Times New Roman" pitchFamily="18" charset="0"/>
                <a:ea typeface="宋体" charset="-122"/>
                <a:cs typeface="+mn-cs"/>
              </a:rPr>
              <a:t>（</a:t>
            </a:r>
            <a:r>
              <a:rPr lang="en-US" altLang="zh-CN" sz="1200" kern="1200" dirty="0">
                <a:solidFill>
                  <a:schemeClr val="tx1"/>
                </a:solidFill>
                <a:effectLst/>
                <a:latin typeface="Times New Roman" pitchFamily="18" charset="0"/>
                <a:ea typeface="宋体" charset="-122"/>
                <a:cs typeface="+mn-cs"/>
              </a:rPr>
              <a:t>1</a:t>
            </a:r>
            <a:r>
              <a:rPr lang="zh-CN" altLang="zh-CN" sz="1200" kern="1200" dirty="0">
                <a:solidFill>
                  <a:schemeClr val="tx1"/>
                </a:solidFill>
                <a:effectLst/>
                <a:latin typeface="Times New Roman" pitchFamily="18" charset="0"/>
                <a:ea typeface="宋体" charset="-122"/>
                <a:cs typeface="+mn-cs"/>
              </a:rPr>
              <a:t>） 地基即将产生或已产生局部极限平衡状态，但尚未发展成整体失稳，这时部分地基土的强度已经比较充分发挥，但距离丧失稳定仍有足够的安全系数。</a:t>
            </a:r>
          </a:p>
          <a:p>
            <a:r>
              <a:rPr lang="zh-CN" altLang="zh-CN" sz="1200" kern="1200" dirty="0">
                <a:solidFill>
                  <a:schemeClr val="tx1"/>
                </a:solidFill>
                <a:effectLst/>
                <a:latin typeface="Times New Roman" pitchFamily="18" charset="0"/>
                <a:ea typeface="宋体" charset="-122"/>
                <a:cs typeface="+mn-cs"/>
              </a:rPr>
              <a:t>（</a:t>
            </a:r>
            <a:r>
              <a:rPr lang="en-US" altLang="zh-CN" sz="1200" kern="1200" dirty="0">
                <a:solidFill>
                  <a:schemeClr val="tx1"/>
                </a:solidFill>
                <a:effectLst/>
                <a:latin typeface="Times New Roman" pitchFamily="18" charset="0"/>
                <a:ea typeface="宋体" charset="-122"/>
                <a:cs typeface="+mn-cs"/>
              </a:rPr>
              <a:t>2</a:t>
            </a:r>
            <a:r>
              <a:rPr lang="zh-CN" altLang="zh-CN" sz="1200" kern="1200" dirty="0">
                <a:solidFill>
                  <a:schemeClr val="tx1"/>
                </a:solidFill>
                <a:effectLst/>
                <a:latin typeface="Times New Roman" pitchFamily="18" charset="0"/>
                <a:ea typeface="宋体" charset="-122"/>
                <a:cs typeface="+mn-cs"/>
              </a:rPr>
              <a:t>） 地基中处于极限平衡区的范围不大，因此整个地基仍然可以近似地当成弹性半空间体，有可能近似用弹性理论计算地基中的应力，以便计算变形量。</a:t>
            </a:r>
          </a:p>
          <a:p>
            <a:r>
              <a:rPr lang="zh-CN" altLang="zh-CN" sz="1200" kern="1200" dirty="0">
                <a:solidFill>
                  <a:schemeClr val="tx1"/>
                </a:solidFill>
                <a:effectLst/>
                <a:latin typeface="Times New Roman" pitchFamily="18" charset="0"/>
                <a:ea typeface="宋体" charset="-122"/>
                <a:cs typeface="+mn-cs"/>
              </a:rPr>
              <a:t>由于这两个特点，</a:t>
            </a:r>
            <a:r>
              <a:rPr lang="en-US" altLang="zh-CN" sz="1200" kern="1200" dirty="0" err="1">
                <a:solidFill>
                  <a:schemeClr val="tx1"/>
                </a:solidFill>
                <a:effectLst/>
                <a:latin typeface="Times New Roman" pitchFamily="18" charset="0"/>
                <a:ea typeface="宋体" charset="-122"/>
                <a:cs typeface="+mn-cs"/>
              </a:rPr>
              <a:t>pcr</a:t>
            </a:r>
            <a:r>
              <a:rPr lang="zh-CN" altLang="zh-CN" sz="1200" kern="1200" dirty="0">
                <a:solidFill>
                  <a:schemeClr val="tx1"/>
                </a:solidFill>
                <a:effectLst/>
                <a:latin typeface="Times New Roman" pitchFamily="18" charset="0"/>
                <a:ea typeface="宋体" charset="-122"/>
                <a:cs typeface="+mn-cs"/>
              </a:rPr>
              <a:t>、</a:t>
            </a:r>
            <a:r>
              <a:rPr lang="en-US" altLang="zh-CN" sz="1200" kern="1200" dirty="0">
                <a:solidFill>
                  <a:schemeClr val="tx1"/>
                </a:solidFill>
                <a:effectLst/>
                <a:latin typeface="Times New Roman" pitchFamily="18" charset="0"/>
                <a:ea typeface="宋体" charset="-122"/>
                <a:cs typeface="+mn-cs"/>
              </a:rPr>
              <a:t>p1/4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p1/3</a:t>
            </a:r>
            <a:r>
              <a:rPr lang="zh-CN" altLang="zh-CN" sz="1200" kern="1200" dirty="0">
                <a:solidFill>
                  <a:schemeClr val="tx1"/>
                </a:solidFill>
                <a:effectLst/>
                <a:latin typeface="Times New Roman" pitchFamily="18" charset="0"/>
                <a:ea typeface="宋体" charset="-122"/>
                <a:cs typeface="+mn-cs"/>
              </a:rPr>
              <a:t>常用以作为初步确定的地基容许承载力。</a:t>
            </a:r>
          </a:p>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20</a:t>
            </a:fld>
            <a:endParaRPr lang="en-US" altLang="zh-CN"/>
          </a:p>
        </p:txBody>
      </p:sp>
    </p:spTree>
    <p:extLst>
      <p:ext uri="{BB962C8B-B14F-4D97-AF65-F5344CB8AC3E}">
        <p14:creationId xmlns:p14="http://schemas.microsoft.com/office/powerpoint/2010/main" val="13010859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Times New Roman" pitchFamily="18" charset="0"/>
                <a:ea typeface="宋体" charset="-122"/>
                <a:cs typeface="+mn-cs"/>
              </a:rPr>
              <a:t>设计中往往选用临塑荷载</a:t>
            </a:r>
            <a:r>
              <a:rPr lang="en-US" altLang="zh-CN" sz="1200" kern="1200" dirty="0" err="1">
                <a:solidFill>
                  <a:schemeClr val="tx1"/>
                </a:solidFill>
                <a:effectLst/>
                <a:latin typeface="Times New Roman" pitchFamily="18" charset="0"/>
                <a:ea typeface="宋体" charset="-122"/>
                <a:cs typeface="+mn-cs"/>
              </a:rPr>
              <a:t>pcr</a:t>
            </a:r>
            <a:r>
              <a:rPr lang="zh-CN" altLang="zh-CN" sz="1200" kern="1200" dirty="0">
                <a:solidFill>
                  <a:schemeClr val="tx1"/>
                </a:solidFill>
                <a:effectLst/>
                <a:latin typeface="Times New Roman" pitchFamily="18" charset="0"/>
                <a:ea typeface="宋体" charset="-122"/>
                <a:cs typeface="+mn-cs"/>
              </a:rPr>
              <a:t>或比临塑荷载稍大的临界荷载</a:t>
            </a:r>
            <a:r>
              <a:rPr lang="en-US" altLang="zh-CN" sz="1200" kern="1200" dirty="0">
                <a:solidFill>
                  <a:schemeClr val="tx1"/>
                </a:solidFill>
                <a:effectLst/>
                <a:latin typeface="Times New Roman" pitchFamily="18" charset="0"/>
                <a:ea typeface="宋体" charset="-122"/>
                <a:cs typeface="+mn-cs"/>
              </a:rPr>
              <a:t>p1/4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p1/3</a:t>
            </a:r>
            <a:r>
              <a:rPr lang="zh-CN" altLang="zh-CN" sz="1200" kern="1200" dirty="0">
                <a:solidFill>
                  <a:schemeClr val="tx1"/>
                </a:solidFill>
                <a:effectLst/>
                <a:latin typeface="Times New Roman" pitchFamily="18" charset="0"/>
                <a:ea typeface="宋体" charset="-122"/>
                <a:cs typeface="+mn-cs"/>
              </a:rPr>
              <a:t>作为地基容许承载力的初值。</a:t>
            </a:r>
            <a:r>
              <a:rPr lang="en-US" altLang="zh-CN" sz="1200" kern="1200" dirty="0">
                <a:solidFill>
                  <a:schemeClr val="tx1"/>
                </a:solidFill>
                <a:effectLst/>
                <a:latin typeface="Times New Roman" pitchFamily="18" charset="0"/>
                <a:ea typeface="宋体" charset="-122"/>
                <a:cs typeface="+mn-cs"/>
              </a:rPr>
              <a:t>p1/4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p1/3</a:t>
            </a:r>
            <a:r>
              <a:rPr lang="zh-CN" altLang="zh-CN" sz="1200" kern="1200" dirty="0">
                <a:solidFill>
                  <a:schemeClr val="tx1"/>
                </a:solidFill>
                <a:effectLst/>
                <a:latin typeface="Times New Roman" pitchFamily="18" charset="0"/>
                <a:ea typeface="宋体" charset="-122"/>
                <a:cs typeface="+mn-cs"/>
              </a:rPr>
              <a:t>代表基础下极限平衡区发展的最大深度等于基础宽度</a:t>
            </a:r>
            <a:r>
              <a:rPr lang="en-US" altLang="zh-CN" sz="1200" kern="1200" dirty="0">
                <a:solidFill>
                  <a:schemeClr val="tx1"/>
                </a:solidFill>
                <a:effectLst/>
                <a:latin typeface="Times New Roman" pitchFamily="18" charset="0"/>
                <a:ea typeface="宋体" charset="-122"/>
                <a:cs typeface="+mn-cs"/>
              </a:rPr>
              <a:t>b</a:t>
            </a:r>
            <a:r>
              <a:rPr lang="zh-CN" altLang="zh-CN" sz="1200" kern="1200" dirty="0">
                <a:solidFill>
                  <a:schemeClr val="tx1"/>
                </a:solidFill>
                <a:effectLst/>
                <a:latin typeface="Times New Roman" pitchFamily="18" charset="0"/>
                <a:ea typeface="宋体" charset="-122"/>
                <a:cs typeface="+mn-cs"/>
              </a:rPr>
              <a:t>的</a:t>
            </a:r>
            <a:r>
              <a:rPr lang="en-US" altLang="zh-CN" sz="1200" kern="1200" dirty="0">
                <a:solidFill>
                  <a:schemeClr val="tx1"/>
                </a:solidFill>
                <a:effectLst/>
                <a:latin typeface="Times New Roman" pitchFamily="18" charset="0"/>
                <a:ea typeface="宋体" charset="-122"/>
                <a:cs typeface="+mn-cs"/>
              </a:rPr>
              <a:t>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1/3</a:t>
            </a:r>
            <a:r>
              <a:rPr lang="zh-CN" altLang="zh-CN" sz="1200" kern="1200" dirty="0">
                <a:solidFill>
                  <a:schemeClr val="tx1"/>
                </a:solidFill>
                <a:effectLst/>
                <a:latin typeface="Times New Roman" pitchFamily="18" charset="0"/>
                <a:ea typeface="宋体" charset="-122"/>
                <a:cs typeface="+mn-cs"/>
              </a:rPr>
              <a:t>时所相应的荷载。临塑荷载</a:t>
            </a:r>
            <a:r>
              <a:rPr lang="en-US" altLang="zh-CN" sz="1200" kern="1200" dirty="0" err="1">
                <a:solidFill>
                  <a:schemeClr val="tx1"/>
                </a:solidFill>
                <a:effectLst/>
                <a:latin typeface="Times New Roman" pitchFamily="18" charset="0"/>
                <a:ea typeface="宋体" charset="-122"/>
                <a:cs typeface="+mn-cs"/>
              </a:rPr>
              <a:t>pcr</a:t>
            </a:r>
            <a:r>
              <a:rPr lang="zh-CN" altLang="zh-CN" sz="1200" kern="1200" dirty="0">
                <a:solidFill>
                  <a:schemeClr val="tx1"/>
                </a:solidFill>
                <a:effectLst/>
                <a:latin typeface="Times New Roman" pitchFamily="18" charset="0"/>
                <a:ea typeface="宋体" charset="-122"/>
                <a:cs typeface="+mn-cs"/>
              </a:rPr>
              <a:t>和临界荷载</a:t>
            </a:r>
            <a:r>
              <a:rPr lang="en-US" altLang="zh-CN" sz="1200" kern="1200" dirty="0">
                <a:solidFill>
                  <a:schemeClr val="tx1"/>
                </a:solidFill>
                <a:effectLst/>
                <a:latin typeface="Times New Roman" pitchFamily="18" charset="0"/>
                <a:ea typeface="宋体" charset="-122"/>
                <a:cs typeface="+mn-cs"/>
              </a:rPr>
              <a:t>p1/4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p1/3</a:t>
            </a:r>
            <a:r>
              <a:rPr lang="zh-CN" altLang="zh-CN" sz="1200" kern="1200" dirty="0">
                <a:solidFill>
                  <a:schemeClr val="tx1"/>
                </a:solidFill>
                <a:effectLst/>
                <a:latin typeface="Times New Roman" pitchFamily="18" charset="0"/>
                <a:ea typeface="宋体" charset="-122"/>
                <a:cs typeface="+mn-cs"/>
              </a:rPr>
              <a:t>具有如下的特性：</a:t>
            </a:r>
          </a:p>
          <a:p>
            <a:r>
              <a:rPr lang="zh-CN" altLang="zh-CN" sz="1200" kern="1200" dirty="0">
                <a:solidFill>
                  <a:schemeClr val="tx1"/>
                </a:solidFill>
                <a:effectLst/>
                <a:latin typeface="Times New Roman" pitchFamily="18" charset="0"/>
                <a:ea typeface="宋体" charset="-122"/>
                <a:cs typeface="+mn-cs"/>
              </a:rPr>
              <a:t>（</a:t>
            </a:r>
            <a:r>
              <a:rPr lang="en-US" altLang="zh-CN" sz="1200" kern="1200" dirty="0">
                <a:solidFill>
                  <a:schemeClr val="tx1"/>
                </a:solidFill>
                <a:effectLst/>
                <a:latin typeface="Times New Roman" pitchFamily="18" charset="0"/>
                <a:ea typeface="宋体" charset="-122"/>
                <a:cs typeface="+mn-cs"/>
              </a:rPr>
              <a:t>1</a:t>
            </a:r>
            <a:r>
              <a:rPr lang="zh-CN" altLang="zh-CN" sz="1200" kern="1200" dirty="0">
                <a:solidFill>
                  <a:schemeClr val="tx1"/>
                </a:solidFill>
                <a:effectLst/>
                <a:latin typeface="Times New Roman" pitchFamily="18" charset="0"/>
                <a:ea typeface="宋体" charset="-122"/>
                <a:cs typeface="+mn-cs"/>
              </a:rPr>
              <a:t>） 地基即将产生或已产生局部极限平衡状态，但尚未发展成整体失稳，这时部分地基土的强度已经比较充分发挥，但距离丧失稳定仍有足够的安全系数。</a:t>
            </a:r>
          </a:p>
          <a:p>
            <a:r>
              <a:rPr lang="zh-CN" altLang="zh-CN" sz="1200" kern="1200" dirty="0">
                <a:solidFill>
                  <a:schemeClr val="tx1"/>
                </a:solidFill>
                <a:effectLst/>
                <a:latin typeface="Times New Roman" pitchFamily="18" charset="0"/>
                <a:ea typeface="宋体" charset="-122"/>
                <a:cs typeface="+mn-cs"/>
              </a:rPr>
              <a:t>（</a:t>
            </a:r>
            <a:r>
              <a:rPr lang="en-US" altLang="zh-CN" sz="1200" kern="1200" dirty="0">
                <a:solidFill>
                  <a:schemeClr val="tx1"/>
                </a:solidFill>
                <a:effectLst/>
                <a:latin typeface="Times New Roman" pitchFamily="18" charset="0"/>
                <a:ea typeface="宋体" charset="-122"/>
                <a:cs typeface="+mn-cs"/>
              </a:rPr>
              <a:t>2</a:t>
            </a:r>
            <a:r>
              <a:rPr lang="zh-CN" altLang="zh-CN" sz="1200" kern="1200" dirty="0">
                <a:solidFill>
                  <a:schemeClr val="tx1"/>
                </a:solidFill>
                <a:effectLst/>
                <a:latin typeface="Times New Roman" pitchFamily="18" charset="0"/>
                <a:ea typeface="宋体" charset="-122"/>
                <a:cs typeface="+mn-cs"/>
              </a:rPr>
              <a:t>） 地基中处于极限平衡区的范围不大，因此整个地基仍然可以近似地当成弹性半空间体，有可能近似用弹性理论计算地基中的应力，以便计算变形量。</a:t>
            </a:r>
          </a:p>
          <a:p>
            <a:r>
              <a:rPr lang="zh-CN" altLang="zh-CN" sz="1200" kern="1200" dirty="0">
                <a:solidFill>
                  <a:schemeClr val="tx1"/>
                </a:solidFill>
                <a:effectLst/>
                <a:latin typeface="Times New Roman" pitchFamily="18" charset="0"/>
                <a:ea typeface="宋体" charset="-122"/>
                <a:cs typeface="+mn-cs"/>
              </a:rPr>
              <a:t>由于这两个特点，</a:t>
            </a:r>
            <a:r>
              <a:rPr lang="en-US" altLang="zh-CN" sz="1200" kern="1200" dirty="0" err="1">
                <a:solidFill>
                  <a:schemeClr val="tx1"/>
                </a:solidFill>
                <a:effectLst/>
                <a:latin typeface="Times New Roman" pitchFamily="18" charset="0"/>
                <a:ea typeface="宋体" charset="-122"/>
                <a:cs typeface="+mn-cs"/>
              </a:rPr>
              <a:t>pcr</a:t>
            </a:r>
            <a:r>
              <a:rPr lang="zh-CN" altLang="zh-CN" sz="1200" kern="1200" dirty="0">
                <a:solidFill>
                  <a:schemeClr val="tx1"/>
                </a:solidFill>
                <a:effectLst/>
                <a:latin typeface="Times New Roman" pitchFamily="18" charset="0"/>
                <a:ea typeface="宋体" charset="-122"/>
                <a:cs typeface="+mn-cs"/>
              </a:rPr>
              <a:t>、</a:t>
            </a:r>
            <a:r>
              <a:rPr lang="en-US" altLang="zh-CN" sz="1200" kern="1200" dirty="0">
                <a:solidFill>
                  <a:schemeClr val="tx1"/>
                </a:solidFill>
                <a:effectLst/>
                <a:latin typeface="Times New Roman" pitchFamily="18" charset="0"/>
                <a:ea typeface="宋体" charset="-122"/>
                <a:cs typeface="+mn-cs"/>
              </a:rPr>
              <a:t>p1/4</a:t>
            </a:r>
            <a:r>
              <a:rPr lang="zh-CN" altLang="zh-CN" sz="1200" kern="1200" dirty="0">
                <a:solidFill>
                  <a:schemeClr val="tx1"/>
                </a:solidFill>
                <a:effectLst/>
                <a:latin typeface="Times New Roman" pitchFamily="18" charset="0"/>
                <a:ea typeface="宋体" charset="-122"/>
                <a:cs typeface="+mn-cs"/>
              </a:rPr>
              <a:t>和</a:t>
            </a:r>
            <a:r>
              <a:rPr lang="en-US" altLang="zh-CN" sz="1200" kern="1200" dirty="0">
                <a:solidFill>
                  <a:schemeClr val="tx1"/>
                </a:solidFill>
                <a:effectLst/>
                <a:latin typeface="Times New Roman" pitchFamily="18" charset="0"/>
                <a:ea typeface="宋体" charset="-122"/>
                <a:cs typeface="+mn-cs"/>
              </a:rPr>
              <a:t>p1/3</a:t>
            </a:r>
            <a:r>
              <a:rPr lang="zh-CN" altLang="zh-CN" sz="1200" kern="1200" dirty="0">
                <a:solidFill>
                  <a:schemeClr val="tx1"/>
                </a:solidFill>
                <a:effectLst/>
                <a:latin typeface="Times New Roman" pitchFamily="18" charset="0"/>
                <a:ea typeface="宋体" charset="-122"/>
                <a:cs typeface="+mn-cs"/>
              </a:rPr>
              <a:t>常用以作为初步确定的地基容许承载力。</a:t>
            </a:r>
          </a:p>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21</a:t>
            </a:fld>
            <a:endParaRPr lang="en-US" altLang="zh-CN"/>
          </a:p>
        </p:txBody>
      </p:sp>
    </p:spTree>
    <p:extLst>
      <p:ext uri="{BB962C8B-B14F-4D97-AF65-F5344CB8AC3E}">
        <p14:creationId xmlns:p14="http://schemas.microsoft.com/office/powerpoint/2010/main" val="23284360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22</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23</a:t>
            </a:fld>
            <a:endParaRPr lang="en-US" altLang="zh-CN"/>
          </a:p>
        </p:txBody>
      </p:sp>
    </p:spTree>
    <p:extLst>
      <p:ext uri="{BB962C8B-B14F-4D97-AF65-F5344CB8AC3E}">
        <p14:creationId xmlns:p14="http://schemas.microsoft.com/office/powerpoint/2010/main" val="10249908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24</a:t>
            </a:fld>
            <a:endParaRPr lang="en-US" altLang="zh-CN"/>
          </a:p>
        </p:txBody>
      </p:sp>
    </p:spTree>
    <p:extLst>
      <p:ext uri="{BB962C8B-B14F-4D97-AF65-F5344CB8AC3E}">
        <p14:creationId xmlns:p14="http://schemas.microsoft.com/office/powerpoint/2010/main" val="6709426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25</a:t>
            </a:fld>
            <a:endParaRPr lang="en-US" altLang="zh-CN"/>
          </a:p>
        </p:txBody>
      </p:sp>
    </p:spTree>
    <p:extLst>
      <p:ext uri="{BB962C8B-B14F-4D97-AF65-F5344CB8AC3E}">
        <p14:creationId xmlns:p14="http://schemas.microsoft.com/office/powerpoint/2010/main" val="2676976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26</a:t>
            </a:fld>
            <a:endParaRPr lang="en-US" altLang="zh-CN"/>
          </a:p>
        </p:txBody>
      </p:sp>
    </p:spTree>
    <p:extLst>
      <p:ext uri="{BB962C8B-B14F-4D97-AF65-F5344CB8AC3E}">
        <p14:creationId xmlns:p14="http://schemas.microsoft.com/office/powerpoint/2010/main" val="32891032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27</a:t>
            </a:fld>
            <a:endParaRPr lang="en-US" altLang="zh-CN"/>
          </a:p>
        </p:txBody>
      </p:sp>
    </p:spTree>
    <p:extLst>
      <p:ext uri="{BB962C8B-B14F-4D97-AF65-F5344CB8AC3E}">
        <p14:creationId xmlns:p14="http://schemas.microsoft.com/office/powerpoint/2010/main" val="69584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28</a:t>
            </a:fld>
            <a:endParaRPr lang="en-US" altLang="zh-CN"/>
          </a:p>
        </p:txBody>
      </p:sp>
    </p:spTree>
    <p:extLst>
      <p:ext uri="{BB962C8B-B14F-4D97-AF65-F5344CB8AC3E}">
        <p14:creationId xmlns:p14="http://schemas.microsoft.com/office/powerpoint/2010/main" val="8137874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29</a:t>
            </a:fld>
            <a:endParaRPr lang="en-US" altLang="zh-CN"/>
          </a:p>
        </p:txBody>
      </p:sp>
    </p:spTree>
    <p:extLst>
      <p:ext uri="{BB962C8B-B14F-4D97-AF65-F5344CB8AC3E}">
        <p14:creationId xmlns:p14="http://schemas.microsoft.com/office/powerpoint/2010/main" val="23239502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30</a:t>
            </a:fld>
            <a:endParaRPr lang="en-US" altLang="zh-CN"/>
          </a:p>
        </p:txBody>
      </p:sp>
    </p:spTree>
    <p:extLst>
      <p:ext uri="{BB962C8B-B14F-4D97-AF65-F5344CB8AC3E}">
        <p14:creationId xmlns:p14="http://schemas.microsoft.com/office/powerpoint/2010/main" val="42298471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31</a:t>
            </a:fld>
            <a:endParaRPr lang="en-US" altLang="zh-CN"/>
          </a:p>
        </p:txBody>
      </p:sp>
    </p:spTree>
    <p:extLst>
      <p:ext uri="{BB962C8B-B14F-4D97-AF65-F5344CB8AC3E}">
        <p14:creationId xmlns:p14="http://schemas.microsoft.com/office/powerpoint/2010/main" val="33278695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32</a:t>
            </a:fld>
            <a:endParaRPr lang="en-US" altLang="zh-CN"/>
          </a:p>
        </p:txBody>
      </p:sp>
    </p:spTree>
    <p:extLst>
      <p:ext uri="{BB962C8B-B14F-4D97-AF65-F5344CB8AC3E}">
        <p14:creationId xmlns:p14="http://schemas.microsoft.com/office/powerpoint/2010/main" val="29493504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33</a:t>
            </a:fld>
            <a:endParaRPr lang="en-US" altLang="zh-CN"/>
          </a:p>
        </p:txBody>
      </p:sp>
    </p:spTree>
    <p:extLst>
      <p:ext uri="{BB962C8B-B14F-4D97-AF65-F5344CB8AC3E}">
        <p14:creationId xmlns:p14="http://schemas.microsoft.com/office/powerpoint/2010/main" val="21737446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34</a:t>
            </a:fld>
            <a:endParaRPr lang="en-US" altLang="zh-CN"/>
          </a:p>
        </p:txBody>
      </p:sp>
    </p:spTree>
    <p:extLst>
      <p:ext uri="{BB962C8B-B14F-4D97-AF65-F5344CB8AC3E}">
        <p14:creationId xmlns:p14="http://schemas.microsoft.com/office/powerpoint/2010/main" val="9731610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35</a:t>
            </a:fld>
            <a:endParaRPr lang="en-US" altLang="zh-CN"/>
          </a:p>
        </p:txBody>
      </p:sp>
    </p:spTree>
    <p:extLst>
      <p:ext uri="{BB962C8B-B14F-4D97-AF65-F5344CB8AC3E}">
        <p14:creationId xmlns:p14="http://schemas.microsoft.com/office/powerpoint/2010/main" val="4797065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36</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37</a:t>
            </a:fld>
            <a:endParaRPr lang="en-US" altLang="zh-CN"/>
          </a:p>
        </p:txBody>
      </p:sp>
    </p:spTree>
    <p:extLst>
      <p:ext uri="{BB962C8B-B14F-4D97-AF65-F5344CB8AC3E}">
        <p14:creationId xmlns:p14="http://schemas.microsoft.com/office/powerpoint/2010/main" val="473785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38</a:t>
            </a:fld>
            <a:endParaRPr lang="en-US" altLang="zh-CN"/>
          </a:p>
        </p:txBody>
      </p:sp>
    </p:spTree>
    <p:extLst>
      <p:ext uri="{BB962C8B-B14F-4D97-AF65-F5344CB8AC3E}">
        <p14:creationId xmlns:p14="http://schemas.microsoft.com/office/powerpoint/2010/main" val="221467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39</a:t>
            </a:fld>
            <a:endParaRPr lang="en-US" altLang="zh-CN"/>
          </a:p>
        </p:txBody>
      </p:sp>
    </p:spTree>
    <p:extLst>
      <p:ext uri="{BB962C8B-B14F-4D97-AF65-F5344CB8AC3E}">
        <p14:creationId xmlns:p14="http://schemas.microsoft.com/office/powerpoint/2010/main" val="16062022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40</a:t>
            </a:fld>
            <a:endParaRPr lang="en-US" altLang="zh-CN"/>
          </a:p>
        </p:txBody>
      </p:sp>
    </p:spTree>
    <p:extLst>
      <p:ext uri="{BB962C8B-B14F-4D97-AF65-F5344CB8AC3E}">
        <p14:creationId xmlns:p14="http://schemas.microsoft.com/office/powerpoint/2010/main" val="706563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41</a:t>
            </a:fld>
            <a:endParaRPr lang="en-US" altLang="zh-CN"/>
          </a:p>
        </p:txBody>
      </p:sp>
    </p:spTree>
    <p:extLst>
      <p:ext uri="{BB962C8B-B14F-4D97-AF65-F5344CB8AC3E}">
        <p14:creationId xmlns:p14="http://schemas.microsoft.com/office/powerpoint/2010/main" val="29050893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42</a:t>
            </a:fld>
            <a:endParaRPr lang="en-US" altLang="zh-CN"/>
          </a:p>
        </p:txBody>
      </p:sp>
    </p:spTree>
    <p:extLst>
      <p:ext uri="{BB962C8B-B14F-4D97-AF65-F5344CB8AC3E}">
        <p14:creationId xmlns:p14="http://schemas.microsoft.com/office/powerpoint/2010/main" val="8837281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43</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44</a:t>
            </a:fld>
            <a:endParaRPr lang="en-US" altLang="zh-CN"/>
          </a:p>
        </p:txBody>
      </p:sp>
    </p:spTree>
    <p:extLst>
      <p:ext uri="{BB962C8B-B14F-4D97-AF65-F5344CB8AC3E}">
        <p14:creationId xmlns:p14="http://schemas.microsoft.com/office/powerpoint/2010/main" val="862515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45</a:t>
            </a:fld>
            <a:endParaRPr lang="en-US" altLang="zh-CN"/>
          </a:p>
        </p:txBody>
      </p:sp>
    </p:spTree>
    <p:extLst>
      <p:ext uri="{BB962C8B-B14F-4D97-AF65-F5344CB8AC3E}">
        <p14:creationId xmlns:p14="http://schemas.microsoft.com/office/powerpoint/2010/main" val="21729554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46</a:t>
            </a:fld>
            <a:endParaRPr lang="en-US" altLang="zh-CN"/>
          </a:p>
        </p:txBody>
      </p:sp>
    </p:spTree>
    <p:extLst>
      <p:ext uri="{BB962C8B-B14F-4D97-AF65-F5344CB8AC3E}">
        <p14:creationId xmlns:p14="http://schemas.microsoft.com/office/powerpoint/2010/main" val="8936167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47</a:t>
            </a:fld>
            <a:endParaRPr lang="en-US" altLang="zh-CN"/>
          </a:p>
        </p:txBody>
      </p:sp>
    </p:spTree>
    <p:extLst>
      <p:ext uri="{BB962C8B-B14F-4D97-AF65-F5344CB8AC3E}">
        <p14:creationId xmlns:p14="http://schemas.microsoft.com/office/powerpoint/2010/main" val="20103630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48</a:t>
            </a:fld>
            <a:endParaRPr lang="en-US" altLang="zh-CN"/>
          </a:p>
        </p:txBody>
      </p:sp>
    </p:spTree>
    <p:extLst>
      <p:ext uri="{BB962C8B-B14F-4D97-AF65-F5344CB8AC3E}">
        <p14:creationId xmlns:p14="http://schemas.microsoft.com/office/powerpoint/2010/main" val="23597788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49</a:t>
            </a:fld>
            <a:endParaRPr lang="en-US" altLang="zh-CN"/>
          </a:p>
        </p:txBody>
      </p:sp>
    </p:spTree>
    <p:extLst>
      <p:ext uri="{BB962C8B-B14F-4D97-AF65-F5344CB8AC3E}">
        <p14:creationId xmlns:p14="http://schemas.microsoft.com/office/powerpoint/2010/main" val="41307512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50</a:t>
            </a:fld>
            <a:endParaRPr lang="en-US" altLang="zh-CN"/>
          </a:p>
        </p:txBody>
      </p:sp>
    </p:spTree>
    <p:extLst>
      <p:ext uri="{BB962C8B-B14F-4D97-AF65-F5344CB8AC3E}">
        <p14:creationId xmlns:p14="http://schemas.microsoft.com/office/powerpoint/2010/main" val="2095034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51</a:t>
            </a:fld>
            <a:endParaRPr lang="en-US" altLang="zh-CN"/>
          </a:p>
        </p:txBody>
      </p:sp>
    </p:spTree>
    <p:extLst>
      <p:ext uri="{BB962C8B-B14F-4D97-AF65-F5344CB8AC3E}">
        <p14:creationId xmlns:p14="http://schemas.microsoft.com/office/powerpoint/2010/main" val="2000623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52</a:t>
            </a:fld>
            <a:endParaRPr lang="en-US" altLang="zh-CN"/>
          </a:p>
        </p:txBody>
      </p:sp>
    </p:spTree>
    <p:extLst>
      <p:ext uri="{BB962C8B-B14F-4D97-AF65-F5344CB8AC3E}">
        <p14:creationId xmlns:p14="http://schemas.microsoft.com/office/powerpoint/2010/main" val="2069524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53</a:t>
            </a:fld>
            <a:endParaRPr lang="en-US" altLang="zh-CN"/>
          </a:p>
        </p:txBody>
      </p:sp>
    </p:spTree>
    <p:extLst>
      <p:ext uri="{BB962C8B-B14F-4D97-AF65-F5344CB8AC3E}">
        <p14:creationId xmlns:p14="http://schemas.microsoft.com/office/powerpoint/2010/main" val="4549012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54</a:t>
            </a:fld>
            <a:endParaRPr lang="en-US" altLang="zh-CN"/>
          </a:p>
        </p:txBody>
      </p:sp>
    </p:spTree>
    <p:extLst>
      <p:ext uri="{BB962C8B-B14F-4D97-AF65-F5344CB8AC3E}">
        <p14:creationId xmlns:p14="http://schemas.microsoft.com/office/powerpoint/2010/main" val="35618774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55</a:t>
            </a:fld>
            <a:endParaRPr lang="en-US" altLang="zh-CN"/>
          </a:p>
        </p:txBody>
      </p:sp>
    </p:spTree>
    <p:extLst>
      <p:ext uri="{BB962C8B-B14F-4D97-AF65-F5344CB8AC3E}">
        <p14:creationId xmlns:p14="http://schemas.microsoft.com/office/powerpoint/2010/main" val="42693513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56</a:t>
            </a:fld>
            <a:endParaRPr lang="en-US" altLang="zh-CN"/>
          </a:p>
        </p:txBody>
      </p:sp>
    </p:spTree>
    <p:extLst>
      <p:ext uri="{BB962C8B-B14F-4D97-AF65-F5344CB8AC3E}">
        <p14:creationId xmlns:p14="http://schemas.microsoft.com/office/powerpoint/2010/main" val="4956068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57</a:t>
            </a:fld>
            <a:endParaRPr lang="en-US" altLang="zh-CN"/>
          </a:p>
        </p:txBody>
      </p:sp>
    </p:spTree>
    <p:extLst>
      <p:ext uri="{BB962C8B-B14F-4D97-AF65-F5344CB8AC3E}">
        <p14:creationId xmlns:p14="http://schemas.microsoft.com/office/powerpoint/2010/main" val="14842991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58</a:t>
            </a:fld>
            <a:endParaRPr lang="en-US" altLang="zh-CN"/>
          </a:p>
        </p:txBody>
      </p:sp>
    </p:spTree>
    <p:extLst>
      <p:ext uri="{BB962C8B-B14F-4D97-AF65-F5344CB8AC3E}">
        <p14:creationId xmlns:p14="http://schemas.microsoft.com/office/powerpoint/2010/main" val="21287903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a:solidFill>
                  <a:schemeClr val="tx1"/>
                </a:solidFill>
                <a:latin typeface="Times New Roman" pitchFamily="18" charset="0"/>
                <a:ea typeface="宋体" charset="-122"/>
              </a:defRPr>
            </a:lvl1pPr>
            <a:lvl2pPr marL="769919" indent="-296123" eaLnBrk="0" hangingPunct="0">
              <a:defRPr sz="1500">
                <a:solidFill>
                  <a:schemeClr val="tx1"/>
                </a:solidFill>
                <a:latin typeface="Times New Roman" pitchFamily="18" charset="0"/>
                <a:ea typeface="宋体" charset="-122"/>
              </a:defRPr>
            </a:lvl2pPr>
            <a:lvl3pPr marL="1184491" indent="-236898" eaLnBrk="0" hangingPunct="0">
              <a:defRPr sz="1500">
                <a:solidFill>
                  <a:schemeClr val="tx1"/>
                </a:solidFill>
                <a:latin typeface="Times New Roman" pitchFamily="18" charset="0"/>
                <a:ea typeface="宋体" charset="-122"/>
              </a:defRPr>
            </a:lvl3pPr>
            <a:lvl4pPr marL="1658287" indent="-236898" eaLnBrk="0" hangingPunct="0">
              <a:defRPr sz="1500">
                <a:solidFill>
                  <a:schemeClr val="tx1"/>
                </a:solidFill>
                <a:latin typeface="Times New Roman" pitchFamily="18" charset="0"/>
                <a:ea typeface="宋体" charset="-122"/>
              </a:defRPr>
            </a:lvl4pPr>
            <a:lvl5pPr marL="2132084" indent="-236898" eaLnBrk="0" hangingPunct="0">
              <a:defRPr sz="1500">
                <a:solidFill>
                  <a:schemeClr val="tx1"/>
                </a:solidFill>
                <a:latin typeface="Times New Roman" pitchFamily="18" charset="0"/>
                <a:ea typeface="宋体" charset="-122"/>
              </a:defRPr>
            </a:lvl5pPr>
            <a:lvl6pPr marL="2605880"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6pPr>
            <a:lvl7pPr marL="3079676"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7pPr>
            <a:lvl8pPr marL="3553473"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8pPr>
            <a:lvl9pPr marL="4027269"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59</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18554459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a:solidFill>
                  <a:schemeClr val="tx1"/>
                </a:solidFill>
                <a:latin typeface="Times New Roman" pitchFamily="18" charset="0"/>
                <a:ea typeface="宋体" charset="-122"/>
              </a:defRPr>
            </a:lvl1pPr>
            <a:lvl2pPr marL="769919" indent="-296123" eaLnBrk="0" hangingPunct="0">
              <a:defRPr sz="1500">
                <a:solidFill>
                  <a:schemeClr val="tx1"/>
                </a:solidFill>
                <a:latin typeface="Times New Roman" pitchFamily="18" charset="0"/>
                <a:ea typeface="宋体" charset="-122"/>
              </a:defRPr>
            </a:lvl2pPr>
            <a:lvl3pPr marL="1184491" indent="-236898" eaLnBrk="0" hangingPunct="0">
              <a:defRPr sz="1500">
                <a:solidFill>
                  <a:schemeClr val="tx1"/>
                </a:solidFill>
                <a:latin typeface="Times New Roman" pitchFamily="18" charset="0"/>
                <a:ea typeface="宋体" charset="-122"/>
              </a:defRPr>
            </a:lvl3pPr>
            <a:lvl4pPr marL="1658287" indent="-236898" eaLnBrk="0" hangingPunct="0">
              <a:defRPr sz="1500">
                <a:solidFill>
                  <a:schemeClr val="tx1"/>
                </a:solidFill>
                <a:latin typeface="Times New Roman" pitchFamily="18" charset="0"/>
                <a:ea typeface="宋体" charset="-122"/>
              </a:defRPr>
            </a:lvl4pPr>
            <a:lvl5pPr marL="2132084" indent="-236898" eaLnBrk="0" hangingPunct="0">
              <a:defRPr sz="1500">
                <a:solidFill>
                  <a:schemeClr val="tx1"/>
                </a:solidFill>
                <a:latin typeface="Times New Roman" pitchFamily="18" charset="0"/>
                <a:ea typeface="宋体" charset="-122"/>
              </a:defRPr>
            </a:lvl5pPr>
            <a:lvl6pPr marL="2605880"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6pPr>
            <a:lvl7pPr marL="3079676"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7pPr>
            <a:lvl8pPr marL="3553473"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8pPr>
            <a:lvl9pPr marL="4027269"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60</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37460034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a:solidFill>
                  <a:schemeClr val="tx1"/>
                </a:solidFill>
                <a:latin typeface="Times New Roman" pitchFamily="18" charset="0"/>
                <a:ea typeface="宋体" charset="-122"/>
              </a:defRPr>
            </a:lvl1pPr>
            <a:lvl2pPr marL="769919" indent="-296123" eaLnBrk="0" hangingPunct="0">
              <a:defRPr sz="1500">
                <a:solidFill>
                  <a:schemeClr val="tx1"/>
                </a:solidFill>
                <a:latin typeface="Times New Roman" pitchFamily="18" charset="0"/>
                <a:ea typeface="宋体" charset="-122"/>
              </a:defRPr>
            </a:lvl2pPr>
            <a:lvl3pPr marL="1184491" indent="-236898" eaLnBrk="0" hangingPunct="0">
              <a:defRPr sz="1500">
                <a:solidFill>
                  <a:schemeClr val="tx1"/>
                </a:solidFill>
                <a:latin typeface="Times New Roman" pitchFamily="18" charset="0"/>
                <a:ea typeface="宋体" charset="-122"/>
              </a:defRPr>
            </a:lvl3pPr>
            <a:lvl4pPr marL="1658287" indent="-236898" eaLnBrk="0" hangingPunct="0">
              <a:defRPr sz="1500">
                <a:solidFill>
                  <a:schemeClr val="tx1"/>
                </a:solidFill>
                <a:latin typeface="Times New Roman" pitchFamily="18" charset="0"/>
                <a:ea typeface="宋体" charset="-122"/>
              </a:defRPr>
            </a:lvl4pPr>
            <a:lvl5pPr marL="2132084" indent="-236898" eaLnBrk="0" hangingPunct="0">
              <a:defRPr sz="1500">
                <a:solidFill>
                  <a:schemeClr val="tx1"/>
                </a:solidFill>
                <a:latin typeface="Times New Roman" pitchFamily="18" charset="0"/>
                <a:ea typeface="宋体" charset="-122"/>
              </a:defRPr>
            </a:lvl5pPr>
            <a:lvl6pPr marL="2605880"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6pPr>
            <a:lvl7pPr marL="3079676"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7pPr>
            <a:lvl8pPr marL="3553473"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8pPr>
            <a:lvl9pPr marL="4027269"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61</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41098360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a:solidFill>
                  <a:schemeClr val="tx1"/>
                </a:solidFill>
                <a:latin typeface="Times New Roman" pitchFamily="18" charset="0"/>
                <a:ea typeface="宋体" charset="-122"/>
              </a:defRPr>
            </a:lvl1pPr>
            <a:lvl2pPr marL="769919" indent="-296123" eaLnBrk="0" hangingPunct="0">
              <a:defRPr sz="1500">
                <a:solidFill>
                  <a:schemeClr val="tx1"/>
                </a:solidFill>
                <a:latin typeface="Times New Roman" pitchFamily="18" charset="0"/>
                <a:ea typeface="宋体" charset="-122"/>
              </a:defRPr>
            </a:lvl2pPr>
            <a:lvl3pPr marL="1184491" indent="-236898" eaLnBrk="0" hangingPunct="0">
              <a:defRPr sz="1500">
                <a:solidFill>
                  <a:schemeClr val="tx1"/>
                </a:solidFill>
                <a:latin typeface="Times New Roman" pitchFamily="18" charset="0"/>
                <a:ea typeface="宋体" charset="-122"/>
              </a:defRPr>
            </a:lvl3pPr>
            <a:lvl4pPr marL="1658287" indent="-236898" eaLnBrk="0" hangingPunct="0">
              <a:defRPr sz="1500">
                <a:solidFill>
                  <a:schemeClr val="tx1"/>
                </a:solidFill>
                <a:latin typeface="Times New Roman" pitchFamily="18" charset="0"/>
                <a:ea typeface="宋体" charset="-122"/>
              </a:defRPr>
            </a:lvl4pPr>
            <a:lvl5pPr marL="2132084" indent="-236898" eaLnBrk="0" hangingPunct="0">
              <a:defRPr sz="1500">
                <a:solidFill>
                  <a:schemeClr val="tx1"/>
                </a:solidFill>
                <a:latin typeface="Times New Roman" pitchFamily="18" charset="0"/>
                <a:ea typeface="宋体" charset="-122"/>
              </a:defRPr>
            </a:lvl5pPr>
            <a:lvl6pPr marL="2605880"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6pPr>
            <a:lvl7pPr marL="3079676"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7pPr>
            <a:lvl8pPr marL="3553473"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8pPr>
            <a:lvl9pPr marL="4027269"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62</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21755011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a:solidFill>
                  <a:schemeClr val="tx1"/>
                </a:solidFill>
                <a:latin typeface="Times New Roman" pitchFamily="18" charset="0"/>
                <a:ea typeface="宋体" charset="-122"/>
              </a:defRPr>
            </a:lvl1pPr>
            <a:lvl2pPr marL="769919" indent="-296123" eaLnBrk="0" hangingPunct="0">
              <a:defRPr sz="1500">
                <a:solidFill>
                  <a:schemeClr val="tx1"/>
                </a:solidFill>
                <a:latin typeface="Times New Roman" pitchFamily="18" charset="0"/>
                <a:ea typeface="宋体" charset="-122"/>
              </a:defRPr>
            </a:lvl2pPr>
            <a:lvl3pPr marL="1184491" indent="-236898" eaLnBrk="0" hangingPunct="0">
              <a:defRPr sz="1500">
                <a:solidFill>
                  <a:schemeClr val="tx1"/>
                </a:solidFill>
                <a:latin typeface="Times New Roman" pitchFamily="18" charset="0"/>
                <a:ea typeface="宋体" charset="-122"/>
              </a:defRPr>
            </a:lvl3pPr>
            <a:lvl4pPr marL="1658287" indent="-236898" eaLnBrk="0" hangingPunct="0">
              <a:defRPr sz="1500">
                <a:solidFill>
                  <a:schemeClr val="tx1"/>
                </a:solidFill>
                <a:latin typeface="Times New Roman" pitchFamily="18" charset="0"/>
                <a:ea typeface="宋体" charset="-122"/>
              </a:defRPr>
            </a:lvl4pPr>
            <a:lvl5pPr marL="2132084" indent="-236898" eaLnBrk="0" hangingPunct="0">
              <a:defRPr sz="1500">
                <a:solidFill>
                  <a:schemeClr val="tx1"/>
                </a:solidFill>
                <a:latin typeface="Times New Roman" pitchFamily="18" charset="0"/>
                <a:ea typeface="宋体" charset="-122"/>
              </a:defRPr>
            </a:lvl5pPr>
            <a:lvl6pPr marL="2605880"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6pPr>
            <a:lvl7pPr marL="3079676"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7pPr>
            <a:lvl8pPr marL="3553473"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8pPr>
            <a:lvl9pPr marL="4027269"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63</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19334492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a:solidFill>
                  <a:schemeClr val="tx1"/>
                </a:solidFill>
                <a:latin typeface="Times New Roman" pitchFamily="18" charset="0"/>
                <a:ea typeface="宋体" charset="-122"/>
              </a:defRPr>
            </a:lvl1pPr>
            <a:lvl2pPr marL="769919" indent="-296123" eaLnBrk="0" hangingPunct="0">
              <a:defRPr sz="1500">
                <a:solidFill>
                  <a:schemeClr val="tx1"/>
                </a:solidFill>
                <a:latin typeface="Times New Roman" pitchFamily="18" charset="0"/>
                <a:ea typeface="宋体" charset="-122"/>
              </a:defRPr>
            </a:lvl2pPr>
            <a:lvl3pPr marL="1184491" indent="-236898" eaLnBrk="0" hangingPunct="0">
              <a:defRPr sz="1500">
                <a:solidFill>
                  <a:schemeClr val="tx1"/>
                </a:solidFill>
                <a:latin typeface="Times New Roman" pitchFamily="18" charset="0"/>
                <a:ea typeface="宋体" charset="-122"/>
              </a:defRPr>
            </a:lvl3pPr>
            <a:lvl4pPr marL="1658287" indent="-236898" eaLnBrk="0" hangingPunct="0">
              <a:defRPr sz="1500">
                <a:solidFill>
                  <a:schemeClr val="tx1"/>
                </a:solidFill>
                <a:latin typeface="Times New Roman" pitchFamily="18" charset="0"/>
                <a:ea typeface="宋体" charset="-122"/>
              </a:defRPr>
            </a:lvl4pPr>
            <a:lvl5pPr marL="2132084" indent="-236898" eaLnBrk="0" hangingPunct="0">
              <a:defRPr sz="1500">
                <a:solidFill>
                  <a:schemeClr val="tx1"/>
                </a:solidFill>
                <a:latin typeface="Times New Roman" pitchFamily="18" charset="0"/>
                <a:ea typeface="宋体" charset="-122"/>
              </a:defRPr>
            </a:lvl5pPr>
            <a:lvl6pPr marL="2605880"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6pPr>
            <a:lvl7pPr marL="3079676"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7pPr>
            <a:lvl8pPr marL="3553473"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8pPr>
            <a:lvl9pPr marL="4027269"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64</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193153078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65</a:t>
            </a:fld>
            <a:endParaRPr lang="en-US" altLang="zh-CN"/>
          </a:p>
        </p:txBody>
      </p:sp>
    </p:spTree>
    <p:extLst>
      <p:ext uri="{BB962C8B-B14F-4D97-AF65-F5344CB8AC3E}">
        <p14:creationId xmlns:p14="http://schemas.microsoft.com/office/powerpoint/2010/main" val="40547273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66</a:t>
            </a:fld>
            <a:endParaRPr lang="en-US" altLang="zh-CN"/>
          </a:p>
        </p:txBody>
      </p:sp>
      <p:graphicFrame>
        <p:nvGraphicFramePr>
          <p:cNvPr id="5" name="对象 4"/>
          <p:cNvGraphicFramePr>
            <a:graphicFrameLocks noChangeAspect="1"/>
          </p:cNvGraphicFramePr>
          <p:nvPr>
            <p:extLst/>
          </p:nvPr>
        </p:nvGraphicFramePr>
        <p:xfrm>
          <a:off x="4710221" y="6898888"/>
          <a:ext cx="1260782" cy="312723"/>
        </p:xfrm>
        <a:graphic>
          <a:graphicData uri="http://schemas.openxmlformats.org/presentationml/2006/ole">
            <mc:AlternateContent xmlns:mc="http://schemas.openxmlformats.org/markup-compatibility/2006">
              <mc:Choice xmlns:v="urn:schemas-microsoft-com:vml" Requires="v">
                <p:oleObj spid="_x0000_s1738416"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0221" y="6898888"/>
                        <a:ext cx="1260782" cy="31272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749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783372692"/>
      </p:ext>
    </p:extLst>
  </p:cSld>
  <p:clrMapOvr>
    <a:masterClrMapping/>
  </p:clrMapOvr>
  <p:transition spd="med">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38772675"/>
      </p:ext>
    </p:extLst>
  </p:cSld>
  <p:clrMapOvr>
    <a:masterClrMapping/>
  </p:clrMapOvr>
  <p:transition spd="med">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181125163"/>
      </p:ext>
    </p:extLst>
  </p:cSld>
  <p:clrMapOvr>
    <a:masterClrMapping/>
  </p:clrMapOvr>
  <p:transition spd="med">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58199108"/>
      </p:ext>
    </p:extLst>
  </p:cSld>
  <p:clrMapOvr>
    <a:masterClrMapping/>
  </p:clrMapOvr>
  <p:transition spd="med">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88919340"/>
      </p:ext>
    </p:extLst>
  </p:cSld>
  <p:clrMapOvr>
    <a:masterClrMapping/>
  </p:clrMapOvr>
  <p:transition spd="med">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8697565"/>
      </p:ext>
    </p:extLst>
  </p:cSld>
  <p:clrMapOvr>
    <a:masterClrMapping/>
  </p:clrMapOvr>
  <p:transition spd="med">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13" descr="xbhs"/>
          <p:cNvPicPr>
            <a:picLocks noChangeAspect="1" noChangeArrowheads="1"/>
          </p:cNvPicPr>
          <p:nvPr userDrawn="1"/>
        </p:nvPicPr>
        <p:blipFill>
          <a:blip r:embed="rId2">
            <a:extLst>
              <a:ext uri="{28A0092B-C50C-407E-A947-70E740481C1C}">
                <a14:useLocalDpi xmlns:a14="http://schemas.microsoft.com/office/drawing/2010/main" val="0"/>
              </a:ext>
            </a:extLst>
          </a:blip>
          <a:srcRect r="53241" b="57249"/>
          <a:stretch>
            <a:fillRect/>
          </a:stretch>
        </p:blipFill>
        <p:spPr bwMode="auto">
          <a:xfrm>
            <a:off x="1158760" y="4278004"/>
            <a:ext cx="1557808" cy="15671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教学2012\清华校徽2.gif"/>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264561" y="776294"/>
            <a:ext cx="1343025"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536846"/>
      </p:ext>
    </p:extLst>
  </p:cSld>
  <p:clrMapOvr>
    <a:masterClrMapping/>
  </p:clrMapOvr>
  <p:transition spd="med">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711705459"/>
      </p:ext>
    </p:extLst>
  </p:cSld>
  <p:clrMapOvr>
    <a:masterClrMapping/>
  </p:clrMapOvr>
  <p:transition spd="med">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708553134"/>
      </p:ext>
    </p:extLst>
  </p:cSld>
  <p:clrMapOvr>
    <a:masterClrMapping/>
  </p:clrMapOvr>
  <p:transition spd="med">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7350387"/>
      </p:ext>
    </p:extLst>
  </p:cSld>
  <p:clrMapOvr>
    <a:masterClrMapping/>
  </p:clrMapOvr>
  <p:transition spd="med">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63023204"/>
      </p:ext>
    </p:extLst>
  </p:cSld>
  <p:clrMapOvr>
    <a:masterClrMapping/>
  </p:clrMapOvr>
  <p:transition spd="med">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880700952"/>
      </p:ext>
    </p:extLst>
  </p:cSld>
  <p:clrMapOvr>
    <a:masterClrMapping/>
  </p:clrMapOvr>
  <p:transition spd="med">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86356754"/>
      </p:ext>
    </p:extLst>
  </p:cSld>
  <p:clrMapOvr>
    <a:masterClrMapping/>
  </p:clrMapOvr>
  <p:transition spd="med">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167351839"/>
      </p:ext>
    </p:extLst>
  </p:cSld>
  <p:clrMapOvr>
    <a:masterClrMapping/>
  </p:clrMapOvr>
  <p:transition spd="med">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53499012"/>
      </p:ext>
    </p:extLst>
  </p:cSld>
  <p:clrMapOvr>
    <a:masterClrMapping/>
  </p:clrMapOvr>
  <p:transition spd="med">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00666435"/>
      </p:ext>
    </p:extLst>
  </p:cSld>
  <p:clrMapOvr>
    <a:masterClrMapping/>
  </p:clrMapOvr>
  <p:transition spd="med">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71402199"/>
      </p:ext>
    </p:extLst>
  </p:cSld>
  <p:clrMapOvr>
    <a:masterClrMapping/>
  </p:clrMapOvr>
  <p:transition spd="med">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420991"/>
      </p:ext>
    </p:extLst>
  </p:cSld>
  <p:clrMapOvr>
    <a:masterClrMapping/>
  </p:clrMapOvr>
  <p:transition spd="med">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528210542"/>
      </p:ext>
    </p:extLst>
  </p:cSld>
  <p:clrMapOvr>
    <a:masterClrMapping/>
  </p:clrMapOvr>
  <p:transition spd="med">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02478664"/>
      </p:ext>
    </p:extLst>
  </p:cSld>
  <p:clrMapOvr>
    <a:masterClrMapping/>
  </p:clrMapOvr>
  <p:transition spd="med">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14883718"/>
      </p:ext>
    </p:extLst>
  </p:cSld>
  <p:clrMapOvr>
    <a:masterClrMapping/>
  </p:clrMapOvr>
  <p:transition spd="med">
    <p:wipe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87591282"/>
      </p:ext>
    </p:extLst>
  </p:cSld>
  <p:clrMapOvr>
    <a:masterClrMapping/>
  </p:clrMapOvr>
  <p:transition spd="med">
    <p:wipe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01426419"/>
      </p:ext>
    </p:extLst>
  </p:cSld>
  <p:clrMapOvr>
    <a:masterClrMapping/>
  </p:clrMapOvr>
  <p:transition spd="med">
    <p:wipe di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1"/>
          <p:cNvSpPr txBox="1">
            <a:spLocks/>
          </p:cNvSpPr>
          <p:nvPr userDrawn="1"/>
        </p:nvSpPr>
        <p:spPr>
          <a:xfrm>
            <a:off x="6724681" y="6270625"/>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pitchFamily="2"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pitchFamily="2"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pitchFamily="2"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pitchFamily="2"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pitchFamily="2" charset="-122"/>
                <a:cs typeface="+mn-cs"/>
              </a:defRPr>
            </a:lvl5pPr>
            <a:lvl6pPr marL="2286000" algn="l" defTabSz="914400" rtl="0" eaLnBrk="1" latinLnBrk="0" hangingPunct="1">
              <a:defRPr sz="1400" kern="1200">
                <a:solidFill>
                  <a:schemeClr val="tx1"/>
                </a:solidFill>
                <a:latin typeface="Times New Roman" pitchFamily="18" charset="0"/>
                <a:ea typeface="宋体" pitchFamily="2" charset="-122"/>
                <a:cs typeface="+mn-cs"/>
              </a:defRPr>
            </a:lvl6pPr>
            <a:lvl7pPr marL="2743200" algn="l" defTabSz="914400" rtl="0" eaLnBrk="1" latinLnBrk="0" hangingPunct="1">
              <a:defRPr sz="1400" kern="1200">
                <a:solidFill>
                  <a:schemeClr val="tx1"/>
                </a:solidFill>
                <a:latin typeface="Times New Roman" pitchFamily="18" charset="0"/>
                <a:ea typeface="宋体" pitchFamily="2" charset="-122"/>
                <a:cs typeface="+mn-cs"/>
              </a:defRPr>
            </a:lvl7pPr>
            <a:lvl8pPr marL="3200400" algn="l" defTabSz="914400" rtl="0" eaLnBrk="1" latinLnBrk="0" hangingPunct="1">
              <a:defRPr sz="1400" kern="1200">
                <a:solidFill>
                  <a:schemeClr val="tx1"/>
                </a:solidFill>
                <a:latin typeface="Times New Roman" pitchFamily="18" charset="0"/>
                <a:ea typeface="宋体" pitchFamily="2" charset="-122"/>
                <a:cs typeface="+mn-cs"/>
              </a:defRPr>
            </a:lvl8pPr>
            <a:lvl9pPr marL="3657600" algn="l" defTabSz="914400" rtl="0" eaLnBrk="1" latinLnBrk="0" hangingPunct="1">
              <a:defRPr sz="1400" kern="1200">
                <a:solidFill>
                  <a:schemeClr val="tx1"/>
                </a:solidFill>
                <a:latin typeface="Times New Roman" pitchFamily="18" charset="0"/>
                <a:ea typeface="宋体" pitchFamily="2" charset="-122"/>
                <a:cs typeface="+mn-cs"/>
              </a:defRPr>
            </a:lvl9pPr>
          </a:lstStyle>
          <a:p>
            <a:pPr algn="r"/>
            <a:fld id="{21B3B741-5216-414E-B74B-795A24EA3A0B}" type="slidenum">
              <a:rPr lang="zh-CN" altLang="en-US" smtClean="0">
                <a:solidFill>
                  <a:srgbClr val="C00000"/>
                </a:solidFill>
              </a:rPr>
              <a:pPr algn="r"/>
              <a:t>‹#›</a:t>
            </a:fld>
            <a:endParaRPr lang="zh-CN" altLang="en-US" dirty="0">
              <a:solidFill>
                <a:srgbClr val="C00000"/>
              </a:solidFill>
            </a:endParaRPr>
          </a:p>
        </p:txBody>
      </p:sp>
    </p:spTree>
    <p:extLst>
      <p:ext uri="{BB962C8B-B14F-4D97-AF65-F5344CB8AC3E}">
        <p14:creationId xmlns:p14="http://schemas.microsoft.com/office/powerpoint/2010/main" val="1184784933"/>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67536829"/>
      </p:ext>
    </p:extLst>
  </p:cSld>
  <p:clrMapOvr>
    <a:masterClrMapping/>
  </p:clrMapOvr>
  <p:transition spd="med">
    <p:wipe dir="d"/>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22302488"/>
      </p:ext>
    </p:extLst>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image" Target="../media/image2.pn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94068" name="Group 148"/>
          <p:cNvGrpSpPr>
            <a:grpSpLocks/>
          </p:cNvGrpSpPr>
          <p:nvPr userDrawn="1"/>
        </p:nvGrpSpPr>
        <p:grpSpPr bwMode="auto">
          <a:xfrm>
            <a:off x="8031163" y="5454650"/>
            <a:ext cx="533400" cy="492125"/>
            <a:chOff x="96" y="2784"/>
            <a:chExt cx="1062" cy="981"/>
          </a:xfrm>
        </p:grpSpPr>
        <p:sp>
          <p:nvSpPr>
            <p:cNvPr id="594069" name="Freeform 149"/>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0" name="Freeform 150"/>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1" name="Freeform 151"/>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2" name="Freeform 152"/>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3" name="Freeform 153"/>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4" name="Freeform 154"/>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5" name="Freeform 155"/>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6" name="Freeform 156"/>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7" name="Freeform 157"/>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8" name="Freeform 158"/>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9" name="Freeform 159"/>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0" name="Freeform 160"/>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1" name="Freeform 161"/>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082" name="Group 162"/>
          <p:cNvGrpSpPr>
            <a:grpSpLocks/>
          </p:cNvGrpSpPr>
          <p:nvPr userDrawn="1"/>
        </p:nvGrpSpPr>
        <p:grpSpPr bwMode="auto">
          <a:xfrm>
            <a:off x="5805488" y="2881313"/>
            <a:ext cx="533400" cy="492125"/>
            <a:chOff x="96" y="2784"/>
            <a:chExt cx="1062" cy="981"/>
          </a:xfrm>
        </p:grpSpPr>
        <p:sp>
          <p:nvSpPr>
            <p:cNvPr id="594083" name="Freeform 163"/>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4" name="Freeform 164"/>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5" name="Freeform 165"/>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6" name="Freeform 166"/>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7" name="Freeform 167"/>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8" name="Freeform 168"/>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9" name="Freeform 169"/>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0" name="Freeform 170"/>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1" name="Freeform 171"/>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2" name="Freeform 172"/>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3" name="Freeform 173"/>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4" name="Freeform 174"/>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5" name="Freeform 175"/>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096" name="Group 176"/>
          <p:cNvGrpSpPr>
            <a:grpSpLocks/>
          </p:cNvGrpSpPr>
          <p:nvPr userDrawn="1"/>
        </p:nvGrpSpPr>
        <p:grpSpPr bwMode="auto">
          <a:xfrm>
            <a:off x="1646238" y="4876800"/>
            <a:ext cx="533400" cy="492125"/>
            <a:chOff x="96" y="2784"/>
            <a:chExt cx="1062" cy="981"/>
          </a:xfrm>
        </p:grpSpPr>
        <p:sp>
          <p:nvSpPr>
            <p:cNvPr id="594097" name="Freeform 177"/>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8" name="Freeform 178"/>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9" name="Freeform 179"/>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0" name="Freeform 180"/>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1" name="Freeform 181"/>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2" name="Freeform 182"/>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3" name="Freeform 183"/>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4" name="Freeform 184"/>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5" name="Freeform 185"/>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6" name="Freeform 186"/>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7" name="Freeform 187"/>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8" name="Freeform 188"/>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9" name="Freeform 189"/>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110" name="Group 190"/>
          <p:cNvGrpSpPr>
            <a:grpSpLocks/>
          </p:cNvGrpSpPr>
          <p:nvPr userDrawn="1"/>
        </p:nvGrpSpPr>
        <p:grpSpPr bwMode="auto">
          <a:xfrm>
            <a:off x="5046663" y="4525963"/>
            <a:ext cx="533400" cy="492125"/>
            <a:chOff x="96" y="2784"/>
            <a:chExt cx="1062" cy="981"/>
          </a:xfrm>
        </p:grpSpPr>
        <p:sp>
          <p:nvSpPr>
            <p:cNvPr id="594111" name="Freeform 191"/>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2" name="Freeform 192"/>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3" name="Freeform 193"/>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4" name="Freeform 194"/>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5" name="Freeform 195"/>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6" name="Freeform 196"/>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7" name="Freeform 197"/>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8" name="Freeform 198"/>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9" name="Freeform 199"/>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0" name="Freeform 200"/>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1" name="Freeform 201"/>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2" name="Freeform 202"/>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3" name="Freeform 203"/>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124" name="Group 204"/>
          <p:cNvGrpSpPr>
            <a:grpSpLocks/>
          </p:cNvGrpSpPr>
          <p:nvPr userDrawn="1"/>
        </p:nvGrpSpPr>
        <p:grpSpPr bwMode="auto">
          <a:xfrm>
            <a:off x="1096963" y="2486025"/>
            <a:ext cx="533400" cy="492125"/>
            <a:chOff x="96" y="2784"/>
            <a:chExt cx="1062" cy="981"/>
          </a:xfrm>
        </p:grpSpPr>
        <p:sp>
          <p:nvSpPr>
            <p:cNvPr id="594125" name="Freeform 205"/>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6" name="Freeform 206"/>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7" name="Freeform 207"/>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8" name="Freeform 208"/>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9" name="Freeform 209"/>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0" name="Freeform 210"/>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1" name="Freeform 211"/>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2" name="Freeform 212"/>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3" name="Freeform 213"/>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4" name="Freeform 214"/>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5" name="Freeform 215"/>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6" name="Freeform 216"/>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7" name="Freeform 217"/>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pic>
        <p:nvPicPr>
          <p:cNvPr id="594193" name="Picture 273" descr="校徽blue2"/>
          <p:cNvPicPr>
            <a:picLocks noChangeAspect="1" noChangeArrowheads="1"/>
          </p:cNvPicPr>
          <p:nvPr userDrawn="1"/>
        </p:nvPicPr>
        <p:blipFill>
          <a:blip r:embed="rId13">
            <a:lum bright="90000" contrast="-6000"/>
            <a:extLst>
              <a:ext uri="{28A0092B-C50C-407E-A947-70E740481C1C}">
                <a14:useLocalDpi xmlns:a14="http://schemas.microsoft.com/office/drawing/2010/main" val="0"/>
              </a:ext>
            </a:extLst>
          </a:blip>
          <a:srcRect/>
          <a:stretch>
            <a:fillRect/>
          </a:stretch>
        </p:blipFill>
        <p:spPr bwMode="auto">
          <a:xfrm>
            <a:off x="5505450" y="280988"/>
            <a:ext cx="3387725" cy="339248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med">
    <p:wipe dir="d"/>
  </p:transition>
  <p:txStyles>
    <p:titleStyle>
      <a:lvl1pPr algn="ctr" rtl="0" fontAlgn="base">
        <a:spcBef>
          <a:spcPct val="0"/>
        </a:spcBef>
        <a:spcAft>
          <a:spcPct val="0"/>
        </a:spcAft>
        <a:defRPr sz="4000">
          <a:solidFill>
            <a:schemeClr val="tx1"/>
          </a:solidFill>
          <a:latin typeface="+mj-lt"/>
          <a:ea typeface="+mj-ea"/>
          <a:cs typeface="+mj-cs"/>
        </a:defRPr>
      </a:lvl1pPr>
      <a:lvl2pPr algn="ctr" rtl="0" fontAlgn="base">
        <a:spcBef>
          <a:spcPct val="0"/>
        </a:spcBef>
        <a:spcAft>
          <a:spcPct val="0"/>
        </a:spcAft>
        <a:defRPr sz="4000">
          <a:solidFill>
            <a:schemeClr val="tx1"/>
          </a:solidFill>
          <a:latin typeface="Arial" charset="0"/>
          <a:ea typeface="华文新魏" pitchFamily="2" charset="-122"/>
        </a:defRPr>
      </a:lvl2pPr>
      <a:lvl3pPr algn="ctr" rtl="0" fontAlgn="base">
        <a:spcBef>
          <a:spcPct val="0"/>
        </a:spcBef>
        <a:spcAft>
          <a:spcPct val="0"/>
        </a:spcAft>
        <a:defRPr sz="4000">
          <a:solidFill>
            <a:schemeClr val="tx1"/>
          </a:solidFill>
          <a:latin typeface="Arial" charset="0"/>
          <a:ea typeface="华文新魏" pitchFamily="2" charset="-122"/>
        </a:defRPr>
      </a:lvl3pPr>
      <a:lvl4pPr algn="ctr" rtl="0" fontAlgn="base">
        <a:spcBef>
          <a:spcPct val="0"/>
        </a:spcBef>
        <a:spcAft>
          <a:spcPct val="0"/>
        </a:spcAft>
        <a:defRPr sz="4000">
          <a:solidFill>
            <a:schemeClr val="tx1"/>
          </a:solidFill>
          <a:latin typeface="Arial" charset="0"/>
          <a:ea typeface="华文新魏" pitchFamily="2" charset="-122"/>
        </a:defRPr>
      </a:lvl4pPr>
      <a:lvl5pPr algn="ctr" rtl="0" fontAlgn="base">
        <a:spcBef>
          <a:spcPct val="0"/>
        </a:spcBef>
        <a:spcAft>
          <a:spcPct val="0"/>
        </a:spcAft>
        <a:defRPr sz="4000">
          <a:solidFill>
            <a:schemeClr val="tx1"/>
          </a:solidFill>
          <a:latin typeface="Arial" charset="0"/>
          <a:ea typeface="华文新魏" pitchFamily="2" charset="-122"/>
        </a:defRPr>
      </a:lvl5pPr>
      <a:lvl6pPr marL="457200" algn="ctr" rtl="0" fontAlgn="base">
        <a:spcBef>
          <a:spcPct val="0"/>
        </a:spcBef>
        <a:spcAft>
          <a:spcPct val="0"/>
        </a:spcAft>
        <a:defRPr sz="4000">
          <a:solidFill>
            <a:schemeClr val="tx1"/>
          </a:solidFill>
          <a:latin typeface="Arial" charset="0"/>
          <a:ea typeface="华文新魏" pitchFamily="2" charset="-122"/>
        </a:defRPr>
      </a:lvl6pPr>
      <a:lvl7pPr marL="914400" algn="ctr" rtl="0" fontAlgn="base">
        <a:spcBef>
          <a:spcPct val="0"/>
        </a:spcBef>
        <a:spcAft>
          <a:spcPct val="0"/>
        </a:spcAft>
        <a:defRPr sz="4000">
          <a:solidFill>
            <a:schemeClr val="tx1"/>
          </a:solidFill>
          <a:latin typeface="Arial" charset="0"/>
          <a:ea typeface="华文新魏" pitchFamily="2" charset="-122"/>
        </a:defRPr>
      </a:lvl7pPr>
      <a:lvl8pPr marL="1371600" algn="ctr" rtl="0" fontAlgn="base">
        <a:spcBef>
          <a:spcPct val="0"/>
        </a:spcBef>
        <a:spcAft>
          <a:spcPct val="0"/>
        </a:spcAft>
        <a:defRPr sz="4000">
          <a:solidFill>
            <a:schemeClr val="tx1"/>
          </a:solidFill>
          <a:latin typeface="Arial" charset="0"/>
          <a:ea typeface="华文新魏" pitchFamily="2" charset="-122"/>
        </a:defRPr>
      </a:lvl8pPr>
      <a:lvl9pPr marL="1828800" algn="ctr" rtl="0" fontAlgn="base">
        <a:spcBef>
          <a:spcPct val="0"/>
        </a:spcBef>
        <a:spcAft>
          <a:spcPct val="0"/>
        </a:spcAft>
        <a:defRPr sz="4000">
          <a:solidFill>
            <a:schemeClr val="tx1"/>
          </a:solidFill>
          <a:latin typeface="Arial" charset="0"/>
          <a:ea typeface="华文新魏" pitchFamily="2" charset="-122"/>
        </a:defRPr>
      </a:lvl9pPr>
    </p:titleStyle>
    <p:bodyStyle>
      <a:lvl1pPr marL="342900" indent="-342900" algn="l" rtl="0" fontAlgn="base">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fontAlgn="base">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fontAlgn="base">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B3B741-5216-414E-B74B-795A24EA3A0B}" type="slidenum">
              <a:rPr lang="zh-CN" altLang="en-US" smtClean="0"/>
              <a:t>‹#›</a:t>
            </a:fld>
            <a:endParaRPr lang="zh-CN" altLang="en-US" dirty="0"/>
          </a:p>
        </p:txBody>
      </p:sp>
      <p:pic>
        <p:nvPicPr>
          <p:cNvPr id="16" name="Picture 13" descr="xbhs"/>
          <p:cNvPicPr>
            <a:picLocks noChangeAspect="1" noChangeArrowheads="1"/>
          </p:cNvPicPr>
          <p:nvPr userDrawn="1"/>
        </p:nvPicPr>
        <p:blipFill>
          <a:blip r:embed="rId14">
            <a:extLst>
              <a:ext uri="{28A0092B-C50C-407E-A947-70E740481C1C}">
                <a14:useLocalDpi xmlns:a14="http://schemas.microsoft.com/office/drawing/2010/main" val="0"/>
              </a:ext>
            </a:extLst>
          </a:blip>
          <a:srcRect r="53241" b="57249"/>
          <a:stretch>
            <a:fillRect/>
          </a:stretch>
        </p:blipFill>
        <p:spPr bwMode="auto">
          <a:xfrm>
            <a:off x="423817" y="5489135"/>
            <a:ext cx="1174241" cy="1181247"/>
          </a:xfrm>
          <a:prstGeom prst="rect">
            <a:avLst/>
          </a:prstGeom>
          <a:noFill/>
          <a:extLst>
            <a:ext uri="{909E8E84-426E-40DD-AFC4-6F175D3DCCD1}">
              <a14:hiddenFill xmlns:a14="http://schemas.microsoft.com/office/drawing/2010/main">
                <a:solidFill>
                  <a:srgbClr val="FFFFFF"/>
                </a:solidFill>
              </a14:hiddenFill>
            </a:ext>
          </a:extLst>
        </p:spPr>
      </p:pic>
      <p:sp>
        <p:nvSpPr>
          <p:cNvPr id="17" name="矩形 16"/>
          <p:cNvSpPr/>
          <p:nvPr userDrawn="1"/>
        </p:nvSpPr>
        <p:spPr>
          <a:xfrm>
            <a:off x="7101555" y="491380"/>
            <a:ext cx="2042446" cy="115368"/>
          </a:xfrm>
          <a:prstGeom prst="rect">
            <a:avLst/>
          </a:prstGeom>
          <a:solidFill>
            <a:srgbClr val="A74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userDrawn="1"/>
        </p:nvSpPr>
        <p:spPr>
          <a:xfrm>
            <a:off x="7007545" y="59819"/>
            <a:ext cx="2159566" cy="446276"/>
          </a:xfrm>
          <a:prstGeom prst="rect">
            <a:avLst/>
          </a:prstGeom>
          <a:noFill/>
        </p:spPr>
        <p:txBody>
          <a:bodyPr wrap="none" rtlCol="0">
            <a:spAutoFit/>
          </a:bodyPr>
          <a:lstStyle/>
          <a:p>
            <a:r>
              <a:rPr lang="zh-CN" altLang="en-US" sz="2000" b="1" kern="1000" spc="-170" baseline="0" dirty="0">
                <a:solidFill>
                  <a:srgbClr val="C00000"/>
                </a:solidFill>
              </a:rPr>
              <a:t>智者乐水  仁者乐山</a:t>
            </a:r>
          </a:p>
        </p:txBody>
      </p:sp>
    </p:spTree>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Lst>
  <p:transition spd="med">
    <p:wipe dir="d"/>
  </p:transition>
  <p:txStyles>
    <p:titleStyle>
      <a:lvl1pPr algn="l"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000" b="1">
          <a:solidFill>
            <a:schemeClr val="tx1"/>
          </a:solidFill>
          <a:latin typeface="Arial" charset="0"/>
          <a:ea typeface="华文新魏" pitchFamily="2" charset="-122"/>
        </a:defRPr>
      </a:lvl2pPr>
      <a:lvl3pPr algn="l" rtl="0" fontAlgn="base">
        <a:spcBef>
          <a:spcPct val="0"/>
        </a:spcBef>
        <a:spcAft>
          <a:spcPct val="0"/>
        </a:spcAft>
        <a:defRPr sz="4000" b="1">
          <a:solidFill>
            <a:schemeClr val="tx1"/>
          </a:solidFill>
          <a:latin typeface="Arial" charset="0"/>
          <a:ea typeface="华文新魏" pitchFamily="2" charset="-122"/>
        </a:defRPr>
      </a:lvl3pPr>
      <a:lvl4pPr algn="l" rtl="0" fontAlgn="base">
        <a:spcBef>
          <a:spcPct val="0"/>
        </a:spcBef>
        <a:spcAft>
          <a:spcPct val="0"/>
        </a:spcAft>
        <a:defRPr sz="4000" b="1">
          <a:solidFill>
            <a:schemeClr val="tx1"/>
          </a:solidFill>
          <a:latin typeface="Arial" charset="0"/>
          <a:ea typeface="华文新魏" pitchFamily="2" charset="-122"/>
        </a:defRPr>
      </a:lvl4pPr>
      <a:lvl5pPr algn="l" rtl="0" fontAlgn="base">
        <a:spcBef>
          <a:spcPct val="0"/>
        </a:spcBef>
        <a:spcAft>
          <a:spcPct val="0"/>
        </a:spcAft>
        <a:defRPr sz="4000" b="1">
          <a:solidFill>
            <a:schemeClr val="tx1"/>
          </a:solidFill>
          <a:latin typeface="Arial" charset="0"/>
          <a:ea typeface="华文新魏" pitchFamily="2" charset="-122"/>
        </a:defRPr>
      </a:lvl5pPr>
      <a:lvl6pPr marL="457200" algn="l" rtl="0" fontAlgn="base">
        <a:spcBef>
          <a:spcPct val="0"/>
        </a:spcBef>
        <a:spcAft>
          <a:spcPct val="0"/>
        </a:spcAft>
        <a:defRPr sz="4000" b="1">
          <a:solidFill>
            <a:schemeClr val="tx1"/>
          </a:solidFill>
          <a:latin typeface="Arial" charset="0"/>
          <a:ea typeface="华文新魏" pitchFamily="2" charset="-122"/>
        </a:defRPr>
      </a:lvl6pPr>
      <a:lvl7pPr marL="914400" algn="l" rtl="0" fontAlgn="base">
        <a:spcBef>
          <a:spcPct val="0"/>
        </a:spcBef>
        <a:spcAft>
          <a:spcPct val="0"/>
        </a:spcAft>
        <a:defRPr sz="4000" b="1">
          <a:solidFill>
            <a:schemeClr val="tx1"/>
          </a:solidFill>
          <a:latin typeface="Arial" charset="0"/>
          <a:ea typeface="华文新魏" pitchFamily="2" charset="-122"/>
        </a:defRPr>
      </a:lvl7pPr>
      <a:lvl8pPr marL="1371600" algn="l" rtl="0" fontAlgn="base">
        <a:spcBef>
          <a:spcPct val="0"/>
        </a:spcBef>
        <a:spcAft>
          <a:spcPct val="0"/>
        </a:spcAft>
        <a:defRPr sz="4000" b="1">
          <a:solidFill>
            <a:schemeClr val="tx1"/>
          </a:solidFill>
          <a:latin typeface="Arial" charset="0"/>
          <a:ea typeface="华文新魏" pitchFamily="2" charset="-122"/>
        </a:defRPr>
      </a:lvl8pPr>
      <a:lvl9pPr marL="1828800" algn="l" rtl="0" fontAlgn="base">
        <a:spcBef>
          <a:spcPct val="0"/>
        </a:spcBef>
        <a:spcAft>
          <a:spcPct val="0"/>
        </a:spcAft>
        <a:defRPr sz="4000" b="1">
          <a:solidFill>
            <a:schemeClr val="tx1"/>
          </a:solidFill>
          <a:latin typeface="Arial" charset="0"/>
          <a:ea typeface="华文新魏"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B3B741-5216-414E-B74B-795A24EA3A0B}" type="slidenum">
              <a:rPr lang="zh-CN" altLang="en-US" smtClean="0"/>
              <a:pPr/>
              <a:t>‹#›</a:t>
            </a:fld>
            <a:endParaRPr lang="zh-CN" altLang="en-US" dirty="0"/>
          </a:p>
        </p:txBody>
      </p:sp>
      <p:pic>
        <p:nvPicPr>
          <p:cNvPr id="7" name="Picture 13" descr="xbhs"/>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r="53241" b="57249"/>
          <a:stretch>
            <a:fillRect/>
          </a:stretch>
        </p:blipFill>
        <p:spPr bwMode="auto">
          <a:xfrm>
            <a:off x="423817" y="5489135"/>
            <a:ext cx="1174241" cy="118124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userDrawn="1"/>
        </p:nvSpPr>
        <p:spPr>
          <a:xfrm>
            <a:off x="7101555" y="491380"/>
            <a:ext cx="2042446" cy="115368"/>
          </a:xfrm>
          <a:prstGeom prst="rect">
            <a:avLst/>
          </a:prstGeom>
          <a:solidFill>
            <a:srgbClr val="A74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userDrawn="1"/>
        </p:nvSpPr>
        <p:spPr>
          <a:xfrm>
            <a:off x="7007545" y="59819"/>
            <a:ext cx="2159566" cy="446276"/>
          </a:xfrm>
          <a:prstGeom prst="rect">
            <a:avLst/>
          </a:prstGeom>
          <a:noFill/>
        </p:spPr>
        <p:txBody>
          <a:bodyPr wrap="none" rtlCol="0">
            <a:spAutoFit/>
          </a:bodyPr>
          <a:lstStyle/>
          <a:p>
            <a:r>
              <a:rPr lang="zh-CN" altLang="en-US" sz="2000" b="1" kern="1000" spc="-170" baseline="0" dirty="0">
                <a:solidFill>
                  <a:srgbClr val="C00000"/>
                </a:solidFill>
              </a:rPr>
              <a:t>智者乐水  仁者乐山</a:t>
            </a:r>
          </a:p>
        </p:txBody>
      </p:sp>
    </p:spTree>
    <p:extLst>
      <p:ext uri="{BB962C8B-B14F-4D97-AF65-F5344CB8AC3E}">
        <p14:creationId xmlns:p14="http://schemas.microsoft.com/office/powerpoint/2010/main" val="856054622"/>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8.xml"/><Relationship Id="rId7" Type="http://schemas.openxmlformats.org/officeDocument/2006/relationships/image" Target="../media/image6.png"/><Relationship Id="rId2" Type="http://schemas.openxmlformats.org/officeDocument/2006/relationships/slideLayout" Target="../slideLayouts/slideLayout2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png"/><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10.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13.emf"/><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16.wmf"/><Relationship Id="rId2" Type="http://schemas.openxmlformats.org/officeDocument/2006/relationships/slideLayout" Target="../slideLayouts/slideLayout18.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5.w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18.wmf"/><Relationship Id="rId2" Type="http://schemas.openxmlformats.org/officeDocument/2006/relationships/slideLayout" Target="../slideLayouts/slideLayout18.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7.wmf"/><Relationship Id="rId4" Type="http://schemas.openxmlformats.org/officeDocument/2006/relationships/oleObject" Target="../embeddings/oleObject5.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25.xml"/><Relationship Id="rId7" Type="http://schemas.openxmlformats.org/officeDocument/2006/relationships/image" Target="../media/image20.wmf"/><Relationship Id="rId2" Type="http://schemas.openxmlformats.org/officeDocument/2006/relationships/slideLayout" Target="../slideLayouts/slideLayout18.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19.wmf"/><Relationship Id="rId4" Type="http://schemas.openxmlformats.org/officeDocument/2006/relationships/oleObject" Target="../embeddings/oleObject7.bin"/><Relationship Id="rId9" Type="http://schemas.openxmlformats.org/officeDocument/2006/relationships/image" Target="../media/image21.w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23.wmf"/><Relationship Id="rId2" Type="http://schemas.openxmlformats.org/officeDocument/2006/relationships/slideLayout" Target="../slideLayouts/slideLayout18.xml"/><Relationship Id="rId1" Type="http://schemas.openxmlformats.org/officeDocument/2006/relationships/vmlDrawing" Target="../drawings/vmlDrawing5.vml"/><Relationship Id="rId6" Type="http://schemas.openxmlformats.org/officeDocument/2006/relationships/oleObject" Target="../embeddings/oleObject11.bin"/><Relationship Id="rId5" Type="http://schemas.openxmlformats.org/officeDocument/2006/relationships/image" Target="../media/image22.wmf"/><Relationship Id="rId4" Type="http://schemas.openxmlformats.org/officeDocument/2006/relationships/oleObject" Target="../embeddings/oleObject10.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27.xml"/><Relationship Id="rId7" Type="http://schemas.openxmlformats.org/officeDocument/2006/relationships/image" Target="../media/image25.wmf"/><Relationship Id="rId2" Type="http://schemas.openxmlformats.org/officeDocument/2006/relationships/slideLayout" Target="../slideLayouts/slideLayout18.xml"/><Relationship Id="rId1" Type="http://schemas.openxmlformats.org/officeDocument/2006/relationships/vmlDrawing" Target="../drawings/vmlDrawing6.vml"/><Relationship Id="rId6" Type="http://schemas.openxmlformats.org/officeDocument/2006/relationships/oleObject" Target="../embeddings/oleObject13.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26.w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7" Type="http://schemas.openxmlformats.org/officeDocument/2006/relationships/image" Target="../media/image29.wmf"/><Relationship Id="rId2" Type="http://schemas.openxmlformats.org/officeDocument/2006/relationships/slideLayout" Target="../slideLayouts/slideLayout18.xml"/><Relationship Id="rId1" Type="http://schemas.openxmlformats.org/officeDocument/2006/relationships/vmlDrawing" Target="../drawings/vmlDrawing7.vml"/><Relationship Id="rId6" Type="http://schemas.openxmlformats.org/officeDocument/2006/relationships/oleObject" Target="../embeddings/oleObject17.bin"/><Relationship Id="rId5" Type="http://schemas.openxmlformats.org/officeDocument/2006/relationships/image" Target="../media/image28.wmf"/><Relationship Id="rId4" Type="http://schemas.openxmlformats.org/officeDocument/2006/relationships/oleObject" Target="../embeddings/oleObject16.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29.xml"/><Relationship Id="rId7" Type="http://schemas.openxmlformats.org/officeDocument/2006/relationships/image" Target="../media/image31.wmf"/><Relationship Id="rId2" Type="http://schemas.openxmlformats.org/officeDocument/2006/relationships/slideLayout" Target="../slideLayouts/slideLayout18.xml"/><Relationship Id="rId1" Type="http://schemas.openxmlformats.org/officeDocument/2006/relationships/vmlDrawing" Target="../drawings/vmlDrawing8.vml"/><Relationship Id="rId6" Type="http://schemas.openxmlformats.org/officeDocument/2006/relationships/oleObject" Target="../embeddings/oleObject19.bin"/><Relationship Id="rId5" Type="http://schemas.openxmlformats.org/officeDocument/2006/relationships/image" Target="../media/image30.wmf"/><Relationship Id="rId4" Type="http://schemas.openxmlformats.org/officeDocument/2006/relationships/oleObject" Target="../embeddings/oleObject18.bin"/><Relationship Id="rId9" Type="http://schemas.openxmlformats.org/officeDocument/2006/relationships/image" Target="../media/image15.w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8.xml"/><Relationship Id="rId1" Type="http://schemas.openxmlformats.org/officeDocument/2006/relationships/vmlDrawing" Target="../drawings/vmlDrawing9.vml"/><Relationship Id="rId5" Type="http://schemas.openxmlformats.org/officeDocument/2006/relationships/image" Target="../media/image32.wmf"/><Relationship Id="rId4" Type="http://schemas.openxmlformats.org/officeDocument/2006/relationships/oleObject" Target="../embeddings/oleObject21.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31.xml"/><Relationship Id="rId7" Type="http://schemas.openxmlformats.org/officeDocument/2006/relationships/image" Target="../media/image34.wmf"/><Relationship Id="rId2" Type="http://schemas.openxmlformats.org/officeDocument/2006/relationships/slideLayout" Target="../slideLayouts/slideLayout18.xml"/><Relationship Id="rId1" Type="http://schemas.openxmlformats.org/officeDocument/2006/relationships/vmlDrawing" Target="../drawings/vmlDrawing10.vml"/><Relationship Id="rId6" Type="http://schemas.openxmlformats.org/officeDocument/2006/relationships/oleObject" Target="../embeddings/oleObject23.bin"/><Relationship Id="rId5" Type="http://schemas.openxmlformats.org/officeDocument/2006/relationships/image" Target="../media/image33.wmf"/><Relationship Id="rId4" Type="http://schemas.openxmlformats.org/officeDocument/2006/relationships/oleObject" Target="../embeddings/oleObject22.bin"/><Relationship Id="rId9" Type="http://schemas.openxmlformats.org/officeDocument/2006/relationships/image" Target="../media/image35.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37.wmf"/><Relationship Id="rId2" Type="http://schemas.openxmlformats.org/officeDocument/2006/relationships/slideLayout" Target="../slideLayouts/slideLayout18.xml"/><Relationship Id="rId1" Type="http://schemas.openxmlformats.org/officeDocument/2006/relationships/vmlDrawing" Target="../drawings/vmlDrawing11.vml"/><Relationship Id="rId6" Type="http://schemas.openxmlformats.org/officeDocument/2006/relationships/oleObject" Target="../embeddings/oleObject26.bin"/><Relationship Id="rId5" Type="http://schemas.openxmlformats.org/officeDocument/2006/relationships/image" Target="../media/image36.wmf"/><Relationship Id="rId4" Type="http://schemas.openxmlformats.org/officeDocument/2006/relationships/oleObject" Target="../embeddings/oleObject25.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notesSlide" Target="../notesSlides/notesSlide37.xml"/><Relationship Id="rId7" Type="http://schemas.openxmlformats.org/officeDocument/2006/relationships/image" Target="../media/image39.wmf"/><Relationship Id="rId2" Type="http://schemas.openxmlformats.org/officeDocument/2006/relationships/slideLayout" Target="../slideLayouts/slideLayout18.xml"/><Relationship Id="rId1" Type="http://schemas.openxmlformats.org/officeDocument/2006/relationships/vmlDrawing" Target="../drawings/vmlDrawing12.vml"/><Relationship Id="rId6" Type="http://schemas.openxmlformats.org/officeDocument/2006/relationships/oleObject" Target="../embeddings/oleObject28.bin"/><Relationship Id="rId5" Type="http://schemas.openxmlformats.org/officeDocument/2006/relationships/image" Target="../media/image38.wmf"/><Relationship Id="rId4" Type="http://schemas.openxmlformats.org/officeDocument/2006/relationships/oleObject" Target="../embeddings/oleObject27.bin"/><Relationship Id="rId9" Type="http://schemas.openxmlformats.org/officeDocument/2006/relationships/image" Target="../media/image40.wmf"/></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42.wmf"/><Relationship Id="rId2" Type="http://schemas.openxmlformats.org/officeDocument/2006/relationships/slideLayout" Target="../slideLayouts/slideLayout18.xml"/><Relationship Id="rId1" Type="http://schemas.openxmlformats.org/officeDocument/2006/relationships/vmlDrawing" Target="../drawings/vmlDrawing13.vml"/><Relationship Id="rId6" Type="http://schemas.openxmlformats.org/officeDocument/2006/relationships/oleObject" Target="../embeddings/oleObject31.bin"/><Relationship Id="rId5" Type="http://schemas.openxmlformats.org/officeDocument/2006/relationships/image" Target="../media/image41.wmf"/><Relationship Id="rId4" Type="http://schemas.openxmlformats.org/officeDocument/2006/relationships/oleObject" Target="../embeddings/oleObject30.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7" Type="http://schemas.openxmlformats.org/officeDocument/2006/relationships/image" Target="../media/image44.wmf"/><Relationship Id="rId2" Type="http://schemas.openxmlformats.org/officeDocument/2006/relationships/slideLayout" Target="../slideLayouts/slideLayout18.xml"/><Relationship Id="rId1" Type="http://schemas.openxmlformats.org/officeDocument/2006/relationships/vmlDrawing" Target="../drawings/vmlDrawing14.vml"/><Relationship Id="rId6" Type="http://schemas.openxmlformats.org/officeDocument/2006/relationships/oleObject" Target="../embeddings/oleObject33.bin"/><Relationship Id="rId5" Type="http://schemas.openxmlformats.org/officeDocument/2006/relationships/image" Target="../media/image43.wmf"/><Relationship Id="rId4" Type="http://schemas.openxmlformats.org/officeDocument/2006/relationships/oleObject" Target="../embeddings/oleObject32.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8.xml"/><Relationship Id="rId1" Type="http://schemas.openxmlformats.org/officeDocument/2006/relationships/vmlDrawing" Target="../drawings/vmlDrawing15.vml"/><Relationship Id="rId5" Type="http://schemas.openxmlformats.org/officeDocument/2006/relationships/image" Target="../media/image47.wmf"/><Relationship Id="rId4" Type="http://schemas.openxmlformats.org/officeDocument/2006/relationships/oleObject" Target="../embeddings/oleObject34.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8.xml"/><Relationship Id="rId1" Type="http://schemas.openxmlformats.org/officeDocument/2006/relationships/vmlDrawing" Target="../drawings/vmlDrawing16.vml"/><Relationship Id="rId5" Type="http://schemas.openxmlformats.org/officeDocument/2006/relationships/image" Target="../media/image48.wmf"/><Relationship Id="rId4" Type="http://schemas.openxmlformats.org/officeDocument/2006/relationships/oleObject" Target="../embeddings/oleObject35.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8.xml"/><Relationship Id="rId1" Type="http://schemas.openxmlformats.org/officeDocument/2006/relationships/vmlDrawing" Target="../drawings/vmlDrawing17.vml"/><Relationship Id="rId5" Type="http://schemas.openxmlformats.org/officeDocument/2006/relationships/image" Target="../media/image49.wmf"/><Relationship Id="rId4" Type="http://schemas.openxmlformats.org/officeDocument/2006/relationships/oleObject" Target="../embeddings/oleObject36.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8.xml"/><Relationship Id="rId1" Type="http://schemas.openxmlformats.org/officeDocument/2006/relationships/vmlDrawing" Target="../drawings/vmlDrawing18.vml"/><Relationship Id="rId5" Type="http://schemas.openxmlformats.org/officeDocument/2006/relationships/image" Target="../media/image49.wmf"/><Relationship Id="rId4" Type="http://schemas.openxmlformats.org/officeDocument/2006/relationships/oleObject" Target="../embeddings/oleObject36.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7" Type="http://schemas.openxmlformats.org/officeDocument/2006/relationships/image" Target="../media/image51.wmf"/><Relationship Id="rId2" Type="http://schemas.openxmlformats.org/officeDocument/2006/relationships/slideLayout" Target="../slideLayouts/slideLayout18.xml"/><Relationship Id="rId1" Type="http://schemas.openxmlformats.org/officeDocument/2006/relationships/vmlDrawing" Target="../drawings/vmlDrawing19.vml"/><Relationship Id="rId6" Type="http://schemas.openxmlformats.org/officeDocument/2006/relationships/oleObject" Target="../embeddings/oleObject38.bin"/><Relationship Id="rId5" Type="http://schemas.openxmlformats.org/officeDocument/2006/relationships/image" Target="../media/image50.wmf"/><Relationship Id="rId4" Type="http://schemas.openxmlformats.org/officeDocument/2006/relationships/oleObject" Target="../embeddings/oleObject37.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7" Type="http://schemas.openxmlformats.org/officeDocument/2006/relationships/image" Target="../media/image54.emf"/><Relationship Id="rId2" Type="http://schemas.openxmlformats.org/officeDocument/2006/relationships/slideLayout" Target="../slideLayouts/slideLayout18.xml"/><Relationship Id="rId1" Type="http://schemas.openxmlformats.org/officeDocument/2006/relationships/vmlDrawing" Target="../drawings/vmlDrawing20.vml"/><Relationship Id="rId6" Type="http://schemas.openxmlformats.org/officeDocument/2006/relationships/image" Target="../media/image53.emf"/><Relationship Id="rId5" Type="http://schemas.openxmlformats.org/officeDocument/2006/relationships/image" Target="../media/image52.wmf"/><Relationship Id="rId4" Type="http://schemas.openxmlformats.org/officeDocument/2006/relationships/oleObject" Target="../embeddings/oleObject39.bin"/></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8.xml"/><Relationship Id="rId1" Type="http://schemas.openxmlformats.org/officeDocument/2006/relationships/vmlDrawing" Target="../drawings/vmlDrawing21.vml"/><Relationship Id="rId5" Type="http://schemas.openxmlformats.org/officeDocument/2006/relationships/image" Target="../media/image49.wmf"/><Relationship Id="rId4" Type="http://schemas.openxmlformats.org/officeDocument/2006/relationships/oleObject" Target="../embeddings/oleObject36.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8.xml"/><Relationship Id="rId1" Type="http://schemas.openxmlformats.org/officeDocument/2006/relationships/vmlDrawing" Target="../drawings/vmlDrawing22.vml"/><Relationship Id="rId5" Type="http://schemas.openxmlformats.org/officeDocument/2006/relationships/image" Target="../media/image55.wmf"/><Relationship Id="rId4" Type="http://schemas.openxmlformats.org/officeDocument/2006/relationships/oleObject" Target="../embeddings/oleObject40.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8.xml"/><Relationship Id="rId1" Type="http://schemas.openxmlformats.org/officeDocument/2006/relationships/vmlDrawing" Target="../drawings/vmlDrawing23.vml"/><Relationship Id="rId5" Type="http://schemas.openxmlformats.org/officeDocument/2006/relationships/image" Target="../media/image56.wmf"/><Relationship Id="rId4" Type="http://schemas.openxmlformats.org/officeDocument/2006/relationships/oleObject" Target="../embeddings/oleObject41.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8.xml"/><Relationship Id="rId1" Type="http://schemas.openxmlformats.org/officeDocument/2006/relationships/vmlDrawing" Target="../drawings/vmlDrawing24.vml"/><Relationship Id="rId5" Type="http://schemas.openxmlformats.org/officeDocument/2006/relationships/image" Target="../media/image57.wmf"/><Relationship Id="rId4" Type="http://schemas.openxmlformats.org/officeDocument/2006/relationships/oleObject" Target="../embeddings/oleObject42.bin"/></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8.xml"/><Relationship Id="rId1" Type="http://schemas.openxmlformats.org/officeDocument/2006/relationships/vmlDrawing" Target="../drawings/vmlDrawing25.vml"/><Relationship Id="rId5" Type="http://schemas.openxmlformats.org/officeDocument/2006/relationships/image" Target="../media/image58.wmf"/><Relationship Id="rId4" Type="http://schemas.openxmlformats.org/officeDocument/2006/relationships/oleObject" Target="../embeddings/oleObject43.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 name="Text Box 61"/>
          <p:cNvSpPr txBox="1">
            <a:spLocks noChangeArrowheads="1"/>
          </p:cNvSpPr>
          <p:nvPr/>
        </p:nvSpPr>
        <p:spPr bwMode="auto">
          <a:xfrm>
            <a:off x="1869989" y="1811338"/>
            <a:ext cx="5502876"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0"/>
              </a:spcBef>
              <a:spcAft>
                <a:spcPct val="0"/>
              </a:spcAft>
              <a:defRPr kumimoji="1" sz="2400">
                <a:solidFill>
                  <a:schemeClr val="tx1"/>
                </a:solidFill>
                <a:latin typeface="Times New Roman" pitchFamily="18" charset="0"/>
                <a:ea typeface="宋体" charset="-122"/>
              </a:defRPr>
            </a:lvl1pPr>
            <a:lvl2pPr marL="1431925">
              <a:spcBef>
                <a:spcPct val="0"/>
              </a:spcBef>
              <a:spcAft>
                <a:spcPct val="0"/>
              </a:spcAft>
              <a:defRPr kumimoji="1" sz="2400">
                <a:solidFill>
                  <a:schemeClr val="tx1"/>
                </a:solidFill>
                <a:latin typeface="Times New Roman" pitchFamily="18" charset="0"/>
                <a:ea typeface="宋体" charset="-122"/>
              </a:defRPr>
            </a:lvl2pPr>
            <a:lvl3pPr marL="1611313">
              <a:spcBef>
                <a:spcPct val="0"/>
              </a:spcBef>
              <a:spcAft>
                <a:spcPct val="0"/>
              </a:spcAft>
              <a:defRPr kumimoji="1" sz="2400">
                <a:solidFill>
                  <a:schemeClr val="tx1"/>
                </a:solidFill>
                <a:latin typeface="Times New Roman" pitchFamily="18" charset="0"/>
                <a:ea typeface="宋体" charset="-122"/>
              </a:defRPr>
            </a:lvl3pPr>
            <a:lvl4pPr marL="1790700">
              <a:spcBef>
                <a:spcPct val="0"/>
              </a:spcBef>
              <a:spcAft>
                <a:spcPct val="0"/>
              </a:spcAft>
              <a:defRPr kumimoji="1" sz="2400">
                <a:solidFill>
                  <a:schemeClr val="tx1"/>
                </a:solidFill>
                <a:latin typeface="Times New Roman" pitchFamily="18" charset="0"/>
                <a:ea typeface="宋体" charset="-122"/>
              </a:defRPr>
            </a:lvl4pPr>
            <a:lvl5pPr marL="1970088">
              <a:spcBef>
                <a:spcPct val="0"/>
              </a:spcBef>
              <a:spcAft>
                <a:spcPct val="0"/>
              </a:spcAft>
              <a:defRPr kumimoji="1" sz="2400">
                <a:solidFill>
                  <a:schemeClr val="tx1"/>
                </a:solidFill>
                <a:latin typeface="Times New Roman" pitchFamily="18" charset="0"/>
                <a:ea typeface="宋体" charset="-122"/>
              </a:defRPr>
            </a:lvl5pPr>
            <a:lvl6pPr marL="2427288" fontAlgn="base">
              <a:spcBef>
                <a:spcPct val="0"/>
              </a:spcBef>
              <a:spcAft>
                <a:spcPct val="0"/>
              </a:spcAft>
              <a:defRPr kumimoji="1" sz="2400">
                <a:solidFill>
                  <a:schemeClr val="tx1"/>
                </a:solidFill>
                <a:latin typeface="Times New Roman" pitchFamily="18" charset="0"/>
                <a:ea typeface="宋体" charset="-122"/>
              </a:defRPr>
            </a:lvl6pPr>
            <a:lvl7pPr marL="2884488" fontAlgn="base">
              <a:spcBef>
                <a:spcPct val="0"/>
              </a:spcBef>
              <a:spcAft>
                <a:spcPct val="0"/>
              </a:spcAft>
              <a:defRPr kumimoji="1" sz="2400">
                <a:solidFill>
                  <a:schemeClr val="tx1"/>
                </a:solidFill>
                <a:latin typeface="Times New Roman" pitchFamily="18" charset="0"/>
                <a:ea typeface="宋体" charset="-122"/>
              </a:defRPr>
            </a:lvl7pPr>
            <a:lvl8pPr marL="3341688" fontAlgn="base">
              <a:spcBef>
                <a:spcPct val="0"/>
              </a:spcBef>
              <a:spcAft>
                <a:spcPct val="0"/>
              </a:spcAft>
              <a:defRPr kumimoji="1" sz="2400">
                <a:solidFill>
                  <a:schemeClr val="tx1"/>
                </a:solidFill>
                <a:latin typeface="Times New Roman" pitchFamily="18" charset="0"/>
                <a:ea typeface="宋体" charset="-122"/>
              </a:defRPr>
            </a:lvl8pPr>
            <a:lvl9pPr marL="3798888" fontAlgn="base">
              <a:spcBef>
                <a:spcPct val="0"/>
              </a:spcBef>
              <a:spcAft>
                <a:spcPct val="0"/>
              </a:spcAft>
              <a:defRPr kumimoji="1" sz="2400">
                <a:solidFill>
                  <a:schemeClr val="tx1"/>
                </a:solidFill>
                <a:latin typeface="Times New Roman" pitchFamily="18" charset="0"/>
                <a:ea typeface="宋体" charset="-122"/>
              </a:defRPr>
            </a:lvl9pPr>
          </a:lstStyle>
          <a:p>
            <a:pPr algn="ctr">
              <a:lnSpc>
                <a:spcPct val="100000"/>
              </a:lnSpc>
            </a:pPr>
            <a:r>
              <a:rPr lang="zh-CN" altLang="en-US" sz="4400" b="1" dirty="0">
                <a:solidFill>
                  <a:srgbClr val="000066"/>
                </a:solidFill>
                <a:latin typeface="黑体" pitchFamily="2" charset="-122"/>
                <a:ea typeface="黑体" pitchFamily="2" charset="-122"/>
                <a:sym typeface="Symbol" pitchFamily="18" charset="2"/>
              </a:rPr>
              <a:t>地基承载力</a:t>
            </a:r>
          </a:p>
        </p:txBody>
      </p:sp>
      <p:sp>
        <p:nvSpPr>
          <p:cNvPr id="21" name="Text Box 6"/>
          <p:cNvSpPr txBox="1">
            <a:spLocks noChangeArrowheads="1"/>
          </p:cNvSpPr>
          <p:nvPr/>
        </p:nvSpPr>
        <p:spPr bwMode="auto">
          <a:xfrm>
            <a:off x="3849688" y="3218503"/>
            <a:ext cx="2117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3200" b="1" dirty="0">
                <a:solidFill>
                  <a:srgbClr val="000066"/>
                </a:solidFill>
                <a:latin typeface="幼圆" pitchFamily="49" charset="-122"/>
                <a:ea typeface="幼圆" pitchFamily="49" charset="-122"/>
              </a:rPr>
              <a:t>张 丙 印</a:t>
            </a:r>
          </a:p>
        </p:txBody>
      </p:sp>
      <p:sp>
        <p:nvSpPr>
          <p:cNvPr id="22" name="Text Box 59"/>
          <p:cNvSpPr txBox="1">
            <a:spLocks noChangeArrowheads="1"/>
          </p:cNvSpPr>
          <p:nvPr/>
        </p:nvSpPr>
        <p:spPr bwMode="auto">
          <a:xfrm>
            <a:off x="2519465" y="822480"/>
            <a:ext cx="3187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b="1" dirty="0">
                <a:solidFill>
                  <a:srgbClr val="990000"/>
                </a:solidFill>
                <a:latin typeface="黑体" pitchFamily="2" charset="-122"/>
                <a:ea typeface="黑体" pitchFamily="2" charset="-122"/>
              </a:rPr>
              <a:t>《</a:t>
            </a:r>
            <a:r>
              <a:rPr kumimoji="1" lang="zh-CN" altLang="en-US" sz="2400" b="1" dirty="0">
                <a:solidFill>
                  <a:srgbClr val="990000"/>
                </a:solidFill>
                <a:latin typeface="黑体" pitchFamily="2" charset="-122"/>
                <a:ea typeface="黑体" pitchFamily="2" charset="-122"/>
              </a:rPr>
              <a:t>土力学</a:t>
            </a:r>
            <a:r>
              <a:rPr kumimoji="1" lang="en-US" altLang="zh-CN" sz="2400" b="1" dirty="0">
                <a:solidFill>
                  <a:srgbClr val="990000"/>
                </a:solidFill>
                <a:latin typeface="黑体" pitchFamily="2" charset="-122"/>
                <a:ea typeface="黑体" pitchFamily="2" charset="-122"/>
              </a:rPr>
              <a:t>》</a:t>
            </a:r>
            <a:r>
              <a:rPr kumimoji="1" lang="zh-CN" altLang="en-US" sz="2400" b="1" dirty="0">
                <a:solidFill>
                  <a:srgbClr val="990000"/>
                </a:solidFill>
                <a:latin typeface="黑体" pitchFamily="2" charset="-122"/>
                <a:ea typeface="黑体" pitchFamily="2" charset="-122"/>
              </a:rPr>
              <a:t>之第八章</a:t>
            </a:r>
          </a:p>
        </p:txBody>
      </p:sp>
      <p:sp>
        <p:nvSpPr>
          <p:cNvPr id="23" name="Rectangle 2"/>
          <p:cNvSpPr>
            <a:spLocks noChangeArrowheads="1"/>
          </p:cNvSpPr>
          <p:nvPr/>
        </p:nvSpPr>
        <p:spPr bwMode="auto">
          <a:xfrm>
            <a:off x="1602555" y="4390958"/>
            <a:ext cx="642461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spcBef>
                <a:spcPct val="0"/>
              </a:spcBef>
              <a:spcAft>
                <a:spcPct val="0"/>
              </a:spcAft>
              <a:tabLst>
                <a:tab pos="1620838" algn="l"/>
              </a:tabLst>
            </a:pPr>
            <a:r>
              <a:rPr kumimoji="1" lang="zh-CN" altLang="en-US" sz="2400" b="1" dirty="0">
                <a:solidFill>
                  <a:srgbClr val="660066"/>
                </a:solidFill>
                <a:latin typeface="幼圆" pitchFamily="49" charset="-122"/>
                <a:ea typeface="幼圆" pitchFamily="49" charset="-122"/>
              </a:rPr>
              <a:t>	</a:t>
            </a:r>
            <a:r>
              <a:rPr kumimoji="1" lang="zh-CN" altLang="en-US" sz="3200" b="1" dirty="0">
                <a:solidFill>
                  <a:srgbClr val="660066"/>
                </a:solidFill>
                <a:latin typeface="黑体" pitchFamily="2" charset="-122"/>
                <a:ea typeface="黑体" pitchFamily="2" charset="-122"/>
              </a:rPr>
              <a:t>清华大学水利系      </a:t>
            </a:r>
          </a:p>
          <a:p>
            <a:pPr>
              <a:lnSpc>
                <a:spcPct val="125000"/>
              </a:lnSpc>
              <a:spcBef>
                <a:spcPct val="0"/>
              </a:spcBef>
              <a:spcAft>
                <a:spcPct val="0"/>
              </a:spcAft>
              <a:tabLst>
                <a:tab pos="1620838" algn="l"/>
              </a:tabLst>
            </a:pPr>
            <a:r>
              <a:rPr kumimoji="1" lang="zh-CN" altLang="en-US" sz="3200" b="1" dirty="0">
                <a:solidFill>
                  <a:srgbClr val="660066"/>
                </a:solidFill>
                <a:latin typeface="黑体" pitchFamily="2" charset="-122"/>
                <a:ea typeface="黑体" pitchFamily="2" charset="-122"/>
              </a:rPr>
              <a:t>      	岩土工程研究所</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zh-CN" altLang="en-US" sz="2000" b="1" kern="900" spc="-140" dirty="0">
                <a:solidFill>
                  <a:srgbClr val="C00000"/>
                </a:solidFill>
                <a:latin typeface="宋体" pitchFamily="2" charset="-122"/>
              </a:rPr>
              <a:t>第八章：本章概要</a:t>
            </a:r>
            <a:r>
              <a:rPr lang="zh-CN" altLang="en-US" sz="2000" kern="900" spc="-140" dirty="0">
                <a:solidFill>
                  <a:srgbClr val="C00000"/>
                </a:solidFill>
                <a:latin typeface="宋体" pitchFamily="2" charset="-122"/>
              </a:rPr>
              <a:t> </a:t>
            </a:r>
          </a:p>
        </p:txBody>
      </p:sp>
      <p:sp>
        <p:nvSpPr>
          <p:cNvPr id="8" name="Text Box 12"/>
          <p:cNvSpPr txBox="1">
            <a:spLocks noChangeArrowheads="1"/>
          </p:cNvSpPr>
          <p:nvPr/>
        </p:nvSpPr>
        <p:spPr bwMode="auto">
          <a:xfrm>
            <a:off x="1073150" y="2286000"/>
            <a:ext cx="2651125"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Font typeface="Wingdings" pitchFamily="2" charset="2"/>
              <a:buChar char="²"/>
            </a:pPr>
            <a:r>
              <a:rPr lang="zh-CN" altLang="en-US" sz="2800" b="1" dirty="0">
                <a:solidFill>
                  <a:srgbClr val="A50021"/>
                </a:solidFill>
                <a:latin typeface="幼圆" pitchFamily="49" charset="-122"/>
                <a:ea typeface="幼圆" pitchFamily="49" charset="-122"/>
              </a:rPr>
              <a:t> 本章提要</a:t>
            </a:r>
          </a:p>
          <a:p>
            <a:pPr eaLnBrk="1" hangingPunct="1">
              <a:lnSpc>
                <a:spcPct val="120000"/>
              </a:lnSpc>
              <a:spcBef>
                <a:spcPct val="45000"/>
              </a:spcBef>
              <a:spcAft>
                <a:spcPct val="110000"/>
              </a:spcAft>
              <a:buFont typeface="Wingdings" pitchFamily="2" charset="2"/>
              <a:buChar char="²"/>
            </a:pPr>
            <a:endParaRPr lang="zh-CN" altLang="en-US" sz="2400" b="1" dirty="0">
              <a:solidFill>
                <a:srgbClr val="A50021"/>
              </a:solidFill>
              <a:latin typeface="幼圆" pitchFamily="49" charset="-122"/>
              <a:ea typeface="幼圆" pitchFamily="49" charset="-122"/>
            </a:endParaRPr>
          </a:p>
          <a:p>
            <a:pPr eaLnBrk="1" hangingPunct="1">
              <a:lnSpc>
                <a:spcPct val="120000"/>
              </a:lnSpc>
              <a:spcBef>
                <a:spcPct val="0"/>
              </a:spcBef>
              <a:spcAft>
                <a:spcPct val="0"/>
              </a:spcAft>
              <a:buFont typeface="Wingdings" pitchFamily="2" charset="2"/>
              <a:buChar char="²"/>
            </a:pPr>
            <a:endParaRPr lang="zh-CN" altLang="en-US" sz="2400" b="1" dirty="0">
              <a:solidFill>
                <a:srgbClr val="A50021"/>
              </a:solidFill>
              <a:latin typeface="幼圆" pitchFamily="49" charset="-122"/>
              <a:ea typeface="幼圆" pitchFamily="49" charset="-122"/>
            </a:endParaRPr>
          </a:p>
          <a:p>
            <a:pPr eaLnBrk="1" hangingPunct="1">
              <a:lnSpc>
                <a:spcPct val="120000"/>
              </a:lnSpc>
              <a:spcBef>
                <a:spcPct val="0"/>
              </a:spcBef>
              <a:spcAft>
                <a:spcPct val="0"/>
              </a:spcAft>
              <a:buFont typeface="Wingdings" pitchFamily="2" charset="2"/>
              <a:buChar char="²"/>
            </a:pPr>
            <a:r>
              <a:rPr lang="zh-CN" altLang="en-US" sz="2800" b="1" dirty="0">
                <a:solidFill>
                  <a:srgbClr val="A50021"/>
                </a:solidFill>
                <a:latin typeface="幼圆" pitchFamily="49" charset="-122"/>
                <a:ea typeface="幼圆" pitchFamily="49" charset="-122"/>
              </a:rPr>
              <a:t> 学习难点</a:t>
            </a:r>
            <a:endParaRPr lang="en-US" altLang="zh-CN" sz="2400" b="1" dirty="0">
              <a:solidFill>
                <a:srgbClr val="A50021"/>
              </a:solidFill>
              <a:latin typeface="幼圆" pitchFamily="49" charset="-122"/>
              <a:ea typeface="幼圆" pitchFamily="49" charset="-122"/>
            </a:endParaRPr>
          </a:p>
        </p:txBody>
      </p:sp>
      <p:sp>
        <p:nvSpPr>
          <p:cNvPr id="9" name="Text Box 13"/>
          <p:cNvSpPr txBox="1">
            <a:spLocks noChangeArrowheads="1"/>
          </p:cNvSpPr>
          <p:nvPr/>
        </p:nvSpPr>
        <p:spPr bwMode="auto">
          <a:xfrm>
            <a:off x="1865313" y="954088"/>
            <a:ext cx="53562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200" b="1" dirty="0">
                <a:solidFill>
                  <a:srgbClr val="000066"/>
                </a:solidFill>
                <a:latin typeface="黑体" pitchFamily="2" charset="-122"/>
                <a:ea typeface="黑体" pitchFamily="2" charset="-122"/>
              </a:rPr>
              <a:t>第八章：地基承载力</a:t>
            </a:r>
          </a:p>
        </p:txBody>
      </p:sp>
      <p:sp>
        <p:nvSpPr>
          <p:cNvPr id="10" name="Text Box 14"/>
          <p:cNvSpPr txBox="1">
            <a:spLocks noChangeArrowheads="1"/>
          </p:cNvSpPr>
          <p:nvPr/>
        </p:nvSpPr>
        <p:spPr bwMode="auto">
          <a:xfrm>
            <a:off x="3379788" y="1907477"/>
            <a:ext cx="5111069" cy="3348609"/>
          </a:xfrm>
          <a:prstGeom prst="rect">
            <a:avLst/>
          </a:prstGeom>
          <a:noFill/>
          <a:ln>
            <a:noFill/>
          </a:ln>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Clr>
                <a:srgbClr val="A50021"/>
              </a:buClr>
              <a:buFontTx/>
              <a:buChar char="•"/>
            </a:pPr>
            <a:r>
              <a:rPr kumimoji="1" lang="zh-CN" altLang="en-US" sz="2400" b="1" dirty="0">
                <a:solidFill>
                  <a:srgbClr val="000066"/>
                </a:solidFill>
                <a:ea typeface="幼圆" pitchFamily="49" charset="-122"/>
              </a:rPr>
              <a:t>  地基的失稳形式和过程</a:t>
            </a:r>
            <a:endParaRPr kumimoji="1" lang="en-US" altLang="zh-CN"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a:solidFill>
                  <a:srgbClr val="000066"/>
                </a:solidFill>
                <a:ea typeface="幼圆" pitchFamily="49" charset="-122"/>
              </a:rPr>
              <a:t>  临塑荷载和临界荷载</a:t>
            </a:r>
          </a:p>
          <a:p>
            <a:pPr eaLnBrk="1" hangingPunct="1">
              <a:lnSpc>
                <a:spcPct val="120000"/>
              </a:lnSpc>
              <a:spcBef>
                <a:spcPct val="0"/>
              </a:spcBef>
              <a:spcAft>
                <a:spcPct val="0"/>
              </a:spcAft>
              <a:buClr>
                <a:srgbClr val="A50021"/>
              </a:buClr>
              <a:buFontTx/>
              <a:buChar char="•"/>
            </a:pPr>
            <a:r>
              <a:rPr kumimoji="1" lang="zh-CN" altLang="en-US" sz="2400" b="1" dirty="0">
                <a:solidFill>
                  <a:srgbClr val="000066"/>
                </a:solidFill>
                <a:ea typeface="幼圆" pitchFamily="49" charset="-122"/>
                <a:cs typeface="Times New Roman" panose="02020603050405020304" pitchFamily="18" charset="0"/>
              </a:rPr>
              <a:t>  极限承载力计算</a:t>
            </a:r>
            <a:endParaRPr kumimoji="1" lang="en-US" altLang="zh-CN" sz="2400" b="1" dirty="0">
              <a:solidFill>
                <a:srgbClr val="000066"/>
              </a:solidFill>
              <a:ea typeface="幼圆" pitchFamily="49" charset="-122"/>
              <a:cs typeface="Times New Roman" panose="02020603050405020304" pitchFamily="18" charset="0"/>
            </a:endParaRPr>
          </a:p>
          <a:p>
            <a:pPr eaLnBrk="1" hangingPunct="1">
              <a:lnSpc>
                <a:spcPct val="120000"/>
              </a:lnSpc>
              <a:spcBef>
                <a:spcPct val="0"/>
              </a:spcBef>
              <a:spcAft>
                <a:spcPct val="0"/>
              </a:spcAft>
              <a:buClr>
                <a:srgbClr val="A50021"/>
              </a:buClr>
              <a:buFontTx/>
              <a:buChar char="•"/>
            </a:pPr>
            <a:r>
              <a:rPr kumimoji="1" lang="zh-CN" altLang="en-US" sz="2400" b="1" dirty="0">
                <a:solidFill>
                  <a:srgbClr val="000066"/>
                </a:solidFill>
                <a:ea typeface="幼圆" pitchFamily="49" charset="-122"/>
              </a:rPr>
              <a:t>  地基承载力的确定方法</a:t>
            </a:r>
          </a:p>
          <a:p>
            <a:pPr eaLnBrk="1" hangingPunct="1">
              <a:lnSpc>
                <a:spcPct val="120000"/>
              </a:lnSpc>
              <a:spcBef>
                <a:spcPts val="1200"/>
              </a:spcBef>
              <a:spcAft>
                <a:spcPts val="0"/>
              </a:spcAft>
              <a:buClr>
                <a:srgbClr val="A50021"/>
              </a:buClr>
              <a:buFontTx/>
              <a:buChar char="•"/>
            </a:pPr>
            <a:endParaRPr kumimoji="1" lang="zh-CN" altLang="en-US"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a:solidFill>
                  <a:srgbClr val="000066"/>
                </a:solidFill>
                <a:ea typeface="幼圆" pitchFamily="49" charset="-122"/>
              </a:rPr>
              <a:t>  临塑荷载和临界荷载</a:t>
            </a:r>
            <a:endParaRPr lang="zh-CN" altLang="en-US" sz="2400" b="1" dirty="0">
              <a:solidFill>
                <a:srgbClr val="000066"/>
              </a:solidFill>
              <a:latin typeface="幼圆" pitchFamily="49" charset="-122"/>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a:solidFill>
                  <a:srgbClr val="000066"/>
                </a:solidFill>
                <a:ea typeface="幼圆" pitchFamily="49" charset="-122"/>
              </a:rPr>
              <a:t>  地基极限承载力计算方法</a:t>
            </a:r>
          </a:p>
        </p:txBody>
      </p:sp>
      <p:sp>
        <p:nvSpPr>
          <p:cNvPr id="11"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a:t>
            </a:fld>
            <a:endParaRPr lang="zh-CN" altLang="en-US" dirty="0">
              <a:solidFill>
                <a:srgbClr val="C00000"/>
              </a:solidFill>
            </a:endParaRPr>
          </a:p>
        </p:txBody>
      </p:sp>
    </p:spTree>
  </p:cSld>
  <p:clrMapOvr>
    <a:masterClrMapping/>
  </p:clrMapOvr>
  <p:transition spd="med">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49275" y="679450"/>
            <a:ext cx="1423988" cy="1516063"/>
            <a:chOff x="6502400" y="546100"/>
            <a:chExt cx="1423988" cy="1516063"/>
          </a:xfrm>
        </p:grpSpPr>
        <p:sp>
          <p:nvSpPr>
            <p:cNvPr id="1447938" name="AutoShape 2"/>
            <p:cNvSpPr>
              <a:spLocks noChangeArrowheads="1"/>
            </p:cNvSpPr>
            <p:nvPr/>
          </p:nvSpPr>
          <p:spPr bwMode="auto">
            <a:xfrm>
              <a:off x="7008813" y="1212850"/>
              <a:ext cx="371475" cy="849313"/>
            </a:xfrm>
            <a:prstGeom prst="cube">
              <a:avLst>
                <a:gd name="adj"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939" name="Freeform 3"/>
            <p:cNvSpPr>
              <a:spLocks/>
            </p:cNvSpPr>
            <p:nvPr/>
          </p:nvSpPr>
          <p:spPr bwMode="auto">
            <a:xfrm flipH="1">
              <a:off x="6502400" y="546100"/>
              <a:ext cx="1423988" cy="950913"/>
            </a:xfrm>
            <a:custGeom>
              <a:avLst/>
              <a:gdLst>
                <a:gd name="T0" fmla="*/ 130 w 783"/>
                <a:gd name="T1" fmla="*/ 133 h 551"/>
                <a:gd name="T2" fmla="*/ 293 w 783"/>
                <a:gd name="T3" fmla="*/ 108 h 551"/>
                <a:gd name="T4" fmla="*/ 520 w 783"/>
                <a:gd name="T5" fmla="*/ 56 h 551"/>
                <a:gd name="T6" fmla="*/ 686 w 783"/>
                <a:gd name="T7" fmla="*/ 12 h 551"/>
                <a:gd name="T8" fmla="*/ 763 w 783"/>
                <a:gd name="T9" fmla="*/ 130 h 551"/>
                <a:gd name="T10" fmla="*/ 779 w 783"/>
                <a:gd name="T11" fmla="*/ 338 h 551"/>
                <a:gd name="T12" fmla="*/ 738 w 783"/>
                <a:gd name="T13" fmla="*/ 504 h 551"/>
                <a:gd name="T14" fmla="*/ 507 w 783"/>
                <a:gd name="T15" fmla="*/ 546 h 551"/>
                <a:gd name="T16" fmla="*/ 238 w 783"/>
                <a:gd name="T17" fmla="*/ 533 h 551"/>
                <a:gd name="T18" fmla="*/ 37 w 783"/>
                <a:gd name="T19" fmla="*/ 469 h 551"/>
                <a:gd name="T20" fmla="*/ 14 w 783"/>
                <a:gd name="T21" fmla="*/ 296 h 551"/>
                <a:gd name="T22" fmla="*/ 46 w 783"/>
                <a:gd name="T23" fmla="*/ 178 h 551"/>
                <a:gd name="T24" fmla="*/ 130 w 783"/>
                <a:gd name="T25" fmla="*/ 133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3" h="551">
                  <a:moveTo>
                    <a:pt x="130" y="133"/>
                  </a:moveTo>
                  <a:cubicBezTo>
                    <a:pt x="171" y="121"/>
                    <a:pt x="228" y="121"/>
                    <a:pt x="293" y="108"/>
                  </a:cubicBezTo>
                  <a:cubicBezTo>
                    <a:pt x="358" y="95"/>
                    <a:pt x="455" y="72"/>
                    <a:pt x="520" y="56"/>
                  </a:cubicBezTo>
                  <a:cubicBezTo>
                    <a:pt x="585" y="40"/>
                    <a:pt x="646" y="0"/>
                    <a:pt x="686" y="12"/>
                  </a:cubicBezTo>
                  <a:cubicBezTo>
                    <a:pt x="726" y="24"/>
                    <a:pt x="748" y="76"/>
                    <a:pt x="763" y="130"/>
                  </a:cubicBezTo>
                  <a:cubicBezTo>
                    <a:pt x="778" y="184"/>
                    <a:pt x="783" y="276"/>
                    <a:pt x="779" y="338"/>
                  </a:cubicBezTo>
                  <a:cubicBezTo>
                    <a:pt x="775" y="400"/>
                    <a:pt x="783" y="469"/>
                    <a:pt x="738" y="504"/>
                  </a:cubicBezTo>
                  <a:cubicBezTo>
                    <a:pt x="693" y="539"/>
                    <a:pt x="590" y="541"/>
                    <a:pt x="507" y="546"/>
                  </a:cubicBezTo>
                  <a:cubicBezTo>
                    <a:pt x="424" y="551"/>
                    <a:pt x="316" y="546"/>
                    <a:pt x="238" y="533"/>
                  </a:cubicBezTo>
                  <a:cubicBezTo>
                    <a:pt x="160" y="520"/>
                    <a:pt x="74" y="508"/>
                    <a:pt x="37" y="469"/>
                  </a:cubicBezTo>
                  <a:cubicBezTo>
                    <a:pt x="0" y="430"/>
                    <a:pt x="13" y="344"/>
                    <a:pt x="14" y="296"/>
                  </a:cubicBezTo>
                  <a:cubicBezTo>
                    <a:pt x="15" y="248"/>
                    <a:pt x="27" y="205"/>
                    <a:pt x="46" y="178"/>
                  </a:cubicBezTo>
                  <a:cubicBezTo>
                    <a:pt x="65" y="151"/>
                    <a:pt x="89" y="145"/>
                    <a:pt x="130" y="133"/>
                  </a:cubicBezTo>
                  <a:close/>
                </a:path>
              </a:pathLst>
            </a:custGeom>
            <a:solidFill>
              <a:srgbClr val="DBC9FF"/>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47940" name="WordArt 4"/>
            <p:cNvSpPr>
              <a:spLocks noChangeArrowheads="1" noChangeShapeType="1" noTextEdit="1"/>
            </p:cNvSpPr>
            <p:nvPr/>
          </p:nvSpPr>
          <p:spPr bwMode="auto">
            <a:xfrm>
              <a:off x="6646863" y="566738"/>
              <a:ext cx="1065212" cy="822325"/>
            </a:xfrm>
            <a:prstGeom prst="rect">
              <a:avLst/>
            </a:prstGeom>
          </p:spPr>
          <p:txBody>
            <a:bodyPr wrap="none" fromWordArt="1">
              <a:prstTxWarp prst="textCurveDown">
                <a:avLst>
                  <a:gd name="adj" fmla="val 43477"/>
                </a:avLst>
              </a:prstTxWarp>
            </a:bodyPr>
            <a:lstStyle/>
            <a:p>
              <a:pPr algn="ctr"/>
              <a:r>
                <a:rPr lang="zh-CN" altLang="en-US" sz="3600" kern="10">
                  <a:ln w="12700">
                    <a:solidFill>
                      <a:srgbClr val="000000"/>
                    </a:solidFill>
                    <a:round/>
                    <a:headEnd/>
                    <a:tailEnd/>
                  </a:ln>
                  <a:solidFill>
                    <a:srgbClr val="FFCC00"/>
                  </a:solidFill>
                  <a:effectLst>
                    <a:outerShdw dist="45791" dir="2021404" algn="ctr" rotWithShape="0">
                      <a:srgbClr val="808080">
                        <a:alpha val="80000"/>
                      </a:srgbClr>
                    </a:outerShdw>
                  </a:effectLst>
                  <a:latin typeface="华文新魏"/>
                  <a:ea typeface="华文新魏"/>
                </a:rPr>
                <a:t>作业</a:t>
              </a:r>
            </a:p>
          </p:txBody>
        </p:sp>
      </p:grpSp>
      <p:sp>
        <p:nvSpPr>
          <p:cNvPr id="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a:t>
            </a:fld>
            <a:endParaRPr lang="zh-CN" altLang="en-US" dirty="0">
              <a:solidFill>
                <a:srgbClr val="C00000"/>
              </a:solidFill>
            </a:endParaRPr>
          </a:p>
        </p:txBody>
      </p:sp>
      <p:sp>
        <p:nvSpPr>
          <p:cNvPr id="9" name="Rectangle 6"/>
          <p:cNvSpPr>
            <a:spLocks noChangeArrowheads="1"/>
          </p:cNvSpPr>
          <p:nvPr/>
        </p:nvSpPr>
        <p:spPr bwMode="auto">
          <a:xfrm>
            <a:off x="3559175" y="5663553"/>
            <a:ext cx="2406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Bef>
                <a:spcPct val="50000"/>
              </a:spcBef>
              <a:spcAft>
                <a:spcPct val="0"/>
              </a:spcAft>
              <a:buFont typeface="Wingdings" pitchFamily="2" charset="2"/>
              <a:buNone/>
            </a:pPr>
            <a:r>
              <a:rPr kumimoji="1" lang="zh-CN" altLang="en-US" sz="4000" b="1" dirty="0">
                <a:solidFill>
                  <a:srgbClr val="000066"/>
                </a:solidFill>
                <a:latin typeface="黑体" pitchFamily="2" charset="-122"/>
                <a:ea typeface="黑体" pitchFamily="2" charset="-122"/>
              </a:rPr>
              <a:t>本章作业</a:t>
            </a:r>
            <a:r>
              <a:rPr kumimoji="1" lang="en-US" altLang="zh-CN" sz="4000" b="1" dirty="0">
                <a:solidFill>
                  <a:srgbClr val="000066"/>
                </a:solidFill>
                <a:latin typeface="黑体" pitchFamily="2" charset="-122"/>
                <a:ea typeface="黑体" pitchFamily="2" charset="-122"/>
              </a:rPr>
              <a:t> </a:t>
            </a:r>
          </a:p>
        </p:txBody>
      </p:sp>
      <p:sp>
        <p:nvSpPr>
          <p:cNvPr id="10" name="Text Box 9"/>
          <p:cNvSpPr txBox="1">
            <a:spLocks noChangeArrowheads="1"/>
          </p:cNvSpPr>
          <p:nvPr/>
        </p:nvSpPr>
        <p:spPr bwMode="auto">
          <a:xfrm>
            <a:off x="3357783" y="2399241"/>
            <a:ext cx="1642327" cy="118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marL="990600" indent="-990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lang="en-US" altLang="zh-CN" sz="3200" b="1" dirty="0">
                <a:solidFill>
                  <a:srgbClr val="000066"/>
                </a:solidFill>
                <a:latin typeface="幼圆" pitchFamily="49" charset="-122"/>
                <a:ea typeface="幼圆" pitchFamily="49" charset="-122"/>
              </a:rPr>
              <a:t>8-3</a:t>
            </a:r>
          </a:p>
          <a:p>
            <a:pPr eaLnBrk="1" hangingPunct="1">
              <a:lnSpc>
                <a:spcPct val="120000"/>
              </a:lnSpc>
              <a:spcBef>
                <a:spcPct val="0"/>
              </a:spcBef>
              <a:spcAft>
                <a:spcPct val="0"/>
              </a:spcAft>
            </a:pPr>
            <a:r>
              <a:rPr lang="en-US" altLang="zh-CN" sz="3200" b="1" dirty="0">
                <a:solidFill>
                  <a:srgbClr val="000066"/>
                </a:solidFill>
                <a:latin typeface="幼圆" pitchFamily="49" charset="-122"/>
                <a:ea typeface="幼圆" pitchFamily="49" charset="-122"/>
              </a:rPr>
              <a:t>8-4</a:t>
            </a:r>
          </a:p>
        </p:txBody>
      </p:sp>
    </p:spTree>
  </p:cSld>
  <p:clrMapOvr>
    <a:masterClrMapping/>
  </p:clrMapOvr>
  <p:transition spd="med">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780874"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§8.1  </a:t>
            </a:r>
            <a:r>
              <a:rPr kumimoji="1" lang="zh-CN" altLang="en-US" sz="2800" b="1" dirty="0">
                <a:solidFill>
                  <a:srgbClr val="000066"/>
                </a:solidFill>
                <a:ea typeface="幼圆" pitchFamily="49" charset="-122"/>
                <a:cs typeface="Times New Roman" panose="02020603050405020304" pitchFamily="18" charset="0"/>
              </a:rPr>
              <a:t>地基失稳的形式和过程</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§8.2 </a:t>
            </a:r>
            <a:r>
              <a:rPr kumimoji="1" lang="zh-CN" altLang="en-US" sz="2800" b="1" dirty="0">
                <a:solidFill>
                  <a:srgbClr val="000066"/>
                </a:solidFill>
                <a:ea typeface="幼圆" pitchFamily="49" charset="-122"/>
                <a:cs typeface="Times New Roman" panose="02020603050405020304" pitchFamily="18" charset="0"/>
              </a:rPr>
              <a:t>临塑荷载和临界荷载</a:t>
            </a:r>
            <a:endParaRPr kumimoji="1" lang="en-US" altLang="zh-CN"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§8.3 </a:t>
            </a:r>
            <a:r>
              <a:rPr kumimoji="1" lang="zh-CN" altLang="en-US" sz="2800" b="1" dirty="0">
                <a:solidFill>
                  <a:srgbClr val="000066"/>
                </a:solidFill>
                <a:ea typeface="幼圆" pitchFamily="49" charset="-122"/>
                <a:cs typeface="Times New Roman" panose="02020603050405020304" pitchFamily="18" charset="0"/>
              </a:rPr>
              <a:t>极限承载力计算</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§8.4 </a:t>
            </a:r>
            <a:r>
              <a:rPr kumimoji="1" lang="zh-CN" altLang="en-US" sz="2800" b="1" dirty="0">
                <a:solidFill>
                  <a:srgbClr val="000066"/>
                </a:solidFill>
                <a:ea typeface="幼圆" pitchFamily="49" charset="-122"/>
                <a:cs typeface="Times New Roman" panose="02020603050405020304" pitchFamily="18" charset="0"/>
              </a:rPr>
              <a:t>地基承载力的确定方法</a:t>
            </a: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第八章：地基承载力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a:t>
            </a:fld>
            <a:endParaRPr lang="zh-CN" altLang="en-US" dirty="0">
              <a:solidFill>
                <a:srgbClr val="C00000"/>
              </a:solidFill>
            </a:endParaRPr>
          </a:p>
        </p:txBody>
      </p:sp>
      <p:sp>
        <p:nvSpPr>
          <p:cNvPr id="9" name="Text Box 4"/>
          <p:cNvSpPr txBox="1">
            <a:spLocks noChangeArrowheads="1"/>
          </p:cNvSpPr>
          <p:nvPr/>
        </p:nvSpPr>
        <p:spPr bwMode="auto">
          <a:xfrm>
            <a:off x="1986107" y="1919835"/>
            <a:ext cx="4807885"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a:solidFill>
                  <a:srgbClr val="003399"/>
                </a:solidFill>
                <a:ea typeface="幼圆" pitchFamily="49" charset="-122"/>
                <a:cs typeface="Times New Roman" panose="02020603050405020304" pitchFamily="18" charset="0"/>
              </a:rPr>
              <a:t>§8.1 </a:t>
            </a:r>
            <a:r>
              <a:rPr kumimoji="1" lang="zh-CN" altLang="en-US" sz="2800" b="1" dirty="0">
                <a:solidFill>
                  <a:srgbClr val="003399"/>
                </a:solidFill>
                <a:ea typeface="幼圆" pitchFamily="49" charset="-122"/>
                <a:cs typeface="Times New Roman" panose="02020603050405020304" pitchFamily="18" charset="0"/>
              </a:rPr>
              <a:t>地基失稳的形式和过程</a:t>
            </a:r>
          </a:p>
        </p:txBody>
      </p:sp>
    </p:spTree>
    <p:extLst>
      <p:ext uri="{BB962C8B-B14F-4D97-AF65-F5344CB8AC3E}">
        <p14:creationId xmlns:p14="http://schemas.microsoft.com/office/powerpoint/2010/main" val="310495841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6134" name="Text Box 6"/>
          <p:cNvSpPr txBox="1">
            <a:spLocks noChangeArrowheads="1"/>
          </p:cNvSpPr>
          <p:nvPr/>
        </p:nvSpPr>
        <p:spPr bwMode="auto">
          <a:xfrm>
            <a:off x="2196545" y="1723848"/>
            <a:ext cx="5715003" cy="2203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a:solidFill>
                  <a:srgbClr val="000066"/>
                </a:solidFill>
                <a:ea typeface="幼圆" pitchFamily="49" charset="-122"/>
              </a:rPr>
              <a:t>地基失稳工程案例</a:t>
            </a:r>
            <a:endParaRPr lang="en-US" altLang="zh-CN" sz="2800" b="1" dirty="0">
              <a:solidFill>
                <a:srgbClr val="000066"/>
              </a:solidFill>
              <a:ea typeface="幼圆" pitchFamily="49" charset="-122"/>
            </a:endParaRPr>
          </a:p>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a:solidFill>
                  <a:srgbClr val="000066"/>
                </a:solidFill>
                <a:ea typeface="幼圆" pitchFamily="49" charset="-122"/>
              </a:rPr>
              <a:t>现场荷载试验</a:t>
            </a:r>
            <a:endParaRPr lang="en-US" altLang="zh-CN" sz="2800" b="1" dirty="0">
              <a:solidFill>
                <a:srgbClr val="000066"/>
              </a:solidFill>
              <a:ea typeface="幼圆" pitchFamily="49" charset="-122"/>
            </a:endParaRPr>
          </a:p>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a:solidFill>
                  <a:srgbClr val="000066"/>
                </a:solidFill>
                <a:ea typeface="幼圆" pitchFamily="49" charset="-122"/>
              </a:rPr>
              <a:t>竖直荷载下地基的破坏形式</a:t>
            </a:r>
          </a:p>
        </p:txBody>
      </p:sp>
      <p:sp>
        <p:nvSpPr>
          <p:cNvPr id="46087" name="Text Box 7"/>
          <p:cNvSpPr txBox="1">
            <a:spLocks noChangeArrowheads="1"/>
          </p:cNvSpPr>
          <p:nvPr/>
        </p:nvSpPr>
        <p:spPr bwMode="auto">
          <a:xfrm>
            <a:off x="1975105" y="5730875"/>
            <a:ext cx="542239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a:solidFill>
                  <a:srgbClr val="000066"/>
                </a:solidFill>
                <a:ea typeface="黑体" pitchFamily="2" charset="-122"/>
              </a:rPr>
              <a:t>地基的失稳形式和过程</a:t>
            </a: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a:t>
            </a:fld>
            <a:endParaRPr lang="zh-CN" altLang="en-US" dirty="0">
              <a:solidFill>
                <a:srgbClr val="C00000"/>
              </a:solidFill>
            </a:endParaRPr>
          </a:p>
        </p:txBody>
      </p:sp>
      <p:sp>
        <p:nvSpPr>
          <p:cNvPr id="6"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Tree>
    <p:extLst>
      <p:ext uri="{BB962C8B-B14F-4D97-AF65-F5344CB8AC3E}">
        <p14:creationId xmlns:p14="http://schemas.microsoft.com/office/powerpoint/2010/main" val="364985667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56134"/>
                                        </p:tgtEl>
                                        <p:attrNameLst>
                                          <p:attrName>style.visibility</p:attrName>
                                        </p:attrNameLst>
                                      </p:cBhvr>
                                      <p:to>
                                        <p:strVal val="visible"/>
                                      </p:to>
                                    </p:set>
                                    <p:animEffect transition="in" filter="wipe(up)">
                                      <p:cBhvr>
                                        <p:cTn id="7" dur="1000"/>
                                        <p:tgtEl>
                                          <p:spTgt spid="1456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61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bwMode="auto">
          <a:xfrm>
            <a:off x="1112520" y="3956304"/>
            <a:ext cx="7562088" cy="1499616"/>
          </a:xfrm>
          <a:prstGeom prst="rect">
            <a:avLst/>
          </a:pr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1" name="矩形 10"/>
          <p:cNvSpPr/>
          <p:nvPr/>
        </p:nvSpPr>
        <p:spPr bwMode="auto">
          <a:xfrm>
            <a:off x="1115568" y="2267712"/>
            <a:ext cx="7562088" cy="1499616"/>
          </a:xfrm>
          <a:prstGeom prst="rect">
            <a:avLst/>
          </a:prstGeom>
          <a:solidFill>
            <a:schemeClr val="accent2"/>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6087" name="Text Box 7"/>
          <p:cNvSpPr txBox="1">
            <a:spLocks noChangeArrowheads="1"/>
          </p:cNvSpPr>
          <p:nvPr/>
        </p:nvSpPr>
        <p:spPr bwMode="auto">
          <a:xfrm>
            <a:off x="1627633" y="5730875"/>
            <a:ext cx="6400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a:solidFill>
                  <a:srgbClr val="000066"/>
                </a:solidFill>
                <a:ea typeface="黑体" pitchFamily="2" charset="-122"/>
              </a:rPr>
              <a:t>建筑物地基设计的基本要求</a:t>
            </a: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a:t>
            </a:fld>
            <a:endParaRPr lang="zh-CN" altLang="en-US" dirty="0">
              <a:solidFill>
                <a:srgbClr val="C00000"/>
              </a:solidFill>
            </a:endParaRPr>
          </a:p>
        </p:txBody>
      </p:sp>
      <p:sp>
        <p:nvSpPr>
          <p:cNvPr id="6"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
        <p:nvSpPr>
          <p:cNvPr id="2" name="矩形 1"/>
          <p:cNvSpPr/>
          <p:nvPr/>
        </p:nvSpPr>
        <p:spPr>
          <a:xfrm>
            <a:off x="510488" y="835794"/>
            <a:ext cx="8286040" cy="544765"/>
          </a:xfrm>
          <a:prstGeom prst="rect">
            <a:avLst/>
          </a:prstGeom>
        </p:spPr>
        <p:txBody>
          <a:bodyPr wrap="square">
            <a:spAutoFit/>
          </a:bodyPr>
          <a:lstStyle/>
          <a:p>
            <a:pPr marL="342900" indent="-342900">
              <a:buFont typeface="Wingdings" panose="05000000000000000000" pitchFamily="2" charset="2"/>
              <a:buChar char="n"/>
            </a:pPr>
            <a:r>
              <a:rPr lang="zh-CN" altLang="en-US" sz="2800" b="1" dirty="0">
                <a:solidFill>
                  <a:srgbClr val="C00000"/>
                </a:solidFill>
                <a:latin typeface="微软雅黑" panose="020B0503020204020204" pitchFamily="34" charset="-122"/>
                <a:ea typeface="微软雅黑" panose="020B0503020204020204" pitchFamily="34" charset="-122"/>
              </a:rPr>
              <a:t>地基承载力：</a:t>
            </a:r>
            <a:r>
              <a:rPr lang="zh-CN" altLang="en-US" sz="2800" b="1" dirty="0">
                <a:solidFill>
                  <a:srgbClr val="000066"/>
                </a:solidFill>
                <a:latin typeface="幼圆" panose="02010509060101010101" pitchFamily="49" charset="-122"/>
                <a:ea typeface="幼圆" panose="02010509060101010101" pitchFamily="49" charset="-122"/>
              </a:rPr>
              <a:t>地基承受荷载的能力</a:t>
            </a:r>
          </a:p>
        </p:txBody>
      </p:sp>
      <p:sp>
        <p:nvSpPr>
          <p:cNvPr id="8" name="Text Box 4"/>
          <p:cNvSpPr txBox="1">
            <a:spLocks noChangeArrowheads="1"/>
          </p:cNvSpPr>
          <p:nvPr/>
        </p:nvSpPr>
        <p:spPr bwMode="auto">
          <a:xfrm>
            <a:off x="837787" y="1488111"/>
            <a:ext cx="5525326"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400" b="1" dirty="0">
                <a:solidFill>
                  <a:srgbClr val="000066"/>
                </a:solidFill>
                <a:ea typeface="幼圆" pitchFamily="49" charset="-122"/>
              </a:rPr>
              <a:t>地基基础设计有两种极限状态：</a:t>
            </a:r>
            <a:endParaRPr lang="en-US" altLang="zh-CN" sz="2400" b="1" dirty="0">
              <a:solidFill>
                <a:srgbClr val="000066"/>
              </a:solidFill>
              <a:ea typeface="幼圆" pitchFamily="49" charset="-122"/>
            </a:endParaRPr>
          </a:p>
        </p:txBody>
      </p:sp>
      <p:sp>
        <p:nvSpPr>
          <p:cNvPr id="9" name="Text Box 4"/>
          <p:cNvSpPr txBox="1">
            <a:spLocks noChangeArrowheads="1"/>
          </p:cNvSpPr>
          <p:nvPr/>
        </p:nvSpPr>
        <p:spPr bwMode="auto">
          <a:xfrm>
            <a:off x="1267606" y="2290146"/>
            <a:ext cx="3441554"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20000"/>
              </a:lnSpc>
              <a:spcBef>
                <a:spcPts val="600"/>
              </a:spcBef>
              <a:spcAft>
                <a:spcPts val="0"/>
              </a:spcAft>
              <a:buClr>
                <a:srgbClr val="A50021"/>
              </a:buClr>
              <a:buSzPct val="110000"/>
              <a:buFont typeface="+mj-lt"/>
              <a:buAutoNum type="arabicPeriod"/>
            </a:pP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承载能力极限状态</a:t>
            </a:r>
            <a:r>
              <a:rPr lang="en-US" altLang="zh-CN" sz="2200" b="1" dirty="0">
                <a:solidFill>
                  <a:srgbClr val="C00000"/>
                </a:solidFill>
                <a:ea typeface="黑体" panose="02010609060101010101" pitchFamily="49" charset="-122"/>
                <a:cs typeface="Times New Roman" panose="02020603050405020304" pitchFamily="18" charset="0"/>
                <a:sym typeface="Wingdings" panose="05000000000000000000" pitchFamily="2" charset="2"/>
              </a:rPr>
              <a:t/>
            </a:r>
            <a:br>
              <a:rPr lang="en-US" altLang="zh-CN" sz="2200" b="1" dirty="0">
                <a:solidFill>
                  <a:srgbClr val="C00000"/>
                </a:solidFill>
                <a:ea typeface="黑体" panose="02010609060101010101" pitchFamily="49" charset="-122"/>
                <a:cs typeface="Times New Roman" panose="02020603050405020304" pitchFamily="18" charset="0"/>
                <a:sym typeface="Wingdings" panose="05000000000000000000" pitchFamily="2" charset="2"/>
              </a:rPr>
            </a:b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地基基础达到最大承载能力的状态</a:t>
            </a:r>
            <a:endParaRPr lang="en-US" altLang="zh-CN" sz="2200" b="1" dirty="0">
              <a:solidFill>
                <a:srgbClr val="000066"/>
              </a:solidFill>
              <a:ea typeface="幼圆" pitchFamily="49" charset="-122"/>
              <a:cs typeface="Times New Roman" panose="02020603050405020304" pitchFamily="18" charset="0"/>
              <a:sym typeface="Wingdings" panose="05000000000000000000" pitchFamily="2" charset="2"/>
            </a:endParaRPr>
          </a:p>
        </p:txBody>
      </p:sp>
      <p:sp>
        <p:nvSpPr>
          <p:cNvPr id="10" name="Text Box 4"/>
          <p:cNvSpPr txBox="1">
            <a:spLocks noChangeArrowheads="1"/>
          </p:cNvSpPr>
          <p:nvPr/>
        </p:nvSpPr>
        <p:spPr bwMode="auto">
          <a:xfrm>
            <a:off x="5622163" y="4039414"/>
            <a:ext cx="3264408" cy="141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ts val="600"/>
              </a:spcBef>
              <a:spcAft>
                <a:spcPts val="0"/>
              </a:spcAft>
              <a:buClr>
                <a:srgbClr val="A50021"/>
              </a:buClr>
              <a:buSzPct val="130000"/>
            </a:pPr>
            <a:r>
              <a:rPr lang="zh-CN" altLang="en-US" sz="2200" b="1" dirty="0">
                <a:solidFill>
                  <a:srgbClr val="C00000"/>
                </a:solidFill>
                <a:latin typeface="微软雅黑" panose="020B0503020204020204" pitchFamily="34" charset="-122"/>
                <a:ea typeface="微软雅黑" panose="020B0503020204020204" pitchFamily="34" charset="-122"/>
              </a:rPr>
              <a:t>容许承载力</a:t>
            </a:r>
            <a:r>
              <a:rPr lang="en-US" altLang="zh-CN" sz="2200" b="1" dirty="0">
                <a:solidFill>
                  <a:srgbClr val="C00000"/>
                </a:solidFill>
                <a:latin typeface="微软雅黑" panose="020B0503020204020204" pitchFamily="34" charset="-122"/>
                <a:ea typeface="微软雅黑" panose="020B0503020204020204" pitchFamily="34" charset="-122"/>
              </a:rPr>
              <a:t/>
            </a:r>
            <a:br>
              <a:rPr lang="en-US" altLang="zh-CN" sz="2200" b="1" dirty="0">
                <a:solidFill>
                  <a:srgbClr val="C00000"/>
                </a:solidFill>
                <a:latin typeface="微软雅黑" panose="020B0503020204020204" pitchFamily="34" charset="-122"/>
                <a:ea typeface="微软雅黑" panose="020B0503020204020204" pitchFamily="34" charset="-122"/>
              </a:rPr>
            </a:br>
            <a:r>
              <a:rPr lang="zh-CN" altLang="en-US" sz="2200" b="1" dirty="0">
                <a:solidFill>
                  <a:srgbClr val="000066"/>
                </a:solidFill>
                <a:ea typeface="幼圆" pitchFamily="49" charset="-122"/>
              </a:rPr>
              <a:t>地基不失稳，且建筑物沉降不超允许值的荷载</a:t>
            </a:r>
            <a:endParaRPr lang="en-US" altLang="zh-CN" sz="2200" b="1" dirty="0">
              <a:solidFill>
                <a:srgbClr val="000066"/>
              </a:solidFill>
              <a:ea typeface="幼圆" pitchFamily="49" charset="-122"/>
            </a:endParaRPr>
          </a:p>
        </p:txBody>
      </p:sp>
      <p:sp>
        <p:nvSpPr>
          <p:cNvPr id="13" name="Text Box 4"/>
          <p:cNvSpPr txBox="1">
            <a:spLocks noChangeArrowheads="1"/>
          </p:cNvSpPr>
          <p:nvPr/>
        </p:nvSpPr>
        <p:spPr bwMode="auto">
          <a:xfrm>
            <a:off x="1227582" y="4097678"/>
            <a:ext cx="3307842"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600"/>
              </a:spcBef>
              <a:spcAft>
                <a:spcPts val="0"/>
              </a:spcAft>
              <a:buClr>
                <a:srgbClr val="A50021"/>
              </a:buClr>
              <a:buSzPct val="110000"/>
              <a:buFont typeface="+mj-lt"/>
              <a:buAutoNum type="arabicPeriod" startAt="2"/>
            </a:pP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正常使用极限状态</a:t>
            </a:r>
            <a:r>
              <a:rPr lang="en-US" altLang="zh-CN" sz="2200" b="1" dirty="0">
                <a:solidFill>
                  <a:srgbClr val="000066"/>
                </a:solidFill>
                <a:ea typeface="幼圆" pitchFamily="49" charset="-122"/>
                <a:cs typeface="Times New Roman" panose="02020603050405020304" pitchFamily="18" charset="0"/>
                <a:sym typeface="Wingdings" panose="05000000000000000000" pitchFamily="2" charset="2"/>
              </a:rPr>
              <a:t/>
            </a:r>
            <a:br>
              <a:rPr lang="en-US" altLang="zh-CN" sz="2200" b="1" dirty="0">
                <a:solidFill>
                  <a:srgbClr val="000066"/>
                </a:solidFill>
                <a:ea typeface="幼圆" pitchFamily="49" charset="-122"/>
                <a:cs typeface="Times New Roman" panose="02020603050405020304" pitchFamily="18" charset="0"/>
                <a:sym typeface="Wingdings" panose="05000000000000000000" pitchFamily="2" charset="2"/>
              </a:rPr>
            </a:b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地基基础达到变形或耐久性限值的状态</a:t>
            </a:r>
            <a:endParaRPr lang="en-US" altLang="zh-CN" sz="2200" b="1" dirty="0">
              <a:solidFill>
                <a:srgbClr val="000066"/>
              </a:solidFill>
              <a:ea typeface="幼圆" pitchFamily="49" charset="-122"/>
              <a:cs typeface="Times New Roman" panose="02020603050405020304" pitchFamily="18" charset="0"/>
              <a:sym typeface="Wingdings" panose="05000000000000000000" pitchFamily="2" charset="2"/>
            </a:endParaRPr>
          </a:p>
        </p:txBody>
      </p:sp>
      <p:sp>
        <p:nvSpPr>
          <p:cNvPr id="14" name="Text Box 4"/>
          <p:cNvSpPr txBox="1">
            <a:spLocks noChangeArrowheads="1"/>
          </p:cNvSpPr>
          <p:nvPr/>
        </p:nvSpPr>
        <p:spPr bwMode="auto">
          <a:xfrm>
            <a:off x="5610861" y="2509018"/>
            <a:ext cx="3094228" cy="925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ts val="600"/>
              </a:spcBef>
              <a:spcAft>
                <a:spcPts val="0"/>
              </a:spcAft>
              <a:buClr>
                <a:srgbClr val="A50021"/>
              </a:buClr>
              <a:buSzPct val="130000"/>
            </a:pPr>
            <a:r>
              <a:rPr lang="zh-CN" altLang="en-US" sz="2200" b="1" dirty="0">
                <a:solidFill>
                  <a:srgbClr val="C00000"/>
                </a:solidFill>
                <a:latin typeface="微软雅黑" panose="020B0503020204020204" pitchFamily="34" charset="-122"/>
                <a:ea typeface="微软雅黑" panose="020B0503020204020204" pitchFamily="34" charset="-122"/>
              </a:rPr>
              <a:t>地基的极限承载力</a:t>
            </a:r>
            <a:r>
              <a:rPr lang="en-US" altLang="zh-CN" sz="2200" b="1" dirty="0">
                <a:solidFill>
                  <a:srgbClr val="C00000"/>
                </a:solidFill>
                <a:latin typeface="微软雅黑" panose="020B0503020204020204" pitchFamily="34" charset="-122"/>
                <a:ea typeface="微软雅黑" panose="020B0503020204020204" pitchFamily="34" charset="-122"/>
              </a:rPr>
              <a:t/>
            </a:r>
            <a:br>
              <a:rPr lang="en-US" altLang="zh-CN" sz="2200" b="1" dirty="0">
                <a:solidFill>
                  <a:srgbClr val="C00000"/>
                </a:solidFill>
                <a:latin typeface="微软雅黑" panose="020B0503020204020204" pitchFamily="34" charset="-122"/>
                <a:ea typeface="微软雅黑" panose="020B0503020204020204" pitchFamily="34" charset="-122"/>
              </a:rPr>
            </a:br>
            <a:r>
              <a:rPr lang="zh-CN" altLang="en-US" sz="2200" b="1" dirty="0">
                <a:solidFill>
                  <a:srgbClr val="000066"/>
                </a:solidFill>
                <a:ea typeface="幼圆" pitchFamily="49" charset="-122"/>
              </a:rPr>
              <a:t>可能承受的最大荷载</a:t>
            </a:r>
            <a:endParaRPr lang="en-US" altLang="zh-CN" sz="2200" b="1" dirty="0">
              <a:solidFill>
                <a:srgbClr val="000066"/>
              </a:solidFill>
              <a:ea typeface="幼圆" pitchFamily="49" charset="-122"/>
            </a:endParaRPr>
          </a:p>
        </p:txBody>
      </p:sp>
      <p:sp>
        <p:nvSpPr>
          <p:cNvPr id="5" name="右箭头 4"/>
          <p:cNvSpPr/>
          <p:nvPr/>
        </p:nvSpPr>
        <p:spPr bwMode="auto">
          <a:xfrm>
            <a:off x="4787900" y="2670048"/>
            <a:ext cx="661924" cy="630936"/>
          </a:xfrm>
          <a:prstGeom prst="rightArrow">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 name="右箭头 18"/>
          <p:cNvSpPr/>
          <p:nvPr/>
        </p:nvSpPr>
        <p:spPr bwMode="auto">
          <a:xfrm>
            <a:off x="4733036" y="4376928"/>
            <a:ext cx="661924" cy="630936"/>
          </a:xfrm>
          <a:prstGeom prst="rightArrow">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61078840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wipe(left)">
                                      <p:cBhvr>
                                        <p:cTn id="15" dur="1000"/>
                                        <p:tgtEl>
                                          <p:spTgt spid="9">
                                            <p:txEl>
                                              <p:pRg st="0" end="0"/>
                                            </p:txEl>
                                          </p:spTgt>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par>
                          <p:cTn id="20" fill="hold">
                            <p:stCondLst>
                              <p:cond delay="2500"/>
                            </p:stCondLst>
                            <p:childTnLst>
                              <p:par>
                                <p:cTn id="21" presetID="16" presetClass="entr" presetSubtype="21"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Effect transition="in" filter="wipe(left)">
                                      <p:cBhvr>
                                        <p:cTn id="32" dur="1000"/>
                                        <p:tgtEl>
                                          <p:spTgt spid="13">
                                            <p:txEl>
                                              <p:pRg st="0" end="0"/>
                                            </p:txEl>
                                          </p:spTgt>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par>
                          <p:cTn id="37" fill="hold">
                            <p:stCondLst>
                              <p:cond delay="2000"/>
                            </p:stCondLst>
                            <p:childTnLst>
                              <p:par>
                                <p:cTn id="38" presetID="16" presetClass="entr" presetSubtype="21"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arn(inVertical)">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1" grpId="0" animBg="1"/>
      <p:bldP spid="8" grpId="0"/>
      <p:bldP spid="9" grpId="0" uiExpand="1" build="p"/>
      <p:bldP spid="10" grpId="0"/>
      <p:bldP spid="13" grpId="0" uiExpand="1" build="p"/>
      <p:bldP spid="14" grpId="0"/>
      <p:bldP spid="5"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429002" y="5724081"/>
            <a:ext cx="5026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000" b="1" i="0" u="none" strike="noStrike" kern="1200" cap="none" spc="0" normalizeH="0" baseline="0" noProof="0" dirty="0">
                <a:ln>
                  <a:noFill/>
                </a:ln>
                <a:solidFill>
                  <a:srgbClr val="000066"/>
                </a:solidFill>
                <a:effectLst/>
                <a:uLnTx/>
                <a:uFillTx/>
                <a:latin typeface="黑体" pitchFamily="2" charset="-122"/>
                <a:ea typeface="黑体" pitchFamily="2" charset="-122"/>
                <a:cs typeface="+mn-cs"/>
              </a:rPr>
              <a:t>加拿大特朗斯康谷仓 </a:t>
            </a:r>
          </a:p>
        </p:txBody>
      </p:sp>
      <p:sp>
        <p:nvSpPr>
          <p:cNvPr id="10" name="AutoShape 5"/>
          <p:cNvSpPr>
            <a:spLocks noChangeArrowheads="1"/>
          </p:cNvSpPr>
          <p:nvPr/>
        </p:nvSpPr>
        <p:spPr bwMode="auto">
          <a:xfrm>
            <a:off x="332445" y="658564"/>
            <a:ext cx="8464714" cy="919401"/>
          </a:xfrm>
          <a:prstGeom prst="roundRect">
            <a:avLst>
              <a:gd name="adj" fmla="val 16667"/>
            </a:avLst>
          </a:prstGeom>
          <a:solidFill>
            <a:schemeClr val="accent6">
              <a:lumMod val="60000"/>
              <a:lumOff val="40000"/>
            </a:schemeClr>
          </a:solidFill>
          <a:ln>
            <a:noFill/>
          </a:ln>
          <a:extLst/>
        </p:spPr>
        <p:txBody>
          <a:bodyPr wrap="square" lIns="18000" rIns="18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800080"/>
                </a:solidFill>
                <a:effectLst/>
                <a:uLnTx/>
                <a:uFillTx/>
                <a:ea typeface="幼圆" pitchFamily="49" charset="-122"/>
              </a:rPr>
              <a:t>概况：</a:t>
            </a:r>
            <a:r>
              <a:rPr kumimoji="1" lang="zh-CN" altLang="en-US" sz="2200" b="1" i="0" u="none" strike="noStrike" kern="1200" cap="none" spc="0" normalizeH="0" baseline="0" noProof="0" dirty="0">
                <a:ln>
                  <a:noFill/>
                </a:ln>
                <a:solidFill>
                  <a:srgbClr val="000066"/>
                </a:solidFill>
                <a:effectLst/>
                <a:uLnTx/>
                <a:uFillTx/>
                <a:ea typeface="幼圆" pitchFamily="49" charset="-122"/>
              </a:rPr>
              <a:t>共</a:t>
            </a:r>
            <a:r>
              <a:rPr kumimoji="1" lang="en-US" altLang="zh-CN" sz="2200" b="1" i="0" u="none" strike="noStrike" kern="1200" cap="none" spc="0" normalizeH="0" baseline="0" noProof="0" dirty="0">
                <a:ln>
                  <a:noFill/>
                </a:ln>
                <a:solidFill>
                  <a:srgbClr val="000066"/>
                </a:solidFill>
                <a:effectLst/>
                <a:uLnTx/>
                <a:uFillTx/>
                <a:ea typeface="幼圆" pitchFamily="49" charset="-122"/>
              </a:rPr>
              <a:t>65</a:t>
            </a:r>
            <a:r>
              <a:rPr kumimoji="1" lang="zh-CN" altLang="en-US" sz="2200" b="1" i="0" u="none" strike="noStrike" kern="1200" cap="none" spc="0" normalizeH="0" baseline="0" noProof="0" dirty="0">
                <a:ln>
                  <a:noFill/>
                </a:ln>
                <a:solidFill>
                  <a:srgbClr val="000066"/>
                </a:solidFill>
                <a:effectLst/>
                <a:uLnTx/>
                <a:uFillTx/>
                <a:ea typeface="幼圆" pitchFamily="49" charset="-122"/>
              </a:rPr>
              <a:t>个圆筒仓。</a:t>
            </a:r>
            <a:r>
              <a:rPr kumimoji="1" lang="en-US" altLang="zh-CN" sz="2200" b="1" i="0" u="none" strike="noStrike" kern="1200" cap="none" spc="0" normalizeH="0" baseline="0" noProof="0" dirty="0">
                <a:ln>
                  <a:noFill/>
                </a:ln>
                <a:solidFill>
                  <a:srgbClr val="000066"/>
                </a:solidFill>
                <a:effectLst/>
                <a:uLnTx/>
                <a:uFillTx/>
                <a:ea typeface="幼圆" pitchFamily="49" charset="-122"/>
              </a:rPr>
              <a:t>1913</a:t>
            </a:r>
            <a:r>
              <a:rPr kumimoji="1" lang="zh-CN" altLang="en-US" sz="2200" b="1" i="0" u="none" strike="noStrike" kern="1200" cap="none" spc="0" normalizeH="0" baseline="0" noProof="0" dirty="0">
                <a:ln>
                  <a:noFill/>
                </a:ln>
                <a:solidFill>
                  <a:srgbClr val="000066"/>
                </a:solidFill>
                <a:effectLst/>
                <a:uLnTx/>
                <a:uFillTx/>
                <a:ea typeface="幼圆" pitchFamily="49" charset="-122"/>
              </a:rPr>
              <a:t>年完工，自重</a:t>
            </a:r>
            <a:r>
              <a:rPr kumimoji="1" lang="en-US" altLang="zh-CN" sz="2200" b="1" i="0" u="none" strike="noStrike" kern="1200" cap="none" spc="0" normalizeH="0" baseline="0" noProof="0" dirty="0">
                <a:ln>
                  <a:noFill/>
                </a:ln>
                <a:solidFill>
                  <a:srgbClr val="000066"/>
                </a:solidFill>
                <a:effectLst/>
                <a:uLnTx/>
                <a:uFillTx/>
                <a:ea typeface="幼圆" pitchFamily="49" charset="-122"/>
              </a:rPr>
              <a:t>2</a:t>
            </a:r>
            <a:r>
              <a:rPr kumimoji="1" lang="zh-CN" altLang="en-US" sz="2200" b="1" i="0" u="none" strike="noStrike" kern="1200" cap="none" spc="0" normalizeH="0" baseline="0" noProof="0" dirty="0">
                <a:ln>
                  <a:noFill/>
                </a:ln>
                <a:solidFill>
                  <a:srgbClr val="000066"/>
                </a:solidFill>
                <a:effectLst/>
                <a:uLnTx/>
                <a:uFillTx/>
                <a:ea typeface="幼圆" pitchFamily="49" charset="-122"/>
              </a:rPr>
              <a:t>万</a:t>
            </a:r>
            <a:r>
              <a:rPr kumimoji="1" lang="en-US" altLang="zh-CN" sz="2200" b="1" i="0" u="none" strike="noStrike" kern="1200" cap="none" spc="0" normalizeH="0" baseline="0" noProof="0" dirty="0">
                <a:ln>
                  <a:noFill/>
                </a:ln>
                <a:solidFill>
                  <a:srgbClr val="000066"/>
                </a:solidFill>
                <a:effectLst/>
                <a:uLnTx/>
                <a:uFillTx/>
                <a:ea typeface="幼圆" pitchFamily="49" charset="-122"/>
              </a:rPr>
              <a:t>T</a:t>
            </a:r>
          </a:p>
          <a:p>
            <a:pPr lvl="0">
              <a:lnSpc>
                <a:spcPct val="100000"/>
              </a:lnSpc>
              <a:spcBef>
                <a:spcPct val="0"/>
              </a:spcBef>
              <a:spcAft>
                <a:spcPct val="0"/>
              </a:spcAft>
              <a:defRPr/>
            </a:pPr>
            <a:r>
              <a:rPr kumimoji="1" lang="zh-CN" altLang="en-US" sz="2400" b="1" dirty="0">
                <a:solidFill>
                  <a:srgbClr val="800080"/>
                </a:solidFill>
                <a:ea typeface="幼圆" pitchFamily="49" charset="-122"/>
              </a:rPr>
              <a:t>事故：</a:t>
            </a:r>
            <a:r>
              <a:rPr kumimoji="1" lang="en-US" altLang="zh-CN" sz="2200" b="1" dirty="0">
                <a:solidFill>
                  <a:srgbClr val="000066"/>
                </a:solidFill>
                <a:ea typeface="幼圆" pitchFamily="49" charset="-122"/>
              </a:rPr>
              <a:t>9</a:t>
            </a:r>
            <a:r>
              <a:rPr kumimoji="1" lang="zh-CN" altLang="en-US" sz="2200" b="1" dirty="0">
                <a:solidFill>
                  <a:srgbClr val="000066"/>
                </a:solidFill>
                <a:ea typeface="幼圆" pitchFamily="49" charset="-122"/>
              </a:rPr>
              <a:t>月开始装谷物，至</a:t>
            </a:r>
            <a:r>
              <a:rPr kumimoji="1" lang="en-US" altLang="zh-CN" sz="2200" b="1" dirty="0">
                <a:solidFill>
                  <a:srgbClr val="000066"/>
                </a:solidFill>
                <a:ea typeface="幼圆" pitchFamily="49" charset="-122"/>
              </a:rPr>
              <a:t>10</a:t>
            </a:r>
            <a:r>
              <a:rPr kumimoji="1" lang="zh-CN" altLang="en-US" sz="2200" b="1" dirty="0">
                <a:solidFill>
                  <a:srgbClr val="000066"/>
                </a:solidFill>
                <a:ea typeface="幼圆" pitchFamily="49" charset="-122"/>
              </a:rPr>
              <a:t>月</a:t>
            </a:r>
            <a:r>
              <a:rPr kumimoji="1" lang="en-US" altLang="zh-CN" sz="2200" b="1" dirty="0">
                <a:solidFill>
                  <a:srgbClr val="000066"/>
                </a:solidFill>
                <a:ea typeface="幼圆" pitchFamily="49" charset="-122"/>
              </a:rPr>
              <a:t>17</a:t>
            </a:r>
            <a:r>
              <a:rPr kumimoji="1" lang="zh-CN" altLang="en-US" sz="2200" b="1" dirty="0">
                <a:solidFill>
                  <a:srgbClr val="000066"/>
                </a:solidFill>
                <a:ea typeface="幼圆" pitchFamily="49" charset="-122"/>
              </a:rPr>
              <a:t>日共装入</a:t>
            </a:r>
            <a:r>
              <a:rPr kumimoji="1" lang="en-US" altLang="zh-CN" sz="2200" b="1" dirty="0">
                <a:solidFill>
                  <a:srgbClr val="000066"/>
                </a:solidFill>
                <a:ea typeface="幼圆" pitchFamily="49" charset="-122"/>
              </a:rPr>
              <a:t>3</a:t>
            </a:r>
            <a:r>
              <a:rPr kumimoji="1" lang="zh-CN" altLang="en-US" sz="2200" b="1" dirty="0">
                <a:solidFill>
                  <a:srgbClr val="000066"/>
                </a:solidFill>
                <a:ea typeface="幼圆" pitchFamily="49" charset="-122"/>
              </a:rPr>
              <a:t>万多Ｔ谷物时发生破坏</a:t>
            </a:r>
          </a:p>
        </p:txBody>
      </p:sp>
      <p:pic>
        <p:nvPicPr>
          <p:cNvPr id="11" name="Picture 7" descr="Transcon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5403" y="2277506"/>
            <a:ext cx="3763769" cy="241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16"/>
          <p:cNvGrpSpPr>
            <a:grpSpLocks/>
          </p:cNvGrpSpPr>
          <p:nvPr/>
        </p:nvGrpSpPr>
        <p:grpSpPr bwMode="auto">
          <a:xfrm>
            <a:off x="5401936" y="3851575"/>
            <a:ext cx="105974" cy="802190"/>
            <a:chOff x="810" y="2448"/>
            <a:chExt cx="89" cy="674"/>
          </a:xfrm>
        </p:grpSpPr>
        <p:sp>
          <p:nvSpPr>
            <p:cNvPr id="79" name="Rectangle 17" descr="宽下对角线"/>
            <p:cNvSpPr>
              <a:spLocks noChangeArrowheads="1"/>
            </p:cNvSpPr>
            <p:nvPr/>
          </p:nvSpPr>
          <p:spPr bwMode="auto">
            <a:xfrm>
              <a:off x="813" y="2448"/>
              <a:ext cx="86" cy="154"/>
            </a:xfrm>
            <a:prstGeom prst="rect">
              <a:avLst/>
            </a:prstGeom>
            <a:pattFill prst="wdDnDiag">
              <a:fgClr>
                <a:schemeClr val="tx1"/>
              </a:fgClr>
              <a:bgClr>
                <a:schemeClr val="bg1"/>
              </a:bgClr>
            </a:patt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0" name="Rectangle 18" descr="宽上对角线"/>
            <p:cNvSpPr>
              <a:spLocks noChangeArrowheads="1"/>
            </p:cNvSpPr>
            <p:nvPr/>
          </p:nvSpPr>
          <p:spPr bwMode="auto">
            <a:xfrm>
              <a:off x="812" y="2604"/>
              <a:ext cx="86" cy="234"/>
            </a:xfrm>
            <a:prstGeom prst="rect">
              <a:avLst/>
            </a:prstGeom>
            <a:pattFill prst="wdUpDiag">
              <a:fgClr>
                <a:schemeClr val="tx1"/>
              </a:fgClr>
              <a:bgClr>
                <a:schemeClr val="bg1"/>
              </a:bgClr>
            </a:patt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1" name="Rectangle 19" descr="宽下对角线"/>
            <p:cNvSpPr>
              <a:spLocks noChangeArrowheads="1"/>
            </p:cNvSpPr>
            <p:nvPr/>
          </p:nvSpPr>
          <p:spPr bwMode="auto">
            <a:xfrm>
              <a:off x="811" y="2841"/>
              <a:ext cx="86" cy="237"/>
            </a:xfrm>
            <a:prstGeom prst="rect">
              <a:avLst/>
            </a:prstGeom>
            <a:pattFill prst="wdDnDiag">
              <a:fgClr>
                <a:schemeClr val="tx1"/>
              </a:fgClr>
              <a:bgClr>
                <a:schemeClr val="bg1"/>
              </a:bgClr>
            </a:patt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2" name="Line 20"/>
            <p:cNvSpPr>
              <a:spLocks noChangeShapeType="1"/>
            </p:cNvSpPr>
            <p:nvPr/>
          </p:nvSpPr>
          <p:spPr bwMode="auto">
            <a:xfrm>
              <a:off x="811" y="2448"/>
              <a:ext cx="0" cy="6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3" name="Line 21"/>
            <p:cNvSpPr>
              <a:spLocks noChangeShapeType="1"/>
            </p:cNvSpPr>
            <p:nvPr/>
          </p:nvSpPr>
          <p:spPr bwMode="auto">
            <a:xfrm>
              <a:off x="899" y="2452"/>
              <a:ext cx="0" cy="6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4" name="Line 22"/>
            <p:cNvSpPr>
              <a:spLocks noChangeShapeType="1"/>
            </p:cNvSpPr>
            <p:nvPr/>
          </p:nvSpPr>
          <p:spPr bwMode="auto">
            <a:xfrm>
              <a:off x="814" y="2602"/>
              <a:ext cx="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5" name="Line 23"/>
            <p:cNvSpPr>
              <a:spLocks noChangeShapeType="1"/>
            </p:cNvSpPr>
            <p:nvPr/>
          </p:nvSpPr>
          <p:spPr bwMode="auto">
            <a:xfrm>
              <a:off x="810" y="2841"/>
              <a:ext cx="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86" name="Line 24"/>
            <p:cNvSpPr>
              <a:spLocks noChangeShapeType="1"/>
            </p:cNvSpPr>
            <p:nvPr/>
          </p:nvSpPr>
          <p:spPr bwMode="auto">
            <a:xfrm>
              <a:off x="814" y="3081"/>
              <a:ext cx="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grpSp>
      <p:sp>
        <p:nvSpPr>
          <p:cNvPr id="14" name="Line 25"/>
          <p:cNvSpPr>
            <a:spLocks noChangeShapeType="1"/>
          </p:cNvSpPr>
          <p:nvPr/>
        </p:nvSpPr>
        <p:spPr bwMode="auto">
          <a:xfrm>
            <a:off x="4502632" y="3852765"/>
            <a:ext cx="211264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grpSp>
        <p:nvGrpSpPr>
          <p:cNvPr id="15" name="Group 26"/>
          <p:cNvGrpSpPr>
            <a:grpSpLocks/>
          </p:cNvGrpSpPr>
          <p:nvPr/>
        </p:nvGrpSpPr>
        <p:grpSpPr bwMode="auto">
          <a:xfrm>
            <a:off x="6580747" y="2087709"/>
            <a:ext cx="1447913" cy="2009046"/>
            <a:chOff x="1800" y="966"/>
            <a:chExt cx="1216" cy="1688"/>
          </a:xfrm>
        </p:grpSpPr>
        <p:grpSp>
          <p:nvGrpSpPr>
            <p:cNvPr id="54" name="Group 27"/>
            <p:cNvGrpSpPr>
              <a:grpSpLocks/>
            </p:cNvGrpSpPr>
            <p:nvPr/>
          </p:nvGrpSpPr>
          <p:grpSpPr bwMode="auto">
            <a:xfrm>
              <a:off x="1800" y="966"/>
              <a:ext cx="1216" cy="1688"/>
              <a:chOff x="1800" y="966"/>
              <a:chExt cx="1216" cy="1688"/>
            </a:xfrm>
          </p:grpSpPr>
          <p:sp>
            <p:nvSpPr>
              <p:cNvPr id="75" name="Freeform 28"/>
              <p:cNvSpPr>
                <a:spLocks/>
              </p:cNvSpPr>
              <p:nvPr/>
            </p:nvSpPr>
            <p:spPr bwMode="auto">
              <a:xfrm>
                <a:off x="2022" y="966"/>
                <a:ext cx="797" cy="103"/>
              </a:xfrm>
              <a:custGeom>
                <a:avLst/>
                <a:gdLst>
                  <a:gd name="T0" fmla="*/ 0 w 797"/>
                  <a:gd name="T1" fmla="*/ 103 h 103"/>
                  <a:gd name="T2" fmla="*/ 0 w 797"/>
                  <a:gd name="T3" fmla="*/ 23 h 103"/>
                  <a:gd name="T4" fmla="*/ 391 w 797"/>
                  <a:gd name="T5" fmla="*/ 0 h 103"/>
                  <a:gd name="T6" fmla="*/ 797 w 797"/>
                  <a:gd name="T7" fmla="*/ 0 h 103"/>
                  <a:gd name="T8" fmla="*/ 797 w 797"/>
                  <a:gd name="T9" fmla="*/ 103 h 103"/>
                  <a:gd name="T10" fmla="*/ 0 60000 65536"/>
                  <a:gd name="T11" fmla="*/ 0 60000 65536"/>
                  <a:gd name="T12" fmla="*/ 0 60000 65536"/>
                  <a:gd name="T13" fmla="*/ 0 60000 65536"/>
                  <a:gd name="T14" fmla="*/ 0 60000 65536"/>
                  <a:gd name="T15" fmla="*/ 0 w 797"/>
                  <a:gd name="T16" fmla="*/ 0 h 103"/>
                  <a:gd name="T17" fmla="*/ 797 w 797"/>
                  <a:gd name="T18" fmla="*/ 103 h 103"/>
                </a:gdLst>
                <a:ahLst/>
                <a:cxnLst>
                  <a:cxn ang="T10">
                    <a:pos x="T0" y="T1"/>
                  </a:cxn>
                  <a:cxn ang="T11">
                    <a:pos x="T2" y="T3"/>
                  </a:cxn>
                  <a:cxn ang="T12">
                    <a:pos x="T4" y="T5"/>
                  </a:cxn>
                  <a:cxn ang="T13">
                    <a:pos x="T6" y="T7"/>
                  </a:cxn>
                  <a:cxn ang="T14">
                    <a:pos x="T8" y="T9"/>
                  </a:cxn>
                </a:cxnLst>
                <a:rect l="T15" t="T16" r="T17" b="T18"/>
                <a:pathLst>
                  <a:path w="797" h="103">
                    <a:moveTo>
                      <a:pt x="0" y="103"/>
                    </a:moveTo>
                    <a:lnTo>
                      <a:pt x="0" y="23"/>
                    </a:lnTo>
                    <a:lnTo>
                      <a:pt x="391" y="0"/>
                    </a:lnTo>
                    <a:lnTo>
                      <a:pt x="797" y="0"/>
                    </a:lnTo>
                    <a:lnTo>
                      <a:pt x="797" y="103"/>
                    </a:lnTo>
                  </a:path>
                </a:pathLst>
              </a:custGeom>
              <a:solidFill>
                <a:schemeClr val="accent1"/>
              </a:solidFill>
              <a:ln w="19050" cmpd="sng">
                <a:solidFill>
                  <a:schemeClr val="tx1"/>
                </a:solidFill>
                <a:round/>
                <a:headEnd/>
                <a:tailEnd/>
              </a:ln>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grpSp>
            <p:nvGrpSpPr>
              <p:cNvPr id="76" name="Group 29"/>
              <p:cNvGrpSpPr>
                <a:grpSpLocks/>
              </p:cNvGrpSpPr>
              <p:nvPr/>
            </p:nvGrpSpPr>
            <p:grpSpPr bwMode="auto">
              <a:xfrm>
                <a:off x="1800" y="1069"/>
                <a:ext cx="1216" cy="1585"/>
                <a:chOff x="1800" y="1069"/>
                <a:chExt cx="1216" cy="1585"/>
              </a:xfrm>
            </p:grpSpPr>
            <p:sp>
              <p:nvSpPr>
                <p:cNvPr id="77" name="Rectangle 30"/>
                <p:cNvSpPr>
                  <a:spLocks noChangeArrowheads="1"/>
                </p:cNvSpPr>
                <p:nvPr/>
              </p:nvSpPr>
              <p:spPr bwMode="auto">
                <a:xfrm>
                  <a:off x="1833" y="1069"/>
                  <a:ext cx="1163" cy="1430"/>
                </a:xfrm>
                <a:prstGeom prst="rect">
                  <a:avLst/>
                </a:prstGeom>
                <a:solidFill>
                  <a:schemeClr val="accent1"/>
                </a:solidFill>
                <a:ln w="19050">
                  <a:solidFill>
                    <a:schemeClr val="tx1"/>
                  </a:solidFill>
                  <a:miter lim="800000"/>
                  <a:headEnd/>
                  <a:tailEnd/>
                </a:ln>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78" name="Freeform 31"/>
                <p:cNvSpPr>
                  <a:spLocks/>
                </p:cNvSpPr>
                <p:nvPr/>
              </p:nvSpPr>
              <p:spPr bwMode="auto">
                <a:xfrm>
                  <a:off x="1800" y="2499"/>
                  <a:ext cx="1216" cy="155"/>
                </a:xfrm>
                <a:custGeom>
                  <a:avLst/>
                  <a:gdLst>
                    <a:gd name="T0" fmla="*/ 30 w 1216"/>
                    <a:gd name="T1" fmla="*/ 0 h 155"/>
                    <a:gd name="T2" fmla="*/ 30 w 1216"/>
                    <a:gd name="T3" fmla="*/ 107 h 155"/>
                    <a:gd name="T4" fmla="*/ 0 w 1216"/>
                    <a:gd name="T5" fmla="*/ 107 h 155"/>
                    <a:gd name="T6" fmla="*/ 0 w 1216"/>
                    <a:gd name="T7" fmla="*/ 155 h 155"/>
                    <a:gd name="T8" fmla="*/ 1216 w 1216"/>
                    <a:gd name="T9" fmla="*/ 155 h 155"/>
                    <a:gd name="T10" fmla="*/ 1216 w 1216"/>
                    <a:gd name="T11" fmla="*/ 122 h 155"/>
                    <a:gd name="T12" fmla="*/ 1197 w 1216"/>
                    <a:gd name="T13" fmla="*/ 103 h 155"/>
                    <a:gd name="T14" fmla="*/ 1197 w 1216"/>
                    <a:gd name="T15" fmla="*/ 0 h 155"/>
                    <a:gd name="T16" fmla="*/ 30 w 1216"/>
                    <a:gd name="T17" fmla="*/ 0 h 1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16"/>
                    <a:gd name="T28" fmla="*/ 0 h 155"/>
                    <a:gd name="T29" fmla="*/ 1216 w 1216"/>
                    <a:gd name="T30" fmla="*/ 155 h 15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16" h="155">
                      <a:moveTo>
                        <a:pt x="30" y="0"/>
                      </a:moveTo>
                      <a:lnTo>
                        <a:pt x="30" y="107"/>
                      </a:lnTo>
                      <a:lnTo>
                        <a:pt x="0" y="107"/>
                      </a:lnTo>
                      <a:lnTo>
                        <a:pt x="0" y="155"/>
                      </a:lnTo>
                      <a:lnTo>
                        <a:pt x="1216" y="155"/>
                      </a:lnTo>
                      <a:lnTo>
                        <a:pt x="1216" y="122"/>
                      </a:lnTo>
                      <a:lnTo>
                        <a:pt x="1197" y="103"/>
                      </a:lnTo>
                      <a:lnTo>
                        <a:pt x="1197" y="0"/>
                      </a:lnTo>
                      <a:lnTo>
                        <a:pt x="30" y="0"/>
                      </a:lnTo>
                      <a:close/>
                    </a:path>
                  </a:pathLst>
                </a:custGeom>
                <a:solidFill>
                  <a:schemeClr val="accent1"/>
                </a:solidFill>
                <a:ln w="19050" cmpd="sng">
                  <a:solidFill>
                    <a:schemeClr val="tx1"/>
                  </a:solidFill>
                  <a:round/>
                  <a:headEnd/>
                  <a:tailEnd/>
                </a:ln>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grpSp>
        </p:grpSp>
        <p:sp>
          <p:nvSpPr>
            <p:cNvPr id="55" name="Line 32"/>
            <p:cNvSpPr>
              <a:spLocks noChangeShapeType="1"/>
            </p:cNvSpPr>
            <p:nvPr/>
          </p:nvSpPr>
          <p:spPr bwMode="auto">
            <a:xfrm>
              <a:off x="2061" y="1075"/>
              <a:ext cx="0" cy="14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6" name="Line 33"/>
            <p:cNvSpPr>
              <a:spLocks noChangeShapeType="1"/>
            </p:cNvSpPr>
            <p:nvPr/>
          </p:nvSpPr>
          <p:spPr bwMode="auto">
            <a:xfrm>
              <a:off x="2298" y="1072"/>
              <a:ext cx="0" cy="14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7" name="Line 34"/>
            <p:cNvSpPr>
              <a:spLocks noChangeShapeType="1"/>
            </p:cNvSpPr>
            <p:nvPr/>
          </p:nvSpPr>
          <p:spPr bwMode="auto">
            <a:xfrm>
              <a:off x="2522" y="1069"/>
              <a:ext cx="0" cy="14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8" name="Line 35"/>
            <p:cNvSpPr>
              <a:spLocks noChangeShapeType="1"/>
            </p:cNvSpPr>
            <p:nvPr/>
          </p:nvSpPr>
          <p:spPr bwMode="auto">
            <a:xfrm>
              <a:off x="2755" y="1069"/>
              <a:ext cx="0" cy="14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9" name="Line 36"/>
            <p:cNvSpPr>
              <a:spLocks noChangeShapeType="1"/>
            </p:cNvSpPr>
            <p:nvPr/>
          </p:nvSpPr>
          <p:spPr bwMode="auto">
            <a:xfrm flipH="1" flipV="1">
              <a:off x="1832" y="2429"/>
              <a:ext cx="144" cy="7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0" name="Line 37"/>
            <p:cNvSpPr>
              <a:spLocks noChangeShapeType="1"/>
            </p:cNvSpPr>
            <p:nvPr/>
          </p:nvSpPr>
          <p:spPr bwMode="auto">
            <a:xfrm flipH="1" flipV="1">
              <a:off x="2061" y="2424"/>
              <a:ext cx="18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1" name="Line 38"/>
            <p:cNvSpPr>
              <a:spLocks noChangeShapeType="1"/>
            </p:cNvSpPr>
            <p:nvPr/>
          </p:nvSpPr>
          <p:spPr bwMode="auto">
            <a:xfrm flipH="1" flipV="1">
              <a:off x="2296" y="2427"/>
              <a:ext cx="181"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2" name="Line 39"/>
            <p:cNvSpPr>
              <a:spLocks noChangeShapeType="1"/>
            </p:cNvSpPr>
            <p:nvPr/>
          </p:nvSpPr>
          <p:spPr bwMode="auto">
            <a:xfrm flipV="1">
              <a:off x="2594" y="2438"/>
              <a:ext cx="161" cy="5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3" name="Line 40"/>
            <p:cNvSpPr>
              <a:spLocks noChangeShapeType="1"/>
            </p:cNvSpPr>
            <p:nvPr/>
          </p:nvSpPr>
          <p:spPr bwMode="auto">
            <a:xfrm flipV="1">
              <a:off x="2842" y="2438"/>
              <a:ext cx="155" cy="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4" name="Rectangle 41"/>
            <p:cNvSpPr>
              <a:spLocks noChangeArrowheads="1"/>
            </p:cNvSpPr>
            <p:nvPr/>
          </p:nvSpPr>
          <p:spPr bwMode="auto">
            <a:xfrm>
              <a:off x="1848" y="2515"/>
              <a:ext cx="62"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5" name="Rectangle 42"/>
            <p:cNvSpPr>
              <a:spLocks noChangeArrowheads="1"/>
            </p:cNvSpPr>
            <p:nvPr/>
          </p:nvSpPr>
          <p:spPr bwMode="auto">
            <a:xfrm>
              <a:off x="1931" y="2515"/>
              <a:ext cx="52"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6" name="Rectangle 43"/>
            <p:cNvSpPr>
              <a:spLocks noChangeArrowheads="1"/>
            </p:cNvSpPr>
            <p:nvPr/>
          </p:nvSpPr>
          <p:spPr bwMode="auto">
            <a:xfrm>
              <a:off x="2019" y="2515"/>
              <a:ext cx="93"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7" name="Rectangle 44"/>
            <p:cNvSpPr>
              <a:spLocks noChangeArrowheads="1"/>
            </p:cNvSpPr>
            <p:nvPr/>
          </p:nvSpPr>
          <p:spPr bwMode="auto">
            <a:xfrm>
              <a:off x="2140" y="2515"/>
              <a:ext cx="70"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8" name="Rectangle 45"/>
            <p:cNvSpPr>
              <a:spLocks noChangeArrowheads="1"/>
            </p:cNvSpPr>
            <p:nvPr/>
          </p:nvSpPr>
          <p:spPr bwMode="auto">
            <a:xfrm>
              <a:off x="2246" y="2515"/>
              <a:ext cx="93"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69" name="Rectangle 46"/>
            <p:cNvSpPr>
              <a:spLocks noChangeArrowheads="1"/>
            </p:cNvSpPr>
            <p:nvPr/>
          </p:nvSpPr>
          <p:spPr bwMode="auto">
            <a:xfrm>
              <a:off x="2373" y="2515"/>
              <a:ext cx="63"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70" name="Rectangle 47"/>
            <p:cNvSpPr>
              <a:spLocks noChangeArrowheads="1"/>
            </p:cNvSpPr>
            <p:nvPr/>
          </p:nvSpPr>
          <p:spPr bwMode="auto">
            <a:xfrm>
              <a:off x="2478" y="2515"/>
              <a:ext cx="85"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71" name="Rectangle 48"/>
            <p:cNvSpPr>
              <a:spLocks noChangeArrowheads="1"/>
            </p:cNvSpPr>
            <p:nvPr/>
          </p:nvSpPr>
          <p:spPr bwMode="auto">
            <a:xfrm>
              <a:off x="2599" y="2515"/>
              <a:ext cx="69"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72" name="Rectangle 49"/>
            <p:cNvSpPr>
              <a:spLocks noChangeArrowheads="1"/>
            </p:cNvSpPr>
            <p:nvPr/>
          </p:nvSpPr>
          <p:spPr bwMode="auto">
            <a:xfrm>
              <a:off x="2705" y="2515"/>
              <a:ext cx="94"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73" name="Rectangle 50"/>
            <p:cNvSpPr>
              <a:spLocks noChangeArrowheads="1"/>
            </p:cNvSpPr>
            <p:nvPr/>
          </p:nvSpPr>
          <p:spPr bwMode="auto">
            <a:xfrm>
              <a:off x="2831" y="2515"/>
              <a:ext cx="45"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74" name="Rectangle 51"/>
            <p:cNvSpPr>
              <a:spLocks noChangeArrowheads="1"/>
            </p:cNvSpPr>
            <p:nvPr/>
          </p:nvSpPr>
          <p:spPr bwMode="auto">
            <a:xfrm>
              <a:off x="2911" y="2515"/>
              <a:ext cx="58" cy="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grpSp>
      <p:sp>
        <p:nvSpPr>
          <p:cNvPr id="16" name="Freeform 53"/>
          <p:cNvSpPr>
            <a:spLocks/>
          </p:cNvSpPr>
          <p:nvPr/>
        </p:nvSpPr>
        <p:spPr bwMode="auto">
          <a:xfrm>
            <a:off x="6621231" y="2354312"/>
            <a:ext cx="2080184" cy="2280410"/>
          </a:xfrm>
          <a:custGeom>
            <a:avLst/>
            <a:gdLst>
              <a:gd name="T0" fmla="*/ 1046 w 1747"/>
              <a:gd name="T1" fmla="*/ 1916 h 1916"/>
              <a:gd name="T2" fmla="*/ 1747 w 1747"/>
              <a:gd name="T3" fmla="*/ 524 h 1916"/>
              <a:gd name="T4" fmla="*/ 715 w 1747"/>
              <a:gd name="T5" fmla="*/ 0 h 1916"/>
              <a:gd name="T6" fmla="*/ 0 w 1747"/>
              <a:gd name="T7" fmla="*/ 1383 h 1916"/>
              <a:gd name="T8" fmla="*/ 1046 w 1747"/>
              <a:gd name="T9" fmla="*/ 1916 h 1916"/>
              <a:gd name="T10" fmla="*/ 0 60000 65536"/>
              <a:gd name="T11" fmla="*/ 0 60000 65536"/>
              <a:gd name="T12" fmla="*/ 0 60000 65536"/>
              <a:gd name="T13" fmla="*/ 0 60000 65536"/>
              <a:gd name="T14" fmla="*/ 0 60000 65536"/>
              <a:gd name="T15" fmla="*/ 0 w 1747"/>
              <a:gd name="T16" fmla="*/ 0 h 1916"/>
              <a:gd name="T17" fmla="*/ 1747 w 1747"/>
              <a:gd name="T18" fmla="*/ 1916 h 1916"/>
            </a:gdLst>
            <a:ahLst/>
            <a:cxnLst>
              <a:cxn ang="T10">
                <a:pos x="T0" y="T1"/>
              </a:cxn>
              <a:cxn ang="T11">
                <a:pos x="T2" y="T3"/>
              </a:cxn>
              <a:cxn ang="T12">
                <a:pos x="T4" y="T5"/>
              </a:cxn>
              <a:cxn ang="T13">
                <a:pos x="T6" y="T7"/>
              </a:cxn>
              <a:cxn ang="T14">
                <a:pos x="T8" y="T9"/>
              </a:cxn>
            </a:cxnLst>
            <a:rect l="T15" t="T16" r="T17" b="T18"/>
            <a:pathLst>
              <a:path w="1747" h="1916">
                <a:moveTo>
                  <a:pt x="1046" y="1916"/>
                </a:moveTo>
                <a:lnTo>
                  <a:pt x="1747" y="524"/>
                </a:lnTo>
                <a:lnTo>
                  <a:pt x="715" y="0"/>
                </a:lnTo>
                <a:lnTo>
                  <a:pt x="0" y="1383"/>
                </a:lnTo>
                <a:lnTo>
                  <a:pt x="1046" y="1916"/>
                </a:lnTo>
                <a:close/>
              </a:path>
            </a:pathLst>
          </a:custGeom>
          <a:solidFill>
            <a:srgbClr val="FF9900">
              <a:alpha val="50195"/>
            </a:srgbClr>
          </a:solidFill>
          <a:ln w="19050" cap="flat" cmpd="sng">
            <a:solidFill>
              <a:schemeClr val="tx1"/>
            </a:solidFill>
            <a:prstDash val="dash"/>
            <a:round/>
            <a:headEnd/>
            <a:tailEnd/>
          </a:ln>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7" name="Line 54"/>
          <p:cNvSpPr>
            <a:spLocks noChangeShapeType="1"/>
          </p:cNvSpPr>
          <p:nvPr/>
        </p:nvSpPr>
        <p:spPr bwMode="auto">
          <a:xfrm>
            <a:off x="6695056" y="3874189"/>
            <a:ext cx="1240728" cy="62247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8" name="Freeform 55"/>
          <p:cNvSpPr>
            <a:spLocks/>
          </p:cNvSpPr>
          <p:nvPr/>
        </p:nvSpPr>
        <p:spPr bwMode="auto">
          <a:xfrm>
            <a:off x="6584319" y="3990828"/>
            <a:ext cx="1305027" cy="685551"/>
          </a:xfrm>
          <a:custGeom>
            <a:avLst/>
            <a:gdLst>
              <a:gd name="T0" fmla="*/ 1077 w 1096"/>
              <a:gd name="T1" fmla="*/ 576 h 576"/>
              <a:gd name="T2" fmla="*/ 1096 w 1096"/>
              <a:gd name="T3" fmla="*/ 544 h 576"/>
              <a:gd name="T4" fmla="*/ 15 w 1096"/>
              <a:gd name="T5" fmla="*/ 0 h 576"/>
              <a:gd name="T6" fmla="*/ 0 w 1096"/>
              <a:gd name="T7" fmla="*/ 29 h 576"/>
              <a:gd name="T8" fmla="*/ 1077 w 1096"/>
              <a:gd name="T9" fmla="*/ 576 h 576"/>
              <a:gd name="T10" fmla="*/ 0 60000 65536"/>
              <a:gd name="T11" fmla="*/ 0 60000 65536"/>
              <a:gd name="T12" fmla="*/ 0 60000 65536"/>
              <a:gd name="T13" fmla="*/ 0 60000 65536"/>
              <a:gd name="T14" fmla="*/ 0 60000 65536"/>
              <a:gd name="T15" fmla="*/ 0 w 1096"/>
              <a:gd name="T16" fmla="*/ 0 h 576"/>
              <a:gd name="T17" fmla="*/ 1096 w 1096"/>
              <a:gd name="T18" fmla="*/ 576 h 576"/>
            </a:gdLst>
            <a:ahLst/>
            <a:cxnLst>
              <a:cxn ang="T10">
                <a:pos x="T0" y="T1"/>
              </a:cxn>
              <a:cxn ang="T11">
                <a:pos x="T2" y="T3"/>
              </a:cxn>
              <a:cxn ang="T12">
                <a:pos x="T4" y="T5"/>
              </a:cxn>
              <a:cxn ang="T13">
                <a:pos x="T6" y="T7"/>
              </a:cxn>
              <a:cxn ang="T14">
                <a:pos x="T8" y="T9"/>
              </a:cxn>
            </a:cxnLst>
            <a:rect l="T15" t="T16" r="T17" b="T18"/>
            <a:pathLst>
              <a:path w="1096" h="576">
                <a:moveTo>
                  <a:pt x="1077" y="576"/>
                </a:moveTo>
                <a:lnTo>
                  <a:pt x="1096" y="544"/>
                </a:lnTo>
                <a:lnTo>
                  <a:pt x="15" y="0"/>
                </a:lnTo>
                <a:lnTo>
                  <a:pt x="0" y="29"/>
                </a:lnTo>
                <a:lnTo>
                  <a:pt x="1077" y="576"/>
                </a:lnTo>
                <a:close/>
              </a:path>
            </a:pathLst>
          </a:custGeom>
          <a:solidFill>
            <a:srgbClr val="FF9900">
              <a:alpha val="65881"/>
            </a:srgbClr>
          </a:solidFill>
          <a:ln w="19050" cap="flat" cmpd="sng">
            <a:solidFill>
              <a:schemeClr val="tx1"/>
            </a:solidFill>
            <a:prstDash val="dash"/>
            <a:round/>
            <a:headEnd/>
            <a:tailEnd/>
          </a:ln>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19" name="Line 56"/>
          <p:cNvSpPr>
            <a:spLocks noChangeShapeType="1"/>
          </p:cNvSpPr>
          <p:nvPr/>
        </p:nvSpPr>
        <p:spPr bwMode="auto">
          <a:xfrm flipV="1">
            <a:off x="7174915" y="1658049"/>
            <a:ext cx="1428861" cy="2781482"/>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20" name="Line 57"/>
          <p:cNvSpPr>
            <a:spLocks noChangeShapeType="1"/>
          </p:cNvSpPr>
          <p:nvPr/>
        </p:nvSpPr>
        <p:spPr bwMode="auto">
          <a:xfrm>
            <a:off x="7311847" y="1646898"/>
            <a:ext cx="0" cy="283905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21" name="Freeform 58"/>
          <p:cNvSpPr>
            <a:spLocks/>
          </p:cNvSpPr>
          <p:nvPr/>
        </p:nvSpPr>
        <p:spPr bwMode="auto">
          <a:xfrm>
            <a:off x="7307085" y="1840458"/>
            <a:ext cx="1063062" cy="268984"/>
          </a:xfrm>
          <a:custGeom>
            <a:avLst/>
            <a:gdLst>
              <a:gd name="T0" fmla="*/ 0 w 955"/>
              <a:gd name="T1" fmla="*/ 0 h 226"/>
              <a:gd name="T2" fmla="*/ 288 w 955"/>
              <a:gd name="T3" fmla="*/ 24 h 226"/>
              <a:gd name="T4" fmla="*/ 614 w 955"/>
              <a:gd name="T5" fmla="*/ 96 h 226"/>
              <a:gd name="T6" fmla="*/ 835 w 955"/>
              <a:gd name="T7" fmla="*/ 178 h 226"/>
              <a:gd name="T8" fmla="*/ 955 w 955"/>
              <a:gd name="T9" fmla="*/ 226 h 226"/>
              <a:gd name="T10" fmla="*/ 0 60000 65536"/>
              <a:gd name="T11" fmla="*/ 0 60000 65536"/>
              <a:gd name="T12" fmla="*/ 0 60000 65536"/>
              <a:gd name="T13" fmla="*/ 0 60000 65536"/>
              <a:gd name="T14" fmla="*/ 0 60000 65536"/>
              <a:gd name="T15" fmla="*/ 0 w 955"/>
              <a:gd name="T16" fmla="*/ 0 h 226"/>
              <a:gd name="T17" fmla="*/ 955 w 955"/>
              <a:gd name="T18" fmla="*/ 226 h 226"/>
            </a:gdLst>
            <a:ahLst/>
            <a:cxnLst>
              <a:cxn ang="T10">
                <a:pos x="T0" y="T1"/>
              </a:cxn>
              <a:cxn ang="T11">
                <a:pos x="T2" y="T3"/>
              </a:cxn>
              <a:cxn ang="T12">
                <a:pos x="T4" y="T5"/>
              </a:cxn>
              <a:cxn ang="T13">
                <a:pos x="T6" y="T7"/>
              </a:cxn>
              <a:cxn ang="T14">
                <a:pos x="T8" y="T9"/>
              </a:cxn>
            </a:cxnLst>
            <a:rect l="T15" t="T16" r="T17" b="T18"/>
            <a:pathLst>
              <a:path w="955" h="226">
                <a:moveTo>
                  <a:pt x="0" y="0"/>
                </a:moveTo>
                <a:cubicBezTo>
                  <a:pt x="93" y="4"/>
                  <a:pt x="186" y="8"/>
                  <a:pt x="288" y="24"/>
                </a:cubicBezTo>
                <a:cubicBezTo>
                  <a:pt x="390" y="40"/>
                  <a:pt x="523" y="70"/>
                  <a:pt x="614" y="96"/>
                </a:cubicBezTo>
                <a:cubicBezTo>
                  <a:pt x="705" y="122"/>
                  <a:pt x="778" y="156"/>
                  <a:pt x="835" y="178"/>
                </a:cubicBezTo>
                <a:cubicBezTo>
                  <a:pt x="892" y="200"/>
                  <a:pt x="923" y="213"/>
                  <a:pt x="955" y="226"/>
                </a:cubicBezTo>
              </a:path>
            </a:pathLst>
          </a:custGeom>
          <a:noFill/>
          <a:ln w="9525">
            <a:solidFill>
              <a:schemeClr val="tx1"/>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22" name="AutoShape 61"/>
          <p:cNvSpPr>
            <a:spLocks noChangeArrowheads="1"/>
          </p:cNvSpPr>
          <p:nvPr/>
        </p:nvSpPr>
        <p:spPr bwMode="auto">
          <a:xfrm flipV="1">
            <a:off x="8231082" y="4001540"/>
            <a:ext cx="140505" cy="98786"/>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23" name="AutoShape 62"/>
          <p:cNvSpPr>
            <a:spLocks noChangeArrowheads="1"/>
          </p:cNvSpPr>
          <p:nvPr/>
        </p:nvSpPr>
        <p:spPr bwMode="auto">
          <a:xfrm flipV="1">
            <a:off x="7970314" y="4569262"/>
            <a:ext cx="140505" cy="98786"/>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24" name="Line 63"/>
          <p:cNvSpPr>
            <a:spLocks noChangeShapeType="1"/>
          </p:cNvSpPr>
          <p:nvPr/>
        </p:nvSpPr>
        <p:spPr bwMode="auto">
          <a:xfrm>
            <a:off x="8014371" y="3865858"/>
            <a:ext cx="7764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25" name="Text Box 64"/>
          <p:cNvSpPr txBox="1">
            <a:spLocks noChangeArrowheads="1"/>
          </p:cNvSpPr>
          <p:nvPr/>
        </p:nvSpPr>
        <p:spPr bwMode="auto">
          <a:xfrm>
            <a:off x="7639035" y="1630459"/>
            <a:ext cx="614410" cy="28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pitchFamily="2" charset="-122"/>
              </a:defRPr>
            </a:lvl1pPr>
            <a:lvl2pPr marL="742950" indent="-285750" defTabSz="685800" eaLnBrk="0" hangingPunct="0">
              <a:defRPr sz="1400">
                <a:solidFill>
                  <a:schemeClr val="tx1"/>
                </a:solidFill>
                <a:latin typeface="Times New Roman" pitchFamily="18" charset="0"/>
                <a:ea typeface="宋体" pitchFamily="2" charset="-122"/>
              </a:defRPr>
            </a:lvl2pPr>
            <a:lvl3pPr marL="1143000" indent="-228600" defTabSz="685800" eaLnBrk="0" hangingPunct="0">
              <a:defRPr sz="1400">
                <a:solidFill>
                  <a:schemeClr val="tx1"/>
                </a:solidFill>
                <a:latin typeface="Times New Roman" pitchFamily="18" charset="0"/>
                <a:ea typeface="宋体" pitchFamily="2" charset="-122"/>
              </a:defRPr>
            </a:lvl3pPr>
            <a:lvl4pPr marL="1600200" indent="-228600" defTabSz="685800" eaLnBrk="0" hangingPunct="0">
              <a:defRPr sz="1400">
                <a:solidFill>
                  <a:schemeClr val="tx1"/>
                </a:solidFill>
                <a:latin typeface="Times New Roman" pitchFamily="18" charset="0"/>
                <a:ea typeface="宋体" pitchFamily="2" charset="-122"/>
              </a:defRPr>
            </a:lvl4pPr>
            <a:lvl5pPr marL="2057400" indent="-228600" defTabSz="685800" eaLnBrk="0" hangingPunct="0">
              <a:defRPr sz="1400">
                <a:solidFill>
                  <a:schemeClr val="tx1"/>
                </a:solidFill>
                <a:latin typeface="Times New Roman" pitchFamily="18" charset="0"/>
                <a:ea typeface="宋体" pitchFamily="2"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26</a:t>
            </a:r>
            <a:r>
              <a:rPr kumimoji="0" lang="en-US" altLang="zh-CN" sz="1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sym typeface="Symbol" pitchFamily="18" charset="2"/>
              </a:rPr>
              <a:t>53</a:t>
            </a:r>
          </a:p>
        </p:txBody>
      </p:sp>
      <p:sp>
        <p:nvSpPr>
          <p:cNvPr id="26" name="Text Box 67"/>
          <p:cNvSpPr txBox="1">
            <a:spLocks noChangeArrowheads="1"/>
          </p:cNvSpPr>
          <p:nvPr/>
        </p:nvSpPr>
        <p:spPr bwMode="auto">
          <a:xfrm>
            <a:off x="5665085" y="3994398"/>
            <a:ext cx="1215723" cy="71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pitchFamily="2" charset="-122"/>
              </a:defRPr>
            </a:lvl1pPr>
            <a:lvl2pPr marL="742950" indent="-285750" defTabSz="685800" eaLnBrk="0" hangingPunct="0">
              <a:defRPr sz="1400">
                <a:solidFill>
                  <a:schemeClr val="tx1"/>
                </a:solidFill>
                <a:latin typeface="Times New Roman" pitchFamily="18" charset="0"/>
                <a:ea typeface="宋体" pitchFamily="2" charset="-122"/>
              </a:defRPr>
            </a:lvl2pPr>
            <a:lvl3pPr marL="1143000" indent="-228600" defTabSz="685800" eaLnBrk="0" hangingPunct="0">
              <a:defRPr sz="1400">
                <a:solidFill>
                  <a:schemeClr val="tx1"/>
                </a:solidFill>
                <a:latin typeface="Times New Roman" pitchFamily="18" charset="0"/>
                <a:ea typeface="宋体" pitchFamily="2" charset="-122"/>
              </a:defRPr>
            </a:lvl3pPr>
            <a:lvl4pPr marL="1600200" indent="-228600" defTabSz="685800" eaLnBrk="0" hangingPunct="0">
              <a:defRPr sz="1400">
                <a:solidFill>
                  <a:schemeClr val="tx1"/>
                </a:solidFill>
                <a:latin typeface="Times New Roman" pitchFamily="18" charset="0"/>
                <a:ea typeface="宋体" pitchFamily="2" charset="-122"/>
              </a:defRPr>
            </a:lvl4pPr>
            <a:lvl5pPr marL="2057400" indent="-228600" defTabSz="685800" eaLnBrk="0" hangingPunct="0">
              <a:defRPr sz="1400">
                <a:solidFill>
                  <a:schemeClr val="tx1"/>
                </a:solidFill>
                <a:latin typeface="Times New Roman" pitchFamily="18" charset="0"/>
                <a:ea typeface="宋体" pitchFamily="2"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charset="0"/>
                <a:ea typeface="宋体" pitchFamily="2" charset="-122"/>
                <a:cs typeface="+mn-cs"/>
              </a:rPr>
              <a:t>填土</a:t>
            </a:r>
          </a:p>
          <a:p>
            <a:pPr marL="0" marR="0" lvl="0" indent="0" algn="l" defTabSz="6858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charset="0"/>
                <a:ea typeface="宋体" pitchFamily="2" charset="-122"/>
                <a:cs typeface="+mn-cs"/>
              </a:rPr>
              <a:t>褐色粉质黏土</a:t>
            </a:r>
          </a:p>
          <a:p>
            <a:pPr marL="0" marR="0" lvl="0" indent="0" algn="l" defTabSz="6858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charset="0"/>
                <a:ea typeface="宋体" pitchFamily="2" charset="-122"/>
                <a:cs typeface="+mn-cs"/>
              </a:rPr>
              <a:t>灰色粉质黏土</a:t>
            </a:r>
            <a:endParaRPr kumimoji="0" lang="en-US" altLang="zh-CN" sz="1400" b="1" i="0" u="none" strike="noStrike" kern="1200" cap="none" spc="0" normalizeH="0" baseline="0" noProof="0" dirty="0">
              <a:ln>
                <a:noFill/>
              </a:ln>
              <a:solidFill>
                <a:prstClr val="black"/>
              </a:solidFill>
              <a:effectLst/>
              <a:uLnTx/>
              <a:uFillTx/>
              <a:latin typeface="Arial" charset="0"/>
              <a:ea typeface="宋体" pitchFamily="2" charset="-122"/>
              <a:cs typeface="+mn-cs"/>
            </a:endParaRPr>
          </a:p>
        </p:txBody>
      </p:sp>
      <p:sp>
        <p:nvSpPr>
          <p:cNvPr id="27" name="Text Box 70"/>
          <p:cNvSpPr txBox="1">
            <a:spLocks noChangeArrowheads="1"/>
          </p:cNvSpPr>
          <p:nvPr/>
        </p:nvSpPr>
        <p:spPr bwMode="auto">
          <a:xfrm>
            <a:off x="8076288" y="4427629"/>
            <a:ext cx="601313" cy="28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pitchFamily="2" charset="-122"/>
              </a:defRPr>
            </a:lvl1pPr>
            <a:lvl2pPr marL="742950" indent="-285750" defTabSz="685800" eaLnBrk="0" hangingPunct="0">
              <a:defRPr sz="1400">
                <a:solidFill>
                  <a:schemeClr val="tx1"/>
                </a:solidFill>
                <a:latin typeface="Times New Roman" pitchFamily="18" charset="0"/>
                <a:ea typeface="宋体" pitchFamily="2" charset="-122"/>
              </a:defRPr>
            </a:lvl2pPr>
            <a:lvl3pPr marL="1143000" indent="-228600" defTabSz="685800" eaLnBrk="0" hangingPunct="0">
              <a:defRPr sz="1400">
                <a:solidFill>
                  <a:schemeClr val="tx1"/>
                </a:solidFill>
                <a:latin typeface="Times New Roman" pitchFamily="18" charset="0"/>
                <a:ea typeface="宋体" pitchFamily="2" charset="-122"/>
              </a:defRPr>
            </a:lvl3pPr>
            <a:lvl4pPr marL="1600200" indent="-228600" defTabSz="685800" eaLnBrk="0" hangingPunct="0">
              <a:defRPr sz="1400">
                <a:solidFill>
                  <a:schemeClr val="tx1"/>
                </a:solidFill>
                <a:latin typeface="Times New Roman" pitchFamily="18" charset="0"/>
                <a:ea typeface="宋体" pitchFamily="2" charset="-122"/>
              </a:defRPr>
            </a:lvl4pPr>
            <a:lvl5pPr marL="2057400" indent="-228600" defTabSz="685800" eaLnBrk="0" hangingPunct="0">
              <a:defRPr sz="1400">
                <a:solidFill>
                  <a:schemeClr val="tx1"/>
                </a:solidFill>
                <a:latin typeface="Times New Roman" pitchFamily="18" charset="0"/>
                <a:ea typeface="宋体" pitchFamily="2"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-13.72</a:t>
            </a:r>
          </a:p>
        </p:txBody>
      </p:sp>
      <p:sp>
        <p:nvSpPr>
          <p:cNvPr id="28" name="Text Box 71"/>
          <p:cNvSpPr txBox="1">
            <a:spLocks noChangeArrowheads="1"/>
          </p:cNvSpPr>
          <p:nvPr/>
        </p:nvSpPr>
        <p:spPr bwMode="auto">
          <a:xfrm>
            <a:off x="8325148" y="3889661"/>
            <a:ext cx="507246" cy="28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685800" eaLnBrk="0" hangingPunct="0">
              <a:defRPr sz="1400">
                <a:solidFill>
                  <a:schemeClr val="tx1"/>
                </a:solidFill>
                <a:latin typeface="Times New Roman" pitchFamily="18" charset="0"/>
                <a:ea typeface="宋体" pitchFamily="2" charset="-122"/>
              </a:defRPr>
            </a:lvl1pPr>
            <a:lvl2pPr marL="742950" indent="-285750" defTabSz="685800" eaLnBrk="0" hangingPunct="0">
              <a:defRPr sz="1400">
                <a:solidFill>
                  <a:schemeClr val="tx1"/>
                </a:solidFill>
                <a:latin typeface="Times New Roman" pitchFamily="18" charset="0"/>
                <a:ea typeface="宋体" pitchFamily="2" charset="-122"/>
              </a:defRPr>
            </a:lvl2pPr>
            <a:lvl3pPr marL="1143000" indent="-228600" defTabSz="685800" eaLnBrk="0" hangingPunct="0">
              <a:defRPr sz="1400">
                <a:solidFill>
                  <a:schemeClr val="tx1"/>
                </a:solidFill>
                <a:latin typeface="Times New Roman" pitchFamily="18" charset="0"/>
                <a:ea typeface="宋体" pitchFamily="2" charset="-122"/>
              </a:defRPr>
            </a:lvl3pPr>
            <a:lvl4pPr marL="1600200" indent="-228600" defTabSz="685800" eaLnBrk="0" hangingPunct="0">
              <a:defRPr sz="1400">
                <a:solidFill>
                  <a:schemeClr val="tx1"/>
                </a:solidFill>
                <a:latin typeface="Times New Roman" pitchFamily="18" charset="0"/>
                <a:ea typeface="宋体" pitchFamily="2" charset="-122"/>
              </a:defRPr>
            </a:lvl4pPr>
            <a:lvl5pPr marL="2057400" indent="-228600" defTabSz="685800" eaLnBrk="0" hangingPunct="0">
              <a:defRPr sz="1400">
                <a:solidFill>
                  <a:schemeClr val="tx1"/>
                </a:solidFill>
                <a:latin typeface="Times New Roman" pitchFamily="18" charset="0"/>
                <a:ea typeface="宋体" pitchFamily="2" charset="-122"/>
              </a:defRPr>
            </a:lvl5pPr>
            <a:lvl6pPr marL="25146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defTabSz="6858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-4.27</a:t>
            </a:r>
          </a:p>
        </p:txBody>
      </p:sp>
      <p:sp>
        <p:nvSpPr>
          <p:cNvPr id="29" name="Line 73"/>
          <p:cNvSpPr>
            <a:spLocks noChangeShapeType="1"/>
          </p:cNvSpPr>
          <p:nvPr/>
        </p:nvSpPr>
        <p:spPr bwMode="auto">
          <a:xfrm>
            <a:off x="8216793" y="4107467"/>
            <a:ext cx="2214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0" name="Line 74"/>
          <p:cNvSpPr>
            <a:spLocks noChangeShapeType="1"/>
          </p:cNvSpPr>
          <p:nvPr/>
        </p:nvSpPr>
        <p:spPr bwMode="auto">
          <a:xfrm>
            <a:off x="7961979" y="4672809"/>
            <a:ext cx="2214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1" name="Freeform 76"/>
          <p:cNvSpPr>
            <a:spLocks/>
          </p:cNvSpPr>
          <p:nvPr/>
        </p:nvSpPr>
        <p:spPr bwMode="auto">
          <a:xfrm>
            <a:off x="5724621" y="3862287"/>
            <a:ext cx="52392" cy="53559"/>
          </a:xfrm>
          <a:custGeom>
            <a:avLst/>
            <a:gdLst>
              <a:gd name="T0" fmla="*/ 44 w 44"/>
              <a:gd name="T1" fmla="*/ 0 h 45"/>
              <a:gd name="T2" fmla="*/ 27 w 44"/>
              <a:gd name="T3" fmla="*/ 13 h 45"/>
              <a:gd name="T4" fmla="*/ 12 w 44"/>
              <a:gd name="T5" fmla="*/ 29 h 45"/>
              <a:gd name="T6" fmla="*/ 0 w 44"/>
              <a:gd name="T7" fmla="*/ 45 h 45"/>
              <a:gd name="T8" fmla="*/ 0 60000 65536"/>
              <a:gd name="T9" fmla="*/ 0 60000 65536"/>
              <a:gd name="T10" fmla="*/ 0 60000 65536"/>
              <a:gd name="T11" fmla="*/ 0 60000 65536"/>
              <a:gd name="T12" fmla="*/ 0 w 44"/>
              <a:gd name="T13" fmla="*/ 0 h 45"/>
              <a:gd name="T14" fmla="*/ 44 w 44"/>
              <a:gd name="T15" fmla="*/ 45 h 45"/>
            </a:gdLst>
            <a:ahLst/>
            <a:cxnLst>
              <a:cxn ang="T8">
                <a:pos x="T0" y="T1"/>
              </a:cxn>
              <a:cxn ang="T9">
                <a:pos x="T2" y="T3"/>
              </a:cxn>
              <a:cxn ang="T10">
                <a:pos x="T4" y="T5"/>
              </a:cxn>
              <a:cxn ang="T11">
                <a:pos x="T6" y="T7"/>
              </a:cxn>
            </a:cxnLst>
            <a:rect l="T12" t="T13" r="T14" b="T15"/>
            <a:pathLst>
              <a:path w="44" h="45">
                <a:moveTo>
                  <a:pt x="44" y="0"/>
                </a:moveTo>
                <a:cubicBezTo>
                  <a:pt x="37" y="2"/>
                  <a:pt x="34" y="9"/>
                  <a:pt x="27" y="13"/>
                </a:cubicBezTo>
                <a:cubicBezTo>
                  <a:pt x="25" y="19"/>
                  <a:pt x="18" y="26"/>
                  <a:pt x="12" y="29"/>
                </a:cubicBezTo>
                <a:cubicBezTo>
                  <a:pt x="10" y="37"/>
                  <a:pt x="3" y="37"/>
                  <a:pt x="0" y="45"/>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2" name="Freeform 77"/>
          <p:cNvSpPr>
            <a:spLocks/>
          </p:cNvSpPr>
          <p:nvPr/>
        </p:nvSpPr>
        <p:spPr bwMode="auto">
          <a:xfrm>
            <a:off x="5786538" y="3871809"/>
            <a:ext cx="72634" cy="17853"/>
          </a:xfrm>
          <a:custGeom>
            <a:avLst/>
            <a:gdLst>
              <a:gd name="T0" fmla="*/ 0 w 61"/>
              <a:gd name="T1" fmla="*/ 0 h 15"/>
              <a:gd name="T2" fmla="*/ 42 w 61"/>
              <a:gd name="T3" fmla="*/ 7 h 15"/>
              <a:gd name="T4" fmla="*/ 55 w 61"/>
              <a:gd name="T5" fmla="*/ 13 h 15"/>
              <a:gd name="T6" fmla="*/ 61 w 61"/>
              <a:gd name="T7" fmla="*/ 15 h 15"/>
              <a:gd name="T8" fmla="*/ 0 60000 65536"/>
              <a:gd name="T9" fmla="*/ 0 60000 65536"/>
              <a:gd name="T10" fmla="*/ 0 60000 65536"/>
              <a:gd name="T11" fmla="*/ 0 60000 65536"/>
              <a:gd name="T12" fmla="*/ 0 w 61"/>
              <a:gd name="T13" fmla="*/ 0 h 15"/>
              <a:gd name="T14" fmla="*/ 61 w 61"/>
              <a:gd name="T15" fmla="*/ 15 h 15"/>
            </a:gdLst>
            <a:ahLst/>
            <a:cxnLst>
              <a:cxn ang="T8">
                <a:pos x="T0" y="T1"/>
              </a:cxn>
              <a:cxn ang="T9">
                <a:pos x="T2" y="T3"/>
              </a:cxn>
              <a:cxn ang="T10">
                <a:pos x="T4" y="T5"/>
              </a:cxn>
              <a:cxn ang="T11">
                <a:pos x="T6" y="T7"/>
              </a:cxn>
            </a:cxnLst>
            <a:rect l="T12" t="T13" r="T14" b="T15"/>
            <a:pathLst>
              <a:path w="61" h="15">
                <a:moveTo>
                  <a:pt x="0" y="0"/>
                </a:moveTo>
                <a:cubicBezTo>
                  <a:pt x="23" y="2"/>
                  <a:pt x="25" y="3"/>
                  <a:pt x="42" y="7"/>
                </a:cubicBezTo>
                <a:cubicBezTo>
                  <a:pt x="49" y="11"/>
                  <a:pt x="46" y="10"/>
                  <a:pt x="55" y="13"/>
                </a:cubicBezTo>
                <a:cubicBezTo>
                  <a:pt x="57" y="14"/>
                  <a:pt x="61" y="15"/>
                  <a:pt x="61" y="15"/>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3" name="Freeform 78"/>
          <p:cNvSpPr>
            <a:spLocks/>
          </p:cNvSpPr>
          <p:nvPr/>
        </p:nvSpPr>
        <p:spPr bwMode="auto">
          <a:xfrm>
            <a:off x="5775821" y="3889661"/>
            <a:ext cx="67871" cy="19043"/>
          </a:xfrm>
          <a:custGeom>
            <a:avLst/>
            <a:gdLst>
              <a:gd name="T0" fmla="*/ 0 w 57"/>
              <a:gd name="T1" fmla="*/ 0 h 16"/>
              <a:gd name="T2" fmla="*/ 24 w 57"/>
              <a:gd name="T3" fmla="*/ 6 h 16"/>
              <a:gd name="T4" fmla="*/ 57 w 57"/>
              <a:gd name="T5" fmla="*/ 16 h 16"/>
              <a:gd name="T6" fmla="*/ 0 60000 65536"/>
              <a:gd name="T7" fmla="*/ 0 60000 65536"/>
              <a:gd name="T8" fmla="*/ 0 60000 65536"/>
              <a:gd name="T9" fmla="*/ 0 w 57"/>
              <a:gd name="T10" fmla="*/ 0 h 16"/>
              <a:gd name="T11" fmla="*/ 57 w 57"/>
              <a:gd name="T12" fmla="*/ 16 h 16"/>
            </a:gdLst>
            <a:ahLst/>
            <a:cxnLst>
              <a:cxn ang="T6">
                <a:pos x="T0" y="T1"/>
              </a:cxn>
              <a:cxn ang="T7">
                <a:pos x="T2" y="T3"/>
              </a:cxn>
              <a:cxn ang="T8">
                <a:pos x="T4" y="T5"/>
              </a:cxn>
            </a:cxnLst>
            <a:rect l="T9" t="T10" r="T11" b="T12"/>
            <a:pathLst>
              <a:path w="57" h="16">
                <a:moveTo>
                  <a:pt x="0" y="0"/>
                </a:moveTo>
                <a:cubicBezTo>
                  <a:pt x="8" y="1"/>
                  <a:pt x="15" y="5"/>
                  <a:pt x="24" y="6"/>
                </a:cubicBezTo>
                <a:cubicBezTo>
                  <a:pt x="32" y="9"/>
                  <a:pt x="53" y="9"/>
                  <a:pt x="57" y="1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4" name="Freeform 79"/>
          <p:cNvSpPr>
            <a:spLocks/>
          </p:cNvSpPr>
          <p:nvPr/>
        </p:nvSpPr>
        <p:spPr bwMode="auto">
          <a:xfrm>
            <a:off x="5762723" y="3908705"/>
            <a:ext cx="58345" cy="16663"/>
          </a:xfrm>
          <a:custGeom>
            <a:avLst/>
            <a:gdLst>
              <a:gd name="T0" fmla="*/ 0 w 49"/>
              <a:gd name="T1" fmla="*/ 0 h 14"/>
              <a:gd name="T2" fmla="*/ 49 w 49"/>
              <a:gd name="T3" fmla="*/ 14 h 14"/>
              <a:gd name="T4" fmla="*/ 0 60000 65536"/>
              <a:gd name="T5" fmla="*/ 0 60000 65536"/>
              <a:gd name="T6" fmla="*/ 0 w 49"/>
              <a:gd name="T7" fmla="*/ 0 h 14"/>
              <a:gd name="T8" fmla="*/ 49 w 49"/>
              <a:gd name="T9" fmla="*/ 14 h 14"/>
            </a:gdLst>
            <a:ahLst/>
            <a:cxnLst>
              <a:cxn ang="T4">
                <a:pos x="T0" y="T1"/>
              </a:cxn>
              <a:cxn ang="T5">
                <a:pos x="T2" y="T3"/>
              </a:cxn>
            </a:cxnLst>
            <a:rect l="T6" t="T7" r="T8" b="T9"/>
            <a:pathLst>
              <a:path w="49" h="14">
                <a:moveTo>
                  <a:pt x="0" y="0"/>
                </a:moveTo>
                <a:cubicBezTo>
                  <a:pt x="14" y="10"/>
                  <a:pt x="32" y="14"/>
                  <a:pt x="49" y="1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5" name="Freeform 80"/>
          <p:cNvSpPr>
            <a:spLocks/>
          </p:cNvSpPr>
          <p:nvPr/>
        </p:nvSpPr>
        <p:spPr bwMode="auto">
          <a:xfrm>
            <a:off x="5853218" y="3862287"/>
            <a:ext cx="38103" cy="69031"/>
          </a:xfrm>
          <a:custGeom>
            <a:avLst/>
            <a:gdLst>
              <a:gd name="T0" fmla="*/ 32 w 32"/>
              <a:gd name="T1" fmla="*/ 0 h 58"/>
              <a:gd name="T2" fmla="*/ 16 w 32"/>
              <a:gd name="T3" fmla="*/ 15 h 58"/>
              <a:gd name="T4" fmla="*/ 8 w 32"/>
              <a:gd name="T5" fmla="*/ 31 h 58"/>
              <a:gd name="T6" fmla="*/ 0 w 32"/>
              <a:gd name="T7" fmla="*/ 58 h 58"/>
              <a:gd name="T8" fmla="*/ 0 60000 65536"/>
              <a:gd name="T9" fmla="*/ 0 60000 65536"/>
              <a:gd name="T10" fmla="*/ 0 60000 65536"/>
              <a:gd name="T11" fmla="*/ 0 60000 65536"/>
              <a:gd name="T12" fmla="*/ 0 w 32"/>
              <a:gd name="T13" fmla="*/ 0 h 58"/>
              <a:gd name="T14" fmla="*/ 32 w 32"/>
              <a:gd name="T15" fmla="*/ 58 h 58"/>
            </a:gdLst>
            <a:ahLst/>
            <a:cxnLst>
              <a:cxn ang="T8">
                <a:pos x="T0" y="T1"/>
              </a:cxn>
              <a:cxn ang="T9">
                <a:pos x="T2" y="T3"/>
              </a:cxn>
              <a:cxn ang="T10">
                <a:pos x="T4" y="T5"/>
              </a:cxn>
              <a:cxn ang="T11">
                <a:pos x="T6" y="T7"/>
              </a:cxn>
            </a:cxnLst>
            <a:rect l="T12" t="T13" r="T14" b="T15"/>
            <a:pathLst>
              <a:path w="32" h="58">
                <a:moveTo>
                  <a:pt x="32" y="0"/>
                </a:moveTo>
                <a:cubicBezTo>
                  <a:pt x="24" y="4"/>
                  <a:pt x="24" y="12"/>
                  <a:pt x="16" y="15"/>
                </a:cubicBezTo>
                <a:cubicBezTo>
                  <a:pt x="15" y="22"/>
                  <a:pt x="12" y="26"/>
                  <a:pt x="8" y="31"/>
                </a:cubicBezTo>
                <a:cubicBezTo>
                  <a:pt x="6" y="41"/>
                  <a:pt x="0" y="47"/>
                  <a:pt x="0" y="5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6" name="Freeform 81"/>
          <p:cNvSpPr>
            <a:spLocks/>
          </p:cNvSpPr>
          <p:nvPr/>
        </p:nvSpPr>
        <p:spPr bwMode="auto">
          <a:xfrm>
            <a:off x="5887749" y="3868238"/>
            <a:ext cx="28577" cy="63080"/>
          </a:xfrm>
          <a:custGeom>
            <a:avLst/>
            <a:gdLst>
              <a:gd name="T0" fmla="*/ 24 w 24"/>
              <a:gd name="T1" fmla="*/ 0 h 53"/>
              <a:gd name="T2" fmla="*/ 10 w 24"/>
              <a:gd name="T3" fmla="*/ 45 h 53"/>
              <a:gd name="T4" fmla="*/ 0 w 24"/>
              <a:gd name="T5" fmla="*/ 53 h 53"/>
              <a:gd name="T6" fmla="*/ 0 60000 65536"/>
              <a:gd name="T7" fmla="*/ 0 60000 65536"/>
              <a:gd name="T8" fmla="*/ 0 60000 65536"/>
              <a:gd name="T9" fmla="*/ 0 w 24"/>
              <a:gd name="T10" fmla="*/ 0 h 53"/>
              <a:gd name="T11" fmla="*/ 24 w 24"/>
              <a:gd name="T12" fmla="*/ 53 h 53"/>
            </a:gdLst>
            <a:ahLst/>
            <a:cxnLst>
              <a:cxn ang="T6">
                <a:pos x="T0" y="T1"/>
              </a:cxn>
              <a:cxn ang="T7">
                <a:pos x="T2" y="T3"/>
              </a:cxn>
              <a:cxn ang="T8">
                <a:pos x="T4" y="T5"/>
              </a:cxn>
            </a:cxnLst>
            <a:rect l="T9" t="T10" r="T11" b="T12"/>
            <a:pathLst>
              <a:path w="24" h="53">
                <a:moveTo>
                  <a:pt x="24" y="0"/>
                </a:moveTo>
                <a:cubicBezTo>
                  <a:pt x="15" y="12"/>
                  <a:pt x="20" y="34"/>
                  <a:pt x="10" y="45"/>
                </a:cubicBezTo>
                <a:cubicBezTo>
                  <a:pt x="7" y="48"/>
                  <a:pt x="0" y="47"/>
                  <a:pt x="0" y="53"/>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7" name="Freeform 82"/>
          <p:cNvSpPr>
            <a:spLocks/>
          </p:cNvSpPr>
          <p:nvPr/>
        </p:nvSpPr>
        <p:spPr bwMode="auto">
          <a:xfrm>
            <a:off x="5931805" y="3864667"/>
            <a:ext cx="22624" cy="69031"/>
          </a:xfrm>
          <a:custGeom>
            <a:avLst/>
            <a:gdLst>
              <a:gd name="T0" fmla="*/ 19 w 19"/>
              <a:gd name="T1" fmla="*/ 0 h 58"/>
              <a:gd name="T2" fmla="*/ 10 w 19"/>
              <a:gd name="T3" fmla="*/ 24 h 58"/>
              <a:gd name="T4" fmla="*/ 6 w 19"/>
              <a:gd name="T5" fmla="*/ 34 h 58"/>
              <a:gd name="T6" fmla="*/ 0 w 19"/>
              <a:gd name="T7" fmla="*/ 58 h 58"/>
              <a:gd name="T8" fmla="*/ 0 60000 65536"/>
              <a:gd name="T9" fmla="*/ 0 60000 65536"/>
              <a:gd name="T10" fmla="*/ 0 60000 65536"/>
              <a:gd name="T11" fmla="*/ 0 60000 65536"/>
              <a:gd name="T12" fmla="*/ 0 w 19"/>
              <a:gd name="T13" fmla="*/ 0 h 58"/>
              <a:gd name="T14" fmla="*/ 19 w 19"/>
              <a:gd name="T15" fmla="*/ 58 h 58"/>
            </a:gdLst>
            <a:ahLst/>
            <a:cxnLst>
              <a:cxn ang="T8">
                <a:pos x="T0" y="T1"/>
              </a:cxn>
              <a:cxn ang="T9">
                <a:pos x="T2" y="T3"/>
              </a:cxn>
              <a:cxn ang="T10">
                <a:pos x="T4" y="T5"/>
              </a:cxn>
              <a:cxn ang="T11">
                <a:pos x="T6" y="T7"/>
              </a:cxn>
            </a:cxnLst>
            <a:rect l="T12" t="T13" r="T14" b="T15"/>
            <a:pathLst>
              <a:path w="19" h="58">
                <a:moveTo>
                  <a:pt x="19" y="0"/>
                </a:moveTo>
                <a:cubicBezTo>
                  <a:pt x="12" y="7"/>
                  <a:pt x="13" y="14"/>
                  <a:pt x="10" y="24"/>
                </a:cubicBezTo>
                <a:cubicBezTo>
                  <a:pt x="9" y="27"/>
                  <a:pt x="6" y="34"/>
                  <a:pt x="6" y="34"/>
                </a:cubicBezTo>
                <a:cubicBezTo>
                  <a:pt x="5" y="42"/>
                  <a:pt x="0" y="51"/>
                  <a:pt x="0" y="5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8" name="Freeform 83"/>
          <p:cNvSpPr>
            <a:spLocks/>
          </p:cNvSpPr>
          <p:nvPr/>
        </p:nvSpPr>
        <p:spPr bwMode="auto">
          <a:xfrm>
            <a:off x="5967527" y="3865858"/>
            <a:ext cx="69062" cy="19043"/>
          </a:xfrm>
          <a:custGeom>
            <a:avLst/>
            <a:gdLst>
              <a:gd name="T0" fmla="*/ 0 w 58"/>
              <a:gd name="T1" fmla="*/ 0 h 16"/>
              <a:gd name="T2" fmla="*/ 47 w 58"/>
              <a:gd name="T3" fmla="*/ 11 h 16"/>
              <a:gd name="T4" fmla="*/ 58 w 58"/>
              <a:gd name="T5" fmla="*/ 16 h 16"/>
              <a:gd name="T6" fmla="*/ 0 60000 65536"/>
              <a:gd name="T7" fmla="*/ 0 60000 65536"/>
              <a:gd name="T8" fmla="*/ 0 60000 65536"/>
              <a:gd name="T9" fmla="*/ 0 w 58"/>
              <a:gd name="T10" fmla="*/ 0 h 16"/>
              <a:gd name="T11" fmla="*/ 58 w 58"/>
              <a:gd name="T12" fmla="*/ 16 h 16"/>
            </a:gdLst>
            <a:ahLst/>
            <a:cxnLst>
              <a:cxn ang="T6">
                <a:pos x="T0" y="T1"/>
              </a:cxn>
              <a:cxn ang="T7">
                <a:pos x="T2" y="T3"/>
              </a:cxn>
              <a:cxn ang="T8">
                <a:pos x="T4" y="T5"/>
              </a:cxn>
            </a:cxnLst>
            <a:rect l="T9" t="T10" r="T11" b="T12"/>
            <a:pathLst>
              <a:path w="58" h="16">
                <a:moveTo>
                  <a:pt x="0" y="0"/>
                </a:moveTo>
                <a:cubicBezTo>
                  <a:pt x="16" y="2"/>
                  <a:pt x="32" y="4"/>
                  <a:pt x="47" y="11"/>
                </a:cubicBezTo>
                <a:cubicBezTo>
                  <a:pt x="50" y="13"/>
                  <a:pt x="58" y="12"/>
                  <a:pt x="58" y="1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9" name="Freeform 84"/>
          <p:cNvSpPr>
            <a:spLocks/>
          </p:cNvSpPr>
          <p:nvPr/>
        </p:nvSpPr>
        <p:spPr bwMode="auto">
          <a:xfrm>
            <a:off x="5969908" y="3892042"/>
            <a:ext cx="60727" cy="15473"/>
          </a:xfrm>
          <a:custGeom>
            <a:avLst/>
            <a:gdLst>
              <a:gd name="T0" fmla="*/ 0 w 51"/>
              <a:gd name="T1" fmla="*/ 0 h 13"/>
              <a:gd name="T2" fmla="*/ 38 w 51"/>
              <a:gd name="T3" fmla="*/ 8 h 13"/>
              <a:gd name="T4" fmla="*/ 51 w 51"/>
              <a:gd name="T5" fmla="*/ 13 h 13"/>
              <a:gd name="T6" fmla="*/ 0 60000 65536"/>
              <a:gd name="T7" fmla="*/ 0 60000 65536"/>
              <a:gd name="T8" fmla="*/ 0 60000 65536"/>
              <a:gd name="T9" fmla="*/ 0 w 51"/>
              <a:gd name="T10" fmla="*/ 0 h 13"/>
              <a:gd name="T11" fmla="*/ 51 w 51"/>
              <a:gd name="T12" fmla="*/ 13 h 13"/>
            </a:gdLst>
            <a:ahLst/>
            <a:cxnLst>
              <a:cxn ang="T6">
                <a:pos x="T0" y="T1"/>
              </a:cxn>
              <a:cxn ang="T7">
                <a:pos x="T2" y="T3"/>
              </a:cxn>
              <a:cxn ang="T8">
                <a:pos x="T4" y="T5"/>
              </a:cxn>
            </a:cxnLst>
            <a:rect l="T9" t="T10" r="T11" b="T12"/>
            <a:pathLst>
              <a:path w="51" h="13">
                <a:moveTo>
                  <a:pt x="0" y="0"/>
                </a:moveTo>
                <a:cubicBezTo>
                  <a:pt x="12" y="5"/>
                  <a:pt x="25" y="7"/>
                  <a:pt x="38" y="8"/>
                </a:cubicBezTo>
                <a:cubicBezTo>
                  <a:pt x="42" y="9"/>
                  <a:pt x="49" y="9"/>
                  <a:pt x="51" y="13"/>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0" name="Freeform 85"/>
          <p:cNvSpPr>
            <a:spLocks/>
          </p:cNvSpPr>
          <p:nvPr/>
        </p:nvSpPr>
        <p:spPr bwMode="auto">
          <a:xfrm>
            <a:off x="5960383" y="3914656"/>
            <a:ext cx="64299" cy="19043"/>
          </a:xfrm>
          <a:custGeom>
            <a:avLst/>
            <a:gdLst>
              <a:gd name="T0" fmla="*/ 0 w 54"/>
              <a:gd name="T1" fmla="*/ 0 h 16"/>
              <a:gd name="T2" fmla="*/ 54 w 54"/>
              <a:gd name="T3" fmla="*/ 16 h 16"/>
              <a:gd name="T4" fmla="*/ 0 60000 65536"/>
              <a:gd name="T5" fmla="*/ 0 60000 65536"/>
              <a:gd name="T6" fmla="*/ 0 w 54"/>
              <a:gd name="T7" fmla="*/ 0 h 16"/>
              <a:gd name="T8" fmla="*/ 54 w 54"/>
              <a:gd name="T9" fmla="*/ 16 h 16"/>
            </a:gdLst>
            <a:ahLst/>
            <a:cxnLst>
              <a:cxn ang="T4">
                <a:pos x="T0" y="T1"/>
              </a:cxn>
              <a:cxn ang="T5">
                <a:pos x="T2" y="T3"/>
              </a:cxn>
            </a:cxnLst>
            <a:rect l="T6" t="T7" r="T8" b="T9"/>
            <a:pathLst>
              <a:path w="54" h="16">
                <a:moveTo>
                  <a:pt x="0" y="0"/>
                </a:moveTo>
                <a:cubicBezTo>
                  <a:pt x="14" y="11"/>
                  <a:pt x="36" y="16"/>
                  <a:pt x="54" y="1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1" name="Freeform 86"/>
          <p:cNvSpPr>
            <a:spLocks/>
          </p:cNvSpPr>
          <p:nvPr/>
        </p:nvSpPr>
        <p:spPr bwMode="auto">
          <a:xfrm>
            <a:off x="6055640" y="3865858"/>
            <a:ext cx="21433" cy="70221"/>
          </a:xfrm>
          <a:custGeom>
            <a:avLst/>
            <a:gdLst>
              <a:gd name="T0" fmla="*/ 18 w 18"/>
              <a:gd name="T1" fmla="*/ 0 h 59"/>
              <a:gd name="T2" fmla="*/ 11 w 18"/>
              <a:gd name="T3" fmla="*/ 19 h 59"/>
              <a:gd name="T4" fmla="*/ 3 w 18"/>
              <a:gd name="T5" fmla="*/ 48 h 59"/>
              <a:gd name="T6" fmla="*/ 0 w 18"/>
              <a:gd name="T7" fmla="*/ 59 h 59"/>
              <a:gd name="T8" fmla="*/ 0 60000 65536"/>
              <a:gd name="T9" fmla="*/ 0 60000 65536"/>
              <a:gd name="T10" fmla="*/ 0 60000 65536"/>
              <a:gd name="T11" fmla="*/ 0 60000 65536"/>
              <a:gd name="T12" fmla="*/ 0 w 18"/>
              <a:gd name="T13" fmla="*/ 0 h 59"/>
              <a:gd name="T14" fmla="*/ 18 w 18"/>
              <a:gd name="T15" fmla="*/ 59 h 59"/>
            </a:gdLst>
            <a:ahLst/>
            <a:cxnLst>
              <a:cxn ang="T8">
                <a:pos x="T0" y="T1"/>
              </a:cxn>
              <a:cxn ang="T9">
                <a:pos x="T2" y="T3"/>
              </a:cxn>
              <a:cxn ang="T10">
                <a:pos x="T4" y="T5"/>
              </a:cxn>
              <a:cxn ang="T11">
                <a:pos x="T6" y="T7"/>
              </a:cxn>
            </a:cxnLst>
            <a:rect l="T12" t="T13" r="T14" b="T15"/>
            <a:pathLst>
              <a:path w="18" h="59">
                <a:moveTo>
                  <a:pt x="18" y="0"/>
                </a:moveTo>
                <a:cubicBezTo>
                  <a:pt x="16" y="7"/>
                  <a:pt x="14" y="13"/>
                  <a:pt x="11" y="19"/>
                </a:cubicBezTo>
                <a:cubicBezTo>
                  <a:pt x="10" y="31"/>
                  <a:pt x="6" y="35"/>
                  <a:pt x="3" y="48"/>
                </a:cubicBezTo>
                <a:cubicBezTo>
                  <a:pt x="2" y="52"/>
                  <a:pt x="0" y="59"/>
                  <a:pt x="0" y="59"/>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2" name="Freeform 87"/>
          <p:cNvSpPr>
            <a:spLocks/>
          </p:cNvSpPr>
          <p:nvPr/>
        </p:nvSpPr>
        <p:spPr bwMode="auto">
          <a:xfrm>
            <a:off x="6093743" y="3865858"/>
            <a:ext cx="13098" cy="67841"/>
          </a:xfrm>
          <a:custGeom>
            <a:avLst/>
            <a:gdLst>
              <a:gd name="T0" fmla="*/ 11 w 11"/>
              <a:gd name="T1" fmla="*/ 0 h 57"/>
              <a:gd name="T2" fmla="*/ 0 w 11"/>
              <a:gd name="T3" fmla="*/ 57 h 57"/>
              <a:gd name="T4" fmla="*/ 0 60000 65536"/>
              <a:gd name="T5" fmla="*/ 0 60000 65536"/>
              <a:gd name="T6" fmla="*/ 0 w 11"/>
              <a:gd name="T7" fmla="*/ 0 h 57"/>
              <a:gd name="T8" fmla="*/ 11 w 11"/>
              <a:gd name="T9" fmla="*/ 57 h 57"/>
            </a:gdLst>
            <a:ahLst/>
            <a:cxnLst>
              <a:cxn ang="T4">
                <a:pos x="T0" y="T1"/>
              </a:cxn>
              <a:cxn ang="T5">
                <a:pos x="T2" y="T3"/>
              </a:cxn>
            </a:cxnLst>
            <a:rect l="T6" t="T7" r="T8" b="T9"/>
            <a:pathLst>
              <a:path w="11" h="57">
                <a:moveTo>
                  <a:pt x="11" y="0"/>
                </a:moveTo>
                <a:cubicBezTo>
                  <a:pt x="7" y="19"/>
                  <a:pt x="0" y="37"/>
                  <a:pt x="0" y="57"/>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3" name="Freeform 88"/>
          <p:cNvSpPr>
            <a:spLocks/>
          </p:cNvSpPr>
          <p:nvPr/>
        </p:nvSpPr>
        <p:spPr bwMode="auto">
          <a:xfrm>
            <a:off x="6121130" y="3867048"/>
            <a:ext cx="14289" cy="63080"/>
          </a:xfrm>
          <a:custGeom>
            <a:avLst/>
            <a:gdLst>
              <a:gd name="T0" fmla="*/ 12 w 12"/>
              <a:gd name="T1" fmla="*/ 0 h 53"/>
              <a:gd name="T2" fmla="*/ 4 w 12"/>
              <a:gd name="T3" fmla="*/ 20 h 53"/>
              <a:gd name="T4" fmla="*/ 1 w 12"/>
              <a:gd name="T5" fmla="*/ 53 h 53"/>
              <a:gd name="T6" fmla="*/ 0 60000 65536"/>
              <a:gd name="T7" fmla="*/ 0 60000 65536"/>
              <a:gd name="T8" fmla="*/ 0 60000 65536"/>
              <a:gd name="T9" fmla="*/ 0 w 12"/>
              <a:gd name="T10" fmla="*/ 0 h 53"/>
              <a:gd name="T11" fmla="*/ 12 w 12"/>
              <a:gd name="T12" fmla="*/ 53 h 53"/>
            </a:gdLst>
            <a:ahLst/>
            <a:cxnLst>
              <a:cxn ang="T6">
                <a:pos x="T0" y="T1"/>
              </a:cxn>
              <a:cxn ang="T7">
                <a:pos x="T2" y="T3"/>
              </a:cxn>
              <a:cxn ang="T8">
                <a:pos x="T4" y="T5"/>
              </a:cxn>
            </a:cxnLst>
            <a:rect l="T9" t="T10" r="T11" b="T12"/>
            <a:pathLst>
              <a:path w="12" h="53">
                <a:moveTo>
                  <a:pt x="12" y="0"/>
                </a:moveTo>
                <a:cubicBezTo>
                  <a:pt x="7" y="7"/>
                  <a:pt x="7" y="13"/>
                  <a:pt x="4" y="20"/>
                </a:cubicBezTo>
                <a:cubicBezTo>
                  <a:pt x="0" y="42"/>
                  <a:pt x="1" y="31"/>
                  <a:pt x="1" y="53"/>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4" name="Freeform 89"/>
          <p:cNvSpPr>
            <a:spLocks/>
          </p:cNvSpPr>
          <p:nvPr/>
        </p:nvSpPr>
        <p:spPr bwMode="auto">
          <a:xfrm>
            <a:off x="6162805" y="3867048"/>
            <a:ext cx="66680" cy="16663"/>
          </a:xfrm>
          <a:custGeom>
            <a:avLst/>
            <a:gdLst>
              <a:gd name="T0" fmla="*/ 0 w 56"/>
              <a:gd name="T1" fmla="*/ 0 h 14"/>
              <a:gd name="T2" fmla="*/ 32 w 56"/>
              <a:gd name="T3" fmla="*/ 6 h 14"/>
              <a:gd name="T4" fmla="*/ 46 w 56"/>
              <a:gd name="T5" fmla="*/ 11 h 14"/>
              <a:gd name="T6" fmla="*/ 56 w 56"/>
              <a:gd name="T7" fmla="*/ 14 h 14"/>
              <a:gd name="T8" fmla="*/ 0 60000 65536"/>
              <a:gd name="T9" fmla="*/ 0 60000 65536"/>
              <a:gd name="T10" fmla="*/ 0 60000 65536"/>
              <a:gd name="T11" fmla="*/ 0 60000 65536"/>
              <a:gd name="T12" fmla="*/ 0 w 56"/>
              <a:gd name="T13" fmla="*/ 0 h 14"/>
              <a:gd name="T14" fmla="*/ 56 w 56"/>
              <a:gd name="T15" fmla="*/ 14 h 14"/>
            </a:gdLst>
            <a:ahLst/>
            <a:cxnLst>
              <a:cxn ang="T8">
                <a:pos x="T0" y="T1"/>
              </a:cxn>
              <a:cxn ang="T9">
                <a:pos x="T2" y="T3"/>
              </a:cxn>
              <a:cxn ang="T10">
                <a:pos x="T4" y="T5"/>
              </a:cxn>
              <a:cxn ang="T11">
                <a:pos x="T6" y="T7"/>
              </a:cxn>
            </a:cxnLst>
            <a:rect l="T12" t="T13" r="T14" b="T15"/>
            <a:pathLst>
              <a:path w="56" h="14">
                <a:moveTo>
                  <a:pt x="0" y="0"/>
                </a:moveTo>
                <a:cubicBezTo>
                  <a:pt x="9" y="5"/>
                  <a:pt x="22" y="5"/>
                  <a:pt x="32" y="6"/>
                </a:cubicBezTo>
                <a:cubicBezTo>
                  <a:pt x="42" y="11"/>
                  <a:pt x="37" y="10"/>
                  <a:pt x="46" y="11"/>
                </a:cubicBezTo>
                <a:cubicBezTo>
                  <a:pt x="49" y="12"/>
                  <a:pt x="56" y="14"/>
                  <a:pt x="56" y="1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5" name="Freeform 90"/>
          <p:cNvSpPr>
            <a:spLocks/>
          </p:cNvSpPr>
          <p:nvPr/>
        </p:nvSpPr>
        <p:spPr bwMode="auto">
          <a:xfrm>
            <a:off x="6160423" y="3890852"/>
            <a:ext cx="53582" cy="16663"/>
          </a:xfrm>
          <a:custGeom>
            <a:avLst/>
            <a:gdLst>
              <a:gd name="T0" fmla="*/ 0 w 45"/>
              <a:gd name="T1" fmla="*/ 0 h 14"/>
              <a:gd name="T2" fmla="*/ 30 w 45"/>
              <a:gd name="T3" fmla="*/ 9 h 14"/>
              <a:gd name="T4" fmla="*/ 45 w 45"/>
              <a:gd name="T5" fmla="*/ 14 h 14"/>
              <a:gd name="T6" fmla="*/ 0 60000 65536"/>
              <a:gd name="T7" fmla="*/ 0 60000 65536"/>
              <a:gd name="T8" fmla="*/ 0 60000 65536"/>
              <a:gd name="T9" fmla="*/ 0 w 45"/>
              <a:gd name="T10" fmla="*/ 0 h 14"/>
              <a:gd name="T11" fmla="*/ 45 w 45"/>
              <a:gd name="T12" fmla="*/ 14 h 14"/>
            </a:gdLst>
            <a:ahLst/>
            <a:cxnLst>
              <a:cxn ang="T6">
                <a:pos x="T0" y="T1"/>
              </a:cxn>
              <a:cxn ang="T7">
                <a:pos x="T2" y="T3"/>
              </a:cxn>
              <a:cxn ang="T8">
                <a:pos x="T4" y="T5"/>
              </a:cxn>
            </a:cxnLst>
            <a:rect l="T9" t="T10" r="T11" b="T12"/>
            <a:pathLst>
              <a:path w="45" h="14">
                <a:moveTo>
                  <a:pt x="0" y="0"/>
                </a:moveTo>
                <a:cubicBezTo>
                  <a:pt x="10" y="2"/>
                  <a:pt x="19" y="7"/>
                  <a:pt x="30" y="9"/>
                </a:cubicBezTo>
                <a:cubicBezTo>
                  <a:pt x="35" y="11"/>
                  <a:pt x="45" y="14"/>
                  <a:pt x="45" y="1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6" name="Freeform 91"/>
          <p:cNvSpPr>
            <a:spLocks/>
          </p:cNvSpPr>
          <p:nvPr/>
        </p:nvSpPr>
        <p:spPr bwMode="auto">
          <a:xfrm>
            <a:off x="6144944" y="3915846"/>
            <a:ext cx="55964" cy="22614"/>
          </a:xfrm>
          <a:custGeom>
            <a:avLst/>
            <a:gdLst>
              <a:gd name="T0" fmla="*/ 0 w 47"/>
              <a:gd name="T1" fmla="*/ 0 h 19"/>
              <a:gd name="T2" fmla="*/ 21 w 47"/>
              <a:gd name="T3" fmla="*/ 8 h 19"/>
              <a:gd name="T4" fmla="*/ 39 w 47"/>
              <a:gd name="T5" fmla="*/ 15 h 19"/>
              <a:gd name="T6" fmla="*/ 47 w 47"/>
              <a:gd name="T7" fmla="*/ 18 h 19"/>
              <a:gd name="T8" fmla="*/ 0 60000 65536"/>
              <a:gd name="T9" fmla="*/ 0 60000 65536"/>
              <a:gd name="T10" fmla="*/ 0 60000 65536"/>
              <a:gd name="T11" fmla="*/ 0 60000 65536"/>
              <a:gd name="T12" fmla="*/ 0 w 47"/>
              <a:gd name="T13" fmla="*/ 0 h 19"/>
              <a:gd name="T14" fmla="*/ 47 w 47"/>
              <a:gd name="T15" fmla="*/ 19 h 19"/>
            </a:gdLst>
            <a:ahLst/>
            <a:cxnLst>
              <a:cxn ang="T8">
                <a:pos x="T0" y="T1"/>
              </a:cxn>
              <a:cxn ang="T9">
                <a:pos x="T2" y="T3"/>
              </a:cxn>
              <a:cxn ang="T10">
                <a:pos x="T4" y="T5"/>
              </a:cxn>
              <a:cxn ang="T11">
                <a:pos x="T6" y="T7"/>
              </a:cxn>
            </a:cxnLst>
            <a:rect l="T12" t="T13" r="T14" b="T15"/>
            <a:pathLst>
              <a:path w="47" h="19">
                <a:moveTo>
                  <a:pt x="0" y="0"/>
                </a:moveTo>
                <a:cubicBezTo>
                  <a:pt x="8" y="2"/>
                  <a:pt x="13" y="7"/>
                  <a:pt x="21" y="8"/>
                </a:cubicBezTo>
                <a:cubicBezTo>
                  <a:pt x="27" y="12"/>
                  <a:pt x="32" y="13"/>
                  <a:pt x="39" y="15"/>
                </a:cubicBezTo>
                <a:cubicBezTo>
                  <a:pt x="44" y="19"/>
                  <a:pt x="41" y="18"/>
                  <a:pt x="47" y="1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7" name="Freeform 92"/>
          <p:cNvSpPr>
            <a:spLocks/>
          </p:cNvSpPr>
          <p:nvPr/>
        </p:nvSpPr>
        <p:spPr bwMode="auto">
          <a:xfrm>
            <a:off x="6224722" y="3865858"/>
            <a:ext cx="36912" cy="77363"/>
          </a:xfrm>
          <a:custGeom>
            <a:avLst/>
            <a:gdLst>
              <a:gd name="T0" fmla="*/ 31 w 31"/>
              <a:gd name="T1" fmla="*/ 0 h 65"/>
              <a:gd name="T2" fmla="*/ 13 w 31"/>
              <a:gd name="T3" fmla="*/ 33 h 65"/>
              <a:gd name="T4" fmla="*/ 5 w 31"/>
              <a:gd name="T5" fmla="*/ 49 h 65"/>
              <a:gd name="T6" fmla="*/ 4 w 31"/>
              <a:gd name="T7" fmla="*/ 62 h 65"/>
              <a:gd name="T8" fmla="*/ 0 w 31"/>
              <a:gd name="T9" fmla="*/ 64 h 65"/>
              <a:gd name="T10" fmla="*/ 0 w 31"/>
              <a:gd name="T11" fmla="*/ 65 h 65"/>
              <a:gd name="T12" fmla="*/ 0 60000 65536"/>
              <a:gd name="T13" fmla="*/ 0 60000 65536"/>
              <a:gd name="T14" fmla="*/ 0 60000 65536"/>
              <a:gd name="T15" fmla="*/ 0 60000 65536"/>
              <a:gd name="T16" fmla="*/ 0 60000 65536"/>
              <a:gd name="T17" fmla="*/ 0 60000 65536"/>
              <a:gd name="T18" fmla="*/ 0 w 31"/>
              <a:gd name="T19" fmla="*/ 0 h 65"/>
              <a:gd name="T20" fmla="*/ 31 w 3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1" h="65">
                <a:moveTo>
                  <a:pt x="31" y="0"/>
                </a:moveTo>
                <a:cubicBezTo>
                  <a:pt x="27" y="11"/>
                  <a:pt x="18" y="22"/>
                  <a:pt x="13" y="33"/>
                </a:cubicBezTo>
                <a:cubicBezTo>
                  <a:pt x="12" y="39"/>
                  <a:pt x="8" y="43"/>
                  <a:pt x="5" y="49"/>
                </a:cubicBezTo>
                <a:cubicBezTo>
                  <a:pt x="5" y="53"/>
                  <a:pt x="5" y="58"/>
                  <a:pt x="4" y="62"/>
                </a:cubicBezTo>
                <a:cubicBezTo>
                  <a:pt x="4" y="63"/>
                  <a:pt x="1" y="63"/>
                  <a:pt x="0" y="64"/>
                </a:cubicBezTo>
                <a:lnTo>
                  <a:pt x="0" y="65"/>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8" name="Freeform 93"/>
          <p:cNvSpPr>
            <a:spLocks/>
          </p:cNvSpPr>
          <p:nvPr/>
        </p:nvSpPr>
        <p:spPr bwMode="auto">
          <a:xfrm>
            <a:off x="6274732" y="3863477"/>
            <a:ext cx="15479" cy="69031"/>
          </a:xfrm>
          <a:custGeom>
            <a:avLst/>
            <a:gdLst>
              <a:gd name="T0" fmla="*/ 13 w 13"/>
              <a:gd name="T1" fmla="*/ 0 h 58"/>
              <a:gd name="T2" fmla="*/ 3 w 13"/>
              <a:gd name="T3" fmla="*/ 31 h 58"/>
              <a:gd name="T4" fmla="*/ 0 w 13"/>
              <a:gd name="T5" fmla="*/ 58 h 58"/>
              <a:gd name="T6" fmla="*/ 0 60000 65536"/>
              <a:gd name="T7" fmla="*/ 0 60000 65536"/>
              <a:gd name="T8" fmla="*/ 0 60000 65536"/>
              <a:gd name="T9" fmla="*/ 0 w 13"/>
              <a:gd name="T10" fmla="*/ 0 h 58"/>
              <a:gd name="T11" fmla="*/ 13 w 13"/>
              <a:gd name="T12" fmla="*/ 58 h 58"/>
            </a:gdLst>
            <a:ahLst/>
            <a:cxnLst>
              <a:cxn ang="T6">
                <a:pos x="T0" y="T1"/>
              </a:cxn>
              <a:cxn ang="T7">
                <a:pos x="T2" y="T3"/>
              </a:cxn>
              <a:cxn ang="T8">
                <a:pos x="T4" y="T5"/>
              </a:cxn>
            </a:cxnLst>
            <a:rect l="T9" t="T10" r="T11" b="T12"/>
            <a:pathLst>
              <a:path w="13" h="58">
                <a:moveTo>
                  <a:pt x="13" y="0"/>
                </a:moveTo>
                <a:cubicBezTo>
                  <a:pt x="3" y="6"/>
                  <a:pt x="7" y="20"/>
                  <a:pt x="3" y="31"/>
                </a:cubicBezTo>
                <a:cubicBezTo>
                  <a:pt x="0" y="56"/>
                  <a:pt x="0" y="47"/>
                  <a:pt x="0" y="5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49" name="Freeform 94"/>
          <p:cNvSpPr>
            <a:spLocks/>
          </p:cNvSpPr>
          <p:nvPr/>
        </p:nvSpPr>
        <p:spPr bwMode="auto">
          <a:xfrm>
            <a:off x="6303309" y="3862287"/>
            <a:ext cx="25005" cy="67841"/>
          </a:xfrm>
          <a:custGeom>
            <a:avLst/>
            <a:gdLst>
              <a:gd name="T0" fmla="*/ 21 w 21"/>
              <a:gd name="T1" fmla="*/ 0 h 57"/>
              <a:gd name="T2" fmla="*/ 6 w 21"/>
              <a:gd name="T3" fmla="*/ 33 h 57"/>
              <a:gd name="T4" fmla="*/ 0 w 21"/>
              <a:gd name="T5" fmla="*/ 57 h 57"/>
              <a:gd name="T6" fmla="*/ 0 60000 65536"/>
              <a:gd name="T7" fmla="*/ 0 60000 65536"/>
              <a:gd name="T8" fmla="*/ 0 60000 65536"/>
              <a:gd name="T9" fmla="*/ 0 w 21"/>
              <a:gd name="T10" fmla="*/ 0 h 57"/>
              <a:gd name="T11" fmla="*/ 21 w 21"/>
              <a:gd name="T12" fmla="*/ 57 h 57"/>
            </a:gdLst>
            <a:ahLst/>
            <a:cxnLst>
              <a:cxn ang="T6">
                <a:pos x="T0" y="T1"/>
              </a:cxn>
              <a:cxn ang="T7">
                <a:pos x="T2" y="T3"/>
              </a:cxn>
              <a:cxn ang="T8">
                <a:pos x="T4" y="T5"/>
              </a:cxn>
            </a:cxnLst>
            <a:rect l="T9" t="T10" r="T11" b="T12"/>
            <a:pathLst>
              <a:path w="21" h="57">
                <a:moveTo>
                  <a:pt x="21" y="0"/>
                </a:moveTo>
                <a:cubicBezTo>
                  <a:pt x="11" y="6"/>
                  <a:pt x="10" y="23"/>
                  <a:pt x="6" y="33"/>
                </a:cubicBezTo>
                <a:cubicBezTo>
                  <a:pt x="5" y="41"/>
                  <a:pt x="0" y="49"/>
                  <a:pt x="0" y="57"/>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0" name="Line 115"/>
          <p:cNvSpPr>
            <a:spLocks noChangeShapeType="1"/>
          </p:cNvSpPr>
          <p:nvPr/>
        </p:nvSpPr>
        <p:spPr bwMode="auto">
          <a:xfrm>
            <a:off x="5472188" y="3953932"/>
            <a:ext cx="210757" cy="1428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1" name="Line 116"/>
          <p:cNvSpPr>
            <a:spLocks noChangeShapeType="1"/>
          </p:cNvSpPr>
          <p:nvPr/>
        </p:nvSpPr>
        <p:spPr bwMode="auto">
          <a:xfrm>
            <a:off x="5466235" y="4228867"/>
            <a:ext cx="251241" cy="1142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2" name="Line 117"/>
          <p:cNvSpPr>
            <a:spLocks noChangeShapeType="1"/>
          </p:cNvSpPr>
          <p:nvPr/>
        </p:nvSpPr>
        <p:spPr bwMode="auto">
          <a:xfrm>
            <a:off x="5466235" y="4451433"/>
            <a:ext cx="228618" cy="1202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15000"/>
              </a:lnSpc>
              <a:spcBef>
                <a:spcPct val="15000"/>
              </a:spcBef>
              <a:spcAft>
                <a:spcPct val="1500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53" name="Text Box 4"/>
          <p:cNvSpPr txBox="1">
            <a:spLocks noChangeArrowheads="1"/>
          </p:cNvSpPr>
          <p:nvPr/>
        </p:nvSpPr>
        <p:spPr bwMode="auto">
          <a:xfrm>
            <a:off x="4287394" y="2100330"/>
            <a:ext cx="1975103" cy="1378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10000"/>
              </a:lnSpc>
              <a:spcBef>
                <a:spcPct val="0"/>
              </a:spcBef>
              <a:spcAft>
                <a:spcPct val="0"/>
              </a:spcAft>
              <a:buClr>
                <a:srgbClr val="A50021"/>
              </a:buClr>
              <a:buSzTx/>
              <a:buFontTx/>
              <a:buChar char="•"/>
              <a:tabLst/>
              <a:defRPr/>
            </a:pPr>
            <a:r>
              <a:rPr kumimoji="1" lang="en-US" altLang="zh-CN"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 1h</a:t>
            </a:r>
            <a:r>
              <a:rPr kumimoji="1" lang="zh-CN" altLang="en-US"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沉降</a:t>
            </a:r>
            <a:r>
              <a:rPr kumimoji="1" lang="en-US" altLang="zh-CN"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30.5cm</a:t>
            </a:r>
          </a:p>
          <a:p>
            <a:pPr marL="0" marR="0" lvl="0" indent="0" algn="l" defTabSz="914400" rtl="0" eaLnBrk="1" fontAlgn="base" latinLnBrk="0" hangingPunct="1">
              <a:lnSpc>
                <a:spcPct val="110000"/>
              </a:lnSpc>
              <a:spcBef>
                <a:spcPct val="0"/>
              </a:spcBef>
              <a:spcAft>
                <a:spcPct val="0"/>
              </a:spcAft>
              <a:buClr>
                <a:srgbClr val="A50021"/>
              </a:buClr>
              <a:buSzTx/>
              <a:buFontTx/>
              <a:buChar char="•"/>
              <a:tabLst/>
              <a:defRPr/>
            </a:pPr>
            <a:r>
              <a:rPr kumimoji="1" lang="en-US" altLang="zh-CN"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 24h</a:t>
            </a:r>
            <a:r>
              <a:rPr kumimoji="1" lang="zh-CN" altLang="en-US"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倾斜</a:t>
            </a:r>
            <a:r>
              <a:rPr kumimoji="1" lang="en-US" altLang="zh-CN"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27°</a:t>
            </a:r>
          </a:p>
          <a:p>
            <a:pPr marL="0" marR="0" lvl="0" indent="0" algn="l" defTabSz="914400" rtl="0" eaLnBrk="1" fontAlgn="base" latinLnBrk="0" hangingPunct="1">
              <a:lnSpc>
                <a:spcPct val="110000"/>
              </a:lnSpc>
              <a:spcBef>
                <a:spcPct val="0"/>
              </a:spcBef>
              <a:spcAft>
                <a:spcPct val="0"/>
              </a:spcAft>
              <a:buClr>
                <a:srgbClr val="A50021"/>
              </a:buClr>
              <a:buSzTx/>
              <a:buFontTx/>
              <a:buChar char="•"/>
              <a:tabLst/>
              <a:defRPr/>
            </a:pPr>
            <a:r>
              <a:rPr kumimoji="1" lang="zh-CN" altLang="en-US"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 西端下沉</a:t>
            </a:r>
            <a:r>
              <a:rPr kumimoji="1" lang="en-US" altLang="zh-CN"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7.32m</a:t>
            </a:r>
          </a:p>
          <a:p>
            <a:pPr marL="0" marR="0" lvl="0" indent="0" algn="l" defTabSz="914400" rtl="0" eaLnBrk="1" fontAlgn="base" latinLnBrk="0" hangingPunct="1">
              <a:lnSpc>
                <a:spcPct val="110000"/>
              </a:lnSpc>
              <a:spcBef>
                <a:spcPct val="0"/>
              </a:spcBef>
              <a:spcAft>
                <a:spcPct val="0"/>
              </a:spcAft>
              <a:buClr>
                <a:srgbClr val="A50021"/>
              </a:buClr>
              <a:buSzTx/>
              <a:buFontTx/>
              <a:buChar char="•"/>
              <a:tabLst/>
              <a:defRPr/>
            </a:pPr>
            <a:r>
              <a:rPr kumimoji="1" lang="zh-CN" altLang="en-US"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 东端上抬</a:t>
            </a:r>
            <a:r>
              <a:rPr kumimoji="1" lang="en-US" altLang="zh-CN" sz="19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1.52m</a:t>
            </a:r>
          </a:p>
        </p:txBody>
      </p:sp>
      <p:sp>
        <p:nvSpPr>
          <p:cNvPr id="88" name="Text Box 4"/>
          <p:cNvSpPr txBox="1">
            <a:spLocks noChangeArrowheads="1"/>
          </p:cNvSpPr>
          <p:nvPr/>
        </p:nvSpPr>
        <p:spPr bwMode="auto">
          <a:xfrm>
            <a:off x="1222375" y="1791530"/>
            <a:ext cx="23050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10000"/>
              </a:lnSpc>
              <a:spcBef>
                <a:spcPct val="0"/>
              </a:spcBef>
              <a:spcAft>
                <a:spcPct val="0"/>
              </a:spcAft>
              <a:buClr>
                <a:srgbClr val="A50021"/>
              </a:buClr>
              <a:buSzTx/>
              <a:tabLst/>
              <a:defRPr/>
            </a:pPr>
            <a:r>
              <a:rPr kumimoji="1" lang="zh-CN" altLang="en-US" sz="2000" b="1" i="0" u="none" strike="noStrike" kern="1200" cap="none" spc="0" normalizeH="0" baseline="0" noProof="0" dirty="0">
                <a:ln>
                  <a:noFill/>
                </a:ln>
                <a:solidFill>
                  <a:srgbClr val="000066"/>
                </a:solidFill>
                <a:effectLst/>
                <a:uLnTx/>
                <a:uFillTx/>
                <a:latin typeface="Times New Roman" pitchFamily="18" charset="0"/>
                <a:ea typeface="幼圆" pitchFamily="49" charset="-122"/>
                <a:cs typeface="+mn-cs"/>
              </a:rPr>
              <a:t>上部筒仓完好无损</a:t>
            </a:r>
          </a:p>
        </p:txBody>
      </p:sp>
      <p:sp>
        <p:nvSpPr>
          <p:cNvPr id="87" name="Text Box 5"/>
          <p:cNvSpPr txBox="1">
            <a:spLocks noChangeArrowheads="1"/>
          </p:cNvSpPr>
          <p:nvPr/>
        </p:nvSpPr>
        <p:spPr bwMode="auto">
          <a:xfrm>
            <a:off x="1486232" y="5007868"/>
            <a:ext cx="6603335"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marL="342900" marR="0" lvl="0" indent="-342900" algn="l" defTabSz="914400" rtl="0" eaLnBrk="1" fontAlgn="base" latinLnBrk="0" hangingPunct="1">
              <a:lnSpc>
                <a:spcPct val="115000"/>
              </a:lnSpc>
              <a:spcBef>
                <a:spcPct val="15000"/>
              </a:spcBef>
              <a:spcAft>
                <a:spcPct val="15000"/>
              </a:spcAft>
              <a:buClr>
                <a:srgbClr val="C00000"/>
              </a:buClr>
              <a:buSzPct val="135000"/>
              <a:buFont typeface="Wingdings" panose="05000000000000000000" pitchFamily="2" charset="2"/>
              <a:buChar char=""/>
              <a:tabLst/>
              <a:defRPr/>
            </a:pPr>
            <a:r>
              <a:rPr kumimoji="1" lang="zh-CN" altLang="en-US" sz="2400" b="1" i="0" u="none" strike="noStrike" kern="1200" cap="none" spc="0" normalizeH="0" baseline="0" noProof="0" dirty="0">
                <a:ln>
                  <a:noFill/>
                </a:ln>
                <a:solidFill>
                  <a:srgbClr val="CC0000"/>
                </a:solidFill>
                <a:effectLst/>
                <a:uLnTx/>
                <a:uFillTx/>
                <a:latin typeface="幼圆" pitchFamily="49" charset="-122"/>
                <a:ea typeface="幼圆" pitchFamily="49" charset="-122"/>
                <a:cs typeface="+mn-cs"/>
              </a:rPr>
              <a:t> 谷仓地基因超载发生强度破坏而滑动！！</a:t>
            </a:r>
            <a:endParaRPr kumimoji="1" lang="zh-CN" altLang="en-US" sz="2400" b="1" i="0" u="none" strike="noStrike" kern="1200" cap="none" spc="0" normalizeH="0" baseline="0" noProof="0" dirty="0">
              <a:ln>
                <a:noFill/>
              </a:ln>
              <a:solidFill>
                <a:prstClr val="black"/>
              </a:solidFill>
              <a:effectLst/>
              <a:uLnTx/>
              <a:uFillTx/>
              <a:latin typeface="幼圆" pitchFamily="49" charset="-122"/>
              <a:ea typeface="幼圆" pitchFamily="49" charset="-122"/>
              <a:cs typeface="+mn-cs"/>
            </a:endParaRPr>
          </a:p>
        </p:txBody>
      </p:sp>
      <p:cxnSp>
        <p:nvCxnSpPr>
          <p:cNvPr id="3" name="直接连接符 2"/>
          <p:cNvCxnSpPr/>
          <p:nvPr/>
        </p:nvCxnSpPr>
        <p:spPr>
          <a:xfrm flipV="1">
            <a:off x="1362456" y="2197739"/>
            <a:ext cx="557784" cy="75895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9"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Tree>
    <p:extLst>
      <p:ext uri="{BB962C8B-B14F-4D97-AF65-F5344CB8AC3E}">
        <p14:creationId xmlns:p14="http://schemas.microsoft.com/office/powerpoint/2010/main" val="302706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left)">
                                      <p:cBhvr>
                                        <p:cTn id="7"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591058" y="4334193"/>
            <a:ext cx="353013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4000" b="1" i="0" u="none" strike="noStrike" kern="1200" cap="none" spc="0" normalizeH="0" baseline="0" noProof="0" dirty="0">
                <a:ln>
                  <a:noFill/>
                </a:ln>
                <a:solidFill>
                  <a:srgbClr val="000066"/>
                </a:solidFill>
                <a:effectLst/>
                <a:uLnTx/>
                <a:uFillTx/>
                <a:latin typeface="黑体" pitchFamily="2" charset="-122"/>
                <a:ea typeface="黑体" pitchFamily="2" charset="-122"/>
                <a:cs typeface="+mn-cs"/>
              </a:rPr>
              <a:t>地基破坏实例 </a:t>
            </a:r>
          </a:p>
        </p:txBody>
      </p:sp>
      <p:graphicFrame>
        <p:nvGraphicFramePr>
          <p:cNvPr id="229" name="Object 3"/>
          <p:cNvGraphicFramePr>
            <a:graphicFrameLocks noChangeAspect="1"/>
          </p:cNvGraphicFramePr>
          <p:nvPr>
            <p:extLst>
              <p:ext uri="{D42A27DB-BD31-4B8C-83A1-F6EECF244321}">
                <p14:modId xmlns:p14="http://schemas.microsoft.com/office/powerpoint/2010/main" val="1455795341"/>
              </p:ext>
            </p:extLst>
          </p:nvPr>
        </p:nvGraphicFramePr>
        <p:xfrm>
          <a:off x="4623816" y="3897280"/>
          <a:ext cx="4094812" cy="2318703"/>
        </p:xfrm>
        <a:graphic>
          <a:graphicData uri="http://schemas.openxmlformats.org/presentationml/2006/ole">
            <mc:AlternateContent xmlns:mc="http://schemas.openxmlformats.org/markup-compatibility/2006">
              <mc:Choice xmlns:v="urn:schemas-microsoft-com:vml" Requires="v">
                <p:oleObj spid="_x0000_s1793432" name="位图图像" r:id="rId4" imgW="5601482" imgH="3172268" progId="Paint.Picture">
                  <p:embed/>
                </p:oleObj>
              </mc:Choice>
              <mc:Fallback>
                <p:oleObj name="位图图像" r:id="rId4" imgW="5601482" imgH="3172268" progId="Paint.Picture">
                  <p:embed/>
                  <p:pic>
                    <p:nvPicPr>
                      <p:cNvPr id="717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3816" y="3897280"/>
                        <a:ext cx="4094812" cy="2318703"/>
                      </a:xfrm>
                      <a:prstGeom prst="rect">
                        <a:avLst/>
                      </a:prstGeom>
                      <a:noFill/>
                      <a:ln>
                        <a:noFill/>
                      </a:ln>
                      <a:effectLst/>
                      <a:extLst/>
                    </p:spPr>
                  </p:pic>
                </p:oleObj>
              </mc:Fallback>
            </mc:AlternateContent>
          </a:graphicData>
        </a:graphic>
      </p:graphicFrame>
      <p:sp>
        <p:nvSpPr>
          <p:cNvPr id="230" name="Rectangle 4"/>
          <p:cNvSpPr>
            <a:spLocks noRot="1" noChangeArrowheads="1"/>
          </p:cNvSpPr>
          <p:nvPr/>
        </p:nvSpPr>
        <p:spPr bwMode="auto">
          <a:xfrm>
            <a:off x="5321808" y="6268911"/>
            <a:ext cx="3209544" cy="451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zh-CN" altLang="en-US" sz="2000" b="1" dirty="0">
                <a:solidFill>
                  <a:srgbClr val="C00000"/>
                </a:solidFill>
                <a:latin typeface="幼圆" panose="02010509060101010101" pitchFamily="49" charset="-122"/>
                <a:ea typeface="幼圆" panose="02010509060101010101" pitchFamily="49" charset="-122"/>
                <a:sym typeface="Symbol" panose="05050102010706020507" pitchFamily="18" charset="2"/>
              </a:rPr>
              <a:t>黏土地基上某谷仓的破坏</a:t>
            </a:r>
            <a:endParaRPr lang="zh-CN" altLang="en-US" sz="2000" b="1" dirty="0">
              <a:solidFill>
                <a:srgbClr val="C00000"/>
              </a:solidFill>
              <a:latin typeface="幼圆" panose="02010509060101010101" pitchFamily="49" charset="-122"/>
              <a:ea typeface="幼圆" panose="02010509060101010101" pitchFamily="49" charset="-122"/>
            </a:endParaRPr>
          </a:p>
        </p:txBody>
      </p:sp>
      <p:graphicFrame>
        <p:nvGraphicFramePr>
          <p:cNvPr id="231" name="Object 5"/>
          <p:cNvGraphicFramePr>
            <a:graphicFrameLocks noChangeAspect="1"/>
          </p:cNvGraphicFramePr>
          <p:nvPr>
            <p:extLst>
              <p:ext uri="{D42A27DB-BD31-4B8C-83A1-F6EECF244321}">
                <p14:modId xmlns:p14="http://schemas.microsoft.com/office/powerpoint/2010/main" val="2555169775"/>
              </p:ext>
            </p:extLst>
          </p:nvPr>
        </p:nvGraphicFramePr>
        <p:xfrm>
          <a:off x="548640" y="561213"/>
          <a:ext cx="3493008" cy="2534730"/>
        </p:xfrm>
        <a:graphic>
          <a:graphicData uri="http://schemas.openxmlformats.org/presentationml/2006/ole">
            <mc:AlternateContent xmlns:mc="http://schemas.openxmlformats.org/markup-compatibility/2006">
              <mc:Choice xmlns:v="urn:schemas-microsoft-com:vml" Requires="v">
                <p:oleObj spid="_x0000_s1793433" name="位图图像" r:id="rId6" imgW="4723810" imgH="3428571" progId="Paint.Picture">
                  <p:embed/>
                </p:oleObj>
              </mc:Choice>
              <mc:Fallback>
                <p:oleObj name="位图图像" r:id="rId6" imgW="4723810" imgH="3428571" progId="Paint.Picture">
                  <p:embed/>
                  <p:pic>
                    <p:nvPicPr>
                      <p:cNvPr id="8196"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640" y="561213"/>
                        <a:ext cx="3493008" cy="2534730"/>
                      </a:xfrm>
                      <a:prstGeom prst="rect">
                        <a:avLst/>
                      </a:prstGeom>
                      <a:noFill/>
                      <a:ln>
                        <a:noFill/>
                      </a:ln>
                      <a:effectLst/>
                      <a:extLst/>
                    </p:spPr>
                  </p:pic>
                </p:oleObj>
              </mc:Fallback>
            </mc:AlternateContent>
          </a:graphicData>
        </a:graphic>
      </p:graphicFrame>
      <p:sp>
        <p:nvSpPr>
          <p:cNvPr id="232" name="Rectangle 4"/>
          <p:cNvSpPr>
            <a:spLocks noRot="1" noChangeArrowheads="1"/>
          </p:cNvSpPr>
          <p:nvPr/>
        </p:nvSpPr>
        <p:spPr bwMode="auto">
          <a:xfrm>
            <a:off x="353568" y="3267456"/>
            <a:ext cx="4319016" cy="42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zh-CN" altLang="en-US" sz="2000" b="1" dirty="0">
                <a:solidFill>
                  <a:srgbClr val="C00000"/>
                </a:solidFill>
                <a:latin typeface="幼圆" panose="02010509060101010101" pitchFamily="49" charset="-122"/>
                <a:ea typeface="幼圆" panose="02010509060101010101" pitchFamily="49" charset="-122"/>
              </a:rPr>
              <a:t>软黏土地基上水泥仓的倾覆 </a:t>
            </a:r>
            <a:r>
              <a:rPr kumimoji="1" lang="en-US" altLang="zh-CN" sz="2000" b="1" dirty="0">
                <a:solidFill>
                  <a:srgbClr val="C00000"/>
                </a:solidFill>
                <a:latin typeface="幼圆" panose="02010509060101010101" pitchFamily="49" charset="-122"/>
                <a:ea typeface="幼圆" panose="02010509060101010101" pitchFamily="49" charset="-122"/>
              </a:rPr>
              <a:t>(1940</a:t>
            </a:r>
            <a:r>
              <a:rPr kumimoji="1" lang="zh-CN" altLang="en-US" sz="2000" b="1" dirty="0">
                <a:solidFill>
                  <a:srgbClr val="C00000"/>
                </a:solidFill>
                <a:latin typeface="幼圆" panose="02010509060101010101" pitchFamily="49" charset="-122"/>
                <a:ea typeface="幼圆" panose="02010509060101010101" pitchFamily="49" charset="-122"/>
              </a:rPr>
              <a:t>年</a:t>
            </a:r>
            <a:r>
              <a:rPr kumimoji="1" lang="en-US" altLang="zh-CN" sz="2000" b="1" dirty="0">
                <a:solidFill>
                  <a:srgbClr val="C00000"/>
                </a:solidFill>
                <a:latin typeface="幼圆" panose="02010509060101010101" pitchFamily="49" charset="-122"/>
                <a:ea typeface="幼圆" panose="02010509060101010101" pitchFamily="49" charset="-122"/>
              </a:rPr>
              <a:t>)</a:t>
            </a:r>
            <a:endParaRPr lang="zh-CN" altLang="en-US" sz="2000" b="1" dirty="0">
              <a:solidFill>
                <a:srgbClr val="C00000"/>
              </a:solidFill>
              <a:latin typeface="幼圆" panose="02010509060101010101" pitchFamily="49" charset="-122"/>
              <a:ea typeface="幼圆" panose="02010509060101010101" pitchFamily="49" charset="-122"/>
              <a:sym typeface="Symbol" panose="05050102010706020507" pitchFamily="18" charset="2"/>
            </a:endParaRPr>
          </a:p>
        </p:txBody>
      </p:sp>
      <p:pic>
        <p:nvPicPr>
          <p:cNvPr id="233" name="Picture 5"/>
          <p:cNvPicPr>
            <a:picLocks noChangeAspect="1" noChangeArrowheads="1"/>
          </p:cNvPicPr>
          <p:nvPr/>
        </p:nvPicPr>
        <p:blipFill rotWithShape="1">
          <a:blip r:embed="rId8">
            <a:extLst>
              <a:ext uri="{28A0092B-C50C-407E-A947-70E740481C1C}">
                <a14:useLocalDpi xmlns:a14="http://schemas.microsoft.com/office/drawing/2010/main" val="0"/>
              </a:ext>
            </a:extLst>
          </a:blip>
          <a:srcRect l="11379" t="3721" r="7188" b="6628"/>
          <a:stretch/>
        </p:blipFill>
        <p:spPr bwMode="auto">
          <a:xfrm>
            <a:off x="4787900" y="484027"/>
            <a:ext cx="3706876" cy="2675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4" name="Rectangle 3"/>
          <p:cNvSpPr>
            <a:spLocks noRot="1" noChangeArrowheads="1"/>
          </p:cNvSpPr>
          <p:nvPr/>
        </p:nvSpPr>
        <p:spPr bwMode="auto">
          <a:xfrm>
            <a:off x="5162804" y="3230880"/>
            <a:ext cx="3295396" cy="47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zh-CN" altLang="en-US" sz="2000" b="1" dirty="0">
                <a:solidFill>
                  <a:srgbClr val="C00000"/>
                </a:solidFill>
                <a:latin typeface="幼圆" panose="02010509060101010101" pitchFamily="49" charset="-122"/>
                <a:ea typeface="幼圆" panose="02010509060101010101" pitchFamily="49" charset="-122"/>
              </a:rPr>
              <a:t>黏土地基水泥仓的整体破坏</a:t>
            </a:r>
            <a:endParaRPr lang="zh-CN" altLang="en-US" sz="2000" b="1" dirty="0">
              <a:solidFill>
                <a:srgbClr val="C00000"/>
              </a:solidFill>
              <a:latin typeface="幼圆" panose="02010509060101010101" pitchFamily="49" charset="-122"/>
              <a:ea typeface="幼圆" panose="02010509060101010101" pitchFamily="49" charset="-122"/>
              <a:sym typeface="Symbol" panose="05050102010706020507" pitchFamily="18" charset="2"/>
            </a:endParaRPr>
          </a:p>
        </p:txBody>
      </p:sp>
      <p:sp>
        <p:nvSpPr>
          <p:cNvPr id="10" name="Text Box 18"/>
          <p:cNvSpPr txBox="1">
            <a:spLocks noChangeArrowheads="1"/>
          </p:cNvSpPr>
          <p:nvPr/>
        </p:nvSpPr>
        <p:spPr bwMode="auto">
          <a:xfrm>
            <a:off x="7663392" y="1939925"/>
            <a:ext cx="1285875" cy="65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600" b="1" dirty="0">
                <a:solidFill>
                  <a:srgbClr val="C00000"/>
                </a:solidFill>
                <a:latin typeface="黑体" panose="02010609060101010101" pitchFamily="49" charset="-122"/>
                <a:ea typeface="黑体" panose="02010609060101010101" pitchFamily="49" charset="-122"/>
              </a:rPr>
              <a:t>地基土可能的滑动方向</a:t>
            </a:r>
          </a:p>
        </p:txBody>
      </p:sp>
      <p:sp>
        <p:nvSpPr>
          <p:cNvPr id="11"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Tree>
    <p:extLst>
      <p:ext uri="{BB962C8B-B14F-4D97-AF65-F5344CB8AC3E}">
        <p14:creationId xmlns:p14="http://schemas.microsoft.com/office/powerpoint/2010/main" val="3363381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9" name="Group 131"/>
          <p:cNvGrpSpPr>
            <a:grpSpLocks/>
          </p:cNvGrpSpPr>
          <p:nvPr/>
        </p:nvGrpSpPr>
        <p:grpSpPr bwMode="auto">
          <a:xfrm>
            <a:off x="1191779" y="2366284"/>
            <a:ext cx="3420844" cy="399143"/>
            <a:chOff x="912" y="2016"/>
            <a:chExt cx="3981" cy="480"/>
          </a:xfrm>
          <a:pattFill prst="horzBrick">
            <a:fgClr>
              <a:schemeClr val="tx1"/>
            </a:fgClr>
            <a:bgClr>
              <a:schemeClr val="bg1"/>
            </a:bgClr>
          </a:pattFill>
        </p:grpSpPr>
        <p:sp>
          <p:nvSpPr>
            <p:cNvPr id="151" name="Rectangle 130"/>
            <p:cNvSpPr>
              <a:spLocks noChangeArrowheads="1"/>
            </p:cNvSpPr>
            <p:nvPr/>
          </p:nvSpPr>
          <p:spPr bwMode="auto">
            <a:xfrm>
              <a:off x="4560" y="2016"/>
              <a:ext cx="333" cy="480"/>
            </a:xfrm>
            <a:prstGeom prst="rect">
              <a:avLst/>
            </a:prstGeom>
            <a:grpFill/>
            <a:ln w="28575">
              <a:solidFill>
                <a:schemeClr val="tx1"/>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150" name="Rectangle 129"/>
            <p:cNvSpPr>
              <a:spLocks noChangeArrowheads="1"/>
            </p:cNvSpPr>
            <p:nvPr/>
          </p:nvSpPr>
          <p:spPr bwMode="auto">
            <a:xfrm>
              <a:off x="912" y="2016"/>
              <a:ext cx="333" cy="480"/>
            </a:xfrm>
            <a:prstGeom prst="rect">
              <a:avLst/>
            </a:prstGeom>
            <a:grpFill/>
            <a:ln w="28575">
              <a:solidFill>
                <a:schemeClr val="tx1"/>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sp>
        <p:nvSpPr>
          <p:cNvPr id="28" name="任意多边形 27"/>
          <p:cNvSpPr/>
          <p:nvPr/>
        </p:nvSpPr>
        <p:spPr bwMode="auto">
          <a:xfrm>
            <a:off x="725054" y="2741614"/>
            <a:ext cx="4257675" cy="1133475"/>
          </a:xfrm>
          <a:custGeom>
            <a:avLst/>
            <a:gdLst>
              <a:gd name="connsiteX0" fmla="*/ 0 w 4305300"/>
              <a:gd name="connsiteY0" fmla="*/ 0 h 1133475"/>
              <a:gd name="connsiteX1" fmla="*/ 1376362 w 4305300"/>
              <a:gd name="connsiteY1" fmla="*/ 0 h 1133475"/>
              <a:gd name="connsiteX2" fmla="*/ 1376362 w 4305300"/>
              <a:gd name="connsiteY2" fmla="*/ 376238 h 1133475"/>
              <a:gd name="connsiteX3" fmla="*/ 2962275 w 4305300"/>
              <a:gd name="connsiteY3" fmla="*/ 376238 h 1133475"/>
              <a:gd name="connsiteX4" fmla="*/ 2962275 w 4305300"/>
              <a:gd name="connsiteY4" fmla="*/ 14288 h 1133475"/>
              <a:gd name="connsiteX5" fmla="*/ 4305300 w 4305300"/>
              <a:gd name="connsiteY5" fmla="*/ 14288 h 1133475"/>
              <a:gd name="connsiteX6" fmla="*/ 4305300 w 4305300"/>
              <a:gd name="connsiteY6" fmla="*/ 1133475 h 1133475"/>
              <a:gd name="connsiteX7" fmla="*/ 33337 w 4305300"/>
              <a:gd name="connsiteY7" fmla="*/ 1133475 h 1133475"/>
              <a:gd name="connsiteX8" fmla="*/ 0 w 4305300"/>
              <a:gd name="connsiteY8" fmla="*/ 0 h 1133475"/>
              <a:gd name="connsiteX0" fmla="*/ 4763 w 4310063"/>
              <a:gd name="connsiteY0" fmla="*/ 0 h 1133475"/>
              <a:gd name="connsiteX1" fmla="*/ 1381125 w 4310063"/>
              <a:gd name="connsiteY1" fmla="*/ 0 h 1133475"/>
              <a:gd name="connsiteX2" fmla="*/ 1381125 w 4310063"/>
              <a:gd name="connsiteY2" fmla="*/ 376238 h 1133475"/>
              <a:gd name="connsiteX3" fmla="*/ 2967038 w 4310063"/>
              <a:gd name="connsiteY3" fmla="*/ 376238 h 1133475"/>
              <a:gd name="connsiteX4" fmla="*/ 2967038 w 4310063"/>
              <a:gd name="connsiteY4" fmla="*/ 14288 h 1133475"/>
              <a:gd name="connsiteX5" fmla="*/ 4310063 w 4310063"/>
              <a:gd name="connsiteY5" fmla="*/ 14288 h 1133475"/>
              <a:gd name="connsiteX6" fmla="*/ 4310063 w 4310063"/>
              <a:gd name="connsiteY6" fmla="*/ 1133475 h 1133475"/>
              <a:gd name="connsiteX7" fmla="*/ 0 w 4310063"/>
              <a:gd name="connsiteY7" fmla="*/ 1133475 h 1133475"/>
              <a:gd name="connsiteX8" fmla="*/ 4763 w 4310063"/>
              <a:gd name="connsiteY8"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0063" h="1133475">
                <a:moveTo>
                  <a:pt x="4763" y="0"/>
                </a:moveTo>
                <a:lnTo>
                  <a:pt x="1381125" y="0"/>
                </a:lnTo>
                <a:lnTo>
                  <a:pt x="1381125" y="376238"/>
                </a:lnTo>
                <a:lnTo>
                  <a:pt x="2967038" y="376238"/>
                </a:lnTo>
                <a:lnTo>
                  <a:pt x="2967038" y="14288"/>
                </a:lnTo>
                <a:lnTo>
                  <a:pt x="4310063" y="14288"/>
                </a:lnTo>
                <a:lnTo>
                  <a:pt x="4310063" y="1133475"/>
                </a:lnTo>
                <a:lnTo>
                  <a:pt x="0" y="1133475"/>
                </a:lnTo>
                <a:cubicBezTo>
                  <a:pt x="1588" y="755650"/>
                  <a:pt x="3175" y="377825"/>
                  <a:pt x="4763" y="0"/>
                </a:cubicBez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66" name="直接连接符 165"/>
          <p:cNvCxnSpPr/>
          <p:nvPr/>
        </p:nvCxnSpPr>
        <p:spPr bwMode="auto">
          <a:xfrm>
            <a:off x="2601479" y="2935924"/>
            <a:ext cx="0" cy="11049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Rectangle 12"/>
          <p:cNvSpPr>
            <a:spLocks noChangeArrowheads="1"/>
          </p:cNvSpPr>
          <p:nvPr/>
        </p:nvSpPr>
        <p:spPr bwMode="auto">
          <a:xfrm>
            <a:off x="2770600" y="2406198"/>
            <a:ext cx="251127" cy="638628"/>
          </a:xfrm>
          <a:prstGeom prst="rect">
            <a:avLst/>
          </a:prstGeom>
          <a:solidFill>
            <a:schemeClr val="accent3">
              <a:lumMod val="85000"/>
            </a:schemeClr>
          </a:solidFill>
          <a:ln w="12700" cap="sq">
            <a:solidFill>
              <a:schemeClr val="tx1">
                <a:lumMod val="85000"/>
                <a:lumOff val="15000"/>
              </a:schemeClr>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endParaRPr kumimoji="1" lang="zh-CN" altLang="zh-CN" sz="2400">
              <a:solidFill>
                <a:srgbClr val="FF0000"/>
              </a:solidFill>
              <a:latin typeface="Times New Roman" panose="02020603050405020304" pitchFamily="18" charset="0"/>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9</a:t>
            </a:fld>
            <a:endParaRPr lang="zh-CN" altLang="en-US" dirty="0">
              <a:solidFill>
                <a:srgbClr val="C00000"/>
              </a:solidFill>
            </a:endParaRPr>
          </a:p>
        </p:txBody>
      </p:sp>
      <p:sp>
        <p:nvSpPr>
          <p:cNvPr id="9" name="Text Box 46"/>
          <p:cNvSpPr txBox="1">
            <a:spLocks noChangeArrowheads="1"/>
          </p:cNvSpPr>
          <p:nvPr/>
        </p:nvSpPr>
        <p:spPr bwMode="auto">
          <a:xfrm>
            <a:off x="384649" y="674956"/>
            <a:ext cx="29681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现场载荷试验</a:t>
            </a:r>
          </a:p>
        </p:txBody>
      </p:sp>
      <p:sp>
        <p:nvSpPr>
          <p:cNvPr id="222"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现场载荷试验</a:t>
            </a:r>
          </a:p>
        </p:txBody>
      </p:sp>
      <p:sp>
        <p:nvSpPr>
          <p:cNvPr id="48" name="Rectangle 13"/>
          <p:cNvSpPr>
            <a:spLocks noChangeArrowheads="1"/>
          </p:cNvSpPr>
          <p:nvPr/>
        </p:nvSpPr>
        <p:spPr bwMode="auto">
          <a:xfrm>
            <a:off x="2555760" y="3038794"/>
            <a:ext cx="680084" cy="85861"/>
          </a:xfrm>
          <a:prstGeom prst="rect">
            <a:avLst/>
          </a:prstGeom>
          <a:pattFill prst="wdUpDiag">
            <a:fgClr>
              <a:srgbClr val="000066"/>
            </a:fgClr>
            <a:bgClr>
              <a:schemeClr val="bg1"/>
            </a:bgClr>
          </a:pattFill>
          <a:ln w="19050" cap="sq">
            <a:solidFill>
              <a:srgbClr val="170769"/>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endParaRPr kumimoji="1" lang="zh-CN" altLang="zh-CN" sz="3800">
              <a:solidFill>
                <a:srgbClr val="FF0000"/>
              </a:solidFill>
              <a:latin typeface="Times New Roman" panose="02020603050405020304" pitchFamily="18" charset="0"/>
            </a:endParaRPr>
          </a:p>
        </p:txBody>
      </p:sp>
      <p:sp>
        <p:nvSpPr>
          <p:cNvPr id="52" name="Oval 15"/>
          <p:cNvSpPr>
            <a:spLocks noChangeArrowheads="1"/>
          </p:cNvSpPr>
          <p:nvPr/>
        </p:nvSpPr>
        <p:spPr bwMode="auto">
          <a:xfrm>
            <a:off x="2513717" y="2773999"/>
            <a:ext cx="172182" cy="169491"/>
          </a:xfrm>
          <a:prstGeom prst="ellipse">
            <a:avLst/>
          </a:prstGeom>
          <a:solidFill>
            <a:schemeClr val="accent2">
              <a:lumMod val="40000"/>
              <a:lumOff val="60000"/>
            </a:schemeClr>
          </a:solid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53" name="Line 16"/>
          <p:cNvSpPr>
            <a:spLocks noChangeShapeType="1"/>
          </p:cNvSpPr>
          <p:nvPr/>
        </p:nvSpPr>
        <p:spPr bwMode="auto">
          <a:xfrm flipV="1">
            <a:off x="2597669" y="2832581"/>
            <a:ext cx="74296" cy="25238"/>
          </a:xfrm>
          <a:prstGeom prst="line">
            <a:avLst/>
          </a:prstGeom>
          <a:noFill/>
          <a:ln w="6350" cap="sq">
            <a:solidFill>
              <a:srgbClr val="170769"/>
            </a:solidFill>
            <a:round/>
            <a:headEnd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5" name="Group 128"/>
          <p:cNvGrpSpPr>
            <a:grpSpLocks/>
          </p:cNvGrpSpPr>
          <p:nvPr/>
        </p:nvGrpSpPr>
        <p:grpSpPr bwMode="auto">
          <a:xfrm>
            <a:off x="985192" y="1368427"/>
            <a:ext cx="3820960" cy="1049413"/>
            <a:chOff x="480" y="816"/>
            <a:chExt cx="4595" cy="1262"/>
          </a:xfrm>
        </p:grpSpPr>
        <p:sp>
          <p:nvSpPr>
            <p:cNvPr id="57" name="Rectangle 10"/>
            <p:cNvSpPr>
              <a:spLocks noChangeArrowheads="1"/>
            </p:cNvSpPr>
            <p:nvPr/>
          </p:nvSpPr>
          <p:spPr bwMode="auto">
            <a:xfrm>
              <a:off x="2470" y="2010"/>
              <a:ext cx="634" cy="68"/>
            </a:xfrm>
            <a:prstGeom prst="rect">
              <a:avLst/>
            </a:prstGeom>
            <a:pattFill prst="wdUpDiag">
              <a:fgClr>
                <a:srgbClr val="000066"/>
              </a:fgClr>
              <a:bgClr>
                <a:schemeClr val="bg1"/>
              </a:bgClr>
            </a:pattFill>
            <a:ln w="12700" cap="sq">
              <a:solidFill>
                <a:srgbClr val="170769"/>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nvGrpSpPr>
            <p:cNvPr id="58" name="Group 88"/>
            <p:cNvGrpSpPr>
              <a:grpSpLocks/>
            </p:cNvGrpSpPr>
            <p:nvPr/>
          </p:nvGrpSpPr>
          <p:grpSpPr bwMode="auto">
            <a:xfrm>
              <a:off x="480" y="816"/>
              <a:ext cx="4547" cy="364"/>
              <a:chOff x="589" y="1104"/>
              <a:chExt cx="4547" cy="364"/>
            </a:xfrm>
          </p:grpSpPr>
          <p:sp>
            <p:nvSpPr>
              <p:cNvPr id="75" name="AutoShape 89" descr="编织物"/>
              <p:cNvSpPr>
                <a:spLocks noChangeArrowheads="1"/>
              </p:cNvSpPr>
              <p:nvPr/>
            </p:nvSpPr>
            <p:spPr bwMode="auto">
              <a:xfrm>
                <a:off x="589" y="1113"/>
                <a:ext cx="724"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6" name="AutoShape 90" descr="编织物"/>
              <p:cNvSpPr>
                <a:spLocks noChangeArrowheads="1"/>
              </p:cNvSpPr>
              <p:nvPr/>
            </p:nvSpPr>
            <p:spPr bwMode="auto">
              <a:xfrm>
                <a:off x="589" y="1231"/>
                <a:ext cx="724"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7" name="AutoShape 91" descr="编织物"/>
              <p:cNvSpPr>
                <a:spLocks noChangeArrowheads="1"/>
              </p:cNvSpPr>
              <p:nvPr/>
            </p:nvSpPr>
            <p:spPr bwMode="auto">
              <a:xfrm>
                <a:off x="589" y="1350"/>
                <a:ext cx="724"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8" name="AutoShape 92" descr="编织物"/>
              <p:cNvSpPr>
                <a:spLocks noChangeArrowheads="1"/>
              </p:cNvSpPr>
              <p:nvPr/>
            </p:nvSpPr>
            <p:spPr bwMode="auto">
              <a:xfrm>
                <a:off x="1580" y="1113"/>
                <a:ext cx="724"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9" name="AutoShape 93" descr="编织物"/>
              <p:cNvSpPr>
                <a:spLocks noChangeArrowheads="1"/>
              </p:cNvSpPr>
              <p:nvPr/>
            </p:nvSpPr>
            <p:spPr bwMode="auto">
              <a:xfrm>
                <a:off x="1580" y="1231"/>
                <a:ext cx="724"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0" name="AutoShape 94" descr="编织物"/>
              <p:cNvSpPr>
                <a:spLocks noChangeArrowheads="1"/>
              </p:cNvSpPr>
              <p:nvPr/>
            </p:nvSpPr>
            <p:spPr bwMode="auto">
              <a:xfrm>
                <a:off x="1580" y="1350"/>
                <a:ext cx="724"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1" name="AutoShape 95" descr="编织物"/>
              <p:cNvSpPr>
                <a:spLocks noChangeArrowheads="1"/>
              </p:cNvSpPr>
              <p:nvPr/>
            </p:nvSpPr>
            <p:spPr bwMode="auto">
              <a:xfrm>
                <a:off x="3483" y="1113"/>
                <a:ext cx="723"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2" name="AutoShape 96" descr="编织物"/>
              <p:cNvSpPr>
                <a:spLocks noChangeArrowheads="1"/>
              </p:cNvSpPr>
              <p:nvPr/>
            </p:nvSpPr>
            <p:spPr bwMode="auto">
              <a:xfrm>
                <a:off x="3483" y="1231"/>
                <a:ext cx="723"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3" name="AutoShape 97" descr="编织物"/>
              <p:cNvSpPr>
                <a:spLocks noChangeArrowheads="1"/>
              </p:cNvSpPr>
              <p:nvPr/>
            </p:nvSpPr>
            <p:spPr bwMode="auto">
              <a:xfrm>
                <a:off x="3483" y="1350"/>
                <a:ext cx="723"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4" name="AutoShape 98" descr="编织物"/>
              <p:cNvSpPr>
                <a:spLocks noChangeArrowheads="1"/>
              </p:cNvSpPr>
              <p:nvPr/>
            </p:nvSpPr>
            <p:spPr bwMode="auto">
              <a:xfrm>
                <a:off x="4413" y="1113"/>
                <a:ext cx="723"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5" name="AutoShape 99" descr="编织物"/>
              <p:cNvSpPr>
                <a:spLocks noChangeArrowheads="1"/>
              </p:cNvSpPr>
              <p:nvPr/>
            </p:nvSpPr>
            <p:spPr bwMode="auto">
              <a:xfrm>
                <a:off x="4413" y="1231"/>
                <a:ext cx="723"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6" name="AutoShape 100" descr="编织物"/>
              <p:cNvSpPr>
                <a:spLocks noChangeArrowheads="1"/>
              </p:cNvSpPr>
              <p:nvPr/>
            </p:nvSpPr>
            <p:spPr bwMode="auto">
              <a:xfrm>
                <a:off x="4413" y="1350"/>
                <a:ext cx="723"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7" name="AutoShape 101" descr="编织物"/>
              <p:cNvSpPr>
                <a:spLocks noChangeArrowheads="1"/>
              </p:cNvSpPr>
              <p:nvPr/>
            </p:nvSpPr>
            <p:spPr bwMode="auto">
              <a:xfrm>
                <a:off x="2541" y="1104"/>
                <a:ext cx="723"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8" name="AutoShape 102" descr="编织物"/>
              <p:cNvSpPr>
                <a:spLocks noChangeArrowheads="1"/>
              </p:cNvSpPr>
              <p:nvPr/>
            </p:nvSpPr>
            <p:spPr bwMode="auto">
              <a:xfrm>
                <a:off x="2541" y="1222"/>
                <a:ext cx="723"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9" name="AutoShape 103" descr="编织物"/>
              <p:cNvSpPr>
                <a:spLocks noChangeArrowheads="1"/>
              </p:cNvSpPr>
              <p:nvPr/>
            </p:nvSpPr>
            <p:spPr bwMode="auto">
              <a:xfrm>
                <a:off x="2541" y="1341"/>
                <a:ext cx="723"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grpSp>
          <p:nvGrpSpPr>
            <p:cNvPr id="59" name="Group 104"/>
            <p:cNvGrpSpPr>
              <a:grpSpLocks/>
            </p:cNvGrpSpPr>
            <p:nvPr/>
          </p:nvGrpSpPr>
          <p:grpSpPr bwMode="auto">
            <a:xfrm>
              <a:off x="480" y="1171"/>
              <a:ext cx="4547" cy="365"/>
              <a:chOff x="589" y="1459"/>
              <a:chExt cx="4547" cy="365"/>
            </a:xfrm>
          </p:grpSpPr>
          <p:sp>
            <p:nvSpPr>
              <p:cNvPr id="60" name="AutoShape 105" descr="编织物"/>
              <p:cNvSpPr>
                <a:spLocks noChangeArrowheads="1"/>
              </p:cNvSpPr>
              <p:nvPr/>
            </p:nvSpPr>
            <p:spPr bwMode="auto">
              <a:xfrm>
                <a:off x="3483" y="1468"/>
                <a:ext cx="723"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1" name="AutoShape 106" descr="编织物"/>
              <p:cNvSpPr>
                <a:spLocks noChangeArrowheads="1"/>
              </p:cNvSpPr>
              <p:nvPr/>
            </p:nvSpPr>
            <p:spPr bwMode="auto">
              <a:xfrm>
                <a:off x="3483" y="1587"/>
                <a:ext cx="723"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2" name="AutoShape 107" descr="编织物"/>
              <p:cNvSpPr>
                <a:spLocks noChangeArrowheads="1"/>
              </p:cNvSpPr>
              <p:nvPr/>
            </p:nvSpPr>
            <p:spPr bwMode="auto">
              <a:xfrm>
                <a:off x="3483" y="1705"/>
                <a:ext cx="723"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3" name="AutoShape 108" descr="编织物"/>
              <p:cNvSpPr>
                <a:spLocks noChangeArrowheads="1"/>
              </p:cNvSpPr>
              <p:nvPr/>
            </p:nvSpPr>
            <p:spPr bwMode="auto">
              <a:xfrm>
                <a:off x="4413" y="1468"/>
                <a:ext cx="723"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4" name="AutoShape 109" descr="编织物"/>
              <p:cNvSpPr>
                <a:spLocks noChangeArrowheads="1"/>
              </p:cNvSpPr>
              <p:nvPr/>
            </p:nvSpPr>
            <p:spPr bwMode="auto">
              <a:xfrm>
                <a:off x="4413" y="1587"/>
                <a:ext cx="723"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5" name="AutoShape 110" descr="编织物"/>
              <p:cNvSpPr>
                <a:spLocks noChangeArrowheads="1"/>
              </p:cNvSpPr>
              <p:nvPr/>
            </p:nvSpPr>
            <p:spPr bwMode="auto">
              <a:xfrm>
                <a:off x="4413" y="1705"/>
                <a:ext cx="723"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6" name="AutoShape 111" descr="编织物"/>
              <p:cNvSpPr>
                <a:spLocks noChangeArrowheads="1"/>
              </p:cNvSpPr>
              <p:nvPr/>
            </p:nvSpPr>
            <p:spPr bwMode="auto">
              <a:xfrm>
                <a:off x="589" y="1468"/>
                <a:ext cx="724"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7" name="AutoShape 112" descr="编织物"/>
              <p:cNvSpPr>
                <a:spLocks noChangeArrowheads="1"/>
              </p:cNvSpPr>
              <p:nvPr/>
            </p:nvSpPr>
            <p:spPr bwMode="auto">
              <a:xfrm>
                <a:off x="589" y="1587"/>
                <a:ext cx="724"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8" name="AutoShape 113" descr="编织物"/>
              <p:cNvSpPr>
                <a:spLocks noChangeArrowheads="1"/>
              </p:cNvSpPr>
              <p:nvPr/>
            </p:nvSpPr>
            <p:spPr bwMode="auto">
              <a:xfrm>
                <a:off x="589" y="1705"/>
                <a:ext cx="724"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9" name="AutoShape 114" descr="编织物"/>
              <p:cNvSpPr>
                <a:spLocks noChangeArrowheads="1"/>
              </p:cNvSpPr>
              <p:nvPr/>
            </p:nvSpPr>
            <p:spPr bwMode="auto">
              <a:xfrm>
                <a:off x="1580" y="1468"/>
                <a:ext cx="724"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0" name="AutoShape 115" descr="编织物"/>
              <p:cNvSpPr>
                <a:spLocks noChangeArrowheads="1"/>
              </p:cNvSpPr>
              <p:nvPr/>
            </p:nvSpPr>
            <p:spPr bwMode="auto">
              <a:xfrm>
                <a:off x="1580" y="1587"/>
                <a:ext cx="724"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1" name="AutoShape 116" descr="编织物"/>
              <p:cNvSpPr>
                <a:spLocks noChangeArrowheads="1"/>
              </p:cNvSpPr>
              <p:nvPr/>
            </p:nvSpPr>
            <p:spPr bwMode="auto">
              <a:xfrm>
                <a:off x="1580" y="1705"/>
                <a:ext cx="724"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2" name="AutoShape 117" descr="编织物"/>
              <p:cNvSpPr>
                <a:spLocks noChangeArrowheads="1"/>
              </p:cNvSpPr>
              <p:nvPr/>
            </p:nvSpPr>
            <p:spPr bwMode="auto">
              <a:xfrm>
                <a:off x="2541" y="1459"/>
                <a:ext cx="723"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3" name="AutoShape 118" descr="编织物"/>
              <p:cNvSpPr>
                <a:spLocks noChangeArrowheads="1"/>
              </p:cNvSpPr>
              <p:nvPr/>
            </p:nvSpPr>
            <p:spPr bwMode="auto">
              <a:xfrm>
                <a:off x="2541" y="1578"/>
                <a:ext cx="723" cy="118"/>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4" name="AutoShape 119" descr="编织物"/>
              <p:cNvSpPr>
                <a:spLocks noChangeArrowheads="1"/>
              </p:cNvSpPr>
              <p:nvPr/>
            </p:nvSpPr>
            <p:spPr bwMode="auto">
              <a:xfrm>
                <a:off x="2541" y="1696"/>
                <a:ext cx="723" cy="119"/>
              </a:xfrm>
              <a:prstGeom prst="roundRect">
                <a:avLst>
                  <a:gd name="adj" fmla="val 16667"/>
                </a:avLst>
              </a:prstGeom>
              <a:blipFill dpi="0" rotWithShape="0">
                <a:blip r:embed="rId3"/>
                <a:srcRect/>
                <a:tile tx="0" ty="0" sx="100000" sy="100000" flip="none" algn="tl"/>
              </a:blipFill>
              <a:ln w="12700" cap="sq">
                <a:solidFill>
                  <a:srgbClr val="170769"/>
                </a:solidFill>
                <a:round/>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sp>
          <p:nvSpPr>
            <p:cNvPr id="56" name="Rectangle 9"/>
            <p:cNvSpPr>
              <a:spLocks noChangeArrowheads="1"/>
            </p:cNvSpPr>
            <p:nvPr/>
          </p:nvSpPr>
          <p:spPr bwMode="auto">
            <a:xfrm>
              <a:off x="480" y="1536"/>
              <a:ext cx="4595" cy="474"/>
            </a:xfrm>
            <a:prstGeom prst="rect">
              <a:avLst/>
            </a:prstGeom>
            <a:solidFill>
              <a:srgbClr val="9999FF"/>
            </a:solidFill>
            <a:ln w="57150" cap="sq">
              <a:solidFill>
                <a:srgbClr val="170769"/>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sp>
        <p:nvSpPr>
          <p:cNvPr id="6" name="矩形 5"/>
          <p:cNvSpPr/>
          <p:nvPr/>
        </p:nvSpPr>
        <p:spPr>
          <a:xfrm>
            <a:off x="1563254" y="3279882"/>
            <a:ext cx="881973" cy="410882"/>
          </a:xfrm>
          <a:prstGeom prst="rect">
            <a:avLst/>
          </a:prstGeom>
        </p:spPr>
        <p:txBody>
          <a:bodyPr wrap="none">
            <a:spAutoFit/>
          </a:bodyPr>
          <a:lstStyle/>
          <a:p>
            <a:pPr algn="ctr" eaLnBrk="1" hangingPunct="1"/>
            <a:r>
              <a:rPr kumimoji="1" lang="zh-CN" altLang="en-US" sz="1800" b="1" dirty="0">
                <a:solidFill>
                  <a:srgbClr val="000066"/>
                </a:solidFill>
                <a:latin typeface="幼圆" panose="02010509060101010101" pitchFamily="49" charset="-122"/>
                <a:ea typeface="幼圆" panose="02010509060101010101" pitchFamily="49" charset="-122"/>
              </a:rPr>
              <a:t>百分表</a:t>
            </a:r>
          </a:p>
        </p:txBody>
      </p:sp>
      <p:sp>
        <p:nvSpPr>
          <p:cNvPr id="7" name="矩形 6"/>
          <p:cNvSpPr/>
          <p:nvPr/>
        </p:nvSpPr>
        <p:spPr>
          <a:xfrm>
            <a:off x="3795279" y="2998181"/>
            <a:ext cx="881973" cy="410882"/>
          </a:xfrm>
          <a:prstGeom prst="rect">
            <a:avLst/>
          </a:prstGeom>
        </p:spPr>
        <p:txBody>
          <a:bodyPr wrap="none">
            <a:spAutoFit/>
          </a:bodyPr>
          <a:lstStyle/>
          <a:p>
            <a:pPr algn="ctr" eaLnBrk="1" hangingPunct="1"/>
            <a:r>
              <a:rPr kumimoji="1" lang="zh-CN" altLang="en-US" sz="1800" b="1" dirty="0">
                <a:solidFill>
                  <a:srgbClr val="000066"/>
                </a:solidFill>
                <a:latin typeface="幼圆" panose="02010509060101010101" pitchFamily="49" charset="-122"/>
                <a:ea typeface="幼圆" panose="02010509060101010101" pitchFamily="49" charset="-122"/>
              </a:rPr>
              <a:t>千斤顶</a:t>
            </a:r>
          </a:p>
        </p:txBody>
      </p:sp>
      <p:sp>
        <p:nvSpPr>
          <p:cNvPr id="8" name="矩形 7"/>
          <p:cNvSpPr/>
          <p:nvPr/>
        </p:nvSpPr>
        <p:spPr>
          <a:xfrm>
            <a:off x="2846615" y="3247209"/>
            <a:ext cx="881973" cy="410882"/>
          </a:xfrm>
          <a:prstGeom prst="rect">
            <a:avLst/>
          </a:prstGeom>
        </p:spPr>
        <p:txBody>
          <a:bodyPr wrap="none">
            <a:spAutoFit/>
          </a:bodyPr>
          <a:lstStyle/>
          <a:p>
            <a:pPr algn="ctr" eaLnBrk="1" hangingPunct="1"/>
            <a:r>
              <a:rPr kumimoji="1" lang="zh-CN" altLang="en-US" sz="1800" b="1" dirty="0">
                <a:solidFill>
                  <a:srgbClr val="000066"/>
                </a:solidFill>
                <a:latin typeface="幼圆" panose="02010509060101010101" pitchFamily="49" charset="-122"/>
                <a:ea typeface="幼圆" panose="02010509060101010101" pitchFamily="49" charset="-122"/>
              </a:rPr>
              <a:t>载荷板</a:t>
            </a:r>
          </a:p>
        </p:txBody>
      </p:sp>
      <p:sp>
        <p:nvSpPr>
          <p:cNvPr id="10" name="任意多边形 9"/>
          <p:cNvSpPr/>
          <p:nvPr/>
        </p:nvSpPr>
        <p:spPr bwMode="auto">
          <a:xfrm>
            <a:off x="701242" y="2751139"/>
            <a:ext cx="4319587" cy="371475"/>
          </a:xfrm>
          <a:custGeom>
            <a:avLst/>
            <a:gdLst>
              <a:gd name="connsiteX0" fmla="*/ 0 w 4319587"/>
              <a:gd name="connsiteY0" fmla="*/ 0 h 371475"/>
              <a:gd name="connsiteX1" fmla="*/ 1390650 w 4319587"/>
              <a:gd name="connsiteY1" fmla="*/ 0 h 371475"/>
              <a:gd name="connsiteX2" fmla="*/ 1390650 w 4319587"/>
              <a:gd name="connsiteY2" fmla="*/ 371475 h 371475"/>
              <a:gd name="connsiteX3" fmla="*/ 2947987 w 4319587"/>
              <a:gd name="connsiteY3" fmla="*/ 371475 h 371475"/>
              <a:gd name="connsiteX4" fmla="*/ 2947987 w 4319587"/>
              <a:gd name="connsiteY4" fmla="*/ 0 h 371475"/>
              <a:gd name="connsiteX5" fmla="*/ 4319587 w 4319587"/>
              <a:gd name="connsiteY5" fmla="*/ 0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19587" h="371475">
                <a:moveTo>
                  <a:pt x="0" y="0"/>
                </a:moveTo>
                <a:lnTo>
                  <a:pt x="1390650" y="0"/>
                </a:lnTo>
                <a:lnTo>
                  <a:pt x="1390650" y="371475"/>
                </a:lnTo>
                <a:lnTo>
                  <a:pt x="2947987" y="371475"/>
                </a:lnTo>
                <a:lnTo>
                  <a:pt x="2947987" y="0"/>
                </a:lnTo>
                <a:lnTo>
                  <a:pt x="4319587" y="0"/>
                </a:lnTo>
              </a:path>
            </a:pathLst>
          </a:cu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1" name="矩形 10"/>
          <p:cNvSpPr/>
          <p:nvPr/>
        </p:nvSpPr>
        <p:spPr bwMode="auto">
          <a:xfrm>
            <a:off x="2718637" y="2746377"/>
            <a:ext cx="347662" cy="285750"/>
          </a:xfrm>
          <a:prstGeom prst="rect">
            <a:avLst/>
          </a:prstGeom>
          <a:solidFill>
            <a:srgbClr val="800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23" name="直接连接符 22"/>
          <p:cNvCxnSpPr/>
          <p:nvPr/>
        </p:nvCxnSpPr>
        <p:spPr bwMode="auto">
          <a:xfrm>
            <a:off x="2601479" y="2705419"/>
            <a:ext cx="0" cy="70485"/>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2915804" y="3108857"/>
            <a:ext cx="161925" cy="20002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3" name="矩形 172"/>
          <p:cNvSpPr/>
          <p:nvPr/>
        </p:nvSpPr>
        <p:spPr>
          <a:xfrm>
            <a:off x="4087067" y="936627"/>
            <a:ext cx="700833" cy="401072"/>
          </a:xfrm>
          <a:prstGeom prst="rect">
            <a:avLst/>
          </a:prstGeom>
        </p:spPr>
        <p:txBody>
          <a:bodyPr wrap="none">
            <a:spAutoFit/>
          </a:bodyPr>
          <a:lstStyle/>
          <a:p>
            <a:pPr algn="ctr" eaLnBrk="1" hangingPunct="1"/>
            <a:r>
              <a:rPr kumimoji="1" lang="zh-CN" altLang="en-US" sz="2000" b="1" dirty="0">
                <a:solidFill>
                  <a:srgbClr val="000066"/>
                </a:solidFill>
                <a:latin typeface="幼圆" panose="02010509060101010101" pitchFamily="49" charset="-122"/>
                <a:ea typeface="幼圆" panose="02010509060101010101" pitchFamily="49" charset="-122"/>
              </a:rPr>
              <a:t>堆载</a:t>
            </a:r>
          </a:p>
        </p:txBody>
      </p:sp>
      <p:sp>
        <p:nvSpPr>
          <p:cNvPr id="174" name="矩形 173"/>
          <p:cNvSpPr/>
          <p:nvPr/>
        </p:nvSpPr>
        <p:spPr>
          <a:xfrm>
            <a:off x="1945072" y="1956878"/>
            <a:ext cx="1739579" cy="401072"/>
          </a:xfrm>
          <a:prstGeom prst="rect">
            <a:avLst/>
          </a:prstGeom>
        </p:spPr>
        <p:txBody>
          <a:bodyPr wrap="none">
            <a:spAutoFit/>
          </a:bodyPr>
          <a:lstStyle/>
          <a:p>
            <a:pPr algn="ctr" eaLnBrk="1" hangingPunct="1"/>
            <a:r>
              <a:rPr kumimoji="1" lang="zh-CN" altLang="en-US" sz="2000" b="1" dirty="0">
                <a:solidFill>
                  <a:srgbClr val="000066"/>
                </a:solidFill>
                <a:latin typeface="幼圆" panose="02010509060101010101" pitchFamily="49" charset="-122"/>
                <a:ea typeface="幼圆" panose="02010509060101010101" pitchFamily="49" charset="-122"/>
              </a:rPr>
              <a:t>钢        梁</a:t>
            </a:r>
          </a:p>
        </p:txBody>
      </p:sp>
      <p:sp>
        <p:nvSpPr>
          <p:cNvPr id="175" name="矩形 174"/>
          <p:cNvSpPr/>
          <p:nvPr/>
        </p:nvSpPr>
        <p:spPr>
          <a:xfrm>
            <a:off x="4902200" y="2084199"/>
            <a:ext cx="700834" cy="446276"/>
          </a:xfrm>
          <a:prstGeom prst="rect">
            <a:avLst/>
          </a:prstGeom>
        </p:spPr>
        <p:txBody>
          <a:bodyPr wrap="none">
            <a:spAutoFit/>
          </a:bodyPr>
          <a:lstStyle/>
          <a:p>
            <a:pPr algn="ctr" eaLnBrk="1" hangingPunct="1"/>
            <a:r>
              <a:rPr kumimoji="1" lang="zh-CN" altLang="en-US" sz="2000" b="1" dirty="0">
                <a:solidFill>
                  <a:srgbClr val="000066"/>
                </a:solidFill>
                <a:latin typeface="幼圆" panose="02010509060101010101" pitchFamily="49" charset="-122"/>
                <a:ea typeface="幼圆" panose="02010509060101010101" pitchFamily="49" charset="-122"/>
              </a:rPr>
              <a:t>支墩</a:t>
            </a:r>
          </a:p>
        </p:txBody>
      </p:sp>
      <p:pic>
        <p:nvPicPr>
          <p:cNvPr id="32" name="图片 31"/>
          <p:cNvPicPr>
            <a:picLocks noChangeAspect="1"/>
          </p:cNvPicPr>
          <p:nvPr/>
        </p:nvPicPr>
        <p:blipFill rotWithShape="1">
          <a:blip r:embed="rId4"/>
          <a:srcRect l="7718" r="5709" b="8842"/>
          <a:stretch/>
        </p:blipFill>
        <p:spPr>
          <a:xfrm>
            <a:off x="5909156" y="3176332"/>
            <a:ext cx="3066087" cy="2155292"/>
          </a:xfrm>
          <a:prstGeom prst="rect">
            <a:avLst/>
          </a:prstGeom>
        </p:spPr>
      </p:pic>
      <p:pic>
        <p:nvPicPr>
          <p:cNvPr id="34" name="图片 33"/>
          <p:cNvPicPr>
            <a:picLocks noChangeAspect="1"/>
          </p:cNvPicPr>
          <p:nvPr/>
        </p:nvPicPr>
        <p:blipFill rotWithShape="1">
          <a:blip r:embed="rId5">
            <a:extLst>
              <a:ext uri="{28A0092B-C50C-407E-A947-70E740481C1C}">
                <a14:useLocalDpi xmlns:a14="http://schemas.microsoft.com/office/drawing/2010/main" val="0"/>
              </a:ext>
            </a:extLst>
          </a:blip>
          <a:srcRect b="12746"/>
          <a:stretch/>
        </p:blipFill>
        <p:spPr>
          <a:xfrm>
            <a:off x="5895975" y="899319"/>
            <a:ext cx="3058583" cy="2001573"/>
          </a:xfrm>
          <a:prstGeom prst="rect">
            <a:avLst/>
          </a:prstGeom>
        </p:spPr>
      </p:pic>
      <p:cxnSp>
        <p:nvCxnSpPr>
          <p:cNvPr id="179" name="直接连接符 178"/>
          <p:cNvCxnSpPr/>
          <p:nvPr/>
        </p:nvCxnSpPr>
        <p:spPr bwMode="auto">
          <a:xfrm>
            <a:off x="3127471" y="2804057"/>
            <a:ext cx="667808" cy="29368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直接连接符 180"/>
          <p:cNvCxnSpPr/>
          <p:nvPr/>
        </p:nvCxnSpPr>
        <p:spPr bwMode="auto">
          <a:xfrm flipV="1">
            <a:off x="2001405" y="2928410"/>
            <a:ext cx="437091" cy="34131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Rectangle 3"/>
          <p:cNvSpPr txBox="1">
            <a:spLocks noRot="1" noChangeArrowheads="1"/>
          </p:cNvSpPr>
          <p:nvPr/>
        </p:nvSpPr>
        <p:spPr bwMode="auto">
          <a:xfrm>
            <a:off x="581025" y="3977085"/>
            <a:ext cx="5029200" cy="15422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14000"/>
              </a:lnSpc>
              <a:spcBef>
                <a:spcPts val="0"/>
              </a:spcBef>
              <a:buClr>
                <a:srgbClr val="C00000"/>
              </a:buClr>
              <a:buSzPct val="130000"/>
              <a:buFont typeface="Wingdings" panose="05000000000000000000" pitchFamily="2" charset="2"/>
              <a:buChar char="F"/>
            </a:pPr>
            <a:r>
              <a:rPr kumimoji="1" lang="zh-CN" altLang="en-US" sz="2000" b="1" kern="0" dirty="0">
                <a:solidFill>
                  <a:srgbClr val="000066"/>
                </a:solidFill>
                <a:latin typeface="幼圆" panose="02010509060101010101" pitchFamily="49" charset="-122"/>
                <a:ea typeface="幼圆" panose="02010509060101010101" pitchFamily="49" charset="-122"/>
              </a:rPr>
              <a:t>也称浅层平板载荷试验，是一种在现场模拟地基基础工作条件的原位试验</a:t>
            </a:r>
            <a:endParaRPr kumimoji="1" lang="en-US" altLang="zh-CN" sz="2000" b="1" kern="0" dirty="0">
              <a:solidFill>
                <a:srgbClr val="000066"/>
              </a:solidFill>
              <a:latin typeface="幼圆" panose="02010509060101010101" pitchFamily="49" charset="-122"/>
              <a:ea typeface="幼圆" panose="02010509060101010101" pitchFamily="49" charset="-122"/>
            </a:endParaRPr>
          </a:p>
          <a:p>
            <a:pPr>
              <a:lnSpc>
                <a:spcPct val="114000"/>
              </a:lnSpc>
              <a:spcBef>
                <a:spcPts val="0"/>
              </a:spcBef>
              <a:buClr>
                <a:srgbClr val="C00000"/>
              </a:buClr>
              <a:buSzPct val="130000"/>
              <a:buFont typeface="Wingdings" panose="05000000000000000000" pitchFamily="2" charset="2"/>
              <a:buChar char="F"/>
            </a:pPr>
            <a:r>
              <a:rPr kumimoji="1" lang="zh-CN" altLang="en-US" sz="2000" b="1" kern="0" dirty="0">
                <a:solidFill>
                  <a:srgbClr val="000066"/>
                </a:solidFill>
                <a:latin typeface="幼圆" panose="02010509060101010101" pitchFamily="49" charset="-122"/>
                <a:ea typeface="幼圆" panose="02010509060101010101" pitchFamily="49" charset="-122"/>
              </a:rPr>
              <a:t>采用分级加载，不少于</a:t>
            </a:r>
            <a:r>
              <a:rPr kumimoji="1" lang="en-US" altLang="zh-CN" sz="2000" b="1" kern="0" dirty="0">
                <a:solidFill>
                  <a:srgbClr val="000066"/>
                </a:solidFill>
                <a:latin typeface="幼圆" panose="02010509060101010101" pitchFamily="49" charset="-122"/>
                <a:ea typeface="幼圆" panose="02010509060101010101" pitchFamily="49" charset="-122"/>
              </a:rPr>
              <a:t>8</a:t>
            </a:r>
            <a:r>
              <a:rPr kumimoji="1" lang="zh-CN" altLang="en-US" sz="2000" b="1" kern="0" dirty="0">
                <a:solidFill>
                  <a:srgbClr val="000066"/>
                </a:solidFill>
                <a:latin typeface="幼圆" panose="02010509060101010101" pitchFamily="49" charset="-122"/>
                <a:ea typeface="幼圆" panose="02010509060101010101" pitchFamily="49" charset="-122"/>
              </a:rPr>
              <a:t>级，每级沉降稳定后再进行下一级加载</a:t>
            </a:r>
            <a:endParaRPr kumimoji="1" lang="en-US" altLang="zh-CN" sz="2000" b="1" kern="0" dirty="0">
              <a:solidFill>
                <a:srgbClr val="000066"/>
              </a:solidFill>
              <a:latin typeface="幼圆" panose="02010509060101010101" pitchFamily="49" charset="-122"/>
              <a:ea typeface="幼圆" panose="02010509060101010101" pitchFamily="49" charset="-122"/>
            </a:endParaRPr>
          </a:p>
        </p:txBody>
      </p:sp>
      <p:cxnSp>
        <p:nvCxnSpPr>
          <p:cNvPr id="184" name="直接连接符 183"/>
          <p:cNvCxnSpPr/>
          <p:nvPr/>
        </p:nvCxnSpPr>
        <p:spPr bwMode="auto">
          <a:xfrm flipV="1">
            <a:off x="4641946" y="2514600"/>
            <a:ext cx="301529" cy="9207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wipe(left)">
                                      <p:cBhvr>
                                        <p:cTn id="7"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3999506" y="4317779"/>
            <a:ext cx="4245997" cy="1184744"/>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10</a:t>
            </a:fld>
            <a:endParaRPr lang="zh-CN" altLang="en-US" dirty="0">
              <a:solidFill>
                <a:srgbClr val="C00000"/>
              </a:solidFill>
            </a:endParaRPr>
          </a:p>
        </p:txBody>
      </p:sp>
      <p:sp>
        <p:nvSpPr>
          <p:cNvPr id="8" name="Text Box 46"/>
          <p:cNvSpPr txBox="1">
            <a:spLocks noChangeArrowheads="1"/>
          </p:cNvSpPr>
          <p:nvPr/>
        </p:nvSpPr>
        <p:spPr bwMode="auto">
          <a:xfrm>
            <a:off x="384649" y="601804"/>
            <a:ext cx="53557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载荷试验</a:t>
            </a:r>
            <a:r>
              <a:rPr lang="en-US" altLang="zh-CN" sz="2800" b="1" i="1" dirty="0">
                <a:solidFill>
                  <a:srgbClr val="A50021"/>
                </a:solidFill>
                <a:latin typeface="微软雅黑" panose="020B0503020204020204" pitchFamily="34" charset="-122"/>
                <a:ea typeface="微软雅黑" panose="020B0503020204020204" pitchFamily="34" charset="-122"/>
              </a:rPr>
              <a:t>p</a:t>
            </a:r>
            <a:r>
              <a:rPr lang="en-US" altLang="zh-CN" sz="2800" b="1" dirty="0">
                <a:solidFill>
                  <a:srgbClr val="A50021"/>
                </a:solidFill>
                <a:latin typeface="微软雅黑" panose="020B0503020204020204" pitchFamily="34" charset="-122"/>
                <a:ea typeface="微软雅黑" panose="020B0503020204020204" pitchFamily="34" charset="-122"/>
              </a:rPr>
              <a:t>-</a:t>
            </a:r>
            <a:r>
              <a:rPr lang="en-US" altLang="zh-CN" sz="2800" b="1" dirty="0">
                <a:solidFill>
                  <a:srgbClr val="A5002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s</a:t>
            </a:r>
            <a:r>
              <a:rPr lang="zh-CN" altLang="en-US" sz="2800" b="1" dirty="0">
                <a:solidFill>
                  <a:srgbClr val="A50021"/>
                </a:solidFill>
                <a:latin typeface="微软雅黑" panose="020B0503020204020204" pitchFamily="34" charset="-122"/>
                <a:ea typeface="微软雅黑" panose="020B0503020204020204" pitchFamily="34" charset="-122"/>
              </a:rPr>
              <a:t>曲线的三个阶段</a:t>
            </a:r>
          </a:p>
        </p:txBody>
      </p:sp>
      <p:sp>
        <p:nvSpPr>
          <p:cNvPr id="56"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现场载荷试验</a:t>
            </a:r>
          </a:p>
        </p:txBody>
      </p:sp>
      <p:sp>
        <p:nvSpPr>
          <p:cNvPr id="7" name="矩形 6"/>
          <p:cNvSpPr/>
          <p:nvPr/>
        </p:nvSpPr>
        <p:spPr>
          <a:xfrm>
            <a:off x="4275459" y="1418359"/>
            <a:ext cx="3515706" cy="479298"/>
          </a:xfrm>
          <a:prstGeom prst="rect">
            <a:avLst/>
          </a:prstGeom>
        </p:spPr>
        <p:txBody>
          <a:bodyPr wrap="none">
            <a:spAutoFit/>
          </a:bodyPr>
          <a:lstStyle/>
          <a:p>
            <a:r>
              <a:rPr lang="en-US" altLang="zh-CN" sz="2400" b="1" dirty="0">
                <a:solidFill>
                  <a:srgbClr val="000066"/>
                </a:solidFill>
                <a:ea typeface="幼圆" panose="02010509060101010101" pitchFamily="49" charset="-122"/>
                <a:cs typeface="Times New Roman" panose="02020603050405020304" pitchFamily="18" charset="0"/>
              </a:rPr>
              <a:t>1</a:t>
            </a:r>
            <a:r>
              <a:rPr lang="zh-CN" altLang="en-US" sz="2400" b="1" dirty="0">
                <a:solidFill>
                  <a:srgbClr val="000066"/>
                </a:solidFill>
                <a:ea typeface="幼圆" panose="02010509060101010101" pitchFamily="49" charset="-122"/>
                <a:cs typeface="Times New Roman" panose="02020603050405020304" pitchFamily="18" charset="0"/>
              </a:rPr>
              <a:t>）</a:t>
            </a:r>
            <a:r>
              <a:rPr lang="zh-CN" altLang="zh-CN" sz="2400" b="1" dirty="0">
                <a:solidFill>
                  <a:srgbClr val="000066"/>
                </a:solidFill>
                <a:ea typeface="幼圆" panose="02010509060101010101" pitchFamily="49" charset="-122"/>
                <a:cs typeface="Times New Roman" panose="02020603050405020304" pitchFamily="18" charset="0"/>
              </a:rPr>
              <a:t>压密变形阶段（</a:t>
            </a:r>
            <a:r>
              <a:rPr lang="en-US" altLang="zh-CN" sz="2400" b="1" dirty="0" err="1">
                <a:solidFill>
                  <a:srgbClr val="000066"/>
                </a:solidFill>
                <a:ea typeface="幼圆" panose="02010509060101010101" pitchFamily="49" charset="-122"/>
                <a:cs typeface="Times New Roman" panose="02020603050405020304" pitchFamily="18" charset="0"/>
              </a:rPr>
              <a:t>Oa</a:t>
            </a:r>
            <a:r>
              <a:rPr lang="zh-CN" altLang="zh-CN" sz="2400" b="1" dirty="0">
                <a:solidFill>
                  <a:srgbClr val="000066"/>
                </a:solidFill>
                <a:ea typeface="幼圆" panose="02010509060101010101" pitchFamily="49" charset="-122"/>
                <a:cs typeface="Times New Roman" panose="02020603050405020304" pitchFamily="18" charset="0"/>
              </a:rPr>
              <a:t>）</a:t>
            </a:r>
            <a:endParaRPr lang="zh-CN" altLang="en-US" sz="2400" b="1" dirty="0">
              <a:solidFill>
                <a:srgbClr val="000066"/>
              </a:solidFill>
              <a:ea typeface="幼圆" panose="02010509060101010101" pitchFamily="49" charset="-122"/>
              <a:cs typeface="Times New Roman" panose="02020603050405020304" pitchFamily="18" charset="0"/>
            </a:endParaRPr>
          </a:p>
        </p:txBody>
      </p:sp>
      <p:grpSp>
        <p:nvGrpSpPr>
          <p:cNvPr id="59" name="Group 22"/>
          <p:cNvGrpSpPr>
            <a:grpSpLocks/>
          </p:cNvGrpSpPr>
          <p:nvPr/>
        </p:nvGrpSpPr>
        <p:grpSpPr bwMode="auto">
          <a:xfrm>
            <a:off x="4005073" y="3771392"/>
            <a:ext cx="4241801" cy="533400"/>
            <a:chOff x="1584" y="1056"/>
            <a:chExt cx="2672" cy="336"/>
          </a:xfrm>
        </p:grpSpPr>
        <p:sp>
          <p:nvSpPr>
            <p:cNvPr id="60" name="Line 23"/>
            <p:cNvSpPr>
              <a:spLocks noChangeShapeType="1"/>
            </p:cNvSpPr>
            <p:nvPr/>
          </p:nvSpPr>
          <p:spPr bwMode="auto">
            <a:xfrm>
              <a:off x="1584" y="1392"/>
              <a:ext cx="2672"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5"/>
            <p:cNvSpPr>
              <a:spLocks noChangeShapeType="1"/>
            </p:cNvSpPr>
            <p:nvPr/>
          </p:nvSpPr>
          <p:spPr bwMode="auto">
            <a:xfrm>
              <a:off x="2880" y="1056"/>
              <a:ext cx="0" cy="240"/>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 name="矩形 54"/>
          <p:cNvSpPr/>
          <p:nvPr/>
        </p:nvSpPr>
        <p:spPr>
          <a:xfrm>
            <a:off x="4343701" y="1988078"/>
            <a:ext cx="4244848" cy="1205458"/>
          </a:xfrm>
          <a:prstGeom prst="rect">
            <a:avLst/>
          </a:prstGeom>
        </p:spPr>
        <p:txBody>
          <a:bodyPr wrap="square">
            <a:spAutoFit/>
          </a:bodyPr>
          <a:lstStyle/>
          <a:p>
            <a:pPr marL="342900" indent="-342900">
              <a:spcBef>
                <a:spcPts val="200"/>
              </a:spcBef>
              <a:spcAft>
                <a:spcPts val="200"/>
              </a:spcAft>
              <a:buClr>
                <a:srgbClr val="C00000"/>
              </a:buClr>
              <a:buFont typeface="Wingdings" panose="05000000000000000000" pitchFamily="2" charset="2"/>
              <a:buChar char="Ø"/>
            </a:pPr>
            <a:r>
              <a:rPr lang="zh-CN" altLang="en-US" sz="2000" b="1" dirty="0">
                <a:solidFill>
                  <a:srgbClr val="000066"/>
                </a:solidFill>
                <a:ea typeface="幼圆" panose="02010509060101010101" pitchFamily="49" charset="-122"/>
                <a:cs typeface="Times New Roman" panose="02020603050405020304" pitchFamily="18" charset="0"/>
              </a:rPr>
              <a:t>地基内各点土体均未达到极限平衡状态，也即处于弹性状态</a:t>
            </a:r>
            <a:endParaRPr lang="en-US" altLang="zh-CN" sz="2000" b="1" dirty="0">
              <a:solidFill>
                <a:srgbClr val="000066"/>
              </a:solidFill>
              <a:ea typeface="幼圆" panose="02010509060101010101" pitchFamily="49" charset="-122"/>
              <a:cs typeface="Times New Roman" panose="02020603050405020304" pitchFamily="18" charset="0"/>
            </a:endParaRPr>
          </a:p>
          <a:p>
            <a:pPr marL="342900" indent="-342900">
              <a:spcBef>
                <a:spcPts val="200"/>
              </a:spcBef>
              <a:spcAft>
                <a:spcPts val="200"/>
              </a:spcAft>
              <a:buClr>
                <a:srgbClr val="C00000"/>
              </a:buClr>
              <a:buFont typeface="Wingdings" panose="05000000000000000000" pitchFamily="2" charset="2"/>
              <a:buChar char="Ø"/>
            </a:pPr>
            <a:r>
              <a:rPr lang="en-US" altLang="zh-CN" sz="2000" b="1" i="1" dirty="0">
                <a:solidFill>
                  <a:srgbClr val="000066"/>
                </a:solidFill>
                <a:ea typeface="幼圆" panose="02010509060101010101" pitchFamily="49" charset="-122"/>
                <a:cs typeface="Times New Roman" panose="02020603050405020304" pitchFamily="18" charset="0"/>
              </a:rPr>
              <a:t>p</a:t>
            </a:r>
            <a:r>
              <a:rPr lang="en-US"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s</a:t>
            </a:r>
            <a:r>
              <a:rPr lang="zh-CN" altLang="en-US" sz="2000" b="1" dirty="0">
                <a:solidFill>
                  <a:srgbClr val="000066"/>
                </a:solidFill>
                <a:ea typeface="幼圆" panose="02010509060101010101" pitchFamily="49" charset="-122"/>
                <a:cs typeface="Times New Roman" panose="02020603050405020304" pitchFamily="18" charset="0"/>
              </a:rPr>
              <a:t>曲线呈直线</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65" name="矩形 64"/>
          <p:cNvSpPr/>
          <p:nvPr/>
        </p:nvSpPr>
        <p:spPr>
          <a:xfrm>
            <a:off x="7318375" y="4973622"/>
            <a:ext cx="1198075" cy="370166"/>
          </a:xfrm>
          <a:prstGeom prst="rect">
            <a:avLst/>
          </a:prstGeom>
        </p:spPr>
        <p:txBody>
          <a:bodyPr wrap="square">
            <a:spAutoFit/>
          </a:bodyPr>
          <a:lstStyle/>
          <a:p>
            <a:pPr>
              <a:buClr>
                <a:srgbClr val="C00000"/>
              </a:buClr>
            </a:pPr>
            <a:r>
              <a:rPr lang="zh-CN" altLang="en-US" sz="18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弹性区</a:t>
            </a:r>
          </a:p>
        </p:txBody>
      </p:sp>
      <p:sp>
        <p:nvSpPr>
          <p:cNvPr id="33" name="Text Box 21"/>
          <p:cNvSpPr txBox="1">
            <a:spLocks noChangeArrowheads="1"/>
          </p:cNvSpPr>
          <p:nvPr/>
        </p:nvSpPr>
        <p:spPr bwMode="auto">
          <a:xfrm>
            <a:off x="6161302" y="3469166"/>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990000"/>
                </a:solidFill>
                <a:latin typeface="Times New Roman" panose="02020603050405020304" pitchFamily="18" charset="0"/>
              </a:rPr>
              <a:t>p</a:t>
            </a:r>
            <a:endParaRPr kumimoji="1" lang="en-US" altLang="zh-CN" sz="2400" b="1" baseline="-25000" dirty="0">
              <a:solidFill>
                <a:srgbClr val="990000"/>
              </a:solidFill>
              <a:latin typeface="Times New Roman" panose="02020603050405020304" pitchFamily="18" charset="0"/>
            </a:endParaRPr>
          </a:p>
        </p:txBody>
      </p:sp>
      <p:sp>
        <p:nvSpPr>
          <p:cNvPr id="31" name="Rectangle 24" descr="深色上对角线"/>
          <p:cNvSpPr>
            <a:spLocks noChangeArrowheads="1"/>
          </p:cNvSpPr>
          <p:nvPr/>
        </p:nvSpPr>
        <p:spPr bwMode="auto">
          <a:xfrm>
            <a:off x="5597336" y="4152392"/>
            <a:ext cx="930275" cy="152400"/>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38" name="Text Box 15"/>
          <p:cNvSpPr txBox="1">
            <a:spLocks noChangeArrowheads="1"/>
          </p:cNvSpPr>
          <p:nvPr/>
        </p:nvSpPr>
        <p:spPr bwMode="auto">
          <a:xfrm rot="16200000">
            <a:off x="262404" y="4473810"/>
            <a:ext cx="10230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s</a:t>
            </a:r>
            <a:r>
              <a:rPr kumimoji="1" lang="en-US" altLang="zh-CN" sz="2400" b="1" dirty="0">
                <a:solidFill>
                  <a:srgbClr val="000066"/>
                </a:solidFill>
                <a:latin typeface="Times New Roman" panose="02020603050405020304" pitchFamily="18" charset="0"/>
              </a:rPr>
              <a:t>(mm)</a:t>
            </a:r>
          </a:p>
        </p:txBody>
      </p:sp>
      <p:sp>
        <p:nvSpPr>
          <p:cNvPr id="39" name="Text Box 16"/>
          <p:cNvSpPr txBox="1">
            <a:spLocks noChangeArrowheads="1"/>
          </p:cNvSpPr>
          <p:nvPr/>
        </p:nvSpPr>
        <p:spPr bwMode="auto">
          <a:xfrm>
            <a:off x="2797325" y="1246946"/>
            <a:ext cx="1056700"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r>
              <a:rPr kumimoji="1" lang="en-US" altLang="zh-CN" sz="2400" b="1" dirty="0">
                <a:solidFill>
                  <a:srgbClr val="000066"/>
                </a:solidFill>
                <a:latin typeface="Times New Roman" panose="02020603050405020304" pitchFamily="18" charset="0"/>
              </a:rPr>
              <a:t>(</a:t>
            </a:r>
            <a:r>
              <a:rPr kumimoji="1" lang="en-US" altLang="zh-CN" sz="2400" b="1" dirty="0" err="1">
                <a:solidFill>
                  <a:srgbClr val="000066"/>
                </a:solidFill>
                <a:latin typeface="Times New Roman" panose="02020603050405020304" pitchFamily="18" charset="0"/>
              </a:rPr>
              <a:t>kPa</a:t>
            </a:r>
            <a:r>
              <a:rPr kumimoji="1" lang="en-US" altLang="zh-CN" sz="2400" b="1" dirty="0">
                <a:solidFill>
                  <a:srgbClr val="000066"/>
                </a:solidFill>
                <a:latin typeface="Times New Roman" panose="02020603050405020304" pitchFamily="18" charset="0"/>
              </a:rPr>
              <a:t>)</a:t>
            </a:r>
          </a:p>
        </p:txBody>
      </p:sp>
      <p:sp>
        <p:nvSpPr>
          <p:cNvPr id="40" name="Text Box 17"/>
          <p:cNvSpPr txBox="1">
            <a:spLocks noChangeArrowheads="1"/>
          </p:cNvSpPr>
          <p:nvPr/>
        </p:nvSpPr>
        <p:spPr bwMode="auto">
          <a:xfrm>
            <a:off x="356415" y="1290221"/>
            <a:ext cx="42351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rPr>
              <a:t>O</a:t>
            </a:r>
          </a:p>
        </p:txBody>
      </p:sp>
      <p:sp>
        <p:nvSpPr>
          <p:cNvPr id="43" name="任意多边形 42"/>
          <p:cNvSpPr/>
          <p:nvPr/>
        </p:nvSpPr>
        <p:spPr bwMode="auto">
          <a:xfrm>
            <a:off x="511892" y="1775542"/>
            <a:ext cx="2934182" cy="3312000"/>
          </a:xfrm>
          <a:custGeom>
            <a:avLst/>
            <a:gdLst>
              <a:gd name="connsiteX0" fmla="*/ 2772137 w 2772137"/>
              <a:gd name="connsiteY0" fmla="*/ 0 h 3466618"/>
              <a:gd name="connsiteX1" fmla="*/ 0 w 2772137"/>
              <a:gd name="connsiteY1" fmla="*/ 0 h 3466618"/>
              <a:gd name="connsiteX2" fmla="*/ 0 w 2772137"/>
              <a:gd name="connsiteY2" fmla="*/ 3466618 h 3466618"/>
            </a:gdLst>
            <a:ahLst/>
            <a:cxnLst>
              <a:cxn ang="0">
                <a:pos x="connsiteX0" y="connsiteY0"/>
              </a:cxn>
              <a:cxn ang="0">
                <a:pos x="connsiteX1" y="connsiteY1"/>
              </a:cxn>
              <a:cxn ang="0">
                <a:pos x="connsiteX2" y="connsiteY2"/>
              </a:cxn>
            </a:cxnLst>
            <a:rect l="l" t="t" r="r" b="b"/>
            <a:pathLst>
              <a:path w="2772137" h="3466618">
                <a:moveTo>
                  <a:pt x="2772137" y="0"/>
                </a:moveTo>
                <a:lnTo>
                  <a:pt x="0" y="0"/>
                </a:lnTo>
                <a:lnTo>
                  <a:pt x="0" y="3466618"/>
                </a:lnTo>
              </a:path>
            </a:pathLst>
          </a:custGeom>
          <a:noFill/>
          <a:ln w="1905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4" name="任意多边形 43"/>
          <p:cNvSpPr/>
          <p:nvPr/>
        </p:nvSpPr>
        <p:spPr bwMode="auto">
          <a:xfrm>
            <a:off x="523465" y="1787117"/>
            <a:ext cx="2307342" cy="3024511"/>
          </a:xfrm>
          <a:custGeom>
            <a:avLst/>
            <a:gdLst>
              <a:gd name="connsiteX0" fmla="*/ 0 w 2453833"/>
              <a:gd name="connsiteY0" fmla="*/ 0 h 3090440"/>
              <a:gd name="connsiteX1" fmla="*/ 1116957 w 2453833"/>
              <a:gd name="connsiteY1" fmla="*/ 653969 h 3090440"/>
              <a:gd name="connsiteX2" fmla="*/ 1475772 w 2453833"/>
              <a:gd name="connsiteY2" fmla="*/ 850739 h 3090440"/>
              <a:gd name="connsiteX3" fmla="*/ 1678329 w 2453833"/>
              <a:gd name="connsiteY3" fmla="*/ 983848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53833 w 2453833"/>
              <a:gd name="connsiteY8"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786782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88131 w 2453833"/>
              <a:gd name="connsiteY6" fmla="*/ 1841076 h 3090440"/>
              <a:gd name="connsiteX7" fmla="*/ 2291172 w 2453833"/>
              <a:gd name="connsiteY7" fmla="*/ 2430683 h 3090440"/>
              <a:gd name="connsiteX8" fmla="*/ 2453833 w 2453833"/>
              <a:gd name="connsiteY8" fmla="*/ 3090440 h 3090440"/>
              <a:gd name="connsiteX0" fmla="*/ 0 w 2394916"/>
              <a:gd name="connsiteY0" fmla="*/ 0 h 3661343"/>
              <a:gd name="connsiteX1" fmla="*/ 1028187 w 2394916"/>
              <a:gd name="connsiteY1" fmla="*/ 353618 h 3661343"/>
              <a:gd name="connsiteX2" fmla="*/ 1508913 w 2394916"/>
              <a:gd name="connsiteY2" fmla="*/ 554870 h 3661343"/>
              <a:gd name="connsiteX3" fmla="*/ 1816240 w 2394916"/>
              <a:gd name="connsiteY3" fmla="*/ 882200 h 3661343"/>
              <a:gd name="connsiteX4" fmla="*/ 1979934 w 2394916"/>
              <a:gd name="connsiteY4" fmla="*/ 1140471 h 3661343"/>
              <a:gd name="connsiteX5" fmla="*/ 2094478 w 2394916"/>
              <a:gd name="connsiteY5" fmla="*/ 1451003 h 3661343"/>
              <a:gd name="connsiteX6" fmla="*/ 2188131 w 2394916"/>
              <a:gd name="connsiteY6" fmla="*/ 1841076 h 3661343"/>
              <a:gd name="connsiteX7" fmla="*/ 2291172 w 2394916"/>
              <a:gd name="connsiteY7" fmla="*/ 2430683 h 3661343"/>
              <a:gd name="connsiteX8" fmla="*/ 2394916 w 2394916"/>
              <a:gd name="connsiteY8" fmla="*/ 3661343 h 3661343"/>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291172 w 2402281"/>
              <a:gd name="connsiteY7" fmla="*/ 2430683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13266 w 2402281"/>
              <a:gd name="connsiteY7" fmla="*/ 2814064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206543 w 2402281"/>
              <a:gd name="connsiteY6" fmla="*/ 1907751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280127 w 2402281"/>
              <a:gd name="connsiteY8" fmla="*/ 2839066 h 4053058"/>
              <a:gd name="connsiteX9" fmla="*/ 2402281 w 2402281"/>
              <a:gd name="connsiteY9" fmla="*/ 4053058 h 4053058"/>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80127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54350 w 2299175"/>
              <a:gd name="connsiteY8" fmla="*/ 2997419 h 4073895"/>
              <a:gd name="connsiteX9" fmla="*/ 2299175 w 2299175"/>
              <a:gd name="connsiteY9" fmla="*/ 4073895 h 4073895"/>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816240 w 2262351"/>
              <a:gd name="connsiteY4" fmla="*/ 882200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2569 w 2262351"/>
              <a:gd name="connsiteY5" fmla="*/ 1115468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35938 w 2262351"/>
              <a:gd name="connsiteY8" fmla="*/ 3005754 h 4107232"/>
              <a:gd name="connsiteX9" fmla="*/ 2262351 w 2262351"/>
              <a:gd name="connsiteY9" fmla="*/ 4107232 h 4107232"/>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35938"/>
              <a:gd name="connsiteY0" fmla="*/ 0 h 4001022"/>
              <a:gd name="connsiteX1" fmla="*/ 976633 w 2235938"/>
              <a:gd name="connsiteY1" fmla="*/ 286942 h 4001022"/>
              <a:gd name="connsiteX2" fmla="*/ 1272134 w 2235938"/>
              <a:gd name="connsiteY2" fmla="*/ 403953 h 4001022"/>
              <a:gd name="connsiteX3" fmla="*/ 1508913 w 2235938"/>
              <a:gd name="connsiteY3" fmla="*/ 554870 h 4001022"/>
              <a:gd name="connsiteX4" fmla="*/ 1790464 w 2235938"/>
              <a:gd name="connsiteY4" fmla="*/ 811358 h 4001022"/>
              <a:gd name="connsiteX5" fmla="*/ 1983616 w 2235938"/>
              <a:gd name="connsiteY5" fmla="*/ 1077962 h 4001022"/>
              <a:gd name="connsiteX6" fmla="*/ 2094478 w 2235938"/>
              <a:gd name="connsiteY6" fmla="*/ 1451003 h 4001022"/>
              <a:gd name="connsiteX7" fmla="*/ 2162355 w 2235938"/>
              <a:gd name="connsiteY7" fmla="*/ 1920252 h 4001022"/>
              <a:gd name="connsiteX8" fmla="*/ 2235938 w 2235938"/>
              <a:gd name="connsiteY8" fmla="*/ 3005754 h 4001022"/>
              <a:gd name="connsiteX9" fmla="*/ 2228368 w 2235938"/>
              <a:gd name="connsiteY9" fmla="*/ 4001022 h 4001022"/>
              <a:gd name="connsiteX0" fmla="*/ 0 w 2228584"/>
              <a:gd name="connsiteY0" fmla="*/ 0 h 4001022"/>
              <a:gd name="connsiteX1" fmla="*/ 976633 w 2228584"/>
              <a:gd name="connsiteY1" fmla="*/ 286942 h 4001022"/>
              <a:gd name="connsiteX2" fmla="*/ 1272134 w 2228584"/>
              <a:gd name="connsiteY2" fmla="*/ 403953 h 4001022"/>
              <a:gd name="connsiteX3" fmla="*/ 1508913 w 2228584"/>
              <a:gd name="connsiteY3" fmla="*/ 554870 h 4001022"/>
              <a:gd name="connsiteX4" fmla="*/ 1790464 w 2228584"/>
              <a:gd name="connsiteY4" fmla="*/ 811358 h 4001022"/>
              <a:gd name="connsiteX5" fmla="*/ 1983616 w 2228584"/>
              <a:gd name="connsiteY5" fmla="*/ 1077962 h 4001022"/>
              <a:gd name="connsiteX6" fmla="*/ 2094478 w 2228584"/>
              <a:gd name="connsiteY6" fmla="*/ 1451003 h 4001022"/>
              <a:gd name="connsiteX7" fmla="*/ 2162355 w 2228584"/>
              <a:gd name="connsiteY7" fmla="*/ 1920252 h 4001022"/>
              <a:gd name="connsiteX8" fmla="*/ 2213002 w 2228584"/>
              <a:gd name="connsiteY8" fmla="*/ 3005755 h 4001022"/>
              <a:gd name="connsiteX9" fmla="*/ 2228368 w 2228584"/>
              <a:gd name="connsiteY9" fmla="*/ 4001022 h 4001022"/>
              <a:gd name="connsiteX0" fmla="*/ 0 w 2218549"/>
              <a:gd name="connsiteY0" fmla="*/ 0 h 3762911"/>
              <a:gd name="connsiteX1" fmla="*/ 976633 w 2218549"/>
              <a:gd name="connsiteY1" fmla="*/ 286942 h 3762911"/>
              <a:gd name="connsiteX2" fmla="*/ 1272134 w 2218549"/>
              <a:gd name="connsiteY2" fmla="*/ 403953 h 3762911"/>
              <a:gd name="connsiteX3" fmla="*/ 1508913 w 2218549"/>
              <a:gd name="connsiteY3" fmla="*/ 554870 h 3762911"/>
              <a:gd name="connsiteX4" fmla="*/ 1790464 w 2218549"/>
              <a:gd name="connsiteY4" fmla="*/ 811358 h 3762911"/>
              <a:gd name="connsiteX5" fmla="*/ 1983616 w 2218549"/>
              <a:gd name="connsiteY5" fmla="*/ 1077962 h 3762911"/>
              <a:gd name="connsiteX6" fmla="*/ 2094478 w 2218549"/>
              <a:gd name="connsiteY6" fmla="*/ 1451003 h 3762911"/>
              <a:gd name="connsiteX7" fmla="*/ 2162355 w 2218549"/>
              <a:gd name="connsiteY7" fmla="*/ 1920252 h 3762911"/>
              <a:gd name="connsiteX8" fmla="*/ 2213002 w 2218549"/>
              <a:gd name="connsiteY8" fmla="*/ 3005755 h 3762911"/>
              <a:gd name="connsiteX9" fmla="*/ 2218144 w 2218549"/>
              <a:gd name="connsiteY9" fmla="*/ 3762911 h 376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8549" h="3762911">
                <a:moveTo>
                  <a:pt x="0" y="0"/>
                </a:moveTo>
                <a:lnTo>
                  <a:pt x="976633" y="286942"/>
                </a:lnTo>
                <a:cubicBezTo>
                  <a:pt x="1059176" y="321778"/>
                  <a:pt x="1189591" y="369117"/>
                  <a:pt x="1272134" y="403953"/>
                </a:cubicBezTo>
                <a:cubicBezTo>
                  <a:pt x="1359006" y="448608"/>
                  <a:pt x="1424980" y="489053"/>
                  <a:pt x="1508913" y="554870"/>
                </a:cubicBezTo>
                <a:cubicBezTo>
                  <a:pt x="1617547" y="622131"/>
                  <a:pt x="1728531" y="756124"/>
                  <a:pt x="1790464" y="811358"/>
                </a:cubicBezTo>
                <a:cubicBezTo>
                  <a:pt x="1852397" y="866592"/>
                  <a:pt x="1926810" y="1001914"/>
                  <a:pt x="1983616" y="1077962"/>
                </a:cubicBezTo>
                <a:cubicBezTo>
                  <a:pt x="2034285" y="1184570"/>
                  <a:pt x="2064688" y="1310621"/>
                  <a:pt x="2094478" y="1451003"/>
                </a:cubicBezTo>
                <a:lnTo>
                  <a:pt x="2162355" y="1920252"/>
                </a:lnTo>
                <a:lnTo>
                  <a:pt x="2213002" y="3005755"/>
                </a:lnTo>
                <a:cubicBezTo>
                  <a:pt x="2210479" y="3337511"/>
                  <a:pt x="2220667" y="3431155"/>
                  <a:pt x="2218144" y="3762911"/>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6" name="椭圆 45"/>
          <p:cNvSpPr/>
          <p:nvPr/>
        </p:nvSpPr>
        <p:spPr bwMode="auto">
          <a:xfrm>
            <a:off x="2520733" y="2585956"/>
            <a:ext cx="77338" cy="77338"/>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7" name="Text Box 17"/>
          <p:cNvSpPr txBox="1">
            <a:spLocks noChangeArrowheads="1"/>
          </p:cNvSpPr>
          <p:nvPr/>
        </p:nvSpPr>
        <p:spPr bwMode="auto">
          <a:xfrm>
            <a:off x="1215954" y="1919416"/>
            <a:ext cx="338555"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a</a:t>
            </a:r>
          </a:p>
        </p:txBody>
      </p:sp>
      <p:sp>
        <p:nvSpPr>
          <p:cNvPr id="30"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
        <p:nvSpPr>
          <p:cNvPr id="48" name="Text Box 17"/>
          <p:cNvSpPr txBox="1">
            <a:spLocks noChangeArrowheads="1"/>
          </p:cNvSpPr>
          <p:nvPr/>
        </p:nvSpPr>
        <p:spPr bwMode="auto">
          <a:xfrm>
            <a:off x="2249917" y="2539791"/>
            <a:ext cx="35618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b</a:t>
            </a:r>
          </a:p>
        </p:txBody>
      </p:sp>
      <p:sp>
        <p:nvSpPr>
          <p:cNvPr id="49" name="Text Box 17"/>
          <p:cNvSpPr txBox="1">
            <a:spLocks noChangeArrowheads="1"/>
          </p:cNvSpPr>
          <p:nvPr/>
        </p:nvSpPr>
        <p:spPr bwMode="auto">
          <a:xfrm>
            <a:off x="2443804" y="4004156"/>
            <a:ext cx="32092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c</a:t>
            </a:r>
          </a:p>
        </p:txBody>
      </p:sp>
      <p:cxnSp>
        <p:nvCxnSpPr>
          <p:cNvPr id="4" name="直接连接符 3"/>
          <p:cNvCxnSpPr/>
          <p:nvPr/>
        </p:nvCxnSpPr>
        <p:spPr bwMode="auto">
          <a:xfrm>
            <a:off x="521208" y="1786128"/>
            <a:ext cx="877824" cy="198120"/>
          </a:xfrm>
          <a:prstGeom prst="line">
            <a:avLst/>
          </a:pr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椭圆 44"/>
          <p:cNvSpPr/>
          <p:nvPr/>
        </p:nvSpPr>
        <p:spPr bwMode="auto">
          <a:xfrm>
            <a:off x="1390243" y="1955885"/>
            <a:ext cx="77338" cy="77338"/>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329536890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barn(inVertical)">
                                      <p:cBhvr>
                                        <p:cTn id="10" dur="500"/>
                                        <p:tgtEl>
                                          <p:spTgt spid="55"/>
                                        </p:tgtEl>
                                      </p:cBhvr>
                                    </p:animEffect>
                                  </p:childTnLst>
                                </p:cTn>
                              </p:par>
                            </p:childTnLst>
                          </p:cTn>
                        </p:par>
                        <p:par>
                          <p:cTn id="11" fill="hold">
                            <p:stCondLst>
                              <p:cond delay="500"/>
                            </p:stCondLst>
                            <p:childTnLst>
                              <p:par>
                                <p:cTn id="12" presetID="35" presetClass="emph" presetSubtype="0" repeatCount="indefinite" fill="hold" nodeType="afterEffect">
                                  <p:stCondLst>
                                    <p:cond delay="0"/>
                                  </p:stCondLst>
                                  <p:endCondLst>
                                    <p:cond evt="onNext" delay="0">
                                      <p:tgtEl>
                                        <p:sldTgt/>
                                      </p:tgtEl>
                                    </p:cond>
                                  </p:endCondLst>
                                  <p:childTnLst>
                                    <p:anim calcmode="discrete" valueType="str">
                                      <p:cBhvr>
                                        <p:cTn id="13"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bwMode="auto">
          <a:xfrm>
            <a:off x="3999506" y="4283911"/>
            <a:ext cx="4245997" cy="1184744"/>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37" name="Freeform 29" descr="再生纸"/>
          <p:cNvSpPr>
            <a:spLocks/>
          </p:cNvSpPr>
          <p:nvPr/>
        </p:nvSpPr>
        <p:spPr bwMode="auto">
          <a:xfrm flipH="1">
            <a:off x="6524360" y="4267471"/>
            <a:ext cx="316265" cy="474702"/>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000066"/>
            </a:solidFill>
            <a:prstDash val="dash"/>
            <a:round/>
            <a:headEnd/>
            <a:tailEnd/>
          </a:ln>
        </p:spPr>
        <p:txBody>
          <a:bodyPr wrap="none" anchor="ctr"/>
          <a:lstStyle/>
          <a:p>
            <a:endParaRPr lang="zh-CN" altLang="en-US"/>
          </a:p>
        </p:txBody>
      </p:sp>
      <p:sp>
        <p:nvSpPr>
          <p:cNvPr id="38" name="Freeform 29" descr="再生纸"/>
          <p:cNvSpPr>
            <a:spLocks/>
          </p:cNvSpPr>
          <p:nvPr/>
        </p:nvSpPr>
        <p:spPr bwMode="auto">
          <a:xfrm>
            <a:off x="5295412" y="4265861"/>
            <a:ext cx="316265" cy="474702"/>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000066"/>
            </a:solidFill>
            <a:prstDash val="dash"/>
            <a:round/>
            <a:headEnd/>
            <a:tailEnd/>
          </a:ln>
        </p:spPr>
        <p:txBody>
          <a:bodyPr wrap="none" anchor="ctr"/>
          <a:lstStyle/>
          <a:p>
            <a:endParaRPr lang="zh-CN" altLang="en-US"/>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11</a:t>
            </a:fld>
            <a:endParaRPr lang="zh-CN" altLang="en-US" dirty="0">
              <a:solidFill>
                <a:srgbClr val="C00000"/>
              </a:solidFill>
            </a:endParaRPr>
          </a:p>
        </p:txBody>
      </p:sp>
      <p:sp>
        <p:nvSpPr>
          <p:cNvPr id="56"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现场载荷试验</a:t>
            </a:r>
          </a:p>
        </p:txBody>
      </p:sp>
      <p:grpSp>
        <p:nvGrpSpPr>
          <p:cNvPr id="59" name="Group 22"/>
          <p:cNvGrpSpPr>
            <a:grpSpLocks/>
          </p:cNvGrpSpPr>
          <p:nvPr/>
        </p:nvGrpSpPr>
        <p:grpSpPr bwMode="auto">
          <a:xfrm>
            <a:off x="4005073" y="3737524"/>
            <a:ext cx="4241801" cy="533400"/>
            <a:chOff x="1584" y="1056"/>
            <a:chExt cx="2672" cy="336"/>
          </a:xfrm>
        </p:grpSpPr>
        <p:sp>
          <p:nvSpPr>
            <p:cNvPr id="60" name="Line 23"/>
            <p:cNvSpPr>
              <a:spLocks noChangeShapeType="1"/>
            </p:cNvSpPr>
            <p:nvPr/>
          </p:nvSpPr>
          <p:spPr bwMode="auto">
            <a:xfrm>
              <a:off x="1584" y="1392"/>
              <a:ext cx="2672"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5"/>
            <p:cNvSpPr>
              <a:spLocks noChangeShapeType="1"/>
            </p:cNvSpPr>
            <p:nvPr/>
          </p:nvSpPr>
          <p:spPr bwMode="auto">
            <a:xfrm>
              <a:off x="2880" y="1056"/>
              <a:ext cx="0" cy="240"/>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3" name="Text Box 21"/>
          <p:cNvSpPr txBox="1">
            <a:spLocks noChangeArrowheads="1"/>
          </p:cNvSpPr>
          <p:nvPr/>
        </p:nvSpPr>
        <p:spPr bwMode="auto">
          <a:xfrm>
            <a:off x="6161302" y="3435298"/>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990000"/>
                </a:solidFill>
                <a:latin typeface="Times New Roman" panose="02020603050405020304" pitchFamily="18" charset="0"/>
              </a:rPr>
              <a:t>p</a:t>
            </a:r>
            <a:endParaRPr kumimoji="1" lang="en-US" altLang="zh-CN" sz="2400" b="1" baseline="-25000" dirty="0">
              <a:solidFill>
                <a:srgbClr val="990000"/>
              </a:solidFill>
              <a:latin typeface="Times New Roman" panose="02020603050405020304" pitchFamily="18" charset="0"/>
            </a:endParaRPr>
          </a:p>
        </p:txBody>
      </p:sp>
      <p:sp>
        <p:nvSpPr>
          <p:cNvPr id="35" name="矩形 34"/>
          <p:cNvSpPr/>
          <p:nvPr/>
        </p:nvSpPr>
        <p:spPr>
          <a:xfrm>
            <a:off x="4284233" y="1420429"/>
            <a:ext cx="3448380" cy="517065"/>
          </a:xfrm>
          <a:prstGeom prst="rect">
            <a:avLst/>
          </a:prstGeom>
        </p:spPr>
        <p:txBody>
          <a:bodyPr wrap="none">
            <a:spAutoFit/>
          </a:bodyPr>
          <a:lstStyle/>
          <a:p>
            <a:r>
              <a:rPr lang="en-US" altLang="zh-CN" sz="2400" b="1" dirty="0">
                <a:solidFill>
                  <a:srgbClr val="000066"/>
                </a:solidFill>
                <a:ea typeface="幼圆" panose="02010509060101010101" pitchFamily="49" charset="-122"/>
                <a:cs typeface="Times New Roman" panose="02020603050405020304" pitchFamily="18" charset="0"/>
              </a:rPr>
              <a:t>2</a:t>
            </a:r>
            <a:r>
              <a:rPr lang="zh-CN" altLang="en-US" sz="2400" b="1" dirty="0">
                <a:solidFill>
                  <a:srgbClr val="000066"/>
                </a:solidFill>
                <a:ea typeface="幼圆" panose="02010509060101010101" pitchFamily="49" charset="-122"/>
                <a:cs typeface="Times New Roman" panose="02020603050405020304" pitchFamily="18" charset="0"/>
              </a:rPr>
              <a:t>）局部剪损阶段</a:t>
            </a:r>
            <a:r>
              <a:rPr lang="zh-CN" altLang="zh-CN" sz="2400" b="1" dirty="0">
                <a:solidFill>
                  <a:srgbClr val="000066"/>
                </a:solidFill>
                <a:ea typeface="幼圆" panose="02010509060101010101" pitchFamily="49" charset="-122"/>
                <a:cs typeface="Times New Roman" panose="02020603050405020304" pitchFamily="18" charset="0"/>
              </a:rPr>
              <a:t>（</a:t>
            </a:r>
            <a:r>
              <a:rPr lang="en-US" altLang="zh-CN" sz="2400" b="1" dirty="0">
                <a:solidFill>
                  <a:srgbClr val="000066"/>
                </a:solidFill>
                <a:ea typeface="幼圆" panose="02010509060101010101" pitchFamily="49" charset="-122"/>
                <a:cs typeface="Times New Roman" panose="02020603050405020304" pitchFamily="18" charset="0"/>
              </a:rPr>
              <a:t>ab</a:t>
            </a:r>
            <a:r>
              <a:rPr lang="zh-CN" altLang="zh-CN" sz="2400" b="1" dirty="0">
                <a:solidFill>
                  <a:srgbClr val="000066"/>
                </a:solidFill>
                <a:ea typeface="幼圆" panose="02010509060101010101" pitchFamily="49" charset="-122"/>
                <a:cs typeface="Times New Roman" panose="02020603050405020304" pitchFamily="18" charset="0"/>
              </a:rPr>
              <a:t>）</a:t>
            </a:r>
            <a:endParaRPr lang="zh-CN" altLang="en-US" sz="2400" b="1" dirty="0">
              <a:solidFill>
                <a:srgbClr val="000066"/>
              </a:solidFill>
              <a:ea typeface="幼圆" panose="02010509060101010101" pitchFamily="49" charset="-122"/>
              <a:cs typeface="Times New Roman" panose="02020603050405020304" pitchFamily="18" charset="0"/>
            </a:endParaRPr>
          </a:p>
        </p:txBody>
      </p:sp>
      <p:sp>
        <p:nvSpPr>
          <p:cNvPr id="36" name="矩形 35"/>
          <p:cNvSpPr/>
          <p:nvPr/>
        </p:nvSpPr>
        <p:spPr>
          <a:xfrm>
            <a:off x="4352474" y="1938249"/>
            <a:ext cx="4591982" cy="1538883"/>
          </a:xfrm>
          <a:prstGeom prst="rect">
            <a:avLst/>
          </a:prstGeom>
        </p:spPr>
        <p:txBody>
          <a:bodyPr wrap="square">
            <a:spAutoFit/>
          </a:bodyPr>
          <a:lstStyle/>
          <a:p>
            <a:pPr marL="342900" indent="-342900">
              <a:lnSpc>
                <a:spcPct val="105000"/>
              </a:lnSpc>
              <a:spcBef>
                <a:spcPts val="300"/>
              </a:spcBef>
              <a:spcAft>
                <a:spcPts val="300"/>
              </a:spcAft>
              <a:buClr>
                <a:srgbClr val="C00000"/>
              </a:buClr>
              <a:buFont typeface="Wingdings" panose="05000000000000000000" pitchFamily="2" charset="2"/>
              <a:buChar char="Ø"/>
            </a:pPr>
            <a:r>
              <a:rPr lang="zh-CN" altLang="en-US" sz="2000" b="1" dirty="0">
                <a:solidFill>
                  <a:srgbClr val="000066"/>
                </a:solidFill>
                <a:ea typeface="幼圆" panose="02010509060101010101" pitchFamily="49" charset="-122"/>
                <a:cs typeface="Times New Roman" panose="02020603050405020304" pitchFamily="18" charset="0"/>
              </a:rPr>
              <a:t>基础下局部土体，通常是基础边缘下的土体，首先达到极限平衡状态</a:t>
            </a:r>
            <a:endParaRPr lang="en-US" altLang="zh-CN" sz="2000" b="1" dirty="0">
              <a:solidFill>
                <a:srgbClr val="000066"/>
              </a:solidFill>
              <a:ea typeface="幼圆" panose="02010509060101010101" pitchFamily="49" charset="-122"/>
              <a:cs typeface="Times New Roman" panose="02020603050405020304" pitchFamily="18" charset="0"/>
            </a:endParaRPr>
          </a:p>
          <a:p>
            <a:pPr marL="342900" indent="-342900">
              <a:lnSpc>
                <a:spcPct val="105000"/>
              </a:lnSpc>
              <a:spcBef>
                <a:spcPts val="300"/>
              </a:spcBef>
              <a:spcAft>
                <a:spcPts val="300"/>
              </a:spcAft>
              <a:buClr>
                <a:srgbClr val="C00000"/>
              </a:buClr>
              <a:buFont typeface="Wingdings" panose="05000000000000000000" pitchFamily="2" charset="2"/>
              <a:buChar char="Ø"/>
            </a:pPr>
            <a:r>
              <a:rPr lang="zh-CN" altLang="en-US" sz="2000" b="1" dirty="0">
                <a:solidFill>
                  <a:srgbClr val="000066"/>
                </a:solidFill>
                <a:ea typeface="幼圆" panose="02010509060101010101" pitchFamily="49" charset="-122"/>
                <a:cs typeface="Times New Roman" panose="02020603050405020304" pitchFamily="18" charset="0"/>
              </a:rPr>
              <a:t>地基土中弹性区和塑性区并存状态</a:t>
            </a:r>
            <a:endParaRPr lang="en-US" altLang="zh-CN" sz="2000" b="1" dirty="0">
              <a:solidFill>
                <a:srgbClr val="000066"/>
              </a:solidFill>
              <a:ea typeface="幼圆" panose="02010509060101010101" pitchFamily="49" charset="-122"/>
              <a:cs typeface="Times New Roman" panose="02020603050405020304" pitchFamily="18" charset="0"/>
            </a:endParaRPr>
          </a:p>
          <a:p>
            <a:pPr marL="342900" indent="-342900">
              <a:lnSpc>
                <a:spcPct val="105000"/>
              </a:lnSpc>
              <a:spcBef>
                <a:spcPts val="300"/>
              </a:spcBef>
              <a:spcAft>
                <a:spcPts val="300"/>
              </a:spcAft>
              <a:buClr>
                <a:srgbClr val="C00000"/>
              </a:buClr>
              <a:buFont typeface="Wingdings" panose="05000000000000000000" pitchFamily="2" charset="2"/>
              <a:buChar char="Ø"/>
            </a:pPr>
            <a:r>
              <a:rPr lang="en-US" altLang="zh-CN" sz="2000" b="1" i="1" dirty="0">
                <a:solidFill>
                  <a:srgbClr val="000066"/>
                </a:solidFill>
                <a:ea typeface="幼圆" panose="02010509060101010101" pitchFamily="49" charset="-122"/>
                <a:cs typeface="Times New Roman" panose="02020603050405020304" pitchFamily="18" charset="0"/>
              </a:rPr>
              <a:t>p</a:t>
            </a:r>
            <a:r>
              <a:rPr lang="en-US"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s</a:t>
            </a:r>
            <a:r>
              <a:rPr lang="zh-CN" altLang="en-US" sz="2000" b="1" dirty="0">
                <a:solidFill>
                  <a:srgbClr val="000066"/>
                </a:solidFill>
                <a:ea typeface="幼圆" panose="02010509060101010101" pitchFamily="49" charset="-122"/>
                <a:cs typeface="Times New Roman" panose="02020603050405020304" pitchFamily="18" charset="0"/>
              </a:rPr>
              <a:t>曲线开始弯曲</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39" name="矩形 38"/>
          <p:cNvSpPr/>
          <p:nvPr/>
        </p:nvSpPr>
        <p:spPr>
          <a:xfrm>
            <a:off x="7318375" y="4939754"/>
            <a:ext cx="1198075" cy="370166"/>
          </a:xfrm>
          <a:prstGeom prst="rect">
            <a:avLst/>
          </a:prstGeom>
        </p:spPr>
        <p:txBody>
          <a:bodyPr wrap="square">
            <a:spAutoFit/>
          </a:bodyPr>
          <a:lstStyle/>
          <a:p>
            <a:pPr>
              <a:buClr>
                <a:srgbClr val="C00000"/>
              </a:buClr>
            </a:pPr>
            <a:r>
              <a:rPr lang="zh-CN" altLang="en-US" sz="18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弹性区</a:t>
            </a:r>
          </a:p>
        </p:txBody>
      </p:sp>
      <p:sp>
        <p:nvSpPr>
          <p:cNvPr id="40" name="矩形 39"/>
          <p:cNvSpPr/>
          <p:nvPr/>
        </p:nvSpPr>
        <p:spPr>
          <a:xfrm>
            <a:off x="4286781" y="4675790"/>
            <a:ext cx="1014564" cy="646331"/>
          </a:xfrm>
          <a:prstGeom prst="rect">
            <a:avLst/>
          </a:prstGeom>
        </p:spPr>
        <p:txBody>
          <a:bodyPr wrap="square">
            <a:spAutoFit/>
          </a:bodyPr>
          <a:lstStyle/>
          <a:p>
            <a:pPr algn="ctr">
              <a:lnSpc>
                <a:spcPct val="100000"/>
              </a:lnSpc>
              <a:buClr>
                <a:srgbClr val="C00000"/>
              </a:buClr>
            </a:pPr>
            <a:r>
              <a:rPr lang="zh-CN" altLang="en-US" sz="18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塑性破坏区</a:t>
            </a:r>
          </a:p>
        </p:txBody>
      </p:sp>
      <p:cxnSp>
        <p:nvCxnSpPr>
          <p:cNvPr id="41" name="直接连接符 40"/>
          <p:cNvCxnSpPr/>
          <p:nvPr/>
        </p:nvCxnSpPr>
        <p:spPr bwMode="auto">
          <a:xfrm flipH="1">
            <a:off x="5185229" y="4703696"/>
            <a:ext cx="123793" cy="16100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Text Box 15"/>
          <p:cNvSpPr txBox="1">
            <a:spLocks noChangeArrowheads="1"/>
          </p:cNvSpPr>
          <p:nvPr/>
        </p:nvSpPr>
        <p:spPr bwMode="auto">
          <a:xfrm rot="16200000">
            <a:off x="262404" y="4473810"/>
            <a:ext cx="10230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s</a:t>
            </a:r>
            <a:r>
              <a:rPr kumimoji="1" lang="en-US" altLang="zh-CN" sz="2400" b="1" dirty="0">
                <a:solidFill>
                  <a:srgbClr val="000066"/>
                </a:solidFill>
                <a:latin typeface="Times New Roman" panose="02020603050405020304" pitchFamily="18" charset="0"/>
              </a:rPr>
              <a:t>(mm)</a:t>
            </a:r>
          </a:p>
        </p:txBody>
      </p:sp>
      <p:sp>
        <p:nvSpPr>
          <p:cNvPr id="70" name="Text Box 16"/>
          <p:cNvSpPr txBox="1">
            <a:spLocks noChangeArrowheads="1"/>
          </p:cNvSpPr>
          <p:nvPr/>
        </p:nvSpPr>
        <p:spPr bwMode="auto">
          <a:xfrm>
            <a:off x="2797325" y="1246946"/>
            <a:ext cx="1056700"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r>
              <a:rPr kumimoji="1" lang="en-US" altLang="zh-CN" sz="2400" b="1" dirty="0">
                <a:solidFill>
                  <a:srgbClr val="000066"/>
                </a:solidFill>
                <a:latin typeface="Times New Roman" panose="02020603050405020304" pitchFamily="18" charset="0"/>
              </a:rPr>
              <a:t>(</a:t>
            </a:r>
            <a:r>
              <a:rPr kumimoji="1" lang="en-US" altLang="zh-CN" sz="2400" b="1" dirty="0" err="1">
                <a:solidFill>
                  <a:srgbClr val="000066"/>
                </a:solidFill>
                <a:latin typeface="Times New Roman" panose="02020603050405020304" pitchFamily="18" charset="0"/>
              </a:rPr>
              <a:t>kPa</a:t>
            </a:r>
            <a:r>
              <a:rPr kumimoji="1" lang="en-US" altLang="zh-CN" sz="2400" b="1" dirty="0">
                <a:solidFill>
                  <a:srgbClr val="000066"/>
                </a:solidFill>
                <a:latin typeface="Times New Roman" panose="02020603050405020304" pitchFamily="18" charset="0"/>
              </a:rPr>
              <a:t>)</a:t>
            </a:r>
          </a:p>
        </p:txBody>
      </p:sp>
      <p:sp>
        <p:nvSpPr>
          <p:cNvPr id="71" name="Text Box 17"/>
          <p:cNvSpPr txBox="1">
            <a:spLocks noChangeArrowheads="1"/>
          </p:cNvSpPr>
          <p:nvPr/>
        </p:nvSpPr>
        <p:spPr bwMode="auto">
          <a:xfrm>
            <a:off x="356415" y="1290221"/>
            <a:ext cx="42351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rPr>
              <a:t>O</a:t>
            </a:r>
          </a:p>
        </p:txBody>
      </p:sp>
      <p:sp>
        <p:nvSpPr>
          <p:cNvPr id="74" name="任意多边形 73"/>
          <p:cNvSpPr/>
          <p:nvPr/>
        </p:nvSpPr>
        <p:spPr bwMode="auto">
          <a:xfrm>
            <a:off x="511892" y="1775542"/>
            <a:ext cx="2934182" cy="3312000"/>
          </a:xfrm>
          <a:custGeom>
            <a:avLst/>
            <a:gdLst>
              <a:gd name="connsiteX0" fmla="*/ 2772137 w 2772137"/>
              <a:gd name="connsiteY0" fmla="*/ 0 h 3466618"/>
              <a:gd name="connsiteX1" fmla="*/ 0 w 2772137"/>
              <a:gd name="connsiteY1" fmla="*/ 0 h 3466618"/>
              <a:gd name="connsiteX2" fmla="*/ 0 w 2772137"/>
              <a:gd name="connsiteY2" fmla="*/ 3466618 h 3466618"/>
            </a:gdLst>
            <a:ahLst/>
            <a:cxnLst>
              <a:cxn ang="0">
                <a:pos x="connsiteX0" y="connsiteY0"/>
              </a:cxn>
              <a:cxn ang="0">
                <a:pos x="connsiteX1" y="connsiteY1"/>
              </a:cxn>
              <a:cxn ang="0">
                <a:pos x="connsiteX2" y="connsiteY2"/>
              </a:cxn>
            </a:cxnLst>
            <a:rect l="l" t="t" r="r" b="b"/>
            <a:pathLst>
              <a:path w="2772137" h="3466618">
                <a:moveTo>
                  <a:pt x="2772137" y="0"/>
                </a:moveTo>
                <a:lnTo>
                  <a:pt x="0" y="0"/>
                </a:lnTo>
                <a:lnTo>
                  <a:pt x="0" y="3466618"/>
                </a:lnTo>
              </a:path>
            </a:pathLst>
          </a:custGeom>
          <a:noFill/>
          <a:ln w="1905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5" name="任意多边形 74"/>
          <p:cNvSpPr/>
          <p:nvPr/>
        </p:nvSpPr>
        <p:spPr bwMode="auto">
          <a:xfrm>
            <a:off x="523465" y="1787117"/>
            <a:ext cx="2307342" cy="3024511"/>
          </a:xfrm>
          <a:custGeom>
            <a:avLst/>
            <a:gdLst>
              <a:gd name="connsiteX0" fmla="*/ 0 w 2453833"/>
              <a:gd name="connsiteY0" fmla="*/ 0 h 3090440"/>
              <a:gd name="connsiteX1" fmla="*/ 1116957 w 2453833"/>
              <a:gd name="connsiteY1" fmla="*/ 653969 h 3090440"/>
              <a:gd name="connsiteX2" fmla="*/ 1475772 w 2453833"/>
              <a:gd name="connsiteY2" fmla="*/ 850739 h 3090440"/>
              <a:gd name="connsiteX3" fmla="*/ 1678329 w 2453833"/>
              <a:gd name="connsiteY3" fmla="*/ 983848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53833 w 2453833"/>
              <a:gd name="connsiteY8"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786782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88131 w 2453833"/>
              <a:gd name="connsiteY6" fmla="*/ 1841076 h 3090440"/>
              <a:gd name="connsiteX7" fmla="*/ 2291172 w 2453833"/>
              <a:gd name="connsiteY7" fmla="*/ 2430683 h 3090440"/>
              <a:gd name="connsiteX8" fmla="*/ 2453833 w 2453833"/>
              <a:gd name="connsiteY8" fmla="*/ 3090440 h 3090440"/>
              <a:gd name="connsiteX0" fmla="*/ 0 w 2394916"/>
              <a:gd name="connsiteY0" fmla="*/ 0 h 3661343"/>
              <a:gd name="connsiteX1" fmla="*/ 1028187 w 2394916"/>
              <a:gd name="connsiteY1" fmla="*/ 353618 h 3661343"/>
              <a:gd name="connsiteX2" fmla="*/ 1508913 w 2394916"/>
              <a:gd name="connsiteY2" fmla="*/ 554870 h 3661343"/>
              <a:gd name="connsiteX3" fmla="*/ 1816240 w 2394916"/>
              <a:gd name="connsiteY3" fmla="*/ 882200 h 3661343"/>
              <a:gd name="connsiteX4" fmla="*/ 1979934 w 2394916"/>
              <a:gd name="connsiteY4" fmla="*/ 1140471 h 3661343"/>
              <a:gd name="connsiteX5" fmla="*/ 2094478 w 2394916"/>
              <a:gd name="connsiteY5" fmla="*/ 1451003 h 3661343"/>
              <a:gd name="connsiteX6" fmla="*/ 2188131 w 2394916"/>
              <a:gd name="connsiteY6" fmla="*/ 1841076 h 3661343"/>
              <a:gd name="connsiteX7" fmla="*/ 2291172 w 2394916"/>
              <a:gd name="connsiteY7" fmla="*/ 2430683 h 3661343"/>
              <a:gd name="connsiteX8" fmla="*/ 2394916 w 2394916"/>
              <a:gd name="connsiteY8" fmla="*/ 3661343 h 3661343"/>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291172 w 2402281"/>
              <a:gd name="connsiteY7" fmla="*/ 2430683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13266 w 2402281"/>
              <a:gd name="connsiteY7" fmla="*/ 2814064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206543 w 2402281"/>
              <a:gd name="connsiteY6" fmla="*/ 1907751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280127 w 2402281"/>
              <a:gd name="connsiteY8" fmla="*/ 2839066 h 4053058"/>
              <a:gd name="connsiteX9" fmla="*/ 2402281 w 2402281"/>
              <a:gd name="connsiteY9" fmla="*/ 4053058 h 4053058"/>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80127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54350 w 2299175"/>
              <a:gd name="connsiteY8" fmla="*/ 2997419 h 4073895"/>
              <a:gd name="connsiteX9" fmla="*/ 2299175 w 2299175"/>
              <a:gd name="connsiteY9" fmla="*/ 4073895 h 4073895"/>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816240 w 2262351"/>
              <a:gd name="connsiteY4" fmla="*/ 882200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2569 w 2262351"/>
              <a:gd name="connsiteY5" fmla="*/ 1115468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35938 w 2262351"/>
              <a:gd name="connsiteY8" fmla="*/ 3005754 h 4107232"/>
              <a:gd name="connsiteX9" fmla="*/ 2262351 w 2262351"/>
              <a:gd name="connsiteY9" fmla="*/ 4107232 h 4107232"/>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35938"/>
              <a:gd name="connsiteY0" fmla="*/ 0 h 4001022"/>
              <a:gd name="connsiteX1" fmla="*/ 976633 w 2235938"/>
              <a:gd name="connsiteY1" fmla="*/ 286942 h 4001022"/>
              <a:gd name="connsiteX2" fmla="*/ 1272134 w 2235938"/>
              <a:gd name="connsiteY2" fmla="*/ 403953 h 4001022"/>
              <a:gd name="connsiteX3" fmla="*/ 1508913 w 2235938"/>
              <a:gd name="connsiteY3" fmla="*/ 554870 h 4001022"/>
              <a:gd name="connsiteX4" fmla="*/ 1790464 w 2235938"/>
              <a:gd name="connsiteY4" fmla="*/ 811358 h 4001022"/>
              <a:gd name="connsiteX5" fmla="*/ 1983616 w 2235938"/>
              <a:gd name="connsiteY5" fmla="*/ 1077962 h 4001022"/>
              <a:gd name="connsiteX6" fmla="*/ 2094478 w 2235938"/>
              <a:gd name="connsiteY6" fmla="*/ 1451003 h 4001022"/>
              <a:gd name="connsiteX7" fmla="*/ 2162355 w 2235938"/>
              <a:gd name="connsiteY7" fmla="*/ 1920252 h 4001022"/>
              <a:gd name="connsiteX8" fmla="*/ 2235938 w 2235938"/>
              <a:gd name="connsiteY8" fmla="*/ 3005754 h 4001022"/>
              <a:gd name="connsiteX9" fmla="*/ 2228368 w 2235938"/>
              <a:gd name="connsiteY9" fmla="*/ 4001022 h 4001022"/>
              <a:gd name="connsiteX0" fmla="*/ 0 w 2228584"/>
              <a:gd name="connsiteY0" fmla="*/ 0 h 4001022"/>
              <a:gd name="connsiteX1" fmla="*/ 976633 w 2228584"/>
              <a:gd name="connsiteY1" fmla="*/ 286942 h 4001022"/>
              <a:gd name="connsiteX2" fmla="*/ 1272134 w 2228584"/>
              <a:gd name="connsiteY2" fmla="*/ 403953 h 4001022"/>
              <a:gd name="connsiteX3" fmla="*/ 1508913 w 2228584"/>
              <a:gd name="connsiteY3" fmla="*/ 554870 h 4001022"/>
              <a:gd name="connsiteX4" fmla="*/ 1790464 w 2228584"/>
              <a:gd name="connsiteY4" fmla="*/ 811358 h 4001022"/>
              <a:gd name="connsiteX5" fmla="*/ 1983616 w 2228584"/>
              <a:gd name="connsiteY5" fmla="*/ 1077962 h 4001022"/>
              <a:gd name="connsiteX6" fmla="*/ 2094478 w 2228584"/>
              <a:gd name="connsiteY6" fmla="*/ 1451003 h 4001022"/>
              <a:gd name="connsiteX7" fmla="*/ 2162355 w 2228584"/>
              <a:gd name="connsiteY7" fmla="*/ 1920252 h 4001022"/>
              <a:gd name="connsiteX8" fmla="*/ 2213002 w 2228584"/>
              <a:gd name="connsiteY8" fmla="*/ 3005755 h 4001022"/>
              <a:gd name="connsiteX9" fmla="*/ 2228368 w 2228584"/>
              <a:gd name="connsiteY9" fmla="*/ 4001022 h 4001022"/>
              <a:gd name="connsiteX0" fmla="*/ 0 w 2218549"/>
              <a:gd name="connsiteY0" fmla="*/ 0 h 3762911"/>
              <a:gd name="connsiteX1" fmla="*/ 976633 w 2218549"/>
              <a:gd name="connsiteY1" fmla="*/ 286942 h 3762911"/>
              <a:gd name="connsiteX2" fmla="*/ 1272134 w 2218549"/>
              <a:gd name="connsiteY2" fmla="*/ 403953 h 3762911"/>
              <a:gd name="connsiteX3" fmla="*/ 1508913 w 2218549"/>
              <a:gd name="connsiteY3" fmla="*/ 554870 h 3762911"/>
              <a:gd name="connsiteX4" fmla="*/ 1790464 w 2218549"/>
              <a:gd name="connsiteY4" fmla="*/ 811358 h 3762911"/>
              <a:gd name="connsiteX5" fmla="*/ 1983616 w 2218549"/>
              <a:gd name="connsiteY5" fmla="*/ 1077962 h 3762911"/>
              <a:gd name="connsiteX6" fmla="*/ 2094478 w 2218549"/>
              <a:gd name="connsiteY6" fmla="*/ 1451003 h 3762911"/>
              <a:gd name="connsiteX7" fmla="*/ 2162355 w 2218549"/>
              <a:gd name="connsiteY7" fmla="*/ 1920252 h 3762911"/>
              <a:gd name="connsiteX8" fmla="*/ 2213002 w 2218549"/>
              <a:gd name="connsiteY8" fmla="*/ 3005755 h 3762911"/>
              <a:gd name="connsiteX9" fmla="*/ 2218144 w 2218549"/>
              <a:gd name="connsiteY9" fmla="*/ 3762911 h 376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8549" h="3762911">
                <a:moveTo>
                  <a:pt x="0" y="0"/>
                </a:moveTo>
                <a:lnTo>
                  <a:pt x="976633" y="286942"/>
                </a:lnTo>
                <a:cubicBezTo>
                  <a:pt x="1059176" y="321778"/>
                  <a:pt x="1189591" y="369117"/>
                  <a:pt x="1272134" y="403953"/>
                </a:cubicBezTo>
                <a:cubicBezTo>
                  <a:pt x="1359006" y="448608"/>
                  <a:pt x="1424980" y="489053"/>
                  <a:pt x="1508913" y="554870"/>
                </a:cubicBezTo>
                <a:cubicBezTo>
                  <a:pt x="1617547" y="622131"/>
                  <a:pt x="1728531" y="756124"/>
                  <a:pt x="1790464" y="811358"/>
                </a:cubicBezTo>
                <a:cubicBezTo>
                  <a:pt x="1852397" y="866592"/>
                  <a:pt x="1926810" y="1001914"/>
                  <a:pt x="1983616" y="1077962"/>
                </a:cubicBezTo>
                <a:cubicBezTo>
                  <a:pt x="2034285" y="1184570"/>
                  <a:pt x="2064688" y="1310621"/>
                  <a:pt x="2094478" y="1451003"/>
                </a:cubicBezTo>
                <a:lnTo>
                  <a:pt x="2162355" y="1920252"/>
                </a:lnTo>
                <a:lnTo>
                  <a:pt x="2213002" y="3005755"/>
                </a:lnTo>
                <a:cubicBezTo>
                  <a:pt x="2210479" y="3337511"/>
                  <a:pt x="2220667" y="3431155"/>
                  <a:pt x="2218144" y="3762911"/>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9" name="Text Box 46"/>
          <p:cNvSpPr txBox="1">
            <a:spLocks noChangeArrowheads="1"/>
          </p:cNvSpPr>
          <p:nvPr/>
        </p:nvSpPr>
        <p:spPr bwMode="auto">
          <a:xfrm>
            <a:off x="384649" y="601804"/>
            <a:ext cx="53557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载荷试验</a:t>
            </a:r>
            <a:r>
              <a:rPr lang="en-US" altLang="zh-CN" sz="2800" b="1" i="1" dirty="0">
                <a:solidFill>
                  <a:srgbClr val="A50021"/>
                </a:solidFill>
                <a:latin typeface="微软雅黑" panose="020B0503020204020204" pitchFamily="34" charset="-122"/>
                <a:ea typeface="微软雅黑" panose="020B0503020204020204" pitchFamily="34" charset="-122"/>
              </a:rPr>
              <a:t>p</a:t>
            </a:r>
            <a:r>
              <a:rPr lang="en-US" altLang="zh-CN" sz="2800" b="1" dirty="0">
                <a:solidFill>
                  <a:srgbClr val="A50021"/>
                </a:solidFill>
                <a:latin typeface="微软雅黑" panose="020B0503020204020204" pitchFamily="34" charset="-122"/>
                <a:ea typeface="微软雅黑" panose="020B0503020204020204" pitchFamily="34" charset="-122"/>
              </a:rPr>
              <a:t>-</a:t>
            </a:r>
            <a:r>
              <a:rPr lang="en-US" altLang="zh-CN" sz="2800" b="1" dirty="0">
                <a:solidFill>
                  <a:srgbClr val="A5002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s</a:t>
            </a:r>
            <a:r>
              <a:rPr lang="zh-CN" altLang="en-US" sz="2800" b="1" dirty="0">
                <a:solidFill>
                  <a:srgbClr val="A50021"/>
                </a:solidFill>
                <a:latin typeface="微软雅黑" panose="020B0503020204020204" pitchFamily="34" charset="-122"/>
                <a:ea typeface="微软雅黑" panose="020B0503020204020204" pitchFamily="34" charset="-122"/>
              </a:rPr>
              <a:t>曲线的三个阶段</a:t>
            </a:r>
          </a:p>
        </p:txBody>
      </p:sp>
      <p:sp>
        <p:nvSpPr>
          <p:cNvPr id="34"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
        <p:nvSpPr>
          <p:cNvPr id="44" name="Text Box 17"/>
          <p:cNvSpPr txBox="1">
            <a:spLocks noChangeArrowheads="1"/>
          </p:cNvSpPr>
          <p:nvPr/>
        </p:nvSpPr>
        <p:spPr bwMode="auto">
          <a:xfrm>
            <a:off x="2249917" y="2539791"/>
            <a:ext cx="35618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b</a:t>
            </a:r>
          </a:p>
        </p:txBody>
      </p:sp>
      <p:sp>
        <p:nvSpPr>
          <p:cNvPr id="45" name="Text Box 17"/>
          <p:cNvSpPr txBox="1">
            <a:spLocks noChangeArrowheads="1"/>
          </p:cNvSpPr>
          <p:nvPr/>
        </p:nvSpPr>
        <p:spPr bwMode="auto">
          <a:xfrm>
            <a:off x="2443804" y="4004156"/>
            <a:ext cx="32092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c</a:t>
            </a:r>
          </a:p>
        </p:txBody>
      </p:sp>
      <p:sp>
        <p:nvSpPr>
          <p:cNvPr id="46" name="Rectangle 24" descr="深色上对角线"/>
          <p:cNvSpPr>
            <a:spLocks noChangeArrowheads="1"/>
          </p:cNvSpPr>
          <p:nvPr/>
        </p:nvSpPr>
        <p:spPr bwMode="auto">
          <a:xfrm>
            <a:off x="5597336" y="4124960"/>
            <a:ext cx="930275" cy="152400"/>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2" name="任意多边形 1"/>
          <p:cNvSpPr/>
          <p:nvPr/>
        </p:nvSpPr>
        <p:spPr bwMode="auto">
          <a:xfrm>
            <a:off x="1447800" y="2006600"/>
            <a:ext cx="1117600" cy="627743"/>
          </a:xfrm>
          <a:custGeom>
            <a:avLst/>
            <a:gdLst>
              <a:gd name="connsiteX0" fmla="*/ 0 w 1117600"/>
              <a:gd name="connsiteY0" fmla="*/ 0 h 627743"/>
              <a:gd name="connsiteX1" fmla="*/ 224971 w 1117600"/>
              <a:gd name="connsiteY1" fmla="*/ 58057 h 627743"/>
              <a:gd name="connsiteX2" fmla="*/ 460829 w 1117600"/>
              <a:gd name="connsiteY2" fmla="*/ 137886 h 627743"/>
              <a:gd name="connsiteX3" fmla="*/ 671286 w 1117600"/>
              <a:gd name="connsiteY3" fmla="*/ 246743 h 627743"/>
              <a:gd name="connsiteX4" fmla="*/ 878114 w 1117600"/>
              <a:gd name="connsiteY4" fmla="*/ 377371 h 627743"/>
              <a:gd name="connsiteX5" fmla="*/ 1005114 w 1117600"/>
              <a:gd name="connsiteY5" fmla="*/ 493486 h 627743"/>
              <a:gd name="connsiteX6" fmla="*/ 1117600 w 1117600"/>
              <a:gd name="connsiteY6" fmla="*/ 627743 h 627743"/>
              <a:gd name="connsiteX0" fmla="*/ 0 w 1117600"/>
              <a:gd name="connsiteY0" fmla="*/ 0 h 627743"/>
              <a:gd name="connsiteX1" fmla="*/ 224971 w 1117600"/>
              <a:gd name="connsiteY1" fmla="*/ 58057 h 627743"/>
              <a:gd name="connsiteX2" fmla="*/ 460829 w 1117600"/>
              <a:gd name="connsiteY2" fmla="*/ 137886 h 627743"/>
              <a:gd name="connsiteX3" fmla="*/ 671286 w 1117600"/>
              <a:gd name="connsiteY3" fmla="*/ 246743 h 627743"/>
              <a:gd name="connsiteX4" fmla="*/ 878114 w 1117600"/>
              <a:gd name="connsiteY4" fmla="*/ 381000 h 627743"/>
              <a:gd name="connsiteX5" fmla="*/ 1005114 w 1117600"/>
              <a:gd name="connsiteY5" fmla="*/ 493486 h 627743"/>
              <a:gd name="connsiteX6" fmla="*/ 1117600 w 1117600"/>
              <a:gd name="connsiteY6" fmla="*/ 627743 h 62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7600" h="627743">
                <a:moveTo>
                  <a:pt x="0" y="0"/>
                </a:moveTo>
                <a:cubicBezTo>
                  <a:pt x="74083" y="17538"/>
                  <a:pt x="148166" y="35076"/>
                  <a:pt x="224971" y="58057"/>
                </a:cubicBezTo>
                <a:cubicBezTo>
                  <a:pt x="301776" y="81038"/>
                  <a:pt x="386443" y="106438"/>
                  <a:pt x="460829" y="137886"/>
                </a:cubicBezTo>
                <a:cubicBezTo>
                  <a:pt x="535215" y="169334"/>
                  <a:pt x="601739" y="206224"/>
                  <a:pt x="671286" y="246743"/>
                </a:cubicBezTo>
                <a:cubicBezTo>
                  <a:pt x="740834" y="287262"/>
                  <a:pt x="822476" y="339876"/>
                  <a:pt x="878114" y="381000"/>
                </a:cubicBezTo>
                <a:cubicBezTo>
                  <a:pt x="933752" y="422124"/>
                  <a:pt x="965200" y="452362"/>
                  <a:pt x="1005114" y="493486"/>
                </a:cubicBezTo>
                <a:cubicBezTo>
                  <a:pt x="1045028" y="534610"/>
                  <a:pt x="1081314" y="581479"/>
                  <a:pt x="1117600" y="627743"/>
                </a:cubicBezTo>
              </a:path>
            </a:pathLst>
          </a:cu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7" name="椭圆 76"/>
          <p:cNvSpPr/>
          <p:nvPr/>
        </p:nvSpPr>
        <p:spPr bwMode="auto">
          <a:xfrm>
            <a:off x="2520733" y="2585956"/>
            <a:ext cx="77338" cy="77338"/>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3" name="Text Box 17"/>
          <p:cNvSpPr txBox="1">
            <a:spLocks noChangeArrowheads="1"/>
          </p:cNvSpPr>
          <p:nvPr/>
        </p:nvSpPr>
        <p:spPr bwMode="auto">
          <a:xfrm>
            <a:off x="1231690" y="1910672"/>
            <a:ext cx="338555"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a</a:t>
            </a:r>
          </a:p>
        </p:txBody>
      </p:sp>
      <p:sp>
        <p:nvSpPr>
          <p:cNvPr id="76" name="椭圆 75"/>
          <p:cNvSpPr/>
          <p:nvPr/>
        </p:nvSpPr>
        <p:spPr bwMode="auto">
          <a:xfrm>
            <a:off x="1390243" y="1955885"/>
            <a:ext cx="77338" cy="77338"/>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391885903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inVertical)">
                                      <p:cBhvr>
                                        <p:cTn id="7" dur="500"/>
                                        <p:tgtEl>
                                          <p:spTgt spid="3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barn(inVertical)">
                                      <p:cBhvr>
                                        <p:cTn id="10" dur="500"/>
                                        <p:tgtEl>
                                          <p:spTgt spid="35"/>
                                        </p:tgtEl>
                                      </p:cBhvr>
                                    </p:animEffect>
                                  </p:childTnLst>
                                </p:cTn>
                              </p:par>
                            </p:childTnLst>
                          </p:cTn>
                        </p:par>
                        <p:par>
                          <p:cTn id="11" fill="hold">
                            <p:stCondLst>
                              <p:cond delay="500"/>
                            </p:stCondLst>
                            <p:childTnLst>
                              <p:par>
                                <p:cTn id="12" presetID="35" presetClass="emph" presetSubtype="0" repeatCount="indefinite" fill="hold" grpId="0" nodeType="afterEffect">
                                  <p:stCondLst>
                                    <p:cond delay="0"/>
                                  </p:stCondLst>
                                  <p:endCondLst>
                                    <p:cond evt="onNext" delay="0">
                                      <p:tgtEl>
                                        <p:sldTgt/>
                                      </p:tgtEl>
                                    </p:cond>
                                  </p:endCondLst>
                                  <p:childTnLst>
                                    <p:anim calcmode="discrete" valueType="str">
                                      <p:cBhvr>
                                        <p:cTn id="13"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bwMode="auto">
          <a:xfrm>
            <a:off x="3999506" y="4250045"/>
            <a:ext cx="4245997" cy="1184744"/>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9" name="任意多边形 58"/>
          <p:cNvSpPr/>
          <p:nvPr/>
        </p:nvSpPr>
        <p:spPr bwMode="auto">
          <a:xfrm flipH="1">
            <a:off x="4137599" y="4141966"/>
            <a:ext cx="1930876" cy="790937"/>
          </a:xfrm>
          <a:custGeom>
            <a:avLst/>
            <a:gdLst>
              <a:gd name="connsiteX0" fmla="*/ 0 w 2162755"/>
              <a:gd name="connsiteY0" fmla="*/ 453224 h 628153"/>
              <a:gd name="connsiteX1" fmla="*/ 166978 w 2162755"/>
              <a:gd name="connsiteY1" fmla="*/ 536713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8153"/>
              <a:gd name="connsiteX1" fmla="*/ 166978 w 2162755"/>
              <a:gd name="connsiteY1" fmla="*/ 548640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1967948 w 2162755"/>
              <a:gd name="connsiteY6" fmla="*/ 107343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657848 w 2162755"/>
              <a:gd name="connsiteY5" fmla="*/ 254442 h 629320"/>
              <a:gd name="connsiteX6" fmla="*/ 1967948 w 2162755"/>
              <a:gd name="connsiteY6" fmla="*/ 107343 h 629320"/>
              <a:gd name="connsiteX7" fmla="*/ 2162755 w 2162755"/>
              <a:gd name="connsiteY7" fmla="*/ 0 h 62932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67948 w 2162755"/>
              <a:gd name="connsiteY6" fmla="*/ 107343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40119 w 2162755"/>
              <a:gd name="connsiteY6" fmla="*/ 111319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10140 w 2162755"/>
              <a:gd name="connsiteY5" fmla="*/ 270344 h 629540"/>
              <a:gd name="connsiteX6" fmla="*/ 1940119 w 2162755"/>
              <a:gd name="connsiteY6" fmla="*/ 111319 h 629540"/>
              <a:gd name="connsiteX7" fmla="*/ 2162755 w 2162755"/>
              <a:gd name="connsiteY7" fmla="*/ 0 h 629540"/>
              <a:gd name="connsiteX0" fmla="*/ 0 w 2162755"/>
              <a:gd name="connsiteY0" fmla="*/ 453224 h 630270"/>
              <a:gd name="connsiteX1" fmla="*/ 178935 w 2162755"/>
              <a:gd name="connsiteY1" fmla="*/ 539987 h 630270"/>
              <a:gd name="connsiteX2" fmla="*/ 405517 w 2162755"/>
              <a:gd name="connsiteY2" fmla="*/ 628153 h 630270"/>
              <a:gd name="connsiteX3" fmla="*/ 795130 w 2162755"/>
              <a:gd name="connsiteY3" fmla="*/ 588396 h 630270"/>
              <a:gd name="connsiteX4" fmla="*/ 1236428 w 2162755"/>
              <a:gd name="connsiteY4" fmla="*/ 433346 h 630270"/>
              <a:gd name="connsiteX5" fmla="*/ 1610140 w 2162755"/>
              <a:gd name="connsiteY5" fmla="*/ 270344 h 630270"/>
              <a:gd name="connsiteX6" fmla="*/ 1940119 w 2162755"/>
              <a:gd name="connsiteY6" fmla="*/ 111319 h 630270"/>
              <a:gd name="connsiteX7" fmla="*/ 2162755 w 2162755"/>
              <a:gd name="connsiteY7" fmla="*/ 0 h 630270"/>
              <a:gd name="connsiteX0" fmla="*/ 0 w 2162755"/>
              <a:gd name="connsiteY0" fmla="*/ 453224 h 605653"/>
              <a:gd name="connsiteX1" fmla="*/ 178935 w 2162755"/>
              <a:gd name="connsiteY1" fmla="*/ 539987 h 605653"/>
              <a:gd name="connsiteX2" fmla="*/ 453345 w 2162755"/>
              <a:gd name="connsiteY2" fmla="*/ 596427 h 605653"/>
              <a:gd name="connsiteX3" fmla="*/ 795130 w 2162755"/>
              <a:gd name="connsiteY3" fmla="*/ 588396 h 605653"/>
              <a:gd name="connsiteX4" fmla="*/ 1236428 w 2162755"/>
              <a:gd name="connsiteY4" fmla="*/ 433346 h 605653"/>
              <a:gd name="connsiteX5" fmla="*/ 1610140 w 2162755"/>
              <a:gd name="connsiteY5" fmla="*/ 270344 h 605653"/>
              <a:gd name="connsiteX6" fmla="*/ 1940119 w 2162755"/>
              <a:gd name="connsiteY6" fmla="*/ 111319 h 605653"/>
              <a:gd name="connsiteX7" fmla="*/ 2162755 w 2162755"/>
              <a:gd name="connsiteY7" fmla="*/ 0 h 605653"/>
              <a:gd name="connsiteX0" fmla="*/ 0 w 2162755"/>
              <a:gd name="connsiteY0" fmla="*/ 453224 h 596540"/>
              <a:gd name="connsiteX1" fmla="*/ 178935 w 2162755"/>
              <a:gd name="connsiteY1" fmla="*/ 539987 h 596540"/>
              <a:gd name="connsiteX2" fmla="*/ 453345 w 2162755"/>
              <a:gd name="connsiteY2" fmla="*/ 596427 h 596540"/>
              <a:gd name="connsiteX3" fmla="*/ 823030 w 2162755"/>
              <a:gd name="connsiteY3" fmla="*/ 550900 h 596540"/>
              <a:gd name="connsiteX4" fmla="*/ 1236428 w 2162755"/>
              <a:gd name="connsiteY4" fmla="*/ 433346 h 596540"/>
              <a:gd name="connsiteX5" fmla="*/ 1610140 w 2162755"/>
              <a:gd name="connsiteY5" fmla="*/ 270344 h 596540"/>
              <a:gd name="connsiteX6" fmla="*/ 1940119 w 2162755"/>
              <a:gd name="connsiteY6" fmla="*/ 111319 h 596540"/>
              <a:gd name="connsiteX7" fmla="*/ 2162755 w 2162755"/>
              <a:gd name="connsiteY7" fmla="*/ 0 h 596540"/>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610140 w 2162755"/>
              <a:gd name="connsiteY5" fmla="*/ 270344 h 596557"/>
              <a:gd name="connsiteX6" fmla="*/ 1940119 w 2162755"/>
              <a:gd name="connsiteY6" fmla="*/ 111319 h 596557"/>
              <a:gd name="connsiteX7" fmla="*/ 2162755 w 2162755"/>
              <a:gd name="connsiteY7" fmla="*/ 0 h 596557"/>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586225 w 2162755"/>
              <a:gd name="connsiteY5" fmla="*/ 267460 h 596557"/>
              <a:gd name="connsiteX6" fmla="*/ 1940119 w 2162755"/>
              <a:gd name="connsiteY6" fmla="*/ 111319 h 596557"/>
              <a:gd name="connsiteX7" fmla="*/ 2162755 w 2162755"/>
              <a:gd name="connsiteY7" fmla="*/ 0 h 596557"/>
              <a:gd name="connsiteX0" fmla="*/ 0 w 2162755"/>
              <a:gd name="connsiteY0" fmla="*/ 453224 h 574299"/>
              <a:gd name="connsiteX1" fmla="*/ 178935 w 2162755"/>
              <a:gd name="connsiteY1" fmla="*/ 539987 h 574299"/>
              <a:gd name="connsiteX2" fmla="*/ 461317 w 2162755"/>
              <a:gd name="connsiteY2" fmla="*/ 573352 h 574299"/>
              <a:gd name="connsiteX3" fmla="*/ 823030 w 2162755"/>
              <a:gd name="connsiteY3" fmla="*/ 550900 h 574299"/>
              <a:gd name="connsiteX4" fmla="*/ 1236428 w 2162755"/>
              <a:gd name="connsiteY4" fmla="*/ 416041 h 574299"/>
              <a:gd name="connsiteX5" fmla="*/ 1586225 w 2162755"/>
              <a:gd name="connsiteY5" fmla="*/ 267460 h 574299"/>
              <a:gd name="connsiteX6" fmla="*/ 1940119 w 2162755"/>
              <a:gd name="connsiteY6" fmla="*/ 111319 h 574299"/>
              <a:gd name="connsiteX7" fmla="*/ 2162755 w 2162755"/>
              <a:gd name="connsiteY7" fmla="*/ 0 h 574299"/>
              <a:gd name="connsiteX0" fmla="*/ 0 w 2162755"/>
              <a:gd name="connsiteY0" fmla="*/ 453224 h 573976"/>
              <a:gd name="connsiteX1" fmla="*/ 178935 w 2162755"/>
              <a:gd name="connsiteY1" fmla="*/ 539987 h 573976"/>
              <a:gd name="connsiteX2" fmla="*/ 461317 w 2162755"/>
              <a:gd name="connsiteY2" fmla="*/ 573352 h 573976"/>
              <a:gd name="connsiteX3" fmla="*/ 838974 w 2162755"/>
              <a:gd name="connsiteY3" fmla="*/ 522058 h 573976"/>
              <a:gd name="connsiteX4" fmla="*/ 1236428 w 2162755"/>
              <a:gd name="connsiteY4" fmla="*/ 416041 h 573976"/>
              <a:gd name="connsiteX5" fmla="*/ 1586225 w 2162755"/>
              <a:gd name="connsiteY5" fmla="*/ 267460 h 573976"/>
              <a:gd name="connsiteX6" fmla="*/ 1940119 w 2162755"/>
              <a:gd name="connsiteY6" fmla="*/ 111319 h 573976"/>
              <a:gd name="connsiteX7" fmla="*/ 2162755 w 2162755"/>
              <a:gd name="connsiteY7" fmla="*/ 0 h 573976"/>
              <a:gd name="connsiteX0" fmla="*/ 0 w 2162755"/>
              <a:gd name="connsiteY0" fmla="*/ 453224 h 580113"/>
              <a:gd name="connsiteX1" fmla="*/ 234735 w 2162755"/>
              <a:gd name="connsiteY1" fmla="*/ 560177 h 580113"/>
              <a:gd name="connsiteX2" fmla="*/ 461317 w 2162755"/>
              <a:gd name="connsiteY2" fmla="*/ 573352 h 580113"/>
              <a:gd name="connsiteX3" fmla="*/ 838974 w 2162755"/>
              <a:gd name="connsiteY3" fmla="*/ 522058 h 580113"/>
              <a:gd name="connsiteX4" fmla="*/ 1236428 w 2162755"/>
              <a:gd name="connsiteY4" fmla="*/ 416041 h 580113"/>
              <a:gd name="connsiteX5" fmla="*/ 1586225 w 2162755"/>
              <a:gd name="connsiteY5" fmla="*/ 267460 h 580113"/>
              <a:gd name="connsiteX6" fmla="*/ 1940119 w 2162755"/>
              <a:gd name="connsiteY6" fmla="*/ 111319 h 580113"/>
              <a:gd name="connsiteX7" fmla="*/ 2162755 w 2162755"/>
              <a:gd name="connsiteY7" fmla="*/ 0 h 580113"/>
              <a:gd name="connsiteX0" fmla="*/ 0 w 2162755"/>
              <a:gd name="connsiteY0" fmla="*/ 453224 h 578650"/>
              <a:gd name="connsiteX1" fmla="*/ 234735 w 2162755"/>
              <a:gd name="connsiteY1" fmla="*/ 560177 h 578650"/>
              <a:gd name="connsiteX2" fmla="*/ 521102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8650"/>
              <a:gd name="connsiteX1" fmla="*/ 234735 w 2162755"/>
              <a:gd name="connsiteY1" fmla="*/ 560177 h 578650"/>
              <a:gd name="connsiteX2" fmla="*/ 537045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0604"/>
              <a:gd name="connsiteX1" fmla="*/ 174949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1743"/>
              <a:gd name="connsiteX1" fmla="*/ 238721 w 2162755"/>
              <a:gd name="connsiteY1" fmla="*/ 542871 h 571743"/>
              <a:gd name="connsiteX2" fmla="*/ 537045 w 2162755"/>
              <a:gd name="connsiteY2" fmla="*/ 570468 h 571743"/>
              <a:gd name="connsiteX3" fmla="*/ 838974 w 2162755"/>
              <a:gd name="connsiteY3" fmla="*/ 522058 h 571743"/>
              <a:gd name="connsiteX4" fmla="*/ 1224470 w 2162755"/>
              <a:gd name="connsiteY4" fmla="*/ 410273 h 571743"/>
              <a:gd name="connsiteX5" fmla="*/ 1586225 w 2162755"/>
              <a:gd name="connsiteY5" fmla="*/ 267460 h 571743"/>
              <a:gd name="connsiteX6" fmla="*/ 1924176 w 2162755"/>
              <a:gd name="connsiteY6" fmla="*/ 117087 h 571743"/>
              <a:gd name="connsiteX7" fmla="*/ 2162755 w 2162755"/>
              <a:gd name="connsiteY7" fmla="*/ 0 h 571743"/>
              <a:gd name="connsiteX0" fmla="*/ 0 w 2162755"/>
              <a:gd name="connsiteY0" fmla="*/ 453224 h 570604"/>
              <a:gd name="connsiteX1" fmla="*/ 2466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468"/>
              <a:gd name="connsiteX1" fmla="*/ 214806 w 2162755"/>
              <a:gd name="connsiteY1" fmla="*/ 522681 h 570468"/>
              <a:gd name="connsiteX2" fmla="*/ 537045 w 2162755"/>
              <a:gd name="connsiteY2" fmla="*/ 570468 h 570468"/>
              <a:gd name="connsiteX3" fmla="*/ 838974 w 2162755"/>
              <a:gd name="connsiteY3" fmla="*/ 522058 h 570468"/>
              <a:gd name="connsiteX4" fmla="*/ 1224470 w 2162755"/>
              <a:gd name="connsiteY4" fmla="*/ 410273 h 570468"/>
              <a:gd name="connsiteX5" fmla="*/ 1586225 w 2162755"/>
              <a:gd name="connsiteY5" fmla="*/ 267460 h 570468"/>
              <a:gd name="connsiteX6" fmla="*/ 1924176 w 2162755"/>
              <a:gd name="connsiteY6" fmla="*/ 117087 h 570468"/>
              <a:gd name="connsiteX7" fmla="*/ 2162755 w 2162755"/>
              <a:gd name="connsiteY7" fmla="*/ 0 h 570468"/>
              <a:gd name="connsiteX0" fmla="*/ 0 w 2162755"/>
              <a:gd name="connsiteY0" fmla="*/ 453224 h 582006"/>
              <a:gd name="connsiteX1" fmla="*/ 214806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924176 w 2162755"/>
              <a:gd name="connsiteY6" fmla="*/ 117087 h 582059"/>
              <a:gd name="connsiteX7" fmla="*/ 2162755 w 2162755"/>
              <a:gd name="connsiteY7" fmla="*/ 0 h 582059"/>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876347 w 2162755"/>
              <a:gd name="connsiteY6" fmla="*/ 140160 h 582059"/>
              <a:gd name="connsiteX7" fmla="*/ 2162755 w 2162755"/>
              <a:gd name="connsiteY7" fmla="*/ 0 h 582059"/>
              <a:gd name="connsiteX0" fmla="*/ 0 w 2126884"/>
              <a:gd name="connsiteY0" fmla="*/ 421497 h 550332"/>
              <a:gd name="connsiteX1" fmla="*/ 198863 w 2126884"/>
              <a:gd name="connsiteY1" fmla="*/ 490954 h 550332"/>
              <a:gd name="connsiteX2" fmla="*/ 521103 w 2126884"/>
              <a:gd name="connsiteY2" fmla="*/ 550279 h 550332"/>
              <a:gd name="connsiteX3" fmla="*/ 854916 w 2126884"/>
              <a:gd name="connsiteY3" fmla="*/ 498984 h 550332"/>
              <a:gd name="connsiteX4" fmla="*/ 1224470 w 2126884"/>
              <a:gd name="connsiteY4" fmla="*/ 378546 h 550332"/>
              <a:gd name="connsiteX5" fmla="*/ 1586225 w 2126884"/>
              <a:gd name="connsiteY5" fmla="*/ 235733 h 550332"/>
              <a:gd name="connsiteX6" fmla="*/ 1876347 w 2126884"/>
              <a:gd name="connsiteY6" fmla="*/ 108433 h 550332"/>
              <a:gd name="connsiteX7" fmla="*/ 2126884 w 2126884"/>
              <a:gd name="connsiteY7" fmla="*/ 0 h 550332"/>
              <a:gd name="connsiteX0" fmla="*/ 0 w 2126884"/>
              <a:gd name="connsiteY0" fmla="*/ 421497 h 550283"/>
              <a:gd name="connsiteX1" fmla="*/ 218792 w 2126884"/>
              <a:gd name="connsiteY1" fmla="*/ 496722 h 550283"/>
              <a:gd name="connsiteX2" fmla="*/ 521103 w 2126884"/>
              <a:gd name="connsiteY2" fmla="*/ 550279 h 550283"/>
              <a:gd name="connsiteX3" fmla="*/ 854916 w 2126884"/>
              <a:gd name="connsiteY3" fmla="*/ 498984 h 550283"/>
              <a:gd name="connsiteX4" fmla="*/ 1224470 w 2126884"/>
              <a:gd name="connsiteY4" fmla="*/ 378546 h 550283"/>
              <a:gd name="connsiteX5" fmla="*/ 1586225 w 2126884"/>
              <a:gd name="connsiteY5" fmla="*/ 235733 h 550283"/>
              <a:gd name="connsiteX6" fmla="*/ 1876347 w 2126884"/>
              <a:gd name="connsiteY6" fmla="*/ 108433 h 550283"/>
              <a:gd name="connsiteX7" fmla="*/ 2126884 w 2126884"/>
              <a:gd name="connsiteY7" fmla="*/ 0 h 550283"/>
              <a:gd name="connsiteX0" fmla="*/ 0 w 1880018"/>
              <a:gd name="connsiteY0" fmla="*/ 508147 h 636933"/>
              <a:gd name="connsiteX1" fmla="*/ 218792 w 1880018"/>
              <a:gd name="connsiteY1" fmla="*/ 583372 h 636933"/>
              <a:gd name="connsiteX2" fmla="*/ 521103 w 1880018"/>
              <a:gd name="connsiteY2" fmla="*/ 636929 h 636933"/>
              <a:gd name="connsiteX3" fmla="*/ 854916 w 1880018"/>
              <a:gd name="connsiteY3" fmla="*/ 585634 h 636933"/>
              <a:gd name="connsiteX4" fmla="*/ 1224470 w 1880018"/>
              <a:gd name="connsiteY4" fmla="*/ 465196 h 636933"/>
              <a:gd name="connsiteX5" fmla="*/ 1586225 w 1880018"/>
              <a:gd name="connsiteY5" fmla="*/ 322383 h 636933"/>
              <a:gd name="connsiteX6" fmla="*/ 1876347 w 1880018"/>
              <a:gd name="connsiteY6" fmla="*/ 195083 h 636933"/>
              <a:gd name="connsiteX7" fmla="*/ 673632 w 1880018"/>
              <a:gd name="connsiteY7" fmla="*/ 0 h 636933"/>
              <a:gd name="connsiteX0" fmla="*/ 0 w 2171346"/>
              <a:gd name="connsiteY0" fmla="*/ 508147 h 636933"/>
              <a:gd name="connsiteX1" fmla="*/ 218792 w 2171346"/>
              <a:gd name="connsiteY1" fmla="*/ 583372 h 636933"/>
              <a:gd name="connsiteX2" fmla="*/ 521103 w 2171346"/>
              <a:gd name="connsiteY2" fmla="*/ 636929 h 636933"/>
              <a:gd name="connsiteX3" fmla="*/ 854916 w 2171346"/>
              <a:gd name="connsiteY3" fmla="*/ 585634 h 636933"/>
              <a:gd name="connsiteX4" fmla="*/ 1224470 w 2171346"/>
              <a:gd name="connsiteY4" fmla="*/ 465196 h 636933"/>
              <a:gd name="connsiteX5" fmla="*/ 1586225 w 2171346"/>
              <a:gd name="connsiteY5" fmla="*/ 322383 h 636933"/>
              <a:gd name="connsiteX6" fmla="*/ 1876347 w 2171346"/>
              <a:gd name="connsiteY6" fmla="*/ 195083 h 636933"/>
              <a:gd name="connsiteX7" fmla="*/ 2118372 w 2171346"/>
              <a:gd name="connsiteY7" fmla="*/ 82136 h 636933"/>
              <a:gd name="connsiteX8" fmla="*/ 673632 w 2171346"/>
              <a:gd name="connsiteY8" fmla="*/ 0 h 636933"/>
              <a:gd name="connsiteX0" fmla="*/ 0 w 2120360"/>
              <a:gd name="connsiteY0" fmla="*/ 508147 h 636933"/>
              <a:gd name="connsiteX1" fmla="*/ 218792 w 2120360"/>
              <a:gd name="connsiteY1" fmla="*/ 583372 h 636933"/>
              <a:gd name="connsiteX2" fmla="*/ 521103 w 2120360"/>
              <a:gd name="connsiteY2" fmla="*/ 636929 h 636933"/>
              <a:gd name="connsiteX3" fmla="*/ 854916 w 2120360"/>
              <a:gd name="connsiteY3" fmla="*/ 585634 h 636933"/>
              <a:gd name="connsiteX4" fmla="*/ 1224470 w 2120360"/>
              <a:gd name="connsiteY4" fmla="*/ 465196 h 636933"/>
              <a:gd name="connsiteX5" fmla="*/ 1586225 w 2120360"/>
              <a:gd name="connsiteY5" fmla="*/ 322383 h 636933"/>
              <a:gd name="connsiteX6" fmla="*/ 1876347 w 2120360"/>
              <a:gd name="connsiteY6" fmla="*/ 195083 h 636933"/>
              <a:gd name="connsiteX7" fmla="*/ 2118372 w 2120360"/>
              <a:gd name="connsiteY7" fmla="*/ 82136 h 636933"/>
              <a:gd name="connsiteX8" fmla="*/ 1632728 w 2120360"/>
              <a:gd name="connsiteY8" fmla="*/ 22566 h 636933"/>
              <a:gd name="connsiteX9" fmla="*/ 673632 w 2120360"/>
              <a:gd name="connsiteY9" fmla="*/ 0 h 636933"/>
              <a:gd name="connsiteX0" fmla="*/ 0 w 2120360"/>
              <a:gd name="connsiteY0" fmla="*/ 508646 h 637432"/>
              <a:gd name="connsiteX1" fmla="*/ 218792 w 2120360"/>
              <a:gd name="connsiteY1" fmla="*/ 583871 h 637432"/>
              <a:gd name="connsiteX2" fmla="*/ 521103 w 2120360"/>
              <a:gd name="connsiteY2" fmla="*/ 637428 h 637432"/>
              <a:gd name="connsiteX3" fmla="*/ 854916 w 2120360"/>
              <a:gd name="connsiteY3" fmla="*/ 586133 h 637432"/>
              <a:gd name="connsiteX4" fmla="*/ 1224470 w 2120360"/>
              <a:gd name="connsiteY4" fmla="*/ 465695 h 637432"/>
              <a:gd name="connsiteX5" fmla="*/ 1586225 w 2120360"/>
              <a:gd name="connsiteY5" fmla="*/ 322882 h 637432"/>
              <a:gd name="connsiteX6" fmla="*/ 1876347 w 2120360"/>
              <a:gd name="connsiteY6" fmla="*/ 195582 h 637432"/>
              <a:gd name="connsiteX7" fmla="*/ 2118372 w 2120360"/>
              <a:gd name="connsiteY7" fmla="*/ 82635 h 637432"/>
              <a:gd name="connsiteX8" fmla="*/ 1632728 w 2120360"/>
              <a:gd name="connsiteY8" fmla="*/ 23065 h 637432"/>
              <a:gd name="connsiteX9" fmla="*/ 1125009 w 2120360"/>
              <a:gd name="connsiteY9" fmla="*/ 1402 h 637432"/>
              <a:gd name="connsiteX10" fmla="*/ 673632 w 2120360"/>
              <a:gd name="connsiteY10" fmla="*/ 499 h 637432"/>
              <a:gd name="connsiteX0" fmla="*/ 0 w 2120360"/>
              <a:gd name="connsiteY0" fmla="*/ 508646 h 637432"/>
              <a:gd name="connsiteX1" fmla="*/ 218792 w 2120360"/>
              <a:gd name="connsiteY1" fmla="*/ 583871 h 637432"/>
              <a:gd name="connsiteX2" fmla="*/ 521103 w 2120360"/>
              <a:gd name="connsiteY2" fmla="*/ 637428 h 637432"/>
              <a:gd name="connsiteX3" fmla="*/ 854916 w 2120360"/>
              <a:gd name="connsiteY3" fmla="*/ 586133 h 637432"/>
              <a:gd name="connsiteX4" fmla="*/ 1224470 w 2120360"/>
              <a:gd name="connsiteY4" fmla="*/ 465695 h 637432"/>
              <a:gd name="connsiteX5" fmla="*/ 1586225 w 2120360"/>
              <a:gd name="connsiteY5" fmla="*/ 322882 h 637432"/>
              <a:gd name="connsiteX6" fmla="*/ 1876347 w 2120360"/>
              <a:gd name="connsiteY6" fmla="*/ 195582 h 637432"/>
              <a:gd name="connsiteX7" fmla="*/ 2118372 w 2120360"/>
              <a:gd name="connsiteY7" fmla="*/ 82635 h 637432"/>
              <a:gd name="connsiteX8" fmla="*/ 1632728 w 2120360"/>
              <a:gd name="connsiteY8" fmla="*/ 23065 h 637432"/>
              <a:gd name="connsiteX9" fmla="*/ 1125009 w 2120360"/>
              <a:gd name="connsiteY9" fmla="*/ 1402 h 637432"/>
              <a:gd name="connsiteX10" fmla="*/ 673632 w 2120360"/>
              <a:gd name="connsiteY10" fmla="*/ 499 h 637432"/>
              <a:gd name="connsiteX11" fmla="*/ 0 w 2120360"/>
              <a:gd name="connsiteY11" fmla="*/ 508646 h 637432"/>
              <a:gd name="connsiteX0" fmla="*/ 0 w 2120360"/>
              <a:gd name="connsiteY0" fmla="*/ 523206 h 651992"/>
              <a:gd name="connsiteX1" fmla="*/ 218792 w 2120360"/>
              <a:gd name="connsiteY1" fmla="*/ 598431 h 651992"/>
              <a:gd name="connsiteX2" fmla="*/ 521103 w 2120360"/>
              <a:gd name="connsiteY2" fmla="*/ 651988 h 651992"/>
              <a:gd name="connsiteX3" fmla="*/ 854916 w 2120360"/>
              <a:gd name="connsiteY3" fmla="*/ 600693 h 651992"/>
              <a:gd name="connsiteX4" fmla="*/ 1224470 w 2120360"/>
              <a:gd name="connsiteY4" fmla="*/ 480255 h 651992"/>
              <a:gd name="connsiteX5" fmla="*/ 1586225 w 2120360"/>
              <a:gd name="connsiteY5" fmla="*/ 337442 h 651992"/>
              <a:gd name="connsiteX6" fmla="*/ 1876347 w 2120360"/>
              <a:gd name="connsiteY6" fmla="*/ 210142 h 651992"/>
              <a:gd name="connsiteX7" fmla="*/ 2118372 w 2120360"/>
              <a:gd name="connsiteY7" fmla="*/ 97195 h 651992"/>
              <a:gd name="connsiteX8" fmla="*/ 1632728 w 2120360"/>
              <a:gd name="connsiteY8" fmla="*/ 37625 h 651992"/>
              <a:gd name="connsiteX9" fmla="*/ 1125009 w 2120360"/>
              <a:gd name="connsiteY9" fmla="*/ 15962 h 651992"/>
              <a:gd name="connsiteX10" fmla="*/ 673632 w 2120360"/>
              <a:gd name="connsiteY10" fmla="*/ 15059 h 651992"/>
              <a:gd name="connsiteX11" fmla="*/ 488522 w 2120360"/>
              <a:gd name="connsiteY11" fmla="*/ 105320 h 651992"/>
              <a:gd name="connsiteX12" fmla="*/ 0 w 2120360"/>
              <a:gd name="connsiteY12" fmla="*/ 523206 h 651992"/>
              <a:gd name="connsiteX0" fmla="*/ 0 w 2120360"/>
              <a:gd name="connsiteY0" fmla="*/ 514552 h 643338"/>
              <a:gd name="connsiteX1" fmla="*/ 218792 w 2120360"/>
              <a:gd name="connsiteY1" fmla="*/ 589777 h 643338"/>
              <a:gd name="connsiteX2" fmla="*/ 521103 w 2120360"/>
              <a:gd name="connsiteY2" fmla="*/ 643334 h 643338"/>
              <a:gd name="connsiteX3" fmla="*/ 854916 w 2120360"/>
              <a:gd name="connsiteY3" fmla="*/ 592039 h 643338"/>
              <a:gd name="connsiteX4" fmla="*/ 1224470 w 2120360"/>
              <a:gd name="connsiteY4" fmla="*/ 471601 h 643338"/>
              <a:gd name="connsiteX5" fmla="*/ 1586225 w 2120360"/>
              <a:gd name="connsiteY5" fmla="*/ 328788 h 643338"/>
              <a:gd name="connsiteX6" fmla="*/ 1876347 w 2120360"/>
              <a:gd name="connsiteY6" fmla="*/ 201488 h 643338"/>
              <a:gd name="connsiteX7" fmla="*/ 2118372 w 2120360"/>
              <a:gd name="connsiteY7" fmla="*/ 88541 h 643338"/>
              <a:gd name="connsiteX8" fmla="*/ 1632728 w 2120360"/>
              <a:gd name="connsiteY8" fmla="*/ 28971 h 643338"/>
              <a:gd name="connsiteX9" fmla="*/ 1125009 w 2120360"/>
              <a:gd name="connsiteY9" fmla="*/ 7308 h 643338"/>
              <a:gd name="connsiteX10" fmla="*/ 680991 w 2120360"/>
              <a:gd name="connsiteY10" fmla="*/ 19943 h 643338"/>
              <a:gd name="connsiteX11" fmla="*/ 488522 w 2120360"/>
              <a:gd name="connsiteY11" fmla="*/ 96666 h 643338"/>
              <a:gd name="connsiteX12" fmla="*/ 0 w 2120360"/>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1378"/>
              <a:gd name="connsiteY0" fmla="*/ 514552 h 643338"/>
              <a:gd name="connsiteX1" fmla="*/ 218792 w 2121378"/>
              <a:gd name="connsiteY1" fmla="*/ 589777 h 643338"/>
              <a:gd name="connsiteX2" fmla="*/ 521103 w 2121378"/>
              <a:gd name="connsiteY2" fmla="*/ 643334 h 643338"/>
              <a:gd name="connsiteX3" fmla="*/ 854916 w 2121378"/>
              <a:gd name="connsiteY3" fmla="*/ 592039 h 643338"/>
              <a:gd name="connsiteX4" fmla="*/ 1224470 w 2121378"/>
              <a:gd name="connsiteY4" fmla="*/ 471601 h 643338"/>
              <a:gd name="connsiteX5" fmla="*/ 1586225 w 2121378"/>
              <a:gd name="connsiteY5" fmla="*/ 328788 h 643338"/>
              <a:gd name="connsiteX6" fmla="*/ 1909459 w 2121378"/>
              <a:gd name="connsiteY6" fmla="*/ 212319 h 643338"/>
              <a:gd name="connsiteX7" fmla="*/ 2118372 w 2121378"/>
              <a:gd name="connsiteY7" fmla="*/ 88541 h 643338"/>
              <a:gd name="connsiteX8" fmla="*/ 1632728 w 2121378"/>
              <a:gd name="connsiteY8" fmla="*/ 28971 h 643338"/>
              <a:gd name="connsiteX9" fmla="*/ 1125009 w 2121378"/>
              <a:gd name="connsiteY9" fmla="*/ 7308 h 643338"/>
              <a:gd name="connsiteX10" fmla="*/ 680991 w 2121378"/>
              <a:gd name="connsiteY10" fmla="*/ 19943 h 643338"/>
              <a:gd name="connsiteX11" fmla="*/ 488522 w 2121378"/>
              <a:gd name="connsiteY11" fmla="*/ 96666 h 643338"/>
              <a:gd name="connsiteX12" fmla="*/ 0 w 2121378"/>
              <a:gd name="connsiteY12" fmla="*/ 514552 h 643338"/>
              <a:gd name="connsiteX0" fmla="*/ 0 w 2120922"/>
              <a:gd name="connsiteY0" fmla="*/ 514552 h 643338"/>
              <a:gd name="connsiteX1" fmla="*/ 218792 w 2120922"/>
              <a:gd name="connsiteY1" fmla="*/ 589777 h 643338"/>
              <a:gd name="connsiteX2" fmla="*/ 521103 w 2120922"/>
              <a:gd name="connsiteY2" fmla="*/ 643334 h 643338"/>
              <a:gd name="connsiteX3" fmla="*/ 854916 w 2120922"/>
              <a:gd name="connsiteY3" fmla="*/ 592039 h 643338"/>
              <a:gd name="connsiteX4" fmla="*/ 1224470 w 2120922"/>
              <a:gd name="connsiteY4" fmla="*/ 471601 h 643338"/>
              <a:gd name="connsiteX5" fmla="*/ 1586225 w 2120922"/>
              <a:gd name="connsiteY5" fmla="*/ 328788 h 643338"/>
              <a:gd name="connsiteX6" fmla="*/ 1876347 w 2120922"/>
              <a:gd name="connsiteY6" fmla="*/ 201488 h 643338"/>
              <a:gd name="connsiteX7" fmla="*/ 2118372 w 2120922"/>
              <a:gd name="connsiteY7" fmla="*/ 88541 h 643338"/>
              <a:gd name="connsiteX8" fmla="*/ 1632728 w 2120922"/>
              <a:gd name="connsiteY8" fmla="*/ 28971 h 643338"/>
              <a:gd name="connsiteX9" fmla="*/ 1125009 w 2120922"/>
              <a:gd name="connsiteY9" fmla="*/ 7308 h 643338"/>
              <a:gd name="connsiteX10" fmla="*/ 680991 w 2120922"/>
              <a:gd name="connsiteY10" fmla="*/ 19943 h 643338"/>
              <a:gd name="connsiteX11" fmla="*/ 488522 w 2120922"/>
              <a:gd name="connsiteY11" fmla="*/ 96666 h 643338"/>
              <a:gd name="connsiteX12" fmla="*/ 0 w 2120922"/>
              <a:gd name="connsiteY12" fmla="*/ 514552 h 643338"/>
              <a:gd name="connsiteX0" fmla="*/ 0 w 2120922"/>
              <a:gd name="connsiteY0" fmla="*/ 508147 h 636933"/>
              <a:gd name="connsiteX1" fmla="*/ 218792 w 2120922"/>
              <a:gd name="connsiteY1" fmla="*/ 583372 h 636933"/>
              <a:gd name="connsiteX2" fmla="*/ 521103 w 2120922"/>
              <a:gd name="connsiteY2" fmla="*/ 636929 h 636933"/>
              <a:gd name="connsiteX3" fmla="*/ 854916 w 2120922"/>
              <a:gd name="connsiteY3" fmla="*/ 585634 h 636933"/>
              <a:gd name="connsiteX4" fmla="*/ 1224470 w 2120922"/>
              <a:gd name="connsiteY4" fmla="*/ 465196 h 636933"/>
              <a:gd name="connsiteX5" fmla="*/ 1586225 w 2120922"/>
              <a:gd name="connsiteY5" fmla="*/ 322383 h 636933"/>
              <a:gd name="connsiteX6" fmla="*/ 1876347 w 2120922"/>
              <a:gd name="connsiteY6" fmla="*/ 195083 h 636933"/>
              <a:gd name="connsiteX7" fmla="*/ 2118372 w 2120922"/>
              <a:gd name="connsiteY7" fmla="*/ 82136 h 636933"/>
              <a:gd name="connsiteX8" fmla="*/ 1632728 w 2120922"/>
              <a:gd name="connsiteY8" fmla="*/ 22566 h 636933"/>
              <a:gd name="connsiteX9" fmla="*/ 1125009 w 2120922"/>
              <a:gd name="connsiteY9" fmla="*/ 903 h 636933"/>
              <a:gd name="connsiteX10" fmla="*/ 680991 w 2120922"/>
              <a:gd name="connsiteY10" fmla="*/ 13538 h 636933"/>
              <a:gd name="connsiteX11" fmla="*/ 613612 w 2120922"/>
              <a:gd name="connsiteY11" fmla="*/ 36104 h 636933"/>
              <a:gd name="connsiteX12" fmla="*/ 488522 w 2120922"/>
              <a:gd name="connsiteY12" fmla="*/ 90261 h 636933"/>
              <a:gd name="connsiteX13" fmla="*/ 0 w 2120922"/>
              <a:gd name="connsiteY13" fmla="*/ 508147 h 636933"/>
              <a:gd name="connsiteX0" fmla="*/ 0 w 2120922"/>
              <a:gd name="connsiteY0" fmla="*/ 516344 h 645130"/>
              <a:gd name="connsiteX1" fmla="*/ 218792 w 2120922"/>
              <a:gd name="connsiteY1" fmla="*/ 591569 h 645130"/>
              <a:gd name="connsiteX2" fmla="*/ 521103 w 2120922"/>
              <a:gd name="connsiteY2" fmla="*/ 645126 h 645130"/>
              <a:gd name="connsiteX3" fmla="*/ 854916 w 2120922"/>
              <a:gd name="connsiteY3" fmla="*/ 593831 h 645130"/>
              <a:gd name="connsiteX4" fmla="*/ 1224470 w 2120922"/>
              <a:gd name="connsiteY4" fmla="*/ 473393 h 645130"/>
              <a:gd name="connsiteX5" fmla="*/ 1586225 w 2120922"/>
              <a:gd name="connsiteY5" fmla="*/ 330580 h 645130"/>
              <a:gd name="connsiteX6" fmla="*/ 1876347 w 2120922"/>
              <a:gd name="connsiteY6" fmla="*/ 203280 h 645130"/>
              <a:gd name="connsiteX7" fmla="*/ 2118372 w 2120922"/>
              <a:gd name="connsiteY7" fmla="*/ 90333 h 645130"/>
              <a:gd name="connsiteX8" fmla="*/ 1632728 w 2120922"/>
              <a:gd name="connsiteY8" fmla="*/ 30763 h 645130"/>
              <a:gd name="connsiteX9" fmla="*/ 1125009 w 2120922"/>
              <a:gd name="connsiteY9" fmla="*/ 9100 h 645130"/>
              <a:gd name="connsiteX10" fmla="*/ 765611 w 2120922"/>
              <a:gd name="connsiteY10" fmla="*/ 2781 h 645130"/>
              <a:gd name="connsiteX11" fmla="*/ 613612 w 2120922"/>
              <a:gd name="connsiteY11" fmla="*/ 44301 h 645130"/>
              <a:gd name="connsiteX12" fmla="*/ 488522 w 2120922"/>
              <a:gd name="connsiteY12" fmla="*/ 98458 h 645130"/>
              <a:gd name="connsiteX13" fmla="*/ 0 w 2120922"/>
              <a:gd name="connsiteY13" fmla="*/ 516344 h 645130"/>
              <a:gd name="connsiteX0" fmla="*/ 0 w 2120922"/>
              <a:gd name="connsiteY0" fmla="*/ 516344 h 645130"/>
              <a:gd name="connsiteX1" fmla="*/ 218792 w 2120922"/>
              <a:gd name="connsiteY1" fmla="*/ 591569 h 645130"/>
              <a:gd name="connsiteX2" fmla="*/ 521103 w 2120922"/>
              <a:gd name="connsiteY2" fmla="*/ 645126 h 645130"/>
              <a:gd name="connsiteX3" fmla="*/ 854916 w 2120922"/>
              <a:gd name="connsiteY3" fmla="*/ 593831 h 645130"/>
              <a:gd name="connsiteX4" fmla="*/ 1224470 w 2120922"/>
              <a:gd name="connsiteY4" fmla="*/ 473393 h 645130"/>
              <a:gd name="connsiteX5" fmla="*/ 1586225 w 2120922"/>
              <a:gd name="connsiteY5" fmla="*/ 330580 h 645130"/>
              <a:gd name="connsiteX6" fmla="*/ 1876347 w 2120922"/>
              <a:gd name="connsiteY6" fmla="*/ 203280 h 645130"/>
              <a:gd name="connsiteX7" fmla="*/ 2118372 w 2120922"/>
              <a:gd name="connsiteY7" fmla="*/ 90333 h 645130"/>
              <a:gd name="connsiteX8" fmla="*/ 1632728 w 2120922"/>
              <a:gd name="connsiteY8" fmla="*/ 30763 h 645130"/>
              <a:gd name="connsiteX9" fmla="*/ 1125009 w 2120922"/>
              <a:gd name="connsiteY9" fmla="*/ 9100 h 645130"/>
              <a:gd name="connsiteX10" fmla="*/ 765611 w 2120922"/>
              <a:gd name="connsiteY10" fmla="*/ 2781 h 645130"/>
              <a:gd name="connsiteX11" fmla="*/ 613612 w 2120922"/>
              <a:gd name="connsiteY11" fmla="*/ 44301 h 645130"/>
              <a:gd name="connsiteX12" fmla="*/ 488522 w 2120922"/>
              <a:gd name="connsiteY12" fmla="*/ 98458 h 645130"/>
              <a:gd name="connsiteX13" fmla="*/ 0 w 2120922"/>
              <a:gd name="connsiteY13" fmla="*/ 516344 h 645130"/>
              <a:gd name="connsiteX0" fmla="*/ 0 w 2120922"/>
              <a:gd name="connsiteY0" fmla="*/ 510631 h 639417"/>
              <a:gd name="connsiteX1" fmla="*/ 218792 w 2120922"/>
              <a:gd name="connsiteY1" fmla="*/ 585856 h 639417"/>
              <a:gd name="connsiteX2" fmla="*/ 521103 w 2120922"/>
              <a:gd name="connsiteY2" fmla="*/ 639413 h 639417"/>
              <a:gd name="connsiteX3" fmla="*/ 854916 w 2120922"/>
              <a:gd name="connsiteY3" fmla="*/ 588118 h 639417"/>
              <a:gd name="connsiteX4" fmla="*/ 1224470 w 2120922"/>
              <a:gd name="connsiteY4" fmla="*/ 467680 h 639417"/>
              <a:gd name="connsiteX5" fmla="*/ 1586225 w 2120922"/>
              <a:gd name="connsiteY5" fmla="*/ 324867 h 639417"/>
              <a:gd name="connsiteX6" fmla="*/ 1876347 w 2120922"/>
              <a:gd name="connsiteY6" fmla="*/ 197567 h 639417"/>
              <a:gd name="connsiteX7" fmla="*/ 2118372 w 2120922"/>
              <a:gd name="connsiteY7" fmla="*/ 84620 h 639417"/>
              <a:gd name="connsiteX8" fmla="*/ 1632728 w 2120922"/>
              <a:gd name="connsiteY8" fmla="*/ 25050 h 639417"/>
              <a:gd name="connsiteX9" fmla="*/ 1125009 w 2120922"/>
              <a:gd name="connsiteY9" fmla="*/ 3387 h 639417"/>
              <a:gd name="connsiteX10" fmla="*/ 776649 w 2120922"/>
              <a:gd name="connsiteY10" fmla="*/ 5191 h 639417"/>
              <a:gd name="connsiteX11" fmla="*/ 613612 w 2120922"/>
              <a:gd name="connsiteY11" fmla="*/ 38588 h 639417"/>
              <a:gd name="connsiteX12" fmla="*/ 488522 w 2120922"/>
              <a:gd name="connsiteY12" fmla="*/ 92745 h 639417"/>
              <a:gd name="connsiteX13" fmla="*/ 0 w 2120922"/>
              <a:gd name="connsiteY13" fmla="*/ 510631 h 639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0922" h="639417">
                <a:moveTo>
                  <a:pt x="0" y="510631"/>
                </a:moveTo>
                <a:cubicBezTo>
                  <a:pt x="66288" y="533783"/>
                  <a:pt x="131942" y="564392"/>
                  <a:pt x="218792" y="585856"/>
                </a:cubicBezTo>
                <a:cubicBezTo>
                  <a:pt x="282402" y="615011"/>
                  <a:pt x="415082" y="639036"/>
                  <a:pt x="521103" y="639413"/>
                </a:cubicBezTo>
                <a:cubicBezTo>
                  <a:pt x="627124" y="639790"/>
                  <a:pt x="737688" y="616740"/>
                  <a:pt x="854916" y="588118"/>
                </a:cubicBezTo>
                <a:cubicBezTo>
                  <a:pt x="972144" y="559496"/>
                  <a:pt x="1102585" y="511555"/>
                  <a:pt x="1224470" y="467680"/>
                </a:cubicBezTo>
                <a:cubicBezTo>
                  <a:pt x="1346355" y="423805"/>
                  <a:pt x="1477579" y="369886"/>
                  <a:pt x="1586225" y="324867"/>
                </a:cubicBezTo>
                <a:cubicBezTo>
                  <a:pt x="1694871" y="279848"/>
                  <a:pt x="1821994" y="225423"/>
                  <a:pt x="1876347" y="197567"/>
                </a:cubicBezTo>
                <a:cubicBezTo>
                  <a:pt x="1949096" y="164296"/>
                  <a:pt x="2145485" y="107957"/>
                  <a:pt x="2118372" y="84620"/>
                </a:cubicBezTo>
                <a:cubicBezTo>
                  <a:pt x="2091259" y="61283"/>
                  <a:pt x="1797062" y="36332"/>
                  <a:pt x="1632728" y="25050"/>
                </a:cubicBezTo>
                <a:cubicBezTo>
                  <a:pt x="1468394" y="13768"/>
                  <a:pt x="1284858" y="7148"/>
                  <a:pt x="1125009" y="3387"/>
                </a:cubicBezTo>
                <a:cubicBezTo>
                  <a:pt x="965160" y="-374"/>
                  <a:pt x="860656" y="-2481"/>
                  <a:pt x="776649" y="5191"/>
                </a:cubicBezTo>
                <a:cubicBezTo>
                  <a:pt x="692643" y="12863"/>
                  <a:pt x="645690" y="25801"/>
                  <a:pt x="613612" y="38588"/>
                </a:cubicBezTo>
                <a:cubicBezTo>
                  <a:pt x="581534" y="51375"/>
                  <a:pt x="592017" y="15876"/>
                  <a:pt x="488522" y="92745"/>
                </a:cubicBezTo>
                <a:lnTo>
                  <a:pt x="0" y="510631"/>
                </a:lnTo>
                <a:close/>
              </a:path>
            </a:pathLst>
          </a:custGeom>
          <a:solidFill>
            <a:schemeClr val="accent5">
              <a:lumMod val="90000"/>
            </a:schemeClr>
          </a:solidFill>
          <a:ln w="9525" cap="flat" cmpd="sng" algn="ctr">
            <a:noFill/>
            <a:prstDash val="dash"/>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5" name="任意多边形 64"/>
          <p:cNvSpPr/>
          <p:nvPr/>
        </p:nvSpPr>
        <p:spPr bwMode="auto">
          <a:xfrm>
            <a:off x="6083359" y="4138423"/>
            <a:ext cx="1930876" cy="790937"/>
          </a:xfrm>
          <a:custGeom>
            <a:avLst/>
            <a:gdLst>
              <a:gd name="connsiteX0" fmla="*/ 0 w 2162755"/>
              <a:gd name="connsiteY0" fmla="*/ 453224 h 628153"/>
              <a:gd name="connsiteX1" fmla="*/ 166978 w 2162755"/>
              <a:gd name="connsiteY1" fmla="*/ 536713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8153"/>
              <a:gd name="connsiteX1" fmla="*/ 166978 w 2162755"/>
              <a:gd name="connsiteY1" fmla="*/ 548640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1967948 w 2162755"/>
              <a:gd name="connsiteY6" fmla="*/ 107343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657848 w 2162755"/>
              <a:gd name="connsiteY5" fmla="*/ 254442 h 629320"/>
              <a:gd name="connsiteX6" fmla="*/ 1967948 w 2162755"/>
              <a:gd name="connsiteY6" fmla="*/ 107343 h 629320"/>
              <a:gd name="connsiteX7" fmla="*/ 2162755 w 2162755"/>
              <a:gd name="connsiteY7" fmla="*/ 0 h 62932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67948 w 2162755"/>
              <a:gd name="connsiteY6" fmla="*/ 107343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40119 w 2162755"/>
              <a:gd name="connsiteY6" fmla="*/ 111319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10140 w 2162755"/>
              <a:gd name="connsiteY5" fmla="*/ 270344 h 629540"/>
              <a:gd name="connsiteX6" fmla="*/ 1940119 w 2162755"/>
              <a:gd name="connsiteY6" fmla="*/ 111319 h 629540"/>
              <a:gd name="connsiteX7" fmla="*/ 2162755 w 2162755"/>
              <a:gd name="connsiteY7" fmla="*/ 0 h 629540"/>
              <a:gd name="connsiteX0" fmla="*/ 0 w 2162755"/>
              <a:gd name="connsiteY0" fmla="*/ 453224 h 630270"/>
              <a:gd name="connsiteX1" fmla="*/ 178935 w 2162755"/>
              <a:gd name="connsiteY1" fmla="*/ 539987 h 630270"/>
              <a:gd name="connsiteX2" fmla="*/ 405517 w 2162755"/>
              <a:gd name="connsiteY2" fmla="*/ 628153 h 630270"/>
              <a:gd name="connsiteX3" fmla="*/ 795130 w 2162755"/>
              <a:gd name="connsiteY3" fmla="*/ 588396 h 630270"/>
              <a:gd name="connsiteX4" fmla="*/ 1236428 w 2162755"/>
              <a:gd name="connsiteY4" fmla="*/ 433346 h 630270"/>
              <a:gd name="connsiteX5" fmla="*/ 1610140 w 2162755"/>
              <a:gd name="connsiteY5" fmla="*/ 270344 h 630270"/>
              <a:gd name="connsiteX6" fmla="*/ 1940119 w 2162755"/>
              <a:gd name="connsiteY6" fmla="*/ 111319 h 630270"/>
              <a:gd name="connsiteX7" fmla="*/ 2162755 w 2162755"/>
              <a:gd name="connsiteY7" fmla="*/ 0 h 630270"/>
              <a:gd name="connsiteX0" fmla="*/ 0 w 2162755"/>
              <a:gd name="connsiteY0" fmla="*/ 453224 h 605653"/>
              <a:gd name="connsiteX1" fmla="*/ 178935 w 2162755"/>
              <a:gd name="connsiteY1" fmla="*/ 539987 h 605653"/>
              <a:gd name="connsiteX2" fmla="*/ 453345 w 2162755"/>
              <a:gd name="connsiteY2" fmla="*/ 596427 h 605653"/>
              <a:gd name="connsiteX3" fmla="*/ 795130 w 2162755"/>
              <a:gd name="connsiteY3" fmla="*/ 588396 h 605653"/>
              <a:gd name="connsiteX4" fmla="*/ 1236428 w 2162755"/>
              <a:gd name="connsiteY4" fmla="*/ 433346 h 605653"/>
              <a:gd name="connsiteX5" fmla="*/ 1610140 w 2162755"/>
              <a:gd name="connsiteY5" fmla="*/ 270344 h 605653"/>
              <a:gd name="connsiteX6" fmla="*/ 1940119 w 2162755"/>
              <a:gd name="connsiteY6" fmla="*/ 111319 h 605653"/>
              <a:gd name="connsiteX7" fmla="*/ 2162755 w 2162755"/>
              <a:gd name="connsiteY7" fmla="*/ 0 h 605653"/>
              <a:gd name="connsiteX0" fmla="*/ 0 w 2162755"/>
              <a:gd name="connsiteY0" fmla="*/ 453224 h 596540"/>
              <a:gd name="connsiteX1" fmla="*/ 178935 w 2162755"/>
              <a:gd name="connsiteY1" fmla="*/ 539987 h 596540"/>
              <a:gd name="connsiteX2" fmla="*/ 453345 w 2162755"/>
              <a:gd name="connsiteY2" fmla="*/ 596427 h 596540"/>
              <a:gd name="connsiteX3" fmla="*/ 823030 w 2162755"/>
              <a:gd name="connsiteY3" fmla="*/ 550900 h 596540"/>
              <a:gd name="connsiteX4" fmla="*/ 1236428 w 2162755"/>
              <a:gd name="connsiteY4" fmla="*/ 433346 h 596540"/>
              <a:gd name="connsiteX5" fmla="*/ 1610140 w 2162755"/>
              <a:gd name="connsiteY5" fmla="*/ 270344 h 596540"/>
              <a:gd name="connsiteX6" fmla="*/ 1940119 w 2162755"/>
              <a:gd name="connsiteY6" fmla="*/ 111319 h 596540"/>
              <a:gd name="connsiteX7" fmla="*/ 2162755 w 2162755"/>
              <a:gd name="connsiteY7" fmla="*/ 0 h 596540"/>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610140 w 2162755"/>
              <a:gd name="connsiteY5" fmla="*/ 270344 h 596557"/>
              <a:gd name="connsiteX6" fmla="*/ 1940119 w 2162755"/>
              <a:gd name="connsiteY6" fmla="*/ 111319 h 596557"/>
              <a:gd name="connsiteX7" fmla="*/ 2162755 w 2162755"/>
              <a:gd name="connsiteY7" fmla="*/ 0 h 596557"/>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586225 w 2162755"/>
              <a:gd name="connsiteY5" fmla="*/ 267460 h 596557"/>
              <a:gd name="connsiteX6" fmla="*/ 1940119 w 2162755"/>
              <a:gd name="connsiteY6" fmla="*/ 111319 h 596557"/>
              <a:gd name="connsiteX7" fmla="*/ 2162755 w 2162755"/>
              <a:gd name="connsiteY7" fmla="*/ 0 h 596557"/>
              <a:gd name="connsiteX0" fmla="*/ 0 w 2162755"/>
              <a:gd name="connsiteY0" fmla="*/ 453224 h 574299"/>
              <a:gd name="connsiteX1" fmla="*/ 178935 w 2162755"/>
              <a:gd name="connsiteY1" fmla="*/ 539987 h 574299"/>
              <a:gd name="connsiteX2" fmla="*/ 461317 w 2162755"/>
              <a:gd name="connsiteY2" fmla="*/ 573352 h 574299"/>
              <a:gd name="connsiteX3" fmla="*/ 823030 w 2162755"/>
              <a:gd name="connsiteY3" fmla="*/ 550900 h 574299"/>
              <a:gd name="connsiteX4" fmla="*/ 1236428 w 2162755"/>
              <a:gd name="connsiteY4" fmla="*/ 416041 h 574299"/>
              <a:gd name="connsiteX5" fmla="*/ 1586225 w 2162755"/>
              <a:gd name="connsiteY5" fmla="*/ 267460 h 574299"/>
              <a:gd name="connsiteX6" fmla="*/ 1940119 w 2162755"/>
              <a:gd name="connsiteY6" fmla="*/ 111319 h 574299"/>
              <a:gd name="connsiteX7" fmla="*/ 2162755 w 2162755"/>
              <a:gd name="connsiteY7" fmla="*/ 0 h 574299"/>
              <a:gd name="connsiteX0" fmla="*/ 0 w 2162755"/>
              <a:gd name="connsiteY0" fmla="*/ 453224 h 573976"/>
              <a:gd name="connsiteX1" fmla="*/ 178935 w 2162755"/>
              <a:gd name="connsiteY1" fmla="*/ 539987 h 573976"/>
              <a:gd name="connsiteX2" fmla="*/ 461317 w 2162755"/>
              <a:gd name="connsiteY2" fmla="*/ 573352 h 573976"/>
              <a:gd name="connsiteX3" fmla="*/ 838974 w 2162755"/>
              <a:gd name="connsiteY3" fmla="*/ 522058 h 573976"/>
              <a:gd name="connsiteX4" fmla="*/ 1236428 w 2162755"/>
              <a:gd name="connsiteY4" fmla="*/ 416041 h 573976"/>
              <a:gd name="connsiteX5" fmla="*/ 1586225 w 2162755"/>
              <a:gd name="connsiteY5" fmla="*/ 267460 h 573976"/>
              <a:gd name="connsiteX6" fmla="*/ 1940119 w 2162755"/>
              <a:gd name="connsiteY6" fmla="*/ 111319 h 573976"/>
              <a:gd name="connsiteX7" fmla="*/ 2162755 w 2162755"/>
              <a:gd name="connsiteY7" fmla="*/ 0 h 573976"/>
              <a:gd name="connsiteX0" fmla="*/ 0 w 2162755"/>
              <a:gd name="connsiteY0" fmla="*/ 453224 h 580113"/>
              <a:gd name="connsiteX1" fmla="*/ 234735 w 2162755"/>
              <a:gd name="connsiteY1" fmla="*/ 560177 h 580113"/>
              <a:gd name="connsiteX2" fmla="*/ 461317 w 2162755"/>
              <a:gd name="connsiteY2" fmla="*/ 573352 h 580113"/>
              <a:gd name="connsiteX3" fmla="*/ 838974 w 2162755"/>
              <a:gd name="connsiteY3" fmla="*/ 522058 h 580113"/>
              <a:gd name="connsiteX4" fmla="*/ 1236428 w 2162755"/>
              <a:gd name="connsiteY4" fmla="*/ 416041 h 580113"/>
              <a:gd name="connsiteX5" fmla="*/ 1586225 w 2162755"/>
              <a:gd name="connsiteY5" fmla="*/ 267460 h 580113"/>
              <a:gd name="connsiteX6" fmla="*/ 1940119 w 2162755"/>
              <a:gd name="connsiteY6" fmla="*/ 111319 h 580113"/>
              <a:gd name="connsiteX7" fmla="*/ 2162755 w 2162755"/>
              <a:gd name="connsiteY7" fmla="*/ 0 h 580113"/>
              <a:gd name="connsiteX0" fmla="*/ 0 w 2162755"/>
              <a:gd name="connsiteY0" fmla="*/ 453224 h 578650"/>
              <a:gd name="connsiteX1" fmla="*/ 234735 w 2162755"/>
              <a:gd name="connsiteY1" fmla="*/ 560177 h 578650"/>
              <a:gd name="connsiteX2" fmla="*/ 521102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8650"/>
              <a:gd name="connsiteX1" fmla="*/ 234735 w 2162755"/>
              <a:gd name="connsiteY1" fmla="*/ 560177 h 578650"/>
              <a:gd name="connsiteX2" fmla="*/ 537045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0604"/>
              <a:gd name="connsiteX1" fmla="*/ 174949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1743"/>
              <a:gd name="connsiteX1" fmla="*/ 238721 w 2162755"/>
              <a:gd name="connsiteY1" fmla="*/ 542871 h 571743"/>
              <a:gd name="connsiteX2" fmla="*/ 537045 w 2162755"/>
              <a:gd name="connsiteY2" fmla="*/ 570468 h 571743"/>
              <a:gd name="connsiteX3" fmla="*/ 838974 w 2162755"/>
              <a:gd name="connsiteY3" fmla="*/ 522058 h 571743"/>
              <a:gd name="connsiteX4" fmla="*/ 1224470 w 2162755"/>
              <a:gd name="connsiteY4" fmla="*/ 410273 h 571743"/>
              <a:gd name="connsiteX5" fmla="*/ 1586225 w 2162755"/>
              <a:gd name="connsiteY5" fmla="*/ 267460 h 571743"/>
              <a:gd name="connsiteX6" fmla="*/ 1924176 w 2162755"/>
              <a:gd name="connsiteY6" fmla="*/ 117087 h 571743"/>
              <a:gd name="connsiteX7" fmla="*/ 2162755 w 2162755"/>
              <a:gd name="connsiteY7" fmla="*/ 0 h 571743"/>
              <a:gd name="connsiteX0" fmla="*/ 0 w 2162755"/>
              <a:gd name="connsiteY0" fmla="*/ 453224 h 570604"/>
              <a:gd name="connsiteX1" fmla="*/ 2466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468"/>
              <a:gd name="connsiteX1" fmla="*/ 214806 w 2162755"/>
              <a:gd name="connsiteY1" fmla="*/ 522681 h 570468"/>
              <a:gd name="connsiteX2" fmla="*/ 537045 w 2162755"/>
              <a:gd name="connsiteY2" fmla="*/ 570468 h 570468"/>
              <a:gd name="connsiteX3" fmla="*/ 838974 w 2162755"/>
              <a:gd name="connsiteY3" fmla="*/ 522058 h 570468"/>
              <a:gd name="connsiteX4" fmla="*/ 1224470 w 2162755"/>
              <a:gd name="connsiteY4" fmla="*/ 410273 h 570468"/>
              <a:gd name="connsiteX5" fmla="*/ 1586225 w 2162755"/>
              <a:gd name="connsiteY5" fmla="*/ 267460 h 570468"/>
              <a:gd name="connsiteX6" fmla="*/ 1924176 w 2162755"/>
              <a:gd name="connsiteY6" fmla="*/ 117087 h 570468"/>
              <a:gd name="connsiteX7" fmla="*/ 2162755 w 2162755"/>
              <a:gd name="connsiteY7" fmla="*/ 0 h 570468"/>
              <a:gd name="connsiteX0" fmla="*/ 0 w 2162755"/>
              <a:gd name="connsiteY0" fmla="*/ 453224 h 582006"/>
              <a:gd name="connsiteX1" fmla="*/ 214806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924176 w 2162755"/>
              <a:gd name="connsiteY6" fmla="*/ 117087 h 582059"/>
              <a:gd name="connsiteX7" fmla="*/ 2162755 w 2162755"/>
              <a:gd name="connsiteY7" fmla="*/ 0 h 582059"/>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876347 w 2162755"/>
              <a:gd name="connsiteY6" fmla="*/ 140160 h 582059"/>
              <a:gd name="connsiteX7" fmla="*/ 2162755 w 2162755"/>
              <a:gd name="connsiteY7" fmla="*/ 0 h 582059"/>
              <a:gd name="connsiteX0" fmla="*/ 0 w 2126884"/>
              <a:gd name="connsiteY0" fmla="*/ 421497 h 550332"/>
              <a:gd name="connsiteX1" fmla="*/ 198863 w 2126884"/>
              <a:gd name="connsiteY1" fmla="*/ 490954 h 550332"/>
              <a:gd name="connsiteX2" fmla="*/ 521103 w 2126884"/>
              <a:gd name="connsiteY2" fmla="*/ 550279 h 550332"/>
              <a:gd name="connsiteX3" fmla="*/ 854916 w 2126884"/>
              <a:gd name="connsiteY3" fmla="*/ 498984 h 550332"/>
              <a:gd name="connsiteX4" fmla="*/ 1224470 w 2126884"/>
              <a:gd name="connsiteY4" fmla="*/ 378546 h 550332"/>
              <a:gd name="connsiteX5" fmla="*/ 1586225 w 2126884"/>
              <a:gd name="connsiteY5" fmla="*/ 235733 h 550332"/>
              <a:gd name="connsiteX6" fmla="*/ 1876347 w 2126884"/>
              <a:gd name="connsiteY6" fmla="*/ 108433 h 550332"/>
              <a:gd name="connsiteX7" fmla="*/ 2126884 w 2126884"/>
              <a:gd name="connsiteY7" fmla="*/ 0 h 550332"/>
              <a:gd name="connsiteX0" fmla="*/ 0 w 2126884"/>
              <a:gd name="connsiteY0" fmla="*/ 421497 h 550283"/>
              <a:gd name="connsiteX1" fmla="*/ 218792 w 2126884"/>
              <a:gd name="connsiteY1" fmla="*/ 496722 h 550283"/>
              <a:gd name="connsiteX2" fmla="*/ 521103 w 2126884"/>
              <a:gd name="connsiteY2" fmla="*/ 550279 h 550283"/>
              <a:gd name="connsiteX3" fmla="*/ 854916 w 2126884"/>
              <a:gd name="connsiteY3" fmla="*/ 498984 h 550283"/>
              <a:gd name="connsiteX4" fmla="*/ 1224470 w 2126884"/>
              <a:gd name="connsiteY4" fmla="*/ 378546 h 550283"/>
              <a:gd name="connsiteX5" fmla="*/ 1586225 w 2126884"/>
              <a:gd name="connsiteY5" fmla="*/ 235733 h 550283"/>
              <a:gd name="connsiteX6" fmla="*/ 1876347 w 2126884"/>
              <a:gd name="connsiteY6" fmla="*/ 108433 h 550283"/>
              <a:gd name="connsiteX7" fmla="*/ 2126884 w 2126884"/>
              <a:gd name="connsiteY7" fmla="*/ 0 h 550283"/>
              <a:gd name="connsiteX0" fmla="*/ 0 w 1880018"/>
              <a:gd name="connsiteY0" fmla="*/ 508147 h 636933"/>
              <a:gd name="connsiteX1" fmla="*/ 218792 w 1880018"/>
              <a:gd name="connsiteY1" fmla="*/ 583372 h 636933"/>
              <a:gd name="connsiteX2" fmla="*/ 521103 w 1880018"/>
              <a:gd name="connsiteY2" fmla="*/ 636929 h 636933"/>
              <a:gd name="connsiteX3" fmla="*/ 854916 w 1880018"/>
              <a:gd name="connsiteY3" fmla="*/ 585634 h 636933"/>
              <a:gd name="connsiteX4" fmla="*/ 1224470 w 1880018"/>
              <a:gd name="connsiteY4" fmla="*/ 465196 h 636933"/>
              <a:gd name="connsiteX5" fmla="*/ 1586225 w 1880018"/>
              <a:gd name="connsiteY5" fmla="*/ 322383 h 636933"/>
              <a:gd name="connsiteX6" fmla="*/ 1876347 w 1880018"/>
              <a:gd name="connsiteY6" fmla="*/ 195083 h 636933"/>
              <a:gd name="connsiteX7" fmla="*/ 673632 w 1880018"/>
              <a:gd name="connsiteY7" fmla="*/ 0 h 636933"/>
              <a:gd name="connsiteX0" fmla="*/ 0 w 2171346"/>
              <a:gd name="connsiteY0" fmla="*/ 508147 h 636933"/>
              <a:gd name="connsiteX1" fmla="*/ 218792 w 2171346"/>
              <a:gd name="connsiteY1" fmla="*/ 583372 h 636933"/>
              <a:gd name="connsiteX2" fmla="*/ 521103 w 2171346"/>
              <a:gd name="connsiteY2" fmla="*/ 636929 h 636933"/>
              <a:gd name="connsiteX3" fmla="*/ 854916 w 2171346"/>
              <a:gd name="connsiteY3" fmla="*/ 585634 h 636933"/>
              <a:gd name="connsiteX4" fmla="*/ 1224470 w 2171346"/>
              <a:gd name="connsiteY4" fmla="*/ 465196 h 636933"/>
              <a:gd name="connsiteX5" fmla="*/ 1586225 w 2171346"/>
              <a:gd name="connsiteY5" fmla="*/ 322383 h 636933"/>
              <a:gd name="connsiteX6" fmla="*/ 1876347 w 2171346"/>
              <a:gd name="connsiteY6" fmla="*/ 195083 h 636933"/>
              <a:gd name="connsiteX7" fmla="*/ 2118372 w 2171346"/>
              <a:gd name="connsiteY7" fmla="*/ 82136 h 636933"/>
              <a:gd name="connsiteX8" fmla="*/ 673632 w 2171346"/>
              <a:gd name="connsiteY8" fmla="*/ 0 h 636933"/>
              <a:gd name="connsiteX0" fmla="*/ 0 w 2120360"/>
              <a:gd name="connsiteY0" fmla="*/ 508147 h 636933"/>
              <a:gd name="connsiteX1" fmla="*/ 218792 w 2120360"/>
              <a:gd name="connsiteY1" fmla="*/ 583372 h 636933"/>
              <a:gd name="connsiteX2" fmla="*/ 521103 w 2120360"/>
              <a:gd name="connsiteY2" fmla="*/ 636929 h 636933"/>
              <a:gd name="connsiteX3" fmla="*/ 854916 w 2120360"/>
              <a:gd name="connsiteY3" fmla="*/ 585634 h 636933"/>
              <a:gd name="connsiteX4" fmla="*/ 1224470 w 2120360"/>
              <a:gd name="connsiteY4" fmla="*/ 465196 h 636933"/>
              <a:gd name="connsiteX5" fmla="*/ 1586225 w 2120360"/>
              <a:gd name="connsiteY5" fmla="*/ 322383 h 636933"/>
              <a:gd name="connsiteX6" fmla="*/ 1876347 w 2120360"/>
              <a:gd name="connsiteY6" fmla="*/ 195083 h 636933"/>
              <a:gd name="connsiteX7" fmla="*/ 2118372 w 2120360"/>
              <a:gd name="connsiteY7" fmla="*/ 82136 h 636933"/>
              <a:gd name="connsiteX8" fmla="*/ 1632728 w 2120360"/>
              <a:gd name="connsiteY8" fmla="*/ 22566 h 636933"/>
              <a:gd name="connsiteX9" fmla="*/ 673632 w 2120360"/>
              <a:gd name="connsiteY9" fmla="*/ 0 h 636933"/>
              <a:gd name="connsiteX0" fmla="*/ 0 w 2120360"/>
              <a:gd name="connsiteY0" fmla="*/ 508646 h 637432"/>
              <a:gd name="connsiteX1" fmla="*/ 218792 w 2120360"/>
              <a:gd name="connsiteY1" fmla="*/ 583871 h 637432"/>
              <a:gd name="connsiteX2" fmla="*/ 521103 w 2120360"/>
              <a:gd name="connsiteY2" fmla="*/ 637428 h 637432"/>
              <a:gd name="connsiteX3" fmla="*/ 854916 w 2120360"/>
              <a:gd name="connsiteY3" fmla="*/ 586133 h 637432"/>
              <a:gd name="connsiteX4" fmla="*/ 1224470 w 2120360"/>
              <a:gd name="connsiteY4" fmla="*/ 465695 h 637432"/>
              <a:gd name="connsiteX5" fmla="*/ 1586225 w 2120360"/>
              <a:gd name="connsiteY5" fmla="*/ 322882 h 637432"/>
              <a:gd name="connsiteX6" fmla="*/ 1876347 w 2120360"/>
              <a:gd name="connsiteY6" fmla="*/ 195582 h 637432"/>
              <a:gd name="connsiteX7" fmla="*/ 2118372 w 2120360"/>
              <a:gd name="connsiteY7" fmla="*/ 82635 h 637432"/>
              <a:gd name="connsiteX8" fmla="*/ 1632728 w 2120360"/>
              <a:gd name="connsiteY8" fmla="*/ 23065 h 637432"/>
              <a:gd name="connsiteX9" fmla="*/ 1125009 w 2120360"/>
              <a:gd name="connsiteY9" fmla="*/ 1402 h 637432"/>
              <a:gd name="connsiteX10" fmla="*/ 673632 w 2120360"/>
              <a:gd name="connsiteY10" fmla="*/ 499 h 637432"/>
              <a:gd name="connsiteX0" fmla="*/ 0 w 2120360"/>
              <a:gd name="connsiteY0" fmla="*/ 508646 h 637432"/>
              <a:gd name="connsiteX1" fmla="*/ 218792 w 2120360"/>
              <a:gd name="connsiteY1" fmla="*/ 583871 h 637432"/>
              <a:gd name="connsiteX2" fmla="*/ 521103 w 2120360"/>
              <a:gd name="connsiteY2" fmla="*/ 637428 h 637432"/>
              <a:gd name="connsiteX3" fmla="*/ 854916 w 2120360"/>
              <a:gd name="connsiteY3" fmla="*/ 586133 h 637432"/>
              <a:gd name="connsiteX4" fmla="*/ 1224470 w 2120360"/>
              <a:gd name="connsiteY4" fmla="*/ 465695 h 637432"/>
              <a:gd name="connsiteX5" fmla="*/ 1586225 w 2120360"/>
              <a:gd name="connsiteY5" fmla="*/ 322882 h 637432"/>
              <a:gd name="connsiteX6" fmla="*/ 1876347 w 2120360"/>
              <a:gd name="connsiteY6" fmla="*/ 195582 h 637432"/>
              <a:gd name="connsiteX7" fmla="*/ 2118372 w 2120360"/>
              <a:gd name="connsiteY7" fmla="*/ 82635 h 637432"/>
              <a:gd name="connsiteX8" fmla="*/ 1632728 w 2120360"/>
              <a:gd name="connsiteY8" fmla="*/ 23065 h 637432"/>
              <a:gd name="connsiteX9" fmla="*/ 1125009 w 2120360"/>
              <a:gd name="connsiteY9" fmla="*/ 1402 h 637432"/>
              <a:gd name="connsiteX10" fmla="*/ 673632 w 2120360"/>
              <a:gd name="connsiteY10" fmla="*/ 499 h 637432"/>
              <a:gd name="connsiteX11" fmla="*/ 0 w 2120360"/>
              <a:gd name="connsiteY11" fmla="*/ 508646 h 637432"/>
              <a:gd name="connsiteX0" fmla="*/ 0 w 2120360"/>
              <a:gd name="connsiteY0" fmla="*/ 523206 h 651992"/>
              <a:gd name="connsiteX1" fmla="*/ 218792 w 2120360"/>
              <a:gd name="connsiteY1" fmla="*/ 598431 h 651992"/>
              <a:gd name="connsiteX2" fmla="*/ 521103 w 2120360"/>
              <a:gd name="connsiteY2" fmla="*/ 651988 h 651992"/>
              <a:gd name="connsiteX3" fmla="*/ 854916 w 2120360"/>
              <a:gd name="connsiteY3" fmla="*/ 600693 h 651992"/>
              <a:gd name="connsiteX4" fmla="*/ 1224470 w 2120360"/>
              <a:gd name="connsiteY4" fmla="*/ 480255 h 651992"/>
              <a:gd name="connsiteX5" fmla="*/ 1586225 w 2120360"/>
              <a:gd name="connsiteY5" fmla="*/ 337442 h 651992"/>
              <a:gd name="connsiteX6" fmla="*/ 1876347 w 2120360"/>
              <a:gd name="connsiteY6" fmla="*/ 210142 h 651992"/>
              <a:gd name="connsiteX7" fmla="*/ 2118372 w 2120360"/>
              <a:gd name="connsiteY7" fmla="*/ 97195 h 651992"/>
              <a:gd name="connsiteX8" fmla="*/ 1632728 w 2120360"/>
              <a:gd name="connsiteY8" fmla="*/ 37625 h 651992"/>
              <a:gd name="connsiteX9" fmla="*/ 1125009 w 2120360"/>
              <a:gd name="connsiteY9" fmla="*/ 15962 h 651992"/>
              <a:gd name="connsiteX10" fmla="*/ 673632 w 2120360"/>
              <a:gd name="connsiteY10" fmla="*/ 15059 h 651992"/>
              <a:gd name="connsiteX11" fmla="*/ 488522 w 2120360"/>
              <a:gd name="connsiteY11" fmla="*/ 105320 h 651992"/>
              <a:gd name="connsiteX12" fmla="*/ 0 w 2120360"/>
              <a:gd name="connsiteY12" fmla="*/ 523206 h 651992"/>
              <a:gd name="connsiteX0" fmla="*/ 0 w 2120360"/>
              <a:gd name="connsiteY0" fmla="*/ 514552 h 643338"/>
              <a:gd name="connsiteX1" fmla="*/ 218792 w 2120360"/>
              <a:gd name="connsiteY1" fmla="*/ 589777 h 643338"/>
              <a:gd name="connsiteX2" fmla="*/ 521103 w 2120360"/>
              <a:gd name="connsiteY2" fmla="*/ 643334 h 643338"/>
              <a:gd name="connsiteX3" fmla="*/ 854916 w 2120360"/>
              <a:gd name="connsiteY3" fmla="*/ 592039 h 643338"/>
              <a:gd name="connsiteX4" fmla="*/ 1224470 w 2120360"/>
              <a:gd name="connsiteY4" fmla="*/ 471601 h 643338"/>
              <a:gd name="connsiteX5" fmla="*/ 1586225 w 2120360"/>
              <a:gd name="connsiteY5" fmla="*/ 328788 h 643338"/>
              <a:gd name="connsiteX6" fmla="*/ 1876347 w 2120360"/>
              <a:gd name="connsiteY6" fmla="*/ 201488 h 643338"/>
              <a:gd name="connsiteX7" fmla="*/ 2118372 w 2120360"/>
              <a:gd name="connsiteY7" fmla="*/ 88541 h 643338"/>
              <a:gd name="connsiteX8" fmla="*/ 1632728 w 2120360"/>
              <a:gd name="connsiteY8" fmla="*/ 28971 h 643338"/>
              <a:gd name="connsiteX9" fmla="*/ 1125009 w 2120360"/>
              <a:gd name="connsiteY9" fmla="*/ 7308 h 643338"/>
              <a:gd name="connsiteX10" fmla="*/ 680991 w 2120360"/>
              <a:gd name="connsiteY10" fmla="*/ 19943 h 643338"/>
              <a:gd name="connsiteX11" fmla="*/ 488522 w 2120360"/>
              <a:gd name="connsiteY11" fmla="*/ 96666 h 643338"/>
              <a:gd name="connsiteX12" fmla="*/ 0 w 2120360"/>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1378"/>
              <a:gd name="connsiteY0" fmla="*/ 514552 h 643338"/>
              <a:gd name="connsiteX1" fmla="*/ 218792 w 2121378"/>
              <a:gd name="connsiteY1" fmla="*/ 589777 h 643338"/>
              <a:gd name="connsiteX2" fmla="*/ 521103 w 2121378"/>
              <a:gd name="connsiteY2" fmla="*/ 643334 h 643338"/>
              <a:gd name="connsiteX3" fmla="*/ 854916 w 2121378"/>
              <a:gd name="connsiteY3" fmla="*/ 592039 h 643338"/>
              <a:gd name="connsiteX4" fmla="*/ 1224470 w 2121378"/>
              <a:gd name="connsiteY4" fmla="*/ 471601 h 643338"/>
              <a:gd name="connsiteX5" fmla="*/ 1586225 w 2121378"/>
              <a:gd name="connsiteY5" fmla="*/ 328788 h 643338"/>
              <a:gd name="connsiteX6" fmla="*/ 1909459 w 2121378"/>
              <a:gd name="connsiteY6" fmla="*/ 212319 h 643338"/>
              <a:gd name="connsiteX7" fmla="*/ 2118372 w 2121378"/>
              <a:gd name="connsiteY7" fmla="*/ 88541 h 643338"/>
              <a:gd name="connsiteX8" fmla="*/ 1632728 w 2121378"/>
              <a:gd name="connsiteY8" fmla="*/ 28971 h 643338"/>
              <a:gd name="connsiteX9" fmla="*/ 1125009 w 2121378"/>
              <a:gd name="connsiteY9" fmla="*/ 7308 h 643338"/>
              <a:gd name="connsiteX10" fmla="*/ 680991 w 2121378"/>
              <a:gd name="connsiteY10" fmla="*/ 19943 h 643338"/>
              <a:gd name="connsiteX11" fmla="*/ 488522 w 2121378"/>
              <a:gd name="connsiteY11" fmla="*/ 96666 h 643338"/>
              <a:gd name="connsiteX12" fmla="*/ 0 w 2121378"/>
              <a:gd name="connsiteY12" fmla="*/ 514552 h 643338"/>
              <a:gd name="connsiteX0" fmla="*/ 0 w 2120922"/>
              <a:gd name="connsiteY0" fmla="*/ 514552 h 643338"/>
              <a:gd name="connsiteX1" fmla="*/ 218792 w 2120922"/>
              <a:gd name="connsiteY1" fmla="*/ 589777 h 643338"/>
              <a:gd name="connsiteX2" fmla="*/ 521103 w 2120922"/>
              <a:gd name="connsiteY2" fmla="*/ 643334 h 643338"/>
              <a:gd name="connsiteX3" fmla="*/ 854916 w 2120922"/>
              <a:gd name="connsiteY3" fmla="*/ 592039 h 643338"/>
              <a:gd name="connsiteX4" fmla="*/ 1224470 w 2120922"/>
              <a:gd name="connsiteY4" fmla="*/ 471601 h 643338"/>
              <a:gd name="connsiteX5" fmla="*/ 1586225 w 2120922"/>
              <a:gd name="connsiteY5" fmla="*/ 328788 h 643338"/>
              <a:gd name="connsiteX6" fmla="*/ 1876347 w 2120922"/>
              <a:gd name="connsiteY6" fmla="*/ 201488 h 643338"/>
              <a:gd name="connsiteX7" fmla="*/ 2118372 w 2120922"/>
              <a:gd name="connsiteY7" fmla="*/ 88541 h 643338"/>
              <a:gd name="connsiteX8" fmla="*/ 1632728 w 2120922"/>
              <a:gd name="connsiteY8" fmla="*/ 28971 h 643338"/>
              <a:gd name="connsiteX9" fmla="*/ 1125009 w 2120922"/>
              <a:gd name="connsiteY9" fmla="*/ 7308 h 643338"/>
              <a:gd name="connsiteX10" fmla="*/ 680991 w 2120922"/>
              <a:gd name="connsiteY10" fmla="*/ 19943 h 643338"/>
              <a:gd name="connsiteX11" fmla="*/ 488522 w 2120922"/>
              <a:gd name="connsiteY11" fmla="*/ 96666 h 643338"/>
              <a:gd name="connsiteX12" fmla="*/ 0 w 2120922"/>
              <a:gd name="connsiteY12" fmla="*/ 514552 h 643338"/>
              <a:gd name="connsiteX0" fmla="*/ 0 w 2120922"/>
              <a:gd name="connsiteY0" fmla="*/ 508147 h 636933"/>
              <a:gd name="connsiteX1" fmla="*/ 218792 w 2120922"/>
              <a:gd name="connsiteY1" fmla="*/ 583372 h 636933"/>
              <a:gd name="connsiteX2" fmla="*/ 521103 w 2120922"/>
              <a:gd name="connsiteY2" fmla="*/ 636929 h 636933"/>
              <a:gd name="connsiteX3" fmla="*/ 854916 w 2120922"/>
              <a:gd name="connsiteY3" fmla="*/ 585634 h 636933"/>
              <a:gd name="connsiteX4" fmla="*/ 1224470 w 2120922"/>
              <a:gd name="connsiteY4" fmla="*/ 465196 h 636933"/>
              <a:gd name="connsiteX5" fmla="*/ 1586225 w 2120922"/>
              <a:gd name="connsiteY5" fmla="*/ 322383 h 636933"/>
              <a:gd name="connsiteX6" fmla="*/ 1876347 w 2120922"/>
              <a:gd name="connsiteY6" fmla="*/ 195083 h 636933"/>
              <a:gd name="connsiteX7" fmla="*/ 2118372 w 2120922"/>
              <a:gd name="connsiteY7" fmla="*/ 82136 h 636933"/>
              <a:gd name="connsiteX8" fmla="*/ 1632728 w 2120922"/>
              <a:gd name="connsiteY8" fmla="*/ 22566 h 636933"/>
              <a:gd name="connsiteX9" fmla="*/ 1125009 w 2120922"/>
              <a:gd name="connsiteY9" fmla="*/ 903 h 636933"/>
              <a:gd name="connsiteX10" fmla="*/ 680991 w 2120922"/>
              <a:gd name="connsiteY10" fmla="*/ 13538 h 636933"/>
              <a:gd name="connsiteX11" fmla="*/ 613612 w 2120922"/>
              <a:gd name="connsiteY11" fmla="*/ 36104 h 636933"/>
              <a:gd name="connsiteX12" fmla="*/ 488522 w 2120922"/>
              <a:gd name="connsiteY12" fmla="*/ 90261 h 636933"/>
              <a:gd name="connsiteX13" fmla="*/ 0 w 2120922"/>
              <a:gd name="connsiteY13" fmla="*/ 508147 h 636933"/>
              <a:gd name="connsiteX0" fmla="*/ 0 w 2120922"/>
              <a:gd name="connsiteY0" fmla="*/ 516344 h 645130"/>
              <a:gd name="connsiteX1" fmla="*/ 218792 w 2120922"/>
              <a:gd name="connsiteY1" fmla="*/ 591569 h 645130"/>
              <a:gd name="connsiteX2" fmla="*/ 521103 w 2120922"/>
              <a:gd name="connsiteY2" fmla="*/ 645126 h 645130"/>
              <a:gd name="connsiteX3" fmla="*/ 854916 w 2120922"/>
              <a:gd name="connsiteY3" fmla="*/ 593831 h 645130"/>
              <a:gd name="connsiteX4" fmla="*/ 1224470 w 2120922"/>
              <a:gd name="connsiteY4" fmla="*/ 473393 h 645130"/>
              <a:gd name="connsiteX5" fmla="*/ 1586225 w 2120922"/>
              <a:gd name="connsiteY5" fmla="*/ 330580 h 645130"/>
              <a:gd name="connsiteX6" fmla="*/ 1876347 w 2120922"/>
              <a:gd name="connsiteY6" fmla="*/ 203280 h 645130"/>
              <a:gd name="connsiteX7" fmla="*/ 2118372 w 2120922"/>
              <a:gd name="connsiteY7" fmla="*/ 90333 h 645130"/>
              <a:gd name="connsiteX8" fmla="*/ 1632728 w 2120922"/>
              <a:gd name="connsiteY8" fmla="*/ 30763 h 645130"/>
              <a:gd name="connsiteX9" fmla="*/ 1125009 w 2120922"/>
              <a:gd name="connsiteY9" fmla="*/ 9100 h 645130"/>
              <a:gd name="connsiteX10" fmla="*/ 765611 w 2120922"/>
              <a:gd name="connsiteY10" fmla="*/ 2781 h 645130"/>
              <a:gd name="connsiteX11" fmla="*/ 613612 w 2120922"/>
              <a:gd name="connsiteY11" fmla="*/ 44301 h 645130"/>
              <a:gd name="connsiteX12" fmla="*/ 488522 w 2120922"/>
              <a:gd name="connsiteY12" fmla="*/ 98458 h 645130"/>
              <a:gd name="connsiteX13" fmla="*/ 0 w 2120922"/>
              <a:gd name="connsiteY13" fmla="*/ 516344 h 645130"/>
              <a:gd name="connsiteX0" fmla="*/ 0 w 2120922"/>
              <a:gd name="connsiteY0" fmla="*/ 516344 h 645130"/>
              <a:gd name="connsiteX1" fmla="*/ 218792 w 2120922"/>
              <a:gd name="connsiteY1" fmla="*/ 591569 h 645130"/>
              <a:gd name="connsiteX2" fmla="*/ 521103 w 2120922"/>
              <a:gd name="connsiteY2" fmla="*/ 645126 h 645130"/>
              <a:gd name="connsiteX3" fmla="*/ 854916 w 2120922"/>
              <a:gd name="connsiteY3" fmla="*/ 593831 h 645130"/>
              <a:gd name="connsiteX4" fmla="*/ 1224470 w 2120922"/>
              <a:gd name="connsiteY4" fmla="*/ 473393 h 645130"/>
              <a:gd name="connsiteX5" fmla="*/ 1586225 w 2120922"/>
              <a:gd name="connsiteY5" fmla="*/ 330580 h 645130"/>
              <a:gd name="connsiteX6" fmla="*/ 1876347 w 2120922"/>
              <a:gd name="connsiteY6" fmla="*/ 203280 h 645130"/>
              <a:gd name="connsiteX7" fmla="*/ 2118372 w 2120922"/>
              <a:gd name="connsiteY7" fmla="*/ 90333 h 645130"/>
              <a:gd name="connsiteX8" fmla="*/ 1632728 w 2120922"/>
              <a:gd name="connsiteY8" fmla="*/ 30763 h 645130"/>
              <a:gd name="connsiteX9" fmla="*/ 1125009 w 2120922"/>
              <a:gd name="connsiteY9" fmla="*/ 9100 h 645130"/>
              <a:gd name="connsiteX10" fmla="*/ 765611 w 2120922"/>
              <a:gd name="connsiteY10" fmla="*/ 2781 h 645130"/>
              <a:gd name="connsiteX11" fmla="*/ 613612 w 2120922"/>
              <a:gd name="connsiteY11" fmla="*/ 44301 h 645130"/>
              <a:gd name="connsiteX12" fmla="*/ 488522 w 2120922"/>
              <a:gd name="connsiteY12" fmla="*/ 98458 h 645130"/>
              <a:gd name="connsiteX13" fmla="*/ 0 w 2120922"/>
              <a:gd name="connsiteY13" fmla="*/ 516344 h 645130"/>
              <a:gd name="connsiteX0" fmla="*/ 0 w 2120922"/>
              <a:gd name="connsiteY0" fmla="*/ 510631 h 639417"/>
              <a:gd name="connsiteX1" fmla="*/ 218792 w 2120922"/>
              <a:gd name="connsiteY1" fmla="*/ 585856 h 639417"/>
              <a:gd name="connsiteX2" fmla="*/ 521103 w 2120922"/>
              <a:gd name="connsiteY2" fmla="*/ 639413 h 639417"/>
              <a:gd name="connsiteX3" fmla="*/ 854916 w 2120922"/>
              <a:gd name="connsiteY3" fmla="*/ 588118 h 639417"/>
              <a:gd name="connsiteX4" fmla="*/ 1224470 w 2120922"/>
              <a:gd name="connsiteY4" fmla="*/ 467680 h 639417"/>
              <a:gd name="connsiteX5" fmla="*/ 1586225 w 2120922"/>
              <a:gd name="connsiteY5" fmla="*/ 324867 h 639417"/>
              <a:gd name="connsiteX6" fmla="*/ 1876347 w 2120922"/>
              <a:gd name="connsiteY6" fmla="*/ 197567 h 639417"/>
              <a:gd name="connsiteX7" fmla="*/ 2118372 w 2120922"/>
              <a:gd name="connsiteY7" fmla="*/ 84620 h 639417"/>
              <a:gd name="connsiteX8" fmla="*/ 1632728 w 2120922"/>
              <a:gd name="connsiteY8" fmla="*/ 25050 h 639417"/>
              <a:gd name="connsiteX9" fmla="*/ 1125009 w 2120922"/>
              <a:gd name="connsiteY9" fmla="*/ 3387 h 639417"/>
              <a:gd name="connsiteX10" fmla="*/ 776649 w 2120922"/>
              <a:gd name="connsiteY10" fmla="*/ 5191 h 639417"/>
              <a:gd name="connsiteX11" fmla="*/ 613612 w 2120922"/>
              <a:gd name="connsiteY11" fmla="*/ 38588 h 639417"/>
              <a:gd name="connsiteX12" fmla="*/ 488522 w 2120922"/>
              <a:gd name="connsiteY12" fmla="*/ 92745 h 639417"/>
              <a:gd name="connsiteX13" fmla="*/ 0 w 2120922"/>
              <a:gd name="connsiteY13" fmla="*/ 510631 h 639417"/>
              <a:gd name="connsiteX0" fmla="*/ 0 w 2120922"/>
              <a:gd name="connsiteY0" fmla="*/ 510631 h 639417"/>
              <a:gd name="connsiteX1" fmla="*/ 218792 w 2120922"/>
              <a:gd name="connsiteY1" fmla="*/ 585856 h 639417"/>
              <a:gd name="connsiteX2" fmla="*/ 521103 w 2120922"/>
              <a:gd name="connsiteY2" fmla="*/ 639413 h 639417"/>
              <a:gd name="connsiteX3" fmla="*/ 854916 w 2120922"/>
              <a:gd name="connsiteY3" fmla="*/ 588118 h 639417"/>
              <a:gd name="connsiteX4" fmla="*/ 1224470 w 2120922"/>
              <a:gd name="connsiteY4" fmla="*/ 467680 h 639417"/>
              <a:gd name="connsiteX5" fmla="*/ 1586225 w 2120922"/>
              <a:gd name="connsiteY5" fmla="*/ 324867 h 639417"/>
              <a:gd name="connsiteX6" fmla="*/ 1876347 w 2120922"/>
              <a:gd name="connsiteY6" fmla="*/ 197567 h 639417"/>
              <a:gd name="connsiteX7" fmla="*/ 2118372 w 2120922"/>
              <a:gd name="connsiteY7" fmla="*/ 84620 h 639417"/>
              <a:gd name="connsiteX8" fmla="*/ 1632728 w 2120922"/>
              <a:gd name="connsiteY8" fmla="*/ 25050 h 639417"/>
              <a:gd name="connsiteX9" fmla="*/ 1125009 w 2120922"/>
              <a:gd name="connsiteY9" fmla="*/ 3387 h 639417"/>
              <a:gd name="connsiteX10" fmla="*/ 776649 w 2120922"/>
              <a:gd name="connsiteY10" fmla="*/ 5191 h 639417"/>
              <a:gd name="connsiteX11" fmla="*/ 613612 w 2120922"/>
              <a:gd name="connsiteY11" fmla="*/ 28706 h 639417"/>
              <a:gd name="connsiteX12" fmla="*/ 488522 w 2120922"/>
              <a:gd name="connsiteY12" fmla="*/ 92745 h 639417"/>
              <a:gd name="connsiteX13" fmla="*/ 0 w 2120922"/>
              <a:gd name="connsiteY13" fmla="*/ 510631 h 639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0922" h="639417">
                <a:moveTo>
                  <a:pt x="0" y="510631"/>
                </a:moveTo>
                <a:cubicBezTo>
                  <a:pt x="66288" y="533783"/>
                  <a:pt x="131942" y="564392"/>
                  <a:pt x="218792" y="585856"/>
                </a:cubicBezTo>
                <a:cubicBezTo>
                  <a:pt x="282402" y="615011"/>
                  <a:pt x="415082" y="639036"/>
                  <a:pt x="521103" y="639413"/>
                </a:cubicBezTo>
                <a:cubicBezTo>
                  <a:pt x="627124" y="639790"/>
                  <a:pt x="737688" y="616740"/>
                  <a:pt x="854916" y="588118"/>
                </a:cubicBezTo>
                <a:cubicBezTo>
                  <a:pt x="972144" y="559496"/>
                  <a:pt x="1102585" y="511555"/>
                  <a:pt x="1224470" y="467680"/>
                </a:cubicBezTo>
                <a:cubicBezTo>
                  <a:pt x="1346355" y="423805"/>
                  <a:pt x="1477579" y="369886"/>
                  <a:pt x="1586225" y="324867"/>
                </a:cubicBezTo>
                <a:cubicBezTo>
                  <a:pt x="1694871" y="279848"/>
                  <a:pt x="1821994" y="225423"/>
                  <a:pt x="1876347" y="197567"/>
                </a:cubicBezTo>
                <a:cubicBezTo>
                  <a:pt x="1949096" y="164296"/>
                  <a:pt x="2145485" y="107957"/>
                  <a:pt x="2118372" y="84620"/>
                </a:cubicBezTo>
                <a:cubicBezTo>
                  <a:pt x="2091259" y="61283"/>
                  <a:pt x="1797062" y="36332"/>
                  <a:pt x="1632728" y="25050"/>
                </a:cubicBezTo>
                <a:cubicBezTo>
                  <a:pt x="1468394" y="13768"/>
                  <a:pt x="1284858" y="7148"/>
                  <a:pt x="1125009" y="3387"/>
                </a:cubicBezTo>
                <a:cubicBezTo>
                  <a:pt x="965160" y="-374"/>
                  <a:pt x="860656" y="-2481"/>
                  <a:pt x="776649" y="5191"/>
                </a:cubicBezTo>
                <a:cubicBezTo>
                  <a:pt x="692643" y="12863"/>
                  <a:pt x="645690" y="15919"/>
                  <a:pt x="613612" y="28706"/>
                </a:cubicBezTo>
                <a:cubicBezTo>
                  <a:pt x="581534" y="41493"/>
                  <a:pt x="592017" y="15876"/>
                  <a:pt x="488522" y="92745"/>
                </a:cubicBezTo>
                <a:lnTo>
                  <a:pt x="0" y="510631"/>
                </a:lnTo>
                <a:close/>
              </a:path>
            </a:pathLst>
          </a:custGeom>
          <a:solidFill>
            <a:schemeClr val="accent5">
              <a:lumMod val="90000"/>
            </a:schemeClr>
          </a:solidFill>
          <a:ln w="9525" cap="flat" cmpd="sng" algn="ctr">
            <a:noFill/>
            <a:prstDash val="dash"/>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 name="等腰三角形 3"/>
          <p:cNvSpPr/>
          <p:nvPr/>
        </p:nvSpPr>
        <p:spPr bwMode="auto">
          <a:xfrm flipV="1">
            <a:off x="5613537" y="4259909"/>
            <a:ext cx="916844" cy="523211"/>
          </a:xfrm>
          <a:custGeom>
            <a:avLst/>
            <a:gdLst>
              <a:gd name="connsiteX0" fmla="*/ 0 w 897285"/>
              <a:gd name="connsiteY0" fmla="*/ 518323 h 518323"/>
              <a:gd name="connsiteX1" fmla="*/ 441312 w 897285"/>
              <a:gd name="connsiteY1" fmla="*/ 0 h 518323"/>
              <a:gd name="connsiteX2" fmla="*/ 897285 w 897285"/>
              <a:gd name="connsiteY2" fmla="*/ 518323 h 518323"/>
              <a:gd name="connsiteX3" fmla="*/ 0 w 897285"/>
              <a:gd name="connsiteY3" fmla="*/ 518323 h 518323"/>
              <a:gd name="connsiteX0" fmla="*/ 0 w 897285"/>
              <a:gd name="connsiteY0" fmla="*/ 520767 h 520767"/>
              <a:gd name="connsiteX1" fmla="*/ 451092 w 897285"/>
              <a:gd name="connsiteY1" fmla="*/ 0 h 520767"/>
              <a:gd name="connsiteX2" fmla="*/ 897285 w 897285"/>
              <a:gd name="connsiteY2" fmla="*/ 520767 h 520767"/>
              <a:gd name="connsiteX3" fmla="*/ 0 w 897285"/>
              <a:gd name="connsiteY3" fmla="*/ 520767 h 520767"/>
              <a:gd name="connsiteX0" fmla="*/ 0 w 897285"/>
              <a:gd name="connsiteY0" fmla="*/ 530547 h 530547"/>
              <a:gd name="connsiteX1" fmla="*/ 451092 w 897285"/>
              <a:gd name="connsiteY1" fmla="*/ 0 h 530547"/>
              <a:gd name="connsiteX2" fmla="*/ 897285 w 897285"/>
              <a:gd name="connsiteY2" fmla="*/ 530547 h 530547"/>
              <a:gd name="connsiteX3" fmla="*/ 0 w 897285"/>
              <a:gd name="connsiteY3" fmla="*/ 530547 h 530547"/>
              <a:gd name="connsiteX0" fmla="*/ 0 w 907064"/>
              <a:gd name="connsiteY0" fmla="*/ 525657 h 530547"/>
              <a:gd name="connsiteX1" fmla="*/ 460871 w 907064"/>
              <a:gd name="connsiteY1" fmla="*/ 0 h 530547"/>
              <a:gd name="connsiteX2" fmla="*/ 907064 w 907064"/>
              <a:gd name="connsiteY2" fmla="*/ 530547 h 530547"/>
              <a:gd name="connsiteX3" fmla="*/ 0 w 907064"/>
              <a:gd name="connsiteY3" fmla="*/ 525657 h 530547"/>
              <a:gd name="connsiteX0" fmla="*/ 0 w 916844"/>
              <a:gd name="connsiteY0" fmla="*/ 525657 h 530547"/>
              <a:gd name="connsiteX1" fmla="*/ 460871 w 916844"/>
              <a:gd name="connsiteY1" fmla="*/ 0 h 530547"/>
              <a:gd name="connsiteX2" fmla="*/ 916844 w 916844"/>
              <a:gd name="connsiteY2" fmla="*/ 530547 h 530547"/>
              <a:gd name="connsiteX3" fmla="*/ 0 w 916844"/>
              <a:gd name="connsiteY3" fmla="*/ 525657 h 530547"/>
            </a:gdLst>
            <a:ahLst/>
            <a:cxnLst>
              <a:cxn ang="0">
                <a:pos x="connsiteX0" y="connsiteY0"/>
              </a:cxn>
              <a:cxn ang="0">
                <a:pos x="connsiteX1" y="connsiteY1"/>
              </a:cxn>
              <a:cxn ang="0">
                <a:pos x="connsiteX2" y="connsiteY2"/>
              </a:cxn>
              <a:cxn ang="0">
                <a:pos x="connsiteX3" y="connsiteY3"/>
              </a:cxn>
            </a:cxnLst>
            <a:rect l="l" t="t" r="r" b="b"/>
            <a:pathLst>
              <a:path w="916844" h="530547">
                <a:moveTo>
                  <a:pt x="0" y="525657"/>
                </a:moveTo>
                <a:lnTo>
                  <a:pt x="460871" y="0"/>
                </a:lnTo>
                <a:lnTo>
                  <a:pt x="916844" y="530547"/>
                </a:lnTo>
                <a:lnTo>
                  <a:pt x="0" y="525657"/>
                </a:lnTo>
                <a:close/>
              </a:path>
            </a:pathLst>
          </a:cu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5" name="任意多边形 54"/>
          <p:cNvSpPr/>
          <p:nvPr/>
        </p:nvSpPr>
        <p:spPr bwMode="auto">
          <a:xfrm flipH="1">
            <a:off x="6536266" y="4132564"/>
            <a:ext cx="1485900" cy="114074"/>
          </a:xfrm>
          <a:custGeom>
            <a:avLst/>
            <a:gdLst>
              <a:gd name="connsiteX0" fmla="*/ 1612900 w 1612900"/>
              <a:gd name="connsiteY0" fmla="*/ 84440 h 101374"/>
              <a:gd name="connsiteX1" fmla="*/ 1536700 w 1612900"/>
              <a:gd name="connsiteY1" fmla="*/ 42107 h 101374"/>
              <a:gd name="connsiteX2" fmla="*/ 1308100 w 1612900"/>
              <a:gd name="connsiteY2" fmla="*/ 4007 h 101374"/>
              <a:gd name="connsiteX3" fmla="*/ 960967 w 1612900"/>
              <a:gd name="connsiteY3" fmla="*/ 4007 h 101374"/>
              <a:gd name="connsiteX4" fmla="*/ 541867 w 1612900"/>
              <a:gd name="connsiteY4" fmla="*/ 29407 h 101374"/>
              <a:gd name="connsiteX5" fmla="*/ 190500 w 1612900"/>
              <a:gd name="connsiteY5" fmla="*/ 67507 h 101374"/>
              <a:gd name="connsiteX6" fmla="*/ 0 w 1612900"/>
              <a:gd name="connsiteY6" fmla="*/ 101374 h 101374"/>
              <a:gd name="connsiteX0" fmla="*/ 1641447 w 1641447"/>
              <a:gd name="connsiteY0" fmla="*/ 110947 h 110947"/>
              <a:gd name="connsiteX1" fmla="*/ 1536700 w 1641447"/>
              <a:gd name="connsiteY1" fmla="*/ 42107 h 110947"/>
              <a:gd name="connsiteX2" fmla="*/ 1308100 w 1641447"/>
              <a:gd name="connsiteY2" fmla="*/ 4007 h 110947"/>
              <a:gd name="connsiteX3" fmla="*/ 960967 w 1641447"/>
              <a:gd name="connsiteY3" fmla="*/ 4007 h 110947"/>
              <a:gd name="connsiteX4" fmla="*/ 541867 w 1641447"/>
              <a:gd name="connsiteY4" fmla="*/ 29407 h 110947"/>
              <a:gd name="connsiteX5" fmla="*/ 190500 w 1641447"/>
              <a:gd name="connsiteY5" fmla="*/ 67507 h 110947"/>
              <a:gd name="connsiteX6" fmla="*/ 0 w 1641447"/>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5792 h 110947"/>
              <a:gd name="connsiteX0" fmla="*/ 1646204 w 1646204"/>
              <a:gd name="connsiteY0" fmla="*/ 110947 h 114628"/>
              <a:gd name="connsiteX1" fmla="*/ 1541457 w 1646204"/>
              <a:gd name="connsiteY1" fmla="*/ 42107 h 114628"/>
              <a:gd name="connsiteX2" fmla="*/ 1312857 w 1646204"/>
              <a:gd name="connsiteY2" fmla="*/ 4007 h 114628"/>
              <a:gd name="connsiteX3" fmla="*/ 965724 w 1646204"/>
              <a:gd name="connsiteY3" fmla="*/ 4007 h 114628"/>
              <a:gd name="connsiteX4" fmla="*/ 546624 w 1646204"/>
              <a:gd name="connsiteY4" fmla="*/ 29407 h 114628"/>
              <a:gd name="connsiteX5" fmla="*/ 195257 w 1646204"/>
              <a:gd name="connsiteY5" fmla="*/ 67507 h 114628"/>
              <a:gd name="connsiteX6" fmla="*/ 0 w 1646204"/>
              <a:gd name="connsiteY6" fmla="*/ 114628 h 114628"/>
              <a:gd name="connsiteX0" fmla="*/ 1660477 w 1660477"/>
              <a:gd name="connsiteY0" fmla="*/ 110947 h 110947"/>
              <a:gd name="connsiteX1" fmla="*/ 1555730 w 1660477"/>
              <a:gd name="connsiteY1" fmla="*/ 42107 h 110947"/>
              <a:gd name="connsiteX2" fmla="*/ 1327130 w 1660477"/>
              <a:gd name="connsiteY2" fmla="*/ 4007 h 110947"/>
              <a:gd name="connsiteX3" fmla="*/ 979997 w 1660477"/>
              <a:gd name="connsiteY3" fmla="*/ 4007 h 110947"/>
              <a:gd name="connsiteX4" fmla="*/ 560897 w 1660477"/>
              <a:gd name="connsiteY4" fmla="*/ 29407 h 110947"/>
              <a:gd name="connsiteX5" fmla="*/ 209530 w 1660477"/>
              <a:gd name="connsiteY5" fmla="*/ 67507 h 110947"/>
              <a:gd name="connsiteX6" fmla="*/ 0 w 1660477"/>
              <a:gd name="connsiteY6" fmla="*/ 105793 h 110947"/>
              <a:gd name="connsiteX0" fmla="*/ 1669993 w 1669993"/>
              <a:gd name="connsiteY0" fmla="*/ 110947 h 110947"/>
              <a:gd name="connsiteX1" fmla="*/ 1565246 w 1669993"/>
              <a:gd name="connsiteY1" fmla="*/ 42107 h 110947"/>
              <a:gd name="connsiteX2" fmla="*/ 1336646 w 1669993"/>
              <a:gd name="connsiteY2" fmla="*/ 4007 h 110947"/>
              <a:gd name="connsiteX3" fmla="*/ 989513 w 1669993"/>
              <a:gd name="connsiteY3" fmla="*/ 4007 h 110947"/>
              <a:gd name="connsiteX4" fmla="*/ 570413 w 1669993"/>
              <a:gd name="connsiteY4" fmla="*/ 29407 h 110947"/>
              <a:gd name="connsiteX5" fmla="*/ 219046 w 1669993"/>
              <a:gd name="connsiteY5" fmla="*/ 67507 h 110947"/>
              <a:gd name="connsiteX6" fmla="*/ 0 w 1669993"/>
              <a:gd name="connsiteY6" fmla="*/ 110210 h 110947"/>
              <a:gd name="connsiteX0" fmla="*/ 1669993 w 1669993"/>
              <a:gd name="connsiteY0" fmla="*/ 110947 h 119046"/>
              <a:gd name="connsiteX1" fmla="*/ 1565246 w 1669993"/>
              <a:gd name="connsiteY1" fmla="*/ 42107 h 119046"/>
              <a:gd name="connsiteX2" fmla="*/ 1336646 w 1669993"/>
              <a:gd name="connsiteY2" fmla="*/ 4007 h 119046"/>
              <a:gd name="connsiteX3" fmla="*/ 989513 w 1669993"/>
              <a:gd name="connsiteY3" fmla="*/ 4007 h 119046"/>
              <a:gd name="connsiteX4" fmla="*/ 570413 w 1669993"/>
              <a:gd name="connsiteY4" fmla="*/ 29407 h 119046"/>
              <a:gd name="connsiteX5" fmla="*/ 219046 w 1669993"/>
              <a:gd name="connsiteY5" fmla="*/ 67507 h 119046"/>
              <a:gd name="connsiteX6" fmla="*/ 0 w 1669993"/>
              <a:gd name="connsiteY6" fmla="*/ 119046 h 11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993" h="119046">
                <a:moveTo>
                  <a:pt x="1669993" y="110947"/>
                </a:moveTo>
                <a:cubicBezTo>
                  <a:pt x="1657293" y="96483"/>
                  <a:pt x="1620804" y="59930"/>
                  <a:pt x="1565246" y="42107"/>
                </a:cubicBezTo>
                <a:cubicBezTo>
                  <a:pt x="1509688" y="24284"/>
                  <a:pt x="1432601" y="10357"/>
                  <a:pt x="1336646" y="4007"/>
                </a:cubicBezTo>
                <a:cubicBezTo>
                  <a:pt x="1240690" y="-2343"/>
                  <a:pt x="1117218" y="-226"/>
                  <a:pt x="989513" y="4007"/>
                </a:cubicBezTo>
                <a:cubicBezTo>
                  <a:pt x="861808" y="8240"/>
                  <a:pt x="698824" y="18824"/>
                  <a:pt x="570413" y="29407"/>
                </a:cubicBezTo>
                <a:cubicBezTo>
                  <a:pt x="442002" y="39990"/>
                  <a:pt x="314115" y="52567"/>
                  <a:pt x="219046" y="67507"/>
                </a:cubicBezTo>
                <a:cubicBezTo>
                  <a:pt x="123977" y="82447"/>
                  <a:pt x="50094" y="108109"/>
                  <a:pt x="0" y="119046"/>
                </a:cubicBezTo>
              </a:path>
            </a:pathLst>
          </a:custGeom>
          <a:no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58" name="直接连接符 57"/>
          <p:cNvCxnSpPr/>
          <p:nvPr/>
        </p:nvCxnSpPr>
        <p:spPr bwMode="auto">
          <a:xfrm flipH="1">
            <a:off x="6580414" y="4244219"/>
            <a:ext cx="1331383" cy="0"/>
          </a:xfrm>
          <a:prstGeom prst="line">
            <a:avLst/>
          </a:prstGeom>
          <a:noFill/>
          <a:ln w="12700" cap="flat" cmpd="sng" algn="ctr">
            <a:solidFill>
              <a:srgbClr val="0000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任意多边形 12"/>
          <p:cNvSpPr/>
          <p:nvPr/>
        </p:nvSpPr>
        <p:spPr bwMode="auto">
          <a:xfrm>
            <a:off x="4119032" y="4140427"/>
            <a:ext cx="1485900" cy="114074"/>
          </a:xfrm>
          <a:custGeom>
            <a:avLst/>
            <a:gdLst>
              <a:gd name="connsiteX0" fmla="*/ 1612900 w 1612900"/>
              <a:gd name="connsiteY0" fmla="*/ 84440 h 101374"/>
              <a:gd name="connsiteX1" fmla="*/ 1536700 w 1612900"/>
              <a:gd name="connsiteY1" fmla="*/ 42107 h 101374"/>
              <a:gd name="connsiteX2" fmla="*/ 1308100 w 1612900"/>
              <a:gd name="connsiteY2" fmla="*/ 4007 h 101374"/>
              <a:gd name="connsiteX3" fmla="*/ 960967 w 1612900"/>
              <a:gd name="connsiteY3" fmla="*/ 4007 h 101374"/>
              <a:gd name="connsiteX4" fmla="*/ 541867 w 1612900"/>
              <a:gd name="connsiteY4" fmla="*/ 29407 h 101374"/>
              <a:gd name="connsiteX5" fmla="*/ 190500 w 1612900"/>
              <a:gd name="connsiteY5" fmla="*/ 67507 h 101374"/>
              <a:gd name="connsiteX6" fmla="*/ 0 w 1612900"/>
              <a:gd name="connsiteY6" fmla="*/ 101374 h 101374"/>
              <a:gd name="connsiteX0" fmla="*/ 1641447 w 1641447"/>
              <a:gd name="connsiteY0" fmla="*/ 110947 h 110947"/>
              <a:gd name="connsiteX1" fmla="*/ 1536700 w 1641447"/>
              <a:gd name="connsiteY1" fmla="*/ 42107 h 110947"/>
              <a:gd name="connsiteX2" fmla="*/ 1308100 w 1641447"/>
              <a:gd name="connsiteY2" fmla="*/ 4007 h 110947"/>
              <a:gd name="connsiteX3" fmla="*/ 960967 w 1641447"/>
              <a:gd name="connsiteY3" fmla="*/ 4007 h 110947"/>
              <a:gd name="connsiteX4" fmla="*/ 541867 w 1641447"/>
              <a:gd name="connsiteY4" fmla="*/ 29407 h 110947"/>
              <a:gd name="connsiteX5" fmla="*/ 190500 w 1641447"/>
              <a:gd name="connsiteY5" fmla="*/ 67507 h 110947"/>
              <a:gd name="connsiteX6" fmla="*/ 0 w 1641447"/>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5792 h 110947"/>
              <a:gd name="connsiteX0" fmla="*/ 1646204 w 1646204"/>
              <a:gd name="connsiteY0" fmla="*/ 110947 h 114628"/>
              <a:gd name="connsiteX1" fmla="*/ 1541457 w 1646204"/>
              <a:gd name="connsiteY1" fmla="*/ 42107 h 114628"/>
              <a:gd name="connsiteX2" fmla="*/ 1312857 w 1646204"/>
              <a:gd name="connsiteY2" fmla="*/ 4007 h 114628"/>
              <a:gd name="connsiteX3" fmla="*/ 965724 w 1646204"/>
              <a:gd name="connsiteY3" fmla="*/ 4007 h 114628"/>
              <a:gd name="connsiteX4" fmla="*/ 546624 w 1646204"/>
              <a:gd name="connsiteY4" fmla="*/ 29407 h 114628"/>
              <a:gd name="connsiteX5" fmla="*/ 195257 w 1646204"/>
              <a:gd name="connsiteY5" fmla="*/ 67507 h 114628"/>
              <a:gd name="connsiteX6" fmla="*/ 0 w 1646204"/>
              <a:gd name="connsiteY6" fmla="*/ 114628 h 114628"/>
              <a:gd name="connsiteX0" fmla="*/ 1660477 w 1660477"/>
              <a:gd name="connsiteY0" fmla="*/ 110947 h 110947"/>
              <a:gd name="connsiteX1" fmla="*/ 1555730 w 1660477"/>
              <a:gd name="connsiteY1" fmla="*/ 42107 h 110947"/>
              <a:gd name="connsiteX2" fmla="*/ 1327130 w 1660477"/>
              <a:gd name="connsiteY2" fmla="*/ 4007 h 110947"/>
              <a:gd name="connsiteX3" fmla="*/ 979997 w 1660477"/>
              <a:gd name="connsiteY3" fmla="*/ 4007 h 110947"/>
              <a:gd name="connsiteX4" fmla="*/ 560897 w 1660477"/>
              <a:gd name="connsiteY4" fmla="*/ 29407 h 110947"/>
              <a:gd name="connsiteX5" fmla="*/ 209530 w 1660477"/>
              <a:gd name="connsiteY5" fmla="*/ 67507 h 110947"/>
              <a:gd name="connsiteX6" fmla="*/ 0 w 1660477"/>
              <a:gd name="connsiteY6" fmla="*/ 105793 h 110947"/>
              <a:gd name="connsiteX0" fmla="*/ 1669993 w 1669993"/>
              <a:gd name="connsiteY0" fmla="*/ 110947 h 110947"/>
              <a:gd name="connsiteX1" fmla="*/ 1565246 w 1669993"/>
              <a:gd name="connsiteY1" fmla="*/ 42107 h 110947"/>
              <a:gd name="connsiteX2" fmla="*/ 1336646 w 1669993"/>
              <a:gd name="connsiteY2" fmla="*/ 4007 h 110947"/>
              <a:gd name="connsiteX3" fmla="*/ 989513 w 1669993"/>
              <a:gd name="connsiteY3" fmla="*/ 4007 h 110947"/>
              <a:gd name="connsiteX4" fmla="*/ 570413 w 1669993"/>
              <a:gd name="connsiteY4" fmla="*/ 29407 h 110947"/>
              <a:gd name="connsiteX5" fmla="*/ 219046 w 1669993"/>
              <a:gd name="connsiteY5" fmla="*/ 67507 h 110947"/>
              <a:gd name="connsiteX6" fmla="*/ 0 w 1669993"/>
              <a:gd name="connsiteY6" fmla="*/ 110210 h 110947"/>
              <a:gd name="connsiteX0" fmla="*/ 1669993 w 1669993"/>
              <a:gd name="connsiteY0" fmla="*/ 110947 h 119046"/>
              <a:gd name="connsiteX1" fmla="*/ 1565246 w 1669993"/>
              <a:gd name="connsiteY1" fmla="*/ 42107 h 119046"/>
              <a:gd name="connsiteX2" fmla="*/ 1336646 w 1669993"/>
              <a:gd name="connsiteY2" fmla="*/ 4007 h 119046"/>
              <a:gd name="connsiteX3" fmla="*/ 989513 w 1669993"/>
              <a:gd name="connsiteY3" fmla="*/ 4007 h 119046"/>
              <a:gd name="connsiteX4" fmla="*/ 570413 w 1669993"/>
              <a:gd name="connsiteY4" fmla="*/ 29407 h 119046"/>
              <a:gd name="connsiteX5" fmla="*/ 219046 w 1669993"/>
              <a:gd name="connsiteY5" fmla="*/ 67507 h 119046"/>
              <a:gd name="connsiteX6" fmla="*/ 0 w 1669993"/>
              <a:gd name="connsiteY6" fmla="*/ 119046 h 11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993" h="119046">
                <a:moveTo>
                  <a:pt x="1669993" y="110947"/>
                </a:moveTo>
                <a:cubicBezTo>
                  <a:pt x="1657293" y="96483"/>
                  <a:pt x="1620804" y="59930"/>
                  <a:pt x="1565246" y="42107"/>
                </a:cubicBezTo>
                <a:cubicBezTo>
                  <a:pt x="1509688" y="24284"/>
                  <a:pt x="1432601" y="10357"/>
                  <a:pt x="1336646" y="4007"/>
                </a:cubicBezTo>
                <a:cubicBezTo>
                  <a:pt x="1240690" y="-2343"/>
                  <a:pt x="1117218" y="-226"/>
                  <a:pt x="989513" y="4007"/>
                </a:cubicBezTo>
                <a:cubicBezTo>
                  <a:pt x="861808" y="8240"/>
                  <a:pt x="698824" y="18824"/>
                  <a:pt x="570413" y="29407"/>
                </a:cubicBezTo>
                <a:cubicBezTo>
                  <a:pt x="442002" y="39990"/>
                  <a:pt x="314115" y="52567"/>
                  <a:pt x="219046" y="67507"/>
                </a:cubicBezTo>
                <a:cubicBezTo>
                  <a:pt x="123977" y="82447"/>
                  <a:pt x="50094" y="108109"/>
                  <a:pt x="0" y="119046"/>
                </a:cubicBezTo>
              </a:path>
            </a:pathLst>
          </a:custGeom>
          <a:no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0" name="Line 23"/>
          <p:cNvSpPr>
            <a:spLocks noChangeShapeType="1"/>
          </p:cNvSpPr>
          <p:nvPr/>
        </p:nvSpPr>
        <p:spPr bwMode="auto">
          <a:xfrm>
            <a:off x="3969468" y="4247944"/>
            <a:ext cx="194318" cy="0"/>
          </a:xfrm>
          <a:prstGeom prst="line">
            <a:avLst/>
          </a:prstGeom>
          <a:noFill/>
          <a:ln w="19050" cap="sq">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5"/>
          <p:cNvSpPr>
            <a:spLocks noChangeShapeType="1"/>
          </p:cNvSpPr>
          <p:nvPr/>
        </p:nvSpPr>
        <p:spPr bwMode="auto">
          <a:xfrm>
            <a:off x="6062474" y="3767451"/>
            <a:ext cx="0" cy="381000"/>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12</a:t>
            </a:fld>
            <a:endParaRPr lang="zh-CN" altLang="en-US" dirty="0">
              <a:solidFill>
                <a:srgbClr val="C00000"/>
              </a:solidFill>
            </a:endParaRPr>
          </a:p>
        </p:txBody>
      </p:sp>
      <p:sp>
        <p:nvSpPr>
          <p:cNvPr id="56"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现场载荷试验</a:t>
            </a:r>
          </a:p>
        </p:txBody>
      </p:sp>
      <p:sp>
        <p:nvSpPr>
          <p:cNvPr id="33" name="Text Box 21"/>
          <p:cNvSpPr txBox="1">
            <a:spLocks noChangeArrowheads="1"/>
          </p:cNvSpPr>
          <p:nvPr/>
        </p:nvSpPr>
        <p:spPr bwMode="auto">
          <a:xfrm>
            <a:off x="6161302" y="3465225"/>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990000"/>
                </a:solidFill>
                <a:latin typeface="Times New Roman" panose="02020603050405020304" pitchFamily="18" charset="0"/>
              </a:rPr>
              <a:t>p</a:t>
            </a:r>
            <a:endParaRPr kumimoji="1" lang="en-US" altLang="zh-CN" sz="2400" b="1" baseline="-25000" dirty="0">
              <a:solidFill>
                <a:srgbClr val="990000"/>
              </a:solidFill>
              <a:latin typeface="Times New Roman" panose="02020603050405020304" pitchFamily="18" charset="0"/>
            </a:endParaRPr>
          </a:p>
        </p:txBody>
      </p:sp>
      <p:sp>
        <p:nvSpPr>
          <p:cNvPr id="35" name="矩形 34"/>
          <p:cNvSpPr/>
          <p:nvPr/>
        </p:nvSpPr>
        <p:spPr>
          <a:xfrm>
            <a:off x="4211665" y="1410936"/>
            <a:ext cx="4067139" cy="517065"/>
          </a:xfrm>
          <a:prstGeom prst="rect">
            <a:avLst/>
          </a:prstGeom>
        </p:spPr>
        <p:txBody>
          <a:bodyPr wrap="none">
            <a:spAutoFit/>
          </a:bodyPr>
          <a:lstStyle/>
          <a:p>
            <a:r>
              <a:rPr lang="en-US" altLang="zh-CN" sz="2400" b="1" dirty="0">
                <a:solidFill>
                  <a:srgbClr val="000066"/>
                </a:solidFill>
                <a:ea typeface="幼圆" panose="02010509060101010101" pitchFamily="49" charset="-122"/>
                <a:cs typeface="Times New Roman" panose="02020603050405020304" pitchFamily="18" charset="0"/>
              </a:rPr>
              <a:t>3</a:t>
            </a:r>
            <a:r>
              <a:rPr lang="zh-CN" altLang="en-US" sz="2400" b="1" dirty="0">
                <a:solidFill>
                  <a:srgbClr val="000066"/>
                </a:solidFill>
                <a:ea typeface="幼圆" panose="02010509060101010101" pitchFamily="49" charset="-122"/>
                <a:cs typeface="Times New Roman" panose="02020603050405020304" pitchFamily="18" charset="0"/>
              </a:rPr>
              <a:t>）整体剪切破坏阶段</a:t>
            </a:r>
            <a:r>
              <a:rPr lang="zh-CN" altLang="zh-CN" sz="2400" b="1" dirty="0">
                <a:solidFill>
                  <a:srgbClr val="000066"/>
                </a:solidFill>
                <a:ea typeface="幼圆" panose="02010509060101010101" pitchFamily="49" charset="-122"/>
                <a:cs typeface="Times New Roman" panose="02020603050405020304" pitchFamily="18" charset="0"/>
              </a:rPr>
              <a:t>（</a:t>
            </a:r>
            <a:r>
              <a:rPr lang="en-US" altLang="zh-CN" sz="2400" b="1" dirty="0" err="1">
                <a:solidFill>
                  <a:srgbClr val="000066"/>
                </a:solidFill>
                <a:ea typeface="幼圆" panose="02010509060101010101" pitchFamily="49" charset="-122"/>
                <a:cs typeface="Times New Roman" panose="02020603050405020304" pitchFamily="18" charset="0"/>
              </a:rPr>
              <a:t>bc</a:t>
            </a:r>
            <a:r>
              <a:rPr lang="zh-CN" altLang="zh-CN" sz="2400" b="1" dirty="0">
                <a:solidFill>
                  <a:srgbClr val="000066"/>
                </a:solidFill>
                <a:ea typeface="幼圆" panose="02010509060101010101" pitchFamily="49" charset="-122"/>
                <a:cs typeface="Times New Roman" panose="02020603050405020304" pitchFamily="18" charset="0"/>
              </a:rPr>
              <a:t>）</a:t>
            </a:r>
            <a:endParaRPr lang="zh-CN" altLang="en-US" sz="2400" b="1" dirty="0">
              <a:solidFill>
                <a:srgbClr val="000066"/>
              </a:solidFill>
              <a:ea typeface="幼圆" panose="02010509060101010101" pitchFamily="49" charset="-122"/>
              <a:cs typeface="Times New Roman" panose="02020603050405020304" pitchFamily="18" charset="0"/>
            </a:endParaRPr>
          </a:p>
        </p:txBody>
      </p:sp>
      <p:sp>
        <p:nvSpPr>
          <p:cNvPr id="36" name="矩形 35"/>
          <p:cNvSpPr/>
          <p:nvPr/>
        </p:nvSpPr>
        <p:spPr>
          <a:xfrm>
            <a:off x="4279906" y="2026477"/>
            <a:ext cx="4400987" cy="1538883"/>
          </a:xfrm>
          <a:prstGeom prst="rect">
            <a:avLst/>
          </a:prstGeom>
        </p:spPr>
        <p:txBody>
          <a:bodyPr wrap="square">
            <a:spAutoFit/>
          </a:bodyPr>
          <a:lstStyle/>
          <a:p>
            <a:pPr marL="342900" indent="-342900">
              <a:lnSpc>
                <a:spcPct val="105000"/>
              </a:lnSpc>
              <a:spcBef>
                <a:spcPts val="300"/>
              </a:spcBef>
              <a:spcAft>
                <a:spcPts val="300"/>
              </a:spcAft>
              <a:buClr>
                <a:srgbClr val="C00000"/>
              </a:buClr>
              <a:buFont typeface="Wingdings" panose="05000000000000000000" pitchFamily="2" charset="2"/>
              <a:buChar char="Ø"/>
            </a:pPr>
            <a:r>
              <a:rPr lang="zh-CN" altLang="en-US" sz="2000" b="1" dirty="0">
                <a:solidFill>
                  <a:srgbClr val="000066"/>
                </a:solidFill>
                <a:ea typeface="幼圆" panose="02010509060101010101" pitchFamily="49" charset="-122"/>
                <a:cs typeface="Times New Roman" panose="02020603050405020304" pitchFamily="18" charset="0"/>
              </a:rPr>
              <a:t>基础下，滑动边界范围内的全部土体都处于塑性破坏状态</a:t>
            </a:r>
            <a:endParaRPr lang="en-US" altLang="zh-CN" sz="2000" b="1" dirty="0">
              <a:solidFill>
                <a:srgbClr val="000066"/>
              </a:solidFill>
              <a:ea typeface="幼圆" panose="02010509060101010101" pitchFamily="49" charset="-122"/>
              <a:cs typeface="Times New Roman" panose="02020603050405020304" pitchFamily="18" charset="0"/>
            </a:endParaRPr>
          </a:p>
          <a:p>
            <a:pPr marL="342900" indent="-342900">
              <a:lnSpc>
                <a:spcPct val="105000"/>
              </a:lnSpc>
              <a:spcBef>
                <a:spcPts val="300"/>
              </a:spcBef>
              <a:spcAft>
                <a:spcPts val="300"/>
              </a:spcAft>
              <a:buClr>
                <a:srgbClr val="C00000"/>
              </a:buClr>
              <a:buFont typeface="Wingdings" panose="05000000000000000000" pitchFamily="2" charset="2"/>
              <a:buChar char="Ø"/>
            </a:pPr>
            <a:r>
              <a:rPr lang="zh-CN" altLang="en-US" sz="2000" b="1" dirty="0">
                <a:solidFill>
                  <a:srgbClr val="000066"/>
                </a:solidFill>
                <a:ea typeface="幼圆" panose="02010509060101010101" pitchFamily="49" charset="-122"/>
                <a:cs typeface="Times New Roman" panose="02020603050405020304" pitchFamily="18" charset="0"/>
              </a:rPr>
              <a:t>形成连通的滑裂面，地基丧失稳定</a:t>
            </a:r>
            <a:endParaRPr lang="en-US" altLang="zh-CN" sz="2000" b="1" dirty="0">
              <a:solidFill>
                <a:srgbClr val="000066"/>
              </a:solidFill>
              <a:ea typeface="幼圆" panose="02010509060101010101" pitchFamily="49" charset="-122"/>
              <a:cs typeface="Times New Roman" panose="02020603050405020304" pitchFamily="18" charset="0"/>
            </a:endParaRPr>
          </a:p>
          <a:p>
            <a:pPr marL="342900" indent="-342900">
              <a:lnSpc>
                <a:spcPct val="105000"/>
              </a:lnSpc>
              <a:spcBef>
                <a:spcPts val="300"/>
              </a:spcBef>
              <a:spcAft>
                <a:spcPts val="300"/>
              </a:spcAft>
              <a:buClr>
                <a:srgbClr val="C00000"/>
              </a:buClr>
              <a:buFont typeface="Wingdings" panose="05000000000000000000" pitchFamily="2" charset="2"/>
              <a:buChar char="Ø"/>
            </a:pPr>
            <a:r>
              <a:rPr lang="en-US" altLang="zh-CN" sz="2000" b="1" i="1" dirty="0">
                <a:solidFill>
                  <a:srgbClr val="000066"/>
                </a:solidFill>
                <a:ea typeface="幼圆" panose="02010509060101010101" pitchFamily="49" charset="-122"/>
                <a:cs typeface="Times New Roman" panose="02020603050405020304" pitchFamily="18" charset="0"/>
              </a:rPr>
              <a:t>p</a:t>
            </a:r>
            <a:r>
              <a:rPr lang="en-US"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s</a:t>
            </a:r>
            <a:r>
              <a:rPr lang="zh-CN" altLang="en-US" sz="2000" b="1" dirty="0">
                <a:solidFill>
                  <a:srgbClr val="000066"/>
                </a:solidFill>
                <a:ea typeface="幼圆" panose="02010509060101010101" pitchFamily="49" charset="-122"/>
                <a:cs typeface="Times New Roman" panose="02020603050405020304" pitchFamily="18" charset="0"/>
              </a:rPr>
              <a:t>曲线变形急剧增大</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40" name="矩形 39"/>
          <p:cNvSpPr/>
          <p:nvPr/>
        </p:nvSpPr>
        <p:spPr>
          <a:xfrm>
            <a:off x="7091934" y="4886318"/>
            <a:ext cx="1014564" cy="338554"/>
          </a:xfrm>
          <a:prstGeom prst="rect">
            <a:avLst/>
          </a:prstGeom>
        </p:spPr>
        <p:txBody>
          <a:bodyPr wrap="square">
            <a:spAutoFit/>
          </a:bodyPr>
          <a:lstStyle/>
          <a:p>
            <a:pPr algn="ctr">
              <a:lnSpc>
                <a:spcPct val="100000"/>
              </a:lnSpc>
              <a:buClr>
                <a:srgbClr val="C00000"/>
              </a:buClr>
            </a:pPr>
            <a:r>
              <a:rPr lang="zh-CN" altLang="en-US" sz="16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滑裂面</a:t>
            </a:r>
          </a:p>
        </p:txBody>
      </p:sp>
      <p:cxnSp>
        <p:nvCxnSpPr>
          <p:cNvPr id="41" name="直接连接符 40"/>
          <p:cNvCxnSpPr/>
          <p:nvPr/>
        </p:nvCxnSpPr>
        <p:spPr bwMode="auto">
          <a:xfrm>
            <a:off x="6959896" y="4859718"/>
            <a:ext cx="177504" cy="20334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 Box 15"/>
          <p:cNvSpPr txBox="1">
            <a:spLocks noChangeArrowheads="1"/>
          </p:cNvSpPr>
          <p:nvPr/>
        </p:nvSpPr>
        <p:spPr bwMode="auto">
          <a:xfrm rot="16200000">
            <a:off x="262404" y="4473810"/>
            <a:ext cx="10230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s</a:t>
            </a:r>
            <a:r>
              <a:rPr kumimoji="1" lang="en-US" altLang="zh-CN" sz="2400" b="1" dirty="0">
                <a:solidFill>
                  <a:srgbClr val="000066"/>
                </a:solidFill>
                <a:latin typeface="Times New Roman" panose="02020603050405020304" pitchFamily="18" charset="0"/>
              </a:rPr>
              <a:t>(mm)</a:t>
            </a:r>
          </a:p>
        </p:txBody>
      </p:sp>
      <p:sp>
        <p:nvSpPr>
          <p:cNvPr id="48" name="Text Box 16"/>
          <p:cNvSpPr txBox="1">
            <a:spLocks noChangeArrowheads="1"/>
          </p:cNvSpPr>
          <p:nvPr/>
        </p:nvSpPr>
        <p:spPr bwMode="auto">
          <a:xfrm>
            <a:off x="2797325" y="1246946"/>
            <a:ext cx="1056700"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r>
              <a:rPr kumimoji="1" lang="en-US" altLang="zh-CN" sz="2400" b="1" dirty="0">
                <a:solidFill>
                  <a:srgbClr val="000066"/>
                </a:solidFill>
                <a:latin typeface="Times New Roman" panose="02020603050405020304" pitchFamily="18" charset="0"/>
              </a:rPr>
              <a:t>(</a:t>
            </a:r>
            <a:r>
              <a:rPr kumimoji="1" lang="en-US" altLang="zh-CN" sz="2400" b="1" dirty="0" err="1">
                <a:solidFill>
                  <a:srgbClr val="000066"/>
                </a:solidFill>
                <a:latin typeface="Times New Roman" panose="02020603050405020304" pitchFamily="18" charset="0"/>
              </a:rPr>
              <a:t>kPa</a:t>
            </a:r>
            <a:r>
              <a:rPr kumimoji="1" lang="en-US" altLang="zh-CN" sz="2400" b="1" dirty="0">
                <a:solidFill>
                  <a:srgbClr val="000066"/>
                </a:solidFill>
                <a:latin typeface="Times New Roman" panose="02020603050405020304" pitchFamily="18" charset="0"/>
              </a:rPr>
              <a:t>)</a:t>
            </a:r>
          </a:p>
        </p:txBody>
      </p:sp>
      <p:sp>
        <p:nvSpPr>
          <p:cNvPr id="49" name="Text Box 17"/>
          <p:cNvSpPr txBox="1">
            <a:spLocks noChangeArrowheads="1"/>
          </p:cNvSpPr>
          <p:nvPr/>
        </p:nvSpPr>
        <p:spPr bwMode="auto">
          <a:xfrm>
            <a:off x="356415" y="1290221"/>
            <a:ext cx="42351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rPr>
              <a:t>O</a:t>
            </a:r>
          </a:p>
        </p:txBody>
      </p:sp>
      <p:sp>
        <p:nvSpPr>
          <p:cNvPr id="57" name="任意多边形 56"/>
          <p:cNvSpPr/>
          <p:nvPr/>
        </p:nvSpPr>
        <p:spPr bwMode="auto">
          <a:xfrm>
            <a:off x="511892" y="1775542"/>
            <a:ext cx="2934182" cy="3312000"/>
          </a:xfrm>
          <a:custGeom>
            <a:avLst/>
            <a:gdLst>
              <a:gd name="connsiteX0" fmla="*/ 2772137 w 2772137"/>
              <a:gd name="connsiteY0" fmla="*/ 0 h 3466618"/>
              <a:gd name="connsiteX1" fmla="*/ 0 w 2772137"/>
              <a:gd name="connsiteY1" fmla="*/ 0 h 3466618"/>
              <a:gd name="connsiteX2" fmla="*/ 0 w 2772137"/>
              <a:gd name="connsiteY2" fmla="*/ 3466618 h 3466618"/>
            </a:gdLst>
            <a:ahLst/>
            <a:cxnLst>
              <a:cxn ang="0">
                <a:pos x="connsiteX0" y="connsiteY0"/>
              </a:cxn>
              <a:cxn ang="0">
                <a:pos x="connsiteX1" y="connsiteY1"/>
              </a:cxn>
              <a:cxn ang="0">
                <a:pos x="connsiteX2" y="connsiteY2"/>
              </a:cxn>
            </a:cxnLst>
            <a:rect l="l" t="t" r="r" b="b"/>
            <a:pathLst>
              <a:path w="2772137" h="3466618">
                <a:moveTo>
                  <a:pt x="2772137" y="0"/>
                </a:moveTo>
                <a:lnTo>
                  <a:pt x="0" y="0"/>
                </a:lnTo>
                <a:lnTo>
                  <a:pt x="0" y="3466618"/>
                </a:lnTo>
              </a:path>
            </a:pathLst>
          </a:custGeom>
          <a:noFill/>
          <a:ln w="1905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3" name="任意多边形 62"/>
          <p:cNvSpPr/>
          <p:nvPr/>
        </p:nvSpPr>
        <p:spPr bwMode="auto">
          <a:xfrm>
            <a:off x="523465" y="1787117"/>
            <a:ext cx="2307342" cy="3024511"/>
          </a:xfrm>
          <a:custGeom>
            <a:avLst/>
            <a:gdLst>
              <a:gd name="connsiteX0" fmla="*/ 0 w 2453833"/>
              <a:gd name="connsiteY0" fmla="*/ 0 h 3090440"/>
              <a:gd name="connsiteX1" fmla="*/ 1116957 w 2453833"/>
              <a:gd name="connsiteY1" fmla="*/ 653969 h 3090440"/>
              <a:gd name="connsiteX2" fmla="*/ 1475772 w 2453833"/>
              <a:gd name="connsiteY2" fmla="*/ 850739 h 3090440"/>
              <a:gd name="connsiteX3" fmla="*/ 1678329 w 2453833"/>
              <a:gd name="connsiteY3" fmla="*/ 983848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53833 w 2453833"/>
              <a:gd name="connsiteY8"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786782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88131 w 2453833"/>
              <a:gd name="connsiteY6" fmla="*/ 1841076 h 3090440"/>
              <a:gd name="connsiteX7" fmla="*/ 2291172 w 2453833"/>
              <a:gd name="connsiteY7" fmla="*/ 2430683 h 3090440"/>
              <a:gd name="connsiteX8" fmla="*/ 2453833 w 2453833"/>
              <a:gd name="connsiteY8" fmla="*/ 3090440 h 3090440"/>
              <a:gd name="connsiteX0" fmla="*/ 0 w 2394916"/>
              <a:gd name="connsiteY0" fmla="*/ 0 h 3661343"/>
              <a:gd name="connsiteX1" fmla="*/ 1028187 w 2394916"/>
              <a:gd name="connsiteY1" fmla="*/ 353618 h 3661343"/>
              <a:gd name="connsiteX2" fmla="*/ 1508913 w 2394916"/>
              <a:gd name="connsiteY2" fmla="*/ 554870 h 3661343"/>
              <a:gd name="connsiteX3" fmla="*/ 1816240 w 2394916"/>
              <a:gd name="connsiteY3" fmla="*/ 882200 h 3661343"/>
              <a:gd name="connsiteX4" fmla="*/ 1979934 w 2394916"/>
              <a:gd name="connsiteY4" fmla="*/ 1140471 h 3661343"/>
              <a:gd name="connsiteX5" fmla="*/ 2094478 w 2394916"/>
              <a:gd name="connsiteY5" fmla="*/ 1451003 h 3661343"/>
              <a:gd name="connsiteX6" fmla="*/ 2188131 w 2394916"/>
              <a:gd name="connsiteY6" fmla="*/ 1841076 h 3661343"/>
              <a:gd name="connsiteX7" fmla="*/ 2291172 w 2394916"/>
              <a:gd name="connsiteY7" fmla="*/ 2430683 h 3661343"/>
              <a:gd name="connsiteX8" fmla="*/ 2394916 w 2394916"/>
              <a:gd name="connsiteY8" fmla="*/ 3661343 h 3661343"/>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291172 w 2402281"/>
              <a:gd name="connsiteY7" fmla="*/ 2430683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13266 w 2402281"/>
              <a:gd name="connsiteY7" fmla="*/ 2814064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206543 w 2402281"/>
              <a:gd name="connsiteY6" fmla="*/ 1907751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280127 w 2402281"/>
              <a:gd name="connsiteY8" fmla="*/ 2839066 h 4053058"/>
              <a:gd name="connsiteX9" fmla="*/ 2402281 w 2402281"/>
              <a:gd name="connsiteY9" fmla="*/ 4053058 h 4053058"/>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80127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54350 w 2299175"/>
              <a:gd name="connsiteY8" fmla="*/ 2997419 h 4073895"/>
              <a:gd name="connsiteX9" fmla="*/ 2299175 w 2299175"/>
              <a:gd name="connsiteY9" fmla="*/ 4073895 h 4073895"/>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816240 w 2262351"/>
              <a:gd name="connsiteY4" fmla="*/ 882200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2569 w 2262351"/>
              <a:gd name="connsiteY5" fmla="*/ 1115468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35938 w 2262351"/>
              <a:gd name="connsiteY8" fmla="*/ 3005754 h 4107232"/>
              <a:gd name="connsiteX9" fmla="*/ 2262351 w 2262351"/>
              <a:gd name="connsiteY9" fmla="*/ 4107232 h 4107232"/>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35938"/>
              <a:gd name="connsiteY0" fmla="*/ 0 h 4001022"/>
              <a:gd name="connsiteX1" fmla="*/ 976633 w 2235938"/>
              <a:gd name="connsiteY1" fmla="*/ 286942 h 4001022"/>
              <a:gd name="connsiteX2" fmla="*/ 1272134 w 2235938"/>
              <a:gd name="connsiteY2" fmla="*/ 403953 h 4001022"/>
              <a:gd name="connsiteX3" fmla="*/ 1508913 w 2235938"/>
              <a:gd name="connsiteY3" fmla="*/ 554870 h 4001022"/>
              <a:gd name="connsiteX4" fmla="*/ 1790464 w 2235938"/>
              <a:gd name="connsiteY4" fmla="*/ 811358 h 4001022"/>
              <a:gd name="connsiteX5" fmla="*/ 1983616 w 2235938"/>
              <a:gd name="connsiteY5" fmla="*/ 1077962 h 4001022"/>
              <a:gd name="connsiteX6" fmla="*/ 2094478 w 2235938"/>
              <a:gd name="connsiteY6" fmla="*/ 1451003 h 4001022"/>
              <a:gd name="connsiteX7" fmla="*/ 2162355 w 2235938"/>
              <a:gd name="connsiteY7" fmla="*/ 1920252 h 4001022"/>
              <a:gd name="connsiteX8" fmla="*/ 2235938 w 2235938"/>
              <a:gd name="connsiteY8" fmla="*/ 3005754 h 4001022"/>
              <a:gd name="connsiteX9" fmla="*/ 2228368 w 2235938"/>
              <a:gd name="connsiteY9" fmla="*/ 4001022 h 4001022"/>
              <a:gd name="connsiteX0" fmla="*/ 0 w 2228584"/>
              <a:gd name="connsiteY0" fmla="*/ 0 h 4001022"/>
              <a:gd name="connsiteX1" fmla="*/ 976633 w 2228584"/>
              <a:gd name="connsiteY1" fmla="*/ 286942 h 4001022"/>
              <a:gd name="connsiteX2" fmla="*/ 1272134 w 2228584"/>
              <a:gd name="connsiteY2" fmla="*/ 403953 h 4001022"/>
              <a:gd name="connsiteX3" fmla="*/ 1508913 w 2228584"/>
              <a:gd name="connsiteY3" fmla="*/ 554870 h 4001022"/>
              <a:gd name="connsiteX4" fmla="*/ 1790464 w 2228584"/>
              <a:gd name="connsiteY4" fmla="*/ 811358 h 4001022"/>
              <a:gd name="connsiteX5" fmla="*/ 1983616 w 2228584"/>
              <a:gd name="connsiteY5" fmla="*/ 1077962 h 4001022"/>
              <a:gd name="connsiteX6" fmla="*/ 2094478 w 2228584"/>
              <a:gd name="connsiteY6" fmla="*/ 1451003 h 4001022"/>
              <a:gd name="connsiteX7" fmla="*/ 2162355 w 2228584"/>
              <a:gd name="connsiteY7" fmla="*/ 1920252 h 4001022"/>
              <a:gd name="connsiteX8" fmla="*/ 2213002 w 2228584"/>
              <a:gd name="connsiteY8" fmla="*/ 3005755 h 4001022"/>
              <a:gd name="connsiteX9" fmla="*/ 2228368 w 2228584"/>
              <a:gd name="connsiteY9" fmla="*/ 4001022 h 4001022"/>
              <a:gd name="connsiteX0" fmla="*/ 0 w 2218549"/>
              <a:gd name="connsiteY0" fmla="*/ 0 h 3762911"/>
              <a:gd name="connsiteX1" fmla="*/ 976633 w 2218549"/>
              <a:gd name="connsiteY1" fmla="*/ 286942 h 3762911"/>
              <a:gd name="connsiteX2" fmla="*/ 1272134 w 2218549"/>
              <a:gd name="connsiteY2" fmla="*/ 403953 h 3762911"/>
              <a:gd name="connsiteX3" fmla="*/ 1508913 w 2218549"/>
              <a:gd name="connsiteY3" fmla="*/ 554870 h 3762911"/>
              <a:gd name="connsiteX4" fmla="*/ 1790464 w 2218549"/>
              <a:gd name="connsiteY4" fmla="*/ 811358 h 3762911"/>
              <a:gd name="connsiteX5" fmla="*/ 1983616 w 2218549"/>
              <a:gd name="connsiteY5" fmla="*/ 1077962 h 3762911"/>
              <a:gd name="connsiteX6" fmla="*/ 2094478 w 2218549"/>
              <a:gd name="connsiteY6" fmla="*/ 1451003 h 3762911"/>
              <a:gd name="connsiteX7" fmla="*/ 2162355 w 2218549"/>
              <a:gd name="connsiteY7" fmla="*/ 1920252 h 3762911"/>
              <a:gd name="connsiteX8" fmla="*/ 2213002 w 2218549"/>
              <a:gd name="connsiteY8" fmla="*/ 3005755 h 3762911"/>
              <a:gd name="connsiteX9" fmla="*/ 2218144 w 2218549"/>
              <a:gd name="connsiteY9" fmla="*/ 3762911 h 376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8549" h="3762911">
                <a:moveTo>
                  <a:pt x="0" y="0"/>
                </a:moveTo>
                <a:lnTo>
                  <a:pt x="976633" y="286942"/>
                </a:lnTo>
                <a:cubicBezTo>
                  <a:pt x="1059176" y="321778"/>
                  <a:pt x="1189591" y="369117"/>
                  <a:pt x="1272134" y="403953"/>
                </a:cubicBezTo>
                <a:cubicBezTo>
                  <a:pt x="1359006" y="448608"/>
                  <a:pt x="1424980" y="489053"/>
                  <a:pt x="1508913" y="554870"/>
                </a:cubicBezTo>
                <a:cubicBezTo>
                  <a:pt x="1617547" y="622131"/>
                  <a:pt x="1728531" y="756124"/>
                  <a:pt x="1790464" y="811358"/>
                </a:cubicBezTo>
                <a:cubicBezTo>
                  <a:pt x="1852397" y="866592"/>
                  <a:pt x="1926810" y="1001914"/>
                  <a:pt x="1983616" y="1077962"/>
                </a:cubicBezTo>
                <a:cubicBezTo>
                  <a:pt x="2034285" y="1184570"/>
                  <a:pt x="2064688" y="1310621"/>
                  <a:pt x="2094478" y="1451003"/>
                </a:cubicBezTo>
                <a:lnTo>
                  <a:pt x="2162355" y="1920252"/>
                </a:lnTo>
                <a:lnTo>
                  <a:pt x="2213002" y="3005755"/>
                </a:lnTo>
                <a:cubicBezTo>
                  <a:pt x="2210479" y="3337511"/>
                  <a:pt x="2220667" y="3431155"/>
                  <a:pt x="2218144" y="3762911"/>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4" name="椭圆 63"/>
          <p:cNvSpPr/>
          <p:nvPr/>
        </p:nvSpPr>
        <p:spPr bwMode="auto">
          <a:xfrm>
            <a:off x="1390243" y="1955885"/>
            <a:ext cx="77338" cy="77338"/>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 name="等腰三角形 1"/>
          <p:cNvSpPr/>
          <p:nvPr/>
        </p:nvSpPr>
        <p:spPr bwMode="auto">
          <a:xfrm flipV="1">
            <a:off x="5606142" y="4280576"/>
            <a:ext cx="925287" cy="494319"/>
          </a:xfrm>
          <a:prstGeom prst="triangle">
            <a:avLst/>
          </a:prstGeom>
          <a:noFill/>
          <a:ln w="9525"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3" name="任意多边形 2"/>
          <p:cNvSpPr/>
          <p:nvPr/>
        </p:nvSpPr>
        <p:spPr bwMode="auto">
          <a:xfrm>
            <a:off x="6075581" y="4245917"/>
            <a:ext cx="1936303" cy="692289"/>
          </a:xfrm>
          <a:custGeom>
            <a:avLst/>
            <a:gdLst>
              <a:gd name="connsiteX0" fmla="*/ 0 w 2162755"/>
              <a:gd name="connsiteY0" fmla="*/ 453224 h 628153"/>
              <a:gd name="connsiteX1" fmla="*/ 166978 w 2162755"/>
              <a:gd name="connsiteY1" fmla="*/ 536713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8153"/>
              <a:gd name="connsiteX1" fmla="*/ 166978 w 2162755"/>
              <a:gd name="connsiteY1" fmla="*/ 548640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1967948 w 2162755"/>
              <a:gd name="connsiteY6" fmla="*/ 107343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657848 w 2162755"/>
              <a:gd name="connsiteY5" fmla="*/ 254442 h 629320"/>
              <a:gd name="connsiteX6" fmla="*/ 1967948 w 2162755"/>
              <a:gd name="connsiteY6" fmla="*/ 107343 h 629320"/>
              <a:gd name="connsiteX7" fmla="*/ 2162755 w 2162755"/>
              <a:gd name="connsiteY7" fmla="*/ 0 h 62932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67948 w 2162755"/>
              <a:gd name="connsiteY6" fmla="*/ 107343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40119 w 2162755"/>
              <a:gd name="connsiteY6" fmla="*/ 111319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10140 w 2162755"/>
              <a:gd name="connsiteY5" fmla="*/ 270344 h 629540"/>
              <a:gd name="connsiteX6" fmla="*/ 1940119 w 2162755"/>
              <a:gd name="connsiteY6" fmla="*/ 111319 h 629540"/>
              <a:gd name="connsiteX7" fmla="*/ 2162755 w 2162755"/>
              <a:gd name="connsiteY7" fmla="*/ 0 h 629540"/>
              <a:gd name="connsiteX0" fmla="*/ 0 w 2162755"/>
              <a:gd name="connsiteY0" fmla="*/ 453224 h 630270"/>
              <a:gd name="connsiteX1" fmla="*/ 178935 w 2162755"/>
              <a:gd name="connsiteY1" fmla="*/ 539987 h 630270"/>
              <a:gd name="connsiteX2" fmla="*/ 405517 w 2162755"/>
              <a:gd name="connsiteY2" fmla="*/ 628153 h 630270"/>
              <a:gd name="connsiteX3" fmla="*/ 795130 w 2162755"/>
              <a:gd name="connsiteY3" fmla="*/ 588396 h 630270"/>
              <a:gd name="connsiteX4" fmla="*/ 1236428 w 2162755"/>
              <a:gd name="connsiteY4" fmla="*/ 433346 h 630270"/>
              <a:gd name="connsiteX5" fmla="*/ 1610140 w 2162755"/>
              <a:gd name="connsiteY5" fmla="*/ 270344 h 630270"/>
              <a:gd name="connsiteX6" fmla="*/ 1940119 w 2162755"/>
              <a:gd name="connsiteY6" fmla="*/ 111319 h 630270"/>
              <a:gd name="connsiteX7" fmla="*/ 2162755 w 2162755"/>
              <a:gd name="connsiteY7" fmla="*/ 0 h 630270"/>
              <a:gd name="connsiteX0" fmla="*/ 0 w 2162755"/>
              <a:gd name="connsiteY0" fmla="*/ 453224 h 605653"/>
              <a:gd name="connsiteX1" fmla="*/ 178935 w 2162755"/>
              <a:gd name="connsiteY1" fmla="*/ 539987 h 605653"/>
              <a:gd name="connsiteX2" fmla="*/ 453345 w 2162755"/>
              <a:gd name="connsiteY2" fmla="*/ 596427 h 605653"/>
              <a:gd name="connsiteX3" fmla="*/ 795130 w 2162755"/>
              <a:gd name="connsiteY3" fmla="*/ 588396 h 605653"/>
              <a:gd name="connsiteX4" fmla="*/ 1236428 w 2162755"/>
              <a:gd name="connsiteY4" fmla="*/ 433346 h 605653"/>
              <a:gd name="connsiteX5" fmla="*/ 1610140 w 2162755"/>
              <a:gd name="connsiteY5" fmla="*/ 270344 h 605653"/>
              <a:gd name="connsiteX6" fmla="*/ 1940119 w 2162755"/>
              <a:gd name="connsiteY6" fmla="*/ 111319 h 605653"/>
              <a:gd name="connsiteX7" fmla="*/ 2162755 w 2162755"/>
              <a:gd name="connsiteY7" fmla="*/ 0 h 605653"/>
              <a:gd name="connsiteX0" fmla="*/ 0 w 2162755"/>
              <a:gd name="connsiteY0" fmla="*/ 453224 h 596540"/>
              <a:gd name="connsiteX1" fmla="*/ 178935 w 2162755"/>
              <a:gd name="connsiteY1" fmla="*/ 539987 h 596540"/>
              <a:gd name="connsiteX2" fmla="*/ 453345 w 2162755"/>
              <a:gd name="connsiteY2" fmla="*/ 596427 h 596540"/>
              <a:gd name="connsiteX3" fmla="*/ 823030 w 2162755"/>
              <a:gd name="connsiteY3" fmla="*/ 550900 h 596540"/>
              <a:gd name="connsiteX4" fmla="*/ 1236428 w 2162755"/>
              <a:gd name="connsiteY4" fmla="*/ 433346 h 596540"/>
              <a:gd name="connsiteX5" fmla="*/ 1610140 w 2162755"/>
              <a:gd name="connsiteY5" fmla="*/ 270344 h 596540"/>
              <a:gd name="connsiteX6" fmla="*/ 1940119 w 2162755"/>
              <a:gd name="connsiteY6" fmla="*/ 111319 h 596540"/>
              <a:gd name="connsiteX7" fmla="*/ 2162755 w 2162755"/>
              <a:gd name="connsiteY7" fmla="*/ 0 h 596540"/>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610140 w 2162755"/>
              <a:gd name="connsiteY5" fmla="*/ 270344 h 596557"/>
              <a:gd name="connsiteX6" fmla="*/ 1940119 w 2162755"/>
              <a:gd name="connsiteY6" fmla="*/ 111319 h 596557"/>
              <a:gd name="connsiteX7" fmla="*/ 2162755 w 2162755"/>
              <a:gd name="connsiteY7" fmla="*/ 0 h 596557"/>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586225 w 2162755"/>
              <a:gd name="connsiteY5" fmla="*/ 267460 h 596557"/>
              <a:gd name="connsiteX6" fmla="*/ 1940119 w 2162755"/>
              <a:gd name="connsiteY6" fmla="*/ 111319 h 596557"/>
              <a:gd name="connsiteX7" fmla="*/ 2162755 w 2162755"/>
              <a:gd name="connsiteY7" fmla="*/ 0 h 596557"/>
              <a:gd name="connsiteX0" fmla="*/ 0 w 2162755"/>
              <a:gd name="connsiteY0" fmla="*/ 453224 h 574299"/>
              <a:gd name="connsiteX1" fmla="*/ 178935 w 2162755"/>
              <a:gd name="connsiteY1" fmla="*/ 539987 h 574299"/>
              <a:gd name="connsiteX2" fmla="*/ 461317 w 2162755"/>
              <a:gd name="connsiteY2" fmla="*/ 573352 h 574299"/>
              <a:gd name="connsiteX3" fmla="*/ 823030 w 2162755"/>
              <a:gd name="connsiteY3" fmla="*/ 550900 h 574299"/>
              <a:gd name="connsiteX4" fmla="*/ 1236428 w 2162755"/>
              <a:gd name="connsiteY4" fmla="*/ 416041 h 574299"/>
              <a:gd name="connsiteX5" fmla="*/ 1586225 w 2162755"/>
              <a:gd name="connsiteY5" fmla="*/ 267460 h 574299"/>
              <a:gd name="connsiteX6" fmla="*/ 1940119 w 2162755"/>
              <a:gd name="connsiteY6" fmla="*/ 111319 h 574299"/>
              <a:gd name="connsiteX7" fmla="*/ 2162755 w 2162755"/>
              <a:gd name="connsiteY7" fmla="*/ 0 h 574299"/>
              <a:gd name="connsiteX0" fmla="*/ 0 w 2162755"/>
              <a:gd name="connsiteY0" fmla="*/ 453224 h 573976"/>
              <a:gd name="connsiteX1" fmla="*/ 178935 w 2162755"/>
              <a:gd name="connsiteY1" fmla="*/ 539987 h 573976"/>
              <a:gd name="connsiteX2" fmla="*/ 461317 w 2162755"/>
              <a:gd name="connsiteY2" fmla="*/ 573352 h 573976"/>
              <a:gd name="connsiteX3" fmla="*/ 838974 w 2162755"/>
              <a:gd name="connsiteY3" fmla="*/ 522058 h 573976"/>
              <a:gd name="connsiteX4" fmla="*/ 1236428 w 2162755"/>
              <a:gd name="connsiteY4" fmla="*/ 416041 h 573976"/>
              <a:gd name="connsiteX5" fmla="*/ 1586225 w 2162755"/>
              <a:gd name="connsiteY5" fmla="*/ 267460 h 573976"/>
              <a:gd name="connsiteX6" fmla="*/ 1940119 w 2162755"/>
              <a:gd name="connsiteY6" fmla="*/ 111319 h 573976"/>
              <a:gd name="connsiteX7" fmla="*/ 2162755 w 2162755"/>
              <a:gd name="connsiteY7" fmla="*/ 0 h 573976"/>
              <a:gd name="connsiteX0" fmla="*/ 0 w 2162755"/>
              <a:gd name="connsiteY0" fmla="*/ 453224 h 580113"/>
              <a:gd name="connsiteX1" fmla="*/ 234735 w 2162755"/>
              <a:gd name="connsiteY1" fmla="*/ 560177 h 580113"/>
              <a:gd name="connsiteX2" fmla="*/ 461317 w 2162755"/>
              <a:gd name="connsiteY2" fmla="*/ 573352 h 580113"/>
              <a:gd name="connsiteX3" fmla="*/ 838974 w 2162755"/>
              <a:gd name="connsiteY3" fmla="*/ 522058 h 580113"/>
              <a:gd name="connsiteX4" fmla="*/ 1236428 w 2162755"/>
              <a:gd name="connsiteY4" fmla="*/ 416041 h 580113"/>
              <a:gd name="connsiteX5" fmla="*/ 1586225 w 2162755"/>
              <a:gd name="connsiteY5" fmla="*/ 267460 h 580113"/>
              <a:gd name="connsiteX6" fmla="*/ 1940119 w 2162755"/>
              <a:gd name="connsiteY6" fmla="*/ 111319 h 580113"/>
              <a:gd name="connsiteX7" fmla="*/ 2162755 w 2162755"/>
              <a:gd name="connsiteY7" fmla="*/ 0 h 580113"/>
              <a:gd name="connsiteX0" fmla="*/ 0 w 2162755"/>
              <a:gd name="connsiteY0" fmla="*/ 453224 h 578650"/>
              <a:gd name="connsiteX1" fmla="*/ 234735 w 2162755"/>
              <a:gd name="connsiteY1" fmla="*/ 560177 h 578650"/>
              <a:gd name="connsiteX2" fmla="*/ 521102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8650"/>
              <a:gd name="connsiteX1" fmla="*/ 234735 w 2162755"/>
              <a:gd name="connsiteY1" fmla="*/ 560177 h 578650"/>
              <a:gd name="connsiteX2" fmla="*/ 537045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0604"/>
              <a:gd name="connsiteX1" fmla="*/ 174949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1743"/>
              <a:gd name="connsiteX1" fmla="*/ 238721 w 2162755"/>
              <a:gd name="connsiteY1" fmla="*/ 542871 h 571743"/>
              <a:gd name="connsiteX2" fmla="*/ 537045 w 2162755"/>
              <a:gd name="connsiteY2" fmla="*/ 570468 h 571743"/>
              <a:gd name="connsiteX3" fmla="*/ 838974 w 2162755"/>
              <a:gd name="connsiteY3" fmla="*/ 522058 h 571743"/>
              <a:gd name="connsiteX4" fmla="*/ 1224470 w 2162755"/>
              <a:gd name="connsiteY4" fmla="*/ 410273 h 571743"/>
              <a:gd name="connsiteX5" fmla="*/ 1586225 w 2162755"/>
              <a:gd name="connsiteY5" fmla="*/ 267460 h 571743"/>
              <a:gd name="connsiteX6" fmla="*/ 1924176 w 2162755"/>
              <a:gd name="connsiteY6" fmla="*/ 117087 h 571743"/>
              <a:gd name="connsiteX7" fmla="*/ 2162755 w 2162755"/>
              <a:gd name="connsiteY7" fmla="*/ 0 h 571743"/>
              <a:gd name="connsiteX0" fmla="*/ 0 w 2162755"/>
              <a:gd name="connsiteY0" fmla="*/ 453224 h 570604"/>
              <a:gd name="connsiteX1" fmla="*/ 2466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468"/>
              <a:gd name="connsiteX1" fmla="*/ 214806 w 2162755"/>
              <a:gd name="connsiteY1" fmla="*/ 522681 h 570468"/>
              <a:gd name="connsiteX2" fmla="*/ 537045 w 2162755"/>
              <a:gd name="connsiteY2" fmla="*/ 570468 h 570468"/>
              <a:gd name="connsiteX3" fmla="*/ 838974 w 2162755"/>
              <a:gd name="connsiteY3" fmla="*/ 522058 h 570468"/>
              <a:gd name="connsiteX4" fmla="*/ 1224470 w 2162755"/>
              <a:gd name="connsiteY4" fmla="*/ 410273 h 570468"/>
              <a:gd name="connsiteX5" fmla="*/ 1586225 w 2162755"/>
              <a:gd name="connsiteY5" fmla="*/ 267460 h 570468"/>
              <a:gd name="connsiteX6" fmla="*/ 1924176 w 2162755"/>
              <a:gd name="connsiteY6" fmla="*/ 117087 h 570468"/>
              <a:gd name="connsiteX7" fmla="*/ 2162755 w 2162755"/>
              <a:gd name="connsiteY7" fmla="*/ 0 h 570468"/>
              <a:gd name="connsiteX0" fmla="*/ 0 w 2162755"/>
              <a:gd name="connsiteY0" fmla="*/ 453224 h 582006"/>
              <a:gd name="connsiteX1" fmla="*/ 214806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924176 w 2162755"/>
              <a:gd name="connsiteY6" fmla="*/ 117087 h 582059"/>
              <a:gd name="connsiteX7" fmla="*/ 2162755 w 2162755"/>
              <a:gd name="connsiteY7" fmla="*/ 0 h 582059"/>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876347 w 2162755"/>
              <a:gd name="connsiteY6" fmla="*/ 140160 h 582059"/>
              <a:gd name="connsiteX7" fmla="*/ 2162755 w 2162755"/>
              <a:gd name="connsiteY7" fmla="*/ 0 h 582059"/>
              <a:gd name="connsiteX0" fmla="*/ 0 w 2126884"/>
              <a:gd name="connsiteY0" fmla="*/ 421497 h 550332"/>
              <a:gd name="connsiteX1" fmla="*/ 198863 w 2126884"/>
              <a:gd name="connsiteY1" fmla="*/ 490954 h 550332"/>
              <a:gd name="connsiteX2" fmla="*/ 521103 w 2126884"/>
              <a:gd name="connsiteY2" fmla="*/ 550279 h 550332"/>
              <a:gd name="connsiteX3" fmla="*/ 854916 w 2126884"/>
              <a:gd name="connsiteY3" fmla="*/ 498984 h 550332"/>
              <a:gd name="connsiteX4" fmla="*/ 1224470 w 2126884"/>
              <a:gd name="connsiteY4" fmla="*/ 378546 h 550332"/>
              <a:gd name="connsiteX5" fmla="*/ 1586225 w 2126884"/>
              <a:gd name="connsiteY5" fmla="*/ 235733 h 550332"/>
              <a:gd name="connsiteX6" fmla="*/ 1876347 w 2126884"/>
              <a:gd name="connsiteY6" fmla="*/ 108433 h 550332"/>
              <a:gd name="connsiteX7" fmla="*/ 2126884 w 2126884"/>
              <a:gd name="connsiteY7" fmla="*/ 0 h 550332"/>
              <a:gd name="connsiteX0" fmla="*/ 0 w 2126884"/>
              <a:gd name="connsiteY0" fmla="*/ 421497 h 550283"/>
              <a:gd name="connsiteX1" fmla="*/ 218792 w 2126884"/>
              <a:gd name="connsiteY1" fmla="*/ 496722 h 550283"/>
              <a:gd name="connsiteX2" fmla="*/ 521103 w 2126884"/>
              <a:gd name="connsiteY2" fmla="*/ 550279 h 550283"/>
              <a:gd name="connsiteX3" fmla="*/ 854916 w 2126884"/>
              <a:gd name="connsiteY3" fmla="*/ 498984 h 550283"/>
              <a:gd name="connsiteX4" fmla="*/ 1224470 w 2126884"/>
              <a:gd name="connsiteY4" fmla="*/ 378546 h 550283"/>
              <a:gd name="connsiteX5" fmla="*/ 1586225 w 2126884"/>
              <a:gd name="connsiteY5" fmla="*/ 235733 h 550283"/>
              <a:gd name="connsiteX6" fmla="*/ 1876347 w 2126884"/>
              <a:gd name="connsiteY6" fmla="*/ 108433 h 550283"/>
              <a:gd name="connsiteX7" fmla="*/ 2126884 w 2126884"/>
              <a:gd name="connsiteY7" fmla="*/ 0 h 550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6884" h="550283">
                <a:moveTo>
                  <a:pt x="0" y="421497"/>
                </a:moveTo>
                <a:cubicBezTo>
                  <a:pt x="66288" y="444649"/>
                  <a:pt x="131942" y="475258"/>
                  <a:pt x="218792" y="496722"/>
                </a:cubicBezTo>
                <a:cubicBezTo>
                  <a:pt x="282402" y="525877"/>
                  <a:pt x="415082" y="549902"/>
                  <a:pt x="521103" y="550279"/>
                </a:cubicBezTo>
                <a:cubicBezTo>
                  <a:pt x="627124" y="550656"/>
                  <a:pt x="737688" y="527606"/>
                  <a:pt x="854916" y="498984"/>
                </a:cubicBezTo>
                <a:cubicBezTo>
                  <a:pt x="972144" y="470362"/>
                  <a:pt x="1102585" y="422421"/>
                  <a:pt x="1224470" y="378546"/>
                </a:cubicBezTo>
                <a:cubicBezTo>
                  <a:pt x="1346355" y="334671"/>
                  <a:pt x="1477579" y="280752"/>
                  <a:pt x="1586225" y="235733"/>
                </a:cubicBezTo>
                <a:cubicBezTo>
                  <a:pt x="1694871" y="190714"/>
                  <a:pt x="1800810" y="147527"/>
                  <a:pt x="1876347" y="108433"/>
                </a:cubicBezTo>
                <a:lnTo>
                  <a:pt x="2126884" y="0"/>
                </a:lnTo>
              </a:path>
            </a:pathLst>
          </a:custGeom>
          <a:noFill/>
          <a:ln w="9525"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37" name="任意多边形 36"/>
          <p:cNvSpPr/>
          <p:nvPr/>
        </p:nvSpPr>
        <p:spPr bwMode="auto">
          <a:xfrm flipH="1">
            <a:off x="4133845" y="4253895"/>
            <a:ext cx="1936303" cy="680683"/>
          </a:xfrm>
          <a:custGeom>
            <a:avLst/>
            <a:gdLst>
              <a:gd name="connsiteX0" fmla="*/ 0 w 2162755"/>
              <a:gd name="connsiteY0" fmla="*/ 453224 h 628153"/>
              <a:gd name="connsiteX1" fmla="*/ 166978 w 2162755"/>
              <a:gd name="connsiteY1" fmla="*/ 536713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8153"/>
              <a:gd name="connsiteX1" fmla="*/ 166978 w 2162755"/>
              <a:gd name="connsiteY1" fmla="*/ 548640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1967948 w 2162755"/>
              <a:gd name="connsiteY6" fmla="*/ 107343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657848 w 2162755"/>
              <a:gd name="connsiteY5" fmla="*/ 254442 h 629320"/>
              <a:gd name="connsiteX6" fmla="*/ 1967948 w 2162755"/>
              <a:gd name="connsiteY6" fmla="*/ 107343 h 629320"/>
              <a:gd name="connsiteX7" fmla="*/ 2162755 w 2162755"/>
              <a:gd name="connsiteY7" fmla="*/ 0 h 62932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67948 w 2162755"/>
              <a:gd name="connsiteY6" fmla="*/ 107343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40119 w 2162755"/>
              <a:gd name="connsiteY6" fmla="*/ 111319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10140 w 2162755"/>
              <a:gd name="connsiteY5" fmla="*/ 270344 h 629540"/>
              <a:gd name="connsiteX6" fmla="*/ 1940119 w 2162755"/>
              <a:gd name="connsiteY6" fmla="*/ 111319 h 629540"/>
              <a:gd name="connsiteX7" fmla="*/ 2162755 w 2162755"/>
              <a:gd name="connsiteY7" fmla="*/ 0 h 629540"/>
              <a:gd name="connsiteX0" fmla="*/ 0 w 2162755"/>
              <a:gd name="connsiteY0" fmla="*/ 453224 h 630270"/>
              <a:gd name="connsiteX1" fmla="*/ 178935 w 2162755"/>
              <a:gd name="connsiteY1" fmla="*/ 539987 h 630270"/>
              <a:gd name="connsiteX2" fmla="*/ 405517 w 2162755"/>
              <a:gd name="connsiteY2" fmla="*/ 628153 h 630270"/>
              <a:gd name="connsiteX3" fmla="*/ 795130 w 2162755"/>
              <a:gd name="connsiteY3" fmla="*/ 588396 h 630270"/>
              <a:gd name="connsiteX4" fmla="*/ 1236428 w 2162755"/>
              <a:gd name="connsiteY4" fmla="*/ 433346 h 630270"/>
              <a:gd name="connsiteX5" fmla="*/ 1610140 w 2162755"/>
              <a:gd name="connsiteY5" fmla="*/ 270344 h 630270"/>
              <a:gd name="connsiteX6" fmla="*/ 1940119 w 2162755"/>
              <a:gd name="connsiteY6" fmla="*/ 111319 h 630270"/>
              <a:gd name="connsiteX7" fmla="*/ 2162755 w 2162755"/>
              <a:gd name="connsiteY7" fmla="*/ 0 h 630270"/>
              <a:gd name="connsiteX0" fmla="*/ 0 w 2162755"/>
              <a:gd name="connsiteY0" fmla="*/ 453224 h 605653"/>
              <a:gd name="connsiteX1" fmla="*/ 178935 w 2162755"/>
              <a:gd name="connsiteY1" fmla="*/ 539987 h 605653"/>
              <a:gd name="connsiteX2" fmla="*/ 453345 w 2162755"/>
              <a:gd name="connsiteY2" fmla="*/ 596427 h 605653"/>
              <a:gd name="connsiteX3" fmla="*/ 795130 w 2162755"/>
              <a:gd name="connsiteY3" fmla="*/ 588396 h 605653"/>
              <a:gd name="connsiteX4" fmla="*/ 1236428 w 2162755"/>
              <a:gd name="connsiteY4" fmla="*/ 433346 h 605653"/>
              <a:gd name="connsiteX5" fmla="*/ 1610140 w 2162755"/>
              <a:gd name="connsiteY5" fmla="*/ 270344 h 605653"/>
              <a:gd name="connsiteX6" fmla="*/ 1940119 w 2162755"/>
              <a:gd name="connsiteY6" fmla="*/ 111319 h 605653"/>
              <a:gd name="connsiteX7" fmla="*/ 2162755 w 2162755"/>
              <a:gd name="connsiteY7" fmla="*/ 0 h 605653"/>
              <a:gd name="connsiteX0" fmla="*/ 0 w 2162755"/>
              <a:gd name="connsiteY0" fmla="*/ 453224 h 596540"/>
              <a:gd name="connsiteX1" fmla="*/ 178935 w 2162755"/>
              <a:gd name="connsiteY1" fmla="*/ 539987 h 596540"/>
              <a:gd name="connsiteX2" fmla="*/ 453345 w 2162755"/>
              <a:gd name="connsiteY2" fmla="*/ 596427 h 596540"/>
              <a:gd name="connsiteX3" fmla="*/ 823030 w 2162755"/>
              <a:gd name="connsiteY3" fmla="*/ 550900 h 596540"/>
              <a:gd name="connsiteX4" fmla="*/ 1236428 w 2162755"/>
              <a:gd name="connsiteY4" fmla="*/ 433346 h 596540"/>
              <a:gd name="connsiteX5" fmla="*/ 1610140 w 2162755"/>
              <a:gd name="connsiteY5" fmla="*/ 270344 h 596540"/>
              <a:gd name="connsiteX6" fmla="*/ 1940119 w 2162755"/>
              <a:gd name="connsiteY6" fmla="*/ 111319 h 596540"/>
              <a:gd name="connsiteX7" fmla="*/ 2162755 w 2162755"/>
              <a:gd name="connsiteY7" fmla="*/ 0 h 596540"/>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610140 w 2162755"/>
              <a:gd name="connsiteY5" fmla="*/ 270344 h 596557"/>
              <a:gd name="connsiteX6" fmla="*/ 1940119 w 2162755"/>
              <a:gd name="connsiteY6" fmla="*/ 111319 h 596557"/>
              <a:gd name="connsiteX7" fmla="*/ 2162755 w 2162755"/>
              <a:gd name="connsiteY7" fmla="*/ 0 h 596557"/>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586225 w 2162755"/>
              <a:gd name="connsiteY5" fmla="*/ 267460 h 596557"/>
              <a:gd name="connsiteX6" fmla="*/ 1940119 w 2162755"/>
              <a:gd name="connsiteY6" fmla="*/ 111319 h 596557"/>
              <a:gd name="connsiteX7" fmla="*/ 2162755 w 2162755"/>
              <a:gd name="connsiteY7" fmla="*/ 0 h 596557"/>
              <a:gd name="connsiteX0" fmla="*/ 0 w 2162755"/>
              <a:gd name="connsiteY0" fmla="*/ 453224 h 574299"/>
              <a:gd name="connsiteX1" fmla="*/ 178935 w 2162755"/>
              <a:gd name="connsiteY1" fmla="*/ 539987 h 574299"/>
              <a:gd name="connsiteX2" fmla="*/ 461317 w 2162755"/>
              <a:gd name="connsiteY2" fmla="*/ 573352 h 574299"/>
              <a:gd name="connsiteX3" fmla="*/ 823030 w 2162755"/>
              <a:gd name="connsiteY3" fmla="*/ 550900 h 574299"/>
              <a:gd name="connsiteX4" fmla="*/ 1236428 w 2162755"/>
              <a:gd name="connsiteY4" fmla="*/ 416041 h 574299"/>
              <a:gd name="connsiteX5" fmla="*/ 1586225 w 2162755"/>
              <a:gd name="connsiteY5" fmla="*/ 267460 h 574299"/>
              <a:gd name="connsiteX6" fmla="*/ 1940119 w 2162755"/>
              <a:gd name="connsiteY6" fmla="*/ 111319 h 574299"/>
              <a:gd name="connsiteX7" fmla="*/ 2162755 w 2162755"/>
              <a:gd name="connsiteY7" fmla="*/ 0 h 574299"/>
              <a:gd name="connsiteX0" fmla="*/ 0 w 2162755"/>
              <a:gd name="connsiteY0" fmla="*/ 453224 h 573976"/>
              <a:gd name="connsiteX1" fmla="*/ 178935 w 2162755"/>
              <a:gd name="connsiteY1" fmla="*/ 539987 h 573976"/>
              <a:gd name="connsiteX2" fmla="*/ 461317 w 2162755"/>
              <a:gd name="connsiteY2" fmla="*/ 573352 h 573976"/>
              <a:gd name="connsiteX3" fmla="*/ 838974 w 2162755"/>
              <a:gd name="connsiteY3" fmla="*/ 522058 h 573976"/>
              <a:gd name="connsiteX4" fmla="*/ 1236428 w 2162755"/>
              <a:gd name="connsiteY4" fmla="*/ 416041 h 573976"/>
              <a:gd name="connsiteX5" fmla="*/ 1586225 w 2162755"/>
              <a:gd name="connsiteY5" fmla="*/ 267460 h 573976"/>
              <a:gd name="connsiteX6" fmla="*/ 1940119 w 2162755"/>
              <a:gd name="connsiteY6" fmla="*/ 111319 h 573976"/>
              <a:gd name="connsiteX7" fmla="*/ 2162755 w 2162755"/>
              <a:gd name="connsiteY7" fmla="*/ 0 h 573976"/>
              <a:gd name="connsiteX0" fmla="*/ 0 w 2162755"/>
              <a:gd name="connsiteY0" fmla="*/ 453224 h 580113"/>
              <a:gd name="connsiteX1" fmla="*/ 234735 w 2162755"/>
              <a:gd name="connsiteY1" fmla="*/ 560177 h 580113"/>
              <a:gd name="connsiteX2" fmla="*/ 461317 w 2162755"/>
              <a:gd name="connsiteY2" fmla="*/ 573352 h 580113"/>
              <a:gd name="connsiteX3" fmla="*/ 838974 w 2162755"/>
              <a:gd name="connsiteY3" fmla="*/ 522058 h 580113"/>
              <a:gd name="connsiteX4" fmla="*/ 1236428 w 2162755"/>
              <a:gd name="connsiteY4" fmla="*/ 416041 h 580113"/>
              <a:gd name="connsiteX5" fmla="*/ 1586225 w 2162755"/>
              <a:gd name="connsiteY5" fmla="*/ 267460 h 580113"/>
              <a:gd name="connsiteX6" fmla="*/ 1940119 w 2162755"/>
              <a:gd name="connsiteY6" fmla="*/ 111319 h 580113"/>
              <a:gd name="connsiteX7" fmla="*/ 2162755 w 2162755"/>
              <a:gd name="connsiteY7" fmla="*/ 0 h 580113"/>
              <a:gd name="connsiteX0" fmla="*/ 0 w 2162755"/>
              <a:gd name="connsiteY0" fmla="*/ 453224 h 578650"/>
              <a:gd name="connsiteX1" fmla="*/ 234735 w 2162755"/>
              <a:gd name="connsiteY1" fmla="*/ 560177 h 578650"/>
              <a:gd name="connsiteX2" fmla="*/ 521102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8650"/>
              <a:gd name="connsiteX1" fmla="*/ 234735 w 2162755"/>
              <a:gd name="connsiteY1" fmla="*/ 560177 h 578650"/>
              <a:gd name="connsiteX2" fmla="*/ 537045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0604"/>
              <a:gd name="connsiteX1" fmla="*/ 174949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1743"/>
              <a:gd name="connsiteX1" fmla="*/ 238721 w 2162755"/>
              <a:gd name="connsiteY1" fmla="*/ 542871 h 571743"/>
              <a:gd name="connsiteX2" fmla="*/ 537045 w 2162755"/>
              <a:gd name="connsiteY2" fmla="*/ 570468 h 571743"/>
              <a:gd name="connsiteX3" fmla="*/ 838974 w 2162755"/>
              <a:gd name="connsiteY3" fmla="*/ 522058 h 571743"/>
              <a:gd name="connsiteX4" fmla="*/ 1224470 w 2162755"/>
              <a:gd name="connsiteY4" fmla="*/ 410273 h 571743"/>
              <a:gd name="connsiteX5" fmla="*/ 1586225 w 2162755"/>
              <a:gd name="connsiteY5" fmla="*/ 267460 h 571743"/>
              <a:gd name="connsiteX6" fmla="*/ 1924176 w 2162755"/>
              <a:gd name="connsiteY6" fmla="*/ 117087 h 571743"/>
              <a:gd name="connsiteX7" fmla="*/ 2162755 w 2162755"/>
              <a:gd name="connsiteY7" fmla="*/ 0 h 571743"/>
              <a:gd name="connsiteX0" fmla="*/ 0 w 2162755"/>
              <a:gd name="connsiteY0" fmla="*/ 453224 h 570604"/>
              <a:gd name="connsiteX1" fmla="*/ 2466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468"/>
              <a:gd name="connsiteX1" fmla="*/ 214806 w 2162755"/>
              <a:gd name="connsiteY1" fmla="*/ 522681 h 570468"/>
              <a:gd name="connsiteX2" fmla="*/ 537045 w 2162755"/>
              <a:gd name="connsiteY2" fmla="*/ 570468 h 570468"/>
              <a:gd name="connsiteX3" fmla="*/ 838974 w 2162755"/>
              <a:gd name="connsiteY3" fmla="*/ 522058 h 570468"/>
              <a:gd name="connsiteX4" fmla="*/ 1224470 w 2162755"/>
              <a:gd name="connsiteY4" fmla="*/ 410273 h 570468"/>
              <a:gd name="connsiteX5" fmla="*/ 1586225 w 2162755"/>
              <a:gd name="connsiteY5" fmla="*/ 267460 h 570468"/>
              <a:gd name="connsiteX6" fmla="*/ 1924176 w 2162755"/>
              <a:gd name="connsiteY6" fmla="*/ 117087 h 570468"/>
              <a:gd name="connsiteX7" fmla="*/ 2162755 w 2162755"/>
              <a:gd name="connsiteY7" fmla="*/ 0 h 570468"/>
              <a:gd name="connsiteX0" fmla="*/ 0 w 2162755"/>
              <a:gd name="connsiteY0" fmla="*/ 453224 h 582006"/>
              <a:gd name="connsiteX1" fmla="*/ 214806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924176 w 2162755"/>
              <a:gd name="connsiteY6" fmla="*/ 117087 h 582059"/>
              <a:gd name="connsiteX7" fmla="*/ 2162755 w 2162755"/>
              <a:gd name="connsiteY7" fmla="*/ 0 h 582059"/>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876347 w 2162755"/>
              <a:gd name="connsiteY6" fmla="*/ 140160 h 582059"/>
              <a:gd name="connsiteX7" fmla="*/ 2162755 w 2162755"/>
              <a:gd name="connsiteY7" fmla="*/ 0 h 582059"/>
              <a:gd name="connsiteX0" fmla="*/ 0 w 2126884"/>
              <a:gd name="connsiteY0" fmla="*/ 421497 h 550332"/>
              <a:gd name="connsiteX1" fmla="*/ 198863 w 2126884"/>
              <a:gd name="connsiteY1" fmla="*/ 490954 h 550332"/>
              <a:gd name="connsiteX2" fmla="*/ 521103 w 2126884"/>
              <a:gd name="connsiteY2" fmla="*/ 550279 h 550332"/>
              <a:gd name="connsiteX3" fmla="*/ 854916 w 2126884"/>
              <a:gd name="connsiteY3" fmla="*/ 498984 h 550332"/>
              <a:gd name="connsiteX4" fmla="*/ 1224470 w 2126884"/>
              <a:gd name="connsiteY4" fmla="*/ 378546 h 550332"/>
              <a:gd name="connsiteX5" fmla="*/ 1586225 w 2126884"/>
              <a:gd name="connsiteY5" fmla="*/ 235733 h 550332"/>
              <a:gd name="connsiteX6" fmla="*/ 1876347 w 2126884"/>
              <a:gd name="connsiteY6" fmla="*/ 108433 h 550332"/>
              <a:gd name="connsiteX7" fmla="*/ 2126884 w 2126884"/>
              <a:gd name="connsiteY7" fmla="*/ 0 h 550332"/>
              <a:gd name="connsiteX0" fmla="*/ 0 w 2126884"/>
              <a:gd name="connsiteY0" fmla="*/ 421497 h 550283"/>
              <a:gd name="connsiteX1" fmla="*/ 218792 w 2126884"/>
              <a:gd name="connsiteY1" fmla="*/ 496722 h 550283"/>
              <a:gd name="connsiteX2" fmla="*/ 521103 w 2126884"/>
              <a:gd name="connsiteY2" fmla="*/ 550279 h 550283"/>
              <a:gd name="connsiteX3" fmla="*/ 854916 w 2126884"/>
              <a:gd name="connsiteY3" fmla="*/ 498984 h 550283"/>
              <a:gd name="connsiteX4" fmla="*/ 1224470 w 2126884"/>
              <a:gd name="connsiteY4" fmla="*/ 378546 h 550283"/>
              <a:gd name="connsiteX5" fmla="*/ 1586225 w 2126884"/>
              <a:gd name="connsiteY5" fmla="*/ 235733 h 550283"/>
              <a:gd name="connsiteX6" fmla="*/ 1876347 w 2126884"/>
              <a:gd name="connsiteY6" fmla="*/ 108433 h 550283"/>
              <a:gd name="connsiteX7" fmla="*/ 2126884 w 2126884"/>
              <a:gd name="connsiteY7" fmla="*/ 0 h 550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6884" h="550283">
                <a:moveTo>
                  <a:pt x="0" y="421497"/>
                </a:moveTo>
                <a:cubicBezTo>
                  <a:pt x="66288" y="444649"/>
                  <a:pt x="131942" y="475258"/>
                  <a:pt x="218792" y="496722"/>
                </a:cubicBezTo>
                <a:cubicBezTo>
                  <a:pt x="282402" y="525877"/>
                  <a:pt x="415082" y="549902"/>
                  <a:pt x="521103" y="550279"/>
                </a:cubicBezTo>
                <a:cubicBezTo>
                  <a:pt x="627124" y="550656"/>
                  <a:pt x="737688" y="527606"/>
                  <a:pt x="854916" y="498984"/>
                </a:cubicBezTo>
                <a:cubicBezTo>
                  <a:pt x="972144" y="470362"/>
                  <a:pt x="1102585" y="422421"/>
                  <a:pt x="1224470" y="378546"/>
                </a:cubicBezTo>
                <a:cubicBezTo>
                  <a:pt x="1346355" y="334671"/>
                  <a:pt x="1477579" y="280752"/>
                  <a:pt x="1586225" y="235733"/>
                </a:cubicBezTo>
                <a:cubicBezTo>
                  <a:pt x="1694871" y="190714"/>
                  <a:pt x="1800810" y="147527"/>
                  <a:pt x="1876347" y="108433"/>
                </a:cubicBezTo>
                <a:lnTo>
                  <a:pt x="2126884" y="0"/>
                </a:lnTo>
              </a:path>
            </a:pathLst>
          </a:custGeom>
          <a:noFill/>
          <a:ln w="9525"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1" name="右箭头 10"/>
          <p:cNvSpPr/>
          <p:nvPr/>
        </p:nvSpPr>
        <p:spPr bwMode="auto">
          <a:xfrm rot="20089656">
            <a:off x="6976259" y="4428493"/>
            <a:ext cx="413657" cy="195943"/>
          </a:xfrm>
          <a:prstGeom prst="rightArrow">
            <a:avLst/>
          </a:prstGeom>
          <a:solidFill>
            <a:schemeClr val="accent2">
              <a:lumMod val="20000"/>
              <a:lumOff val="80000"/>
            </a:schemeClr>
          </a:solidFill>
          <a:ln w="12700" cap="flat" cmpd="sng" algn="ctr">
            <a:solidFill>
              <a:srgbClr val="C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3" name="右箭头 52"/>
          <p:cNvSpPr/>
          <p:nvPr/>
        </p:nvSpPr>
        <p:spPr bwMode="auto">
          <a:xfrm rot="1510344" flipH="1">
            <a:off x="4856106" y="4482281"/>
            <a:ext cx="413657" cy="195943"/>
          </a:xfrm>
          <a:prstGeom prst="rightArrow">
            <a:avLst/>
          </a:prstGeom>
          <a:solidFill>
            <a:schemeClr val="accent2">
              <a:lumMod val="20000"/>
              <a:lumOff val="80000"/>
            </a:schemeClr>
          </a:solidFill>
          <a:ln w="12700" cap="flat" cmpd="sng" algn="ctr">
            <a:solidFill>
              <a:srgbClr val="C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a:off x="4222474" y="4244493"/>
            <a:ext cx="1331383" cy="0"/>
          </a:xfrm>
          <a:prstGeom prst="line">
            <a:avLst/>
          </a:prstGeom>
          <a:noFill/>
          <a:ln w="12700" cap="flat" cmpd="sng" algn="ctr">
            <a:solidFill>
              <a:srgbClr val="0000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Line 23"/>
          <p:cNvSpPr>
            <a:spLocks noChangeShapeType="1"/>
          </p:cNvSpPr>
          <p:nvPr/>
        </p:nvSpPr>
        <p:spPr bwMode="auto">
          <a:xfrm>
            <a:off x="8017329" y="4247943"/>
            <a:ext cx="194242" cy="0"/>
          </a:xfrm>
          <a:prstGeom prst="line">
            <a:avLst/>
          </a:prstGeom>
          <a:noFill/>
          <a:ln w="19050" cap="sq">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矩形 71"/>
          <p:cNvSpPr/>
          <p:nvPr/>
        </p:nvSpPr>
        <p:spPr>
          <a:xfrm>
            <a:off x="7243535" y="3716103"/>
            <a:ext cx="1382594" cy="338554"/>
          </a:xfrm>
          <a:prstGeom prst="rect">
            <a:avLst/>
          </a:prstGeom>
        </p:spPr>
        <p:txBody>
          <a:bodyPr wrap="square">
            <a:spAutoFit/>
          </a:bodyPr>
          <a:lstStyle/>
          <a:p>
            <a:pPr algn="ctr">
              <a:lnSpc>
                <a:spcPct val="100000"/>
              </a:lnSpc>
              <a:buClr>
                <a:srgbClr val="C00000"/>
              </a:buClr>
            </a:pPr>
            <a:r>
              <a:rPr lang="zh-CN" altLang="en-US" sz="16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隆起后地面</a:t>
            </a:r>
          </a:p>
        </p:txBody>
      </p:sp>
      <p:cxnSp>
        <p:nvCxnSpPr>
          <p:cNvPr id="73" name="直接连接符 72"/>
          <p:cNvCxnSpPr/>
          <p:nvPr/>
        </p:nvCxnSpPr>
        <p:spPr bwMode="auto">
          <a:xfrm flipV="1">
            <a:off x="7131346" y="3952723"/>
            <a:ext cx="249168" cy="12322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 Box 46"/>
          <p:cNvSpPr txBox="1">
            <a:spLocks noChangeArrowheads="1"/>
          </p:cNvSpPr>
          <p:nvPr/>
        </p:nvSpPr>
        <p:spPr bwMode="auto">
          <a:xfrm>
            <a:off x="384649" y="601804"/>
            <a:ext cx="53557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ea typeface="微软雅黑" panose="020B0503020204020204" pitchFamily="34" charset="-122"/>
                <a:cs typeface="Times New Roman" panose="02020603050405020304" pitchFamily="18" charset="0"/>
              </a:rPr>
              <a:t> 载荷试验</a:t>
            </a:r>
            <a:r>
              <a:rPr lang="en-US" altLang="zh-CN" sz="2800" b="1" i="1" dirty="0">
                <a:solidFill>
                  <a:srgbClr val="A50021"/>
                </a:solidFill>
                <a:ea typeface="微软雅黑" panose="020B0503020204020204" pitchFamily="34" charset="-122"/>
                <a:cs typeface="Times New Roman" panose="02020603050405020304" pitchFamily="18" charset="0"/>
              </a:rPr>
              <a:t>p</a:t>
            </a:r>
            <a:r>
              <a:rPr lang="en-US" altLang="zh-CN" sz="2800" b="1" dirty="0">
                <a:solidFill>
                  <a:srgbClr val="A50021"/>
                </a:solidFill>
                <a:ea typeface="微软雅黑" panose="020B0503020204020204" pitchFamily="34" charset="-122"/>
                <a:cs typeface="Times New Roman" panose="02020603050405020304" pitchFamily="18" charset="0"/>
              </a:rPr>
              <a:t>-</a:t>
            </a:r>
            <a:r>
              <a:rPr lang="en-US" altLang="zh-CN" sz="2800" b="1" i="1" dirty="0">
                <a:solidFill>
                  <a:srgbClr val="A5002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s</a:t>
            </a:r>
            <a:r>
              <a:rPr lang="zh-CN" altLang="en-US" sz="2800" b="1" dirty="0">
                <a:solidFill>
                  <a:srgbClr val="A50021"/>
                </a:solidFill>
                <a:ea typeface="微软雅黑" panose="020B0503020204020204" pitchFamily="34" charset="-122"/>
                <a:cs typeface="Times New Roman" panose="02020603050405020304" pitchFamily="18" charset="0"/>
              </a:rPr>
              <a:t>曲线的三个阶段</a:t>
            </a:r>
          </a:p>
        </p:txBody>
      </p:sp>
      <p:sp>
        <p:nvSpPr>
          <p:cNvPr id="52"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
        <p:nvSpPr>
          <p:cNvPr id="67" name="Text Box 17"/>
          <p:cNvSpPr txBox="1">
            <a:spLocks noChangeArrowheads="1"/>
          </p:cNvSpPr>
          <p:nvPr/>
        </p:nvSpPr>
        <p:spPr bwMode="auto">
          <a:xfrm>
            <a:off x="1231690" y="1910672"/>
            <a:ext cx="338555"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a</a:t>
            </a:r>
          </a:p>
        </p:txBody>
      </p:sp>
      <p:sp>
        <p:nvSpPr>
          <p:cNvPr id="70" name="Text Box 17"/>
          <p:cNvSpPr txBox="1">
            <a:spLocks noChangeArrowheads="1"/>
          </p:cNvSpPr>
          <p:nvPr/>
        </p:nvSpPr>
        <p:spPr bwMode="auto">
          <a:xfrm>
            <a:off x="2249917" y="2539791"/>
            <a:ext cx="35618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b</a:t>
            </a:r>
          </a:p>
        </p:txBody>
      </p:sp>
      <p:sp>
        <p:nvSpPr>
          <p:cNvPr id="71" name="Text Box 17"/>
          <p:cNvSpPr txBox="1">
            <a:spLocks noChangeArrowheads="1"/>
          </p:cNvSpPr>
          <p:nvPr/>
        </p:nvSpPr>
        <p:spPr bwMode="auto">
          <a:xfrm>
            <a:off x="2443804" y="4004156"/>
            <a:ext cx="32092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c</a:t>
            </a:r>
          </a:p>
        </p:txBody>
      </p:sp>
      <p:sp>
        <p:nvSpPr>
          <p:cNvPr id="44" name="Rectangle 24" descr="深色上对角线"/>
          <p:cNvSpPr>
            <a:spLocks noChangeArrowheads="1"/>
          </p:cNvSpPr>
          <p:nvPr/>
        </p:nvSpPr>
        <p:spPr bwMode="auto">
          <a:xfrm>
            <a:off x="5597336" y="4139136"/>
            <a:ext cx="930275" cy="152400"/>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1" name="任意多边形 60"/>
          <p:cNvSpPr/>
          <p:nvPr/>
        </p:nvSpPr>
        <p:spPr bwMode="auto">
          <a:xfrm>
            <a:off x="2580538" y="2647379"/>
            <a:ext cx="248435" cy="2155009"/>
          </a:xfrm>
          <a:custGeom>
            <a:avLst/>
            <a:gdLst>
              <a:gd name="connsiteX0" fmla="*/ 0 w 1117600"/>
              <a:gd name="connsiteY0" fmla="*/ 0 h 627743"/>
              <a:gd name="connsiteX1" fmla="*/ 224971 w 1117600"/>
              <a:gd name="connsiteY1" fmla="*/ 58057 h 627743"/>
              <a:gd name="connsiteX2" fmla="*/ 460829 w 1117600"/>
              <a:gd name="connsiteY2" fmla="*/ 137886 h 627743"/>
              <a:gd name="connsiteX3" fmla="*/ 671286 w 1117600"/>
              <a:gd name="connsiteY3" fmla="*/ 246743 h 627743"/>
              <a:gd name="connsiteX4" fmla="*/ 878114 w 1117600"/>
              <a:gd name="connsiteY4" fmla="*/ 377371 h 627743"/>
              <a:gd name="connsiteX5" fmla="*/ 1005114 w 1117600"/>
              <a:gd name="connsiteY5" fmla="*/ 493486 h 627743"/>
              <a:gd name="connsiteX6" fmla="*/ 1117600 w 1117600"/>
              <a:gd name="connsiteY6" fmla="*/ 627743 h 627743"/>
              <a:gd name="connsiteX0" fmla="*/ 0 w 1117600"/>
              <a:gd name="connsiteY0" fmla="*/ 0 h 627743"/>
              <a:gd name="connsiteX1" fmla="*/ 224971 w 1117600"/>
              <a:gd name="connsiteY1" fmla="*/ 58057 h 627743"/>
              <a:gd name="connsiteX2" fmla="*/ 460829 w 1117600"/>
              <a:gd name="connsiteY2" fmla="*/ 137886 h 627743"/>
              <a:gd name="connsiteX3" fmla="*/ 671286 w 1117600"/>
              <a:gd name="connsiteY3" fmla="*/ 246743 h 627743"/>
              <a:gd name="connsiteX4" fmla="*/ 878114 w 1117600"/>
              <a:gd name="connsiteY4" fmla="*/ 381000 h 627743"/>
              <a:gd name="connsiteX5" fmla="*/ 1005114 w 1117600"/>
              <a:gd name="connsiteY5" fmla="*/ 493486 h 627743"/>
              <a:gd name="connsiteX6" fmla="*/ 1117600 w 1117600"/>
              <a:gd name="connsiteY6" fmla="*/ 627743 h 627743"/>
              <a:gd name="connsiteX0" fmla="*/ 0 w 1117600"/>
              <a:gd name="connsiteY0" fmla="*/ 0 h 627743"/>
              <a:gd name="connsiteX1" fmla="*/ 130628 w 1117600"/>
              <a:gd name="connsiteY1" fmla="*/ 246743 h 627743"/>
              <a:gd name="connsiteX2" fmla="*/ 460829 w 1117600"/>
              <a:gd name="connsiteY2" fmla="*/ 137886 h 627743"/>
              <a:gd name="connsiteX3" fmla="*/ 671286 w 1117600"/>
              <a:gd name="connsiteY3" fmla="*/ 246743 h 627743"/>
              <a:gd name="connsiteX4" fmla="*/ 878114 w 1117600"/>
              <a:gd name="connsiteY4" fmla="*/ 381000 h 627743"/>
              <a:gd name="connsiteX5" fmla="*/ 1005114 w 1117600"/>
              <a:gd name="connsiteY5" fmla="*/ 493486 h 627743"/>
              <a:gd name="connsiteX6" fmla="*/ 1117600 w 1117600"/>
              <a:gd name="connsiteY6" fmla="*/ 627743 h 627743"/>
              <a:gd name="connsiteX0" fmla="*/ 0 w 1117600"/>
              <a:gd name="connsiteY0" fmla="*/ 0 h 627743"/>
              <a:gd name="connsiteX1" fmla="*/ 130628 w 1117600"/>
              <a:gd name="connsiteY1" fmla="*/ 246743 h 627743"/>
              <a:gd name="connsiteX2" fmla="*/ 254000 w 1117600"/>
              <a:gd name="connsiteY2" fmla="*/ 605972 h 627743"/>
              <a:gd name="connsiteX3" fmla="*/ 671286 w 1117600"/>
              <a:gd name="connsiteY3" fmla="*/ 246743 h 627743"/>
              <a:gd name="connsiteX4" fmla="*/ 878114 w 1117600"/>
              <a:gd name="connsiteY4" fmla="*/ 381000 h 627743"/>
              <a:gd name="connsiteX5" fmla="*/ 1005114 w 1117600"/>
              <a:gd name="connsiteY5" fmla="*/ 493486 h 627743"/>
              <a:gd name="connsiteX6" fmla="*/ 1117600 w 1117600"/>
              <a:gd name="connsiteY6" fmla="*/ 627743 h 627743"/>
              <a:gd name="connsiteX0" fmla="*/ 0 w 1117600"/>
              <a:gd name="connsiteY0" fmla="*/ 0 h 1015438"/>
              <a:gd name="connsiteX1" fmla="*/ 130628 w 1117600"/>
              <a:gd name="connsiteY1" fmla="*/ 246743 h 1015438"/>
              <a:gd name="connsiteX2" fmla="*/ 254000 w 1117600"/>
              <a:gd name="connsiteY2" fmla="*/ 605972 h 1015438"/>
              <a:gd name="connsiteX3" fmla="*/ 239486 w 1117600"/>
              <a:gd name="connsiteY3" fmla="*/ 1012372 h 1015438"/>
              <a:gd name="connsiteX4" fmla="*/ 878114 w 1117600"/>
              <a:gd name="connsiteY4" fmla="*/ 381000 h 1015438"/>
              <a:gd name="connsiteX5" fmla="*/ 1005114 w 1117600"/>
              <a:gd name="connsiteY5" fmla="*/ 493486 h 1015438"/>
              <a:gd name="connsiteX6" fmla="*/ 1117600 w 1117600"/>
              <a:gd name="connsiteY6" fmla="*/ 627743 h 1015438"/>
              <a:gd name="connsiteX0" fmla="*/ 0 w 1117600"/>
              <a:gd name="connsiteY0" fmla="*/ 0 h 1706768"/>
              <a:gd name="connsiteX1" fmla="*/ 130628 w 1117600"/>
              <a:gd name="connsiteY1" fmla="*/ 246743 h 1706768"/>
              <a:gd name="connsiteX2" fmla="*/ 254000 w 1117600"/>
              <a:gd name="connsiteY2" fmla="*/ 605972 h 1706768"/>
              <a:gd name="connsiteX3" fmla="*/ 239486 w 1117600"/>
              <a:gd name="connsiteY3" fmla="*/ 1012372 h 1706768"/>
              <a:gd name="connsiteX4" fmla="*/ 275771 w 1117600"/>
              <a:gd name="connsiteY4" fmla="*/ 1698172 h 1706768"/>
              <a:gd name="connsiteX5" fmla="*/ 1005114 w 1117600"/>
              <a:gd name="connsiteY5" fmla="*/ 493486 h 1706768"/>
              <a:gd name="connsiteX6" fmla="*/ 1117600 w 1117600"/>
              <a:gd name="connsiteY6" fmla="*/ 627743 h 1706768"/>
              <a:gd name="connsiteX0" fmla="*/ 0 w 1117600"/>
              <a:gd name="connsiteY0" fmla="*/ 0 h 2193306"/>
              <a:gd name="connsiteX1" fmla="*/ 130628 w 1117600"/>
              <a:gd name="connsiteY1" fmla="*/ 246743 h 2193306"/>
              <a:gd name="connsiteX2" fmla="*/ 254000 w 1117600"/>
              <a:gd name="connsiteY2" fmla="*/ 605972 h 2193306"/>
              <a:gd name="connsiteX3" fmla="*/ 239486 w 1117600"/>
              <a:gd name="connsiteY3" fmla="*/ 1012372 h 2193306"/>
              <a:gd name="connsiteX4" fmla="*/ 275771 w 1117600"/>
              <a:gd name="connsiteY4" fmla="*/ 1698172 h 2193306"/>
              <a:gd name="connsiteX5" fmla="*/ 286657 w 1117600"/>
              <a:gd name="connsiteY5" fmla="*/ 2151743 h 2193306"/>
              <a:gd name="connsiteX6" fmla="*/ 1117600 w 1117600"/>
              <a:gd name="connsiteY6" fmla="*/ 627743 h 2193306"/>
              <a:gd name="connsiteX0" fmla="*/ 0 w 286657"/>
              <a:gd name="connsiteY0" fmla="*/ 0 h 2193306"/>
              <a:gd name="connsiteX1" fmla="*/ 130628 w 286657"/>
              <a:gd name="connsiteY1" fmla="*/ 246743 h 2193306"/>
              <a:gd name="connsiteX2" fmla="*/ 254000 w 286657"/>
              <a:gd name="connsiteY2" fmla="*/ 605972 h 2193306"/>
              <a:gd name="connsiteX3" fmla="*/ 239486 w 286657"/>
              <a:gd name="connsiteY3" fmla="*/ 1012372 h 2193306"/>
              <a:gd name="connsiteX4" fmla="*/ 275771 w 286657"/>
              <a:gd name="connsiteY4" fmla="*/ 1698172 h 2193306"/>
              <a:gd name="connsiteX5" fmla="*/ 286657 w 286657"/>
              <a:gd name="connsiteY5" fmla="*/ 2151743 h 2193306"/>
              <a:gd name="connsiteX0" fmla="*/ 0 w 286657"/>
              <a:gd name="connsiteY0" fmla="*/ 0 h 2193306"/>
              <a:gd name="connsiteX1" fmla="*/ 130628 w 286657"/>
              <a:gd name="connsiteY1" fmla="*/ 246743 h 2193306"/>
              <a:gd name="connsiteX2" fmla="*/ 203200 w 286657"/>
              <a:gd name="connsiteY2" fmla="*/ 598714 h 2193306"/>
              <a:gd name="connsiteX3" fmla="*/ 239486 w 286657"/>
              <a:gd name="connsiteY3" fmla="*/ 1012372 h 2193306"/>
              <a:gd name="connsiteX4" fmla="*/ 275771 w 286657"/>
              <a:gd name="connsiteY4" fmla="*/ 1698172 h 2193306"/>
              <a:gd name="connsiteX5" fmla="*/ 286657 w 286657"/>
              <a:gd name="connsiteY5" fmla="*/ 2151743 h 2193306"/>
              <a:gd name="connsiteX0" fmla="*/ 0 w 290285"/>
              <a:gd name="connsiteY0" fmla="*/ 0 h 2204192"/>
              <a:gd name="connsiteX1" fmla="*/ 134256 w 290285"/>
              <a:gd name="connsiteY1" fmla="*/ 257629 h 2204192"/>
              <a:gd name="connsiteX2" fmla="*/ 206828 w 290285"/>
              <a:gd name="connsiteY2" fmla="*/ 609600 h 2204192"/>
              <a:gd name="connsiteX3" fmla="*/ 243114 w 290285"/>
              <a:gd name="connsiteY3" fmla="*/ 1023258 h 2204192"/>
              <a:gd name="connsiteX4" fmla="*/ 279399 w 290285"/>
              <a:gd name="connsiteY4" fmla="*/ 1709058 h 2204192"/>
              <a:gd name="connsiteX5" fmla="*/ 290285 w 290285"/>
              <a:gd name="connsiteY5" fmla="*/ 2162629 h 2204192"/>
              <a:gd name="connsiteX0" fmla="*/ 0 w 290285"/>
              <a:gd name="connsiteY0" fmla="*/ 0 h 2204192"/>
              <a:gd name="connsiteX1" fmla="*/ 134256 w 290285"/>
              <a:gd name="connsiteY1" fmla="*/ 257629 h 2204192"/>
              <a:gd name="connsiteX2" fmla="*/ 206828 w 290285"/>
              <a:gd name="connsiteY2" fmla="*/ 609600 h 2204192"/>
              <a:gd name="connsiteX3" fmla="*/ 243114 w 290285"/>
              <a:gd name="connsiteY3" fmla="*/ 1023258 h 2204192"/>
              <a:gd name="connsiteX4" fmla="*/ 279399 w 290285"/>
              <a:gd name="connsiteY4" fmla="*/ 1709058 h 2204192"/>
              <a:gd name="connsiteX5" fmla="*/ 290285 w 290285"/>
              <a:gd name="connsiteY5" fmla="*/ 2162629 h 2204192"/>
              <a:gd name="connsiteX0" fmla="*/ 0 w 290285"/>
              <a:gd name="connsiteY0" fmla="*/ 0 h 2204192"/>
              <a:gd name="connsiteX1" fmla="*/ 134256 w 290285"/>
              <a:gd name="connsiteY1" fmla="*/ 257629 h 2204192"/>
              <a:gd name="connsiteX2" fmla="*/ 206828 w 290285"/>
              <a:gd name="connsiteY2" fmla="*/ 609600 h 2204192"/>
              <a:gd name="connsiteX3" fmla="*/ 243114 w 290285"/>
              <a:gd name="connsiteY3" fmla="*/ 1023258 h 2204192"/>
              <a:gd name="connsiteX4" fmla="*/ 279399 w 290285"/>
              <a:gd name="connsiteY4" fmla="*/ 1709058 h 2204192"/>
              <a:gd name="connsiteX5" fmla="*/ 290285 w 290285"/>
              <a:gd name="connsiteY5" fmla="*/ 2162629 h 2204192"/>
              <a:gd name="connsiteX0" fmla="*/ 0 w 290285"/>
              <a:gd name="connsiteY0" fmla="*/ 0 h 2162629"/>
              <a:gd name="connsiteX1" fmla="*/ 134256 w 290285"/>
              <a:gd name="connsiteY1" fmla="*/ 257629 h 2162629"/>
              <a:gd name="connsiteX2" fmla="*/ 206828 w 290285"/>
              <a:gd name="connsiteY2" fmla="*/ 609600 h 2162629"/>
              <a:gd name="connsiteX3" fmla="*/ 243114 w 290285"/>
              <a:gd name="connsiteY3" fmla="*/ 1023258 h 2162629"/>
              <a:gd name="connsiteX4" fmla="*/ 279399 w 290285"/>
              <a:gd name="connsiteY4" fmla="*/ 1709058 h 2162629"/>
              <a:gd name="connsiteX5" fmla="*/ 290285 w 290285"/>
              <a:gd name="connsiteY5" fmla="*/ 2162629 h 2162629"/>
              <a:gd name="connsiteX0" fmla="*/ 0 w 290285"/>
              <a:gd name="connsiteY0" fmla="*/ 0 h 2162629"/>
              <a:gd name="connsiteX1" fmla="*/ 134256 w 290285"/>
              <a:gd name="connsiteY1" fmla="*/ 257629 h 2162629"/>
              <a:gd name="connsiteX2" fmla="*/ 206828 w 290285"/>
              <a:gd name="connsiteY2" fmla="*/ 609600 h 2162629"/>
              <a:gd name="connsiteX3" fmla="*/ 243114 w 290285"/>
              <a:gd name="connsiteY3" fmla="*/ 1023258 h 2162629"/>
              <a:gd name="connsiteX4" fmla="*/ 268513 w 290285"/>
              <a:gd name="connsiteY4" fmla="*/ 1709058 h 2162629"/>
              <a:gd name="connsiteX5" fmla="*/ 290285 w 290285"/>
              <a:gd name="connsiteY5" fmla="*/ 2162629 h 2162629"/>
              <a:gd name="connsiteX0" fmla="*/ 0 w 290285"/>
              <a:gd name="connsiteY0" fmla="*/ 0 h 2162629"/>
              <a:gd name="connsiteX1" fmla="*/ 134256 w 290285"/>
              <a:gd name="connsiteY1" fmla="*/ 257629 h 2162629"/>
              <a:gd name="connsiteX2" fmla="*/ 192314 w 290285"/>
              <a:gd name="connsiteY2" fmla="*/ 609600 h 2162629"/>
              <a:gd name="connsiteX3" fmla="*/ 243114 w 290285"/>
              <a:gd name="connsiteY3" fmla="*/ 1023258 h 2162629"/>
              <a:gd name="connsiteX4" fmla="*/ 268513 w 290285"/>
              <a:gd name="connsiteY4" fmla="*/ 1709058 h 2162629"/>
              <a:gd name="connsiteX5" fmla="*/ 290285 w 290285"/>
              <a:gd name="connsiteY5" fmla="*/ 2162629 h 2162629"/>
              <a:gd name="connsiteX0" fmla="*/ 0 w 290285"/>
              <a:gd name="connsiteY0" fmla="*/ 0 h 2162629"/>
              <a:gd name="connsiteX1" fmla="*/ 134256 w 290285"/>
              <a:gd name="connsiteY1" fmla="*/ 257629 h 2162629"/>
              <a:gd name="connsiteX2" fmla="*/ 192314 w 290285"/>
              <a:gd name="connsiteY2" fmla="*/ 609600 h 2162629"/>
              <a:gd name="connsiteX3" fmla="*/ 243114 w 290285"/>
              <a:gd name="connsiteY3" fmla="*/ 1023258 h 2162629"/>
              <a:gd name="connsiteX4" fmla="*/ 268513 w 290285"/>
              <a:gd name="connsiteY4" fmla="*/ 1709058 h 2162629"/>
              <a:gd name="connsiteX5" fmla="*/ 290285 w 290285"/>
              <a:gd name="connsiteY5" fmla="*/ 2162629 h 2162629"/>
              <a:gd name="connsiteX0" fmla="*/ 0 w 290285"/>
              <a:gd name="connsiteY0" fmla="*/ 0 h 2162629"/>
              <a:gd name="connsiteX1" fmla="*/ 134256 w 290285"/>
              <a:gd name="connsiteY1" fmla="*/ 257629 h 2162629"/>
              <a:gd name="connsiteX2" fmla="*/ 192314 w 290285"/>
              <a:gd name="connsiteY2" fmla="*/ 609600 h 2162629"/>
              <a:gd name="connsiteX3" fmla="*/ 243114 w 290285"/>
              <a:gd name="connsiteY3" fmla="*/ 1023258 h 2162629"/>
              <a:gd name="connsiteX4" fmla="*/ 268513 w 290285"/>
              <a:gd name="connsiteY4" fmla="*/ 1709058 h 2162629"/>
              <a:gd name="connsiteX5" fmla="*/ 290285 w 290285"/>
              <a:gd name="connsiteY5" fmla="*/ 2162629 h 2162629"/>
              <a:gd name="connsiteX0" fmla="*/ 0 w 290285"/>
              <a:gd name="connsiteY0" fmla="*/ 0 h 2162629"/>
              <a:gd name="connsiteX1" fmla="*/ 134256 w 290285"/>
              <a:gd name="connsiteY1" fmla="*/ 257629 h 2162629"/>
              <a:gd name="connsiteX2" fmla="*/ 192314 w 290285"/>
              <a:gd name="connsiteY2" fmla="*/ 609600 h 2162629"/>
              <a:gd name="connsiteX3" fmla="*/ 243114 w 290285"/>
              <a:gd name="connsiteY3" fmla="*/ 1023258 h 2162629"/>
              <a:gd name="connsiteX4" fmla="*/ 268513 w 290285"/>
              <a:gd name="connsiteY4" fmla="*/ 1709058 h 2162629"/>
              <a:gd name="connsiteX5" fmla="*/ 290285 w 290285"/>
              <a:gd name="connsiteY5" fmla="*/ 2162629 h 2162629"/>
              <a:gd name="connsiteX0" fmla="*/ 0 w 290285"/>
              <a:gd name="connsiteY0" fmla="*/ 0 h 2162629"/>
              <a:gd name="connsiteX1" fmla="*/ 134256 w 290285"/>
              <a:gd name="connsiteY1" fmla="*/ 257629 h 2162629"/>
              <a:gd name="connsiteX2" fmla="*/ 195943 w 290285"/>
              <a:gd name="connsiteY2" fmla="*/ 609600 h 2162629"/>
              <a:gd name="connsiteX3" fmla="*/ 243114 w 290285"/>
              <a:gd name="connsiteY3" fmla="*/ 1023258 h 2162629"/>
              <a:gd name="connsiteX4" fmla="*/ 268513 w 290285"/>
              <a:gd name="connsiteY4" fmla="*/ 1709058 h 2162629"/>
              <a:gd name="connsiteX5" fmla="*/ 290285 w 290285"/>
              <a:gd name="connsiteY5" fmla="*/ 2162629 h 2162629"/>
              <a:gd name="connsiteX0" fmla="*/ 0 w 290285"/>
              <a:gd name="connsiteY0" fmla="*/ 0 h 2162629"/>
              <a:gd name="connsiteX1" fmla="*/ 134256 w 290285"/>
              <a:gd name="connsiteY1" fmla="*/ 257629 h 2162629"/>
              <a:gd name="connsiteX2" fmla="*/ 194038 w 290285"/>
              <a:gd name="connsiteY2" fmla="*/ 609600 h 2162629"/>
              <a:gd name="connsiteX3" fmla="*/ 243114 w 290285"/>
              <a:gd name="connsiteY3" fmla="*/ 1023258 h 2162629"/>
              <a:gd name="connsiteX4" fmla="*/ 268513 w 290285"/>
              <a:gd name="connsiteY4" fmla="*/ 1709058 h 2162629"/>
              <a:gd name="connsiteX5" fmla="*/ 290285 w 290285"/>
              <a:gd name="connsiteY5" fmla="*/ 2162629 h 2162629"/>
              <a:gd name="connsiteX0" fmla="*/ 0 w 290285"/>
              <a:gd name="connsiteY0" fmla="*/ 0 h 2162629"/>
              <a:gd name="connsiteX1" fmla="*/ 128541 w 290285"/>
              <a:gd name="connsiteY1" fmla="*/ 261439 h 2162629"/>
              <a:gd name="connsiteX2" fmla="*/ 194038 w 290285"/>
              <a:gd name="connsiteY2" fmla="*/ 609600 h 2162629"/>
              <a:gd name="connsiteX3" fmla="*/ 243114 w 290285"/>
              <a:gd name="connsiteY3" fmla="*/ 1023258 h 2162629"/>
              <a:gd name="connsiteX4" fmla="*/ 268513 w 290285"/>
              <a:gd name="connsiteY4" fmla="*/ 1709058 h 2162629"/>
              <a:gd name="connsiteX5" fmla="*/ 290285 w 290285"/>
              <a:gd name="connsiteY5" fmla="*/ 2162629 h 2162629"/>
              <a:gd name="connsiteX0" fmla="*/ 0 w 273140"/>
              <a:gd name="connsiteY0" fmla="*/ 0 h 2158819"/>
              <a:gd name="connsiteX1" fmla="*/ 111396 w 273140"/>
              <a:gd name="connsiteY1" fmla="*/ 257629 h 2158819"/>
              <a:gd name="connsiteX2" fmla="*/ 176893 w 273140"/>
              <a:gd name="connsiteY2" fmla="*/ 605790 h 2158819"/>
              <a:gd name="connsiteX3" fmla="*/ 225969 w 273140"/>
              <a:gd name="connsiteY3" fmla="*/ 1019448 h 2158819"/>
              <a:gd name="connsiteX4" fmla="*/ 251368 w 273140"/>
              <a:gd name="connsiteY4" fmla="*/ 1705248 h 2158819"/>
              <a:gd name="connsiteX5" fmla="*/ 273140 w 273140"/>
              <a:gd name="connsiteY5" fmla="*/ 2158819 h 2158819"/>
              <a:gd name="connsiteX0" fmla="*/ 0 w 273140"/>
              <a:gd name="connsiteY0" fmla="*/ 0 h 2158819"/>
              <a:gd name="connsiteX1" fmla="*/ 111396 w 273140"/>
              <a:gd name="connsiteY1" fmla="*/ 257629 h 2158819"/>
              <a:gd name="connsiteX2" fmla="*/ 176893 w 273140"/>
              <a:gd name="connsiteY2" fmla="*/ 605790 h 2158819"/>
              <a:gd name="connsiteX3" fmla="*/ 225969 w 273140"/>
              <a:gd name="connsiteY3" fmla="*/ 1019448 h 2158819"/>
              <a:gd name="connsiteX4" fmla="*/ 251368 w 273140"/>
              <a:gd name="connsiteY4" fmla="*/ 1705248 h 2158819"/>
              <a:gd name="connsiteX5" fmla="*/ 273140 w 273140"/>
              <a:gd name="connsiteY5" fmla="*/ 2158819 h 2158819"/>
              <a:gd name="connsiteX0" fmla="*/ 0 w 265520"/>
              <a:gd name="connsiteY0" fmla="*/ 0 h 2155009"/>
              <a:gd name="connsiteX1" fmla="*/ 103776 w 265520"/>
              <a:gd name="connsiteY1" fmla="*/ 253819 h 2155009"/>
              <a:gd name="connsiteX2" fmla="*/ 169273 w 265520"/>
              <a:gd name="connsiteY2" fmla="*/ 601980 h 2155009"/>
              <a:gd name="connsiteX3" fmla="*/ 218349 w 265520"/>
              <a:gd name="connsiteY3" fmla="*/ 1015638 h 2155009"/>
              <a:gd name="connsiteX4" fmla="*/ 243748 w 265520"/>
              <a:gd name="connsiteY4" fmla="*/ 1701438 h 2155009"/>
              <a:gd name="connsiteX5" fmla="*/ 265520 w 265520"/>
              <a:gd name="connsiteY5" fmla="*/ 2155009 h 2155009"/>
              <a:gd name="connsiteX0" fmla="*/ 0 w 265520"/>
              <a:gd name="connsiteY0" fmla="*/ 0 h 2155009"/>
              <a:gd name="connsiteX1" fmla="*/ 103776 w 265520"/>
              <a:gd name="connsiteY1" fmla="*/ 253819 h 2155009"/>
              <a:gd name="connsiteX2" fmla="*/ 169273 w 265520"/>
              <a:gd name="connsiteY2" fmla="*/ 601980 h 2155009"/>
              <a:gd name="connsiteX3" fmla="*/ 218349 w 265520"/>
              <a:gd name="connsiteY3" fmla="*/ 1015638 h 2155009"/>
              <a:gd name="connsiteX4" fmla="*/ 243748 w 265520"/>
              <a:gd name="connsiteY4" fmla="*/ 1701438 h 2155009"/>
              <a:gd name="connsiteX5" fmla="*/ 265520 w 265520"/>
              <a:gd name="connsiteY5" fmla="*/ 2155009 h 2155009"/>
              <a:gd name="connsiteX0" fmla="*/ 0 w 265520"/>
              <a:gd name="connsiteY0" fmla="*/ 0 h 2155009"/>
              <a:gd name="connsiteX1" fmla="*/ 103776 w 265520"/>
              <a:gd name="connsiteY1" fmla="*/ 253819 h 2155009"/>
              <a:gd name="connsiteX2" fmla="*/ 194038 w 265520"/>
              <a:gd name="connsiteY2" fmla="*/ 664845 h 2155009"/>
              <a:gd name="connsiteX3" fmla="*/ 218349 w 265520"/>
              <a:gd name="connsiteY3" fmla="*/ 1015638 h 2155009"/>
              <a:gd name="connsiteX4" fmla="*/ 243748 w 265520"/>
              <a:gd name="connsiteY4" fmla="*/ 1701438 h 2155009"/>
              <a:gd name="connsiteX5" fmla="*/ 265520 w 265520"/>
              <a:gd name="connsiteY5" fmla="*/ 2155009 h 2155009"/>
              <a:gd name="connsiteX0" fmla="*/ 0 w 265520"/>
              <a:gd name="connsiteY0" fmla="*/ 0 h 2155009"/>
              <a:gd name="connsiteX1" fmla="*/ 103776 w 265520"/>
              <a:gd name="connsiteY1" fmla="*/ 253819 h 2155009"/>
              <a:gd name="connsiteX2" fmla="*/ 184513 w 265520"/>
              <a:gd name="connsiteY2" fmla="*/ 672465 h 2155009"/>
              <a:gd name="connsiteX3" fmla="*/ 218349 w 265520"/>
              <a:gd name="connsiteY3" fmla="*/ 1015638 h 2155009"/>
              <a:gd name="connsiteX4" fmla="*/ 243748 w 265520"/>
              <a:gd name="connsiteY4" fmla="*/ 1701438 h 2155009"/>
              <a:gd name="connsiteX5" fmla="*/ 265520 w 265520"/>
              <a:gd name="connsiteY5" fmla="*/ 2155009 h 2155009"/>
              <a:gd name="connsiteX0" fmla="*/ 0 w 265520"/>
              <a:gd name="connsiteY0" fmla="*/ 0 h 2155009"/>
              <a:gd name="connsiteX1" fmla="*/ 103776 w 265520"/>
              <a:gd name="connsiteY1" fmla="*/ 253819 h 2155009"/>
              <a:gd name="connsiteX2" fmla="*/ 184513 w 265520"/>
              <a:gd name="connsiteY2" fmla="*/ 672465 h 2155009"/>
              <a:gd name="connsiteX3" fmla="*/ 203109 w 265520"/>
              <a:gd name="connsiteY3" fmla="*/ 1019448 h 2155009"/>
              <a:gd name="connsiteX4" fmla="*/ 243748 w 265520"/>
              <a:gd name="connsiteY4" fmla="*/ 1701438 h 2155009"/>
              <a:gd name="connsiteX5" fmla="*/ 265520 w 265520"/>
              <a:gd name="connsiteY5" fmla="*/ 2155009 h 2155009"/>
              <a:gd name="connsiteX0" fmla="*/ 0 w 265520"/>
              <a:gd name="connsiteY0" fmla="*/ 0 h 2155009"/>
              <a:gd name="connsiteX1" fmla="*/ 103776 w 265520"/>
              <a:gd name="connsiteY1" fmla="*/ 253819 h 2155009"/>
              <a:gd name="connsiteX2" fmla="*/ 184513 w 265520"/>
              <a:gd name="connsiteY2" fmla="*/ 672465 h 2155009"/>
              <a:gd name="connsiteX3" fmla="*/ 218349 w 265520"/>
              <a:gd name="connsiteY3" fmla="*/ 1028973 h 2155009"/>
              <a:gd name="connsiteX4" fmla="*/ 243748 w 265520"/>
              <a:gd name="connsiteY4" fmla="*/ 1701438 h 2155009"/>
              <a:gd name="connsiteX5" fmla="*/ 265520 w 265520"/>
              <a:gd name="connsiteY5" fmla="*/ 2155009 h 2155009"/>
              <a:gd name="connsiteX0" fmla="*/ 0 w 265520"/>
              <a:gd name="connsiteY0" fmla="*/ 0 h 2155009"/>
              <a:gd name="connsiteX1" fmla="*/ 103776 w 265520"/>
              <a:gd name="connsiteY1" fmla="*/ 253819 h 2155009"/>
              <a:gd name="connsiteX2" fmla="*/ 184513 w 265520"/>
              <a:gd name="connsiteY2" fmla="*/ 672465 h 2155009"/>
              <a:gd name="connsiteX3" fmla="*/ 214539 w 265520"/>
              <a:gd name="connsiteY3" fmla="*/ 1030878 h 2155009"/>
              <a:gd name="connsiteX4" fmla="*/ 243748 w 265520"/>
              <a:gd name="connsiteY4" fmla="*/ 1701438 h 2155009"/>
              <a:gd name="connsiteX5" fmla="*/ 265520 w 265520"/>
              <a:gd name="connsiteY5" fmla="*/ 2155009 h 2155009"/>
              <a:gd name="connsiteX0" fmla="*/ 0 w 265520"/>
              <a:gd name="connsiteY0" fmla="*/ 0 h 2155009"/>
              <a:gd name="connsiteX1" fmla="*/ 103776 w 265520"/>
              <a:gd name="connsiteY1" fmla="*/ 253819 h 2155009"/>
              <a:gd name="connsiteX2" fmla="*/ 188323 w 265520"/>
              <a:gd name="connsiteY2" fmla="*/ 672465 h 2155009"/>
              <a:gd name="connsiteX3" fmla="*/ 214539 w 265520"/>
              <a:gd name="connsiteY3" fmla="*/ 1030878 h 2155009"/>
              <a:gd name="connsiteX4" fmla="*/ 243748 w 265520"/>
              <a:gd name="connsiteY4" fmla="*/ 1701438 h 2155009"/>
              <a:gd name="connsiteX5" fmla="*/ 265520 w 265520"/>
              <a:gd name="connsiteY5" fmla="*/ 2155009 h 2155009"/>
              <a:gd name="connsiteX0" fmla="*/ 0 w 265520"/>
              <a:gd name="connsiteY0" fmla="*/ 0 h 2155009"/>
              <a:gd name="connsiteX1" fmla="*/ 103776 w 265520"/>
              <a:gd name="connsiteY1" fmla="*/ 253819 h 2155009"/>
              <a:gd name="connsiteX2" fmla="*/ 156946 w 265520"/>
              <a:gd name="connsiteY2" fmla="*/ 493966 h 2155009"/>
              <a:gd name="connsiteX3" fmla="*/ 188323 w 265520"/>
              <a:gd name="connsiteY3" fmla="*/ 672465 h 2155009"/>
              <a:gd name="connsiteX4" fmla="*/ 214539 w 265520"/>
              <a:gd name="connsiteY4" fmla="*/ 1030878 h 2155009"/>
              <a:gd name="connsiteX5" fmla="*/ 243748 w 265520"/>
              <a:gd name="connsiteY5" fmla="*/ 1701438 h 2155009"/>
              <a:gd name="connsiteX6" fmla="*/ 265520 w 265520"/>
              <a:gd name="connsiteY6" fmla="*/ 2155009 h 2155009"/>
              <a:gd name="connsiteX0" fmla="*/ 0 w 265520"/>
              <a:gd name="connsiteY0" fmla="*/ 0 h 2155009"/>
              <a:gd name="connsiteX1" fmla="*/ 109491 w 265520"/>
              <a:gd name="connsiteY1" fmla="*/ 253819 h 2155009"/>
              <a:gd name="connsiteX2" fmla="*/ 156946 w 265520"/>
              <a:gd name="connsiteY2" fmla="*/ 493966 h 2155009"/>
              <a:gd name="connsiteX3" fmla="*/ 188323 w 265520"/>
              <a:gd name="connsiteY3" fmla="*/ 672465 h 2155009"/>
              <a:gd name="connsiteX4" fmla="*/ 214539 w 265520"/>
              <a:gd name="connsiteY4" fmla="*/ 1030878 h 2155009"/>
              <a:gd name="connsiteX5" fmla="*/ 243748 w 265520"/>
              <a:gd name="connsiteY5" fmla="*/ 1701438 h 2155009"/>
              <a:gd name="connsiteX6" fmla="*/ 265520 w 265520"/>
              <a:gd name="connsiteY6" fmla="*/ 2155009 h 2155009"/>
              <a:gd name="connsiteX0" fmla="*/ 0 w 265520"/>
              <a:gd name="connsiteY0" fmla="*/ 0 h 2155009"/>
              <a:gd name="connsiteX1" fmla="*/ 105681 w 265520"/>
              <a:gd name="connsiteY1" fmla="*/ 253819 h 2155009"/>
              <a:gd name="connsiteX2" fmla="*/ 156946 w 265520"/>
              <a:gd name="connsiteY2" fmla="*/ 493966 h 2155009"/>
              <a:gd name="connsiteX3" fmla="*/ 188323 w 265520"/>
              <a:gd name="connsiteY3" fmla="*/ 672465 h 2155009"/>
              <a:gd name="connsiteX4" fmla="*/ 214539 w 265520"/>
              <a:gd name="connsiteY4" fmla="*/ 1030878 h 2155009"/>
              <a:gd name="connsiteX5" fmla="*/ 243748 w 265520"/>
              <a:gd name="connsiteY5" fmla="*/ 1701438 h 2155009"/>
              <a:gd name="connsiteX6" fmla="*/ 265520 w 265520"/>
              <a:gd name="connsiteY6" fmla="*/ 2155009 h 2155009"/>
              <a:gd name="connsiteX0" fmla="*/ 0 w 265520"/>
              <a:gd name="connsiteY0" fmla="*/ 0 h 2155009"/>
              <a:gd name="connsiteX1" fmla="*/ 105681 w 265520"/>
              <a:gd name="connsiteY1" fmla="*/ 253819 h 2155009"/>
              <a:gd name="connsiteX2" fmla="*/ 156946 w 265520"/>
              <a:gd name="connsiteY2" fmla="*/ 493966 h 2155009"/>
              <a:gd name="connsiteX3" fmla="*/ 188323 w 265520"/>
              <a:gd name="connsiteY3" fmla="*/ 672465 h 2155009"/>
              <a:gd name="connsiteX4" fmla="*/ 214539 w 265520"/>
              <a:gd name="connsiteY4" fmla="*/ 1030878 h 2155009"/>
              <a:gd name="connsiteX5" fmla="*/ 243748 w 265520"/>
              <a:gd name="connsiteY5" fmla="*/ 1701438 h 2155009"/>
              <a:gd name="connsiteX6" fmla="*/ 265520 w 265520"/>
              <a:gd name="connsiteY6" fmla="*/ 2155009 h 2155009"/>
              <a:gd name="connsiteX0" fmla="*/ 0 w 265520"/>
              <a:gd name="connsiteY0" fmla="*/ 0 h 2155009"/>
              <a:gd name="connsiteX1" fmla="*/ 105681 w 265520"/>
              <a:gd name="connsiteY1" fmla="*/ 253819 h 2155009"/>
              <a:gd name="connsiteX2" fmla="*/ 156946 w 265520"/>
              <a:gd name="connsiteY2" fmla="*/ 493966 h 2155009"/>
              <a:gd name="connsiteX3" fmla="*/ 188323 w 265520"/>
              <a:gd name="connsiteY3" fmla="*/ 672465 h 2155009"/>
              <a:gd name="connsiteX4" fmla="*/ 210729 w 265520"/>
              <a:gd name="connsiteY4" fmla="*/ 1030878 h 2155009"/>
              <a:gd name="connsiteX5" fmla="*/ 243748 w 265520"/>
              <a:gd name="connsiteY5" fmla="*/ 1701438 h 2155009"/>
              <a:gd name="connsiteX6" fmla="*/ 265520 w 265520"/>
              <a:gd name="connsiteY6" fmla="*/ 2155009 h 2155009"/>
              <a:gd name="connsiteX0" fmla="*/ 0 w 265520"/>
              <a:gd name="connsiteY0" fmla="*/ 0 h 2155009"/>
              <a:gd name="connsiteX1" fmla="*/ 105681 w 265520"/>
              <a:gd name="connsiteY1" fmla="*/ 253819 h 2155009"/>
              <a:gd name="connsiteX2" fmla="*/ 156946 w 265520"/>
              <a:gd name="connsiteY2" fmla="*/ 493966 h 2155009"/>
              <a:gd name="connsiteX3" fmla="*/ 188323 w 265520"/>
              <a:gd name="connsiteY3" fmla="*/ 672465 h 2155009"/>
              <a:gd name="connsiteX4" fmla="*/ 210729 w 265520"/>
              <a:gd name="connsiteY4" fmla="*/ 1030878 h 2155009"/>
              <a:gd name="connsiteX5" fmla="*/ 238861 w 265520"/>
              <a:gd name="connsiteY5" fmla="*/ 1425511 h 2155009"/>
              <a:gd name="connsiteX6" fmla="*/ 243748 w 265520"/>
              <a:gd name="connsiteY6" fmla="*/ 1701438 h 2155009"/>
              <a:gd name="connsiteX7" fmla="*/ 265520 w 265520"/>
              <a:gd name="connsiteY7" fmla="*/ 2155009 h 2155009"/>
              <a:gd name="connsiteX0" fmla="*/ 0 w 265520"/>
              <a:gd name="connsiteY0" fmla="*/ 0 h 2155009"/>
              <a:gd name="connsiteX1" fmla="*/ 105681 w 265520"/>
              <a:gd name="connsiteY1" fmla="*/ 253819 h 2155009"/>
              <a:gd name="connsiteX2" fmla="*/ 156946 w 265520"/>
              <a:gd name="connsiteY2" fmla="*/ 493966 h 2155009"/>
              <a:gd name="connsiteX3" fmla="*/ 188323 w 265520"/>
              <a:gd name="connsiteY3" fmla="*/ 672465 h 2155009"/>
              <a:gd name="connsiteX4" fmla="*/ 210729 w 265520"/>
              <a:gd name="connsiteY4" fmla="*/ 1030878 h 2155009"/>
              <a:gd name="connsiteX5" fmla="*/ 233146 w 265520"/>
              <a:gd name="connsiteY5" fmla="*/ 1425511 h 2155009"/>
              <a:gd name="connsiteX6" fmla="*/ 243748 w 265520"/>
              <a:gd name="connsiteY6" fmla="*/ 1701438 h 2155009"/>
              <a:gd name="connsiteX7" fmla="*/ 265520 w 265520"/>
              <a:gd name="connsiteY7" fmla="*/ 2155009 h 2155009"/>
              <a:gd name="connsiteX0" fmla="*/ 0 w 265520"/>
              <a:gd name="connsiteY0" fmla="*/ 0 h 2155009"/>
              <a:gd name="connsiteX1" fmla="*/ 105681 w 265520"/>
              <a:gd name="connsiteY1" fmla="*/ 253819 h 2155009"/>
              <a:gd name="connsiteX2" fmla="*/ 156946 w 265520"/>
              <a:gd name="connsiteY2" fmla="*/ 493966 h 2155009"/>
              <a:gd name="connsiteX3" fmla="*/ 188323 w 265520"/>
              <a:gd name="connsiteY3" fmla="*/ 672465 h 2155009"/>
              <a:gd name="connsiteX4" fmla="*/ 210729 w 265520"/>
              <a:gd name="connsiteY4" fmla="*/ 1030878 h 2155009"/>
              <a:gd name="connsiteX5" fmla="*/ 231241 w 265520"/>
              <a:gd name="connsiteY5" fmla="*/ 1295971 h 2155009"/>
              <a:gd name="connsiteX6" fmla="*/ 243748 w 265520"/>
              <a:gd name="connsiteY6" fmla="*/ 1701438 h 2155009"/>
              <a:gd name="connsiteX7" fmla="*/ 265520 w 265520"/>
              <a:gd name="connsiteY7" fmla="*/ 2155009 h 2155009"/>
              <a:gd name="connsiteX0" fmla="*/ 0 w 265520"/>
              <a:gd name="connsiteY0" fmla="*/ 0 h 2155009"/>
              <a:gd name="connsiteX1" fmla="*/ 105681 w 265520"/>
              <a:gd name="connsiteY1" fmla="*/ 253819 h 2155009"/>
              <a:gd name="connsiteX2" fmla="*/ 156946 w 265520"/>
              <a:gd name="connsiteY2" fmla="*/ 493966 h 2155009"/>
              <a:gd name="connsiteX3" fmla="*/ 188323 w 265520"/>
              <a:gd name="connsiteY3" fmla="*/ 672465 h 2155009"/>
              <a:gd name="connsiteX4" fmla="*/ 210729 w 265520"/>
              <a:gd name="connsiteY4" fmla="*/ 1030878 h 2155009"/>
              <a:gd name="connsiteX5" fmla="*/ 227431 w 265520"/>
              <a:gd name="connsiteY5" fmla="*/ 1295971 h 2155009"/>
              <a:gd name="connsiteX6" fmla="*/ 243748 w 265520"/>
              <a:gd name="connsiteY6" fmla="*/ 1701438 h 2155009"/>
              <a:gd name="connsiteX7" fmla="*/ 265520 w 265520"/>
              <a:gd name="connsiteY7" fmla="*/ 2155009 h 2155009"/>
              <a:gd name="connsiteX0" fmla="*/ 0 w 265520"/>
              <a:gd name="connsiteY0" fmla="*/ 0 h 2155009"/>
              <a:gd name="connsiteX1" fmla="*/ 105681 w 265520"/>
              <a:gd name="connsiteY1" fmla="*/ 253819 h 2155009"/>
              <a:gd name="connsiteX2" fmla="*/ 156946 w 265520"/>
              <a:gd name="connsiteY2" fmla="*/ 493966 h 2155009"/>
              <a:gd name="connsiteX3" fmla="*/ 188323 w 265520"/>
              <a:gd name="connsiteY3" fmla="*/ 672465 h 2155009"/>
              <a:gd name="connsiteX4" fmla="*/ 210729 w 265520"/>
              <a:gd name="connsiteY4" fmla="*/ 1030878 h 2155009"/>
              <a:gd name="connsiteX5" fmla="*/ 227431 w 265520"/>
              <a:gd name="connsiteY5" fmla="*/ 1295971 h 2155009"/>
              <a:gd name="connsiteX6" fmla="*/ 249463 w 265520"/>
              <a:gd name="connsiteY6" fmla="*/ 1556658 h 2155009"/>
              <a:gd name="connsiteX7" fmla="*/ 265520 w 265520"/>
              <a:gd name="connsiteY7" fmla="*/ 2155009 h 2155009"/>
              <a:gd name="connsiteX0" fmla="*/ 0 w 265520"/>
              <a:gd name="connsiteY0" fmla="*/ 0 h 2155009"/>
              <a:gd name="connsiteX1" fmla="*/ 105681 w 265520"/>
              <a:gd name="connsiteY1" fmla="*/ 253819 h 2155009"/>
              <a:gd name="connsiteX2" fmla="*/ 156946 w 265520"/>
              <a:gd name="connsiteY2" fmla="*/ 493966 h 2155009"/>
              <a:gd name="connsiteX3" fmla="*/ 188323 w 265520"/>
              <a:gd name="connsiteY3" fmla="*/ 672465 h 2155009"/>
              <a:gd name="connsiteX4" fmla="*/ 210729 w 265520"/>
              <a:gd name="connsiteY4" fmla="*/ 1030878 h 2155009"/>
              <a:gd name="connsiteX5" fmla="*/ 227431 w 265520"/>
              <a:gd name="connsiteY5" fmla="*/ 1295971 h 2155009"/>
              <a:gd name="connsiteX6" fmla="*/ 241843 w 265520"/>
              <a:gd name="connsiteY6" fmla="*/ 1554753 h 2155009"/>
              <a:gd name="connsiteX7" fmla="*/ 265520 w 265520"/>
              <a:gd name="connsiteY7" fmla="*/ 2155009 h 2155009"/>
              <a:gd name="connsiteX0" fmla="*/ 0 w 255995"/>
              <a:gd name="connsiteY0" fmla="*/ 0 h 2155009"/>
              <a:gd name="connsiteX1" fmla="*/ 105681 w 255995"/>
              <a:gd name="connsiteY1" fmla="*/ 253819 h 2155009"/>
              <a:gd name="connsiteX2" fmla="*/ 156946 w 255995"/>
              <a:gd name="connsiteY2" fmla="*/ 493966 h 2155009"/>
              <a:gd name="connsiteX3" fmla="*/ 188323 w 255995"/>
              <a:gd name="connsiteY3" fmla="*/ 672465 h 2155009"/>
              <a:gd name="connsiteX4" fmla="*/ 210729 w 255995"/>
              <a:gd name="connsiteY4" fmla="*/ 1030878 h 2155009"/>
              <a:gd name="connsiteX5" fmla="*/ 227431 w 255995"/>
              <a:gd name="connsiteY5" fmla="*/ 1295971 h 2155009"/>
              <a:gd name="connsiteX6" fmla="*/ 241843 w 255995"/>
              <a:gd name="connsiteY6" fmla="*/ 1554753 h 2155009"/>
              <a:gd name="connsiteX7" fmla="*/ 255995 w 255995"/>
              <a:gd name="connsiteY7" fmla="*/ 2155009 h 2155009"/>
              <a:gd name="connsiteX0" fmla="*/ 0 w 256018"/>
              <a:gd name="connsiteY0" fmla="*/ 0 h 2155009"/>
              <a:gd name="connsiteX1" fmla="*/ 105681 w 256018"/>
              <a:gd name="connsiteY1" fmla="*/ 253819 h 2155009"/>
              <a:gd name="connsiteX2" fmla="*/ 156946 w 256018"/>
              <a:gd name="connsiteY2" fmla="*/ 493966 h 2155009"/>
              <a:gd name="connsiteX3" fmla="*/ 188323 w 256018"/>
              <a:gd name="connsiteY3" fmla="*/ 672465 h 2155009"/>
              <a:gd name="connsiteX4" fmla="*/ 210729 w 256018"/>
              <a:gd name="connsiteY4" fmla="*/ 1030878 h 2155009"/>
              <a:gd name="connsiteX5" fmla="*/ 227431 w 256018"/>
              <a:gd name="connsiteY5" fmla="*/ 1295971 h 2155009"/>
              <a:gd name="connsiteX6" fmla="*/ 241843 w 256018"/>
              <a:gd name="connsiteY6" fmla="*/ 1554753 h 2155009"/>
              <a:gd name="connsiteX7" fmla="*/ 255995 w 256018"/>
              <a:gd name="connsiteY7" fmla="*/ 2155009 h 2155009"/>
              <a:gd name="connsiteX0" fmla="*/ 0 w 255995"/>
              <a:gd name="connsiteY0" fmla="*/ 0 h 2155009"/>
              <a:gd name="connsiteX1" fmla="*/ 105681 w 255995"/>
              <a:gd name="connsiteY1" fmla="*/ 253819 h 2155009"/>
              <a:gd name="connsiteX2" fmla="*/ 156946 w 255995"/>
              <a:gd name="connsiteY2" fmla="*/ 493966 h 2155009"/>
              <a:gd name="connsiteX3" fmla="*/ 188323 w 255995"/>
              <a:gd name="connsiteY3" fmla="*/ 672465 h 2155009"/>
              <a:gd name="connsiteX4" fmla="*/ 210729 w 255995"/>
              <a:gd name="connsiteY4" fmla="*/ 1030878 h 2155009"/>
              <a:gd name="connsiteX5" fmla="*/ 227431 w 255995"/>
              <a:gd name="connsiteY5" fmla="*/ 1295971 h 2155009"/>
              <a:gd name="connsiteX6" fmla="*/ 241843 w 255995"/>
              <a:gd name="connsiteY6" fmla="*/ 1554753 h 2155009"/>
              <a:gd name="connsiteX7" fmla="*/ 255995 w 255995"/>
              <a:gd name="connsiteY7" fmla="*/ 2155009 h 2155009"/>
              <a:gd name="connsiteX0" fmla="*/ 0 w 248375"/>
              <a:gd name="connsiteY0" fmla="*/ 0 h 2155009"/>
              <a:gd name="connsiteX1" fmla="*/ 105681 w 248375"/>
              <a:gd name="connsiteY1" fmla="*/ 253819 h 2155009"/>
              <a:gd name="connsiteX2" fmla="*/ 156946 w 248375"/>
              <a:gd name="connsiteY2" fmla="*/ 493966 h 2155009"/>
              <a:gd name="connsiteX3" fmla="*/ 188323 w 248375"/>
              <a:gd name="connsiteY3" fmla="*/ 672465 h 2155009"/>
              <a:gd name="connsiteX4" fmla="*/ 210729 w 248375"/>
              <a:gd name="connsiteY4" fmla="*/ 1030878 h 2155009"/>
              <a:gd name="connsiteX5" fmla="*/ 227431 w 248375"/>
              <a:gd name="connsiteY5" fmla="*/ 1295971 h 2155009"/>
              <a:gd name="connsiteX6" fmla="*/ 241843 w 248375"/>
              <a:gd name="connsiteY6" fmla="*/ 1554753 h 2155009"/>
              <a:gd name="connsiteX7" fmla="*/ 248375 w 248375"/>
              <a:gd name="connsiteY7" fmla="*/ 2155009 h 2155009"/>
              <a:gd name="connsiteX0" fmla="*/ 0 w 248435"/>
              <a:gd name="connsiteY0" fmla="*/ 0 h 2155009"/>
              <a:gd name="connsiteX1" fmla="*/ 105681 w 248435"/>
              <a:gd name="connsiteY1" fmla="*/ 253819 h 2155009"/>
              <a:gd name="connsiteX2" fmla="*/ 156946 w 248435"/>
              <a:gd name="connsiteY2" fmla="*/ 493966 h 2155009"/>
              <a:gd name="connsiteX3" fmla="*/ 188323 w 248435"/>
              <a:gd name="connsiteY3" fmla="*/ 672465 h 2155009"/>
              <a:gd name="connsiteX4" fmla="*/ 210729 w 248435"/>
              <a:gd name="connsiteY4" fmla="*/ 1030878 h 2155009"/>
              <a:gd name="connsiteX5" fmla="*/ 227431 w 248435"/>
              <a:gd name="connsiteY5" fmla="*/ 1295971 h 2155009"/>
              <a:gd name="connsiteX6" fmla="*/ 241843 w 248435"/>
              <a:gd name="connsiteY6" fmla="*/ 1554753 h 2155009"/>
              <a:gd name="connsiteX7" fmla="*/ 248375 w 248435"/>
              <a:gd name="connsiteY7" fmla="*/ 2155009 h 2155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435" h="2155009">
                <a:moveTo>
                  <a:pt x="0" y="0"/>
                </a:moveTo>
                <a:cubicBezTo>
                  <a:pt x="51405" y="72873"/>
                  <a:pt x="79523" y="171491"/>
                  <a:pt x="105681" y="253819"/>
                </a:cubicBezTo>
                <a:cubicBezTo>
                  <a:pt x="131839" y="336147"/>
                  <a:pt x="142855" y="424192"/>
                  <a:pt x="156946" y="493966"/>
                </a:cubicBezTo>
                <a:cubicBezTo>
                  <a:pt x="171037" y="563740"/>
                  <a:pt x="179359" y="582980"/>
                  <a:pt x="188323" y="672465"/>
                </a:cubicBezTo>
                <a:cubicBezTo>
                  <a:pt x="197287" y="761950"/>
                  <a:pt x="204211" y="926960"/>
                  <a:pt x="210729" y="1030878"/>
                </a:cubicBezTo>
                <a:cubicBezTo>
                  <a:pt x="217247" y="1134796"/>
                  <a:pt x="221928" y="1184211"/>
                  <a:pt x="227431" y="1295971"/>
                </a:cubicBezTo>
                <a:cubicBezTo>
                  <a:pt x="232934" y="1407731"/>
                  <a:pt x="238352" y="1411580"/>
                  <a:pt x="241843" y="1554753"/>
                </a:cubicBezTo>
                <a:cubicBezTo>
                  <a:pt x="245334" y="1697926"/>
                  <a:pt x="248949" y="1924474"/>
                  <a:pt x="248375" y="2155009"/>
                </a:cubicBezTo>
              </a:path>
            </a:pathLst>
          </a:cu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6" name="椭圆 65"/>
          <p:cNvSpPr/>
          <p:nvPr/>
        </p:nvSpPr>
        <p:spPr bwMode="auto">
          <a:xfrm>
            <a:off x="2520733" y="2585956"/>
            <a:ext cx="77338" cy="77338"/>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215071921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inVertical)">
                                      <p:cBhvr>
                                        <p:cTn id="7" dur="500"/>
                                        <p:tgtEl>
                                          <p:spTgt spid="35"/>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barn(inVertical)">
                                      <p:cBhvr>
                                        <p:cTn id="11" dur="500"/>
                                        <p:tgtEl>
                                          <p:spTgt spid="36"/>
                                        </p:tgtEl>
                                      </p:cBhvr>
                                    </p:animEffect>
                                  </p:childTnLst>
                                </p:cTn>
                              </p:par>
                            </p:childTnLst>
                          </p:cTn>
                        </p:par>
                        <p:par>
                          <p:cTn id="12" fill="hold">
                            <p:stCondLst>
                              <p:cond delay="1000"/>
                            </p:stCondLst>
                            <p:childTnLst>
                              <p:par>
                                <p:cTn id="13" presetID="35" presetClass="emph" presetSubtype="0" repeatCount="indefinite" fill="hold" grpId="0" nodeType="afterEffect">
                                  <p:stCondLst>
                                    <p:cond delay="0"/>
                                  </p:stCondLst>
                                  <p:endCondLst>
                                    <p:cond evt="onNext" delay="0">
                                      <p:tgtEl>
                                        <p:sldTgt/>
                                      </p:tgtEl>
                                    </p:cond>
                                  </p:endCondLst>
                                  <p:childTnLst>
                                    <p:anim calcmode="discrete" valueType="str">
                                      <p:cBhvr>
                                        <p:cTn id="14"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6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13</a:t>
            </a:fld>
            <a:endParaRPr lang="zh-CN" altLang="en-US" dirty="0">
              <a:solidFill>
                <a:srgbClr val="C00000"/>
              </a:solidFill>
            </a:endParaRPr>
          </a:p>
        </p:txBody>
      </p:sp>
      <p:sp>
        <p:nvSpPr>
          <p:cNvPr id="8" name="Text Box 46"/>
          <p:cNvSpPr txBox="1">
            <a:spLocks noChangeArrowheads="1"/>
          </p:cNvSpPr>
          <p:nvPr/>
        </p:nvSpPr>
        <p:spPr bwMode="auto">
          <a:xfrm>
            <a:off x="384649" y="601804"/>
            <a:ext cx="46167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两个界限荷载</a:t>
            </a:r>
          </a:p>
        </p:txBody>
      </p:sp>
      <p:sp>
        <p:nvSpPr>
          <p:cNvPr id="56" name="Text Box 2"/>
          <p:cNvSpPr txBox="1">
            <a:spLocks noChangeArrowheads="1"/>
          </p:cNvSpPr>
          <p:nvPr/>
        </p:nvSpPr>
        <p:spPr bwMode="auto">
          <a:xfrm>
            <a:off x="2192867" y="5773566"/>
            <a:ext cx="537599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临塑荷载和极限承载力</a:t>
            </a:r>
          </a:p>
        </p:txBody>
      </p:sp>
      <p:sp>
        <p:nvSpPr>
          <p:cNvPr id="35" name="矩形 34"/>
          <p:cNvSpPr/>
          <p:nvPr/>
        </p:nvSpPr>
        <p:spPr>
          <a:xfrm>
            <a:off x="4093128" y="1256173"/>
            <a:ext cx="2239716" cy="517065"/>
          </a:xfrm>
          <a:prstGeom prst="rect">
            <a:avLst/>
          </a:prstGeom>
        </p:spPr>
        <p:txBody>
          <a:bodyPr wrap="none">
            <a:spAutoFit/>
          </a:bodyPr>
          <a:lstStyle/>
          <a:p>
            <a:r>
              <a:rPr lang="en-US" altLang="zh-CN" sz="2400" b="1" dirty="0">
                <a:solidFill>
                  <a:srgbClr val="000066"/>
                </a:solidFill>
                <a:ea typeface="幼圆" panose="02010509060101010101" pitchFamily="49" charset="-122"/>
                <a:cs typeface="Times New Roman" panose="02020603050405020304" pitchFamily="18" charset="0"/>
              </a:rPr>
              <a:t>1</a:t>
            </a:r>
            <a:r>
              <a:rPr lang="zh-CN" altLang="en-US" sz="2400" b="1" dirty="0">
                <a:solidFill>
                  <a:srgbClr val="000066"/>
                </a:solidFill>
                <a:ea typeface="幼圆" panose="02010509060101010101" pitchFamily="49" charset="-122"/>
                <a:cs typeface="Times New Roman" panose="02020603050405020304" pitchFamily="18" charset="0"/>
              </a:rPr>
              <a:t>）</a:t>
            </a:r>
            <a:r>
              <a:rPr lang="zh-CN" altLang="en-US" sz="2400" b="1" dirty="0">
                <a:solidFill>
                  <a:srgbClr val="C00000"/>
                </a:solidFill>
                <a:ea typeface="幼圆" panose="02010509060101010101" pitchFamily="49" charset="-122"/>
                <a:cs typeface="Times New Roman" panose="02020603050405020304" pitchFamily="18" charset="0"/>
              </a:rPr>
              <a:t>临塑荷载</a:t>
            </a:r>
            <a:r>
              <a:rPr lang="en-US" altLang="zh-CN" sz="2400" b="1" i="1" dirty="0" err="1">
                <a:solidFill>
                  <a:srgbClr val="C00000"/>
                </a:solidFill>
                <a:ea typeface="幼圆" panose="02010509060101010101" pitchFamily="49" charset="-122"/>
                <a:cs typeface="Times New Roman" panose="02020603050405020304" pitchFamily="18" charset="0"/>
              </a:rPr>
              <a:t>p</a:t>
            </a:r>
            <a:r>
              <a:rPr lang="en-US" altLang="zh-CN" sz="2400" b="1" baseline="-25000" dirty="0" err="1">
                <a:solidFill>
                  <a:srgbClr val="C00000"/>
                </a:solidFill>
                <a:ea typeface="幼圆" panose="02010509060101010101" pitchFamily="49" charset="-122"/>
                <a:cs typeface="Times New Roman" panose="02020603050405020304" pitchFamily="18" charset="0"/>
              </a:rPr>
              <a:t>cr</a:t>
            </a:r>
            <a:endParaRPr lang="zh-CN" altLang="en-US" sz="2400" b="1" dirty="0">
              <a:solidFill>
                <a:srgbClr val="000066"/>
              </a:solidFill>
              <a:ea typeface="幼圆" panose="02010509060101010101" pitchFamily="49" charset="-122"/>
              <a:cs typeface="Times New Roman" panose="02020603050405020304" pitchFamily="18" charset="0"/>
            </a:endParaRPr>
          </a:p>
        </p:txBody>
      </p:sp>
      <p:sp>
        <p:nvSpPr>
          <p:cNvPr id="39" name="矩形 38"/>
          <p:cNvSpPr/>
          <p:nvPr/>
        </p:nvSpPr>
        <p:spPr>
          <a:xfrm>
            <a:off x="4195236" y="1778579"/>
            <a:ext cx="4847165" cy="1159292"/>
          </a:xfrm>
          <a:prstGeom prst="rect">
            <a:avLst/>
          </a:prstGeom>
        </p:spPr>
        <p:txBody>
          <a:bodyPr wrap="square">
            <a:spAutoFit/>
          </a:bodyPr>
          <a:lstStyle/>
          <a:p>
            <a:pPr marL="177800" indent="-177800">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rPr>
              <a:t>从压密阶段进入局部剪损阶段</a:t>
            </a:r>
            <a:endParaRPr lang="en-US" altLang="zh-CN" sz="2000" b="1" dirty="0">
              <a:solidFill>
                <a:srgbClr val="000066"/>
              </a:solidFill>
              <a:ea typeface="幼圆" panose="02010509060101010101" pitchFamily="49" charset="-122"/>
              <a:cs typeface="Times New Roman" panose="02020603050405020304" pitchFamily="18" charset="0"/>
            </a:endParaRPr>
          </a:p>
          <a:p>
            <a:pPr marL="177800" indent="-177800">
              <a:lnSpc>
                <a:spcPct val="110000"/>
              </a:lnSpc>
              <a:spcBef>
                <a:spcPts val="100"/>
              </a:spcBef>
              <a:spcAft>
                <a:spcPts val="100"/>
              </a:spcAft>
              <a:buClr>
                <a:srgbClr val="C00000"/>
              </a:buClr>
              <a:buFont typeface="Arial" panose="020B0604020202020204" pitchFamily="34" charset="0"/>
              <a:buChar char="•"/>
            </a:pPr>
            <a:r>
              <a:rPr lang="en-US" altLang="zh-CN" sz="2000" b="1" dirty="0">
                <a:solidFill>
                  <a:srgbClr val="000066"/>
                </a:solidFill>
                <a:ea typeface="幼圆" panose="02010509060101010101" pitchFamily="49" charset="-122"/>
                <a:cs typeface="Times New Roman" panose="02020603050405020304" pitchFamily="18" charset="0"/>
              </a:rPr>
              <a:t>p&lt;</a:t>
            </a:r>
            <a:r>
              <a:rPr lang="en-US" altLang="zh-CN" sz="2000" b="1" i="1" dirty="0" err="1">
                <a:solidFill>
                  <a:srgbClr val="000066"/>
                </a:solidFill>
                <a:ea typeface="幼圆" panose="02010509060101010101" pitchFamily="49" charset="-122"/>
                <a:cs typeface="Times New Roman" panose="02020603050405020304" pitchFamily="18" charset="0"/>
              </a:rPr>
              <a:t>p</a:t>
            </a:r>
            <a:r>
              <a:rPr lang="en-US" altLang="zh-CN" sz="2000" b="1" baseline="-25000" dirty="0" err="1">
                <a:solidFill>
                  <a:srgbClr val="000066"/>
                </a:solidFill>
                <a:ea typeface="幼圆" panose="02010509060101010101" pitchFamily="49" charset="-122"/>
                <a:cs typeface="Times New Roman" panose="02020603050405020304" pitchFamily="18" charset="0"/>
              </a:rPr>
              <a:t>cr</a:t>
            </a:r>
            <a:r>
              <a:rPr lang="zh-CN" altLang="en-US" sz="2000" b="1" dirty="0">
                <a:solidFill>
                  <a:srgbClr val="000066"/>
                </a:solidFill>
                <a:ea typeface="幼圆" panose="02010509060101010101" pitchFamily="49" charset="-122"/>
                <a:cs typeface="Times New Roman" panose="02020603050405020304" pitchFamily="18" charset="0"/>
              </a:rPr>
              <a:t>，地基土不出现塑性破坏状态</a:t>
            </a:r>
            <a:endParaRPr lang="en-US" altLang="zh-CN" sz="2000" b="1" dirty="0">
              <a:solidFill>
                <a:srgbClr val="000066"/>
              </a:solidFill>
              <a:ea typeface="幼圆" panose="02010509060101010101" pitchFamily="49" charset="-122"/>
              <a:cs typeface="Times New Roman" panose="02020603050405020304" pitchFamily="18" charset="0"/>
            </a:endParaRPr>
          </a:p>
          <a:p>
            <a:pPr marL="177800" indent="-177800">
              <a:lnSpc>
                <a:spcPct val="110000"/>
              </a:lnSpc>
              <a:spcBef>
                <a:spcPts val="100"/>
              </a:spcBef>
              <a:spcAft>
                <a:spcPts val="100"/>
              </a:spcAft>
              <a:buClr>
                <a:srgbClr val="C00000"/>
              </a:buClr>
              <a:buFont typeface="Arial" panose="020B0604020202020204" pitchFamily="34" charset="0"/>
              <a:buChar char="•"/>
            </a:pPr>
            <a:r>
              <a:rPr lang="en-US" altLang="zh-CN" sz="2000" b="1" dirty="0">
                <a:solidFill>
                  <a:srgbClr val="000066"/>
                </a:solidFill>
                <a:ea typeface="幼圆" panose="02010509060101010101" pitchFamily="49" charset="-122"/>
                <a:cs typeface="Times New Roman" panose="02020603050405020304" pitchFamily="18" charset="0"/>
              </a:rPr>
              <a:t>P&gt;</a:t>
            </a:r>
            <a:r>
              <a:rPr lang="en-US" altLang="zh-CN" sz="2000" b="1" i="1" dirty="0" err="1">
                <a:solidFill>
                  <a:srgbClr val="000066"/>
                </a:solidFill>
                <a:ea typeface="幼圆" panose="02010509060101010101" pitchFamily="49" charset="-122"/>
                <a:cs typeface="Times New Roman" panose="02020603050405020304" pitchFamily="18" charset="0"/>
              </a:rPr>
              <a:t>p</a:t>
            </a:r>
            <a:r>
              <a:rPr lang="en-US" altLang="zh-CN" sz="2000" b="1" baseline="-25000" dirty="0" err="1">
                <a:solidFill>
                  <a:srgbClr val="000066"/>
                </a:solidFill>
                <a:ea typeface="幼圆" panose="02010509060101010101" pitchFamily="49" charset="-122"/>
                <a:cs typeface="Times New Roman" panose="02020603050405020304" pitchFamily="18" charset="0"/>
              </a:rPr>
              <a:t>cr</a:t>
            </a:r>
            <a:r>
              <a:rPr lang="zh-CN" altLang="en-US" sz="2000" b="1" dirty="0">
                <a:solidFill>
                  <a:srgbClr val="000066"/>
                </a:solidFill>
                <a:ea typeface="幼圆" panose="02010509060101010101" pitchFamily="49" charset="-122"/>
                <a:cs typeface="Times New Roman" panose="02020603050405020304" pitchFamily="18" charset="0"/>
              </a:rPr>
              <a:t>，地基土开始出现塑性破坏区</a:t>
            </a:r>
            <a:endParaRPr lang="zh-CN" altLang="en-US" sz="2000" b="1" dirty="0">
              <a:solidFill>
                <a:srgbClr val="C00000"/>
              </a:solidFill>
              <a:ea typeface="幼圆" panose="02010509060101010101" pitchFamily="49" charset="-122"/>
              <a:cs typeface="Times New Roman" panose="02020603050405020304" pitchFamily="18" charset="0"/>
            </a:endParaRPr>
          </a:p>
        </p:txBody>
      </p:sp>
      <p:sp>
        <p:nvSpPr>
          <p:cNvPr id="55" name="矩形 54"/>
          <p:cNvSpPr/>
          <p:nvPr/>
        </p:nvSpPr>
        <p:spPr>
          <a:xfrm>
            <a:off x="4084663" y="3068039"/>
            <a:ext cx="2170787" cy="517065"/>
          </a:xfrm>
          <a:prstGeom prst="rect">
            <a:avLst/>
          </a:prstGeom>
        </p:spPr>
        <p:txBody>
          <a:bodyPr wrap="none">
            <a:spAutoFit/>
          </a:bodyPr>
          <a:lstStyle/>
          <a:p>
            <a:r>
              <a:rPr lang="en-US" altLang="zh-CN" sz="2400" b="1" dirty="0">
                <a:solidFill>
                  <a:srgbClr val="000066"/>
                </a:solidFill>
                <a:ea typeface="幼圆" panose="02010509060101010101" pitchFamily="49" charset="-122"/>
                <a:cs typeface="Times New Roman" panose="02020603050405020304" pitchFamily="18" charset="0"/>
              </a:rPr>
              <a:t>2</a:t>
            </a:r>
            <a:r>
              <a:rPr lang="zh-CN" altLang="en-US" sz="2400" b="1" dirty="0">
                <a:solidFill>
                  <a:srgbClr val="000066"/>
                </a:solidFill>
                <a:ea typeface="幼圆" panose="02010509060101010101" pitchFamily="49" charset="-122"/>
                <a:cs typeface="Times New Roman" panose="02020603050405020304" pitchFamily="18" charset="0"/>
              </a:rPr>
              <a:t>）</a:t>
            </a:r>
            <a:r>
              <a:rPr lang="zh-CN" altLang="en-US" sz="2400" b="1" dirty="0">
                <a:solidFill>
                  <a:srgbClr val="C00000"/>
                </a:solidFill>
                <a:ea typeface="幼圆" panose="02010509060101010101" pitchFamily="49" charset="-122"/>
                <a:cs typeface="Times New Roman" panose="02020603050405020304" pitchFamily="18" charset="0"/>
              </a:rPr>
              <a:t>极限荷载</a:t>
            </a:r>
            <a:r>
              <a:rPr lang="en-US" altLang="zh-CN" sz="2400" b="1" i="1" dirty="0" err="1">
                <a:solidFill>
                  <a:srgbClr val="C00000"/>
                </a:solidFill>
                <a:ea typeface="幼圆" panose="02010509060101010101" pitchFamily="49" charset="-122"/>
                <a:cs typeface="Times New Roman" panose="02020603050405020304" pitchFamily="18" charset="0"/>
              </a:rPr>
              <a:t>p</a:t>
            </a:r>
            <a:r>
              <a:rPr lang="en-US" altLang="zh-CN" sz="2400" b="1" baseline="-25000" dirty="0" err="1">
                <a:solidFill>
                  <a:srgbClr val="C00000"/>
                </a:solidFill>
                <a:ea typeface="幼圆" panose="02010509060101010101" pitchFamily="49" charset="-122"/>
                <a:cs typeface="Times New Roman" panose="02020603050405020304" pitchFamily="18" charset="0"/>
              </a:rPr>
              <a:t>u</a:t>
            </a:r>
            <a:endParaRPr lang="zh-CN" altLang="en-US" sz="2400" b="1" dirty="0">
              <a:solidFill>
                <a:srgbClr val="000066"/>
              </a:solidFill>
              <a:ea typeface="幼圆" panose="02010509060101010101" pitchFamily="49" charset="-122"/>
              <a:cs typeface="Times New Roman" panose="02020603050405020304" pitchFamily="18" charset="0"/>
            </a:endParaRPr>
          </a:p>
        </p:txBody>
      </p:sp>
      <p:sp>
        <p:nvSpPr>
          <p:cNvPr id="73" name="Line 9"/>
          <p:cNvSpPr>
            <a:spLocks noChangeShapeType="1"/>
          </p:cNvSpPr>
          <p:nvPr/>
        </p:nvSpPr>
        <p:spPr bwMode="auto">
          <a:xfrm>
            <a:off x="1424363" y="1760109"/>
            <a:ext cx="0" cy="241269"/>
          </a:xfrm>
          <a:prstGeom prst="line">
            <a:avLst/>
          </a:prstGeom>
          <a:noFill/>
          <a:ln w="1905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10"/>
          <p:cNvSpPr>
            <a:spLocks noChangeShapeType="1"/>
          </p:cNvSpPr>
          <p:nvPr/>
        </p:nvSpPr>
        <p:spPr bwMode="auto">
          <a:xfrm>
            <a:off x="2561677" y="1782113"/>
            <a:ext cx="0" cy="824315"/>
          </a:xfrm>
          <a:prstGeom prst="line">
            <a:avLst/>
          </a:prstGeom>
          <a:noFill/>
          <a:ln w="19050">
            <a:solidFill>
              <a:srgbClr val="00006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Text Box 15"/>
          <p:cNvSpPr txBox="1">
            <a:spLocks noChangeArrowheads="1"/>
          </p:cNvSpPr>
          <p:nvPr/>
        </p:nvSpPr>
        <p:spPr bwMode="auto">
          <a:xfrm rot="16200000">
            <a:off x="262404" y="4473810"/>
            <a:ext cx="10230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s</a:t>
            </a:r>
            <a:r>
              <a:rPr kumimoji="1" lang="en-US" altLang="zh-CN" sz="2400" b="1" dirty="0">
                <a:solidFill>
                  <a:srgbClr val="000066"/>
                </a:solidFill>
                <a:latin typeface="Times New Roman" panose="02020603050405020304" pitchFamily="18" charset="0"/>
              </a:rPr>
              <a:t>(mm)</a:t>
            </a:r>
          </a:p>
        </p:txBody>
      </p:sp>
      <p:sp>
        <p:nvSpPr>
          <p:cNvPr id="76" name="Text Box 16"/>
          <p:cNvSpPr txBox="1">
            <a:spLocks noChangeArrowheads="1"/>
          </p:cNvSpPr>
          <p:nvPr/>
        </p:nvSpPr>
        <p:spPr bwMode="auto">
          <a:xfrm>
            <a:off x="2797325" y="1246946"/>
            <a:ext cx="1056700"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r>
              <a:rPr kumimoji="1" lang="en-US" altLang="zh-CN" sz="2400" b="1" dirty="0">
                <a:solidFill>
                  <a:srgbClr val="000066"/>
                </a:solidFill>
                <a:latin typeface="Times New Roman" panose="02020603050405020304" pitchFamily="18" charset="0"/>
              </a:rPr>
              <a:t>(</a:t>
            </a:r>
            <a:r>
              <a:rPr kumimoji="1" lang="en-US" altLang="zh-CN" sz="2400" b="1" dirty="0" err="1">
                <a:solidFill>
                  <a:srgbClr val="000066"/>
                </a:solidFill>
                <a:latin typeface="Times New Roman" panose="02020603050405020304" pitchFamily="18" charset="0"/>
              </a:rPr>
              <a:t>kPa</a:t>
            </a:r>
            <a:r>
              <a:rPr kumimoji="1" lang="en-US" altLang="zh-CN" sz="2400" b="1" dirty="0">
                <a:solidFill>
                  <a:srgbClr val="000066"/>
                </a:solidFill>
                <a:latin typeface="Times New Roman" panose="02020603050405020304" pitchFamily="18" charset="0"/>
              </a:rPr>
              <a:t>)</a:t>
            </a:r>
          </a:p>
        </p:txBody>
      </p:sp>
      <p:sp>
        <p:nvSpPr>
          <p:cNvPr id="77" name="Text Box 17"/>
          <p:cNvSpPr txBox="1">
            <a:spLocks noChangeArrowheads="1"/>
          </p:cNvSpPr>
          <p:nvPr/>
        </p:nvSpPr>
        <p:spPr bwMode="auto">
          <a:xfrm>
            <a:off x="356415" y="1290221"/>
            <a:ext cx="42351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rPr>
              <a:t>O</a:t>
            </a:r>
          </a:p>
        </p:txBody>
      </p:sp>
      <p:sp>
        <p:nvSpPr>
          <p:cNvPr id="78" name="Text Box 20"/>
          <p:cNvSpPr txBox="1">
            <a:spLocks noChangeArrowheads="1"/>
          </p:cNvSpPr>
          <p:nvPr/>
        </p:nvSpPr>
        <p:spPr bwMode="auto">
          <a:xfrm>
            <a:off x="1243883" y="1310678"/>
            <a:ext cx="521297"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cr</a:t>
            </a:r>
            <a:endParaRPr kumimoji="1" lang="en-US" altLang="zh-CN" sz="2400" b="1" baseline="-25000" dirty="0">
              <a:solidFill>
                <a:srgbClr val="000066"/>
              </a:solidFill>
              <a:latin typeface="Times New Roman" panose="02020603050405020304" pitchFamily="18" charset="0"/>
            </a:endParaRPr>
          </a:p>
        </p:txBody>
      </p:sp>
      <p:sp>
        <p:nvSpPr>
          <p:cNvPr id="79" name="Text Box 21"/>
          <p:cNvSpPr txBox="1">
            <a:spLocks noChangeArrowheads="1"/>
          </p:cNvSpPr>
          <p:nvPr/>
        </p:nvSpPr>
        <p:spPr bwMode="auto">
          <a:xfrm>
            <a:off x="2313292" y="1317455"/>
            <a:ext cx="452367"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u</a:t>
            </a:r>
            <a:endParaRPr kumimoji="1" lang="en-US" altLang="zh-CN" sz="2400" b="1" baseline="-25000" dirty="0">
              <a:solidFill>
                <a:srgbClr val="000066"/>
              </a:solidFill>
              <a:latin typeface="Times New Roman" panose="02020603050405020304" pitchFamily="18" charset="0"/>
            </a:endParaRPr>
          </a:p>
        </p:txBody>
      </p:sp>
      <p:sp>
        <p:nvSpPr>
          <p:cNvPr id="80" name="任意多边形 79"/>
          <p:cNvSpPr/>
          <p:nvPr/>
        </p:nvSpPr>
        <p:spPr bwMode="auto">
          <a:xfrm>
            <a:off x="511892" y="1775542"/>
            <a:ext cx="2934182" cy="3312000"/>
          </a:xfrm>
          <a:custGeom>
            <a:avLst/>
            <a:gdLst>
              <a:gd name="connsiteX0" fmla="*/ 2772137 w 2772137"/>
              <a:gd name="connsiteY0" fmla="*/ 0 h 3466618"/>
              <a:gd name="connsiteX1" fmla="*/ 0 w 2772137"/>
              <a:gd name="connsiteY1" fmla="*/ 0 h 3466618"/>
              <a:gd name="connsiteX2" fmla="*/ 0 w 2772137"/>
              <a:gd name="connsiteY2" fmla="*/ 3466618 h 3466618"/>
            </a:gdLst>
            <a:ahLst/>
            <a:cxnLst>
              <a:cxn ang="0">
                <a:pos x="connsiteX0" y="connsiteY0"/>
              </a:cxn>
              <a:cxn ang="0">
                <a:pos x="connsiteX1" y="connsiteY1"/>
              </a:cxn>
              <a:cxn ang="0">
                <a:pos x="connsiteX2" y="connsiteY2"/>
              </a:cxn>
            </a:cxnLst>
            <a:rect l="l" t="t" r="r" b="b"/>
            <a:pathLst>
              <a:path w="2772137" h="3466618">
                <a:moveTo>
                  <a:pt x="2772137" y="0"/>
                </a:moveTo>
                <a:lnTo>
                  <a:pt x="0" y="0"/>
                </a:lnTo>
                <a:lnTo>
                  <a:pt x="0" y="3466618"/>
                </a:lnTo>
              </a:path>
            </a:pathLst>
          </a:custGeom>
          <a:noFill/>
          <a:ln w="1905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1" name="任意多边形 80"/>
          <p:cNvSpPr/>
          <p:nvPr/>
        </p:nvSpPr>
        <p:spPr bwMode="auto">
          <a:xfrm>
            <a:off x="523465" y="1787117"/>
            <a:ext cx="2307342" cy="3024511"/>
          </a:xfrm>
          <a:custGeom>
            <a:avLst/>
            <a:gdLst>
              <a:gd name="connsiteX0" fmla="*/ 0 w 2453833"/>
              <a:gd name="connsiteY0" fmla="*/ 0 h 3090440"/>
              <a:gd name="connsiteX1" fmla="*/ 1116957 w 2453833"/>
              <a:gd name="connsiteY1" fmla="*/ 653969 h 3090440"/>
              <a:gd name="connsiteX2" fmla="*/ 1475772 w 2453833"/>
              <a:gd name="connsiteY2" fmla="*/ 850739 h 3090440"/>
              <a:gd name="connsiteX3" fmla="*/ 1678329 w 2453833"/>
              <a:gd name="connsiteY3" fmla="*/ 983848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53833 w 2453833"/>
              <a:gd name="connsiteY8"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786782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88131 w 2453833"/>
              <a:gd name="connsiteY6" fmla="*/ 1841076 h 3090440"/>
              <a:gd name="connsiteX7" fmla="*/ 2291172 w 2453833"/>
              <a:gd name="connsiteY7" fmla="*/ 2430683 h 3090440"/>
              <a:gd name="connsiteX8" fmla="*/ 2453833 w 2453833"/>
              <a:gd name="connsiteY8" fmla="*/ 3090440 h 3090440"/>
              <a:gd name="connsiteX0" fmla="*/ 0 w 2394916"/>
              <a:gd name="connsiteY0" fmla="*/ 0 h 3661343"/>
              <a:gd name="connsiteX1" fmla="*/ 1028187 w 2394916"/>
              <a:gd name="connsiteY1" fmla="*/ 353618 h 3661343"/>
              <a:gd name="connsiteX2" fmla="*/ 1508913 w 2394916"/>
              <a:gd name="connsiteY2" fmla="*/ 554870 h 3661343"/>
              <a:gd name="connsiteX3" fmla="*/ 1816240 w 2394916"/>
              <a:gd name="connsiteY3" fmla="*/ 882200 h 3661343"/>
              <a:gd name="connsiteX4" fmla="*/ 1979934 w 2394916"/>
              <a:gd name="connsiteY4" fmla="*/ 1140471 h 3661343"/>
              <a:gd name="connsiteX5" fmla="*/ 2094478 w 2394916"/>
              <a:gd name="connsiteY5" fmla="*/ 1451003 h 3661343"/>
              <a:gd name="connsiteX6" fmla="*/ 2188131 w 2394916"/>
              <a:gd name="connsiteY6" fmla="*/ 1841076 h 3661343"/>
              <a:gd name="connsiteX7" fmla="*/ 2291172 w 2394916"/>
              <a:gd name="connsiteY7" fmla="*/ 2430683 h 3661343"/>
              <a:gd name="connsiteX8" fmla="*/ 2394916 w 2394916"/>
              <a:gd name="connsiteY8" fmla="*/ 3661343 h 3661343"/>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291172 w 2402281"/>
              <a:gd name="connsiteY7" fmla="*/ 2430683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13266 w 2402281"/>
              <a:gd name="connsiteY7" fmla="*/ 2814064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206543 w 2402281"/>
              <a:gd name="connsiteY6" fmla="*/ 1907751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280127 w 2402281"/>
              <a:gd name="connsiteY8" fmla="*/ 2839066 h 4053058"/>
              <a:gd name="connsiteX9" fmla="*/ 2402281 w 2402281"/>
              <a:gd name="connsiteY9" fmla="*/ 4053058 h 4053058"/>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80127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54350 w 2299175"/>
              <a:gd name="connsiteY8" fmla="*/ 2997419 h 4073895"/>
              <a:gd name="connsiteX9" fmla="*/ 2299175 w 2299175"/>
              <a:gd name="connsiteY9" fmla="*/ 4073895 h 4073895"/>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816240 w 2262351"/>
              <a:gd name="connsiteY4" fmla="*/ 882200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2569 w 2262351"/>
              <a:gd name="connsiteY5" fmla="*/ 1115468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35938 w 2262351"/>
              <a:gd name="connsiteY8" fmla="*/ 3005754 h 4107232"/>
              <a:gd name="connsiteX9" fmla="*/ 2262351 w 2262351"/>
              <a:gd name="connsiteY9" fmla="*/ 4107232 h 4107232"/>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35938"/>
              <a:gd name="connsiteY0" fmla="*/ 0 h 4001022"/>
              <a:gd name="connsiteX1" fmla="*/ 976633 w 2235938"/>
              <a:gd name="connsiteY1" fmla="*/ 286942 h 4001022"/>
              <a:gd name="connsiteX2" fmla="*/ 1272134 w 2235938"/>
              <a:gd name="connsiteY2" fmla="*/ 403953 h 4001022"/>
              <a:gd name="connsiteX3" fmla="*/ 1508913 w 2235938"/>
              <a:gd name="connsiteY3" fmla="*/ 554870 h 4001022"/>
              <a:gd name="connsiteX4" fmla="*/ 1790464 w 2235938"/>
              <a:gd name="connsiteY4" fmla="*/ 811358 h 4001022"/>
              <a:gd name="connsiteX5" fmla="*/ 1983616 w 2235938"/>
              <a:gd name="connsiteY5" fmla="*/ 1077962 h 4001022"/>
              <a:gd name="connsiteX6" fmla="*/ 2094478 w 2235938"/>
              <a:gd name="connsiteY6" fmla="*/ 1451003 h 4001022"/>
              <a:gd name="connsiteX7" fmla="*/ 2162355 w 2235938"/>
              <a:gd name="connsiteY7" fmla="*/ 1920252 h 4001022"/>
              <a:gd name="connsiteX8" fmla="*/ 2235938 w 2235938"/>
              <a:gd name="connsiteY8" fmla="*/ 3005754 h 4001022"/>
              <a:gd name="connsiteX9" fmla="*/ 2228368 w 2235938"/>
              <a:gd name="connsiteY9" fmla="*/ 4001022 h 4001022"/>
              <a:gd name="connsiteX0" fmla="*/ 0 w 2228584"/>
              <a:gd name="connsiteY0" fmla="*/ 0 h 4001022"/>
              <a:gd name="connsiteX1" fmla="*/ 976633 w 2228584"/>
              <a:gd name="connsiteY1" fmla="*/ 286942 h 4001022"/>
              <a:gd name="connsiteX2" fmla="*/ 1272134 w 2228584"/>
              <a:gd name="connsiteY2" fmla="*/ 403953 h 4001022"/>
              <a:gd name="connsiteX3" fmla="*/ 1508913 w 2228584"/>
              <a:gd name="connsiteY3" fmla="*/ 554870 h 4001022"/>
              <a:gd name="connsiteX4" fmla="*/ 1790464 w 2228584"/>
              <a:gd name="connsiteY4" fmla="*/ 811358 h 4001022"/>
              <a:gd name="connsiteX5" fmla="*/ 1983616 w 2228584"/>
              <a:gd name="connsiteY5" fmla="*/ 1077962 h 4001022"/>
              <a:gd name="connsiteX6" fmla="*/ 2094478 w 2228584"/>
              <a:gd name="connsiteY6" fmla="*/ 1451003 h 4001022"/>
              <a:gd name="connsiteX7" fmla="*/ 2162355 w 2228584"/>
              <a:gd name="connsiteY7" fmla="*/ 1920252 h 4001022"/>
              <a:gd name="connsiteX8" fmla="*/ 2213002 w 2228584"/>
              <a:gd name="connsiteY8" fmla="*/ 3005755 h 4001022"/>
              <a:gd name="connsiteX9" fmla="*/ 2228368 w 2228584"/>
              <a:gd name="connsiteY9" fmla="*/ 4001022 h 4001022"/>
              <a:gd name="connsiteX0" fmla="*/ 0 w 2218549"/>
              <a:gd name="connsiteY0" fmla="*/ 0 h 3762911"/>
              <a:gd name="connsiteX1" fmla="*/ 976633 w 2218549"/>
              <a:gd name="connsiteY1" fmla="*/ 286942 h 3762911"/>
              <a:gd name="connsiteX2" fmla="*/ 1272134 w 2218549"/>
              <a:gd name="connsiteY2" fmla="*/ 403953 h 3762911"/>
              <a:gd name="connsiteX3" fmla="*/ 1508913 w 2218549"/>
              <a:gd name="connsiteY3" fmla="*/ 554870 h 3762911"/>
              <a:gd name="connsiteX4" fmla="*/ 1790464 w 2218549"/>
              <a:gd name="connsiteY4" fmla="*/ 811358 h 3762911"/>
              <a:gd name="connsiteX5" fmla="*/ 1983616 w 2218549"/>
              <a:gd name="connsiteY5" fmla="*/ 1077962 h 3762911"/>
              <a:gd name="connsiteX6" fmla="*/ 2094478 w 2218549"/>
              <a:gd name="connsiteY6" fmla="*/ 1451003 h 3762911"/>
              <a:gd name="connsiteX7" fmla="*/ 2162355 w 2218549"/>
              <a:gd name="connsiteY7" fmla="*/ 1920252 h 3762911"/>
              <a:gd name="connsiteX8" fmla="*/ 2213002 w 2218549"/>
              <a:gd name="connsiteY8" fmla="*/ 3005755 h 3762911"/>
              <a:gd name="connsiteX9" fmla="*/ 2218144 w 2218549"/>
              <a:gd name="connsiteY9" fmla="*/ 3762911 h 376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8549" h="3762911">
                <a:moveTo>
                  <a:pt x="0" y="0"/>
                </a:moveTo>
                <a:lnTo>
                  <a:pt x="976633" y="286942"/>
                </a:lnTo>
                <a:cubicBezTo>
                  <a:pt x="1059176" y="321778"/>
                  <a:pt x="1189591" y="369117"/>
                  <a:pt x="1272134" y="403953"/>
                </a:cubicBezTo>
                <a:cubicBezTo>
                  <a:pt x="1359006" y="448608"/>
                  <a:pt x="1424980" y="489053"/>
                  <a:pt x="1508913" y="554870"/>
                </a:cubicBezTo>
                <a:cubicBezTo>
                  <a:pt x="1617547" y="622131"/>
                  <a:pt x="1728531" y="756124"/>
                  <a:pt x="1790464" y="811358"/>
                </a:cubicBezTo>
                <a:cubicBezTo>
                  <a:pt x="1852397" y="866592"/>
                  <a:pt x="1926810" y="1001914"/>
                  <a:pt x="1983616" y="1077962"/>
                </a:cubicBezTo>
                <a:cubicBezTo>
                  <a:pt x="2034285" y="1184570"/>
                  <a:pt x="2064688" y="1310621"/>
                  <a:pt x="2094478" y="1451003"/>
                </a:cubicBezTo>
                <a:lnTo>
                  <a:pt x="2162355" y="1920252"/>
                </a:lnTo>
                <a:lnTo>
                  <a:pt x="2213002" y="3005755"/>
                </a:lnTo>
                <a:cubicBezTo>
                  <a:pt x="2210479" y="3337511"/>
                  <a:pt x="2220667" y="3431155"/>
                  <a:pt x="2218144" y="3762911"/>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2" name="椭圆 81"/>
          <p:cNvSpPr/>
          <p:nvPr/>
        </p:nvSpPr>
        <p:spPr bwMode="auto">
          <a:xfrm>
            <a:off x="1390243" y="1955885"/>
            <a:ext cx="77338" cy="77338"/>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3" name="椭圆 82"/>
          <p:cNvSpPr/>
          <p:nvPr/>
        </p:nvSpPr>
        <p:spPr bwMode="auto">
          <a:xfrm>
            <a:off x="2520733" y="2585956"/>
            <a:ext cx="77338" cy="77338"/>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5" name="矩形 84"/>
          <p:cNvSpPr/>
          <p:nvPr/>
        </p:nvSpPr>
        <p:spPr>
          <a:xfrm>
            <a:off x="4186770" y="3598908"/>
            <a:ext cx="4677830" cy="1472198"/>
          </a:xfrm>
          <a:prstGeom prst="rect">
            <a:avLst/>
          </a:prstGeom>
        </p:spPr>
        <p:txBody>
          <a:bodyPr wrap="square">
            <a:spAutoFit/>
          </a:bodyPr>
          <a:lstStyle/>
          <a:p>
            <a:pPr marL="177800" indent="-177800">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rPr>
              <a:t>从局部剪损阶段进入整体破坏阶段</a:t>
            </a:r>
            <a:endParaRPr lang="en-US" altLang="zh-CN" sz="2000" b="1" dirty="0">
              <a:solidFill>
                <a:srgbClr val="000066"/>
              </a:solidFill>
              <a:ea typeface="幼圆" panose="02010509060101010101" pitchFamily="49" charset="-122"/>
              <a:cs typeface="Times New Roman" panose="02020603050405020304" pitchFamily="18" charset="0"/>
            </a:endParaRPr>
          </a:p>
          <a:p>
            <a:pPr marL="177800" indent="-177800">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rPr>
              <a:t>达到该荷载，滑动边界范围内的全部土体都处于塑性破坏状态，地基丧失稳定，也称地基的极限承载力</a:t>
            </a:r>
            <a:endParaRPr lang="zh-CN" altLang="en-US" sz="2000" b="1" dirty="0">
              <a:solidFill>
                <a:srgbClr val="C00000"/>
              </a:solidFill>
              <a:ea typeface="幼圆" panose="02010509060101010101" pitchFamily="49" charset="-122"/>
              <a:cs typeface="Times New Roman" panose="02020603050405020304" pitchFamily="18" charset="0"/>
            </a:endParaRPr>
          </a:p>
        </p:txBody>
      </p:sp>
      <p:sp>
        <p:nvSpPr>
          <p:cNvPr id="25"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
        <p:nvSpPr>
          <p:cNvPr id="26" name="Text Box 17"/>
          <p:cNvSpPr txBox="1">
            <a:spLocks noChangeArrowheads="1"/>
          </p:cNvSpPr>
          <p:nvPr/>
        </p:nvSpPr>
        <p:spPr bwMode="auto">
          <a:xfrm>
            <a:off x="1231690" y="1910672"/>
            <a:ext cx="338555"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a</a:t>
            </a:r>
          </a:p>
        </p:txBody>
      </p:sp>
      <p:sp>
        <p:nvSpPr>
          <p:cNvPr id="27" name="Text Box 17"/>
          <p:cNvSpPr txBox="1">
            <a:spLocks noChangeArrowheads="1"/>
          </p:cNvSpPr>
          <p:nvPr/>
        </p:nvSpPr>
        <p:spPr bwMode="auto">
          <a:xfrm>
            <a:off x="2249917" y="2539791"/>
            <a:ext cx="35618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b</a:t>
            </a:r>
          </a:p>
        </p:txBody>
      </p:sp>
      <p:sp>
        <p:nvSpPr>
          <p:cNvPr id="28" name="Text Box 17"/>
          <p:cNvSpPr txBox="1">
            <a:spLocks noChangeArrowheads="1"/>
          </p:cNvSpPr>
          <p:nvPr/>
        </p:nvSpPr>
        <p:spPr bwMode="auto">
          <a:xfrm>
            <a:off x="2443804" y="4004156"/>
            <a:ext cx="32092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990000"/>
                </a:solidFill>
                <a:latin typeface="Times New Roman" panose="02020603050405020304" pitchFamily="18" charset="0"/>
              </a:rPr>
              <a:t>c</a:t>
            </a:r>
          </a:p>
        </p:txBody>
      </p:sp>
    </p:spTree>
    <p:extLst>
      <p:ext uri="{BB962C8B-B14F-4D97-AF65-F5344CB8AC3E}">
        <p14:creationId xmlns:p14="http://schemas.microsoft.com/office/powerpoint/2010/main" val="12211313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wipe(down)">
                                      <p:cBhvr>
                                        <p:cTn id="15" dur="500"/>
                                        <p:tgtEl>
                                          <p:spTgt spid="73"/>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78"/>
                                        </p:tgtEl>
                                        <p:attrNameLst>
                                          <p:attrName>style.visibility</p:attrName>
                                        </p:attrNameLst>
                                      </p:cBhvr>
                                      <p:to>
                                        <p:strVal val="visible"/>
                                      </p:to>
                                    </p:set>
                                    <p:animEffect transition="in" filter="wipe(down)">
                                      <p:cBhvr>
                                        <p:cTn id="19" dur="500"/>
                                        <p:tgtEl>
                                          <p:spTgt spid="7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5"/>
                                        </p:tgtEl>
                                        <p:attrNameLst>
                                          <p:attrName>style.visibility</p:attrName>
                                        </p:attrNameLst>
                                      </p:cBhvr>
                                      <p:to>
                                        <p:strVal val="visible"/>
                                      </p:to>
                                    </p:set>
                                    <p:animEffect transition="in" filter="wipe(left)">
                                      <p:cBhvr>
                                        <p:cTn id="24" dur="500"/>
                                        <p:tgtEl>
                                          <p:spTgt spid="55"/>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85"/>
                                        </p:tgtEl>
                                        <p:attrNameLst>
                                          <p:attrName>style.visibility</p:attrName>
                                        </p:attrNameLst>
                                      </p:cBhvr>
                                      <p:to>
                                        <p:strVal val="visible"/>
                                      </p:to>
                                    </p:set>
                                    <p:animEffect transition="in" filter="wipe(left)">
                                      <p:cBhvr>
                                        <p:cTn id="28" dur="500"/>
                                        <p:tgtEl>
                                          <p:spTgt spid="85"/>
                                        </p:tgtEl>
                                      </p:cBhvr>
                                    </p:animEffect>
                                  </p:childTnLst>
                                </p:cTn>
                              </p:par>
                            </p:childTnLst>
                          </p:cTn>
                        </p:par>
                        <p:par>
                          <p:cTn id="29" fill="hold">
                            <p:stCondLst>
                              <p:cond delay="1000"/>
                            </p:stCondLst>
                            <p:childTnLst>
                              <p:par>
                                <p:cTn id="30" presetID="22" presetClass="entr" presetSubtype="4" fill="hold" grpId="0" nodeType="after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wipe(down)">
                                      <p:cBhvr>
                                        <p:cTn id="32" dur="500"/>
                                        <p:tgtEl>
                                          <p:spTgt spid="74"/>
                                        </p:tgtEl>
                                      </p:cBhvr>
                                    </p:animEffect>
                                  </p:childTnLst>
                                </p:cTn>
                              </p:par>
                            </p:childTnLst>
                          </p:cTn>
                        </p:par>
                        <p:par>
                          <p:cTn id="33" fill="hold">
                            <p:stCondLst>
                              <p:cond delay="1500"/>
                            </p:stCondLst>
                            <p:childTnLst>
                              <p:par>
                                <p:cTn id="34" presetID="22" presetClass="entr" presetSubtype="4" fill="hold" grpId="0" nodeType="afterEffect">
                                  <p:stCondLst>
                                    <p:cond delay="0"/>
                                  </p:stCondLst>
                                  <p:childTnLst>
                                    <p:set>
                                      <p:cBhvr>
                                        <p:cTn id="35" dur="1" fill="hold">
                                          <p:stCondLst>
                                            <p:cond delay="0"/>
                                          </p:stCondLst>
                                        </p:cTn>
                                        <p:tgtEl>
                                          <p:spTgt spid="79"/>
                                        </p:tgtEl>
                                        <p:attrNameLst>
                                          <p:attrName>style.visibility</p:attrName>
                                        </p:attrNameLst>
                                      </p:cBhvr>
                                      <p:to>
                                        <p:strVal val="visible"/>
                                      </p:to>
                                    </p:set>
                                    <p:animEffect transition="in" filter="wipe(down)">
                                      <p:cBhvr>
                                        <p:cTn id="36"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9" grpId="0"/>
      <p:bldP spid="55" grpId="0"/>
      <p:bldP spid="73" grpId="0" animBg="1"/>
      <p:bldP spid="74" grpId="0" animBg="1"/>
      <p:bldP spid="78" grpId="0"/>
      <p:bldP spid="79" grpId="0"/>
      <p:bldP spid="8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14</a:t>
            </a:fld>
            <a:endParaRPr lang="zh-CN" altLang="en-US" dirty="0">
              <a:solidFill>
                <a:srgbClr val="C00000"/>
              </a:solidFill>
            </a:endParaRPr>
          </a:p>
        </p:txBody>
      </p:sp>
      <p:sp>
        <p:nvSpPr>
          <p:cNvPr id="8" name="Text Box 46"/>
          <p:cNvSpPr txBox="1">
            <a:spLocks noChangeArrowheads="1"/>
          </p:cNvSpPr>
          <p:nvPr/>
        </p:nvSpPr>
        <p:spPr bwMode="auto">
          <a:xfrm>
            <a:off x="384649" y="601804"/>
            <a:ext cx="5439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地基失稳的三种破坏形式</a:t>
            </a:r>
          </a:p>
        </p:txBody>
      </p:sp>
      <p:sp>
        <p:nvSpPr>
          <p:cNvPr id="56" name="Text Box 2"/>
          <p:cNvSpPr txBox="1">
            <a:spLocks noChangeArrowheads="1"/>
          </p:cNvSpPr>
          <p:nvPr/>
        </p:nvSpPr>
        <p:spPr bwMode="auto">
          <a:xfrm>
            <a:off x="2032000" y="5773566"/>
            <a:ext cx="64346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竖直荷载下地基的破坏形式</a:t>
            </a:r>
          </a:p>
        </p:txBody>
      </p:sp>
      <p:sp>
        <p:nvSpPr>
          <p:cNvPr id="27" name="矩形 26"/>
          <p:cNvSpPr/>
          <p:nvPr/>
        </p:nvSpPr>
        <p:spPr>
          <a:xfrm>
            <a:off x="718557" y="1355540"/>
            <a:ext cx="4310795" cy="479298"/>
          </a:xfrm>
          <a:prstGeom prst="rect">
            <a:avLst/>
          </a:prstGeom>
        </p:spPr>
        <p:txBody>
          <a:bodyPr wrap="none">
            <a:spAutoFit/>
          </a:bodyPr>
          <a:lstStyle/>
          <a:p>
            <a:r>
              <a:rPr lang="en-US" altLang="zh-CN" sz="2400" b="1" dirty="0">
                <a:solidFill>
                  <a:srgbClr val="000066"/>
                </a:solidFill>
                <a:ea typeface="幼圆" panose="02010509060101010101" pitchFamily="49" charset="-122"/>
                <a:cs typeface="Times New Roman" panose="02020603050405020304" pitchFamily="18" charset="0"/>
              </a:rPr>
              <a:t>1</a:t>
            </a:r>
            <a:r>
              <a:rPr lang="zh-CN" altLang="en-US" sz="2400" b="1" dirty="0">
                <a:solidFill>
                  <a:srgbClr val="000066"/>
                </a:solidFill>
                <a:ea typeface="幼圆" panose="02010509060101010101" pitchFamily="49" charset="-122"/>
                <a:cs typeface="Times New Roman" panose="02020603050405020304" pitchFamily="18" charset="0"/>
              </a:rPr>
              <a:t>）</a:t>
            </a:r>
            <a:r>
              <a:rPr lang="zh-CN" altLang="en-US" sz="2400" b="1" dirty="0">
                <a:solidFill>
                  <a:srgbClr val="C00000"/>
                </a:solidFill>
                <a:ea typeface="幼圆" panose="02010509060101010101" pitchFamily="49" charset="-122"/>
                <a:cs typeface="Times New Roman" panose="02020603050405020304" pitchFamily="18" charset="0"/>
              </a:rPr>
              <a:t>整体剪切破坏</a:t>
            </a:r>
            <a:r>
              <a:rPr lang="zh-CN" altLang="en-US" sz="2000" b="1" dirty="0">
                <a:solidFill>
                  <a:srgbClr val="000066"/>
                </a:solidFill>
                <a:ea typeface="幼圆" panose="02010509060101010101" pitchFamily="49" charset="-122"/>
                <a:cs typeface="Times New Roman" panose="02020603050405020304" pitchFamily="18" charset="0"/>
              </a:rPr>
              <a:t>（前述的形式）</a:t>
            </a:r>
          </a:p>
        </p:txBody>
      </p:sp>
      <p:sp>
        <p:nvSpPr>
          <p:cNvPr id="33" name="Text Box 15"/>
          <p:cNvSpPr txBox="1">
            <a:spLocks noChangeArrowheads="1"/>
          </p:cNvSpPr>
          <p:nvPr/>
        </p:nvSpPr>
        <p:spPr bwMode="auto">
          <a:xfrm>
            <a:off x="5946684" y="4517352"/>
            <a:ext cx="30489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s</a:t>
            </a:r>
            <a:endParaRPr kumimoji="1" lang="en-US" altLang="zh-CN" sz="2400" b="1" dirty="0">
              <a:solidFill>
                <a:srgbClr val="000066"/>
              </a:solidFill>
              <a:latin typeface="Times New Roman" panose="02020603050405020304" pitchFamily="18" charset="0"/>
            </a:endParaRPr>
          </a:p>
        </p:txBody>
      </p:sp>
      <p:sp>
        <p:nvSpPr>
          <p:cNvPr id="34" name="Text Box 16"/>
          <p:cNvSpPr txBox="1">
            <a:spLocks noChangeArrowheads="1"/>
          </p:cNvSpPr>
          <p:nvPr/>
        </p:nvSpPr>
        <p:spPr bwMode="auto">
          <a:xfrm>
            <a:off x="8136008" y="1007460"/>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endParaRPr kumimoji="1" lang="en-US" altLang="zh-CN" sz="2400" b="1" dirty="0">
              <a:solidFill>
                <a:srgbClr val="000066"/>
              </a:solidFill>
              <a:latin typeface="Times New Roman" panose="02020603050405020304" pitchFamily="18" charset="0"/>
            </a:endParaRPr>
          </a:p>
        </p:txBody>
      </p:sp>
      <p:sp>
        <p:nvSpPr>
          <p:cNvPr id="36" name="Text Box 17"/>
          <p:cNvSpPr txBox="1">
            <a:spLocks noChangeArrowheads="1"/>
          </p:cNvSpPr>
          <p:nvPr/>
        </p:nvSpPr>
        <p:spPr bwMode="auto">
          <a:xfrm>
            <a:off x="5744844" y="1072506"/>
            <a:ext cx="42351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rPr>
              <a:t>O</a:t>
            </a:r>
          </a:p>
        </p:txBody>
      </p:sp>
      <p:sp>
        <p:nvSpPr>
          <p:cNvPr id="40" name="任意多边形 39"/>
          <p:cNvSpPr/>
          <p:nvPr/>
        </p:nvSpPr>
        <p:spPr bwMode="auto">
          <a:xfrm>
            <a:off x="5900321" y="1561838"/>
            <a:ext cx="2742936" cy="3312000"/>
          </a:xfrm>
          <a:custGeom>
            <a:avLst/>
            <a:gdLst>
              <a:gd name="connsiteX0" fmla="*/ 2772137 w 2772137"/>
              <a:gd name="connsiteY0" fmla="*/ 0 h 3466618"/>
              <a:gd name="connsiteX1" fmla="*/ 0 w 2772137"/>
              <a:gd name="connsiteY1" fmla="*/ 0 h 3466618"/>
              <a:gd name="connsiteX2" fmla="*/ 0 w 2772137"/>
              <a:gd name="connsiteY2" fmla="*/ 3466618 h 3466618"/>
            </a:gdLst>
            <a:ahLst/>
            <a:cxnLst>
              <a:cxn ang="0">
                <a:pos x="connsiteX0" y="connsiteY0"/>
              </a:cxn>
              <a:cxn ang="0">
                <a:pos x="connsiteX1" y="connsiteY1"/>
              </a:cxn>
              <a:cxn ang="0">
                <a:pos x="connsiteX2" y="connsiteY2"/>
              </a:cxn>
            </a:cxnLst>
            <a:rect l="l" t="t" r="r" b="b"/>
            <a:pathLst>
              <a:path w="2772137" h="3466618">
                <a:moveTo>
                  <a:pt x="2772137" y="0"/>
                </a:moveTo>
                <a:lnTo>
                  <a:pt x="0" y="0"/>
                </a:lnTo>
                <a:lnTo>
                  <a:pt x="0" y="3466618"/>
                </a:lnTo>
              </a:path>
            </a:pathLst>
          </a:custGeom>
          <a:noFill/>
          <a:ln w="1905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2" name="组合 1"/>
          <p:cNvGrpSpPr/>
          <p:nvPr/>
        </p:nvGrpSpPr>
        <p:grpSpPr>
          <a:xfrm>
            <a:off x="5911894" y="1569402"/>
            <a:ext cx="2307342" cy="3024511"/>
            <a:chOff x="5911894" y="1569402"/>
            <a:chExt cx="2307342" cy="3024511"/>
          </a:xfrm>
        </p:grpSpPr>
        <p:sp>
          <p:nvSpPr>
            <p:cNvPr id="41" name="任意多边形 40"/>
            <p:cNvSpPr/>
            <p:nvPr/>
          </p:nvSpPr>
          <p:spPr bwMode="auto">
            <a:xfrm>
              <a:off x="5911894" y="1569402"/>
              <a:ext cx="2307342" cy="3024511"/>
            </a:xfrm>
            <a:custGeom>
              <a:avLst/>
              <a:gdLst>
                <a:gd name="connsiteX0" fmla="*/ 0 w 2453833"/>
                <a:gd name="connsiteY0" fmla="*/ 0 h 3090440"/>
                <a:gd name="connsiteX1" fmla="*/ 1116957 w 2453833"/>
                <a:gd name="connsiteY1" fmla="*/ 653969 h 3090440"/>
                <a:gd name="connsiteX2" fmla="*/ 1475772 w 2453833"/>
                <a:gd name="connsiteY2" fmla="*/ 850739 h 3090440"/>
                <a:gd name="connsiteX3" fmla="*/ 1678329 w 2453833"/>
                <a:gd name="connsiteY3" fmla="*/ 983848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53833 w 2453833"/>
                <a:gd name="connsiteY8"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786782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88131 w 2453833"/>
                <a:gd name="connsiteY6" fmla="*/ 1841076 h 3090440"/>
                <a:gd name="connsiteX7" fmla="*/ 2291172 w 2453833"/>
                <a:gd name="connsiteY7" fmla="*/ 2430683 h 3090440"/>
                <a:gd name="connsiteX8" fmla="*/ 2453833 w 2453833"/>
                <a:gd name="connsiteY8" fmla="*/ 3090440 h 3090440"/>
                <a:gd name="connsiteX0" fmla="*/ 0 w 2394916"/>
                <a:gd name="connsiteY0" fmla="*/ 0 h 3661343"/>
                <a:gd name="connsiteX1" fmla="*/ 1028187 w 2394916"/>
                <a:gd name="connsiteY1" fmla="*/ 353618 h 3661343"/>
                <a:gd name="connsiteX2" fmla="*/ 1508913 w 2394916"/>
                <a:gd name="connsiteY2" fmla="*/ 554870 h 3661343"/>
                <a:gd name="connsiteX3" fmla="*/ 1816240 w 2394916"/>
                <a:gd name="connsiteY3" fmla="*/ 882200 h 3661343"/>
                <a:gd name="connsiteX4" fmla="*/ 1979934 w 2394916"/>
                <a:gd name="connsiteY4" fmla="*/ 1140471 h 3661343"/>
                <a:gd name="connsiteX5" fmla="*/ 2094478 w 2394916"/>
                <a:gd name="connsiteY5" fmla="*/ 1451003 h 3661343"/>
                <a:gd name="connsiteX6" fmla="*/ 2188131 w 2394916"/>
                <a:gd name="connsiteY6" fmla="*/ 1841076 h 3661343"/>
                <a:gd name="connsiteX7" fmla="*/ 2291172 w 2394916"/>
                <a:gd name="connsiteY7" fmla="*/ 2430683 h 3661343"/>
                <a:gd name="connsiteX8" fmla="*/ 2394916 w 2394916"/>
                <a:gd name="connsiteY8" fmla="*/ 3661343 h 3661343"/>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291172 w 2402281"/>
                <a:gd name="connsiteY7" fmla="*/ 2430683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13266 w 2402281"/>
                <a:gd name="connsiteY7" fmla="*/ 2814064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206543 w 2402281"/>
                <a:gd name="connsiteY6" fmla="*/ 1907751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280127 w 2402281"/>
                <a:gd name="connsiteY8" fmla="*/ 2839066 h 4053058"/>
                <a:gd name="connsiteX9" fmla="*/ 2402281 w 2402281"/>
                <a:gd name="connsiteY9" fmla="*/ 4053058 h 4053058"/>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80127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54350 w 2299175"/>
                <a:gd name="connsiteY8" fmla="*/ 2997419 h 4073895"/>
                <a:gd name="connsiteX9" fmla="*/ 2299175 w 2299175"/>
                <a:gd name="connsiteY9" fmla="*/ 4073895 h 4073895"/>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816240 w 2262351"/>
                <a:gd name="connsiteY4" fmla="*/ 882200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2569 w 2262351"/>
                <a:gd name="connsiteY5" fmla="*/ 1115468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35938 w 2262351"/>
                <a:gd name="connsiteY8" fmla="*/ 3005754 h 4107232"/>
                <a:gd name="connsiteX9" fmla="*/ 2262351 w 2262351"/>
                <a:gd name="connsiteY9" fmla="*/ 4107232 h 4107232"/>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35938"/>
                <a:gd name="connsiteY0" fmla="*/ 0 h 4001022"/>
                <a:gd name="connsiteX1" fmla="*/ 976633 w 2235938"/>
                <a:gd name="connsiteY1" fmla="*/ 286942 h 4001022"/>
                <a:gd name="connsiteX2" fmla="*/ 1272134 w 2235938"/>
                <a:gd name="connsiteY2" fmla="*/ 403953 h 4001022"/>
                <a:gd name="connsiteX3" fmla="*/ 1508913 w 2235938"/>
                <a:gd name="connsiteY3" fmla="*/ 554870 h 4001022"/>
                <a:gd name="connsiteX4" fmla="*/ 1790464 w 2235938"/>
                <a:gd name="connsiteY4" fmla="*/ 811358 h 4001022"/>
                <a:gd name="connsiteX5" fmla="*/ 1983616 w 2235938"/>
                <a:gd name="connsiteY5" fmla="*/ 1077962 h 4001022"/>
                <a:gd name="connsiteX6" fmla="*/ 2094478 w 2235938"/>
                <a:gd name="connsiteY6" fmla="*/ 1451003 h 4001022"/>
                <a:gd name="connsiteX7" fmla="*/ 2162355 w 2235938"/>
                <a:gd name="connsiteY7" fmla="*/ 1920252 h 4001022"/>
                <a:gd name="connsiteX8" fmla="*/ 2235938 w 2235938"/>
                <a:gd name="connsiteY8" fmla="*/ 3005754 h 4001022"/>
                <a:gd name="connsiteX9" fmla="*/ 2228368 w 2235938"/>
                <a:gd name="connsiteY9" fmla="*/ 4001022 h 4001022"/>
                <a:gd name="connsiteX0" fmla="*/ 0 w 2228584"/>
                <a:gd name="connsiteY0" fmla="*/ 0 h 4001022"/>
                <a:gd name="connsiteX1" fmla="*/ 976633 w 2228584"/>
                <a:gd name="connsiteY1" fmla="*/ 286942 h 4001022"/>
                <a:gd name="connsiteX2" fmla="*/ 1272134 w 2228584"/>
                <a:gd name="connsiteY2" fmla="*/ 403953 h 4001022"/>
                <a:gd name="connsiteX3" fmla="*/ 1508913 w 2228584"/>
                <a:gd name="connsiteY3" fmla="*/ 554870 h 4001022"/>
                <a:gd name="connsiteX4" fmla="*/ 1790464 w 2228584"/>
                <a:gd name="connsiteY4" fmla="*/ 811358 h 4001022"/>
                <a:gd name="connsiteX5" fmla="*/ 1983616 w 2228584"/>
                <a:gd name="connsiteY5" fmla="*/ 1077962 h 4001022"/>
                <a:gd name="connsiteX6" fmla="*/ 2094478 w 2228584"/>
                <a:gd name="connsiteY6" fmla="*/ 1451003 h 4001022"/>
                <a:gd name="connsiteX7" fmla="*/ 2162355 w 2228584"/>
                <a:gd name="connsiteY7" fmla="*/ 1920252 h 4001022"/>
                <a:gd name="connsiteX8" fmla="*/ 2213002 w 2228584"/>
                <a:gd name="connsiteY8" fmla="*/ 3005755 h 4001022"/>
                <a:gd name="connsiteX9" fmla="*/ 2228368 w 2228584"/>
                <a:gd name="connsiteY9" fmla="*/ 4001022 h 4001022"/>
                <a:gd name="connsiteX0" fmla="*/ 0 w 2218549"/>
                <a:gd name="connsiteY0" fmla="*/ 0 h 3762911"/>
                <a:gd name="connsiteX1" fmla="*/ 976633 w 2218549"/>
                <a:gd name="connsiteY1" fmla="*/ 286942 h 3762911"/>
                <a:gd name="connsiteX2" fmla="*/ 1272134 w 2218549"/>
                <a:gd name="connsiteY2" fmla="*/ 403953 h 3762911"/>
                <a:gd name="connsiteX3" fmla="*/ 1508913 w 2218549"/>
                <a:gd name="connsiteY3" fmla="*/ 554870 h 3762911"/>
                <a:gd name="connsiteX4" fmla="*/ 1790464 w 2218549"/>
                <a:gd name="connsiteY4" fmla="*/ 811358 h 3762911"/>
                <a:gd name="connsiteX5" fmla="*/ 1983616 w 2218549"/>
                <a:gd name="connsiteY5" fmla="*/ 1077962 h 3762911"/>
                <a:gd name="connsiteX6" fmla="*/ 2094478 w 2218549"/>
                <a:gd name="connsiteY6" fmla="*/ 1451003 h 3762911"/>
                <a:gd name="connsiteX7" fmla="*/ 2162355 w 2218549"/>
                <a:gd name="connsiteY7" fmla="*/ 1920252 h 3762911"/>
                <a:gd name="connsiteX8" fmla="*/ 2213002 w 2218549"/>
                <a:gd name="connsiteY8" fmla="*/ 3005755 h 3762911"/>
                <a:gd name="connsiteX9" fmla="*/ 2218144 w 2218549"/>
                <a:gd name="connsiteY9" fmla="*/ 3762911 h 376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8549" h="3762911">
                  <a:moveTo>
                    <a:pt x="0" y="0"/>
                  </a:moveTo>
                  <a:lnTo>
                    <a:pt x="976633" y="286942"/>
                  </a:lnTo>
                  <a:cubicBezTo>
                    <a:pt x="1059176" y="321778"/>
                    <a:pt x="1189591" y="369117"/>
                    <a:pt x="1272134" y="403953"/>
                  </a:cubicBezTo>
                  <a:cubicBezTo>
                    <a:pt x="1359006" y="448608"/>
                    <a:pt x="1424980" y="489053"/>
                    <a:pt x="1508913" y="554870"/>
                  </a:cubicBezTo>
                  <a:cubicBezTo>
                    <a:pt x="1617547" y="622131"/>
                    <a:pt x="1728531" y="756124"/>
                    <a:pt x="1790464" y="811358"/>
                  </a:cubicBezTo>
                  <a:cubicBezTo>
                    <a:pt x="1852397" y="866592"/>
                    <a:pt x="1926810" y="1001914"/>
                    <a:pt x="1983616" y="1077962"/>
                  </a:cubicBezTo>
                  <a:cubicBezTo>
                    <a:pt x="2034285" y="1184570"/>
                    <a:pt x="2064688" y="1310621"/>
                    <a:pt x="2094478" y="1451003"/>
                  </a:cubicBezTo>
                  <a:lnTo>
                    <a:pt x="2162355" y="1920252"/>
                  </a:lnTo>
                  <a:lnTo>
                    <a:pt x="2213002" y="3005755"/>
                  </a:lnTo>
                  <a:cubicBezTo>
                    <a:pt x="2210479" y="3337511"/>
                    <a:pt x="2220667" y="3431155"/>
                    <a:pt x="2218144" y="3762911"/>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2" name="椭圆 41"/>
            <p:cNvSpPr/>
            <p:nvPr/>
          </p:nvSpPr>
          <p:spPr bwMode="auto">
            <a:xfrm>
              <a:off x="6778672" y="1738170"/>
              <a:ext cx="77338" cy="77338"/>
            </a:xfrm>
            <a:prstGeom prst="ellipse">
              <a:avLst/>
            </a:prstGeom>
            <a:solidFill>
              <a:schemeClr val="bg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3" name="椭圆 42"/>
            <p:cNvSpPr/>
            <p:nvPr/>
          </p:nvSpPr>
          <p:spPr bwMode="auto">
            <a:xfrm>
              <a:off x="7909162" y="2368241"/>
              <a:ext cx="77338" cy="77338"/>
            </a:xfrm>
            <a:prstGeom prst="ellipse">
              <a:avLst/>
            </a:prstGeom>
            <a:solidFill>
              <a:schemeClr val="bg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4" name="任意多边形 3"/>
          <p:cNvSpPr/>
          <p:nvPr/>
        </p:nvSpPr>
        <p:spPr bwMode="auto">
          <a:xfrm>
            <a:off x="5923181" y="1569575"/>
            <a:ext cx="1878750" cy="2668093"/>
          </a:xfrm>
          <a:custGeom>
            <a:avLst/>
            <a:gdLst>
              <a:gd name="connsiteX0" fmla="*/ 0 w 1842655"/>
              <a:gd name="connsiteY0" fmla="*/ 0 h 2660072"/>
              <a:gd name="connsiteX1" fmla="*/ 408709 w 1842655"/>
              <a:gd name="connsiteY1" fmla="*/ 173181 h 2660072"/>
              <a:gd name="connsiteX2" fmla="*/ 748146 w 1842655"/>
              <a:gd name="connsiteY2" fmla="*/ 401781 h 2660072"/>
              <a:gd name="connsiteX3" fmla="*/ 1129146 w 1842655"/>
              <a:gd name="connsiteY3" fmla="*/ 838200 h 2660072"/>
              <a:gd name="connsiteX4" fmla="*/ 1420091 w 1842655"/>
              <a:gd name="connsiteY4" fmla="*/ 1309254 h 2660072"/>
              <a:gd name="connsiteX5" fmla="*/ 1690255 w 1842655"/>
              <a:gd name="connsiteY5" fmla="*/ 2008909 h 2660072"/>
              <a:gd name="connsiteX6" fmla="*/ 1842655 w 1842655"/>
              <a:gd name="connsiteY6" fmla="*/ 2660072 h 2660072"/>
              <a:gd name="connsiteX0" fmla="*/ 0 w 1842655"/>
              <a:gd name="connsiteY0" fmla="*/ 0 h 2660072"/>
              <a:gd name="connsiteX1" fmla="*/ 408709 w 1842655"/>
              <a:gd name="connsiteY1" fmla="*/ 173181 h 2660072"/>
              <a:gd name="connsiteX2" fmla="*/ 748146 w 1842655"/>
              <a:gd name="connsiteY2" fmla="*/ 429490 h 2660072"/>
              <a:gd name="connsiteX3" fmla="*/ 1129146 w 1842655"/>
              <a:gd name="connsiteY3" fmla="*/ 838200 h 2660072"/>
              <a:gd name="connsiteX4" fmla="*/ 1420091 w 1842655"/>
              <a:gd name="connsiteY4" fmla="*/ 1309254 h 2660072"/>
              <a:gd name="connsiteX5" fmla="*/ 1690255 w 1842655"/>
              <a:gd name="connsiteY5" fmla="*/ 2008909 h 2660072"/>
              <a:gd name="connsiteX6" fmla="*/ 1842655 w 1842655"/>
              <a:gd name="connsiteY6" fmla="*/ 2660072 h 2660072"/>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24752 w 1878750"/>
              <a:gd name="connsiteY1" fmla="*/ 17719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24752 w 1878750"/>
              <a:gd name="connsiteY1" fmla="*/ 17719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750" h="2668093">
                <a:moveTo>
                  <a:pt x="0" y="0"/>
                </a:moveTo>
                <a:cubicBezTo>
                  <a:pt x="148268" y="60401"/>
                  <a:pt x="294045" y="104274"/>
                  <a:pt x="424752" y="177192"/>
                </a:cubicBezTo>
                <a:cubicBezTo>
                  <a:pt x="555459" y="250110"/>
                  <a:pt x="664168" y="326675"/>
                  <a:pt x="784241" y="437511"/>
                </a:cubicBezTo>
                <a:cubicBezTo>
                  <a:pt x="904314" y="548347"/>
                  <a:pt x="1053250" y="699594"/>
                  <a:pt x="1165241" y="846221"/>
                </a:cubicBezTo>
                <a:cubicBezTo>
                  <a:pt x="1277232" y="992848"/>
                  <a:pt x="1362668" y="1122157"/>
                  <a:pt x="1456186" y="1317275"/>
                </a:cubicBezTo>
                <a:cubicBezTo>
                  <a:pt x="1549704" y="1512393"/>
                  <a:pt x="1655923" y="1791794"/>
                  <a:pt x="1726350" y="2016930"/>
                </a:cubicBezTo>
                <a:lnTo>
                  <a:pt x="1878750" y="2668093"/>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 name="任意多边形 4"/>
          <p:cNvSpPr/>
          <p:nvPr/>
        </p:nvSpPr>
        <p:spPr bwMode="auto">
          <a:xfrm>
            <a:off x="5908964" y="1567780"/>
            <a:ext cx="1108363" cy="2424546"/>
          </a:xfrm>
          <a:custGeom>
            <a:avLst/>
            <a:gdLst>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8363" h="2424546">
                <a:moveTo>
                  <a:pt x="0" y="0"/>
                </a:moveTo>
                <a:cubicBezTo>
                  <a:pt x="92364" y="78509"/>
                  <a:pt x="187037" y="140855"/>
                  <a:pt x="277091" y="235528"/>
                </a:cubicBezTo>
                <a:cubicBezTo>
                  <a:pt x="367146" y="330201"/>
                  <a:pt x="454891" y="438728"/>
                  <a:pt x="540327" y="568037"/>
                </a:cubicBezTo>
                <a:lnTo>
                  <a:pt x="789709" y="1011382"/>
                </a:lnTo>
                <a:cubicBezTo>
                  <a:pt x="860136" y="1174173"/>
                  <a:pt x="917864" y="1365828"/>
                  <a:pt x="962891" y="1544782"/>
                </a:cubicBezTo>
                <a:cubicBezTo>
                  <a:pt x="1007918" y="1723736"/>
                  <a:pt x="1035627" y="1938482"/>
                  <a:pt x="1059872" y="2085109"/>
                </a:cubicBezTo>
                <a:lnTo>
                  <a:pt x="1108363" y="2424546"/>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8" name="矩形 67"/>
          <p:cNvSpPr/>
          <p:nvPr/>
        </p:nvSpPr>
        <p:spPr>
          <a:xfrm>
            <a:off x="8073268" y="2118783"/>
            <a:ext cx="960666" cy="584775"/>
          </a:xfrm>
          <a:prstGeom prst="rect">
            <a:avLst/>
          </a:prstGeom>
        </p:spPr>
        <p:txBody>
          <a:bodyPr wrap="square">
            <a:spAutoFit/>
          </a:bodyPr>
          <a:lstStyle/>
          <a:p>
            <a:pPr algn="ctr">
              <a:lnSpc>
                <a:spcPct val="100000"/>
              </a:lnSpc>
              <a:buClr>
                <a:srgbClr val="C00000"/>
              </a:buClr>
            </a:pPr>
            <a:r>
              <a:rPr lang="zh-CN" altLang="en-US" sz="16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整体剪切破坏</a:t>
            </a:r>
          </a:p>
        </p:txBody>
      </p:sp>
      <p:cxnSp>
        <p:nvCxnSpPr>
          <p:cNvPr id="7" name="直接连接符 6"/>
          <p:cNvCxnSpPr/>
          <p:nvPr/>
        </p:nvCxnSpPr>
        <p:spPr bwMode="auto">
          <a:xfrm flipV="1">
            <a:off x="8195733" y="2717800"/>
            <a:ext cx="211667" cy="20320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矩形 68"/>
          <p:cNvSpPr/>
          <p:nvPr/>
        </p:nvSpPr>
        <p:spPr>
          <a:xfrm>
            <a:off x="1087970" y="2057979"/>
            <a:ext cx="4339163" cy="1159292"/>
          </a:xfrm>
          <a:prstGeom prst="rect">
            <a:avLst/>
          </a:prstGeom>
        </p:spPr>
        <p:txBody>
          <a:bodyPr wrap="square">
            <a:spAutoFit/>
          </a:bodyPr>
          <a:lstStyle/>
          <a:p>
            <a:pPr marL="177800" indent="-177800">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rPr>
              <a:t>土质坚实，基础埋深浅</a:t>
            </a:r>
            <a:endParaRPr lang="en-US" altLang="zh-CN" sz="2000" b="1" dirty="0">
              <a:solidFill>
                <a:srgbClr val="000066"/>
              </a:solidFill>
              <a:ea typeface="幼圆" panose="02010509060101010101" pitchFamily="49" charset="-122"/>
              <a:cs typeface="Times New Roman" panose="02020603050405020304" pitchFamily="18" charset="0"/>
            </a:endParaRPr>
          </a:p>
          <a:p>
            <a:pPr marL="177800" indent="-177800">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rPr>
              <a:t>破坏时，沉降陡增，两侧土体隆起</a:t>
            </a:r>
            <a:endParaRPr lang="zh-CN" altLang="en-US" sz="2000" b="1" dirty="0">
              <a:solidFill>
                <a:srgbClr val="C00000"/>
              </a:solidFill>
              <a:ea typeface="幼圆" panose="02010509060101010101" pitchFamily="49" charset="-122"/>
              <a:cs typeface="Times New Roman" panose="02020603050405020304" pitchFamily="18" charset="0"/>
            </a:endParaRPr>
          </a:p>
          <a:p>
            <a:pPr marL="177800" indent="-177800">
              <a:lnSpc>
                <a:spcPct val="110000"/>
              </a:lnSpc>
              <a:spcBef>
                <a:spcPts val="100"/>
              </a:spcBef>
              <a:spcAft>
                <a:spcPts val="100"/>
              </a:spcAft>
              <a:buClr>
                <a:srgbClr val="C00000"/>
              </a:buClr>
              <a:buFont typeface="Arial" panose="020B0604020202020204" pitchFamily="34" charset="0"/>
              <a:buChar char="•"/>
            </a:pPr>
            <a:r>
              <a:rPr lang="en-US" altLang="zh-CN" sz="2000" b="1" i="1" dirty="0">
                <a:solidFill>
                  <a:srgbClr val="000066"/>
                </a:solidFill>
                <a:ea typeface="幼圆" panose="02010509060101010101" pitchFamily="49" charset="-122"/>
                <a:cs typeface="Times New Roman" panose="02020603050405020304" pitchFamily="18" charset="0"/>
              </a:rPr>
              <a:t>p</a:t>
            </a:r>
            <a:r>
              <a:rPr lang="en-US"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s</a:t>
            </a:r>
            <a:r>
              <a:rPr lang="zh-CN" altLang="en-US" sz="2000" b="1" dirty="0">
                <a:solidFill>
                  <a:srgbClr val="000066"/>
                </a:solidFill>
                <a:ea typeface="幼圆" panose="02010509060101010101" pitchFamily="49" charset="-122"/>
                <a:cs typeface="Times New Roman" panose="02020603050405020304" pitchFamily="18" charset="0"/>
              </a:rPr>
              <a:t>曲线分三个阶段</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38"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
        <p:nvSpPr>
          <p:cNvPr id="39" name="矩形 38"/>
          <p:cNvSpPr/>
          <p:nvPr/>
        </p:nvSpPr>
        <p:spPr bwMode="auto">
          <a:xfrm>
            <a:off x="902756" y="4015889"/>
            <a:ext cx="4245997" cy="1184744"/>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4" name="任意多边形 43"/>
          <p:cNvSpPr/>
          <p:nvPr/>
        </p:nvSpPr>
        <p:spPr bwMode="auto">
          <a:xfrm flipH="1">
            <a:off x="1040849" y="3907810"/>
            <a:ext cx="1930876" cy="790937"/>
          </a:xfrm>
          <a:custGeom>
            <a:avLst/>
            <a:gdLst>
              <a:gd name="connsiteX0" fmla="*/ 0 w 2162755"/>
              <a:gd name="connsiteY0" fmla="*/ 453224 h 628153"/>
              <a:gd name="connsiteX1" fmla="*/ 166978 w 2162755"/>
              <a:gd name="connsiteY1" fmla="*/ 536713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8153"/>
              <a:gd name="connsiteX1" fmla="*/ 166978 w 2162755"/>
              <a:gd name="connsiteY1" fmla="*/ 548640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1967948 w 2162755"/>
              <a:gd name="connsiteY6" fmla="*/ 107343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657848 w 2162755"/>
              <a:gd name="connsiteY5" fmla="*/ 254442 h 629320"/>
              <a:gd name="connsiteX6" fmla="*/ 1967948 w 2162755"/>
              <a:gd name="connsiteY6" fmla="*/ 107343 h 629320"/>
              <a:gd name="connsiteX7" fmla="*/ 2162755 w 2162755"/>
              <a:gd name="connsiteY7" fmla="*/ 0 h 62932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67948 w 2162755"/>
              <a:gd name="connsiteY6" fmla="*/ 107343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40119 w 2162755"/>
              <a:gd name="connsiteY6" fmla="*/ 111319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10140 w 2162755"/>
              <a:gd name="connsiteY5" fmla="*/ 270344 h 629540"/>
              <a:gd name="connsiteX6" fmla="*/ 1940119 w 2162755"/>
              <a:gd name="connsiteY6" fmla="*/ 111319 h 629540"/>
              <a:gd name="connsiteX7" fmla="*/ 2162755 w 2162755"/>
              <a:gd name="connsiteY7" fmla="*/ 0 h 629540"/>
              <a:gd name="connsiteX0" fmla="*/ 0 w 2162755"/>
              <a:gd name="connsiteY0" fmla="*/ 453224 h 630270"/>
              <a:gd name="connsiteX1" fmla="*/ 178935 w 2162755"/>
              <a:gd name="connsiteY1" fmla="*/ 539987 h 630270"/>
              <a:gd name="connsiteX2" fmla="*/ 405517 w 2162755"/>
              <a:gd name="connsiteY2" fmla="*/ 628153 h 630270"/>
              <a:gd name="connsiteX3" fmla="*/ 795130 w 2162755"/>
              <a:gd name="connsiteY3" fmla="*/ 588396 h 630270"/>
              <a:gd name="connsiteX4" fmla="*/ 1236428 w 2162755"/>
              <a:gd name="connsiteY4" fmla="*/ 433346 h 630270"/>
              <a:gd name="connsiteX5" fmla="*/ 1610140 w 2162755"/>
              <a:gd name="connsiteY5" fmla="*/ 270344 h 630270"/>
              <a:gd name="connsiteX6" fmla="*/ 1940119 w 2162755"/>
              <a:gd name="connsiteY6" fmla="*/ 111319 h 630270"/>
              <a:gd name="connsiteX7" fmla="*/ 2162755 w 2162755"/>
              <a:gd name="connsiteY7" fmla="*/ 0 h 630270"/>
              <a:gd name="connsiteX0" fmla="*/ 0 w 2162755"/>
              <a:gd name="connsiteY0" fmla="*/ 453224 h 605653"/>
              <a:gd name="connsiteX1" fmla="*/ 178935 w 2162755"/>
              <a:gd name="connsiteY1" fmla="*/ 539987 h 605653"/>
              <a:gd name="connsiteX2" fmla="*/ 453345 w 2162755"/>
              <a:gd name="connsiteY2" fmla="*/ 596427 h 605653"/>
              <a:gd name="connsiteX3" fmla="*/ 795130 w 2162755"/>
              <a:gd name="connsiteY3" fmla="*/ 588396 h 605653"/>
              <a:gd name="connsiteX4" fmla="*/ 1236428 w 2162755"/>
              <a:gd name="connsiteY4" fmla="*/ 433346 h 605653"/>
              <a:gd name="connsiteX5" fmla="*/ 1610140 w 2162755"/>
              <a:gd name="connsiteY5" fmla="*/ 270344 h 605653"/>
              <a:gd name="connsiteX6" fmla="*/ 1940119 w 2162755"/>
              <a:gd name="connsiteY6" fmla="*/ 111319 h 605653"/>
              <a:gd name="connsiteX7" fmla="*/ 2162755 w 2162755"/>
              <a:gd name="connsiteY7" fmla="*/ 0 h 605653"/>
              <a:gd name="connsiteX0" fmla="*/ 0 w 2162755"/>
              <a:gd name="connsiteY0" fmla="*/ 453224 h 596540"/>
              <a:gd name="connsiteX1" fmla="*/ 178935 w 2162755"/>
              <a:gd name="connsiteY1" fmla="*/ 539987 h 596540"/>
              <a:gd name="connsiteX2" fmla="*/ 453345 w 2162755"/>
              <a:gd name="connsiteY2" fmla="*/ 596427 h 596540"/>
              <a:gd name="connsiteX3" fmla="*/ 823030 w 2162755"/>
              <a:gd name="connsiteY3" fmla="*/ 550900 h 596540"/>
              <a:gd name="connsiteX4" fmla="*/ 1236428 w 2162755"/>
              <a:gd name="connsiteY4" fmla="*/ 433346 h 596540"/>
              <a:gd name="connsiteX5" fmla="*/ 1610140 w 2162755"/>
              <a:gd name="connsiteY5" fmla="*/ 270344 h 596540"/>
              <a:gd name="connsiteX6" fmla="*/ 1940119 w 2162755"/>
              <a:gd name="connsiteY6" fmla="*/ 111319 h 596540"/>
              <a:gd name="connsiteX7" fmla="*/ 2162755 w 2162755"/>
              <a:gd name="connsiteY7" fmla="*/ 0 h 596540"/>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610140 w 2162755"/>
              <a:gd name="connsiteY5" fmla="*/ 270344 h 596557"/>
              <a:gd name="connsiteX6" fmla="*/ 1940119 w 2162755"/>
              <a:gd name="connsiteY6" fmla="*/ 111319 h 596557"/>
              <a:gd name="connsiteX7" fmla="*/ 2162755 w 2162755"/>
              <a:gd name="connsiteY7" fmla="*/ 0 h 596557"/>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586225 w 2162755"/>
              <a:gd name="connsiteY5" fmla="*/ 267460 h 596557"/>
              <a:gd name="connsiteX6" fmla="*/ 1940119 w 2162755"/>
              <a:gd name="connsiteY6" fmla="*/ 111319 h 596557"/>
              <a:gd name="connsiteX7" fmla="*/ 2162755 w 2162755"/>
              <a:gd name="connsiteY7" fmla="*/ 0 h 596557"/>
              <a:gd name="connsiteX0" fmla="*/ 0 w 2162755"/>
              <a:gd name="connsiteY0" fmla="*/ 453224 h 574299"/>
              <a:gd name="connsiteX1" fmla="*/ 178935 w 2162755"/>
              <a:gd name="connsiteY1" fmla="*/ 539987 h 574299"/>
              <a:gd name="connsiteX2" fmla="*/ 461317 w 2162755"/>
              <a:gd name="connsiteY2" fmla="*/ 573352 h 574299"/>
              <a:gd name="connsiteX3" fmla="*/ 823030 w 2162755"/>
              <a:gd name="connsiteY3" fmla="*/ 550900 h 574299"/>
              <a:gd name="connsiteX4" fmla="*/ 1236428 w 2162755"/>
              <a:gd name="connsiteY4" fmla="*/ 416041 h 574299"/>
              <a:gd name="connsiteX5" fmla="*/ 1586225 w 2162755"/>
              <a:gd name="connsiteY5" fmla="*/ 267460 h 574299"/>
              <a:gd name="connsiteX6" fmla="*/ 1940119 w 2162755"/>
              <a:gd name="connsiteY6" fmla="*/ 111319 h 574299"/>
              <a:gd name="connsiteX7" fmla="*/ 2162755 w 2162755"/>
              <a:gd name="connsiteY7" fmla="*/ 0 h 574299"/>
              <a:gd name="connsiteX0" fmla="*/ 0 w 2162755"/>
              <a:gd name="connsiteY0" fmla="*/ 453224 h 573976"/>
              <a:gd name="connsiteX1" fmla="*/ 178935 w 2162755"/>
              <a:gd name="connsiteY1" fmla="*/ 539987 h 573976"/>
              <a:gd name="connsiteX2" fmla="*/ 461317 w 2162755"/>
              <a:gd name="connsiteY2" fmla="*/ 573352 h 573976"/>
              <a:gd name="connsiteX3" fmla="*/ 838974 w 2162755"/>
              <a:gd name="connsiteY3" fmla="*/ 522058 h 573976"/>
              <a:gd name="connsiteX4" fmla="*/ 1236428 w 2162755"/>
              <a:gd name="connsiteY4" fmla="*/ 416041 h 573976"/>
              <a:gd name="connsiteX5" fmla="*/ 1586225 w 2162755"/>
              <a:gd name="connsiteY5" fmla="*/ 267460 h 573976"/>
              <a:gd name="connsiteX6" fmla="*/ 1940119 w 2162755"/>
              <a:gd name="connsiteY6" fmla="*/ 111319 h 573976"/>
              <a:gd name="connsiteX7" fmla="*/ 2162755 w 2162755"/>
              <a:gd name="connsiteY7" fmla="*/ 0 h 573976"/>
              <a:gd name="connsiteX0" fmla="*/ 0 w 2162755"/>
              <a:gd name="connsiteY0" fmla="*/ 453224 h 580113"/>
              <a:gd name="connsiteX1" fmla="*/ 234735 w 2162755"/>
              <a:gd name="connsiteY1" fmla="*/ 560177 h 580113"/>
              <a:gd name="connsiteX2" fmla="*/ 461317 w 2162755"/>
              <a:gd name="connsiteY2" fmla="*/ 573352 h 580113"/>
              <a:gd name="connsiteX3" fmla="*/ 838974 w 2162755"/>
              <a:gd name="connsiteY3" fmla="*/ 522058 h 580113"/>
              <a:gd name="connsiteX4" fmla="*/ 1236428 w 2162755"/>
              <a:gd name="connsiteY4" fmla="*/ 416041 h 580113"/>
              <a:gd name="connsiteX5" fmla="*/ 1586225 w 2162755"/>
              <a:gd name="connsiteY5" fmla="*/ 267460 h 580113"/>
              <a:gd name="connsiteX6" fmla="*/ 1940119 w 2162755"/>
              <a:gd name="connsiteY6" fmla="*/ 111319 h 580113"/>
              <a:gd name="connsiteX7" fmla="*/ 2162755 w 2162755"/>
              <a:gd name="connsiteY7" fmla="*/ 0 h 580113"/>
              <a:gd name="connsiteX0" fmla="*/ 0 w 2162755"/>
              <a:gd name="connsiteY0" fmla="*/ 453224 h 578650"/>
              <a:gd name="connsiteX1" fmla="*/ 234735 w 2162755"/>
              <a:gd name="connsiteY1" fmla="*/ 560177 h 578650"/>
              <a:gd name="connsiteX2" fmla="*/ 521102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8650"/>
              <a:gd name="connsiteX1" fmla="*/ 234735 w 2162755"/>
              <a:gd name="connsiteY1" fmla="*/ 560177 h 578650"/>
              <a:gd name="connsiteX2" fmla="*/ 537045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0604"/>
              <a:gd name="connsiteX1" fmla="*/ 174949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1743"/>
              <a:gd name="connsiteX1" fmla="*/ 238721 w 2162755"/>
              <a:gd name="connsiteY1" fmla="*/ 542871 h 571743"/>
              <a:gd name="connsiteX2" fmla="*/ 537045 w 2162755"/>
              <a:gd name="connsiteY2" fmla="*/ 570468 h 571743"/>
              <a:gd name="connsiteX3" fmla="*/ 838974 w 2162755"/>
              <a:gd name="connsiteY3" fmla="*/ 522058 h 571743"/>
              <a:gd name="connsiteX4" fmla="*/ 1224470 w 2162755"/>
              <a:gd name="connsiteY4" fmla="*/ 410273 h 571743"/>
              <a:gd name="connsiteX5" fmla="*/ 1586225 w 2162755"/>
              <a:gd name="connsiteY5" fmla="*/ 267460 h 571743"/>
              <a:gd name="connsiteX6" fmla="*/ 1924176 w 2162755"/>
              <a:gd name="connsiteY6" fmla="*/ 117087 h 571743"/>
              <a:gd name="connsiteX7" fmla="*/ 2162755 w 2162755"/>
              <a:gd name="connsiteY7" fmla="*/ 0 h 571743"/>
              <a:gd name="connsiteX0" fmla="*/ 0 w 2162755"/>
              <a:gd name="connsiteY0" fmla="*/ 453224 h 570604"/>
              <a:gd name="connsiteX1" fmla="*/ 2466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468"/>
              <a:gd name="connsiteX1" fmla="*/ 214806 w 2162755"/>
              <a:gd name="connsiteY1" fmla="*/ 522681 h 570468"/>
              <a:gd name="connsiteX2" fmla="*/ 537045 w 2162755"/>
              <a:gd name="connsiteY2" fmla="*/ 570468 h 570468"/>
              <a:gd name="connsiteX3" fmla="*/ 838974 w 2162755"/>
              <a:gd name="connsiteY3" fmla="*/ 522058 h 570468"/>
              <a:gd name="connsiteX4" fmla="*/ 1224470 w 2162755"/>
              <a:gd name="connsiteY4" fmla="*/ 410273 h 570468"/>
              <a:gd name="connsiteX5" fmla="*/ 1586225 w 2162755"/>
              <a:gd name="connsiteY5" fmla="*/ 267460 h 570468"/>
              <a:gd name="connsiteX6" fmla="*/ 1924176 w 2162755"/>
              <a:gd name="connsiteY6" fmla="*/ 117087 h 570468"/>
              <a:gd name="connsiteX7" fmla="*/ 2162755 w 2162755"/>
              <a:gd name="connsiteY7" fmla="*/ 0 h 570468"/>
              <a:gd name="connsiteX0" fmla="*/ 0 w 2162755"/>
              <a:gd name="connsiteY0" fmla="*/ 453224 h 582006"/>
              <a:gd name="connsiteX1" fmla="*/ 214806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924176 w 2162755"/>
              <a:gd name="connsiteY6" fmla="*/ 117087 h 582059"/>
              <a:gd name="connsiteX7" fmla="*/ 2162755 w 2162755"/>
              <a:gd name="connsiteY7" fmla="*/ 0 h 582059"/>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876347 w 2162755"/>
              <a:gd name="connsiteY6" fmla="*/ 140160 h 582059"/>
              <a:gd name="connsiteX7" fmla="*/ 2162755 w 2162755"/>
              <a:gd name="connsiteY7" fmla="*/ 0 h 582059"/>
              <a:gd name="connsiteX0" fmla="*/ 0 w 2126884"/>
              <a:gd name="connsiteY0" fmla="*/ 421497 h 550332"/>
              <a:gd name="connsiteX1" fmla="*/ 198863 w 2126884"/>
              <a:gd name="connsiteY1" fmla="*/ 490954 h 550332"/>
              <a:gd name="connsiteX2" fmla="*/ 521103 w 2126884"/>
              <a:gd name="connsiteY2" fmla="*/ 550279 h 550332"/>
              <a:gd name="connsiteX3" fmla="*/ 854916 w 2126884"/>
              <a:gd name="connsiteY3" fmla="*/ 498984 h 550332"/>
              <a:gd name="connsiteX4" fmla="*/ 1224470 w 2126884"/>
              <a:gd name="connsiteY4" fmla="*/ 378546 h 550332"/>
              <a:gd name="connsiteX5" fmla="*/ 1586225 w 2126884"/>
              <a:gd name="connsiteY5" fmla="*/ 235733 h 550332"/>
              <a:gd name="connsiteX6" fmla="*/ 1876347 w 2126884"/>
              <a:gd name="connsiteY6" fmla="*/ 108433 h 550332"/>
              <a:gd name="connsiteX7" fmla="*/ 2126884 w 2126884"/>
              <a:gd name="connsiteY7" fmla="*/ 0 h 550332"/>
              <a:gd name="connsiteX0" fmla="*/ 0 w 2126884"/>
              <a:gd name="connsiteY0" fmla="*/ 421497 h 550283"/>
              <a:gd name="connsiteX1" fmla="*/ 218792 w 2126884"/>
              <a:gd name="connsiteY1" fmla="*/ 496722 h 550283"/>
              <a:gd name="connsiteX2" fmla="*/ 521103 w 2126884"/>
              <a:gd name="connsiteY2" fmla="*/ 550279 h 550283"/>
              <a:gd name="connsiteX3" fmla="*/ 854916 w 2126884"/>
              <a:gd name="connsiteY3" fmla="*/ 498984 h 550283"/>
              <a:gd name="connsiteX4" fmla="*/ 1224470 w 2126884"/>
              <a:gd name="connsiteY4" fmla="*/ 378546 h 550283"/>
              <a:gd name="connsiteX5" fmla="*/ 1586225 w 2126884"/>
              <a:gd name="connsiteY5" fmla="*/ 235733 h 550283"/>
              <a:gd name="connsiteX6" fmla="*/ 1876347 w 2126884"/>
              <a:gd name="connsiteY6" fmla="*/ 108433 h 550283"/>
              <a:gd name="connsiteX7" fmla="*/ 2126884 w 2126884"/>
              <a:gd name="connsiteY7" fmla="*/ 0 h 550283"/>
              <a:gd name="connsiteX0" fmla="*/ 0 w 1880018"/>
              <a:gd name="connsiteY0" fmla="*/ 508147 h 636933"/>
              <a:gd name="connsiteX1" fmla="*/ 218792 w 1880018"/>
              <a:gd name="connsiteY1" fmla="*/ 583372 h 636933"/>
              <a:gd name="connsiteX2" fmla="*/ 521103 w 1880018"/>
              <a:gd name="connsiteY2" fmla="*/ 636929 h 636933"/>
              <a:gd name="connsiteX3" fmla="*/ 854916 w 1880018"/>
              <a:gd name="connsiteY3" fmla="*/ 585634 h 636933"/>
              <a:gd name="connsiteX4" fmla="*/ 1224470 w 1880018"/>
              <a:gd name="connsiteY4" fmla="*/ 465196 h 636933"/>
              <a:gd name="connsiteX5" fmla="*/ 1586225 w 1880018"/>
              <a:gd name="connsiteY5" fmla="*/ 322383 h 636933"/>
              <a:gd name="connsiteX6" fmla="*/ 1876347 w 1880018"/>
              <a:gd name="connsiteY6" fmla="*/ 195083 h 636933"/>
              <a:gd name="connsiteX7" fmla="*/ 673632 w 1880018"/>
              <a:gd name="connsiteY7" fmla="*/ 0 h 636933"/>
              <a:gd name="connsiteX0" fmla="*/ 0 w 2171346"/>
              <a:gd name="connsiteY0" fmla="*/ 508147 h 636933"/>
              <a:gd name="connsiteX1" fmla="*/ 218792 w 2171346"/>
              <a:gd name="connsiteY1" fmla="*/ 583372 h 636933"/>
              <a:gd name="connsiteX2" fmla="*/ 521103 w 2171346"/>
              <a:gd name="connsiteY2" fmla="*/ 636929 h 636933"/>
              <a:gd name="connsiteX3" fmla="*/ 854916 w 2171346"/>
              <a:gd name="connsiteY3" fmla="*/ 585634 h 636933"/>
              <a:gd name="connsiteX4" fmla="*/ 1224470 w 2171346"/>
              <a:gd name="connsiteY4" fmla="*/ 465196 h 636933"/>
              <a:gd name="connsiteX5" fmla="*/ 1586225 w 2171346"/>
              <a:gd name="connsiteY5" fmla="*/ 322383 h 636933"/>
              <a:gd name="connsiteX6" fmla="*/ 1876347 w 2171346"/>
              <a:gd name="connsiteY6" fmla="*/ 195083 h 636933"/>
              <a:gd name="connsiteX7" fmla="*/ 2118372 w 2171346"/>
              <a:gd name="connsiteY7" fmla="*/ 82136 h 636933"/>
              <a:gd name="connsiteX8" fmla="*/ 673632 w 2171346"/>
              <a:gd name="connsiteY8" fmla="*/ 0 h 636933"/>
              <a:gd name="connsiteX0" fmla="*/ 0 w 2120360"/>
              <a:gd name="connsiteY0" fmla="*/ 508147 h 636933"/>
              <a:gd name="connsiteX1" fmla="*/ 218792 w 2120360"/>
              <a:gd name="connsiteY1" fmla="*/ 583372 h 636933"/>
              <a:gd name="connsiteX2" fmla="*/ 521103 w 2120360"/>
              <a:gd name="connsiteY2" fmla="*/ 636929 h 636933"/>
              <a:gd name="connsiteX3" fmla="*/ 854916 w 2120360"/>
              <a:gd name="connsiteY3" fmla="*/ 585634 h 636933"/>
              <a:gd name="connsiteX4" fmla="*/ 1224470 w 2120360"/>
              <a:gd name="connsiteY4" fmla="*/ 465196 h 636933"/>
              <a:gd name="connsiteX5" fmla="*/ 1586225 w 2120360"/>
              <a:gd name="connsiteY5" fmla="*/ 322383 h 636933"/>
              <a:gd name="connsiteX6" fmla="*/ 1876347 w 2120360"/>
              <a:gd name="connsiteY6" fmla="*/ 195083 h 636933"/>
              <a:gd name="connsiteX7" fmla="*/ 2118372 w 2120360"/>
              <a:gd name="connsiteY7" fmla="*/ 82136 h 636933"/>
              <a:gd name="connsiteX8" fmla="*/ 1632728 w 2120360"/>
              <a:gd name="connsiteY8" fmla="*/ 22566 h 636933"/>
              <a:gd name="connsiteX9" fmla="*/ 673632 w 2120360"/>
              <a:gd name="connsiteY9" fmla="*/ 0 h 636933"/>
              <a:gd name="connsiteX0" fmla="*/ 0 w 2120360"/>
              <a:gd name="connsiteY0" fmla="*/ 508646 h 637432"/>
              <a:gd name="connsiteX1" fmla="*/ 218792 w 2120360"/>
              <a:gd name="connsiteY1" fmla="*/ 583871 h 637432"/>
              <a:gd name="connsiteX2" fmla="*/ 521103 w 2120360"/>
              <a:gd name="connsiteY2" fmla="*/ 637428 h 637432"/>
              <a:gd name="connsiteX3" fmla="*/ 854916 w 2120360"/>
              <a:gd name="connsiteY3" fmla="*/ 586133 h 637432"/>
              <a:gd name="connsiteX4" fmla="*/ 1224470 w 2120360"/>
              <a:gd name="connsiteY4" fmla="*/ 465695 h 637432"/>
              <a:gd name="connsiteX5" fmla="*/ 1586225 w 2120360"/>
              <a:gd name="connsiteY5" fmla="*/ 322882 h 637432"/>
              <a:gd name="connsiteX6" fmla="*/ 1876347 w 2120360"/>
              <a:gd name="connsiteY6" fmla="*/ 195582 h 637432"/>
              <a:gd name="connsiteX7" fmla="*/ 2118372 w 2120360"/>
              <a:gd name="connsiteY7" fmla="*/ 82635 h 637432"/>
              <a:gd name="connsiteX8" fmla="*/ 1632728 w 2120360"/>
              <a:gd name="connsiteY8" fmla="*/ 23065 h 637432"/>
              <a:gd name="connsiteX9" fmla="*/ 1125009 w 2120360"/>
              <a:gd name="connsiteY9" fmla="*/ 1402 h 637432"/>
              <a:gd name="connsiteX10" fmla="*/ 673632 w 2120360"/>
              <a:gd name="connsiteY10" fmla="*/ 499 h 637432"/>
              <a:gd name="connsiteX0" fmla="*/ 0 w 2120360"/>
              <a:gd name="connsiteY0" fmla="*/ 508646 h 637432"/>
              <a:gd name="connsiteX1" fmla="*/ 218792 w 2120360"/>
              <a:gd name="connsiteY1" fmla="*/ 583871 h 637432"/>
              <a:gd name="connsiteX2" fmla="*/ 521103 w 2120360"/>
              <a:gd name="connsiteY2" fmla="*/ 637428 h 637432"/>
              <a:gd name="connsiteX3" fmla="*/ 854916 w 2120360"/>
              <a:gd name="connsiteY3" fmla="*/ 586133 h 637432"/>
              <a:gd name="connsiteX4" fmla="*/ 1224470 w 2120360"/>
              <a:gd name="connsiteY4" fmla="*/ 465695 h 637432"/>
              <a:gd name="connsiteX5" fmla="*/ 1586225 w 2120360"/>
              <a:gd name="connsiteY5" fmla="*/ 322882 h 637432"/>
              <a:gd name="connsiteX6" fmla="*/ 1876347 w 2120360"/>
              <a:gd name="connsiteY6" fmla="*/ 195582 h 637432"/>
              <a:gd name="connsiteX7" fmla="*/ 2118372 w 2120360"/>
              <a:gd name="connsiteY7" fmla="*/ 82635 h 637432"/>
              <a:gd name="connsiteX8" fmla="*/ 1632728 w 2120360"/>
              <a:gd name="connsiteY8" fmla="*/ 23065 h 637432"/>
              <a:gd name="connsiteX9" fmla="*/ 1125009 w 2120360"/>
              <a:gd name="connsiteY9" fmla="*/ 1402 h 637432"/>
              <a:gd name="connsiteX10" fmla="*/ 673632 w 2120360"/>
              <a:gd name="connsiteY10" fmla="*/ 499 h 637432"/>
              <a:gd name="connsiteX11" fmla="*/ 0 w 2120360"/>
              <a:gd name="connsiteY11" fmla="*/ 508646 h 637432"/>
              <a:gd name="connsiteX0" fmla="*/ 0 w 2120360"/>
              <a:gd name="connsiteY0" fmla="*/ 523206 h 651992"/>
              <a:gd name="connsiteX1" fmla="*/ 218792 w 2120360"/>
              <a:gd name="connsiteY1" fmla="*/ 598431 h 651992"/>
              <a:gd name="connsiteX2" fmla="*/ 521103 w 2120360"/>
              <a:gd name="connsiteY2" fmla="*/ 651988 h 651992"/>
              <a:gd name="connsiteX3" fmla="*/ 854916 w 2120360"/>
              <a:gd name="connsiteY3" fmla="*/ 600693 h 651992"/>
              <a:gd name="connsiteX4" fmla="*/ 1224470 w 2120360"/>
              <a:gd name="connsiteY4" fmla="*/ 480255 h 651992"/>
              <a:gd name="connsiteX5" fmla="*/ 1586225 w 2120360"/>
              <a:gd name="connsiteY5" fmla="*/ 337442 h 651992"/>
              <a:gd name="connsiteX6" fmla="*/ 1876347 w 2120360"/>
              <a:gd name="connsiteY6" fmla="*/ 210142 h 651992"/>
              <a:gd name="connsiteX7" fmla="*/ 2118372 w 2120360"/>
              <a:gd name="connsiteY7" fmla="*/ 97195 h 651992"/>
              <a:gd name="connsiteX8" fmla="*/ 1632728 w 2120360"/>
              <a:gd name="connsiteY8" fmla="*/ 37625 h 651992"/>
              <a:gd name="connsiteX9" fmla="*/ 1125009 w 2120360"/>
              <a:gd name="connsiteY9" fmla="*/ 15962 h 651992"/>
              <a:gd name="connsiteX10" fmla="*/ 673632 w 2120360"/>
              <a:gd name="connsiteY10" fmla="*/ 15059 h 651992"/>
              <a:gd name="connsiteX11" fmla="*/ 488522 w 2120360"/>
              <a:gd name="connsiteY11" fmla="*/ 105320 h 651992"/>
              <a:gd name="connsiteX12" fmla="*/ 0 w 2120360"/>
              <a:gd name="connsiteY12" fmla="*/ 523206 h 651992"/>
              <a:gd name="connsiteX0" fmla="*/ 0 w 2120360"/>
              <a:gd name="connsiteY0" fmla="*/ 514552 h 643338"/>
              <a:gd name="connsiteX1" fmla="*/ 218792 w 2120360"/>
              <a:gd name="connsiteY1" fmla="*/ 589777 h 643338"/>
              <a:gd name="connsiteX2" fmla="*/ 521103 w 2120360"/>
              <a:gd name="connsiteY2" fmla="*/ 643334 h 643338"/>
              <a:gd name="connsiteX3" fmla="*/ 854916 w 2120360"/>
              <a:gd name="connsiteY3" fmla="*/ 592039 h 643338"/>
              <a:gd name="connsiteX4" fmla="*/ 1224470 w 2120360"/>
              <a:gd name="connsiteY4" fmla="*/ 471601 h 643338"/>
              <a:gd name="connsiteX5" fmla="*/ 1586225 w 2120360"/>
              <a:gd name="connsiteY5" fmla="*/ 328788 h 643338"/>
              <a:gd name="connsiteX6" fmla="*/ 1876347 w 2120360"/>
              <a:gd name="connsiteY6" fmla="*/ 201488 h 643338"/>
              <a:gd name="connsiteX7" fmla="*/ 2118372 w 2120360"/>
              <a:gd name="connsiteY7" fmla="*/ 88541 h 643338"/>
              <a:gd name="connsiteX8" fmla="*/ 1632728 w 2120360"/>
              <a:gd name="connsiteY8" fmla="*/ 28971 h 643338"/>
              <a:gd name="connsiteX9" fmla="*/ 1125009 w 2120360"/>
              <a:gd name="connsiteY9" fmla="*/ 7308 h 643338"/>
              <a:gd name="connsiteX10" fmla="*/ 680991 w 2120360"/>
              <a:gd name="connsiteY10" fmla="*/ 19943 h 643338"/>
              <a:gd name="connsiteX11" fmla="*/ 488522 w 2120360"/>
              <a:gd name="connsiteY11" fmla="*/ 96666 h 643338"/>
              <a:gd name="connsiteX12" fmla="*/ 0 w 2120360"/>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1378"/>
              <a:gd name="connsiteY0" fmla="*/ 514552 h 643338"/>
              <a:gd name="connsiteX1" fmla="*/ 218792 w 2121378"/>
              <a:gd name="connsiteY1" fmla="*/ 589777 h 643338"/>
              <a:gd name="connsiteX2" fmla="*/ 521103 w 2121378"/>
              <a:gd name="connsiteY2" fmla="*/ 643334 h 643338"/>
              <a:gd name="connsiteX3" fmla="*/ 854916 w 2121378"/>
              <a:gd name="connsiteY3" fmla="*/ 592039 h 643338"/>
              <a:gd name="connsiteX4" fmla="*/ 1224470 w 2121378"/>
              <a:gd name="connsiteY4" fmla="*/ 471601 h 643338"/>
              <a:gd name="connsiteX5" fmla="*/ 1586225 w 2121378"/>
              <a:gd name="connsiteY5" fmla="*/ 328788 h 643338"/>
              <a:gd name="connsiteX6" fmla="*/ 1909459 w 2121378"/>
              <a:gd name="connsiteY6" fmla="*/ 212319 h 643338"/>
              <a:gd name="connsiteX7" fmla="*/ 2118372 w 2121378"/>
              <a:gd name="connsiteY7" fmla="*/ 88541 h 643338"/>
              <a:gd name="connsiteX8" fmla="*/ 1632728 w 2121378"/>
              <a:gd name="connsiteY8" fmla="*/ 28971 h 643338"/>
              <a:gd name="connsiteX9" fmla="*/ 1125009 w 2121378"/>
              <a:gd name="connsiteY9" fmla="*/ 7308 h 643338"/>
              <a:gd name="connsiteX10" fmla="*/ 680991 w 2121378"/>
              <a:gd name="connsiteY10" fmla="*/ 19943 h 643338"/>
              <a:gd name="connsiteX11" fmla="*/ 488522 w 2121378"/>
              <a:gd name="connsiteY11" fmla="*/ 96666 h 643338"/>
              <a:gd name="connsiteX12" fmla="*/ 0 w 2121378"/>
              <a:gd name="connsiteY12" fmla="*/ 514552 h 643338"/>
              <a:gd name="connsiteX0" fmla="*/ 0 w 2120922"/>
              <a:gd name="connsiteY0" fmla="*/ 514552 h 643338"/>
              <a:gd name="connsiteX1" fmla="*/ 218792 w 2120922"/>
              <a:gd name="connsiteY1" fmla="*/ 589777 h 643338"/>
              <a:gd name="connsiteX2" fmla="*/ 521103 w 2120922"/>
              <a:gd name="connsiteY2" fmla="*/ 643334 h 643338"/>
              <a:gd name="connsiteX3" fmla="*/ 854916 w 2120922"/>
              <a:gd name="connsiteY3" fmla="*/ 592039 h 643338"/>
              <a:gd name="connsiteX4" fmla="*/ 1224470 w 2120922"/>
              <a:gd name="connsiteY4" fmla="*/ 471601 h 643338"/>
              <a:gd name="connsiteX5" fmla="*/ 1586225 w 2120922"/>
              <a:gd name="connsiteY5" fmla="*/ 328788 h 643338"/>
              <a:gd name="connsiteX6" fmla="*/ 1876347 w 2120922"/>
              <a:gd name="connsiteY6" fmla="*/ 201488 h 643338"/>
              <a:gd name="connsiteX7" fmla="*/ 2118372 w 2120922"/>
              <a:gd name="connsiteY7" fmla="*/ 88541 h 643338"/>
              <a:gd name="connsiteX8" fmla="*/ 1632728 w 2120922"/>
              <a:gd name="connsiteY8" fmla="*/ 28971 h 643338"/>
              <a:gd name="connsiteX9" fmla="*/ 1125009 w 2120922"/>
              <a:gd name="connsiteY9" fmla="*/ 7308 h 643338"/>
              <a:gd name="connsiteX10" fmla="*/ 680991 w 2120922"/>
              <a:gd name="connsiteY10" fmla="*/ 19943 h 643338"/>
              <a:gd name="connsiteX11" fmla="*/ 488522 w 2120922"/>
              <a:gd name="connsiteY11" fmla="*/ 96666 h 643338"/>
              <a:gd name="connsiteX12" fmla="*/ 0 w 2120922"/>
              <a:gd name="connsiteY12" fmla="*/ 514552 h 643338"/>
              <a:gd name="connsiteX0" fmla="*/ 0 w 2120922"/>
              <a:gd name="connsiteY0" fmla="*/ 508147 h 636933"/>
              <a:gd name="connsiteX1" fmla="*/ 218792 w 2120922"/>
              <a:gd name="connsiteY1" fmla="*/ 583372 h 636933"/>
              <a:gd name="connsiteX2" fmla="*/ 521103 w 2120922"/>
              <a:gd name="connsiteY2" fmla="*/ 636929 h 636933"/>
              <a:gd name="connsiteX3" fmla="*/ 854916 w 2120922"/>
              <a:gd name="connsiteY3" fmla="*/ 585634 h 636933"/>
              <a:gd name="connsiteX4" fmla="*/ 1224470 w 2120922"/>
              <a:gd name="connsiteY4" fmla="*/ 465196 h 636933"/>
              <a:gd name="connsiteX5" fmla="*/ 1586225 w 2120922"/>
              <a:gd name="connsiteY5" fmla="*/ 322383 h 636933"/>
              <a:gd name="connsiteX6" fmla="*/ 1876347 w 2120922"/>
              <a:gd name="connsiteY6" fmla="*/ 195083 h 636933"/>
              <a:gd name="connsiteX7" fmla="*/ 2118372 w 2120922"/>
              <a:gd name="connsiteY7" fmla="*/ 82136 h 636933"/>
              <a:gd name="connsiteX8" fmla="*/ 1632728 w 2120922"/>
              <a:gd name="connsiteY8" fmla="*/ 22566 h 636933"/>
              <a:gd name="connsiteX9" fmla="*/ 1125009 w 2120922"/>
              <a:gd name="connsiteY9" fmla="*/ 903 h 636933"/>
              <a:gd name="connsiteX10" fmla="*/ 680991 w 2120922"/>
              <a:gd name="connsiteY10" fmla="*/ 13538 h 636933"/>
              <a:gd name="connsiteX11" fmla="*/ 613612 w 2120922"/>
              <a:gd name="connsiteY11" fmla="*/ 36104 h 636933"/>
              <a:gd name="connsiteX12" fmla="*/ 488522 w 2120922"/>
              <a:gd name="connsiteY12" fmla="*/ 90261 h 636933"/>
              <a:gd name="connsiteX13" fmla="*/ 0 w 2120922"/>
              <a:gd name="connsiteY13" fmla="*/ 508147 h 636933"/>
              <a:gd name="connsiteX0" fmla="*/ 0 w 2120922"/>
              <a:gd name="connsiteY0" fmla="*/ 516344 h 645130"/>
              <a:gd name="connsiteX1" fmla="*/ 218792 w 2120922"/>
              <a:gd name="connsiteY1" fmla="*/ 591569 h 645130"/>
              <a:gd name="connsiteX2" fmla="*/ 521103 w 2120922"/>
              <a:gd name="connsiteY2" fmla="*/ 645126 h 645130"/>
              <a:gd name="connsiteX3" fmla="*/ 854916 w 2120922"/>
              <a:gd name="connsiteY3" fmla="*/ 593831 h 645130"/>
              <a:gd name="connsiteX4" fmla="*/ 1224470 w 2120922"/>
              <a:gd name="connsiteY4" fmla="*/ 473393 h 645130"/>
              <a:gd name="connsiteX5" fmla="*/ 1586225 w 2120922"/>
              <a:gd name="connsiteY5" fmla="*/ 330580 h 645130"/>
              <a:gd name="connsiteX6" fmla="*/ 1876347 w 2120922"/>
              <a:gd name="connsiteY6" fmla="*/ 203280 h 645130"/>
              <a:gd name="connsiteX7" fmla="*/ 2118372 w 2120922"/>
              <a:gd name="connsiteY7" fmla="*/ 90333 h 645130"/>
              <a:gd name="connsiteX8" fmla="*/ 1632728 w 2120922"/>
              <a:gd name="connsiteY8" fmla="*/ 30763 h 645130"/>
              <a:gd name="connsiteX9" fmla="*/ 1125009 w 2120922"/>
              <a:gd name="connsiteY9" fmla="*/ 9100 h 645130"/>
              <a:gd name="connsiteX10" fmla="*/ 765611 w 2120922"/>
              <a:gd name="connsiteY10" fmla="*/ 2781 h 645130"/>
              <a:gd name="connsiteX11" fmla="*/ 613612 w 2120922"/>
              <a:gd name="connsiteY11" fmla="*/ 44301 h 645130"/>
              <a:gd name="connsiteX12" fmla="*/ 488522 w 2120922"/>
              <a:gd name="connsiteY12" fmla="*/ 98458 h 645130"/>
              <a:gd name="connsiteX13" fmla="*/ 0 w 2120922"/>
              <a:gd name="connsiteY13" fmla="*/ 516344 h 645130"/>
              <a:gd name="connsiteX0" fmla="*/ 0 w 2120922"/>
              <a:gd name="connsiteY0" fmla="*/ 516344 h 645130"/>
              <a:gd name="connsiteX1" fmla="*/ 218792 w 2120922"/>
              <a:gd name="connsiteY1" fmla="*/ 591569 h 645130"/>
              <a:gd name="connsiteX2" fmla="*/ 521103 w 2120922"/>
              <a:gd name="connsiteY2" fmla="*/ 645126 h 645130"/>
              <a:gd name="connsiteX3" fmla="*/ 854916 w 2120922"/>
              <a:gd name="connsiteY3" fmla="*/ 593831 h 645130"/>
              <a:gd name="connsiteX4" fmla="*/ 1224470 w 2120922"/>
              <a:gd name="connsiteY4" fmla="*/ 473393 h 645130"/>
              <a:gd name="connsiteX5" fmla="*/ 1586225 w 2120922"/>
              <a:gd name="connsiteY5" fmla="*/ 330580 h 645130"/>
              <a:gd name="connsiteX6" fmla="*/ 1876347 w 2120922"/>
              <a:gd name="connsiteY6" fmla="*/ 203280 h 645130"/>
              <a:gd name="connsiteX7" fmla="*/ 2118372 w 2120922"/>
              <a:gd name="connsiteY7" fmla="*/ 90333 h 645130"/>
              <a:gd name="connsiteX8" fmla="*/ 1632728 w 2120922"/>
              <a:gd name="connsiteY8" fmla="*/ 30763 h 645130"/>
              <a:gd name="connsiteX9" fmla="*/ 1125009 w 2120922"/>
              <a:gd name="connsiteY9" fmla="*/ 9100 h 645130"/>
              <a:gd name="connsiteX10" fmla="*/ 765611 w 2120922"/>
              <a:gd name="connsiteY10" fmla="*/ 2781 h 645130"/>
              <a:gd name="connsiteX11" fmla="*/ 613612 w 2120922"/>
              <a:gd name="connsiteY11" fmla="*/ 44301 h 645130"/>
              <a:gd name="connsiteX12" fmla="*/ 488522 w 2120922"/>
              <a:gd name="connsiteY12" fmla="*/ 98458 h 645130"/>
              <a:gd name="connsiteX13" fmla="*/ 0 w 2120922"/>
              <a:gd name="connsiteY13" fmla="*/ 516344 h 645130"/>
              <a:gd name="connsiteX0" fmla="*/ 0 w 2120922"/>
              <a:gd name="connsiteY0" fmla="*/ 510631 h 639417"/>
              <a:gd name="connsiteX1" fmla="*/ 218792 w 2120922"/>
              <a:gd name="connsiteY1" fmla="*/ 585856 h 639417"/>
              <a:gd name="connsiteX2" fmla="*/ 521103 w 2120922"/>
              <a:gd name="connsiteY2" fmla="*/ 639413 h 639417"/>
              <a:gd name="connsiteX3" fmla="*/ 854916 w 2120922"/>
              <a:gd name="connsiteY3" fmla="*/ 588118 h 639417"/>
              <a:gd name="connsiteX4" fmla="*/ 1224470 w 2120922"/>
              <a:gd name="connsiteY4" fmla="*/ 467680 h 639417"/>
              <a:gd name="connsiteX5" fmla="*/ 1586225 w 2120922"/>
              <a:gd name="connsiteY5" fmla="*/ 324867 h 639417"/>
              <a:gd name="connsiteX6" fmla="*/ 1876347 w 2120922"/>
              <a:gd name="connsiteY6" fmla="*/ 197567 h 639417"/>
              <a:gd name="connsiteX7" fmla="*/ 2118372 w 2120922"/>
              <a:gd name="connsiteY7" fmla="*/ 84620 h 639417"/>
              <a:gd name="connsiteX8" fmla="*/ 1632728 w 2120922"/>
              <a:gd name="connsiteY8" fmla="*/ 25050 h 639417"/>
              <a:gd name="connsiteX9" fmla="*/ 1125009 w 2120922"/>
              <a:gd name="connsiteY9" fmla="*/ 3387 h 639417"/>
              <a:gd name="connsiteX10" fmla="*/ 776649 w 2120922"/>
              <a:gd name="connsiteY10" fmla="*/ 5191 h 639417"/>
              <a:gd name="connsiteX11" fmla="*/ 613612 w 2120922"/>
              <a:gd name="connsiteY11" fmla="*/ 38588 h 639417"/>
              <a:gd name="connsiteX12" fmla="*/ 488522 w 2120922"/>
              <a:gd name="connsiteY12" fmla="*/ 92745 h 639417"/>
              <a:gd name="connsiteX13" fmla="*/ 0 w 2120922"/>
              <a:gd name="connsiteY13" fmla="*/ 510631 h 639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0922" h="639417">
                <a:moveTo>
                  <a:pt x="0" y="510631"/>
                </a:moveTo>
                <a:cubicBezTo>
                  <a:pt x="66288" y="533783"/>
                  <a:pt x="131942" y="564392"/>
                  <a:pt x="218792" y="585856"/>
                </a:cubicBezTo>
                <a:cubicBezTo>
                  <a:pt x="282402" y="615011"/>
                  <a:pt x="415082" y="639036"/>
                  <a:pt x="521103" y="639413"/>
                </a:cubicBezTo>
                <a:cubicBezTo>
                  <a:pt x="627124" y="639790"/>
                  <a:pt x="737688" y="616740"/>
                  <a:pt x="854916" y="588118"/>
                </a:cubicBezTo>
                <a:cubicBezTo>
                  <a:pt x="972144" y="559496"/>
                  <a:pt x="1102585" y="511555"/>
                  <a:pt x="1224470" y="467680"/>
                </a:cubicBezTo>
                <a:cubicBezTo>
                  <a:pt x="1346355" y="423805"/>
                  <a:pt x="1477579" y="369886"/>
                  <a:pt x="1586225" y="324867"/>
                </a:cubicBezTo>
                <a:cubicBezTo>
                  <a:pt x="1694871" y="279848"/>
                  <a:pt x="1821994" y="225423"/>
                  <a:pt x="1876347" y="197567"/>
                </a:cubicBezTo>
                <a:cubicBezTo>
                  <a:pt x="1949096" y="164296"/>
                  <a:pt x="2145485" y="107957"/>
                  <a:pt x="2118372" y="84620"/>
                </a:cubicBezTo>
                <a:cubicBezTo>
                  <a:pt x="2091259" y="61283"/>
                  <a:pt x="1797062" y="36332"/>
                  <a:pt x="1632728" y="25050"/>
                </a:cubicBezTo>
                <a:cubicBezTo>
                  <a:pt x="1468394" y="13768"/>
                  <a:pt x="1284858" y="7148"/>
                  <a:pt x="1125009" y="3387"/>
                </a:cubicBezTo>
                <a:cubicBezTo>
                  <a:pt x="965160" y="-374"/>
                  <a:pt x="860656" y="-2481"/>
                  <a:pt x="776649" y="5191"/>
                </a:cubicBezTo>
                <a:cubicBezTo>
                  <a:pt x="692643" y="12863"/>
                  <a:pt x="645690" y="25801"/>
                  <a:pt x="613612" y="38588"/>
                </a:cubicBezTo>
                <a:cubicBezTo>
                  <a:pt x="581534" y="51375"/>
                  <a:pt x="592017" y="15876"/>
                  <a:pt x="488522" y="92745"/>
                </a:cubicBezTo>
                <a:lnTo>
                  <a:pt x="0" y="510631"/>
                </a:lnTo>
                <a:close/>
              </a:path>
            </a:pathLst>
          </a:custGeom>
          <a:solidFill>
            <a:schemeClr val="accent5">
              <a:lumMod val="90000"/>
            </a:schemeClr>
          </a:solidFill>
          <a:ln w="9525" cap="flat" cmpd="sng" algn="ctr">
            <a:noFill/>
            <a:prstDash val="dash"/>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5" name="任意多边形 44"/>
          <p:cNvSpPr/>
          <p:nvPr/>
        </p:nvSpPr>
        <p:spPr bwMode="auto">
          <a:xfrm>
            <a:off x="2986609" y="3904267"/>
            <a:ext cx="1930876" cy="790937"/>
          </a:xfrm>
          <a:custGeom>
            <a:avLst/>
            <a:gdLst>
              <a:gd name="connsiteX0" fmla="*/ 0 w 2162755"/>
              <a:gd name="connsiteY0" fmla="*/ 453224 h 628153"/>
              <a:gd name="connsiteX1" fmla="*/ 166978 w 2162755"/>
              <a:gd name="connsiteY1" fmla="*/ 536713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8153"/>
              <a:gd name="connsiteX1" fmla="*/ 166978 w 2162755"/>
              <a:gd name="connsiteY1" fmla="*/ 548640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1967948 w 2162755"/>
              <a:gd name="connsiteY6" fmla="*/ 107343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657848 w 2162755"/>
              <a:gd name="connsiteY5" fmla="*/ 254442 h 629320"/>
              <a:gd name="connsiteX6" fmla="*/ 1967948 w 2162755"/>
              <a:gd name="connsiteY6" fmla="*/ 107343 h 629320"/>
              <a:gd name="connsiteX7" fmla="*/ 2162755 w 2162755"/>
              <a:gd name="connsiteY7" fmla="*/ 0 h 62932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67948 w 2162755"/>
              <a:gd name="connsiteY6" fmla="*/ 107343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40119 w 2162755"/>
              <a:gd name="connsiteY6" fmla="*/ 111319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10140 w 2162755"/>
              <a:gd name="connsiteY5" fmla="*/ 270344 h 629540"/>
              <a:gd name="connsiteX6" fmla="*/ 1940119 w 2162755"/>
              <a:gd name="connsiteY6" fmla="*/ 111319 h 629540"/>
              <a:gd name="connsiteX7" fmla="*/ 2162755 w 2162755"/>
              <a:gd name="connsiteY7" fmla="*/ 0 h 629540"/>
              <a:gd name="connsiteX0" fmla="*/ 0 w 2162755"/>
              <a:gd name="connsiteY0" fmla="*/ 453224 h 630270"/>
              <a:gd name="connsiteX1" fmla="*/ 178935 w 2162755"/>
              <a:gd name="connsiteY1" fmla="*/ 539987 h 630270"/>
              <a:gd name="connsiteX2" fmla="*/ 405517 w 2162755"/>
              <a:gd name="connsiteY2" fmla="*/ 628153 h 630270"/>
              <a:gd name="connsiteX3" fmla="*/ 795130 w 2162755"/>
              <a:gd name="connsiteY3" fmla="*/ 588396 h 630270"/>
              <a:gd name="connsiteX4" fmla="*/ 1236428 w 2162755"/>
              <a:gd name="connsiteY4" fmla="*/ 433346 h 630270"/>
              <a:gd name="connsiteX5" fmla="*/ 1610140 w 2162755"/>
              <a:gd name="connsiteY5" fmla="*/ 270344 h 630270"/>
              <a:gd name="connsiteX6" fmla="*/ 1940119 w 2162755"/>
              <a:gd name="connsiteY6" fmla="*/ 111319 h 630270"/>
              <a:gd name="connsiteX7" fmla="*/ 2162755 w 2162755"/>
              <a:gd name="connsiteY7" fmla="*/ 0 h 630270"/>
              <a:gd name="connsiteX0" fmla="*/ 0 w 2162755"/>
              <a:gd name="connsiteY0" fmla="*/ 453224 h 605653"/>
              <a:gd name="connsiteX1" fmla="*/ 178935 w 2162755"/>
              <a:gd name="connsiteY1" fmla="*/ 539987 h 605653"/>
              <a:gd name="connsiteX2" fmla="*/ 453345 w 2162755"/>
              <a:gd name="connsiteY2" fmla="*/ 596427 h 605653"/>
              <a:gd name="connsiteX3" fmla="*/ 795130 w 2162755"/>
              <a:gd name="connsiteY3" fmla="*/ 588396 h 605653"/>
              <a:gd name="connsiteX4" fmla="*/ 1236428 w 2162755"/>
              <a:gd name="connsiteY4" fmla="*/ 433346 h 605653"/>
              <a:gd name="connsiteX5" fmla="*/ 1610140 w 2162755"/>
              <a:gd name="connsiteY5" fmla="*/ 270344 h 605653"/>
              <a:gd name="connsiteX6" fmla="*/ 1940119 w 2162755"/>
              <a:gd name="connsiteY6" fmla="*/ 111319 h 605653"/>
              <a:gd name="connsiteX7" fmla="*/ 2162755 w 2162755"/>
              <a:gd name="connsiteY7" fmla="*/ 0 h 605653"/>
              <a:gd name="connsiteX0" fmla="*/ 0 w 2162755"/>
              <a:gd name="connsiteY0" fmla="*/ 453224 h 596540"/>
              <a:gd name="connsiteX1" fmla="*/ 178935 w 2162755"/>
              <a:gd name="connsiteY1" fmla="*/ 539987 h 596540"/>
              <a:gd name="connsiteX2" fmla="*/ 453345 w 2162755"/>
              <a:gd name="connsiteY2" fmla="*/ 596427 h 596540"/>
              <a:gd name="connsiteX3" fmla="*/ 823030 w 2162755"/>
              <a:gd name="connsiteY3" fmla="*/ 550900 h 596540"/>
              <a:gd name="connsiteX4" fmla="*/ 1236428 w 2162755"/>
              <a:gd name="connsiteY4" fmla="*/ 433346 h 596540"/>
              <a:gd name="connsiteX5" fmla="*/ 1610140 w 2162755"/>
              <a:gd name="connsiteY5" fmla="*/ 270344 h 596540"/>
              <a:gd name="connsiteX6" fmla="*/ 1940119 w 2162755"/>
              <a:gd name="connsiteY6" fmla="*/ 111319 h 596540"/>
              <a:gd name="connsiteX7" fmla="*/ 2162755 w 2162755"/>
              <a:gd name="connsiteY7" fmla="*/ 0 h 596540"/>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610140 w 2162755"/>
              <a:gd name="connsiteY5" fmla="*/ 270344 h 596557"/>
              <a:gd name="connsiteX6" fmla="*/ 1940119 w 2162755"/>
              <a:gd name="connsiteY6" fmla="*/ 111319 h 596557"/>
              <a:gd name="connsiteX7" fmla="*/ 2162755 w 2162755"/>
              <a:gd name="connsiteY7" fmla="*/ 0 h 596557"/>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586225 w 2162755"/>
              <a:gd name="connsiteY5" fmla="*/ 267460 h 596557"/>
              <a:gd name="connsiteX6" fmla="*/ 1940119 w 2162755"/>
              <a:gd name="connsiteY6" fmla="*/ 111319 h 596557"/>
              <a:gd name="connsiteX7" fmla="*/ 2162755 w 2162755"/>
              <a:gd name="connsiteY7" fmla="*/ 0 h 596557"/>
              <a:gd name="connsiteX0" fmla="*/ 0 w 2162755"/>
              <a:gd name="connsiteY0" fmla="*/ 453224 h 574299"/>
              <a:gd name="connsiteX1" fmla="*/ 178935 w 2162755"/>
              <a:gd name="connsiteY1" fmla="*/ 539987 h 574299"/>
              <a:gd name="connsiteX2" fmla="*/ 461317 w 2162755"/>
              <a:gd name="connsiteY2" fmla="*/ 573352 h 574299"/>
              <a:gd name="connsiteX3" fmla="*/ 823030 w 2162755"/>
              <a:gd name="connsiteY3" fmla="*/ 550900 h 574299"/>
              <a:gd name="connsiteX4" fmla="*/ 1236428 w 2162755"/>
              <a:gd name="connsiteY4" fmla="*/ 416041 h 574299"/>
              <a:gd name="connsiteX5" fmla="*/ 1586225 w 2162755"/>
              <a:gd name="connsiteY5" fmla="*/ 267460 h 574299"/>
              <a:gd name="connsiteX6" fmla="*/ 1940119 w 2162755"/>
              <a:gd name="connsiteY6" fmla="*/ 111319 h 574299"/>
              <a:gd name="connsiteX7" fmla="*/ 2162755 w 2162755"/>
              <a:gd name="connsiteY7" fmla="*/ 0 h 574299"/>
              <a:gd name="connsiteX0" fmla="*/ 0 w 2162755"/>
              <a:gd name="connsiteY0" fmla="*/ 453224 h 573976"/>
              <a:gd name="connsiteX1" fmla="*/ 178935 w 2162755"/>
              <a:gd name="connsiteY1" fmla="*/ 539987 h 573976"/>
              <a:gd name="connsiteX2" fmla="*/ 461317 w 2162755"/>
              <a:gd name="connsiteY2" fmla="*/ 573352 h 573976"/>
              <a:gd name="connsiteX3" fmla="*/ 838974 w 2162755"/>
              <a:gd name="connsiteY3" fmla="*/ 522058 h 573976"/>
              <a:gd name="connsiteX4" fmla="*/ 1236428 w 2162755"/>
              <a:gd name="connsiteY4" fmla="*/ 416041 h 573976"/>
              <a:gd name="connsiteX5" fmla="*/ 1586225 w 2162755"/>
              <a:gd name="connsiteY5" fmla="*/ 267460 h 573976"/>
              <a:gd name="connsiteX6" fmla="*/ 1940119 w 2162755"/>
              <a:gd name="connsiteY6" fmla="*/ 111319 h 573976"/>
              <a:gd name="connsiteX7" fmla="*/ 2162755 w 2162755"/>
              <a:gd name="connsiteY7" fmla="*/ 0 h 573976"/>
              <a:gd name="connsiteX0" fmla="*/ 0 w 2162755"/>
              <a:gd name="connsiteY0" fmla="*/ 453224 h 580113"/>
              <a:gd name="connsiteX1" fmla="*/ 234735 w 2162755"/>
              <a:gd name="connsiteY1" fmla="*/ 560177 h 580113"/>
              <a:gd name="connsiteX2" fmla="*/ 461317 w 2162755"/>
              <a:gd name="connsiteY2" fmla="*/ 573352 h 580113"/>
              <a:gd name="connsiteX3" fmla="*/ 838974 w 2162755"/>
              <a:gd name="connsiteY3" fmla="*/ 522058 h 580113"/>
              <a:gd name="connsiteX4" fmla="*/ 1236428 w 2162755"/>
              <a:gd name="connsiteY4" fmla="*/ 416041 h 580113"/>
              <a:gd name="connsiteX5" fmla="*/ 1586225 w 2162755"/>
              <a:gd name="connsiteY5" fmla="*/ 267460 h 580113"/>
              <a:gd name="connsiteX6" fmla="*/ 1940119 w 2162755"/>
              <a:gd name="connsiteY6" fmla="*/ 111319 h 580113"/>
              <a:gd name="connsiteX7" fmla="*/ 2162755 w 2162755"/>
              <a:gd name="connsiteY7" fmla="*/ 0 h 580113"/>
              <a:gd name="connsiteX0" fmla="*/ 0 w 2162755"/>
              <a:gd name="connsiteY0" fmla="*/ 453224 h 578650"/>
              <a:gd name="connsiteX1" fmla="*/ 234735 w 2162755"/>
              <a:gd name="connsiteY1" fmla="*/ 560177 h 578650"/>
              <a:gd name="connsiteX2" fmla="*/ 521102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8650"/>
              <a:gd name="connsiteX1" fmla="*/ 234735 w 2162755"/>
              <a:gd name="connsiteY1" fmla="*/ 560177 h 578650"/>
              <a:gd name="connsiteX2" fmla="*/ 537045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0604"/>
              <a:gd name="connsiteX1" fmla="*/ 174949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1743"/>
              <a:gd name="connsiteX1" fmla="*/ 238721 w 2162755"/>
              <a:gd name="connsiteY1" fmla="*/ 542871 h 571743"/>
              <a:gd name="connsiteX2" fmla="*/ 537045 w 2162755"/>
              <a:gd name="connsiteY2" fmla="*/ 570468 h 571743"/>
              <a:gd name="connsiteX3" fmla="*/ 838974 w 2162755"/>
              <a:gd name="connsiteY3" fmla="*/ 522058 h 571743"/>
              <a:gd name="connsiteX4" fmla="*/ 1224470 w 2162755"/>
              <a:gd name="connsiteY4" fmla="*/ 410273 h 571743"/>
              <a:gd name="connsiteX5" fmla="*/ 1586225 w 2162755"/>
              <a:gd name="connsiteY5" fmla="*/ 267460 h 571743"/>
              <a:gd name="connsiteX6" fmla="*/ 1924176 w 2162755"/>
              <a:gd name="connsiteY6" fmla="*/ 117087 h 571743"/>
              <a:gd name="connsiteX7" fmla="*/ 2162755 w 2162755"/>
              <a:gd name="connsiteY7" fmla="*/ 0 h 571743"/>
              <a:gd name="connsiteX0" fmla="*/ 0 w 2162755"/>
              <a:gd name="connsiteY0" fmla="*/ 453224 h 570604"/>
              <a:gd name="connsiteX1" fmla="*/ 2466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468"/>
              <a:gd name="connsiteX1" fmla="*/ 214806 w 2162755"/>
              <a:gd name="connsiteY1" fmla="*/ 522681 h 570468"/>
              <a:gd name="connsiteX2" fmla="*/ 537045 w 2162755"/>
              <a:gd name="connsiteY2" fmla="*/ 570468 h 570468"/>
              <a:gd name="connsiteX3" fmla="*/ 838974 w 2162755"/>
              <a:gd name="connsiteY3" fmla="*/ 522058 h 570468"/>
              <a:gd name="connsiteX4" fmla="*/ 1224470 w 2162755"/>
              <a:gd name="connsiteY4" fmla="*/ 410273 h 570468"/>
              <a:gd name="connsiteX5" fmla="*/ 1586225 w 2162755"/>
              <a:gd name="connsiteY5" fmla="*/ 267460 h 570468"/>
              <a:gd name="connsiteX6" fmla="*/ 1924176 w 2162755"/>
              <a:gd name="connsiteY6" fmla="*/ 117087 h 570468"/>
              <a:gd name="connsiteX7" fmla="*/ 2162755 w 2162755"/>
              <a:gd name="connsiteY7" fmla="*/ 0 h 570468"/>
              <a:gd name="connsiteX0" fmla="*/ 0 w 2162755"/>
              <a:gd name="connsiteY0" fmla="*/ 453224 h 582006"/>
              <a:gd name="connsiteX1" fmla="*/ 214806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924176 w 2162755"/>
              <a:gd name="connsiteY6" fmla="*/ 117087 h 582059"/>
              <a:gd name="connsiteX7" fmla="*/ 2162755 w 2162755"/>
              <a:gd name="connsiteY7" fmla="*/ 0 h 582059"/>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876347 w 2162755"/>
              <a:gd name="connsiteY6" fmla="*/ 140160 h 582059"/>
              <a:gd name="connsiteX7" fmla="*/ 2162755 w 2162755"/>
              <a:gd name="connsiteY7" fmla="*/ 0 h 582059"/>
              <a:gd name="connsiteX0" fmla="*/ 0 w 2126884"/>
              <a:gd name="connsiteY0" fmla="*/ 421497 h 550332"/>
              <a:gd name="connsiteX1" fmla="*/ 198863 w 2126884"/>
              <a:gd name="connsiteY1" fmla="*/ 490954 h 550332"/>
              <a:gd name="connsiteX2" fmla="*/ 521103 w 2126884"/>
              <a:gd name="connsiteY2" fmla="*/ 550279 h 550332"/>
              <a:gd name="connsiteX3" fmla="*/ 854916 w 2126884"/>
              <a:gd name="connsiteY3" fmla="*/ 498984 h 550332"/>
              <a:gd name="connsiteX4" fmla="*/ 1224470 w 2126884"/>
              <a:gd name="connsiteY4" fmla="*/ 378546 h 550332"/>
              <a:gd name="connsiteX5" fmla="*/ 1586225 w 2126884"/>
              <a:gd name="connsiteY5" fmla="*/ 235733 h 550332"/>
              <a:gd name="connsiteX6" fmla="*/ 1876347 w 2126884"/>
              <a:gd name="connsiteY6" fmla="*/ 108433 h 550332"/>
              <a:gd name="connsiteX7" fmla="*/ 2126884 w 2126884"/>
              <a:gd name="connsiteY7" fmla="*/ 0 h 550332"/>
              <a:gd name="connsiteX0" fmla="*/ 0 w 2126884"/>
              <a:gd name="connsiteY0" fmla="*/ 421497 h 550283"/>
              <a:gd name="connsiteX1" fmla="*/ 218792 w 2126884"/>
              <a:gd name="connsiteY1" fmla="*/ 496722 h 550283"/>
              <a:gd name="connsiteX2" fmla="*/ 521103 w 2126884"/>
              <a:gd name="connsiteY2" fmla="*/ 550279 h 550283"/>
              <a:gd name="connsiteX3" fmla="*/ 854916 w 2126884"/>
              <a:gd name="connsiteY3" fmla="*/ 498984 h 550283"/>
              <a:gd name="connsiteX4" fmla="*/ 1224470 w 2126884"/>
              <a:gd name="connsiteY4" fmla="*/ 378546 h 550283"/>
              <a:gd name="connsiteX5" fmla="*/ 1586225 w 2126884"/>
              <a:gd name="connsiteY5" fmla="*/ 235733 h 550283"/>
              <a:gd name="connsiteX6" fmla="*/ 1876347 w 2126884"/>
              <a:gd name="connsiteY6" fmla="*/ 108433 h 550283"/>
              <a:gd name="connsiteX7" fmla="*/ 2126884 w 2126884"/>
              <a:gd name="connsiteY7" fmla="*/ 0 h 550283"/>
              <a:gd name="connsiteX0" fmla="*/ 0 w 1880018"/>
              <a:gd name="connsiteY0" fmla="*/ 508147 h 636933"/>
              <a:gd name="connsiteX1" fmla="*/ 218792 w 1880018"/>
              <a:gd name="connsiteY1" fmla="*/ 583372 h 636933"/>
              <a:gd name="connsiteX2" fmla="*/ 521103 w 1880018"/>
              <a:gd name="connsiteY2" fmla="*/ 636929 h 636933"/>
              <a:gd name="connsiteX3" fmla="*/ 854916 w 1880018"/>
              <a:gd name="connsiteY3" fmla="*/ 585634 h 636933"/>
              <a:gd name="connsiteX4" fmla="*/ 1224470 w 1880018"/>
              <a:gd name="connsiteY4" fmla="*/ 465196 h 636933"/>
              <a:gd name="connsiteX5" fmla="*/ 1586225 w 1880018"/>
              <a:gd name="connsiteY5" fmla="*/ 322383 h 636933"/>
              <a:gd name="connsiteX6" fmla="*/ 1876347 w 1880018"/>
              <a:gd name="connsiteY6" fmla="*/ 195083 h 636933"/>
              <a:gd name="connsiteX7" fmla="*/ 673632 w 1880018"/>
              <a:gd name="connsiteY7" fmla="*/ 0 h 636933"/>
              <a:gd name="connsiteX0" fmla="*/ 0 w 2171346"/>
              <a:gd name="connsiteY0" fmla="*/ 508147 h 636933"/>
              <a:gd name="connsiteX1" fmla="*/ 218792 w 2171346"/>
              <a:gd name="connsiteY1" fmla="*/ 583372 h 636933"/>
              <a:gd name="connsiteX2" fmla="*/ 521103 w 2171346"/>
              <a:gd name="connsiteY2" fmla="*/ 636929 h 636933"/>
              <a:gd name="connsiteX3" fmla="*/ 854916 w 2171346"/>
              <a:gd name="connsiteY3" fmla="*/ 585634 h 636933"/>
              <a:gd name="connsiteX4" fmla="*/ 1224470 w 2171346"/>
              <a:gd name="connsiteY4" fmla="*/ 465196 h 636933"/>
              <a:gd name="connsiteX5" fmla="*/ 1586225 w 2171346"/>
              <a:gd name="connsiteY5" fmla="*/ 322383 h 636933"/>
              <a:gd name="connsiteX6" fmla="*/ 1876347 w 2171346"/>
              <a:gd name="connsiteY6" fmla="*/ 195083 h 636933"/>
              <a:gd name="connsiteX7" fmla="*/ 2118372 w 2171346"/>
              <a:gd name="connsiteY7" fmla="*/ 82136 h 636933"/>
              <a:gd name="connsiteX8" fmla="*/ 673632 w 2171346"/>
              <a:gd name="connsiteY8" fmla="*/ 0 h 636933"/>
              <a:gd name="connsiteX0" fmla="*/ 0 w 2120360"/>
              <a:gd name="connsiteY0" fmla="*/ 508147 h 636933"/>
              <a:gd name="connsiteX1" fmla="*/ 218792 w 2120360"/>
              <a:gd name="connsiteY1" fmla="*/ 583372 h 636933"/>
              <a:gd name="connsiteX2" fmla="*/ 521103 w 2120360"/>
              <a:gd name="connsiteY2" fmla="*/ 636929 h 636933"/>
              <a:gd name="connsiteX3" fmla="*/ 854916 w 2120360"/>
              <a:gd name="connsiteY3" fmla="*/ 585634 h 636933"/>
              <a:gd name="connsiteX4" fmla="*/ 1224470 w 2120360"/>
              <a:gd name="connsiteY4" fmla="*/ 465196 h 636933"/>
              <a:gd name="connsiteX5" fmla="*/ 1586225 w 2120360"/>
              <a:gd name="connsiteY5" fmla="*/ 322383 h 636933"/>
              <a:gd name="connsiteX6" fmla="*/ 1876347 w 2120360"/>
              <a:gd name="connsiteY6" fmla="*/ 195083 h 636933"/>
              <a:gd name="connsiteX7" fmla="*/ 2118372 w 2120360"/>
              <a:gd name="connsiteY7" fmla="*/ 82136 h 636933"/>
              <a:gd name="connsiteX8" fmla="*/ 1632728 w 2120360"/>
              <a:gd name="connsiteY8" fmla="*/ 22566 h 636933"/>
              <a:gd name="connsiteX9" fmla="*/ 673632 w 2120360"/>
              <a:gd name="connsiteY9" fmla="*/ 0 h 636933"/>
              <a:gd name="connsiteX0" fmla="*/ 0 w 2120360"/>
              <a:gd name="connsiteY0" fmla="*/ 508646 h 637432"/>
              <a:gd name="connsiteX1" fmla="*/ 218792 w 2120360"/>
              <a:gd name="connsiteY1" fmla="*/ 583871 h 637432"/>
              <a:gd name="connsiteX2" fmla="*/ 521103 w 2120360"/>
              <a:gd name="connsiteY2" fmla="*/ 637428 h 637432"/>
              <a:gd name="connsiteX3" fmla="*/ 854916 w 2120360"/>
              <a:gd name="connsiteY3" fmla="*/ 586133 h 637432"/>
              <a:gd name="connsiteX4" fmla="*/ 1224470 w 2120360"/>
              <a:gd name="connsiteY4" fmla="*/ 465695 h 637432"/>
              <a:gd name="connsiteX5" fmla="*/ 1586225 w 2120360"/>
              <a:gd name="connsiteY5" fmla="*/ 322882 h 637432"/>
              <a:gd name="connsiteX6" fmla="*/ 1876347 w 2120360"/>
              <a:gd name="connsiteY6" fmla="*/ 195582 h 637432"/>
              <a:gd name="connsiteX7" fmla="*/ 2118372 w 2120360"/>
              <a:gd name="connsiteY7" fmla="*/ 82635 h 637432"/>
              <a:gd name="connsiteX8" fmla="*/ 1632728 w 2120360"/>
              <a:gd name="connsiteY8" fmla="*/ 23065 h 637432"/>
              <a:gd name="connsiteX9" fmla="*/ 1125009 w 2120360"/>
              <a:gd name="connsiteY9" fmla="*/ 1402 h 637432"/>
              <a:gd name="connsiteX10" fmla="*/ 673632 w 2120360"/>
              <a:gd name="connsiteY10" fmla="*/ 499 h 637432"/>
              <a:gd name="connsiteX0" fmla="*/ 0 w 2120360"/>
              <a:gd name="connsiteY0" fmla="*/ 508646 h 637432"/>
              <a:gd name="connsiteX1" fmla="*/ 218792 w 2120360"/>
              <a:gd name="connsiteY1" fmla="*/ 583871 h 637432"/>
              <a:gd name="connsiteX2" fmla="*/ 521103 w 2120360"/>
              <a:gd name="connsiteY2" fmla="*/ 637428 h 637432"/>
              <a:gd name="connsiteX3" fmla="*/ 854916 w 2120360"/>
              <a:gd name="connsiteY3" fmla="*/ 586133 h 637432"/>
              <a:gd name="connsiteX4" fmla="*/ 1224470 w 2120360"/>
              <a:gd name="connsiteY4" fmla="*/ 465695 h 637432"/>
              <a:gd name="connsiteX5" fmla="*/ 1586225 w 2120360"/>
              <a:gd name="connsiteY5" fmla="*/ 322882 h 637432"/>
              <a:gd name="connsiteX6" fmla="*/ 1876347 w 2120360"/>
              <a:gd name="connsiteY6" fmla="*/ 195582 h 637432"/>
              <a:gd name="connsiteX7" fmla="*/ 2118372 w 2120360"/>
              <a:gd name="connsiteY7" fmla="*/ 82635 h 637432"/>
              <a:gd name="connsiteX8" fmla="*/ 1632728 w 2120360"/>
              <a:gd name="connsiteY8" fmla="*/ 23065 h 637432"/>
              <a:gd name="connsiteX9" fmla="*/ 1125009 w 2120360"/>
              <a:gd name="connsiteY9" fmla="*/ 1402 h 637432"/>
              <a:gd name="connsiteX10" fmla="*/ 673632 w 2120360"/>
              <a:gd name="connsiteY10" fmla="*/ 499 h 637432"/>
              <a:gd name="connsiteX11" fmla="*/ 0 w 2120360"/>
              <a:gd name="connsiteY11" fmla="*/ 508646 h 637432"/>
              <a:gd name="connsiteX0" fmla="*/ 0 w 2120360"/>
              <a:gd name="connsiteY0" fmla="*/ 523206 h 651992"/>
              <a:gd name="connsiteX1" fmla="*/ 218792 w 2120360"/>
              <a:gd name="connsiteY1" fmla="*/ 598431 h 651992"/>
              <a:gd name="connsiteX2" fmla="*/ 521103 w 2120360"/>
              <a:gd name="connsiteY2" fmla="*/ 651988 h 651992"/>
              <a:gd name="connsiteX3" fmla="*/ 854916 w 2120360"/>
              <a:gd name="connsiteY3" fmla="*/ 600693 h 651992"/>
              <a:gd name="connsiteX4" fmla="*/ 1224470 w 2120360"/>
              <a:gd name="connsiteY4" fmla="*/ 480255 h 651992"/>
              <a:gd name="connsiteX5" fmla="*/ 1586225 w 2120360"/>
              <a:gd name="connsiteY5" fmla="*/ 337442 h 651992"/>
              <a:gd name="connsiteX6" fmla="*/ 1876347 w 2120360"/>
              <a:gd name="connsiteY6" fmla="*/ 210142 h 651992"/>
              <a:gd name="connsiteX7" fmla="*/ 2118372 w 2120360"/>
              <a:gd name="connsiteY7" fmla="*/ 97195 h 651992"/>
              <a:gd name="connsiteX8" fmla="*/ 1632728 w 2120360"/>
              <a:gd name="connsiteY8" fmla="*/ 37625 h 651992"/>
              <a:gd name="connsiteX9" fmla="*/ 1125009 w 2120360"/>
              <a:gd name="connsiteY9" fmla="*/ 15962 h 651992"/>
              <a:gd name="connsiteX10" fmla="*/ 673632 w 2120360"/>
              <a:gd name="connsiteY10" fmla="*/ 15059 h 651992"/>
              <a:gd name="connsiteX11" fmla="*/ 488522 w 2120360"/>
              <a:gd name="connsiteY11" fmla="*/ 105320 h 651992"/>
              <a:gd name="connsiteX12" fmla="*/ 0 w 2120360"/>
              <a:gd name="connsiteY12" fmla="*/ 523206 h 651992"/>
              <a:gd name="connsiteX0" fmla="*/ 0 w 2120360"/>
              <a:gd name="connsiteY0" fmla="*/ 514552 h 643338"/>
              <a:gd name="connsiteX1" fmla="*/ 218792 w 2120360"/>
              <a:gd name="connsiteY1" fmla="*/ 589777 h 643338"/>
              <a:gd name="connsiteX2" fmla="*/ 521103 w 2120360"/>
              <a:gd name="connsiteY2" fmla="*/ 643334 h 643338"/>
              <a:gd name="connsiteX3" fmla="*/ 854916 w 2120360"/>
              <a:gd name="connsiteY3" fmla="*/ 592039 h 643338"/>
              <a:gd name="connsiteX4" fmla="*/ 1224470 w 2120360"/>
              <a:gd name="connsiteY4" fmla="*/ 471601 h 643338"/>
              <a:gd name="connsiteX5" fmla="*/ 1586225 w 2120360"/>
              <a:gd name="connsiteY5" fmla="*/ 328788 h 643338"/>
              <a:gd name="connsiteX6" fmla="*/ 1876347 w 2120360"/>
              <a:gd name="connsiteY6" fmla="*/ 201488 h 643338"/>
              <a:gd name="connsiteX7" fmla="*/ 2118372 w 2120360"/>
              <a:gd name="connsiteY7" fmla="*/ 88541 h 643338"/>
              <a:gd name="connsiteX8" fmla="*/ 1632728 w 2120360"/>
              <a:gd name="connsiteY8" fmla="*/ 28971 h 643338"/>
              <a:gd name="connsiteX9" fmla="*/ 1125009 w 2120360"/>
              <a:gd name="connsiteY9" fmla="*/ 7308 h 643338"/>
              <a:gd name="connsiteX10" fmla="*/ 680991 w 2120360"/>
              <a:gd name="connsiteY10" fmla="*/ 19943 h 643338"/>
              <a:gd name="connsiteX11" fmla="*/ 488522 w 2120360"/>
              <a:gd name="connsiteY11" fmla="*/ 96666 h 643338"/>
              <a:gd name="connsiteX12" fmla="*/ 0 w 2120360"/>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0629"/>
              <a:gd name="connsiteY0" fmla="*/ 514552 h 643338"/>
              <a:gd name="connsiteX1" fmla="*/ 218792 w 2120629"/>
              <a:gd name="connsiteY1" fmla="*/ 589777 h 643338"/>
              <a:gd name="connsiteX2" fmla="*/ 521103 w 2120629"/>
              <a:gd name="connsiteY2" fmla="*/ 643334 h 643338"/>
              <a:gd name="connsiteX3" fmla="*/ 854916 w 2120629"/>
              <a:gd name="connsiteY3" fmla="*/ 592039 h 643338"/>
              <a:gd name="connsiteX4" fmla="*/ 1224470 w 2120629"/>
              <a:gd name="connsiteY4" fmla="*/ 471601 h 643338"/>
              <a:gd name="connsiteX5" fmla="*/ 1586225 w 2120629"/>
              <a:gd name="connsiteY5" fmla="*/ 328788 h 643338"/>
              <a:gd name="connsiteX6" fmla="*/ 1909459 w 2120629"/>
              <a:gd name="connsiteY6" fmla="*/ 212319 h 643338"/>
              <a:gd name="connsiteX7" fmla="*/ 2118372 w 2120629"/>
              <a:gd name="connsiteY7" fmla="*/ 88541 h 643338"/>
              <a:gd name="connsiteX8" fmla="*/ 1632728 w 2120629"/>
              <a:gd name="connsiteY8" fmla="*/ 28971 h 643338"/>
              <a:gd name="connsiteX9" fmla="*/ 1125009 w 2120629"/>
              <a:gd name="connsiteY9" fmla="*/ 7308 h 643338"/>
              <a:gd name="connsiteX10" fmla="*/ 680991 w 2120629"/>
              <a:gd name="connsiteY10" fmla="*/ 19943 h 643338"/>
              <a:gd name="connsiteX11" fmla="*/ 488522 w 2120629"/>
              <a:gd name="connsiteY11" fmla="*/ 96666 h 643338"/>
              <a:gd name="connsiteX12" fmla="*/ 0 w 2120629"/>
              <a:gd name="connsiteY12" fmla="*/ 514552 h 643338"/>
              <a:gd name="connsiteX0" fmla="*/ 0 w 2121378"/>
              <a:gd name="connsiteY0" fmla="*/ 514552 h 643338"/>
              <a:gd name="connsiteX1" fmla="*/ 218792 w 2121378"/>
              <a:gd name="connsiteY1" fmla="*/ 589777 h 643338"/>
              <a:gd name="connsiteX2" fmla="*/ 521103 w 2121378"/>
              <a:gd name="connsiteY2" fmla="*/ 643334 h 643338"/>
              <a:gd name="connsiteX3" fmla="*/ 854916 w 2121378"/>
              <a:gd name="connsiteY3" fmla="*/ 592039 h 643338"/>
              <a:gd name="connsiteX4" fmla="*/ 1224470 w 2121378"/>
              <a:gd name="connsiteY4" fmla="*/ 471601 h 643338"/>
              <a:gd name="connsiteX5" fmla="*/ 1586225 w 2121378"/>
              <a:gd name="connsiteY5" fmla="*/ 328788 h 643338"/>
              <a:gd name="connsiteX6" fmla="*/ 1909459 w 2121378"/>
              <a:gd name="connsiteY6" fmla="*/ 212319 h 643338"/>
              <a:gd name="connsiteX7" fmla="*/ 2118372 w 2121378"/>
              <a:gd name="connsiteY7" fmla="*/ 88541 h 643338"/>
              <a:gd name="connsiteX8" fmla="*/ 1632728 w 2121378"/>
              <a:gd name="connsiteY8" fmla="*/ 28971 h 643338"/>
              <a:gd name="connsiteX9" fmla="*/ 1125009 w 2121378"/>
              <a:gd name="connsiteY9" fmla="*/ 7308 h 643338"/>
              <a:gd name="connsiteX10" fmla="*/ 680991 w 2121378"/>
              <a:gd name="connsiteY10" fmla="*/ 19943 h 643338"/>
              <a:gd name="connsiteX11" fmla="*/ 488522 w 2121378"/>
              <a:gd name="connsiteY11" fmla="*/ 96666 h 643338"/>
              <a:gd name="connsiteX12" fmla="*/ 0 w 2121378"/>
              <a:gd name="connsiteY12" fmla="*/ 514552 h 643338"/>
              <a:gd name="connsiteX0" fmla="*/ 0 w 2120922"/>
              <a:gd name="connsiteY0" fmla="*/ 514552 h 643338"/>
              <a:gd name="connsiteX1" fmla="*/ 218792 w 2120922"/>
              <a:gd name="connsiteY1" fmla="*/ 589777 h 643338"/>
              <a:gd name="connsiteX2" fmla="*/ 521103 w 2120922"/>
              <a:gd name="connsiteY2" fmla="*/ 643334 h 643338"/>
              <a:gd name="connsiteX3" fmla="*/ 854916 w 2120922"/>
              <a:gd name="connsiteY3" fmla="*/ 592039 h 643338"/>
              <a:gd name="connsiteX4" fmla="*/ 1224470 w 2120922"/>
              <a:gd name="connsiteY4" fmla="*/ 471601 h 643338"/>
              <a:gd name="connsiteX5" fmla="*/ 1586225 w 2120922"/>
              <a:gd name="connsiteY5" fmla="*/ 328788 h 643338"/>
              <a:gd name="connsiteX6" fmla="*/ 1876347 w 2120922"/>
              <a:gd name="connsiteY6" fmla="*/ 201488 h 643338"/>
              <a:gd name="connsiteX7" fmla="*/ 2118372 w 2120922"/>
              <a:gd name="connsiteY7" fmla="*/ 88541 h 643338"/>
              <a:gd name="connsiteX8" fmla="*/ 1632728 w 2120922"/>
              <a:gd name="connsiteY8" fmla="*/ 28971 h 643338"/>
              <a:gd name="connsiteX9" fmla="*/ 1125009 w 2120922"/>
              <a:gd name="connsiteY9" fmla="*/ 7308 h 643338"/>
              <a:gd name="connsiteX10" fmla="*/ 680991 w 2120922"/>
              <a:gd name="connsiteY10" fmla="*/ 19943 h 643338"/>
              <a:gd name="connsiteX11" fmla="*/ 488522 w 2120922"/>
              <a:gd name="connsiteY11" fmla="*/ 96666 h 643338"/>
              <a:gd name="connsiteX12" fmla="*/ 0 w 2120922"/>
              <a:gd name="connsiteY12" fmla="*/ 514552 h 643338"/>
              <a:gd name="connsiteX0" fmla="*/ 0 w 2120922"/>
              <a:gd name="connsiteY0" fmla="*/ 508147 h 636933"/>
              <a:gd name="connsiteX1" fmla="*/ 218792 w 2120922"/>
              <a:gd name="connsiteY1" fmla="*/ 583372 h 636933"/>
              <a:gd name="connsiteX2" fmla="*/ 521103 w 2120922"/>
              <a:gd name="connsiteY2" fmla="*/ 636929 h 636933"/>
              <a:gd name="connsiteX3" fmla="*/ 854916 w 2120922"/>
              <a:gd name="connsiteY3" fmla="*/ 585634 h 636933"/>
              <a:gd name="connsiteX4" fmla="*/ 1224470 w 2120922"/>
              <a:gd name="connsiteY4" fmla="*/ 465196 h 636933"/>
              <a:gd name="connsiteX5" fmla="*/ 1586225 w 2120922"/>
              <a:gd name="connsiteY5" fmla="*/ 322383 h 636933"/>
              <a:gd name="connsiteX6" fmla="*/ 1876347 w 2120922"/>
              <a:gd name="connsiteY6" fmla="*/ 195083 h 636933"/>
              <a:gd name="connsiteX7" fmla="*/ 2118372 w 2120922"/>
              <a:gd name="connsiteY7" fmla="*/ 82136 h 636933"/>
              <a:gd name="connsiteX8" fmla="*/ 1632728 w 2120922"/>
              <a:gd name="connsiteY8" fmla="*/ 22566 h 636933"/>
              <a:gd name="connsiteX9" fmla="*/ 1125009 w 2120922"/>
              <a:gd name="connsiteY9" fmla="*/ 903 h 636933"/>
              <a:gd name="connsiteX10" fmla="*/ 680991 w 2120922"/>
              <a:gd name="connsiteY10" fmla="*/ 13538 h 636933"/>
              <a:gd name="connsiteX11" fmla="*/ 613612 w 2120922"/>
              <a:gd name="connsiteY11" fmla="*/ 36104 h 636933"/>
              <a:gd name="connsiteX12" fmla="*/ 488522 w 2120922"/>
              <a:gd name="connsiteY12" fmla="*/ 90261 h 636933"/>
              <a:gd name="connsiteX13" fmla="*/ 0 w 2120922"/>
              <a:gd name="connsiteY13" fmla="*/ 508147 h 636933"/>
              <a:gd name="connsiteX0" fmla="*/ 0 w 2120922"/>
              <a:gd name="connsiteY0" fmla="*/ 516344 h 645130"/>
              <a:gd name="connsiteX1" fmla="*/ 218792 w 2120922"/>
              <a:gd name="connsiteY1" fmla="*/ 591569 h 645130"/>
              <a:gd name="connsiteX2" fmla="*/ 521103 w 2120922"/>
              <a:gd name="connsiteY2" fmla="*/ 645126 h 645130"/>
              <a:gd name="connsiteX3" fmla="*/ 854916 w 2120922"/>
              <a:gd name="connsiteY3" fmla="*/ 593831 h 645130"/>
              <a:gd name="connsiteX4" fmla="*/ 1224470 w 2120922"/>
              <a:gd name="connsiteY4" fmla="*/ 473393 h 645130"/>
              <a:gd name="connsiteX5" fmla="*/ 1586225 w 2120922"/>
              <a:gd name="connsiteY5" fmla="*/ 330580 h 645130"/>
              <a:gd name="connsiteX6" fmla="*/ 1876347 w 2120922"/>
              <a:gd name="connsiteY6" fmla="*/ 203280 h 645130"/>
              <a:gd name="connsiteX7" fmla="*/ 2118372 w 2120922"/>
              <a:gd name="connsiteY7" fmla="*/ 90333 h 645130"/>
              <a:gd name="connsiteX8" fmla="*/ 1632728 w 2120922"/>
              <a:gd name="connsiteY8" fmla="*/ 30763 h 645130"/>
              <a:gd name="connsiteX9" fmla="*/ 1125009 w 2120922"/>
              <a:gd name="connsiteY9" fmla="*/ 9100 h 645130"/>
              <a:gd name="connsiteX10" fmla="*/ 765611 w 2120922"/>
              <a:gd name="connsiteY10" fmla="*/ 2781 h 645130"/>
              <a:gd name="connsiteX11" fmla="*/ 613612 w 2120922"/>
              <a:gd name="connsiteY11" fmla="*/ 44301 h 645130"/>
              <a:gd name="connsiteX12" fmla="*/ 488522 w 2120922"/>
              <a:gd name="connsiteY12" fmla="*/ 98458 h 645130"/>
              <a:gd name="connsiteX13" fmla="*/ 0 w 2120922"/>
              <a:gd name="connsiteY13" fmla="*/ 516344 h 645130"/>
              <a:gd name="connsiteX0" fmla="*/ 0 w 2120922"/>
              <a:gd name="connsiteY0" fmla="*/ 516344 h 645130"/>
              <a:gd name="connsiteX1" fmla="*/ 218792 w 2120922"/>
              <a:gd name="connsiteY1" fmla="*/ 591569 h 645130"/>
              <a:gd name="connsiteX2" fmla="*/ 521103 w 2120922"/>
              <a:gd name="connsiteY2" fmla="*/ 645126 h 645130"/>
              <a:gd name="connsiteX3" fmla="*/ 854916 w 2120922"/>
              <a:gd name="connsiteY3" fmla="*/ 593831 h 645130"/>
              <a:gd name="connsiteX4" fmla="*/ 1224470 w 2120922"/>
              <a:gd name="connsiteY4" fmla="*/ 473393 h 645130"/>
              <a:gd name="connsiteX5" fmla="*/ 1586225 w 2120922"/>
              <a:gd name="connsiteY5" fmla="*/ 330580 h 645130"/>
              <a:gd name="connsiteX6" fmla="*/ 1876347 w 2120922"/>
              <a:gd name="connsiteY6" fmla="*/ 203280 h 645130"/>
              <a:gd name="connsiteX7" fmla="*/ 2118372 w 2120922"/>
              <a:gd name="connsiteY7" fmla="*/ 90333 h 645130"/>
              <a:gd name="connsiteX8" fmla="*/ 1632728 w 2120922"/>
              <a:gd name="connsiteY8" fmla="*/ 30763 h 645130"/>
              <a:gd name="connsiteX9" fmla="*/ 1125009 w 2120922"/>
              <a:gd name="connsiteY9" fmla="*/ 9100 h 645130"/>
              <a:gd name="connsiteX10" fmla="*/ 765611 w 2120922"/>
              <a:gd name="connsiteY10" fmla="*/ 2781 h 645130"/>
              <a:gd name="connsiteX11" fmla="*/ 613612 w 2120922"/>
              <a:gd name="connsiteY11" fmla="*/ 44301 h 645130"/>
              <a:gd name="connsiteX12" fmla="*/ 488522 w 2120922"/>
              <a:gd name="connsiteY12" fmla="*/ 98458 h 645130"/>
              <a:gd name="connsiteX13" fmla="*/ 0 w 2120922"/>
              <a:gd name="connsiteY13" fmla="*/ 516344 h 645130"/>
              <a:gd name="connsiteX0" fmla="*/ 0 w 2120922"/>
              <a:gd name="connsiteY0" fmla="*/ 510631 h 639417"/>
              <a:gd name="connsiteX1" fmla="*/ 218792 w 2120922"/>
              <a:gd name="connsiteY1" fmla="*/ 585856 h 639417"/>
              <a:gd name="connsiteX2" fmla="*/ 521103 w 2120922"/>
              <a:gd name="connsiteY2" fmla="*/ 639413 h 639417"/>
              <a:gd name="connsiteX3" fmla="*/ 854916 w 2120922"/>
              <a:gd name="connsiteY3" fmla="*/ 588118 h 639417"/>
              <a:gd name="connsiteX4" fmla="*/ 1224470 w 2120922"/>
              <a:gd name="connsiteY4" fmla="*/ 467680 h 639417"/>
              <a:gd name="connsiteX5" fmla="*/ 1586225 w 2120922"/>
              <a:gd name="connsiteY5" fmla="*/ 324867 h 639417"/>
              <a:gd name="connsiteX6" fmla="*/ 1876347 w 2120922"/>
              <a:gd name="connsiteY6" fmla="*/ 197567 h 639417"/>
              <a:gd name="connsiteX7" fmla="*/ 2118372 w 2120922"/>
              <a:gd name="connsiteY7" fmla="*/ 84620 h 639417"/>
              <a:gd name="connsiteX8" fmla="*/ 1632728 w 2120922"/>
              <a:gd name="connsiteY8" fmla="*/ 25050 h 639417"/>
              <a:gd name="connsiteX9" fmla="*/ 1125009 w 2120922"/>
              <a:gd name="connsiteY9" fmla="*/ 3387 h 639417"/>
              <a:gd name="connsiteX10" fmla="*/ 776649 w 2120922"/>
              <a:gd name="connsiteY10" fmla="*/ 5191 h 639417"/>
              <a:gd name="connsiteX11" fmla="*/ 613612 w 2120922"/>
              <a:gd name="connsiteY11" fmla="*/ 38588 h 639417"/>
              <a:gd name="connsiteX12" fmla="*/ 488522 w 2120922"/>
              <a:gd name="connsiteY12" fmla="*/ 92745 h 639417"/>
              <a:gd name="connsiteX13" fmla="*/ 0 w 2120922"/>
              <a:gd name="connsiteY13" fmla="*/ 510631 h 639417"/>
              <a:gd name="connsiteX0" fmla="*/ 0 w 2120922"/>
              <a:gd name="connsiteY0" fmla="*/ 510631 h 639417"/>
              <a:gd name="connsiteX1" fmla="*/ 218792 w 2120922"/>
              <a:gd name="connsiteY1" fmla="*/ 585856 h 639417"/>
              <a:gd name="connsiteX2" fmla="*/ 521103 w 2120922"/>
              <a:gd name="connsiteY2" fmla="*/ 639413 h 639417"/>
              <a:gd name="connsiteX3" fmla="*/ 854916 w 2120922"/>
              <a:gd name="connsiteY3" fmla="*/ 588118 h 639417"/>
              <a:gd name="connsiteX4" fmla="*/ 1224470 w 2120922"/>
              <a:gd name="connsiteY4" fmla="*/ 467680 h 639417"/>
              <a:gd name="connsiteX5" fmla="*/ 1586225 w 2120922"/>
              <a:gd name="connsiteY5" fmla="*/ 324867 h 639417"/>
              <a:gd name="connsiteX6" fmla="*/ 1876347 w 2120922"/>
              <a:gd name="connsiteY6" fmla="*/ 197567 h 639417"/>
              <a:gd name="connsiteX7" fmla="*/ 2118372 w 2120922"/>
              <a:gd name="connsiteY7" fmla="*/ 84620 h 639417"/>
              <a:gd name="connsiteX8" fmla="*/ 1632728 w 2120922"/>
              <a:gd name="connsiteY8" fmla="*/ 25050 h 639417"/>
              <a:gd name="connsiteX9" fmla="*/ 1125009 w 2120922"/>
              <a:gd name="connsiteY9" fmla="*/ 3387 h 639417"/>
              <a:gd name="connsiteX10" fmla="*/ 776649 w 2120922"/>
              <a:gd name="connsiteY10" fmla="*/ 5191 h 639417"/>
              <a:gd name="connsiteX11" fmla="*/ 613612 w 2120922"/>
              <a:gd name="connsiteY11" fmla="*/ 28706 h 639417"/>
              <a:gd name="connsiteX12" fmla="*/ 488522 w 2120922"/>
              <a:gd name="connsiteY12" fmla="*/ 92745 h 639417"/>
              <a:gd name="connsiteX13" fmla="*/ 0 w 2120922"/>
              <a:gd name="connsiteY13" fmla="*/ 510631 h 639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0922" h="639417">
                <a:moveTo>
                  <a:pt x="0" y="510631"/>
                </a:moveTo>
                <a:cubicBezTo>
                  <a:pt x="66288" y="533783"/>
                  <a:pt x="131942" y="564392"/>
                  <a:pt x="218792" y="585856"/>
                </a:cubicBezTo>
                <a:cubicBezTo>
                  <a:pt x="282402" y="615011"/>
                  <a:pt x="415082" y="639036"/>
                  <a:pt x="521103" y="639413"/>
                </a:cubicBezTo>
                <a:cubicBezTo>
                  <a:pt x="627124" y="639790"/>
                  <a:pt x="737688" y="616740"/>
                  <a:pt x="854916" y="588118"/>
                </a:cubicBezTo>
                <a:cubicBezTo>
                  <a:pt x="972144" y="559496"/>
                  <a:pt x="1102585" y="511555"/>
                  <a:pt x="1224470" y="467680"/>
                </a:cubicBezTo>
                <a:cubicBezTo>
                  <a:pt x="1346355" y="423805"/>
                  <a:pt x="1477579" y="369886"/>
                  <a:pt x="1586225" y="324867"/>
                </a:cubicBezTo>
                <a:cubicBezTo>
                  <a:pt x="1694871" y="279848"/>
                  <a:pt x="1821994" y="225423"/>
                  <a:pt x="1876347" y="197567"/>
                </a:cubicBezTo>
                <a:cubicBezTo>
                  <a:pt x="1949096" y="164296"/>
                  <a:pt x="2145485" y="107957"/>
                  <a:pt x="2118372" y="84620"/>
                </a:cubicBezTo>
                <a:cubicBezTo>
                  <a:pt x="2091259" y="61283"/>
                  <a:pt x="1797062" y="36332"/>
                  <a:pt x="1632728" y="25050"/>
                </a:cubicBezTo>
                <a:cubicBezTo>
                  <a:pt x="1468394" y="13768"/>
                  <a:pt x="1284858" y="7148"/>
                  <a:pt x="1125009" y="3387"/>
                </a:cubicBezTo>
                <a:cubicBezTo>
                  <a:pt x="965160" y="-374"/>
                  <a:pt x="860656" y="-2481"/>
                  <a:pt x="776649" y="5191"/>
                </a:cubicBezTo>
                <a:cubicBezTo>
                  <a:pt x="692643" y="12863"/>
                  <a:pt x="645690" y="15919"/>
                  <a:pt x="613612" y="28706"/>
                </a:cubicBezTo>
                <a:cubicBezTo>
                  <a:pt x="581534" y="41493"/>
                  <a:pt x="592017" y="15876"/>
                  <a:pt x="488522" y="92745"/>
                </a:cubicBezTo>
                <a:lnTo>
                  <a:pt x="0" y="510631"/>
                </a:lnTo>
                <a:close/>
              </a:path>
            </a:pathLst>
          </a:custGeom>
          <a:solidFill>
            <a:schemeClr val="accent5">
              <a:lumMod val="90000"/>
            </a:schemeClr>
          </a:solidFill>
          <a:ln w="9525" cap="flat" cmpd="sng" algn="ctr">
            <a:noFill/>
            <a:prstDash val="dash"/>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6" name="等腰三角形 3"/>
          <p:cNvSpPr/>
          <p:nvPr/>
        </p:nvSpPr>
        <p:spPr bwMode="auto">
          <a:xfrm flipV="1">
            <a:off x="2516787" y="4025753"/>
            <a:ext cx="916844" cy="523211"/>
          </a:xfrm>
          <a:custGeom>
            <a:avLst/>
            <a:gdLst>
              <a:gd name="connsiteX0" fmla="*/ 0 w 897285"/>
              <a:gd name="connsiteY0" fmla="*/ 518323 h 518323"/>
              <a:gd name="connsiteX1" fmla="*/ 441312 w 897285"/>
              <a:gd name="connsiteY1" fmla="*/ 0 h 518323"/>
              <a:gd name="connsiteX2" fmla="*/ 897285 w 897285"/>
              <a:gd name="connsiteY2" fmla="*/ 518323 h 518323"/>
              <a:gd name="connsiteX3" fmla="*/ 0 w 897285"/>
              <a:gd name="connsiteY3" fmla="*/ 518323 h 518323"/>
              <a:gd name="connsiteX0" fmla="*/ 0 w 897285"/>
              <a:gd name="connsiteY0" fmla="*/ 520767 h 520767"/>
              <a:gd name="connsiteX1" fmla="*/ 451092 w 897285"/>
              <a:gd name="connsiteY1" fmla="*/ 0 h 520767"/>
              <a:gd name="connsiteX2" fmla="*/ 897285 w 897285"/>
              <a:gd name="connsiteY2" fmla="*/ 520767 h 520767"/>
              <a:gd name="connsiteX3" fmla="*/ 0 w 897285"/>
              <a:gd name="connsiteY3" fmla="*/ 520767 h 520767"/>
              <a:gd name="connsiteX0" fmla="*/ 0 w 897285"/>
              <a:gd name="connsiteY0" fmla="*/ 530547 h 530547"/>
              <a:gd name="connsiteX1" fmla="*/ 451092 w 897285"/>
              <a:gd name="connsiteY1" fmla="*/ 0 h 530547"/>
              <a:gd name="connsiteX2" fmla="*/ 897285 w 897285"/>
              <a:gd name="connsiteY2" fmla="*/ 530547 h 530547"/>
              <a:gd name="connsiteX3" fmla="*/ 0 w 897285"/>
              <a:gd name="connsiteY3" fmla="*/ 530547 h 530547"/>
              <a:gd name="connsiteX0" fmla="*/ 0 w 907064"/>
              <a:gd name="connsiteY0" fmla="*/ 525657 h 530547"/>
              <a:gd name="connsiteX1" fmla="*/ 460871 w 907064"/>
              <a:gd name="connsiteY1" fmla="*/ 0 h 530547"/>
              <a:gd name="connsiteX2" fmla="*/ 907064 w 907064"/>
              <a:gd name="connsiteY2" fmla="*/ 530547 h 530547"/>
              <a:gd name="connsiteX3" fmla="*/ 0 w 907064"/>
              <a:gd name="connsiteY3" fmla="*/ 525657 h 530547"/>
              <a:gd name="connsiteX0" fmla="*/ 0 w 916844"/>
              <a:gd name="connsiteY0" fmla="*/ 525657 h 530547"/>
              <a:gd name="connsiteX1" fmla="*/ 460871 w 916844"/>
              <a:gd name="connsiteY1" fmla="*/ 0 h 530547"/>
              <a:gd name="connsiteX2" fmla="*/ 916844 w 916844"/>
              <a:gd name="connsiteY2" fmla="*/ 530547 h 530547"/>
              <a:gd name="connsiteX3" fmla="*/ 0 w 916844"/>
              <a:gd name="connsiteY3" fmla="*/ 525657 h 530547"/>
            </a:gdLst>
            <a:ahLst/>
            <a:cxnLst>
              <a:cxn ang="0">
                <a:pos x="connsiteX0" y="connsiteY0"/>
              </a:cxn>
              <a:cxn ang="0">
                <a:pos x="connsiteX1" y="connsiteY1"/>
              </a:cxn>
              <a:cxn ang="0">
                <a:pos x="connsiteX2" y="connsiteY2"/>
              </a:cxn>
              <a:cxn ang="0">
                <a:pos x="connsiteX3" y="connsiteY3"/>
              </a:cxn>
            </a:cxnLst>
            <a:rect l="l" t="t" r="r" b="b"/>
            <a:pathLst>
              <a:path w="916844" h="530547">
                <a:moveTo>
                  <a:pt x="0" y="525657"/>
                </a:moveTo>
                <a:lnTo>
                  <a:pt x="460871" y="0"/>
                </a:lnTo>
                <a:lnTo>
                  <a:pt x="916844" y="530547"/>
                </a:lnTo>
                <a:lnTo>
                  <a:pt x="0" y="525657"/>
                </a:lnTo>
                <a:close/>
              </a:path>
            </a:pathLst>
          </a:cu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5" name="任意多边形 54"/>
          <p:cNvSpPr/>
          <p:nvPr/>
        </p:nvSpPr>
        <p:spPr bwMode="auto">
          <a:xfrm flipH="1">
            <a:off x="3439516" y="3898408"/>
            <a:ext cx="1485900" cy="114074"/>
          </a:xfrm>
          <a:custGeom>
            <a:avLst/>
            <a:gdLst>
              <a:gd name="connsiteX0" fmla="*/ 1612900 w 1612900"/>
              <a:gd name="connsiteY0" fmla="*/ 84440 h 101374"/>
              <a:gd name="connsiteX1" fmla="*/ 1536700 w 1612900"/>
              <a:gd name="connsiteY1" fmla="*/ 42107 h 101374"/>
              <a:gd name="connsiteX2" fmla="*/ 1308100 w 1612900"/>
              <a:gd name="connsiteY2" fmla="*/ 4007 h 101374"/>
              <a:gd name="connsiteX3" fmla="*/ 960967 w 1612900"/>
              <a:gd name="connsiteY3" fmla="*/ 4007 h 101374"/>
              <a:gd name="connsiteX4" fmla="*/ 541867 w 1612900"/>
              <a:gd name="connsiteY4" fmla="*/ 29407 h 101374"/>
              <a:gd name="connsiteX5" fmla="*/ 190500 w 1612900"/>
              <a:gd name="connsiteY5" fmla="*/ 67507 h 101374"/>
              <a:gd name="connsiteX6" fmla="*/ 0 w 1612900"/>
              <a:gd name="connsiteY6" fmla="*/ 101374 h 101374"/>
              <a:gd name="connsiteX0" fmla="*/ 1641447 w 1641447"/>
              <a:gd name="connsiteY0" fmla="*/ 110947 h 110947"/>
              <a:gd name="connsiteX1" fmla="*/ 1536700 w 1641447"/>
              <a:gd name="connsiteY1" fmla="*/ 42107 h 110947"/>
              <a:gd name="connsiteX2" fmla="*/ 1308100 w 1641447"/>
              <a:gd name="connsiteY2" fmla="*/ 4007 h 110947"/>
              <a:gd name="connsiteX3" fmla="*/ 960967 w 1641447"/>
              <a:gd name="connsiteY3" fmla="*/ 4007 h 110947"/>
              <a:gd name="connsiteX4" fmla="*/ 541867 w 1641447"/>
              <a:gd name="connsiteY4" fmla="*/ 29407 h 110947"/>
              <a:gd name="connsiteX5" fmla="*/ 190500 w 1641447"/>
              <a:gd name="connsiteY5" fmla="*/ 67507 h 110947"/>
              <a:gd name="connsiteX6" fmla="*/ 0 w 1641447"/>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5792 h 110947"/>
              <a:gd name="connsiteX0" fmla="*/ 1646204 w 1646204"/>
              <a:gd name="connsiteY0" fmla="*/ 110947 h 114628"/>
              <a:gd name="connsiteX1" fmla="*/ 1541457 w 1646204"/>
              <a:gd name="connsiteY1" fmla="*/ 42107 h 114628"/>
              <a:gd name="connsiteX2" fmla="*/ 1312857 w 1646204"/>
              <a:gd name="connsiteY2" fmla="*/ 4007 h 114628"/>
              <a:gd name="connsiteX3" fmla="*/ 965724 w 1646204"/>
              <a:gd name="connsiteY3" fmla="*/ 4007 h 114628"/>
              <a:gd name="connsiteX4" fmla="*/ 546624 w 1646204"/>
              <a:gd name="connsiteY4" fmla="*/ 29407 h 114628"/>
              <a:gd name="connsiteX5" fmla="*/ 195257 w 1646204"/>
              <a:gd name="connsiteY5" fmla="*/ 67507 h 114628"/>
              <a:gd name="connsiteX6" fmla="*/ 0 w 1646204"/>
              <a:gd name="connsiteY6" fmla="*/ 114628 h 114628"/>
              <a:gd name="connsiteX0" fmla="*/ 1660477 w 1660477"/>
              <a:gd name="connsiteY0" fmla="*/ 110947 h 110947"/>
              <a:gd name="connsiteX1" fmla="*/ 1555730 w 1660477"/>
              <a:gd name="connsiteY1" fmla="*/ 42107 h 110947"/>
              <a:gd name="connsiteX2" fmla="*/ 1327130 w 1660477"/>
              <a:gd name="connsiteY2" fmla="*/ 4007 h 110947"/>
              <a:gd name="connsiteX3" fmla="*/ 979997 w 1660477"/>
              <a:gd name="connsiteY3" fmla="*/ 4007 h 110947"/>
              <a:gd name="connsiteX4" fmla="*/ 560897 w 1660477"/>
              <a:gd name="connsiteY4" fmla="*/ 29407 h 110947"/>
              <a:gd name="connsiteX5" fmla="*/ 209530 w 1660477"/>
              <a:gd name="connsiteY5" fmla="*/ 67507 h 110947"/>
              <a:gd name="connsiteX6" fmla="*/ 0 w 1660477"/>
              <a:gd name="connsiteY6" fmla="*/ 105793 h 110947"/>
              <a:gd name="connsiteX0" fmla="*/ 1669993 w 1669993"/>
              <a:gd name="connsiteY0" fmla="*/ 110947 h 110947"/>
              <a:gd name="connsiteX1" fmla="*/ 1565246 w 1669993"/>
              <a:gd name="connsiteY1" fmla="*/ 42107 h 110947"/>
              <a:gd name="connsiteX2" fmla="*/ 1336646 w 1669993"/>
              <a:gd name="connsiteY2" fmla="*/ 4007 h 110947"/>
              <a:gd name="connsiteX3" fmla="*/ 989513 w 1669993"/>
              <a:gd name="connsiteY3" fmla="*/ 4007 h 110947"/>
              <a:gd name="connsiteX4" fmla="*/ 570413 w 1669993"/>
              <a:gd name="connsiteY4" fmla="*/ 29407 h 110947"/>
              <a:gd name="connsiteX5" fmla="*/ 219046 w 1669993"/>
              <a:gd name="connsiteY5" fmla="*/ 67507 h 110947"/>
              <a:gd name="connsiteX6" fmla="*/ 0 w 1669993"/>
              <a:gd name="connsiteY6" fmla="*/ 110210 h 110947"/>
              <a:gd name="connsiteX0" fmla="*/ 1669993 w 1669993"/>
              <a:gd name="connsiteY0" fmla="*/ 110947 h 119046"/>
              <a:gd name="connsiteX1" fmla="*/ 1565246 w 1669993"/>
              <a:gd name="connsiteY1" fmla="*/ 42107 h 119046"/>
              <a:gd name="connsiteX2" fmla="*/ 1336646 w 1669993"/>
              <a:gd name="connsiteY2" fmla="*/ 4007 h 119046"/>
              <a:gd name="connsiteX3" fmla="*/ 989513 w 1669993"/>
              <a:gd name="connsiteY3" fmla="*/ 4007 h 119046"/>
              <a:gd name="connsiteX4" fmla="*/ 570413 w 1669993"/>
              <a:gd name="connsiteY4" fmla="*/ 29407 h 119046"/>
              <a:gd name="connsiteX5" fmla="*/ 219046 w 1669993"/>
              <a:gd name="connsiteY5" fmla="*/ 67507 h 119046"/>
              <a:gd name="connsiteX6" fmla="*/ 0 w 1669993"/>
              <a:gd name="connsiteY6" fmla="*/ 119046 h 11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993" h="119046">
                <a:moveTo>
                  <a:pt x="1669993" y="110947"/>
                </a:moveTo>
                <a:cubicBezTo>
                  <a:pt x="1657293" y="96483"/>
                  <a:pt x="1620804" y="59930"/>
                  <a:pt x="1565246" y="42107"/>
                </a:cubicBezTo>
                <a:cubicBezTo>
                  <a:pt x="1509688" y="24284"/>
                  <a:pt x="1432601" y="10357"/>
                  <a:pt x="1336646" y="4007"/>
                </a:cubicBezTo>
                <a:cubicBezTo>
                  <a:pt x="1240690" y="-2343"/>
                  <a:pt x="1117218" y="-226"/>
                  <a:pt x="989513" y="4007"/>
                </a:cubicBezTo>
                <a:cubicBezTo>
                  <a:pt x="861808" y="8240"/>
                  <a:pt x="698824" y="18824"/>
                  <a:pt x="570413" y="29407"/>
                </a:cubicBezTo>
                <a:cubicBezTo>
                  <a:pt x="442002" y="39990"/>
                  <a:pt x="314115" y="52567"/>
                  <a:pt x="219046" y="67507"/>
                </a:cubicBezTo>
                <a:cubicBezTo>
                  <a:pt x="123977" y="82447"/>
                  <a:pt x="50094" y="108109"/>
                  <a:pt x="0" y="119046"/>
                </a:cubicBezTo>
              </a:path>
            </a:pathLst>
          </a:custGeom>
          <a:no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67" name="直接连接符 66"/>
          <p:cNvCxnSpPr/>
          <p:nvPr/>
        </p:nvCxnSpPr>
        <p:spPr bwMode="auto">
          <a:xfrm flipH="1">
            <a:off x="3483664" y="4010063"/>
            <a:ext cx="1331383" cy="0"/>
          </a:xfrm>
          <a:prstGeom prst="line">
            <a:avLst/>
          </a:prstGeom>
          <a:noFill/>
          <a:ln w="12700" cap="flat" cmpd="sng" algn="ctr">
            <a:solidFill>
              <a:srgbClr val="0000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任意多边形 69"/>
          <p:cNvSpPr/>
          <p:nvPr/>
        </p:nvSpPr>
        <p:spPr bwMode="auto">
          <a:xfrm>
            <a:off x="1022282" y="3906271"/>
            <a:ext cx="1485900" cy="114074"/>
          </a:xfrm>
          <a:custGeom>
            <a:avLst/>
            <a:gdLst>
              <a:gd name="connsiteX0" fmla="*/ 1612900 w 1612900"/>
              <a:gd name="connsiteY0" fmla="*/ 84440 h 101374"/>
              <a:gd name="connsiteX1" fmla="*/ 1536700 w 1612900"/>
              <a:gd name="connsiteY1" fmla="*/ 42107 h 101374"/>
              <a:gd name="connsiteX2" fmla="*/ 1308100 w 1612900"/>
              <a:gd name="connsiteY2" fmla="*/ 4007 h 101374"/>
              <a:gd name="connsiteX3" fmla="*/ 960967 w 1612900"/>
              <a:gd name="connsiteY3" fmla="*/ 4007 h 101374"/>
              <a:gd name="connsiteX4" fmla="*/ 541867 w 1612900"/>
              <a:gd name="connsiteY4" fmla="*/ 29407 h 101374"/>
              <a:gd name="connsiteX5" fmla="*/ 190500 w 1612900"/>
              <a:gd name="connsiteY5" fmla="*/ 67507 h 101374"/>
              <a:gd name="connsiteX6" fmla="*/ 0 w 1612900"/>
              <a:gd name="connsiteY6" fmla="*/ 101374 h 101374"/>
              <a:gd name="connsiteX0" fmla="*/ 1641447 w 1641447"/>
              <a:gd name="connsiteY0" fmla="*/ 110947 h 110947"/>
              <a:gd name="connsiteX1" fmla="*/ 1536700 w 1641447"/>
              <a:gd name="connsiteY1" fmla="*/ 42107 h 110947"/>
              <a:gd name="connsiteX2" fmla="*/ 1308100 w 1641447"/>
              <a:gd name="connsiteY2" fmla="*/ 4007 h 110947"/>
              <a:gd name="connsiteX3" fmla="*/ 960967 w 1641447"/>
              <a:gd name="connsiteY3" fmla="*/ 4007 h 110947"/>
              <a:gd name="connsiteX4" fmla="*/ 541867 w 1641447"/>
              <a:gd name="connsiteY4" fmla="*/ 29407 h 110947"/>
              <a:gd name="connsiteX5" fmla="*/ 190500 w 1641447"/>
              <a:gd name="connsiteY5" fmla="*/ 67507 h 110947"/>
              <a:gd name="connsiteX6" fmla="*/ 0 w 1641447"/>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5792 h 110947"/>
              <a:gd name="connsiteX0" fmla="*/ 1646204 w 1646204"/>
              <a:gd name="connsiteY0" fmla="*/ 110947 h 114628"/>
              <a:gd name="connsiteX1" fmla="*/ 1541457 w 1646204"/>
              <a:gd name="connsiteY1" fmla="*/ 42107 h 114628"/>
              <a:gd name="connsiteX2" fmla="*/ 1312857 w 1646204"/>
              <a:gd name="connsiteY2" fmla="*/ 4007 h 114628"/>
              <a:gd name="connsiteX3" fmla="*/ 965724 w 1646204"/>
              <a:gd name="connsiteY3" fmla="*/ 4007 h 114628"/>
              <a:gd name="connsiteX4" fmla="*/ 546624 w 1646204"/>
              <a:gd name="connsiteY4" fmla="*/ 29407 h 114628"/>
              <a:gd name="connsiteX5" fmla="*/ 195257 w 1646204"/>
              <a:gd name="connsiteY5" fmla="*/ 67507 h 114628"/>
              <a:gd name="connsiteX6" fmla="*/ 0 w 1646204"/>
              <a:gd name="connsiteY6" fmla="*/ 114628 h 114628"/>
              <a:gd name="connsiteX0" fmla="*/ 1660477 w 1660477"/>
              <a:gd name="connsiteY0" fmla="*/ 110947 h 110947"/>
              <a:gd name="connsiteX1" fmla="*/ 1555730 w 1660477"/>
              <a:gd name="connsiteY1" fmla="*/ 42107 h 110947"/>
              <a:gd name="connsiteX2" fmla="*/ 1327130 w 1660477"/>
              <a:gd name="connsiteY2" fmla="*/ 4007 h 110947"/>
              <a:gd name="connsiteX3" fmla="*/ 979997 w 1660477"/>
              <a:gd name="connsiteY3" fmla="*/ 4007 h 110947"/>
              <a:gd name="connsiteX4" fmla="*/ 560897 w 1660477"/>
              <a:gd name="connsiteY4" fmla="*/ 29407 h 110947"/>
              <a:gd name="connsiteX5" fmla="*/ 209530 w 1660477"/>
              <a:gd name="connsiteY5" fmla="*/ 67507 h 110947"/>
              <a:gd name="connsiteX6" fmla="*/ 0 w 1660477"/>
              <a:gd name="connsiteY6" fmla="*/ 105793 h 110947"/>
              <a:gd name="connsiteX0" fmla="*/ 1669993 w 1669993"/>
              <a:gd name="connsiteY0" fmla="*/ 110947 h 110947"/>
              <a:gd name="connsiteX1" fmla="*/ 1565246 w 1669993"/>
              <a:gd name="connsiteY1" fmla="*/ 42107 h 110947"/>
              <a:gd name="connsiteX2" fmla="*/ 1336646 w 1669993"/>
              <a:gd name="connsiteY2" fmla="*/ 4007 h 110947"/>
              <a:gd name="connsiteX3" fmla="*/ 989513 w 1669993"/>
              <a:gd name="connsiteY3" fmla="*/ 4007 h 110947"/>
              <a:gd name="connsiteX4" fmla="*/ 570413 w 1669993"/>
              <a:gd name="connsiteY4" fmla="*/ 29407 h 110947"/>
              <a:gd name="connsiteX5" fmla="*/ 219046 w 1669993"/>
              <a:gd name="connsiteY5" fmla="*/ 67507 h 110947"/>
              <a:gd name="connsiteX6" fmla="*/ 0 w 1669993"/>
              <a:gd name="connsiteY6" fmla="*/ 110210 h 110947"/>
              <a:gd name="connsiteX0" fmla="*/ 1669993 w 1669993"/>
              <a:gd name="connsiteY0" fmla="*/ 110947 h 119046"/>
              <a:gd name="connsiteX1" fmla="*/ 1565246 w 1669993"/>
              <a:gd name="connsiteY1" fmla="*/ 42107 h 119046"/>
              <a:gd name="connsiteX2" fmla="*/ 1336646 w 1669993"/>
              <a:gd name="connsiteY2" fmla="*/ 4007 h 119046"/>
              <a:gd name="connsiteX3" fmla="*/ 989513 w 1669993"/>
              <a:gd name="connsiteY3" fmla="*/ 4007 h 119046"/>
              <a:gd name="connsiteX4" fmla="*/ 570413 w 1669993"/>
              <a:gd name="connsiteY4" fmla="*/ 29407 h 119046"/>
              <a:gd name="connsiteX5" fmla="*/ 219046 w 1669993"/>
              <a:gd name="connsiteY5" fmla="*/ 67507 h 119046"/>
              <a:gd name="connsiteX6" fmla="*/ 0 w 1669993"/>
              <a:gd name="connsiteY6" fmla="*/ 119046 h 11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993" h="119046">
                <a:moveTo>
                  <a:pt x="1669993" y="110947"/>
                </a:moveTo>
                <a:cubicBezTo>
                  <a:pt x="1657293" y="96483"/>
                  <a:pt x="1620804" y="59930"/>
                  <a:pt x="1565246" y="42107"/>
                </a:cubicBezTo>
                <a:cubicBezTo>
                  <a:pt x="1509688" y="24284"/>
                  <a:pt x="1432601" y="10357"/>
                  <a:pt x="1336646" y="4007"/>
                </a:cubicBezTo>
                <a:cubicBezTo>
                  <a:pt x="1240690" y="-2343"/>
                  <a:pt x="1117218" y="-226"/>
                  <a:pt x="989513" y="4007"/>
                </a:cubicBezTo>
                <a:cubicBezTo>
                  <a:pt x="861808" y="8240"/>
                  <a:pt x="698824" y="18824"/>
                  <a:pt x="570413" y="29407"/>
                </a:cubicBezTo>
                <a:cubicBezTo>
                  <a:pt x="442002" y="39990"/>
                  <a:pt x="314115" y="52567"/>
                  <a:pt x="219046" y="67507"/>
                </a:cubicBezTo>
                <a:cubicBezTo>
                  <a:pt x="123977" y="82447"/>
                  <a:pt x="50094" y="108109"/>
                  <a:pt x="0" y="119046"/>
                </a:cubicBezTo>
              </a:path>
            </a:pathLst>
          </a:custGeom>
          <a:no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1" name="Line 23"/>
          <p:cNvSpPr>
            <a:spLocks noChangeShapeType="1"/>
          </p:cNvSpPr>
          <p:nvPr/>
        </p:nvSpPr>
        <p:spPr bwMode="auto">
          <a:xfrm>
            <a:off x="872718" y="4013788"/>
            <a:ext cx="194318" cy="0"/>
          </a:xfrm>
          <a:prstGeom prst="line">
            <a:avLst/>
          </a:prstGeom>
          <a:noFill/>
          <a:ln w="19050" cap="sq">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25"/>
          <p:cNvSpPr>
            <a:spLocks noChangeShapeType="1"/>
          </p:cNvSpPr>
          <p:nvPr/>
        </p:nvSpPr>
        <p:spPr bwMode="auto">
          <a:xfrm>
            <a:off x="2965724" y="3469502"/>
            <a:ext cx="0" cy="381000"/>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矩形 72"/>
          <p:cNvSpPr/>
          <p:nvPr/>
        </p:nvSpPr>
        <p:spPr>
          <a:xfrm>
            <a:off x="3995184" y="4652162"/>
            <a:ext cx="1014564" cy="338554"/>
          </a:xfrm>
          <a:prstGeom prst="rect">
            <a:avLst/>
          </a:prstGeom>
        </p:spPr>
        <p:txBody>
          <a:bodyPr wrap="square">
            <a:spAutoFit/>
          </a:bodyPr>
          <a:lstStyle/>
          <a:p>
            <a:pPr algn="ctr">
              <a:lnSpc>
                <a:spcPct val="100000"/>
              </a:lnSpc>
              <a:buClr>
                <a:srgbClr val="C00000"/>
              </a:buClr>
            </a:pPr>
            <a:r>
              <a:rPr lang="zh-CN" altLang="en-US" sz="16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滑裂面</a:t>
            </a:r>
          </a:p>
        </p:txBody>
      </p:sp>
      <p:cxnSp>
        <p:nvCxnSpPr>
          <p:cNvPr id="74" name="直接连接符 73"/>
          <p:cNvCxnSpPr/>
          <p:nvPr/>
        </p:nvCxnSpPr>
        <p:spPr bwMode="auto">
          <a:xfrm>
            <a:off x="3863146" y="4625562"/>
            <a:ext cx="177504" cy="20334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等腰三角形 74"/>
          <p:cNvSpPr/>
          <p:nvPr/>
        </p:nvSpPr>
        <p:spPr bwMode="auto">
          <a:xfrm flipV="1">
            <a:off x="2509392" y="4046420"/>
            <a:ext cx="925287" cy="494319"/>
          </a:xfrm>
          <a:prstGeom prst="triangle">
            <a:avLst/>
          </a:prstGeom>
          <a:noFill/>
          <a:ln w="9525"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6" name="任意多边形 75"/>
          <p:cNvSpPr/>
          <p:nvPr/>
        </p:nvSpPr>
        <p:spPr bwMode="auto">
          <a:xfrm>
            <a:off x="2978831" y="4011761"/>
            <a:ext cx="1936303" cy="692289"/>
          </a:xfrm>
          <a:custGeom>
            <a:avLst/>
            <a:gdLst>
              <a:gd name="connsiteX0" fmla="*/ 0 w 2162755"/>
              <a:gd name="connsiteY0" fmla="*/ 453224 h 628153"/>
              <a:gd name="connsiteX1" fmla="*/ 166978 w 2162755"/>
              <a:gd name="connsiteY1" fmla="*/ 536713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8153"/>
              <a:gd name="connsiteX1" fmla="*/ 166978 w 2162755"/>
              <a:gd name="connsiteY1" fmla="*/ 548640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1967948 w 2162755"/>
              <a:gd name="connsiteY6" fmla="*/ 107343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657848 w 2162755"/>
              <a:gd name="connsiteY5" fmla="*/ 254442 h 629320"/>
              <a:gd name="connsiteX6" fmla="*/ 1967948 w 2162755"/>
              <a:gd name="connsiteY6" fmla="*/ 107343 h 629320"/>
              <a:gd name="connsiteX7" fmla="*/ 2162755 w 2162755"/>
              <a:gd name="connsiteY7" fmla="*/ 0 h 62932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67948 w 2162755"/>
              <a:gd name="connsiteY6" fmla="*/ 107343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40119 w 2162755"/>
              <a:gd name="connsiteY6" fmla="*/ 111319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10140 w 2162755"/>
              <a:gd name="connsiteY5" fmla="*/ 270344 h 629540"/>
              <a:gd name="connsiteX6" fmla="*/ 1940119 w 2162755"/>
              <a:gd name="connsiteY6" fmla="*/ 111319 h 629540"/>
              <a:gd name="connsiteX7" fmla="*/ 2162755 w 2162755"/>
              <a:gd name="connsiteY7" fmla="*/ 0 h 629540"/>
              <a:gd name="connsiteX0" fmla="*/ 0 w 2162755"/>
              <a:gd name="connsiteY0" fmla="*/ 453224 h 630270"/>
              <a:gd name="connsiteX1" fmla="*/ 178935 w 2162755"/>
              <a:gd name="connsiteY1" fmla="*/ 539987 h 630270"/>
              <a:gd name="connsiteX2" fmla="*/ 405517 w 2162755"/>
              <a:gd name="connsiteY2" fmla="*/ 628153 h 630270"/>
              <a:gd name="connsiteX3" fmla="*/ 795130 w 2162755"/>
              <a:gd name="connsiteY3" fmla="*/ 588396 h 630270"/>
              <a:gd name="connsiteX4" fmla="*/ 1236428 w 2162755"/>
              <a:gd name="connsiteY4" fmla="*/ 433346 h 630270"/>
              <a:gd name="connsiteX5" fmla="*/ 1610140 w 2162755"/>
              <a:gd name="connsiteY5" fmla="*/ 270344 h 630270"/>
              <a:gd name="connsiteX6" fmla="*/ 1940119 w 2162755"/>
              <a:gd name="connsiteY6" fmla="*/ 111319 h 630270"/>
              <a:gd name="connsiteX7" fmla="*/ 2162755 w 2162755"/>
              <a:gd name="connsiteY7" fmla="*/ 0 h 630270"/>
              <a:gd name="connsiteX0" fmla="*/ 0 w 2162755"/>
              <a:gd name="connsiteY0" fmla="*/ 453224 h 605653"/>
              <a:gd name="connsiteX1" fmla="*/ 178935 w 2162755"/>
              <a:gd name="connsiteY1" fmla="*/ 539987 h 605653"/>
              <a:gd name="connsiteX2" fmla="*/ 453345 w 2162755"/>
              <a:gd name="connsiteY2" fmla="*/ 596427 h 605653"/>
              <a:gd name="connsiteX3" fmla="*/ 795130 w 2162755"/>
              <a:gd name="connsiteY3" fmla="*/ 588396 h 605653"/>
              <a:gd name="connsiteX4" fmla="*/ 1236428 w 2162755"/>
              <a:gd name="connsiteY4" fmla="*/ 433346 h 605653"/>
              <a:gd name="connsiteX5" fmla="*/ 1610140 w 2162755"/>
              <a:gd name="connsiteY5" fmla="*/ 270344 h 605653"/>
              <a:gd name="connsiteX6" fmla="*/ 1940119 w 2162755"/>
              <a:gd name="connsiteY6" fmla="*/ 111319 h 605653"/>
              <a:gd name="connsiteX7" fmla="*/ 2162755 w 2162755"/>
              <a:gd name="connsiteY7" fmla="*/ 0 h 605653"/>
              <a:gd name="connsiteX0" fmla="*/ 0 w 2162755"/>
              <a:gd name="connsiteY0" fmla="*/ 453224 h 596540"/>
              <a:gd name="connsiteX1" fmla="*/ 178935 w 2162755"/>
              <a:gd name="connsiteY1" fmla="*/ 539987 h 596540"/>
              <a:gd name="connsiteX2" fmla="*/ 453345 w 2162755"/>
              <a:gd name="connsiteY2" fmla="*/ 596427 h 596540"/>
              <a:gd name="connsiteX3" fmla="*/ 823030 w 2162755"/>
              <a:gd name="connsiteY3" fmla="*/ 550900 h 596540"/>
              <a:gd name="connsiteX4" fmla="*/ 1236428 w 2162755"/>
              <a:gd name="connsiteY4" fmla="*/ 433346 h 596540"/>
              <a:gd name="connsiteX5" fmla="*/ 1610140 w 2162755"/>
              <a:gd name="connsiteY5" fmla="*/ 270344 h 596540"/>
              <a:gd name="connsiteX6" fmla="*/ 1940119 w 2162755"/>
              <a:gd name="connsiteY6" fmla="*/ 111319 h 596540"/>
              <a:gd name="connsiteX7" fmla="*/ 2162755 w 2162755"/>
              <a:gd name="connsiteY7" fmla="*/ 0 h 596540"/>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610140 w 2162755"/>
              <a:gd name="connsiteY5" fmla="*/ 270344 h 596557"/>
              <a:gd name="connsiteX6" fmla="*/ 1940119 w 2162755"/>
              <a:gd name="connsiteY6" fmla="*/ 111319 h 596557"/>
              <a:gd name="connsiteX7" fmla="*/ 2162755 w 2162755"/>
              <a:gd name="connsiteY7" fmla="*/ 0 h 596557"/>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586225 w 2162755"/>
              <a:gd name="connsiteY5" fmla="*/ 267460 h 596557"/>
              <a:gd name="connsiteX6" fmla="*/ 1940119 w 2162755"/>
              <a:gd name="connsiteY6" fmla="*/ 111319 h 596557"/>
              <a:gd name="connsiteX7" fmla="*/ 2162755 w 2162755"/>
              <a:gd name="connsiteY7" fmla="*/ 0 h 596557"/>
              <a:gd name="connsiteX0" fmla="*/ 0 w 2162755"/>
              <a:gd name="connsiteY0" fmla="*/ 453224 h 574299"/>
              <a:gd name="connsiteX1" fmla="*/ 178935 w 2162755"/>
              <a:gd name="connsiteY1" fmla="*/ 539987 h 574299"/>
              <a:gd name="connsiteX2" fmla="*/ 461317 w 2162755"/>
              <a:gd name="connsiteY2" fmla="*/ 573352 h 574299"/>
              <a:gd name="connsiteX3" fmla="*/ 823030 w 2162755"/>
              <a:gd name="connsiteY3" fmla="*/ 550900 h 574299"/>
              <a:gd name="connsiteX4" fmla="*/ 1236428 w 2162755"/>
              <a:gd name="connsiteY4" fmla="*/ 416041 h 574299"/>
              <a:gd name="connsiteX5" fmla="*/ 1586225 w 2162755"/>
              <a:gd name="connsiteY5" fmla="*/ 267460 h 574299"/>
              <a:gd name="connsiteX6" fmla="*/ 1940119 w 2162755"/>
              <a:gd name="connsiteY6" fmla="*/ 111319 h 574299"/>
              <a:gd name="connsiteX7" fmla="*/ 2162755 w 2162755"/>
              <a:gd name="connsiteY7" fmla="*/ 0 h 574299"/>
              <a:gd name="connsiteX0" fmla="*/ 0 w 2162755"/>
              <a:gd name="connsiteY0" fmla="*/ 453224 h 573976"/>
              <a:gd name="connsiteX1" fmla="*/ 178935 w 2162755"/>
              <a:gd name="connsiteY1" fmla="*/ 539987 h 573976"/>
              <a:gd name="connsiteX2" fmla="*/ 461317 w 2162755"/>
              <a:gd name="connsiteY2" fmla="*/ 573352 h 573976"/>
              <a:gd name="connsiteX3" fmla="*/ 838974 w 2162755"/>
              <a:gd name="connsiteY3" fmla="*/ 522058 h 573976"/>
              <a:gd name="connsiteX4" fmla="*/ 1236428 w 2162755"/>
              <a:gd name="connsiteY4" fmla="*/ 416041 h 573976"/>
              <a:gd name="connsiteX5" fmla="*/ 1586225 w 2162755"/>
              <a:gd name="connsiteY5" fmla="*/ 267460 h 573976"/>
              <a:gd name="connsiteX6" fmla="*/ 1940119 w 2162755"/>
              <a:gd name="connsiteY6" fmla="*/ 111319 h 573976"/>
              <a:gd name="connsiteX7" fmla="*/ 2162755 w 2162755"/>
              <a:gd name="connsiteY7" fmla="*/ 0 h 573976"/>
              <a:gd name="connsiteX0" fmla="*/ 0 w 2162755"/>
              <a:gd name="connsiteY0" fmla="*/ 453224 h 580113"/>
              <a:gd name="connsiteX1" fmla="*/ 234735 w 2162755"/>
              <a:gd name="connsiteY1" fmla="*/ 560177 h 580113"/>
              <a:gd name="connsiteX2" fmla="*/ 461317 w 2162755"/>
              <a:gd name="connsiteY2" fmla="*/ 573352 h 580113"/>
              <a:gd name="connsiteX3" fmla="*/ 838974 w 2162755"/>
              <a:gd name="connsiteY3" fmla="*/ 522058 h 580113"/>
              <a:gd name="connsiteX4" fmla="*/ 1236428 w 2162755"/>
              <a:gd name="connsiteY4" fmla="*/ 416041 h 580113"/>
              <a:gd name="connsiteX5" fmla="*/ 1586225 w 2162755"/>
              <a:gd name="connsiteY5" fmla="*/ 267460 h 580113"/>
              <a:gd name="connsiteX6" fmla="*/ 1940119 w 2162755"/>
              <a:gd name="connsiteY6" fmla="*/ 111319 h 580113"/>
              <a:gd name="connsiteX7" fmla="*/ 2162755 w 2162755"/>
              <a:gd name="connsiteY7" fmla="*/ 0 h 580113"/>
              <a:gd name="connsiteX0" fmla="*/ 0 w 2162755"/>
              <a:gd name="connsiteY0" fmla="*/ 453224 h 578650"/>
              <a:gd name="connsiteX1" fmla="*/ 234735 w 2162755"/>
              <a:gd name="connsiteY1" fmla="*/ 560177 h 578650"/>
              <a:gd name="connsiteX2" fmla="*/ 521102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8650"/>
              <a:gd name="connsiteX1" fmla="*/ 234735 w 2162755"/>
              <a:gd name="connsiteY1" fmla="*/ 560177 h 578650"/>
              <a:gd name="connsiteX2" fmla="*/ 537045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0604"/>
              <a:gd name="connsiteX1" fmla="*/ 174949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1743"/>
              <a:gd name="connsiteX1" fmla="*/ 238721 w 2162755"/>
              <a:gd name="connsiteY1" fmla="*/ 542871 h 571743"/>
              <a:gd name="connsiteX2" fmla="*/ 537045 w 2162755"/>
              <a:gd name="connsiteY2" fmla="*/ 570468 h 571743"/>
              <a:gd name="connsiteX3" fmla="*/ 838974 w 2162755"/>
              <a:gd name="connsiteY3" fmla="*/ 522058 h 571743"/>
              <a:gd name="connsiteX4" fmla="*/ 1224470 w 2162755"/>
              <a:gd name="connsiteY4" fmla="*/ 410273 h 571743"/>
              <a:gd name="connsiteX5" fmla="*/ 1586225 w 2162755"/>
              <a:gd name="connsiteY5" fmla="*/ 267460 h 571743"/>
              <a:gd name="connsiteX6" fmla="*/ 1924176 w 2162755"/>
              <a:gd name="connsiteY6" fmla="*/ 117087 h 571743"/>
              <a:gd name="connsiteX7" fmla="*/ 2162755 w 2162755"/>
              <a:gd name="connsiteY7" fmla="*/ 0 h 571743"/>
              <a:gd name="connsiteX0" fmla="*/ 0 w 2162755"/>
              <a:gd name="connsiteY0" fmla="*/ 453224 h 570604"/>
              <a:gd name="connsiteX1" fmla="*/ 2466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468"/>
              <a:gd name="connsiteX1" fmla="*/ 214806 w 2162755"/>
              <a:gd name="connsiteY1" fmla="*/ 522681 h 570468"/>
              <a:gd name="connsiteX2" fmla="*/ 537045 w 2162755"/>
              <a:gd name="connsiteY2" fmla="*/ 570468 h 570468"/>
              <a:gd name="connsiteX3" fmla="*/ 838974 w 2162755"/>
              <a:gd name="connsiteY3" fmla="*/ 522058 h 570468"/>
              <a:gd name="connsiteX4" fmla="*/ 1224470 w 2162755"/>
              <a:gd name="connsiteY4" fmla="*/ 410273 h 570468"/>
              <a:gd name="connsiteX5" fmla="*/ 1586225 w 2162755"/>
              <a:gd name="connsiteY5" fmla="*/ 267460 h 570468"/>
              <a:gd name="connsiteX6" fmla="*/ 1924176 w 2162755"/>
              <a:gd name="connsiteY6" fmla="*/ 117087 h 570468"/>
              <a:gd name="connsiteX7" fmla="*/ 2162755 w 2162755"/>
              <a:gd name="connsiteY7" fmla="*/ 0 h 570468"/>
              <a:gd name="connsiteX0" fmla="*/ 0 w 2162755"/>
              <a:gd name="connsiteY0" fmla="*/ 453224 h 582006"/>
              <a:gd name="connsiteX1" fmla="*/ 214806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924176 w 2162755"/>
              <a:gd name="connsiteY6" fmla="*/ 117087 h 582059"/>
              <a:gd name="connsiteX7" fmla="*/ 2162755 w 2162755"/>
              <a:gd name="connsiteY7" fmla="*/ 0 h 582059"/>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876347 w 2162755"/>
              <a:gd name="connsiteY6" fmla="*/ 140160 h 582059"/>
              <a:gd name="connsiteX7" fmla="*/ 2162755 w 2162755"/>
              <a:gd name="connsiteY7" fmla="*/ 0 h 582059"/>
              <a:gd name="connsiteX0" fmla="*/ 0 w 2126884"/>
              <a:gd name="connsiteY0" fmla="*/ 421497 h 550332"/>
              <a:gd name="connsiteX1" fmla="*/ 198863 w 2126884"/>
              <a:gd name="connsiteY1" fmla="*/ 490954 h 550332"/>
              <a:gd name="connsiteX2" fmla="*/ 521103 w 2126884"/>
              <a:gd name="connsiteY2" fmla="*/ 550279 h 550332"/>
              <a:gd name="connsiteX3" fmla="*/ 854916 w 2126884"/>
              <a:gd name="connsiteY3" fmla="*/ 498984 h 550332"/>
              <a:gd name="connsiteX4" fmla="*/ 1224470 w 2126884"/>
              <a:gd name="connsiteY4" fmla="*/ 378546 h 550332"/>
              <a:gd name="connsiteX5" fmla="*/ 1586225 w 2126884"/>
              <a:gd name="connsiteY5" fmla="*/ 235733 h 550332"/>
              <a:gd name="connsiteX6" fmla="*/ 1876347 w 2126884"/>
              <a:gd name="connsiteY6" fmla="*/ 108433 h 550332"/>
              <a:gd name="connsiteX7" fmla="*/ 2126884 w 2126884"/>
              <a:gd name="connsiteY7" fmla="*/ 0 h 550332"/>
              <a:gd name="connsiteX0" fmla="*/ 0 w 2126884"/>
              <a:gd name="connsiteY0" fmla="*/ 421497 h 550283"/>
              <a:gd name="connsiteX1" fmla="*/ 218792 w 2126884"/>
              <a:gd name="connsiteY1" fmla="*/ 496722 h 550283"/>
              <a:gd name="connsiteX2" fmla="*/ 521103 w 2126884"/>
              <a:gd name="connsiteY2" fmla="*/ 550279 h 550283"/>
              <a:gd name="connsiteX3" fmla="*/ 854916 w 2126884"/>
              <a:gd name="connsiteY3" fmla="*/ 498984 h 550283"/>
              <a:gd name="connsiteX4" fmla="*/ 1224470 w 2126884"/>
              <a:gd name="connsiteY4" fmla="*/ 378546 h 550283"/>
              <a:gd name="connsiteX5" fmla="*/ 1586225 w 2126884"/>
              <a:gd name="connsiteY5" fmla="*/ 235733 h 550283"/>
              <a:gd name="connsiteX6" fmla="*/ 1876347 w 2126884"/>
              <a:gd name="connsiteY6" fmla="*/ 108433 h 550283"/>
              <a:gd name="connsiteX7" fmla="*/ 2126884 w 2126884"/>
              <a:gd name="connsiteY7" fmla="*/ 0 h 550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6884" h="550283">
                <a:moveTo>
                  <a:pt x="0" y="421497"/>
                </a:moveTo>
                <a:cubicBezTo>
                  <a:pt x="66288" y="444649"/>
                  <a:pt x="131942" y="475258"/>
                  <a:pt x="218792" y="496722"/>
                </a:cubicBezTo>
                <a:cubicBezTo>
                  <a:pt x="282402" y="525877"/>
                  <a:pt x="415082" y="549902"/>
                  <a:pt x="521103" y="550279"/>
                </a:cubicBezTo>
                <a:cubicBezTo>
                  <a:pt x="627124" y="550656"/>
                  <a:pt x="737688" y="527606"/>
                  <a:pt x="854916" y="498984"/>
                </a:cubicBezTo>
                <a:cubicBezTo>
                  <a:pt x="972144" y="470362"/>
                  <a:pt x="1102585" y="422421"/>
                  <a:pt x="1224470" y="378546"/>
                </a:cubicBezTo>
                <a:cubicBezTo>
                  <a:pt x="1346355" y="334671"/>
                  <a:pt x="1477579" y="280752"/>
                  <a:pt x="1586225" y="235733"/>
                </a:cubicBezTo>
                <a:cubicBezTo>
                  <a:pt x="1694871" y="190714"/>
                  <a:pt x="1800810" y="147527"/>
                  <a:pt x="1876347" y="108433"/>
                </a:cubicBezTo>
                <a:lnTo>
                  <a:pt x="2126884" y="0"/>
                </a:lnTo>
              </a:path>
            </a:pathLst>
          </a:custGeom>
          <a:noFill/>
          <a:ln w="9525"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7" name="任意多边形 76"/>
          <p:cNvSpPr/>
          <p:nvPr/>
        </p:nvSpPr>
        <p:spPr bwMode="auto">
          <a:xfrm flipH="1">
            <a:off x="1037095" y="4019739"/>
            <a:ext cx="1936303" cy="680683"/>
          </a:xfrm>
          <a:custGeom>
            <a:avLst/>
            <a:gdLst>
              <a:gd name="connsiteX0" fmla="*/ 0 w 2162755"/>
              <a:gd name="connsiteY0" fmla="*/ 453224 h 628153"/>
              <a:gd name="connsiteX1" fmla="*/ 166978 w 2162755"/>
              <a:gd name="connsiteY1" fmla="*/ 536713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8153"/>
              <a:gd name="connsiteX1" fmla="*/ 166978 w 2162755"/>
              <a:gd name="connsiteY1" fmla="*/ 548640 h 628153"/>
              <a:gd name="connsiteX2" fmla="*/ 381663 w 2162755"/>
              <a:gd name="connsiteY2" fmla="*/ 628153 h 628153"/>
              <a:gd name="connsiteX3" fmla="*/ 767301 w 2162755"/>
              <a:gd name="connsiteY3" fmla="*/ 584421 h 628153"/>
              <a:gd name="connsiteX4" fmla="*/ 1236428 w 2162755"/>
              <a:gd name="connsiteY4" fmla="*/ 433346 h 628153"/>
              <a:gd name="connsiteX5" fmla="*/ 1709531 w 2162755"/>
              <a:gd name="connsiteY5" fmla="*/ 234563 h 628153"/>
              <a:gd name="connsiteX6" fmla="*/ 2035534 w 2162755"/>
              <a:gd name="connsiteY6" fmla="*/ 59635 h 628153"/>
              <a:gd name="connsiteX7" fmla="*/ 2162755 w 2162755"/>
              <a:gd name="connsiteY7" fmla="*/ 0 h 628153"/>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381663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2035534 w 2162755"/>
              <a:gd name="connsiteY6" fmla="*/ 59635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709531 w 2162755"/>
              <a:gd name="connsiteY5" fmla="*/ 234563 h 629320"/>
              <a:gd name="connsiteX6" fmla="*/ 1967948 w 2162755"/>
              <a:gd name="connsiteY6" fmla="*/ 107343 h 629320"/>
              <a:gd name="connsiteX7" fmla="*/ 2162755 w 2162755"/>
              <a:gd name="connsiteY7" fmla="*/ 0 h 629320"/>
              <a:gd name="connsiteX0" fmla="*/ 0 w 2162755"/>
              <a:gd name="connsiteY0" fmla="*/ 453224 h 629320"/>
              <a:gd name="connsiteX1" fmla="*/ 166978 w 2162755"/>
              <a:gd name="connsiteY1" fmla="*/ 548640 h 629320"/>
              <a:gd name="connsiteX2" fmla="*/ 405517 w 2162755"/>
              <a:gd name="connsiteY2" fmla="*/ 628153 h 629320"/>
              <a:gd name="connsiteX3" fmla="*/ 767301 w 2162755"/>
              <a:gd name="connsiteY3" fmla="*/ 584421 h 629320"/>
              <a:gd name="connsiteX4" fmla="*/ 1236428 w 2162755"/>
              <a:gd name="connsiteY4" fmla="*/ 433346 h 629320"/>
              <a:gd name="connsiteX5" fmla="*/ 1657848 w 2162755"/>
              <a:gd name="connsiteY5" fmla="*/ 254442 h 629320"/>
              <a:gd name="connsiteX6" fmla="*/ 1967948 w 2162755"/>
              <a:gd name="connsiteY6" fmla="*/ 107343 h 629320"/>
              <a:gd name="connsiteX7" fmla="*/ 2162755 w 2162755"/>
              <a:gd name="connsiteY7" fmla="*/ 0 h 62932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67948 w 2162755"/>
              <a:gd name="connsiteY6" fmla="*/ 107343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57848 w 2162755"/>
              <a:gd name="connsiteY5" fmla="*/ 254442 h 629540"/>
              <a:gd name="connsiteX6" fmla="*/ 1940119 w 2162755"/>
              <a:gd name="connsiteY6" fmla="*/ 111319 h 629540"/>
              <a:gd name="connsiteX7" fmla="*/ 2162755 w 2162755"/>
              <a:gd name="connsiteY7" fmla="*/ 0 h 629540"/>
              <a:gd name="connsiteX0" fmla="*/ 0 w 2162755"/>
              <a:gd name="connsiteY0" fmla="*/ 453224 h 629540"/>
              <a:gd name="connsiteX1" fmla="*/ 166978 w 2162755"/>
              <a:gd name="connsiteY1" fmla="*/ 548640 h 629540"/>
              <a:gd name="connsiteX2" fmla="*/ 405517 w 2162755"/>
              <a:gd name="connsiteY2" fmla="*/ 628153 h 629540"/>
              <a:gd name="connsiteX3" fmla="*/ 795130 w 2162755"/>
              <a:gd name="connsiteY3" fmla="*/ 588396 h 629540"/>
              <a:gd name="connsiteX4" fmla="*/ 1236428 w 2162755"/>
              <a:gd name="connsiteY4" fmla="*/ 433346 h 629540"/>
              <a:gd name="connsiteX5" fmla="*/ 1610140 w 2162755"/>
              <a:gd name="connsiteY5" fmla="*/ 270344 h 629540"/>
              <a:gd name="connsiteX6" fmla="*/ 1940119 w 2162755"/>
              <a:gd name="connsiteY6" fmla="*/ 111319 h 629540"/>
              <a:gd name="connsiteX7" fmla="*/ 2162755 w 2162755"/>
              <a:gd name="connsiteY7" fmla="*/ 0 h 629540"/>
              <a:gd name="connsiteX0" fmla="*/ 0 w 2162755"/>
              <a:gd name="connsiteY0" fmla="*/ 453224 h 630270"/>
              <a:gd name="connsiteX1" fmla="*/ 178935 w 2162755"/>
              <a:gd name="connsiteY1" fmla="*/ 539987 h 630270"/>
              <a:gd name="connsiteX2" fmla="*/ 405517 w 2162755"/>
              <a:gd name="connsiteY2" fmla="*/ 628153 h 630270"/>
              <a:gd name="connsiteX3" fmla="*/ 795130 w 2162755"/>
              <a:gd name="connsiteY3" fmla="*/ 588396 h 630270"/>
              <a:gd name="connsiteX4" fmla="*/ 1236428 w 2162755"/>
              <a:gd name="connsiteY4" fmla="*/ 433346 h 630270"/>
              <a:gd name="connsiteX5" fmla="*/ 1610140 w 2162755"/>
              <a:gd name="connsiteY5" fmla="*/ 270344 h 630270"/>
              <a:gd name="connsiteX6" fmla="*/ 1940119 w 2162755"/>
              <a:gd name="connsiteY6" fmla="*/ 111319 h 630270"/>
              <a:gd name="connsiteX7" fmla="*/ 2162755 w 2162755"/>
              <a:gd name="connsiteY7" fmla="*/ 0 h 630270"/>
              <a:gd name="connsiteX0" fmla="*/ 0 w 2162755"/>
              <a:gd name="connsiteY0" fmla="*/ 453224 h 605653"/>
              <a:gd name="connsiteX1" fmla="*/ 178935 w 2162755"/>
              <a:gd name="connsiteY1" fmla="*/ 539987 h 605653"/>
              <a:gd name="connsiteX2" fmla="*/ 453345 w 2162755"/>
              <a:gd name="connsiteY2" fmla="*/ 596427 h 605653"/>
              <a:gd name="connsiteX3" fmla="*/ 795130 w 2162755"/>
              <a:gd name="connsiteY3" fmla="*/ 588396 h 605653"/>
              <a:gd name="connsiteX4" fmla="*/ 1236428 w 2162755"/>
              <a:gd name="connsiteY4" fmla="*/ 433346 h 605653"/>
              <a:gd name="connsiteX5" fmla="*/ 1610140 w 2162755"/>
              <a:gd name="connsiteY5" fmla="*/ 270344 h 605653"/>
              <a:gd name="connsiteX6" fmla="*/ 1940119 w 2162755"/>
              <a:gd name="connsiteY6" fmla="*/ 111319 h 605653"/>
              <a:gd name="connsiteX7" fmla="*/ 2162755 w 2162755"/>
              <a:gd name="connsiteY7" fmla="*/ 0 h 605653"/>
              <a:gd name="connsiteX0" fmla="*/ 0 w 2162755"/>
              <a:gd name="connsiteY0" fmla="*/ 453224 h 596540"/>
              <a:gd name="connsiteX1" fmla="*/ 178935 w 2162755"/>
              <a:gd name="connsiteY1" fmla="*/ 539987 h 596540"/>
              <a:gd name="connsiteX2" fmla="*/ 453345 w 2162755"/>
              <a:gd name="connsiteY2" fmla="*/ 596427 h 596540"/>
              <a:gd name="connsiteX3" fmla="*/ 823030 w 2162755"/>
              <a:gd name="connsiteY3" fmla="*/ 550900 h 596540"/>
              <a:gd name="connsiteX4" fmla="*/ 1236428 w 2162755"/>
              <a:gd name="connsiteY4" fmla="*/ 433346 h 596540"/>
              <a:gd name="connsiteX5" fmla="*/ 1610140 w 2162755"/>
              <a:gd name="connsiteY5" fmla="*/ 270344 h 596540"/>
              <a:gd name="connsiteX6" fmla="*/ 1940119 w 2162755"/>
              <a:gd name="connsiteY6" fmla="*/ 111319 h 596540"/>
              <a:gd name="connsiteX7" fmla="*/ 2162755 w 2162755"/>
              <a:gd name="connsiteY7" fmla="*/ 0 h 596540"/>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610140 w 2162755"/>
              <a:gd name="connsiteY5" fmla="*/ 270344 h 596557"/>
              <a:gd name="connsiteX6" fmla="*/ 1940119 w 2162755"/>
              <a:gd name="connsiteY6" fmla="*/ 111319 h 596557"/>
              <a:gd name="connsiteX7" fmla="*/ 2162755 w 2162755"/>
              <a:gd name="connsiteY7" fmla="*/ 0 h 596557"/>
              <a:gd name="connsiteX0" fmla="*/ 0 w 2162755"/>
              <a:gd name="connsiteY0" fmla="*/ 453224 h 596557"/>
              <a:gd name="connsiteX1" fmla="*/ 178935 w 2162755"/>
              <a:gd name="connsiteY1" fmla="*/ 539987 h 596557"/>
              <a:gd name="connsiteX2" fmla="*/ 453345 w 2162755"/>
              <a:gd name="connsiteY2" fmla="*/ 596427 h 596557"/>
              <a:gd name="connsiteX3" fmla="*/ 823030 w 2162755"/>
              <a:gd name="connsiteY3" fmla="*/ 550900 h 596557"/>
              <a:gd name="connsiteX4" fmla="*/ 1236428 w 2162755"/>
              <a:gd name="connsiteY4" fmla="*/ 416041 h 596557"/>
              <a:gd name="connsiteX5" fmla="*/ 1586225 w 2162755"/>
              <a:gd name="connsiteY5" fmla="*/ 267460 h 596557"/>
              <a:gd name="connsiteX6" fmla="*/ 1940119 w 2162755"/>
              <a:gd name="connsiteY6" fmla="*/ 111319 h 596557"/>
              <a:gd name="connsiteX7" fmla="*/ 2162755 w 2162755"/>
              <a:gd name="connsiteY7" fmla="*/ 0 h 596557"/>
              <a:gd name="connsiteX0" fmla="*/ 0 w 2162755"/>
              <a:gd name="connsiteY0" fmla="*/ 453224 h 574299"/>
              <a:gd name="connsiteX1" fmla="*/ 178935 w 2162755"/>
              <a:gd name="connsiteY1" fmla="*/ 539987 h 574299"/>
              <a:gd name="connsiteX2" fmla="*/ 461317 w 2162755"/>
              <a:gd name="connsiteY2" fmla="*/ 573352 h 574299"/>
              <a:gd name="connsiteX3" fmla="*/ 823030 w 2162755"/>
              <a:gd name="connsiteY3" fmla="*/ 550900 h 574299"/>
              <a:gd name="connsiteX4" fmla="*/ 1236428 w 2162755"/>
              <a:gd name="connsiteY4" fmla="*/ 416041 h 574299"/>
              <a:gd name="connsiteX5" fmla="*/ 1586225 w 2162755"/>
              <a:gd name="connsiteY5" fmla="*/ 267460 h 574299"/>
              <a:gd name="connsiteX6" fmla="*/ 1940119 w 2162755"/>
              <a:gd name="connsiteY6" fmla="*/ 111319 h 574299"/>
              <a:gd name="connsiteX7" fmla="*/ 2162755 w 2162755"/>
              <a:gd name="connsiteY7" fmla="*/ 0 h 574299"/>
              <a:gd name="connsiteX0" fmla="*/ 0 w 2162755"/>
              <a:gd name="connsiteY0" fmla="*/ 453224 h 573976"/>
              <a:gd name="connsiteX1" fmla="*/ 178935 w 2162755"/>
              <a:gd name="connsiteY1" fmla="*/ 539987 h 573976"/>
              <a:gd name="connsiteX2" fmla="*/ 461317 w 2162755"/>
              <a:gd name="connsiteY2" fmla="*/ 573352 h 573976"/>
              <a:gd name="connsiteX3" fmla="*/ 838974 w 2162755"/>
              <a:gd name="connsiteY3" fmla="*/ 522058 h 573976"/>
              <a:gd name="connsiteX4" fmla="*/ 1236428 w 2162755"/>
              <a:gd name="connsiteY4" fmla="*/ 416041 h 573976"/>
              <a:gd name="connsiteX5" fmla="*/ 1586225 w 2162755"/>
              <a:gd name="connsiteY5" fmla="*/ 267460 h 573976"/>
              <a:gd name="connsiteX6" fmla="*/ 1940119 w 2162755"/>
              <a:gd name="connsiteY6" fmla="*/ 111319 h 573976"/>
              <a:gd name="connsiteX7" fmla="*/ 2162755 w 2162755"/>
              <a:gd name="connsiteY7" fmla="*/ 0 h 573976"/>
              <a:gd name="connsiteX0" fmla="*/ 0 w 2162755"/>
              <a:gd name="connsiteY0" fmla="*/ 453224 h 580113"/>
              <a:gd name="connsiteX1" fmla="*/ 234735 w 2162755"/>
              <a:gd name="connsiteY1" fmla="*/ 560177 h 580113"/>
              <a:gd name="connsiteX2" fmla="*/ 461317 w 2162755"/>
              <a:gd name="connsiteY2" fmla="*/ 573352 h 580113"/>
              <a:gd name="connsiteX3" fmla="*/ 838974 w 2162755"/>
              <a:gd name="connsiteY3" fmla="*/ 522058 h 580113"/>
              <a:gd name="connsiteX4" fmla="*/ 1236428 w 2162755"/>
              <a:gd name="connsiteY4" fmla="*/ 416041 h 580113"/>
              <a:gd name="connsiteX5" fmla="*/ 1586225 w 2162755"/>
              <a:gd name="connsiteY5" fmla="*/ 267460 h 580113"/>
              <a:gd name="connsiteX6" fmla="*/ 1940119 w 2162755"/>
              <a:gd name="connsiteY6" fmla="*/ 111319 h 580113"/>
              <a:gd name="connsiteX7" fmla="*/ 2162755 w 2162755"/>
              <a:gd name="connsiteY7" fmla="*/ 0 h 580113"/>
              <a:gd name="connsiteX0" fmla="*/ 0 w 2162755"/>
              <a:gd name="connsiteY0" fmla="*/ 453224 h 578650"/>
              <a:gd name="connsiteX1" fmla="*/ 234735 w 2162755"/>
              <a:gd name="connsiteY1" fmla="*/ 560177 h 578650"/>
              <a:gd name="connsiteX2" fmla="*/ 521102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8650"/>
              <a:gd name="connsiteX1" fmla="*/ 234735 w 2162755"/>
              <a:gd name="connsiteY1" fmla="*/ 560177 h 578650"/>
              <a:gd name="connsiteX2" fmla="*/ 537045 w 2162755"/>
              <a:gd name="connsiteY2" fmla="*/ 570468 h 578650"/>
              <a:gd name="connsiteX3" fmla="*/ 838974 w 2162755"/>
              <a:gd name="connsiteY3" fmla="*/ 522058 h 578650"/>
              <a:gd name="connsiteX4" fmla="*/ 1236428 w 2162755"/>
              <a:gd name="connsiteY4" fmla="*/ 416041 h 578650"/>
              <a:gd name="connsiteX5" fmla="*/ 1586225 w 2162755"/>
              <a:gd name="connsiteY5" fmla="*/ 267460 h 578650"/>
              <a:gd name="connsiteX6" fmla="*/ 1940119 w 2162755"/>
              <a:gd name="connsiteY6" fmla="*/ 111319 h 578650"/>
              <a:gd name="connsiteX7" fmla="*/ 2162755 w 2162755"/>
              <a:gd name="connsiteY7" fmla="*/ 0 h 578650"/>
              <a:gd name="connsiteX0" fmla="*/ 0 w 2162755"/>
              <a:gd name="connsiteY0" fmla="*/ 453224 h 570604"/>
              <a:gd name="connsiteX1" fmla="*/ 174949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6041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40119 w 2162755"/>
              <a:gd name="connsiteY6" fmla="*/ 111319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36428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604"/>
              <a:gd name="connsiteX1" fmla="*/ 1908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1743"/>
              <a:gd name="connsiteX1" fmla="*/ 238721 w 2162755"/>
              <a:gd name="connsiteY1" fmla="*/ 542871 h 571743"/>
              <a:gd name="connsiteX2" fmla="*/ 537045 w 2162755"/>
              <a:gd name="connsiteY2" fmla="*/ 570468 h 571743"/>
              <a:gd name="connsiteX3" fmla="*/ 838974 w 2162755"/>
              <a:gd name="connsiteY3" fmla="*/ 522058 h 571743"/>
              <a:gd name="connsiteX4" fmla="*/ 1224470 w 2162755"/>
              <a:gd name="connsiteY4" fmla="*/ 410273 h 571743"/>
              <a:gd name="connsiteX5" fmla="*/ 1586225 w 2162755"/>
              <a:gd name="connsiteY5" fmla="*/ 267460 h 571743"/>
              <a:gd name="connsiteX6" fmla="*/ 1924176 w 2162755"/>
              <a:gd name="connsiteY6" fmla="*/ 117087 h 571743"/>
              <a:gd name="connsiteX7" fmla="*/ 2162755 w 2162755"/>
              <a:gd name="connsiteY7" fmla="*/ 0 h 571743"/>
              <a:gd name="connsiteX0" fmla="*/ 0 w 2162755"/>
              <a:gd name="connsiteY0" fmla="*/ 453224 h 570604"/>
              <a:gd name="connsiteX1" fmla="*/ 246692 w 2162755"/>
              <a:gd name="connsiteY1" fmla="*/ 531334 h 570604"/>
              <a:gd name="connsiteX2" fmla="*/ 537045 w 2162755"/>
              <a:gd name="connsiteY2" fmla="*/ 570468 h 570604"/>
              <a:gd name="connsiteX3" fmla="*/ 838974 w 2162755"/>
              <a:gd name="connsiteY3" fmla="*/ 522058 h 570604"/>
              <a:gd name="connsiteX4" fmla="*/ 1224470 w 2162755"/>
              <a:gd name="connsiteY4" fmla="*/ 410273 h 570604"/>
              <a:gd name="connsiteX5" fmla="*/ 1586225 w 2162755"/>
              <a:gd name="connsiteY5" fmla="*/ 267460 h 570604"/>
              <a:gd name="connsiteX6" fmla="*/ 1924176 w 2162755"/>
              <a:gd name="connsiteY6" fmla="*/ 117087 h 570604"/>
              <a:gd name="connsiteX7" fmla="*/ 2162755 w 2162755"/>
              <a:gd name="connsiteY7" fmla="*/ 0 h 570604"/>
              <a:gd name="connsiteX0" fmla="*/ 0 w 2162755"/>
              <a:gd name="connsiteY0" fmla="*/ 453224 h 570468"/>
              <a:gd name="connsiteX1" fmla="*/ 214806 w 2162755"/>
              <a:gd name="connsiteY1" fmla="*/ 522681 h 570468"/>
              <a:gd name="connsiteX2" fmla="*/ 537045 w 2162755"/>
              <a:gd name="connsiteY2" fmla="*/ 570468 h 570468"/>
              <a:gd name="connsiteX3" fmla="*/ 838974 w 2162755"/>
              <a:gd name="connsiteY3" fmla="*/ 522058 h 570468"/>
              <a:gd name="connsiteX4" fmla="*/ 1224470 w 2162755"/>
              <a:gd name="connsiteY4" fmla="*/ 410273 h 570468"/>
              <a:gd name="connsiteX5" fmla="*/ 1586225 w 2162755"/>
              <a:gd name="connsiteY5" fmla="*/ 267460 h 570468"/>
              <a:gd name="connsiteX6" fmla="*/ 1924176 w 2162755"/>
              <a:gd name="connsiteY6" fmla="*/ 117087 h 570468"/>
              <a:gd name="connsiteX7" fmla="*/ 2162755 w 2162755"/>
              <a:gd name="connsiteY7" fmla="*/ 0 h 570468"/>
              <a:gd name="connsiteX0" fmla="*/ 0 w 2162755"/>
              <a:gd name="connsiteY0" fmla="*/ 453224 h 582006"/>
              <a:gd name="connsiteX1" fmla="*/ 214806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06"/>
              <a:gd name="connsiteX1" fmla="*/ 198863 w 2162755"/>
              <a:gd name="connsiteY1" fmla="*/ 522681 h 582006"/>
              <a:gd name="connsiteX2" fmla="*/ 521103 w 2162755"/>
              <a:gd name="connsiteY2" fmla="*/ 582006 h 582006"/>
              <a:gd name="connsiteX3" fmla="*/ 838974 w 2162755"/>
              <a:gd name="connsiteY3" fmla="*/ 522058 h 582006"/>
              <a:gd name="connsiteX4" fmla="*/ 1224470 w 2162755"/>
              <a:gd name="connsiteY4" fmla="*/ 410273 h 582006"/>
              <a:gd name="connsiteX5" fmla="*/ 1586225 w 2162755"/>
              <a:gd name="connsiteY5" fmla="*/ 267460 h 582006"/>
              <a:gd name="connsiteX6" fmla="*/ 1924176 w 2162755"/>
              <a:gd name="connsiteY6" fmla="*/ 117087 h 582006"/>
              <a:gd name="connsiteX7" fmla="*/ 2162755 w 2162755"/>
              <a:gd name="connsiteY7" fmla="*/ 0 h 582006"/>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924176 w 2162755"/>
              <a:gd name="connsiteY6" fmla="*/ 117087 h 582059"/>
              <a:gd name="connsiteX7" fmla="*/ 2162755 w 2162755"/>
              <a:gd name="connsiteY7" fmla="*/ 0 h 582059"/>
              <a:gd name="connsiteX0" fmla="*/ 0 w 2162755"/>
              <a:gd name="connsiteY0" fmla="*/ 453224 h 582059"/>
              <a:gd name="connsiteX1" fmla="*/ 198863 w 2162755"/>
              <a:gd name="connsiteY1" fmla="*/ 522681 h 582059"/>
              <a:gd name="connsiteX2" fmla="*/ 521103 w 2162755"/>
              <a:gd name="connsiteY2" fmla="*/ 582006 h 582059"/>
              <a:gd name="connsiteX3" fmla="*/ 854916 w 2162755"/>
              <a:gd name="connsiteY3" fmla="*/ 530711 h 582059"/>
              <a:gd name="connsiteX4" fmla="*/ 1224470 w 2162755"/>
              <a:gd name="connsiteY4" fmla="*/ 410273 h 582059"/>
              <a:gd name="connsiteX5" fmla="*/ 1586225 w 2162755"/>
              <a:gd name="connsiteY5" fmla="*/ 267460 h 582059"/>
              <a:gd name="connsiteX6" fmla="*/ 1876347 w 2162755"/>
              <a:gd name="connsiteY6" fmla="*/ 140160 h 582059"/>
              <a:gd name="connsiteX7" fmla="*/ 2162755 w 2162755"/>
              <a:gd name="connsiteY7" fmla="*/ 0 h 582059"/>
              <a:gd name="connsiteX0" fmla="*/ 0 w 2126884"/>
              <a:gd name="connsiteY0" fmla="*/ 421497 h 550332"/>
              <a:gd name="connsiteX1" fmla="*/ 198863 w 2126884"/>
              <a:gd name="connsiteY1" fmla="*/ 490954 h 550332"/>
              <a:gd name="connsiteX2" fmla="*/ 521103 w 2126884"/>
              <a:gd name="connsiteY2" fmla="*/ 550279 h 550332"/>
              <a:gd name="connsiteX3" fmla="*/ 854916 w 2126884"/>
              <a:gd name="connsiteY3" fmla="*/ 498984 h 550332"/>
              <a:gd name="connsiteX4" fmla="*/ 1224470 w 2126884"/>
              <a:gd name="connsiteY4" fmla="*/ 378546 h 550332"/>
              <a:gd name="connsiteX5" fmla="*/ 1586225 w 2126884"/>
              <a:gd name="connsiteY5" fmla="*/ 235733 h 550332"/>
              <a:gd name="connsiteX6" fmla="*/ 1876347 w 2126884"/>
              <a:gd name="connsiteY6" fmla="*/ 108433 h 550332"/>
              <a:gd name="connsiteX7" fmla="*/ 2126884 w 2126884"/>
              <a:gd name="connsiteY7" fmla="*/ 0 h 550332"/>
              <a:gd name="connsiteX0" fmla="*/ 0 w 2126884"/>
              <a:gd name="connsiteY0" fmla="*/ 421497 h 550283"/>
              <a:gd name="connsiteX1" fmla="*/ 218792 w 2126884"/>
              <a:gd name="connsiteY1" fmla="*/ 496722 h 550283"/>
              <a:gd name="connsiteX2" fmla="*/ 521103 w 2126884"/>
              <a:gd name="connsiteY2" fmla="*/ 550279 h 550283"/>
              <a:gd name="connsiteX3" fmla="*/ 854916 w 2126884"/>
              <a:gd name="connsiteY3" fmla="*/ 498984 h 550283"/>
              <a:gd name="connsiteX4" fmla="*/ 1224470 w 2126884"/>
              <a:gd name="connsiteY4" fmla="*/ 378546 h 550283"/>
              <a:gd name="connsiteX5" fmla="*/ 1586225 w 2126884"/>
              <a:gd name="connsiteY5" fmla="*/ 235733 h 550283"/>
              <a:gd name="connsiteX6" fmla="*/ 1876347 w 2126884"/>
              <a:gd name="connsiteY6" fmla="*/ 108433 h 550283"/>
              <a:gd name="connsiteX7" fmla="*/ 2126884 w 2126884"/>
              <a:gd name="connsiteY7" fmla="*/ 0 h 550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6884" h="550283">
                <a:moveTo>
                  <a:pt x="0" y="421497"/>
                </a:moveTo>
                <a:cubicBezTo>
                  <a:pt x="66288" y="444649"/>
                  <a:pt x="131942" y="475258"/>
                  <a:pt x="218792" y="496722"/>
                </a:cubicBezTo>
                <a:cubicBezTo>
                  <a:pt x="282402" y="525877"/>
                  <a:pt x="415082" y="549902"/>
                  <a:pt x="521103" y="550279"/>
                </a:cubicBezTo>
                <a:cubicBezTo>
                  <a:pt x="627124" y="550656"/>
                  <a:pt x="737688" y="527606"/>
                  <a:pt x="854916" y="498984"/>
                </a:cubicBezTo>
                <a:cubicBezTo>
                  <a:pt x="972144" y="470362"/>
                  <a:pt x="1102585" y="422421"/>
                  <a:pt x="1224470" y="378546"/>
                </a:cubicBezTo>
                <a:cubicBezTo>
                  <a:pt x="1346355" y="334671"/>
                  <a:pt x="1477579" y="280752"/>
                  <a:pt x="1586225" y="235733"/>
                </a:cubicBezTo>
                <a:cubicBezTo>
                  <a:pt x="1694871" y="190714"/>
                  <a:pt x="1800810" y="147527"/>
                  <a:pt x="1876347" y="108433"/>
                </a:cubicBezTo>
                <a:lnTo>
                  <a:pt x="2126884" y="0"/>
                </a:lnTo>
              </a:path>
            </a:pathLst>
          </a:custGeom>
          <a:noFill/>
          <a:ln w="9525"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8" name="右箭头 77"/>
          <p:cNvSpPr/>
          <p:nvPr/>
        </p:nvSpPr>
        <p:spPr bwMode="auto">
          <a:xfrm rot="20089656">
            <a:off x="3879509" y="4194337"/>
            <a:ext cx="413657" cy="195943"/>
          </a:xfrm>
          <a:prstGeom prst="rightArrow">
            <a:avLst/>
          </a:prstGeom>
          <a:solidFill>
            <a:schemeClr val="accent2">
              <a:lumMod val="20000"/>
              <a:lumOff val="80000"/>
            </a:schemeClr>
          </a:solidFill>
          <a:ln w="12700" cap="flat" cmpd="sng" algn="ctr">
            <a:solidFill>
              <a:srgbClr val="C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9" name="右箭头 78"/>
          <p:cNvSpPr/>
          <p:nvPr/>
        </p:nvSpPr>
        <p:spPr bwMode="auto">
          <a:xfrm rot="1510344" flipH="1">
            <a:off x="1759356" y="4248125"/>
            <a:ext cx="413657" cy="195943"/>
          </a:xfrm>
          <a:prstGeom prst="rightArrow">
            <a:avLst/>
          </a:prstGeom>
          <a:solidFill>
            <a:schemeClr val="accent2">
              <a:lumMod val="20000"/>
              <a:lumOff val="80000"/>
            </a:schemeClr>
          </a:solidFill>
          <a:ln w="12700" cap="flat" cmpd="sng" algn="ctr">
            <a:solidFill>
              <a:srgbClr val="C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80" name="直接连接符 79"/>
          <p:cNvCxnSpPr/>
          <p:nvPr/>
        </p:nvCxnSpPr>
        <p:spPr bwMode="auto">
          <a:xfrm>
            <a:off x="1125724" y="4010337"/>
            <a:ext cx="1331383" cy="0"/>
          </a:xfrm>
          <a:prstGeom prst="line">
            <a:avLst/>
          </a:prstGeom>
          <a:noFill/>
          <a:ln w="12700" cap="flat" cmpd="sng" algn="ctr">
            <a:solidFill>
              <a:srgbClr val="0000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Line 23"/>
          <p:cNvSpPr>
            <a:spLocks noChangeShapeType="1"/>
          </p:cNvSpPr>
          <p:nvPr/>
        </p:nvSpPr>
        <p:spPr bwMode="auto">
          <a:xfrm>
            <a:off x="4920579" y="4013787"/>
            <a:ext cx="194242" cy="0"/>
          </a:xfrm>
          <a:prstGeom prst="line">
            <a:avLst/>
          </a:prstGeom>
          <a:noFill/>
          <a:ln w="19050" cap="sq">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矩形 81"/>
          <p:cNvSpPr/>
          <p:nvPr/>
        </p:nvSpPr>
        <p:spPr>
          <a:xfrm>
            <a:off x="4146785" y="3481947"/>
            <a:ext cx="1382594" cy="338554"/>
          </a:xfrm>
          <a:prstGeom prst="rect">
            <a:avLst/>
          </a:prstGeom>
        </p:spPr>
        <p:txBody>
          <a:bodyPr wrap="square">
            <a:spAutoFit/>
          </a:bodyPr>
          <a:lstStyle/>
          <a:p>
            <a:pPr algn="ctr">
              <a:lnSpc>
                <a:spcPct val="100000"/>
              </a:lnSpc>
              <a:buClr>
                <a:srgbClr val="C00000"/>
              </a:buClr>
            </a:pPr>
            <a:r>
              <a:rPr lang="zh-CN" altLang="en-US" sz="16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隆起后地面</a:t>
            </a:r>
          </a:p>
        </p:txBody>
      </p:sp>
      <p:cxnSp>
        <p:nvCxnSpPr>
          <p:cNvPr id="83" name="直接连接符 82"/>
          <p:cNvCxnSpPr/>
          <p:nvPr/>
        </p:nvCxnSpPr>
        <p:spPr bwMode="auto">
          <a:xfrm flipV="1">
            <a:off x="4034596" y="3718567"/>
            <a:ext cx="249168" cy="12322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Rectangle 24" descr="深色上对角线"/>
          <p:cNvSpPr>
            <a:spLocks noChangeArrowheads="1"/>
          </p:cNvSpPr>
          <p:nvPr/>
        </p:nvSpPr>
        <p:spPr bwMode="auto">
          <a:xfrm>
            <a:off x="2499716" y="3898132"/>
            <a:ext cx="930275" cy="152400"/>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Tree>
    <p:extLst>
      <p:ext uri="{BB962C8B-B14F-4D97-AF65-F5344CB8AC3E}">
        <p14:creationId xmlns:p14="http://schemas.microsoft.com/office/powerpoint/2010/main" val="222230481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500"/>
                                        <p:tgtEl>
                                          <p:spTgt spid="69"/>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4000" fill="hold" nodeType="clickEffect">
                                  <p:stCondLst>
                                    <p:cond delay="0"/>
                                  </p:stCondLst>
                                  <p:childTnLst>
                                    <p:anim calcmode="discrete" valueType="str">
                                      <p:cBhvr>
                                        <p:cTn id="14" dur="1000" fill="hold"/>
                                        <p:tgtEl>
                                          <p:spTgt spid="2"/>
                                        </p:tgtEl>
                                        <p:attrNameLst>
                                          <p:attrName>style.visibility</p:attrName>
                                        </p:attrNameLst>
                                      </p:cBhvr>
                                      <p:tavLst>
                                        <p:tav tm="0">
                                          <p:val>
                                            <p:strVal val="hidden"/>
                                          </p:val>
                                        </p:tav>
                                        <p:tav tm="50000">
                                          <p:val>
                                            <p:strVal val="visible"/>
                                          </p:val>
                                        </p:tav>
                                      </p:tavLst>
                                    </p:anim>
                                  </p:childTnLst>
                                </p:cTn>
                              </p:par>
                              <p:par>
                                <p:cTn id="15" presetID="35" presetClass="emph" presetSubtype="0" repeatCount="4000" fill="hold" nodeType="withEffect">
                                  <p:stCondLst>
                                    <p:cond delay="0"/>
                                  </p:stCondLst>
                                  <p:childTnLst>
                                    <p:anim calcmode="discrete" valueType="str">
                                      <p:cBhvr>
                                        <p:cTn id="16" dur="1000" fill="hold"/>
                                        <p:tgtEl>
                                          <p:spTgt spid="7"/>
                                        </p:tgtEl>
                                        <p:attrNameLst>
                                          <p:attrName>style.visibility</p:attrName>
                                        </p:attrNameLst>
                                      </p:cBhvr>
                                      <p:tavLst>
                                        <p:tav tm="0">
                                          <p:val>
                                            <p:strVal val="hidden"/>
                                          </p:val>
                                        </p:tav>
                                        <p:tav tm="50000">
                                          <p:val>
                                            <p:strVal val="visible"/>
                                          </p:val>
                                        </p:tav>
                                      </p:tavLst>
                                    </p:anim>
                                  </p:childTnLst>
                                </p:cTn>
                              </p:par>
                              <p:par>
                                <p:cTn id="17" presetID="35" presetClass="emph" presetSubtype="0" repeatCount="4000" fill="hold" grpId="0" nodeType="withEffect">
                                  <p:stCondLst>
                                    <p:cond delay="0"/>
                                  </p:stCondLst>
                                  <p:childTnLst>
                                    <p:anim calcmode="discrete" valueType="str">
                                      <p:cBhvr>
                                        <p:cTn id="18" dur="1000" fill="hold"/>
                                        <p:tgtEl>
                                          <p:spTgt spid="6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68" grpId="0"/>
      <p:bldP spid="6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bwMode="auto">
          <a:xfrm>
            <a:off x="735256" y="4289265"/>
            <a:ext cx="4245997" cy="1184744"/>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35" name="矩形 34"/>
          <p:cNvSpPr/>
          <p:nvPr/>
        </p:nvSpPr>
        <p:spPr>
          <a:xfrm>
            <a:off x="1087970" y="1742293"/>
            <a:ext cx="4561716" cy="1836400"/>
          </a:xfrm>
          <a:prstGeom prst="rect">
            <a:avLst/>
          </a:prstGeom>
        </p:spPr>
        <p:txBody>
          <a:bodyPr wrap="square">
            <a:spAutoFit/>
          </a:bodyPr>
          <a:lstStyle/>
          <a:p>
            <a:pPr marL="177800" indent="-177800">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rPr>
              <a:t>松软地基，埋深较大</a:t>
            </a:r>
            <a:endParaRPr lang="en-US" altLang="zh-CN" sz="2000" b="1" dirty="0">
              <a:solidFill>
                <a:srgbClr val="000066"/>
              </a:solidFill>
              <a:ea typeface="幼圆" panose="02010509060101010101" pitchFamily="49" charset="-122"/>
              <a:cs typeface="Times New Roman" panose="02020603050405020304" pitchFamily="18" charset="0"/>
            </a:endParaRPr>
          </a:p>
          <a:p>
            <a:pPr marL="177800" indent="-177800">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rPr>
              <a:t>极限平衡区范围小，不形成延伸至地面的连续破裂面</a:t>
            </a:r>
            <a:endParaRPr lang="zh-CN" altLang="en-US" sz="2000" b="1" dirty="0">
              <a:solidFill>
                <a:srgbClr val="C00000"/>
              </a:solidFill>
              <a:ea typeface="幼圆" panose="02010509060101010101" pitchFamily="49" charset="-122"/>
              <a:cs typeface="Times New Roman" panose="02020603050405020304" pitchFamily="18" charset="0"/>
            </a:endParaRPr>
          </a:p>
          <a:p>
            <a:pPr marL="177800" indent="-177800">
              <a:lnSpc>
                <a:spcPct val="110000"/>
              </a:lnSpc>
              <a:spcBef>
                <a:spcPts val="100"/>
              </a:spcBef>
              <a:spcAft>
                <a:spcPts val="100"/>
              </a:spcAft>
              <a:buClr>
                <a:srgbClr val="C00000"/>
              </a:buClr>
              <a:buFont typeface="Arial" panose="020B0604020202020204" pitchFamily="34" charset="0"/>
              <a:buChar char="•"/>
            </a:pPr>
            <a:r>
              <a:rPr lang="en-US" altLang="zh-CN" sz="2000" b="1" i="1" dirty="0">
                <a:solidFill>
                  <a:srgbClr val="000066"/>
                </a:solidFill>
                <a:ea typeface="幼圆" panose="02010509060101010101" pitchFamily="49" charset="-122"/>
                <a:cs typeface="Times New Roman" panose="02020603050405020304" pitchFamily="18" charset="0"/>
              </a:rPr>
              <a:t>p</a:t>
            </a:r>
            <a:r>
              <a:rPr lang="en-US"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s</a:t>
            </a:r>
            <a:r>
              <a:rPr lang="zh-CN" altLang="en-US" sz="2000" b="1" dirty="0">
                <a:solidFill>
                  <a:srgbClr val="000066"/>
                </a:solidFill>
                <a:ea typeface="幼圆" panose="02010509060101010101" pitchFamily="49" charset="-122"/>
                <a:cs typeface="Times New Roman" panose="02020603050405020304" pitchFamily="18" charset="0"/>
              </a:rPr>
              <a:t>曲线开始就呈现非线性，没有明显的转折点和骤降段</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10" name="矩形 9"/>
          <p:cNvSpPr/>
          <p:nvPr/>
        </p:nvSpPr>
        <p:spPr bwMode="auto">
          <a:xfrm>
            <a:off x="2368826" y="4224130"/>
            <a:ext cx="940904" cy="86140"/>
          </a:xfrm>
          <a:prstGeom prst="rect">
            <a:avLst/>
          </a:prstGeom>
          <a:solidFill>
            <a:schemeClr val="bg1"/>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15</a:t>
            </a:fld>
            <a:endParaRPr lang="zh-CN" altLang="en-US" dirty="0">
              <a:solidFill>
                <a:srgbClr val="C00000"/>
              </a:solidFill>
            </a:endParaRPr>
          </a:p>
        </p:txBody>
      </p:sp>
      <p:sp>
        <p:nvSpPr>
          <p:cNvPr id="8" name="Text Box 46"/>
          <p:cNvSpPr txBox="1">
            <a:spLocks noChangeArrowheads="1"/>
          </p:cNvSpPr>
          <p:nvPr/>
        </p:nvSpPr>
        <p:spPr bwMode="auto">
          <a:xfrm>
            <a:off x="384649" y="601804"/>
            <a:ext cx="5439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地基失稳的三种破坏形式</a:t>
            </a:r>
          </a:p>
        </p:txBody>
      </p:sp>
      <p:sp>
        <p:nvSpPr>
          <p:cNvPr id="56" name="Text Box 2"/>
          <p:cNvSpPr txBox="1">
            <a:spLocks noChangeArrowheads="1"/>
          </p:cNvSpPr>
          <p:nvPr/>
        </p:nvSpPr>
        <p:spPr bwMode="auto">
          <a:xfrm>
            <a:off x="2032000" y="5773566"/>
            <a:ext cx="64346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竖直荷载下地基的破坏形式</a:t>
            </a:r>
          </a:p>
        </p:txBody>
      </p:sp>
      <p:sp>
        <p:nvSpPr>
          <p:cNvPr id="27" name="矩形 26"/>
          <p:cNvSpPr/>
          <p:nvPr/>
        </p:nvSpPr>
        <p:spPr>
          <a:xfrm>
            <a:off x="718557" y="1214026"/>
            <a:ext cx="2504212" cy="517065"/>
          </a:xfrm>
          <a:prstGeom prst="rect">
            <a:avLst/>
          </a:prstGeom>
        </p:spPr>
        <p:txBody>
          <a:bodyPr wrap="none">
            <a:spAutoFit/>
          </a:bodyPr>
          <a:lstStyle/>
          <a:p>
            <a:r>
              <a:rPr lang="en-US" altLang="zh-CN" sz="2400" b="1" dirty="0">
                <a:solidFill>
                  <a:srgbClr val="000066"/>
                </a:solidFill>
                <a:ea typeface="幼圆" panose="02010509060101010101" pitchFamily="49" charset="-122"/>
                <a:cs typeface="Times New Roman" panose="02020603050405020304" pitchFamily="18" charset="0"/>
              </a:rPr>
              <a:t>2</a:t>
            </a:r>
            <a:r>
              <a:rPr lang="zh-CN" altLang="en-US" sz="2400" b="1" dirty="0">
                <a:solidFill>
                  <a:srgbClr val="000066"/>
                </a:solidFill>
                <a:ea typeface="幼圆" panose="02010509060101010101" pitchFamily="49" charset="-122"/>
                <a:cs typeface="Times New Roman" panose="02020603050405020304" pitchFamily="18" charset="0"/>
              </a:rPr>
              <a:t>）</a:t>
            </a:r>
            <a:r>
              <a:rPr lang="zh-CN" altLang="en-US" sz="2400" b="1" dirty="0">
                <a:solidFill>
                  <a:srgbClr val="C00000"/>
                </a:solidFill>
                <a:ea typeface="幼圆" panose="02010509060101010101" pitchFamily="49" charset="-122"/>
                <a:cs typeface="Times New Roman" panose="02020603050405020304" pitchFamily="18" charset="0"/>
              </a:rPr>
              <a:t>局部剪切破坏</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33" name="Text Box 15"/>
          <p:cNvSpPr txBox="1">
            <a:spLocks noChangeArrowheads="1"/>
          </p:cNvSpPr>
          <p:nvPr/>
        </p:nvSpPr>
        <p:spPr bwMode="auto">
          <a:xfrm>
            <a:off x="5946684" y="4517352"/>
            <a:ext cx="30489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s</a:t>
            </a:r>
            <a:endParaRPr kumimoji="1" lang="en-US" altLang="zh-CN" sz="2400" b="1" dirty="0">
              <a:solidFill>
                <a:srgbClr val="000066"/>
              </a:solidFill>
              <a:latin typeface="Times New Roman" panose="02020603050405020304" pitchFamily="18" charset="0"/>
            </a:endParaRPr>
          </a:p>
        </p:txBody>
      </p:sp>
      <p:sp>
        <p:nvSpPr>
          <p:cNvPr id="34" name="Text Box 16"/>
          <p:cNvSpPr txBox="1">
            <a:spLocks noChangeArrowheads="1"/>
          </p:cNvSpPr>
          <p:nvPr/>
        </p:nvSpPr>
        <p:spPr bwMode="auto">
          <a:xfrm>
            <a:off x="8136008" y="1007460"/>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endParaRPr kumimoji="1" lang="en-US" altLang="zh-CN" sz="2400" b="1" dirty="0">
              <a:solidFill>
                <a:srgbClr val="000066"/>
              </a:solidFill>
              <a:latin typeface="Times New Roman" panose="02020603050405020304" pitchFamily="18" charset="0"/>
            </a:endParaRPr>
          </a:p>
        </p:txBody>
      </p:sp>
      <p:sp>
        <p:nvSpPr>
          <p:cNvPr id="36" name="Text Box 17"/>
          <p:cNvSpPr txBox="1">
            <a:spLocks noChangeArrowheads="1"/>
          </p:cNvSpPr>
          <p:nvPr/>
        </p:nvSpPr>
        <p:spPr bwMode="auto">
          <a:xfrm>
            <a:off x="5744844" y="1072506"/>
            <a:ext cx="42351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rPr>
              <a:t>O</a:t>
            </a:r>
          </a:p>
        </p:txBody>
      </p:sp>
      <p:sp>
        <p:nvSpPr>
          <p:cNvPr id="40" name="任意多边形 39"/>
          <p:cNvSpPr/>
          <p:nvPr/>
        </p:nvSpPr>
        <p:spPr bwMode="auto">
          <a:xfrm>
            <a:off x="5900321" y="1561838"/>
            <a:ext cx="2742936" cy="3312000"/>
          </a:xfrm>
          <a:custGeom>
            <a:avLst/>
            <a:gdLst>
              <a:gd name="connsiteX0" fmla="*/ 2772137 w 2772137"/>
              <a:gd name="connsiteY0" fmla="*/ 0 h 3466618"/>
              <a:gd name="connsiteX1" fmla="*/ 0 w 2772137"/>
              <a:gd name="connsiteY1" fmla="*/ 0 h 3466618"/>
              <a:gd name="connsiteX2" fmla="*/ 0 w 2772137"/>
              <a:gd name="connsiteY2" fmla="*/ 3466618 h 3466618"/>
            </a:gdLst>
            <a:ahLst/>
            <a:cxnLst>
              <a:cxn ang="0">
                <a:pos x="connsiteX0" y="connsiteY0"/>
              </a:cxn>
              <a:cxn ang="0">
                <a:pos x="connsiteX1" y="connsiteY1"/>
              </a:cxn>
              <a:cxn ang="0">
                <a:pos x="connsiteX2" y="connsiteY2"/>
              </a:cxn>
            </a:cxnLst>
            <a:rect l="l" t="t" r="r" b="b"/>
            <a:pathLst>
              <a:path w="2772137" h="3466618">
                <a:moveTo>
                  <a:pt x="2772137" y="0"/>
                </a:moveTo>
                <a:lnTo>
                  <a:pt x="0" y="0"/>
                </a:lnTo>
                <a:lnTo>
                  <a:pt x="0" y="3466618"/>
                </a:lnTo>
              </a:path>
            </a:pathLst>
          </a:custGeom>
          <a:noFill/>
          <a:ln w="28575"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1" name="任意多边形 40"/>
          <p:cNvSpPr/>
          <p:nvPr/>
        </p:nvSpPr>
        <p:spPr bwMode="auto">
          <a:xfrm>
            <a:off x="5911894" y="1569402"/>
            <a:ext cx="2307342" cy="3024511"/>
          </a:xfrm>
          <a:custGeom>
            <a:avLst/>
            <a:gdLst>
              <a:gd name="connsiteX0" fmla="*/ 0 w 2453833"/>
              <a:gd name="connsiteY0" fmla="*/ 0 h 3090440"/>
              <a:gd name="connsiteX1" fmla="*/ 1116957 w 2453833"/>
              <a:gd name="connsiteY1" fmla="*/ 653969 h 3090440"/>
              <a:gd name="connsiteX2" fmla="*/ 1475772 w 2453833"/>
              <a:gd name="connsiteY2" fmla="*/ 850739 h 3090440"/>
              <a:gd name="connsiteX3" fmla="*/ 1678329 w 2453833"/>
              <a:gd name="connsiteY3" fmla="*/ 983848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53833 w 2453833"/>
              <a:gd name="connsiteY8"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786782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88131 w 2453833"/>
              <a:gd name="connsiteY6" fmla="*/ 1841076 h 3090440"/>
              <a:gd name="connsiteX7" fmla="*/ 2291172 w 2453833"/>
              <a:gd name="connsiteY7" fmla="*/ 2430683 h 3090440"/>
              <a:gd name="connsiteX8" fmla="*/ 2453833 w 2453833"/>
              <a:gd name="connsiteY8" fmla="*/ 3090440 h 3090440"/>
              <a:gd name="connsiteX0" fmla="*/ 0 w 2394916"/>
              <a:gd name="connsiteY0" fmla="*/ 0 h 3661343"/>
              <a:gd name="connsiteX1" fmla="*/ 1028187 w 2394916"/>
              <a:gd name="connsiteY1" fmla="*/ 353618 h 3661343"/>
              <a:gd name="connsiteX2" fmla="*/ 1508913 w 2394916"/>
              <a:gd name="connsiteY2" fmla="*/ 554870 h 3661343"/>
              <a:gd name="connsiteX3" fmla="*/ 1816240 w 2394916"/>
              <a:gd name="connsiteY3" fmla="*/ 882200 h 3661343"/>
              <a:gd name="connsiteX4" fmla="*/ 1979934 w 2394916"/>
              <a:gd name="connsiteY4" fmla="*/ 1140471 h 3661343"/>
              <a:gd name="connsiteX5" fmla="*/ 2094478 w 2394916"/>
              <a:gd name="connsiteY5" fmla="*/ 1451003 h 3661343"/>
              <a:gd name="connsiteX6" fmla="*/ 2188131 w 2394916"/>
              <a:gd name="connsiteY6" fmla="*/ 1841076 h 3661343"/>
              <a:gd name="connsiteX7" fmla="*/ 2291172 w 2394916"/>
              <a:gd name="connsiteY7" fmla="*/ 2430683 h 3661343"/>
              <a:gd name="connsiteX8" fmla="*/ 2394916 w 2394916"/>
              <a:gd name="connsiteY8" fmla="*/ 3661343 h 3661343"/>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291172 w 2402281"/>
              <a:gd name="connsiteY7" fmla="*/ 2430683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13266 w 2402281"/>
              <a:gd name="connsiteY7" fmla="*/ 2814064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206543 w 2402281"/>
              <a:gd name="connsiteY6" fmla="*/ 1907751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280127 w 2402281"/>
              <a:gd name="connsiteY8" fmla="*/ 2839066 h 4053058"/>
              <a:gd name="connsiteX9" fmla="*/ 2402281 w 2402281"/>
              <a:gd name="connsiteY9" fmla="*/ 4053058 h 4053058"/>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80127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54350 w 2299175"/>
              <a:gd name="connsiteY8" fmla="*/ 2997419 h 4073895"/>
              <a:gd name="connsiteX9" fmla="*/ 2299175 w 2299175"/>
              <a:gd name="connsiteY9" fmla="*/ 4073895 h 4073895"/>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816240 w 2262351"/>
              <a:gd name="connsiteY4" fmla="*/ 882200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2569 w 2262351"/>
              <a:gd name="connsiteY5" fmla="*/ 1115468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35938 w 2262351"/>
              <a:gd name="connsiteY8" fmla="*/ 3005754 h 4107232"/>
              <a:gd name="connsiteX9" fmla="*/ 2262351 w 2262351"/>
              <a:gd name="connsiteY9" fmla="*/ 4107232 h 4107232"/>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35938"/>
              <a:gd name="connsiteY0" fmla="*/ 0 h 4001022"/>
              <a:gd name="connsiteX1" fmla="*/ 976633 w 2235938"/>
              <a:gd name="connsiteY1" fmla="*/ 286942 h 4001022"/>
              <a:gd name="connsiteX2" fmla="*/ 1272134 w 2235938"/>
              <a:gd name="connsiteY2" fmla="*/ 403953 h 4001022"/>
              <a:gd name="connsiteX3" fmla="*/ 1508913 w 2235938"/>
              <a:gd name="connsiteY3" fmla="*/ 554870 h 4001022"/>
              <a:gd name="connsiteX4" fmla="*/ 1790464 w 2235938"/>
              <a:gd name="connsiteY4" fmla="*/ 811358 h 4001022"/>
              <a:gd name="connsiteX5" fmla="*/ 1983616 w 2235938"/>
              <a:gd name="connsiteY5" fmla="*/ 1077962 h 4001022"/>
              <a:gd name="connsiteX6" fmla="*/ 2094478 w 2235938"/>
              <a:gd name="connsiteY6" fmla="*/ 1451003 h 4001022"/>
              <a:gd name="connsiteX7" fmla="*/ 2162355 w 2235938"/>
              <a:gd name="connsiteY7" fmla="*/ 1920252 h 4001022"/>
              <a:gd name="connsiteX8" fmla="*/ 2235938 w 2235938"/>
              <a:gd name="connsiteY8" fmla="*/ 3005754 h 4001022"/>
              <a:gd name="connsiteX9" fmla="*/ 2228368 w 2235938"/>
              <a:gd name="connsiteY9" fmla="*/ 4001022 h 4001022"/>
              <a:gd name="connsiteX0" fmla="*/ 0 w 2228584"/>
              <a:gd name="connsiteY0" fmla="*/ 0 h 4001022"/>
              <a:gd name="connsiteX1" fmla="*/ 976633 w 2228584"/>
              <a:gd name="connsiteY1" fmla="*/ 286942 h 4001022"/>
              <a:gd name="connsiteX2" fmla="*/ 1272134 w 2228584"/>
              <a:gd name="connsiteY2" fmla="*/ 403953 h 4001022"/>
              <a:gd name="connsiteX3" fmla="*/ 1508913 w 2228584"/>
              <a:gd name="connsiteY3" fmla="*/ 554870 h 4001022"/>
              <a:gd name="connsiteX4" fmla="*/ 1790464 w 2228584"/>
              <a:gd name="connsiteY4" fmla="*/ 811358 h 4001022"/>
              <a:gd name="connsiteX5" fmla="*/ 1983616 w 2228584"/>
              <a:gd name="connsiteY5" fmla="*/ 1077962 h 4001022"/>
              <a:gd name="connsiteX6" fmla="*/ 2094478 w 2228584"/>
              <a:gd name="connsiteY6" fmla="*/ 1451003 h 4001022"/>
              <a:gd name="connsiteX7" fmla="*/ 2162355 w 2228584"/>
              <a:gd name="connsiteY7" fmla="*/ 1920252 h 4001022"/>
              <a:gd name="connsiteX8" fmla="*/ 2213002 w 2228584"/>
              <a:gd name="connsiteY8" fmla="*/ 3005755 h 4001022"/>
              <a:gd name="connsiteX9" fmla="*/ 2228368 w 2228584"/>
              <a:gd name="connsiteY9" fmla="*/ 4001022 h 4001022"/>
              <a:gd name="connsiteX0" fmla="*/ 0 w 2218549"/>
              <a:gd name="connsiteY0" fmla="*/ 0 h 3762911"/>
              <a:gd name="connsiteX1" fmla="*/ 976633 w 2218549"/>
              <a:gd name="connsiteY1" fmla="*/ 286942 h 3762911"/>
              <a:gd name="connsiteX2" fmla="*/ 1272134 w 2218549"/>
              <a:gd name="connsiteY2" fmla="*/ 403953 h 3762911"/>
              <a:gd name="connsiteX3" fmla="*/ 1508913 w 2218549"/>
              <a:gd name="connsiteY3" fmla="*/ 554870 h 3762911"/>
              <a:gd name="connsiteX4" fmla="*/ 1790464 w 2218549"/>
              <a:gd name="connsiteY4" fmla="*/ 811358 h 3762911"/>
              <a:gd name="connsiteX5" fmla="*/ 1983616 w 2218549"/>
              <a:gd name="connsiteY5" fmla="*/ 1077962 h 3762911"/>
              <a:gd name="connsiteX6" fmla="*/ 2094478 w 2218549"/>
              <a:gd name="connsiteY6" fmla="*/ 1451003 h 3762911"/>
              <a:gd name="connsiteX7" fmla="*/ 2162355 w 2218549"/>
              <a:gd name="connsiteY7" fmla="*/ 1920252 h 3762911"/>
              <a:gd name="connsiteX8" fmla="*/ 2213002 w 2218549"/>
              <a:gd name="connsiteY8" fmla="*/ 3005755 h 3762911"/>
              <a:gd name="connsiteX9" fmla="*/ 2218144 w 2218549"/>
              <a:gd name="connsiteY9" fmla="*/ 3762911 h 376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8549" h="3762911">
                <a:moveTo>
                  <a:pt x="0" y="0"/>
                </a:moveTo>
                <a:lnTo>
                  <a:pt x="976633" y="286942"/>
                </a:lnTo>
                <a:cubicBezTo>
                  <a:pt x="1059176" y="321778"/>
                  <a:pt x="1189591" y="369117"/>
                  <a:pt x="1272134" y="403953"/>
                </a:cubicBezTo>
                <a:cubicBezTo>
                  <a:pt x="1359006" y="448608"/>
                  <a:pt x="1424980" y="489053"/>
                  <a:pt x="1508913" y="554870"/>
                </a:cubicBezTo>
                <a:cubicBezTo>
                  <a:pt x="1617547" y="622131"/>
                  <a:pt x="1728531" y="756124"/>
                  <a:pt x="1790464" y="811358"/>
                </a:cubicBezTo>
                <a:cubicBezTo>
                  <a:pt x="1852397" y="866592"/>
                  <a:pt x="1926810" y="1001914"/>
                  <a:pt x="1983616" y="1077962"/>
                </a:cubicBezTo>
                <a:cubicBezTo>
                  <a:pt x="2034285" y="1184570"/>
                  <a:pt x="2064688" y="1310621"/>
                  <a:pt x="2094478" y="1451003"/>
                </a:cubicBezTo>
                <a:lnTo>
                  <a:pt x="2162355" y="1920252"/>
                </a:lnTo>
                <a:lnTo>
                  <a:pt x="2213002" y="3005755"/>
                </a:lnTo>
                <a:cubicBezTo>
                  <a:pt x="2210479" y="3337511"/>
                  <a:pt x="2220667" y="3431155"/>
                  <a:pt x="2218144" y="3762911"/>
                </a:cubicBez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2" name="椭圆 41"/>
          <p:cNvSpPr/>
          <p:nvPr/>
        </p:nvSpPr>
        <p:spPr bwMode="auto">
          <a:xfrm>
            <a:off x="6778672" y="1738170"/>
            <a:ext cx="77338" cy="77338"/>
          </a:xfrm>
          <a:prstGeom prst="ellipse">
            <a:avLst/>
          </a:prstGeom>
          <a:solidFill>
            <a:schemeClr val="bg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3" name="椭圆 42"/>
          <p:cNvSpPr/>
          <p:nvPr/>
        </p:nvSpPr>
        <p:spPr bwMode="auto">
          <a:xfrm>
            <a:off x="7909162" y="2368241"/>
            <a:ext cx="77338" cy="77338"/>
          </a:xfrm>
          <a:prstGeom prst="ellipse">
            <a:avLst/>
          </a:prstGeom>
          <a:solidFill>
            <a:schemeClr val="bg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 name="任意多边形 3"/>
          <p:cNvSpPr/>
          <p:nvPr/>
        </p:nvSpPr>
        <p:spPr bwMode="auto">
          <a:xfrm>
            <a:off x="5923181" y="1569575"/>
            <a:ext cx="1878750" cy="2668093"/>
          </a:xfrm>
          <a:custGeom>
            <a:avLst/>
            <a:gdLst>
              <a:gd name="connsiteX0" fmla="*/ 0 w 1842655"/>
              <a:gd name="connsiteY0" fmla="*/ 0 h 2660072"/>
              <a:gd name="connsiteX1" fmla="*/ 408709 w 1842655"/>
              <a:gd name="connsiteY1" fmla="*/ 173181 h 2660072"/>
              <a:gd name="connsiteX2" fmla="*/ 748146 w 1842655"/>
              <a:gd name="connsiteY2" fmla="*/ 401781 h 2660072"/>
              <a:gd name="connsiteX3" fmla="*/ 1129146 w 1842655"/>
              <a:gd name="connsiteY3" fmla="*/ 838200 h 2660072"/>
              <a:gd name="connsiteX4" fmla="*/ 1420091 w 1842655"/>
              <a:gd name="connsiteY4" fmla="*/ 1309254 h 2660072"/>
              <a:gd name="connsiteX5" fmla="*/ 1690255 w 1842655"/>
              <a:gd name="connsiteY5" fmla="*/ 2008909 h 2660072"/>
              <a:gd name="connsiteX6" fmla="*/ 1842655 w 1842655"/>
              <a:gd name="connsiteY6" fmla="*/ 2660072 h 2660072"/>
              <a:gd name="connsiteX0" fmla="*/ 0 w 1842655"/>
              <a:gd name="connsiteY0" fmla="*/ 0 h 2660072"/>
              <a:gd name="connsiteX1" fmla="*/ 408709 w 1842655"/>
              <a:gd name="connsiteY1" fmla="*/ 173181 h 2660072"/>
              <a:gd name="connsiteX2" fmla="*/ 748146 w 1842655"/>
              <a:gd name="connsiteY2" fmla="*/ 429490 h 2660072"/>
              <a:gd name="connsiteX3" fmla="*/ 1129146 w 1842655"/>
              <a:gd name="connsiteY3" fmla="*/ 838200 h 2660072"/>
              <a:gd name="connsiteX4" fmla="*/ 1420091 w 1842655"/>
              <a:gd name="connsiteY4" fmla="*/ 1309254 h 2660072"/>
              <a:gd name="connsiteX5" fmla="*/ 1690255 w 1842655"/>
              <a:gd name="connsiteY5" fmla="*/ 2008909 h 2660072"/>
              <a:gd name="connsiteX6" fmla="*/ 1842655 w 1842655"/>
              <a:gd name="connsiteY6" fmla="*/ 2660072 h 2660072"/>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24752 w 1878750"/>
              <a:gd name="connsiteY1" fmla="*/ 17719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24752 w 1878750"/>
              <a:gd name="connsiteY1" fmla="*/ 17719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750" h="2668093">
                <a:moveTo>
                  <a:pt x="0" y="0"/>
                </a:moveTo>
                <a:cubicBezTo>
                  <a:pt x="148268" y="60401"/>
                  <a:pt x="294045" y="104274"/>
                  <a:pt x="424752" y="177192"/>
                </a:cubicBezTo>
                <a:cubicBezTo>
                  <a:pt x="555459" y="250110"/>
                  <a:pt x="664168" y="326675"/>
                  <a:pt x="784241" y="437511"/>
                </a:cubicBezTo>
                <a:cubicBezTo>
                  <a:pt x="904314" y="548347"/>
                  <a:pt x="1053250" y="699594"/>
                  <a:pt x="1165241" y="846221"/>
                </a:cubicBezTo>
                <a:cubicBezTo>
                  <a:pt x="1277232" y="992848"/>
                  <a:pt x="1362668" y="1122157"/>
                  <a:pt x="1456186" y="1317275"/>
                </a:cubicBezTo>
                <a:cubicBezTo>
                  <a:pt x="1549704" y="1512393"/>
                  <a:pt x="1655923" y="1791794"/>
                  <a:pt x="1726350" y="2016930"/>
                </a:cubicBezTo>
                <a:lnTo>
                  <a:pt x="1878750" y="2668093"/>
                </a:ln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 name="任意多边形 4"/>
          <p:cNvSpPr/>
          <p:nvPr/>
        </p:nvSpPr>
        <p:spPr bwMode="auto">
          <a:xfrm>
            <a:off x="5908964" y="1567780"/>
            <a:ext cx="1108363" cy="2424546"/>
          </a:xfrm>
          <a:custGeom>
            <a:avLst/>
            <a:gdLst>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8363" h="2424546">
                <a:moveTo>
                  <a:pt x="0" y="0"/>
                </a:moveTo>
                <a:cubicBezTo>
                  <a:pt x="92364" y="78509"/>
                  <a:pt x="187037" y="140855"/>
                  <a:pt x="277091" y="235528"/>
                </a:cubicBezTo>
                <a:cubicBezTo>
                  <a:pt x="367146" y="330201"/>
                  <a:pt x="454891" y="438728"/>
                  <a:pt x="540327" y="568037"/>
                </a:cubicBezTo>
                <a:lnTo>
                  <a:pt x="789709" y="1011382"/>
                </a:lnTo>
                <a:cubicBezTo>
                  <a:pt x="860136" y="1174173"/>
                  <a:pt x="917864" y="1365828"/>
                  <a:pt x="962891" y="1544782"/>
                </a:cubicBezTo>
                <a:cubicBezTo>
                  <a:pt x="1007918" y="1723736"/>
                  <a:pt x="1035627" y="1938482"/>
                  <a:pt x="1059872" y="2085109"/>
                </a:cubicBezTo>
                <a:lnTo>
                  <a:pt x="1108363" y="2424546"/>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8" name="矩形 67"/>
          <p:cNvSpPr/>
          <p:nvPr/>
        </p:nvSpPr>
        <p:spPr>
          <a:xfrm>
            <a:off x="6828517" y="4176183"/>
            <a:ext cx="960666" cy="584775"/>
          </a:xfrm>
          <a:prstGeom prst="rect">
            <a:avLst/>
          </a:prstGeom>
        </p:spPr>
        <p:txBody>
          <a:bodyPr wrap="square">
            <a:spAutoFit/>
          </a:bodyPr>
          <a:lstStyle/>
          <a:p>
            <a:pPr algn="ctr">
              <a:lnSpc>
                <a:spcPct val="100000"/>
              </a:lnSpc>
              <a:buClr>
                <a:srgbClr val="C00000"/>
              </a:buClr>
            </a:pPr>
            <a:r>
              <a:rPr lang="zh-CN" altLang="en-US" sz="16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局部剪切破坏</a:t>
            </a:r>
          </a:p>
        </p:txBody>
      </p:sp>
      <p:cxnSp>
        <p:nvCxnSpPr>
          <p:cNvPr id="7" name="直接连接符 6"/>
          <p:cNvCxnSpPr/>
          <p:nvPr/>
        </p:nvCxnSpPr>
        <p:spPr bwMode="auto">
          <a:xfrm flipV="1">
            <a:off x="7496078" y="4020127"/>
            <a:ext cx="211667" cy="20320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任意多边形 83"/>
          <p:cNvSpPr/>
          <p:nvPr/>
        </p:nvSpPr>
        <p:spPr bwMode="auto">
          <a:xfrm flipH="1">
            <a:off x="3295952" y="4222750"/>
            <a:ext cx="1500414" cy="87621"/>
          </a:xfrm>
          <a:custGeom>
            <a:avLst/>
            <a:gdLst>
              <a:gd name="connsiteX0" fmla="*/ 1612900 w 1612900"/>
              <a:gd name="connsiteY0" fmla="*/ 84440 h 101374"/>
              <a:gd name="connsiteX1" fmla="*/ 1536700 w 1612900"/>
              <a:gd name="connsiteY1" fmla="*/ 42107 h 101374"/>
              <a:gd name="connsiteX2" fmla="*/ 1308100 w 1612900"/>
              <a:gd name="connsiteY2" fmla="*/ 4007 h 101374"/>
              <a:gd name="connsiteX3" fmla="*/ 960967 w 1612900"/>
              <a:gd name="connsiteY3" fmla="*/ 4007 h 101374"/>
              <a:gd name="connsiteX4" fmla="*/ 541867 w 1612900"/>
              <a:gd name="connsiteY4" fmla="*/ 29407 h 101374"/>
              <a:gd name="connsiteX5" fmla="*/ 190500 w 1612900"/>
              <a:gd name="connsiteY5" fmla="*/ 67507 h 101374"/>
              <a:gd name="connsiteX6" fmla="*/ 0 w 1612900"/>
              <a:gd name="connsiteY6" fmla="*/ 101374 h 101374"/>
              <a:gd name="connsiteX0" fmla="*/ 1641447 w 1641447"/>
              <a:gd name="connsiteY0" fmla="*/ 110947 h 110947"/>
              <a:gd name="connsiteX1" fmla="*/ 1536700 w 1641447"/>
              <a:gd name="connsiteY1" fmla="*/ 42107 h 110947"/>
              <a:gd name="connsiteX2" fmla="*/ 1308100 w 1641447"/>
              <a:gd name="connsiteY2" fmla="*/ 4007 h 110947"/>
              <a:gd name="connsiteX3" fmla="*/ 960967 w 1641447"/>
              <a:gd name="connsiteY3" fmla="*/ 4007 h 110947"/>
              <a:gd name="connsiteX4" fmla="*/ 541867 w 1641447"/>
              <a:gd name="connsiteY4" fmla="*/ 29407 h 110947"/>
              <a:gd name="connsiteX5" fmla="*/ 190500 w 1641447"/>
              <a:gd name="connsiteY5" fmla="*/ 67507 h 110947"/>
              <a:gd name="connsiteX6" fmla="*/ 0 w 1641447"/>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5792 h 110947"/>
              <a:gd name="connsiteX0" fmla="*/ 1646204 w 1646204"/>
              <a:gd name="connsiteY0" fmla="*/ 110947 h 114628"/>
              <a:gd name="connsiteX1" fmla="*/ 1541457 w 1646204"/>
              <a:gd name="connsiteY1" fmla="*/ 42107 h 114628"/>
              <a:gd name="connsiteX2" fmla="*/ 1312857 w 1646204"/>
              <a:gd name="connsiteY2" fmla="*/ 4007 h 114628"/>
              <a:gd name="connsiteX3" fmla="*/ 965724 w 1646204"/>
              <a:gd name="connsiteY3" fmla="*/ 4007 h 114628"/>
              <a:gd name="connsiteX4" fmla="*/ 546624 w 1646204"/>
              <a:gd name="connsiteY4" fmla="*/ 29407 h 114628"/>
              <a:gd name="connsiteX5" fmla="*/ 195257 w 1646204"/>
              <a:gd name="connsiteY5" fmla="*/ 67507 h 114628"/>
              <a:gd name="connsiteX6" fmla="*/ 0 w 1646204"/>
              <a:gd name="connsiteY6" fmla="*/ 114628 h 114628"/>
              <a:gd name="connsiteX0" fmla="*/ 1660477 w 1660477"/>
              <a:gd name="connsiteY0" fmla="*/ 110947 h 110947"/>
              <a:gd name="connsiteX1" fmla="*/ 1555730 w 1660477"/>
              <a:gd name="connsiteY1" fmla="*/ 42107 h 110947"/>
              <a:gd name="connsiteX2" fmla="*/ 1327130 w 1660477"/>
              <a:gd name="connsiteY2" fmla="*/ 4007 h 110947"/>
              <a:gd name="connsiteX3" fmla="*/ 979997 w 1660477"/>
              <a:gd name="connsiteY3" fmla="*/ 4007 h 110947"/>
              <a:gd name="connsiteX4" fmla="*/ 560897 w 1660477"/>
              <a:gd name="connsiteY4" fmla="*/ 29407 h 110947"/>
              <a:gd name="connsiteX5" fmla="*/ 209530 w 1660477"/>
              <a:gd name="connsiteY5" fmla="*/ 67507 h 110947"/>
              <a:gd name="connsiteX6" fmla="*/ 0 w 1660477"/>
              <a:gd name="connsiteY6" fmla="*/ 105793 h 110947"/>
              <a:gd name="connsiteX0" fmla="*/ 1669993 w 1669993"/>
              <a:gd name="connsiteY0" fmla="*/ 110947 h 110947"/>
              <a:gd name="connsiteX1" fmla="*/ 1565246 w 1669993"/>
              <a:gd name="connsiteY1" fmla="*/ 42107 h 110947"/>
              <a:gd name="connsiteX2" fmla="*/ 1336646 w 1669993"/>
              <a:gd name="connsiteY2" fmla="*/ 4007 h 110947"/>
              <a:gd name="connsiteX3" fmla="*/ 989513 w 1669993"/>
              <a:gd name="connsiteY3" fmla="*/ 4007 h 110947"/>
              <a:gd name="connsiteX4" fmla="*/ 570413 w 1669993"/>
              <a:gd name="connsiteY4" fmla="*/ 29407 h 110947"/>
              <a:gd name="connsiteX5" fmla="*/ 219046 w 1669993"/>
              <a:gd name="connsiteY5" fmla="*/ 67507 h 110947"/>
              <a:gd name="connsiteX6" fmla="*/ 0 w 1669993"/>
              <a:gd name="connsiteY6" fmla="*/ 110210 h 110947"/>
              <a:gd name="connsiteX0" fmla="*/ 1669993 w 1669993"/>
              <a:gd name="connsiteY0" fmla="*/ 110947 h 119046"/>
              <a:gd name="connsiteX1" fmla="*/ 1565246 w 1669993"/>
              <a:gd name="connsiteY1" fmla="*/ 42107 h 119046"/>
              <a:gd name="connsiteX2" fmla="*/ 1336646 w 1669993"/>
              <a:gd name="connsiteY2" fmla="*/ 4007 h 119046"/>
              <a:gd name="connsiteX3" fmla="*/ 989513 w 1669993"/>
              <a:gd name="connsiteY3" fmla="*/ 4007 h 119046"/>
              <a:gd name="connsiteX4" fmla="*/ 570413 w 1669993"/>
              <a:gd name="connsiteY4" fmla="*/ 29407 h 119046"/>
              <a:gd name="connsiteX5" fmla="*/ 219046 w 1669993"/>
              <a:gd name="connsiteY5" fmla="*/ 67507 h 119046"/>
              <a:gd name="connsiteX6" fmla="*/ 0 w 1669993"/>
              <a:gd name="connsiteY6" fmla="*/ 119046 h 119046"/>
              <a:gd name="connsiteX0" fmla="*/ 1686305 w 1686305"/>
              <a:gd name="connsiteY0" fmla="*/ 156238 h 156238"/>
              <a:gd name="connsiteX1" fmla="*/ 1565246 w 1686305"/>
              <a:gd name="connsiteY1" fmla="*/ 42107 h 156238"/>
              <a:gd name="connsiteX2" fmla="*/ 1336646 w 1686305"/>
              <a:gd name="connsiteY2" fmla="*/ 4007 h 156238"/>
              <a:gd name="connsiteX3" fmla="*/ 989513 w 1686305"/>
              <a:gd name="connsiteY3" fmla="*/ 4007 h 156238"/>
              <a:gd name="connsiteX4" fmla="*/ 570413 w 1686305"/>
              <a:gd name="connsiteY4" fmla="*/ 29407 h 156238"/>
              <a:gd name="connsiteX5" fmla="*/ 219046 w 1686305"/>
              <a:gd name="connsiteY5" fmla="*/ 67507 h 156238"/>
              <a:gd name="connsiteX6" fmla="*/ 0 w 1686305"/>
              <a:gd name="connsiteY6" fmla="*/ 119046 h 156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6305" h="156238">
                <a:moveTo>
                  <a:pt x="1686305" y="156238"/>
                </a:moveTo>
                <a:cubicBezTo>
                  <a:pt x="1673605" y="141774"/>
                  <a:pt x="1623522" y="67479"/>
                  <a:pt x="1565246" y="42107"/>
                </a:cubicBezTo>
                <a:cubicBezTo>
                  <a:pt x="1506970" y="16735"/>
                  <a:pt x="1432601" y="10357"/>
                  <a:pt x="1336646" y="4007"/>
                </a:cubicBezTo>
                <a:cubicBezTo>
                  <a:pt x="1240690" y="-2343"/>
                  <a:pt x="1117218" y="-226"/>
                  <a:pt x="989513" y="4007"/>
                </a:cubicBezTo>
                <a:cubicBezTo>
                  <a:pt x="861808" y="8240"/>
                  <a:pt x="698824" y="18824"/>
                  <a:pt x="570413" y="29407"/>
                </a:cubicBezTo>
                <a:cubicBezTo>
                  <a:pt x="442002" y="39990"/>
                  <a:pt x="314115" y="52567"/>
                  <a:pt x="219046" y="67507"/>
                </a:cubicBezTo>
                <a:cubicBezTo>
                  <a:pt x="123977" y="82447"/>
                  <a:pt x="50094" y="108109"/>
                  <a:pt x="0" y="119046"/>
                </a:cubicBezTo>
              </a:path>
            </a:pathLst>
          </a:custGeom>
          <a:solidFill>
            <a:schemeClr val="accent6">
              <a:lumMod val="40000"/>
              <a:lumOff val="60000"/>
            </a:schemeClr>
          </a:solid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6" name="任意多边形 85"/>
          <p:cNvSpPr/>
          <p:nvPr/>
        </p:nvSpPr>
        <p:spPr bwMode="auto">
          <a:xfrm>
            <a:off x="893232" y="4227353"/>
            <a:ext cx="1495839" cy="95352"/>
          </a:xfrm>
          <a:custGeom>
            <a:avLst/>
            <a:gdLst>
              <a:gd name="connsiteX0" fmla="*/ 1612900 w 1612900"/>
              <a:gd name="connsiteY0" fmla="*/ 84440 h 101374"/>
              <a:gd name="connsiteX1" fmla="*/ 1536700 w 1612900"/>
              <a:gd name="connsiteY1" fmla="*/ 42107 h 101374"/>
              <a:gd name="connsiteX2" fmla="*/ 1308100 w 1612900"/>
              <a:gd name="connsiteY2" fmla="*/ 4007 h 101374"/>
              <a:gd name="connsiteX3" fmla="*/ 960967 w 1612900"/>
              <a:gd name="connsiteY3" fmla="*/ 4007 h 101374"/>
              <a:gd name="connsiteX4" fmla="*/ 541867 w 1612900"/>
              <a:gd name="connsiteY4" fmla="*/ 29407 h 101374"/>
              <a:gd name="connsiteX5" fmla="*/ 190500 w 1612900"/>
              <a:gd name="connsiteY5" fmla="*/ 67507 h 101374"/>
              <a:gd name="connsiteX6" fmla="*/ 0 w 1612900"/>
              <a:gd name="connsiteY6" fmla="*/ 101374 h 101374"/>
              <a:gd name="connsiteX0" fmla="*/ 1641447 w 1641447"/>
              <a:gd name="connsiteY0" fmla="*/ 110947 h 110947"/>
              <a:gd name="connsiteX1" fmla="*/ 1536700 w 1641447"/>
              <a:gd name="connsiteY1" fmla="*/ 42107 h 110947"/>
              <a:gd name="connsiteX2" fmla="*/ 1308100 w 1641447"/>
              <a:gd name="connsiteY2" fmla="*/ 4007 h 110947"/>
              <a:gd name="connsiteX3" fmla="*/ 960967 w 1641447"/>
              <a:gd name="connsiteY3" fmla="*/ 4007 h 110947"/>
              <a:gd name="connsiteX4" fmla="*/ 541867 w 1641447"/>
              <a:gd name="connsiteY4" fmla="*/ 29407 h 110947"/>
              <a:gd name="connsiteX5" fmla="*/ 190500 w 1641447"/>
              <a:gd name="connsiteY5" fmla="*/ 67507 h 110947"/>
              <a:gd name="connsiteX6" fmla="*/ 0 w 1641447"/>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1374 h 110947"/>
              <a:gd name="connsiteX0" fmla="*/ 1646204 w 1646204"/>
              <a:gd name="connsiteY0" fmla="*/ 110947 h 110947"/>
              <a:gd name="connsiteX1" fmla="*/ 1541457 w 1646204"/>
              <a:gd name="connsiteY1" fmla="*/ 42107 h 110947"/>
              <a:gd name="connsiteX2" fmla="*/ 1312857 w 1646204"/>
              <a:gd name="connsiteY2" fmla="*/ 4007 h 110947"/>
              <a:gd name="connsiteX3" fmla="*/ 965724 w 1646204"/>
              <a:gd name="connsiteY3" fmla="*/ 4007 h 110947"/>
              <a:gd name="connsiteX4" fmla="*/ 546624 w 1646204"/>
              <a:gd name="connsiteY4" fmla="*/ 29407 h 110947"/>
              <a:gd name="connsiteX5" fmla="*/ 195257 w 1646204"/>
              <a:gd name="connsiteY5" fmla="*/ 67507 h 110947"/>
              <a:gd name="connsiteX6" fmla="*/ 0 w 1646204"/>
              <a:gd name="connsiteY6" fmla="*/ 105792 h 110947"/>
              <a:gd name="connsiteX0" fmla="*/ 1646204 w 1646204"/>
              <a:gd name="connsiteY0" fmla="*/ 110947 h 114628"/>
              <a:gd name="connsiteX1" fmla="*/ 1541457 w 1646204"/>
              <a:gd name="connsiteY1" fmla="*/ 42107 h 114628"/>
              <a:gd name="connsiteX2" fmla="*/ 1312857 w 1646204"/>
              <a:gd name="connsiteY2" fmla="*/ 4007 h 114628"/>
              <a:gd name="connsiteX3" fmla="*/ 965724 w 1646204"/>
              <a:gd name="connsiteY3" fmla="*/ 4007 h 114628"/>
              <a:gd name="connsiteX4" fmla="*/ 546624 w 1646204"/>
              <a:gd name="connsiteY4" fmla="*/ 29407 h 114628"/>
              <a:gd name="connsiteX5" fmla="*/ 195257 w 1646204"/>
              <a:gd name="connsiteY5" fmla="*/ 67507 h 114628"/>
              <a:gd name="connsiteX6" fmla="*/ 0 w 1646204"/>
              <a:gd name="connsiteY6" fmla="*/ 114628 h 114628"/>
              <a:gd name="connsiteX0" fmla="*/ 1660477 w 1660477"/>
              <a:gd name="connsiteY0" fmla="*/ 110947 h 110947"/>
              <a:gd name="connsiteX1" fmla="*/ 1555730 w 1660477"/>
              <a:gd name="connsiteY1" fmla="*/ 42107 h 110947"/>
              <a:gd name="connsiteX2" fmla="*/ 1327130 w 1660477"/>
              <a:gd name="connsiteY2" fmla="*/ 4007 h 110947"/>
              <a:gd name="connsiteX3" fmla="*/ 979997 w 1660477"/>
              <a:gd name="connsiteY3" fmla="*/ 4007 h 110947"/>
              <a:gd name="connsiteX4" fmla="*/ 560897 w 1660477"/>
              <a:gd name="connsiteY4" fmla="*/ 29407 h 110947"/>
              <a:gd name="connsiteX5" fmla="*/ 209530 w 1660477"/>
              <a:gd name="connsiteY5" fmla="*/ 67507 h 110947"/>
              <a:gd name="connsiteX6" fmla="*/ 0 w 1660477"/>
              <a:gd name="connsiteY6" fmla="*/ 105793 h 110947"/>
              <a:gd name="connsiteX0" fmla="*/ 1669993 w 1669993"/>
              <a:gd name="connsiteY0" fmla="*/ 110947 h 110947"/>
              <a:gd name="connsiteX1" fmla="*/ 1565246 w 1669993"/>
              <a:gd name="connsiteY1" fmla="*/ 42107 h 110947"/>
              <a:gd name="connsiteX2" fmla="*/ 1336646 w 1669993"/>
              <a:gd name="connsiteY2" fmla="*/ 4007 h 110947"/>
              <a:gd name="connsiteX3" fmla="*/ 989513 w 1669993"/>
              <a:gd name="connsiteY3" fmla="*/ 4007 h 110947"/>
              <a:gd name="connsiteX4" fmla="*/ 570413 w 1669993"/>
              <a:gd name="connsiteY4" fmla="*/ 29407 h 110947"/>
              <a:gd name="connsiteX5" fmla="*/ 219046 w 1669993"/>
              <a:gd name="connsiteY5" fmla="*/ 67507 h 110947"/>
              <a:gd name="connsiteX6" fmla="*/ 0 w 1669993"/>
              <a:gd name="connsiteY6" fmla="*/ 110210 h 110947"/>
              <a:gd name="connsiteX0" fmla="*/ 1669993 w 1669993"/>
              <a:gd name="connsiteY0" fmla="*/ 110947 h 119046"/>
              <a:gd name="connsiteX1" fmla="*/ 1565246 w 1669993"/>
              <a:gd name="connsiteY1" fmla="*/ 42107 h 119046"/>
              <a:gd name="connsiteX2" fmla="*/ 1336646 w 1669993"/>
              <a:gd name="connsiteY2" fmla="*/ 4007 h 119046"/>
              <a:gd name="connsiteX3" fmla="*/ 989513 w 1669993"/>
              <a:gd name="connsiteY3" fmla="*/ 4007 h 119046"/>
              <a:gd name="connsiteX4" fmla="*/ 570413 w 1669993"/>
              <a:gd name="connsiteY4" fmla="*/ 29407 h 119046"/>
              <a:gd name="connsiteX5" fmla="*/ 219046 w 1669993"/>
              <a:gd name="connsiteY5" fmla="*/ 67507 h 119046"/>
              <a:gd name="connsiteX6" fmla="*/ 0 w 1669993"/>
              <a:gd name="connsiteY6" fmla="*/ 119046 h 119046"/>
              <a:gd name="connsiteX0" fmla="*/ 1669993 w 1669993"/>
              <a:gd name="connsiteY0" fmla="*/ 170023 h 170023"/>
              <a:gd name="connsiteX1" fmla="*/ 1565246 w 1669993"/>
              <a:gd name="connsiteY1" fmla="*/ 42107 h 170023"/>
              <a:gd name="connsiteX2" fmla="*/ 1336646 w 1669993"/>
              <a:gd name="connsiteY2" fmla="*/ 4007 h 170023"/>
              <a:gd name="connsiteX3" fmla="*/ 989513 w 1669993"/>
              <a:gd name="connsiteY3" fmla="*/ 4007 h 170023"/>
              <a:gd name="connsiteX4" fmla="*/ 570413 w 1669993"/>
              <a:gd name="connsiteY4" fmla="*/ 29407 h 170023"/>
              <a:gd name="connsiteX5" fmla="*/ 219046 w 1669993"/>
              <a:gd name="connsiteY5" fmla="*/ 67507 h 170023"/>
              <a:gd name="connsiteX6" fmla="*/ 0 w 1669993"/>
              <a:gd name="connsiteY6" fmla="*/ 119046 h 170023"/>
              <a:gd name="connsiteX0" fmla="*/ 1681163 w 1681163"/>
              <a:gd name="connsiteY0" fmla="*/ 170023 h 170023"/>
              <a:gd name="connsiteX1" fmla="*/ 1565246 w 1681163"/>
              <a:gd name="connsiteY1" fmla="*/ 42107 h 170023"/>
              <a:gd name="connsiteX2" fmla="*/ 1336646 w 1681163"/>
              <a:gd name="connsiteY2" fmla="*/ 4007 h 170023"/>
              <a:gd name="connsiteX3" fmla="*/ 989513 w 1681163"/>
              <a:gd name="connsiteY3" fmla="*/ 4007 h 170023"/>
              <a:gd name="connsiteX4" fmla="*/ 570413 w 1681163"/>
              <a:gd name="connsiteY4" fmla="*/ 29407 h 170023"/>
              <a:gd name="connsiteX5" fmla="*/ 219046 w 1681163"/>
              <a:gd name="connsiteY5" fmla="*/ 67507 h 170023"/>
              <a:gd name="connsiteX6" fmla="*/ 0 w 1681163"/>
              <a:gd name="connsiteY6" fmla="*/ 119046 h 17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1163" h="170023">
                <a:moveTo>
                  <a:pt x="1681163" y="170023"/>
                </a:moveTo>
                <a:cubicBezTo>
                  <a:pt x="1668463" y="155559"/>
                  <a:pt x="1622666" y="69776"/>
                  <a:pt x="1565246" y="42107"/>
                </a:cubicBezTo>
                <a:cubicBezTo>
                  <a:pt x="1507827" y="14438"/>
                  <a:pt x="1432601" y="10357"/>
                  <a:pt x="1336646" y="4007"/>
                </a:cubicBezTo>
                <a:cubicBezTo>
                  <a:pt x="1240690" y="-2343"/>
                  <a:pt x="1117218" y="-226"/>
                  <a:pt x="989513" y="4007"/>
                </a:cubicBezTo>
                <a:cubicBezTo>
                  <a:pt x="861808" y="8240"/>
                  <a:pt x="698824" y="18824"/>
                  <a:pt x="570413" y="29407"/>
                </a:cubicBezTo>
                <a:cubicBezTo>
                  <a:pt x="442002" y="39990"/>
                  <a:pt x="314115" y="52567"/>
                  <a:pt x="219046" y="67507"/>
                </a:cubicBezTo>
                <a:cubicBezTo>
                  <a:pt x="123977" y="82447"/>
                  <a:pt x="50094" y="108109"/>
                  <a:pt x="0" y="119046"/>
                </a:cubicBezTo>
              </a:path>
            </a:pathLst>
          </a:custGeom>
          <a:solidFill>
            <a:schemeClr val="accent6">
              <a:lumMod val="40000"/>
              <a:lumOff val="60000"/>
            </a:schemeClr>
          </a:solid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7" name="Line 23"/>
          <p:cNvSpPr>
            <a:spLocks noChangeShapeType="1"/>
          </p:cNvSpPr>
          <p:nvPr/>
        </p:nvSpPr>
        <p:spPr bwMode="auto">
          <a:xfrm>
            <a:off x="743668" y="4293908"/>
            <a:ext cx="194318" cy="0"/>
          </a:xfrm>
          <a:prstGeom prst="line">
            <a:avLst/>
          </a:prstGeom>
          <a:noFill/>
          <a:ln w="19050" cap="sq">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25"/>
          <p:cNvSpPr>
            <a:spLocks noChangeShapeType="1"/>
          </p:cNvSpPr>
          <p:nvPr/>
        </p:nvSpPr>
        <p:spPr bwMode="auto">
          <a:xfrm>
            <a:off x="2836674" y="3945566"/>
            <a:ext cx="0" cy="381000"/>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Text Box 21"/>
          <p:cNvSpPr txBox="1">
            <a:spLocks noChangeArrowheads="1"/>
          </p:cNvSpPr>
          <p:nvPr/>
        </p:nvSpPr>
        <p:spPr bwMode="auto">
          <a:xfrm>
            <a:off x="2900367" y="3654226"/>
            <a:ext cx="452367"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990000"/>
                </a:solidFill>
                <a:latin typeface="Times New Roman" panose="02020603050405020304" pitchFamily="18" charset="0"/>
              </a:rPr>
              <a:t>p</a:t>
            </a:r>
            <a:r>
              <a:rPr kumimoji="1" lang="en-US" altLang="zh-CN" sz="2400" b="1" baseline="-25000" dirty="0" err="1">
                <a:solidFill>
                  <a:srgbClr val="990000"/>
                </a:solidFill>
                <a:latin typeface="Times New Roman" panose="02020603050405020304" pitchFamily="18" charset="0"/>
              </a:rPr>
              <a:t>u</a:t>
            </a:r>
            <a:endParaRPr kumimoji="1" lang="en-US" altLang="zh-CN" sz="2400" b="1" baseline="-25000" dirty="0">
              <a:solidFill>
                <a:srgbClr val="990000"/>
              </a:solidFill>
              <a:latin typeface="Times New Roman" panose="02020603050405020304" pitchFamily="18" charset="0"/>
            </a:endParaRPr>
          </a:p>
        </p:txBody>
      </p:sp>
      <p:cxnSp>
        <p:nvCxnSpPr>
          <p:cNvPr id="97" name="直接连接符 96"/>
          <p:cNvCxnSpPr/>
          <p:nvPr/>
        </p:nvCxnSpPr>
        <p:spPr bwMode="auto">
          <a:xfrm>
            <a:off x="996674" y="4293632"/>
            <a:ext cx="3738612" cy="0"/>
          </a:xfrm>
          <a:prstGeom prst="line">
            <a:avLst/>
          </a:prstGeom>
          <a:noFill/>
          <a:ln w="12700" cap="flat" cmpd="sng" algn="ctr">
            <a:solidFill>
              <a:srgbClr val="0000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Line 23"/>
          <p:cNvSpPr>
            <a:spLocks noChangeShapeType="1"/>
          </p:cNvSpPr>
          <p:nvPr/>
        </p:nvSpPr>
        <p:spPr bwMode="auto">
          <a:xfrm>
            <a:off x="4791529" y="4293907"/>
            <a:ext cx="194242" cy="0"/>
          </a:xfrm>
          <a:prstGeom prst="line">
            <a:avLst/>
          </a:prstGeom>
          <a:noFill/>
          <a:ln w="19050" cap="sq">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矩形 98"/>
          <p:cNvSpPr/>
          <p:nvPr/>
        </p:nvSpPr>
        <p:spPr>
          <a:xfrm>
            <a:off x="3936092" y="3854595"/>
            <a:ext cx="1382594" cy="338554"/>
          </a:xfrm>
          <a:prstGeom prst="rect">
            <a:avLst/>
          </a:prstGeom>
        </p:spPr>
        <p:txBody>
          <a:bodyPr wrap="square">
            <a:spAutoFit/>
          </a:bodyPr>
          <a:lstStyle/>
          <a:p>
            <a:pPr algn="ctr">
              <a:lnSpc>
                <a:spcPct val="100000"/>
              </a:lnSpc>
              <a:buClr>
                <a:srgbClr val="C00000"/>
              </a:buClr>
            </a:pPr>
            <a:r>
              <a:rPr lang="zh-CN" altLang="en-US" sz="16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隆起后地面</a:t>
            </a:r>
          </a:p>
        </p:txBody>
      </p:sp>
      <p:cxnSp>
        <p:nvCxnSpPr>
          <p:cNvPr id="100" name="直接连接符 99"/>
          <p:cNvCxnSpPr/>
          <p:nvPr/>
        </p:nvCxnSpPr>
        <p:spPr bwMode="auto">
          <a:xfrm flipV="1">
            <a:off x="3813017" y="4085773"/>
            <a:ext cx="249168" cy="12322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任意多边形 5"/>
          <p:cNvSpPr/>
          <p:nvPr/>
        </p:nvSpPr>
        <p:spPr bwMode="auto">
          <a:xfrm>
            <a:off x="1593851" y="4457701"/>
            <a:ext cx="1246597" cy="576946"/>
          </a:xfrm>
          <a:custGeom>
            <a:avLst/>
            <a:gdLst>
              <a:gd name="connsiteX0" fmla="*/ 816428 w 1251857"/>
              <a:gd name="connsiteY0" fmla="*/ 0 h 566057"/>
              <a:gd name="connsiteX1" fmla="*/ 0 w 1251857"/>
              <a:gd name="connsiteY1" fmla="*/ 489857 h 566057"/>
              <a:gd name="connsiteX2" fmla="*/ 381000 w 1251857"/>
              <a:gd name="connsiteY2" fmla="*/ 566057 h 566057"/>
              <a:gd name="connsiteX3" fmla="*/ 783771 w 1251857"/>
              <a:gd name="connsiteY3" fmla="*/ 555171 h 566057"/>
              <a:gd name="connsiteX4" fmla="*/ 1099457 w 1251857"/>
              <a:gd name="connsiteY4" fmla="*/ 468086 h 566057"/>
              <a:gd name="connsiteX5" fmla="*/ 1251857 w 1251857"/>
              <a:gd name="connsiteY5" fmla="*/ 359229 h 566057"/>
              <a:gd name="connsiteX0" fmla="*/ 816428 w 1251857"/>
              <a:gd name="connsiteY0" fmla="*/ 0 h 566057"/>
              <a:gd name="connsiteX1" fmla="*/ 0 w 1251857"/>
              <a:gd name="connsiteY1" fmla="*/ 489857 h 566057"/>
              <a:gd name="connsiteX2" fmla="*/ 190046 w 1251857"/>
              <a:gd name="connsiteY2" fmla="*/ 546100 h 566057"/>
              <a:gd name="connsiteX3" fmla="*/ 381000 w 1251857"/>
              <a:gd name="connsiteY3" fmla="*/ 566057 h 566057"/>
              <a:gd name="connsiteX4" fmla="*/ 783771 w 1251857"/>
              <a:gd name="connsiteY4" fmla="*/ 555171 h 566057"/>
              <a:gd name="connsiteX5" fmla="*/ 1099457 w 1251857"/>
              <a:gd name="connsiteY5" fmla="*/ 468086 h 566057"/>
              <a:gd name="connsiteX6" fmla="*/ 1251857 w 1251857"/>
              <a:gd name="connsiteY6" fmla="*/ 359229 h 566057"/>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1099457 w 1251857"/>
              <a:gd name="connsiteY6" fmla="*/ 468086 h 574788"/>
              <a:gd name="connsiteX7" fmla="*/ 1251857 w 1251857"/>
              <a:gd name="connsiteY7" fmla="*/ 359229 h 574788"/>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939346 w 1251857"/>
              <a:gd name="connsiteY6" fmla="*/ 523874 h 574788"/>
              <a:gd name="connsiteX7" fmla="*/ 1099457 w 1251857"/>
              <a:gd name="connsiteY7" fmla="*/ 468086 h 574788"/>
              <a:gd name="connsiteX8" fmla="*/ 1251857 w 1251857"/>
              <a:gd name="connsiteY8" fmla="*/ 359229 h 574788"/>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939346 w 1251857"/>
              <a:gd name="connsiteY6" fmla="*/ 523874 h 574788"/>
              <a:gd name="connsiteX7" fmla="*/ 1099457 w 1251857"/>
              <a:gd name="connsiteY7" fmla="*/ 468086 h 574788"/>
              <a:gd name="connsiteX8" fmla="*/ 1251857 w 1251857"/>
              <a:gd name="connsiteY8" fmla="*/ 359229 h 574788"/>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939346 w 1251857"/>
              <a:gd name="connsiteY6" fmla="*/ 523874 h 574788"/>
              <a:gd name="connsiteX7" fmla="*/ 1099457 w 1251857"/>
              <a:gd name="connsiteY7" fmla="*/ 468086 h 574788"/>
              <a:gd name="connsiteX8" fmla="*/ 1251857 w 1251857"/>
              <a:gd name="connsiteY8" fmla="*/ 359229 h 574788"/>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939346 w 1251857"/>
              <a:gd name="connsiteY6" fmla="*/ 523874 h 574788"/>
              <a:gd name="connsiteX7" fmla="*/ 1099457 w 1251857"/>
              <a:gd name="connsiteY7" fmla="*/ 468086 h 574788"/>
              <a:gd name="connsiteX8" fmla="*/ 1251857 w 1251857"/>
              <a:gd name="connsiteY8" fmla="*/ 359229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939346 w 1268139"/>
              <a:gd name="connsiteY6" fmla="*/ 523874 h 574788"/>
              <a:gd name="connsiteX7" fmla="*/ 1099457 w 1268139"/>
              <a:gd name="connsiteY7" fmla="*/ 468086 h 574788"/>
              <a:gd name="connsiteX8" fmla="*/ 1268139 w 1268139"/>
              <a:gd name="connsiteY8"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939346 w 1268139"/>
              <a:gd name="connsiteY6" fmla="*/ 523874 h 574788"/>
              <a:gd name="connsiteX7" fmla="*/ 1073406 w 1268139"/>
              <a:gd name="connsiteY7" fmla="*/ 490311 h 574788"/>
              <a:gd name="connsiteX8" fmla="*/ 1268139 w 1268139"/>
              <a:gd name="connsiteY8"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939346 w 1268139"/>
              <a:gd name="connsiteY6" fmla="*/ 523874 h 574788"/>
              <a:gd name="connsiteX7" fmla="*/ 1073406 w 1268139"/>
              <a:gd name="connsiteY7" fmla="*/ 490311 h 574788"/>
              <a:gd name="connsiteX8" fmla="*/ 1268139 w 1268139"/>
              <a:gd name="connsiteY8"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1073406 w 1268139"/>
              <a:gd name="connsiteY6" fmla="*/ 490311 h 574788"/>
              <a:gd name="connsiteX7" fmla="*/ 1268139 w 1268139"/>
              <a:gd name="connsiteY7"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1018047 w 1268139"/>
              <a:gd name="connsiteY6" fmla="*/ 506186 h 574788"/>
              <a:gd name="connsiteX7" fmla="*/ 1268139 w 1268139"/>
              <a:gd name="connsiteY7"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1050611 w 1268139"/>
              <a:gd name="connsiteY6" fmla="*/ 506186 h 574788"/>
              <a:gd name="connsiteX7" fmla="*/ 1268139 w 1268139"/>
              <a:gd name="connsiteY7"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806566 w 1268139"/>
              <a:gd name="connsiteY5" fmla="*/ 555171 h 574788"/>
              <a:gd name="connsiteX6" fmla="*/ 1050611 w 1268139"/>
              <a:gd name="connsiteY6" fmla="*/ 506186 h 574788"/>
              <a:gd name="connsiteX7" fmla="*/ 1268139 w 1268139"/>
              <a:gd name="connsiteY7"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806566 w 1268139"/>
              <a:gd name="connsiteY5" fmla="*/ 555171 h 574788"/>
              <a:gd name="connsiteX6" fmla="*/ 1050611 w 1268139"/>
              <a:gd name="connsiteY6" fmla="*/ 506186 h 574788"/>
              <a:gd name="connsiteX7" fmla="*/ 1268139 w 1268139"/>
              <a:gd name="connsiteY7" fmla="*/ 425904 h 574788"/>
              <a:gd name="connsiteX0" fmla="*/ 816428 w 1268139"/>
              <a:gd name="connsiteY0" fmla="*/ 0 h 578757"/>
              <a:gd name="connsiteX1" fmla="*/ 0 w 1268139"/>
              <a:gd name="connsiteY1" fmla="*/ 489857 h 578757"/>
              <a:gd name="connsiteX2" fmla="*/ 190046 w 1268139"/>
              <a:gd name="connsiteY2" fmla="*/ 546100 h 578757"/>
              <a:gd name="connsiteX3" fmla="*/ 387513 w 1268139"/>
              <a:gd name="connsiteY3" fmla="*/ 578757 h 578757"/>
              <a:gd name="connsiteX4" fmla="*/ 590096 w 1268139"/>
              <a:gd name="connsiteY4" fmla="*/ 574675 h 578757"/>
              <a:gd name="connsiteX5" fmla="*/ 806566 w 1268139"/>
              <a:gd name="connsiteY5" fmla="*/ 555171 h 578757"/>
              <a:gd name="connsiteX6" fmla="*/ 1050611 w 1268139"/>
              <a:gd name="connsiteY6" fmla="*/ 506186 h 578757"/>
              <a:gd name="connsiteX7" fmla="*/ 1268139 w 1268139"/>
              <a:gd name="connsiteY7" fmla="*/ 425904 h 578757"/>
              <a:gd name="connsiteX0" fmla="*/ 816428 w 1268139"/>
              <a:gd name="connsiteY0" fmla="*/ 0 h 578757"/>
              <a:gd name="connsiteX1" fmla="*/ 0 w 1268139"/>
              <a:gd name="connsiteY1" fmla="*/ 489857 h 578757"/>
              <a:gd name="connsiteX2" fmla="*/ 190046 w 1268139"/>
              <a:gd name="connsiteY2" fmla="*/ 546100 h 578757"/>
              <a:gd name="connsiteX3" fmla="*/ 387513 w 1268139"/>
              <a:gd name="connsiteY3" fmla="*/ 578757 h 578757"/>
              <a:gd name="connsiteX4" fmla="*/ 590096 w 1268139"/>
              <a:gd name="connsiteY4" fmla="*/ 574675 h 578757"/>
              <a:gd name="connsiteX5" fmla="*/ 806566 w 1268139"/>
              <a:gd name="connsiteY5" fmla="*/ 555171 h 578757"/>
              <a:gd name="connsiteX6" fmla="*/ 1063637 w 1268139"/>
              <a:gd name="connsiteY6" fmla="*/ 509361 h 578757"/>
              <a:gd name="connsiteX7" fmla="*/ 1268139 w 1268139"/>
              <a:gd name="connsiteY7" fmla="*/ 425904 h 578757"/>
              <a:gd name="connsiteX0" fmla="*/ 816428 w 1268139"/>
              <a:gd name="connsiteY0" fmla="*/ 0 h 578757"/>
              <a:gd name="connsiteX1" fmla="*/ 0 w 1268139"/>
              <a:gd name="connsiteY1" fmla="*/ 489857 h 578757"/>
              <a:gd name="connsiteX2" fmla="*/ 190046 w 1268139"/>
              <a:gd name="connsiteY2" fmla="*/ 546100 h 578757"/>
              <a:gd name="connsiteX3" fmla="*/ 387513 w 1268139"/>
              <a:gd name="connsiteY3" fmla="*/ 578757 h 578757"/>
              <a:gd name="connsiteX4" fmla="*/ 590096 w 1268139"/>
              <a:gd name="connsiteY4" fmla="*/ 574675 h 578757"/>
              <a:gd name="connsiteX5" fmla="*/ 806566 w 1268139"/>
              <a:gd name="connsiteY5" fmla="*/ 555171 h 578757"/>
              <a:gd name="connsiteX6" fmla="*/ 1066894 w 1268139"/>
              <a:gd name="connsiteY6" fmla="*/ 509361 h 578757"/>
              <a:gd name="connsiteX7" fmla="*/ 1268139 w 1268139"/>
              <a:gd name="connsiteY7" fmla="*/ 425904 h 578757"/>
              <a:gd name="connsiteX0" fmla="*/ 816428 w 1271395"/>
              <a:gd name="connsiteY0" fmla="*/ 0 h 578757"/>
              <a:gd name="connsiteX1" fmla="*/ 0 w 1271395"/>
              <a:gd name="connsiteY1" fmla="*/ 489857 h 578757"/>
              <a:gd name="connsiteX2" fmla="*/ 190046 w 1271395"/>
              <a:gd name="connsiteY2" fmla="*/ 546100 h 578757"/>
              <a:gd name="connsiteX3" fmla="*/ 387513 w 1271395"/>
              <a:gd name="connsiteY3" fmla="*/ 578757 h 578757"/>
              <a:gd name="connsiteX4" fmla="*/ 590096 w 1271395"/>
              <a:gd name="connsiteY4" fmla="*/ 574675 h 578757"/>
              <a:gd name="connsiteX5" fmla="*/ 806566 w 1271395"/>
              <a:gd name="connsiteY5" fmla="*/ 555171 h 578757"/>
              <a:gd name="connsiteX6" fmla="*/ 1066894 w 1271395"/>
              <a:gd name="connsiteY6" fmla="*/ 509361 h 578757"/>
              <a:gd name="connsiteX7" fmla="*/ 1271395 w 1271395"/>
              <a:gd name="connsiteY7" fmla="*/ 429079 h 578757"/>
              <a:gd name="connsiteX0" fmla="*/ 816428 w 1271395"/>
              <a:gd name="connsiteY0" fmla="*/ 0 h 578757"/>
              <a:gd name="connsiteX1" fmla="*/ 0 w 1271395"/>
              <a:gd name="connsiteY1" fmla="*/ 489857 h 578757"/>
              <a:gd name="connsiteX2" fmla="*/ 190046 w 1271395"/>
              <a:gd name="connsiteY2" fmla="*/ 546100 h 578757"/>
              <a:gd name="connsiteX3" fmla="*/ 387513 w 1271395"/>
              <a:gd name="connsiteY3" fmla="*/ 578757 h 578757"/>
              <a:gd name="connsiteX4" fmla="*/ 590096 w 1271395"/>
              <a:gd name="connsiteY4" fmla="*/ 574675 h 578757"/>
              <a:gd name="connsiteX5" fmla="*/ 806566 w 1271395"/>
              <a:gd name="connsiteY5" fmla="*/ 555171 h 578757"/>
              <a:gd name="connsiteX6" fmla="*/ 1047355 w 1271395"/>
              <a:gd name="connsiteY6" fmla="*/ 522061 h 578757"/>
              <a:gd name="connsiteX7" fmla="*/ 1271395 w 1271395"/>
              <a:gd name="connsiteY7" fmla="*/ 429079 h 578757"/>
              <a:gd name="connsiteX0" fmla="*/ 816428 w 1271395"/>
              <a:gd name="connsiteY0" fmla="*/ 0 h 578757"/>
              <a:gd name="connsiteX1" fmla="*/ 0 w 1271395"/>
              <a:gd name="connsiteY1" fmla="*/ 489857 h 578757"/>
              <a:gd name="connsiteX2" fmla="*/ 190046 w 1271395"/>
              <a:gd name="connsiteY2" fmla="*/ 546100 h 578757"/>
              <a:gd name="connsiteX3" fmla="*/ 387513 w 1271395"/>
              <a:gd name="connsiteY3" fmla="*/ 578757 h 578757"/>
              <a:gd name="connsiteX4" fmla="*/ 590096 w 1271395"/>
              <a:gd name="connsiteY4" fmla="*/ 574675 h 578757"/>
              <a:gd name="connsiteX5" fmla="*/ 806566 w 1271395"/>
              <a:gd name="connsiteY5" fmla="*/ 555171 h 578757"/>
              <a:gd name="connsiteX6" fmla="*/ 1040842 w 1271395"/>
              <a:gd name="connsiteY6" fmla="*/ 518886 h 578757"/>
              <a:gd name="connsiteX7" fmla="*/ 1271395 w 1271395"/>
              <a:gd name="connsiteY7" fmla="*/ 429079 h 578757"/>
              <a:gd name="connsiteX0" fmla="*/ 816428 w 1271395"/>
              <a:gd name="connsiteY0" fmla="*/ 0 h 580719"/>
              <a:gd name="connsiteX1" fmla="*/ 0 w 1271395"/>
              <a:gd name="connsiteY1" fmla="*/ 489857 h 580719"/>
              <a:gd name="connsiteX2" fmla="*/ 190046 w 1271395"/>
              <a:gd name="connsiteY2" fmla="*/ 546100 h 580719"/>
              <a:gd name="connsiteX3" fmla="*/ 387513 w 1271395"/>
              <a:gd name="connsiteY3" fmla="*/ 578757 h 580719"/>
              <a:gd name="connsiteX4" fmla="*/ 590096 w 1271395"/>
              <a:gd name="connsiteY4" fmla="*/ 574675 h 580719"/>
              <a:gd name="connsiteX5" fmla="*/ 806566 w 1271395"/>
              <a:gd name="connsiteY5" fmla="*/ 555171 h 580719"/>
              <a:gd name="connsiteX6" fmla="*/ 1040842 w 1271395"/>
              <a:gd name="connsiteY6" fmla="*/ 518886 h 580719"/>
              <a:gd name="connsiteX7" fmla="*/ 1271395 w 1271395"/>
              <a:gd name="connsiteY7" fmla="*/ 429079 h 580719"/>
              <a:gd name="connsiteX0" fmla="*/ 816428 w 1271395"/>
              <a:gd name="connsiteY0" fmla="*/ 0 h 580719"/>
              <a:gd name="connsiteX1" fmla="*/ 0 w 1271395"/>
              <a:gd name="connsiteY1" fmla="*/ 489857 h 580719"/>
              <a:gd name="connsiteX2" fmla="*/ 190046 w 1271395"/>
              <a:gd name="connsiteY2" fmla="*/ 546100 h 580719"/>
              <a:gd name="connsiteX3" fmla="*/ 387513 w 1271395"/>
              <a:gd name="connsiteY3" fmla="*/ 578757 h 580719"/>
              <a:gd name="connsiteX4" fmla="*/ 590096 w 1271395"/>
              <a:gd name="connsiteY4" fmla="*/ 574675 h 580719"/>
              <a:gd name="connsiteX5" fmla="*/ 793540 w 1271395"/>
              <a:gd name="connsiteY5" fmla="*/ 555171 h 580719"/>
              <a:gd name="connsiteX6" fmla="*/ 1040842 w 1271395"/>
              <a:gd name="connsiteY6" fmla="*/ 518886 h 580719"/>
              <a:gd name="connsiteX7" fmla="*/ 1271395 w 1271395"/>
              <a:gd name="connsiteY7" fmla="*/ 429079 h 580719"/>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793540 w 1271395"/>
              <a:gd name="connsiteY5" fmla="*/ 555171 h 576946"/>
              <a:gd name="connsiteX6" fmla="*/ 1040842 w 1271395"/>
              <a:gd name="connsiteY6" fmla="*/ 518886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793540 w 1271395"/>
              <a:gd name="connsiteY5" fmla="*/ 555171 h 576946"/>
              <a:gd name="connsiteX6" fmla="*/ 1031073 w 1271395"/>
              <a:gd name="connsiteY6" fmla="*/ 515711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826104 w 1271395"/>
              <a:gd name="connsiteY5" fmla="*/ 558346 h 576946"/>
              <a:gd name="connsiteX6" fmla="*/ 1031073 w 1271395"/>
              <a:gd name="connsiteY6" fmla="*/ 515711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848899 w 1271395"/>
              <a:gd name="connsiteY5" fmla="*/ 545646 h 576946"/>
              <a:gd name="connsiteX6" fmla="*/ 1031073 w 1271395"/>
              <a:gd name="connsiteY6" fmla="*/ 515711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848899 w 1271395"/>
              <a:gd name="connsiteY5" fmla="*/ 545646 h 576946"/>
              <a:gd name="connsiteX6" fmla="*/ 1057124 w 1271395"/>
              <a:gd name="connsiteY6" fmla="*/ 512536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848899 w 1271395"/>
              <a:gd name="connsiteY5" fmla="*/ 545646 h 576946"/>
              <a:gd name="connsiteX6" fmla="*/ 1057124 w 1271395"/>
              <a:gd name="connsiteY6" fmla="*/ 512536 h 576946"/>
              <a:gd name="connsiteX7" fmla="*/ 1271395 w 1271395"/>
              <a:gd name="connsiteY7" fmla="*/ 429079 h 576946"/>
              <a:gd name="connsiteX0" fmla="*/ 816428 w 1057124"/>
              <a:gd name="connsiteY0" fmla="*/ 0 h 576946"/>
              <a:gd name="connsiteX1" fmla="*/ 0 w 1057124"/>
              <a:gd name="connsiteY1" fmla="*/ 489857 h 576946"/>
              <a:gd name="connsiteX2" fmla="*/ 190046 w 1057124"/>
              <a:gd name="connsiteY2" fmla="*/ 546100 h 576946"/>
              <a:gd name="connsiteX3" fmla="*/ 397282 w 1057124"/>
              <a:gd name="connsiteY3" fmla="*/ 572407 h 576946"/>
              <a:gd name="connsiteX4" fmla="*/ 590096 w 1057124"/>
              <a:gd name="connsiteY4" fmla="*/ 574675 h 576946"/>
              <a:gd name="connsiteX5" fmla="*/ 848899 w 1057124"/>
              <a:gd name="connsiteY5" fmla="*/ 545646 h 576946"/>
              <a:gd name="connsiteX6" fmla="*/ 1057124 w 1057124"/>
              <a:gd name="connsiteY6" fmla="*/ 512536 h 576946"/>
              <a:gd name="connsiteX0" fmla="*/ 816428 w 1278560"/>
              <a:gd name="connsiteY0" fmla="*/ 0 h 576946"/>
              <a:gd name="connsiteX1" fmla="*/ 0 w 1278560"/>
              <a:gd name="connsiteY1" fmla="*/ 489857 h 576946"/>
              <a:gd name="connsiteX2" fmla="*/ 190046 w 1278560"/>
              <a:gd name="connsiteY2" fmla="*/ 546100 h 576946"/>
              <a:gd name="connsiteX3" fmla="*/ 397282 w 1278560"/>
              <a:gd name="connsiteY3" fmla="*/ 572407 h 576946"/>
              <a:gd name="connsiteX4" fmla="*/ 590096 w 1278560"/>
              <a:gd name="connsiteY4" fmla="*/ 574675 h 576946"/>
              <a:gd name="connsiteX5" fmla="*/ 848899 w 1278560"/>
              <a:gd name="connsiteY5" fmla="*/ 545646 h 576946"/>
              <a:gd name="connsiteX6" fmla="*/ 1278560 w 1278560"/>
              <a:gd name="connsiteY6" fmla="*/ 426811 h 576946"/>
              <a:gd name="connsiteX0" fmla="*/ 816428 w 1278560"/>
              <a:gd name="connsiteY0" fmla="*/ 0 h 576946"/>
              <a:gd name="connsiteX1" fmla="*/ 0 w 1278560"/>
              <a:gd name="connsiteY1" fmla="*/ 489857 h 576946"/>
              <a:gd name="connsiteX2" fmla="*/ 190046 w 1278560"/>
              <a:gd name="connsiteY2" fmla="*/ 546100 h 576946"/>
              <a:gd name="connsiteX3" fmla="*/ 397282 w 1278560"/>
              <a:gd name="connsiteY3" fmla="*/ 572407 h 576946"/>
              <a:gd name="connsiteX4" fmla="*/ 590096 w 1278560"/>
              <a:gd name="connsiteY4" fmla="*/ 574675 h 576946"/>
              <a:gd name="connsiteX5" fmla="*/ 848899 w 1278560"/>
              <a:gd name="connsiteY5" fmla="*/ 545646 h 576946"/>
              <a:gd name="connsiteX6" fmla="*/ 1061588 w 1278560"/>
              <a:gd name="connsiteY6" fmla="*/ 507999 h 576946"/>
              <a:gd name="connsiteX7" fmla="*/ 1278560 w 1278560"/>
              <a:gd name="connsiteY7" fmla="*/ 426811 h 576946"/>
              <a:gd name="connsiteX0" fmla="*/ 816428 w 1278560"/>
              <a:gd name="connsiteY0" fmla="*/ 0 h 576946"/>
              <a:gd name="connsiteX1" fmla="*/ 0 w 1278560"/>
              <a:gd name="connsiteY1" fmla="*/ 489857 h 576946"/>
              <a:gd name="connsiteX2" fmla="*/ 190046 w 1278560"/>
              <a:gd name="connsiteY2" fmla="*/ 546100 h 576946"/>
              <a:gd name="connsiteX3" fmla="*/ 397282 w 1278560"/>
              <a:gd name="connsiteY3" fmla="*/ 572407 h 576946"/>
              <a:gd name="connsiteX4" fmla="*/ 590096 w 1278560"/>
              <a:gd name="connsiteY4" fmla="*/ 574675 h 576946"/>
              <a:gd name="connsiteX5" fmla="*/ 848899 w 1278560"/>
              <a:gd name="connsiteY5" fmla="*/ 551996 h 576946"/>
              <a:gd name="connsiteX6" fmla="*/ 1061588 w 1278560"/>
              <a:gd name="connsiteY6" fmla="*/ 507999 h 576946"/>
              <a:gd name="connsiteX7" fmla="*/ 1278560 w 1278560"/>
              <a:gd name="connsiteY7" fmla="*/ 426811 h 576946"/>
              <a:gd name="connsiteX0" fmla="*/ 858367 w 1320499"/>
              <a:gd name="connsiteY0" fmla="*/ 0 h 576946"/>
              <a:gd name="connsiteX1" fmla="*/ 41939 w 1320499"/>
              <a:gd name="connsiteY1" fmla="*/ 489857 h 576946"/>
              <a:gd name="connsiteX2" fmla="*/ 129861 w 1320499"/>
              <a:gd name="connsiteY2" fmla="*/ 511174 h 576946"/>
              <a:gd name="connsiteX3" fmla="*/ 231985 w 1320499"/>
              <a:gd name="connsiteY3" fmla="*/ 546100 h 576946"/>
              <a:gd name="connsiteX4" fmla="*/ 439221 w 1320499"/>
              <a:gd name="connsiteY4" fmla="*/ 572407 h 576946"/>
              <a:gd name="connsiteX5" fmla="*/ 632035 w 1320499"/>
              <a:gd name="connsiteY5" fmla="*/ 574675 h 576946"/>
              <a:gd name="connsiteX6" fmla="*/ 890838 w 1320499"/>
              <a:gd name="connsiteY6" fmla="*/ 551996 h 576946"/>
              <a:gd name="connsiteX7" fmla="*/ 1103527 w 1320499"/>
              <a:gd name="connsiteY7" fmla="*/ 507999 h 576946"/>
              <a:gd name="connsiteX8" fmla="*/ 1320499 w 1320499"/>
              <a:gd name="connsiteY8" fmla="*/ 426811 h 576946"/>
              <a:gd name="connsiteX0" fmla="*/ 816428 w 1278560"/>
              <a:gd name="connsiteY0" fmla="*/ 0 h 576946"/>
              <a:gd name="connsiteX1" fmla="*/ 0 w 1278560"/>
              <a:gd name="connsiteY1" fmla="*/ 489857 h 576946"/>
              <a:gd name="connsiteX2" fmla="*/ 87922 w 1278560"/>
              <a:gd name="connsiteY2" fmla="*/ 511174 h 576946"/>
              <a:gd name="connsiteX3" fmla="*/ 190046 w 1278560"/>
              <a:gd name="connsiteY3" fmla="*/ 546100 h 576946"/>
              <a:gd name="connsiteX4" fmla="*/ 397282 w 1278560"/>
              <a:gd name="connsiteY4" fmla="*/ 572407 h 576946"/>
              <a:gd name="connsiteX5" fmla="*/ 590096 w 1278560"/>
              <a:gd name="connsiteY5" fmla="*/ 574675 h 576946"/>
              <a:gd name="connsiteX6" fmla="*/ 848899 w 1278560"/>
              <a:gd name="connsiteY6" fmla="*/ 551996 h 576946"/>
              <a:gd name="connsiteX7" fmla="*/ 1061588 w 1278560"/>
              <a:gd name="connsiteY7" fmla="*/ 507999 h 576946"/>
              <a:gd name="connsiteX8" fmla="*/ 1278560 w 1278560"/>
              <a:gd name="connsiteY8" fmla="*/ 426811 h 576946"/>
              <a:gd name="connsiteX0" fmla="*/ 816428 w 1278560"/>
              <a:gd name="connsiteY0" fmla="*/ 0 h 576946"/>
              <a:gd name="connsiteX1" fmla="*/ 0 w 1278560"/>
              <a:gd name="connsiteY1" fmla="*/ 489857 h 576946"/>
              <a:gd name="connsiteX2" fmla="*/ 68384 w 1278560"/>
              <a:gd name="connsiteY2" fmla="*/ 507999 h 576946"/>
              <a:gd name="connsiteX3" fmla="*/ 190046 w 1278560"/>
              <a:gd name="connsiteY3" fmla="*/ 546100 h 576946"/>
              <a:gd name="connsiteX4" fmla="*/ 397282 w 1278560"/>
              <a:gd name="connsiteY4" fmla="*/ 572407 h 576946"/>
              <a:gd name="connsiteX5" fmla="*/ 590096 w 1278560"/>
              <a:gd name="connsiteY5" fmla="*/ 574675 h 576946"/>
              <a:gd name="connsiteX6" fmla="*/ 848899 w 1278560"/>
              <a:gd name="connsiteY6" fmla="*/ 551996 h 576946"/>
              <a:gd name="connsiteX7" fmla="*/ 1061588 w 1278560"/>
              <a:gd name="connsiteY7" fmla="*/ 507999 h 576946"/>
              <a:gd name="connsiteX8" fmla="*/ 1278560 w 1278560"/>
              <a:gd name="connsiteY8" fmla="*/ 426811 h 576946"/>
              <a:gd name="connsiteX0" fmla="*/ 816428 w 1278560"/>
              <a:gd name="connsiteY0" fmla="*/ 0 h 576946"/>
              <a:gd name="connsiteX1" fmla="*/ 0 w 1278560"/>
              <a:gd name="connsiteY1" fmla="*/ 489857 h 576946"/>
              <a:gd name="connsiteX2" fmla="*/ 68384 w 1278560"/>
              <a:gd name="connsiteY2" fmla="*/ 517524 h 576946"/>
              <a:gd name="connsiteX3" fmla="*/ 190046 w 1278560"/>
              <a:gd name="connsiteY3" fmla="*/ 546100 h 576946"/>
              <a:gd name="connsiteX4" fmla="*/ 397282 w 1278560"/>
              <a:gd name="connsiteY4" fmla="*/ 572407 h 576946"/>
              <a:gd name="connsiteX5" fmla="*/ 590096 w 1278560"/>
              <a:gd name="connsiteY5" fmla="*/ 574675 h 576946"/>
              <a:gd name="connsiteX6" fmla="*/ 848899 w 1278560"/>
              <a:gd name="connsiteY6" fmla="*/ 551996 h 576946"/>
              <a:gd name="connsiteX7" fmla="*/ 1061588 w 1278560"/>
              <a:gd name="connsiteY7" fmla="*/ 507999 h 576946"/>
              <a:gd name="connsiteX8" fmla="*/ 1278560 w 1278560"/>
              <a:gd name="connsiteY8" fmla="*/ 426811 h 576946"/>
              <a:gd name="connsiteX0" fmla="*/ 816428 w 1278560"/>
              <a:gd name="connsiteY0" fmla="*/ 0 h 576946"/>
              <a:gd name="connsiteX1" fmla="*/ 0 w 1278560"/>
              <a:gd name="connsiteY1" fmla="*/ 489857 h 576946"/>
              <a:gd name="connsiteX2" fmla="*/ 68384 w 1278560"/>
              <a:gd name="connsiteY2" fmla="*/ 517524 h 576946"/>
              <a:gd name="connsiteX3" fmla="*/ 193302 w 1278560"/>
              <a:gd name="connsiteY3" fmla="*/ 549275 h 576946"/>
              <a:gd name="connsiteX4" fmla="*/ 397282 w 1278560"/>
              <a:gd name="connsiteY4" fmla="*/ 572407 h 576946"/>
              <a:gd name="connsiteX5" fmla="*/ 590096 w 1278560"/>
              <a:gd name="connsiteY5" fmla="*/ 574675 h 576946"/>
              <a:gd name="connsiteX6" fmla="*/ 848899 w 1278560"/>
              <a:gd name="connsiteY6" fmla="*/ 551996 h 576946"/>
              <a:gd name="connsiteX7" fmla="*/ 1061588 w 1278560"/>
              <a:gd name="connsiteY7" fmla="*/ 507999 h 576946"/>
              <a:gd name="connsiteX8" fmla="*/ 1278560 w 1278560"/>
              <a:gd name="connsiteY8" fmla="*/ 426811 h 576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8560" h="576946">
                <a:moveTo>
                  <a:pt x="816428" y="0"/>
                </a:moveTo>
                <a:lnTo>
                  <a:pt x="0" y="489857"/>
                </a:lnTo>
                <a:lnTo>
                  <a:pt x="68384" y="517524"/>
                </a:lnTo>
                <a:cubicBezTo>
                  <a:pt x="100058" y="526898"/>
                  <a:pt x="141742" y="539070"/>
                  <a:pt x="193302" y="549275"/>
                </a:cubicBezTo>
                <a:cubicBezTo>
                  <a:pt x="256802" y="561975"/>
                  <a:pt x="330607" y="567645"/>
                  <a:pt x="397282" y="572407"/>
                </a:cubicBezTo>
                <a:cubicBezTo>
                  <a:pt x="463957" y="577170"/>
                  <a:pt x="520254" y="578606"/>
                  <a:pt x="590096" y="574675"/>
                </a:cubicBezTo>
                <a:cubicBezTo>
                  <a:pt x="657224" y="572861"/>
                  <a:pt x="790691" y="560463"/>
                  <a:pt x="848899" y="551996"/>
                </a:cubicBezTo>
                <a:cubicBezTo>
                  <a:pt x="926938" y="538238"/>
                  <a:pt x="989978" y="527805"/>
                  <a:pt x="1061588" y="507999"/>
                </a:cubicBezTo>
                <a:cubicBezTo>
                  <a:pt x="1133198" y="488193"/>
                  <a:pt x="1241855" y="437696"/>
                  <a:pt x="1278560" y="426811"/>
                </a:cubicBezTo>
              </a:path>
            </a:pathLst>
          </a:custGeom>
          <a:solidFill>
            <a:schemeClr val="accent5">
              <a:lumMod val="90000"/>
            </a:schemeClr>
          </a:solidFill>
          <a:ln w="9525" cap="flat" cmpd="sng" algn="ctr">
            <a:solidFill>
              <a:srgbClr val="000066"/>
            </a:solidFill>
            <a:prstDash val="dash"/>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02" name="任意多边形 101"/>
          <p:cNvSpPr/>
          <p:nvPr/>
        </p:nvSpPr>
        <p:spPr bwMode="auto">
          <a:xfrm flipH="1">
            <a:off x="2847976" y="4460876"/>
            <a:ext cx="1246597" cy="576946"/>
          </a:xfrm>
          <a:custGeom>
            <a:avLst/>
            <a:gdLst>
              <a:gd name="connsiteX0" fmla="*/ 816428 w 1251857"/>
              <a:gd name="connsiteY0" fmla="*/ 0 h 566057"/>
              <a:gd name="connsiteX1" fmla="*/ 0 w 1251857"/>
              <a:gd name="connsiteY1" fmla="*/ 489857 h 566057"/>
              <a:gd name="connsiteX2" fmla="*/ 381000 w 1251857"/>
              <a:gd name="connsiteY2" fmla="*/ 566057 h 566057"/>
              <a:gd name="connsiteX3" fmla="*/ 783771 w 1251857"/>
              <a:gd name="connsiteY3" fmla="*/ 555171 h 566057"/>
              <a:gd name="connsiteX4" fmla="*/ 1099457 w 1251857"/>
              <a:gd name="connsiteY4" fmla="*/ 468086 h 566057"/>
              <a:gd name="connsiteX5" fmla="*/ 1251857 w 1251857"/>
              <a:gd name="connsiteY5" fmla="*/ 359229 h 566057"/>
              <a:gd name="connsiteX0" fmla="*/ 816428 w 1251857"/>
              <a:gd name="connsiteY0" fmla="*/ 0 h 566057"/>
              <a:gd name="connsiteX1" fmla="*/ 0 w 1251857"/>
              <a:gd name="connsiteY1" fmla="*/ 489857 h 566057"/>
              <a:gd name="connsiteX2" fmla="*/ 190046 w 1251857"/>
              <a:gd name="connsiteY2" fmla="*/ 546100 h 566057"/>
              <a:gd name="connsiteX3" fmla="*/ 381000 w 1251857"/>
              <a:gd name="connsiteY3" fmla="*/ 566057 h 566057"/>
              <a:gd name="connsiteX4" fmla="*/ 783771 w 1251857"/>
              <a:gd name="connsiteY4" fmla="*/ 555171 h 566057"/>
              <a:gd name="connsiteX5" fmla="*/ 1099457 w 1251857"/>
              <a:gd name="connsiteY5" fmla="*/ 468086 h 566057"/>
              <a:gd name="connsiteX6" fmla="*/ 1251857 w 1251857"/>
              <a:gd name="connsiteY6" fmla="*/ 359229 h 566057"/>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1099457 w 1251857"/>
              <a:gd name="connsiteY6" fmla="*/ 468086 h 574788"/>
              <a:gd name="connsiteX7" fmla="*/ 1251857 w 1251857"/>
              <a:gd name="connsiteY7" fmla="*/ 359229 h 574788"/>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939346 w 1251857"/>
              <a:gd name="connsiteY6" fmla="*/ 523874 h 574788"/>
              <a:gd name="connsiteX7" fmla="*/ 1099457 w 1251857"/>
              <a:gd name="connsiteY7" fmla="*/ 468086 h 574788"/>
              <a:gd name="connsiteX8" fmla="*/ 1251857 w 1251857"/>
              <a:gd name="connsiteY8" fmla="*/ 359229 h 574788"/>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939346 w 1251857"/>
              <a:gd name="connsiteY6" fmla="*/ 523874 h 574788"/>
              <a:gd name="connsiteX7" fmla="*/ 1099457 w 1251857"/>
              <a:gd name="connsiteY7" fmla="*/ 468086 h 574788"/>
              <a:gd name="connsiteX8" fmla="*/ 1251857 w 1251857"/>
              <a:gd name="connsiteY8" fmla="*/ 359229 h 574788"/>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939346 w 1251857"/>
              <a:gd name="connsiteY6" fmla="*/ 523874 h 574788"/>
              <a:gd name="connsiteX7" fmla="*/ 1099457 w 1251857"/>
              <a:gd name="connsiteY7" fmla="*/ 468086 h 574788"/>
              <a:gd name="connsiteX8" fmla="*/ 1251857 w 1251857"/>
              <a:gd name="connsiteY8" fmla="*/ 359229 h 574788"/>
              <a:gd name="connsiteX0" fmla="*/ 816428 w 1251857"/>
              <a:gd name="connsiteY0" fmla="*/ 0 h 574788"/>
              <a:gd name="connsiteX1" fmla="*/ 0 w 1251857"/>
              <a:gd name="connsiteY1" fmla="*/ 489857 h 574788"/>
              <a:gd name="connsiteX2" fmla="*/ 190046 w 1251857"/>
              <a:gd name="connsiteY2" fmla="*/ 546100 h 574788"/>
              <a:gd name="connsiteX3" fmla="*/ 381000 w 1251857"/>
              <a:gd name="connsiteY3" fmla="*/ 566057 h 574788"/>
              <a:gd name="connsiteX4" fmla="*/ 590096 w 1251857"/>
              <a:gd name="connsiteY4" fmla="*/ 574675 h 574788"/>
              <a:gd name="connsiteX5" fmla="*/ 783771 w 1251857"/>
              <a:gd name="connsiteY5" fmla="*/ 555171 h 574788"/>
              <a:gd name="connsiteX6" fmla="*/ 939346 w 1251857"/>
              <a:gd name="connsiteY6" fmla="*/ 523874 h 574788"/>
              <a:gd name="connsiteX7" fmla="*/ 1099457 w 1251857"/>
              <a:gd name="connsiteY7" fmla="*/ 468086 h 574788"/>
              <a:gd name="connsiteX8" fmla="*/ 1251857 w 1251857"/>
              <a:gd name="connsiteY8" fmla="*/ 359229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939346 w 1268139"/>
              <a:gd name="connsiteY6" fmla="*/ 523874 h 574788"/>
              <a:gd name="connsiteX7" fmla="*/ 1099457 w 1268139"/>
              <a:gd name="connsiteY7" fmla="*/ 468086 h 574788"/>
              <a:gd name="connsiteX8" fmla="*/ 1268139 w 1268139"/>
              <a:gd name="connsiteY8"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939346 w 1268139"/>
              <a:gd name="connsiteY6" fmla="*/ 523874 h 574788"/>
              <a:gd name="connsiteX7" fmla="*/ 1073406 w 1268139"/>
              <a:gd name="connsiteY7" fmla="*/ 490311 h 574788"/>
              <a:gd name="connsiteX8" fmla="*/ 1268139 w 1268139"/>
              <a:gd name="connsiteY8"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939346 w 1268139"/>
              <a:gd name="connsiteY6" fmla="*/ 523874 h 574788"/>
              <a:gd name="connsiteX7" fmla="*/ 1073406 w 1268139"/>
              <a:gd name="connsiteY7" fmla="*/ 490311 h 574788"/>
              <a:gd name="connsiteX8" fmla="*/ 1268139 w 1268139"/>
              <a:gd name="connsiteY8"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1073406 w 1268139"/>
              <a:gd name="connsiteY6" fmla="*/ 490311 h 574788"/>
              <a:gd name="connsiteX7" fmla="*/ 1268139 w 1268139"/>
              <a:gd name="connsiteY7"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1018047 w 1268139"/>
              <a:gd name="connsiteY6" fmla="*/ 506186 h 574788"/>
              <a:gd name="connsiteX7" fmla="*/ 1268139 w 1268139"/>
              <a:gd name="connsiteY7"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783771 w 1268139"/>
              <a:gd name="connsiteY5" fmla="*/ 555171 h 574788"/>
              <a:gd name="connsiteX6" fmla="*/ 1050611 w 1268139"/>
              <a:gd name="connsiteY6" fmla="*/ 506186 h 574788"/>
              <a:gd name="connsiteX7" fmla="*/ 1268139 w 1268139"/>
              <a:gd name="connsiteY7"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806566 w 1268139"/>
              <a:gd name="connsiteY5" fmla="*/ 555171 h 574788"/>
              <a:gd name="connsiteX6" fmla="*/ 1050611 w 1268139"/>
              <a:gd name="connsiteY6" fmla="*/ 506186 h 574788"/>
              <a:gd name="connsiteX7" fmla="*/ 1268139 w 1268139"/>
              <a:gd name="connsiteY7" fmla="*/ 425904 h 574788"/>
              <a:gd name="connsiteX0" fmla="*/ 816428 w 1268139"/>
              <a:gd name="connsiteY0" fmla="*/ 0 h 574788"/>
              <a:gd name="connsiteX1" fmla="*/ 0 w 1268139"/>
              <a:gd name="connsiteY1" fmla="*/ 489857 h 574788"/>
              <a:gd name="connsiteX2" fmla="*/ 190046 w 1268139"/>
              <a:gd name="connsiteY2" fmla="*/ 546100 h 574788"/>
              <a:gd name="connsiteX3" fmla="*/ 381000 w 1268139"/>
              <a:gd name="connsiteY3" fmla="*/ 566057 h 574788"/>
              <a:gd name="connsiteX4" fmla="*/ 590096 w 1268139"/>
              <a:gd name="connsiteY4" fmla="*/ 574675 h 574788"/>
              <a:gd name="connsiteX5" fmla="*/ 806566 w 1268139"/>
              <a:gd name="connsiteY5" fmla="*/ 555171 h 574788"/>
              <a:gd name="connsiteX6" fmla="*/ 1050611 w 1268139"/>
              <a:gd name="connsiteY6" fmla="*/ 506186 h 574788"/>
              <a:gd name="connsiteX7" fmla="*/ 1268139 w 1268139"/>
              <a:gd name="connsiteY7" fmla="*/ 425904 h 574788"/>
              <a:gd name="connsiteX0" fmla="*/ 816428 w 1268139"/>
              <a:gd name="connsiteY0" fmla="*/ 0 h 578757"/>
              <a:gd name="connsiteX1" fmla="*/ 0 w 1268139"/>
              <a:gd name="connsiteY1" fmla="*/ 489857 h 578757"/>
              <a:gd name="connsiteX2" fmla="*/ 190046 w 1268139"/>
              <a:gd name="connsiteY2" fmla="*/ 546100 h 578757"/>
              <a:gd name="connsiteX3" fmla="*/ 387513 w 1268139"/>
              <a:gd name="connsiteY3" fmla="*/ 578757 h 578757"/>
              <a:gd name="connsiteX4" fmla="*/ 590096 w 1268139"/>
              <a:gd name="connsiteY4" fmla="*/ 574675 h 578757"/>
              <a:gd name="connsiteX5" fmla="*/ 806566 w 1268139"/>
              <a:gd name="connsiteY5" fmla="*/ 555171 h 578757"/>
              <a:gd name="connsiteX6" fmla="*/ 1050611 w 1268139"/>
              <a:gd name="connsiteY6" fmla="*/ 506186 h 578757"/>
              <a:gd name="connsiteX7" fmla="*/ 1268139 w 1268139"/>
              <a:gd name="connsiteY7" fmla="*/ 425904 h 578757"/>
              <a:gd name="connsiteX0" fmla="*/ 816428 w 1268139"/>
              <a:gd name="connsiteY0" fmla="*/ 0 h 578757"/>
              <a:gd name="connsiteX1" fmla="*/ 0 w 1268139"/>
              <a:gd name="connsiteY1" fmla="*/ 489857 h 578757"/>
              <a:gd name="connsiteX2" fmla="*/ 190046 w 1268139"/>
              <a:gd name="connsiteY2" fmla="*/ 546100 h 578757"/>
              <a:gd name="connsiteX3" fmla="*/ 387513 w 1268139"/>
              <a:gd name="connsiteY3" fmla="*/ 578757 h 578757"/>
              <a:gd name="connsiteX4" fmla="*/ 590096 w 1268139"/>
              <a:gd name="connsiteY4" fmla="*/ 574675 h 578757"/>
              <a:gd name="connsiteX5" fmla="*/ 806566 w 1268139"/>
              <a:gd name="connsiteY5" fmla="*/ 555171 h 578757"/>
              <a:gd name="connsiteX6" fmla="*/ 1063637 w 1268139"/>
              <a:gd name="connsiteY6" fmla="*/ 509361 h 578757"/>
              <a:gd name="connsiteX7" fmla="*/ 1268139 w 1268139"/>
              <a:gd name="connsiteY7" fmla="*/ 425904 h 578757"/>
              <a:gd name="connsiteX0" fmla="*/ 816428 w 1268139"/>
              <a:gd name="connsiteY0" fmla="*/ 0 h 578757"/>
              <a:gd name="connsiteX1" fmla="*/ 0 w 1268139"/>
              <a:gd name="connsiteY1" fmla="*/ 489857 h 578757"/>
              <a:gd name="connsiteX2" fmla="*/ 190046 w 1268139"/>
              <a:gd name="connsiteY2" fmla="*/ 546100 h 578757"/>
              <a:gd name="connsiteX3" fmla="*/ 387513 w 1268139"/>
              <a:gd name="connsiteY3" fmla="*/ 578757 h 578757"/>
              <a:gd name="connsiteX4" fmla="*/ 590096 w 1268139"/>
              <a:gd name="connsiteY4" fmla="*/ 574675 h 578757"/>
              <a:gd name="connsiteX5" fmla="*/ 806566 w 1268139"/>
              <a:gd name="connsiteY5" fmla="*/ 555171 h 578757"/>
              <a:gd name="connsiteX6" fmla="*/ 1066894 w 1268139"/>
              <a:gd name="connsiteY6" fmla="*/ 509361 h 578757"/>
              <a:gd name="connsiteX7" fmla="*/ 1268139 w 1268139"/>
              <a:gd name="connsiteY7" fmla="*/ 425904 h 578757"/>
              <a:gd name="connsiteX0" fmla="*/ 816428 w 1271395"/>
              <a:gd name="connsiteY0" fmla="*/ 0 h 578757"/>
              <a:gd name="connsiteX1" fmla="*/ 0 w 1271395"/>
              <a:gd name="connsiteY1" fmla="*/ 489857 h 578757"/>
              <a:gd name="connsiteX2" fmla="*/ 190046 w 1271395"/>
              <a:gd name="connsiteY2" fmla="*/ 546100 h 578757"/>
              <a:gd name="connsiteX3" fmla="*/ 387513 w 1271395"/>
              <a:gd name="connsiteY3" fmla="*/ 578757 h 578757"/>
              <a:gd name="connsiteX4" fmla="*/ 590096 w 1271395"/>
              <a:gd name="connsiteY4" fmla="*/ 574675 h 578757"/>
              <a:gd name="connsiteX5" fmla="*/ 806566 w 1271395"/>
              <a:gd name="connsiteY5" fmla="*/ 555171 h 578757"/>
              <a:gd name="connsiteX6" fmla="*/ 1066894 w 1271395"/>
              <a:gd name="connsiteY6" fmla="*/ 509361 h 578757"/>
              <a:gd name="connsiteX7" fmla="*/ 1271395 w 1271395"/>
              <a:gd name="connsiteY7" fmla="*/ 429079 h 578757"/>
              <a:gd name="connsiteX0" fmla="*/ 816428 w 1271395"/>
              <a:gd name="connsiteY0" fmla="*/ 0 h 578757"/>
              <a:gd name="connsiteX1" fmla="*/ 0 w 1271395"/>
              <a:gd name="connsiteY1" fmla="*/ 489857 h 578757"/>
              <a:gd name="connsiteX2" fmla="*/ 190046 w 1271395"/>
              <a:gd name="connsiteY2" fmla="*/ 546100 h 578757"/>
              <a:gd name="connsiteX3" fmla="*/ 387513 w 1271395"/>
              <a:gd name="connsiteY3" fmla="*/ 578757 h 578757"/>
              <a:gd name="connsiteX4" fmla="*/ 590096 w 1271395"/>
              <a:gd name="connsiteY4" fmla="*/ 574675 h 578757"/>
              <a:gd name="connsiteX5" fmla="*/ 806566 w 1271395"/>
              <a:gd name="connsiteY5" fmla="*/ 555171 h 578757"/>
              <a:gd name="connsiteX6" fmla="*/ 1047355 w 1271395"/>
              <a:gd name="connsiteY6" fmla="*/ 522061 h 578757"/>
              <a:gd name="connsiteX7" fmla="*/ 1271395 w 1271395"/>
              <a:gd name="connsiteY7" fmla="*/ 429079 h 578757"/>
              <a:gd name="connsiteX0" fmla="*/ 816428 w 1271395"/>
              <a:gd name="connsiteY0" fmla="*/ 0 h 578757"/>
              <a:gd name="connsiteX1" fmla="*/ 0 w 1271395"/>
              <a:gd name="connsiteY1" fmla="*/ 489857 h 578757"/>
              <a:gd name="connsiteX2" fmla="*/ 190046 w 1271395"/>
              <a:gd name="connsiteY2" fmla="*/ 546100 h 578757"/>
              <a:gd name="connsiteX3" fmla="*/ 387513 w 1271395"/>
              <a:gd name="connsiteY3" fmla="*/ 578757 h 578757"/>
              <a:gd name="connsiteX4" fmla="*/ 590096 w 1271395"/>
              <a:gd name="connsiteY4" fmla="*/ 574675 h 578757"/>
              <a:gd name="connsiteX5" fmla="*/ 806566 w 1271395"/>
              <a:gd name="connsiteY5" fmla="*/ 555171 h 578757"/>
              <a:gd name="connsiteX6" fmla="*/ 1040842 w 1271395"/>
              <a:gd name="connsiteY6" fmla="*/ 518886 h 578757"/>
              <a:gd name="connsiteX7" fmla="*/ 1271395 w 1271395"/>
              <a:gd name="connsiteY7" fmla="*/ 429079 h 578757"/>
              <a:gd name="connsiteX0" fmla="*/ 816428 w 1271395"/>
              <a:gd name="connsiteY0" fmla="*/ 0 h 580719"/>
              <a:gd name="connsiteX1" fmla="*/ 0 w 1271395"/>
              <a:gd name="connsiteY1" fmla="*/ 489857 h 580719"/>
              <a:gd name="connsiteX2" fmla="*/ 190046 w 1271395"/>
              <a:gd name="connsiteY2" fmla="*/ 546100 h 580719"/>
              <a:gd name="connsiteX3" fmla="*/ 387513 w 1271395"/>
              <a:gd name="connsiteY3" fmla="*/ 578757 h 580719"/>
              <a:gd name="connsiteX4" fmla="*/ 590096 w 1271395"/>
              <a:gd name="connsiteY4" fmla="*/ 574675 h 580719"/>
              <a:gd name="connsiteX5" fmla="*/ 806566 w 1271395"/>
              <a:gd name="connsiteY5" fmla="*/ 555171 h 580719"/>
              <a:gd name="connsiteX6" fmla="*/ 1040842 w 1271395"/>
              <a:gd name="connsiteY6" fmla="*/ 518886 h 580719"/>
              <a:gd name="connsiteX7" fmla="*/ 1271395 w 1271395"/>
              <a:gd name="connsiteY7" fmla="*/ 429079 h 580719"/>
              <a:gd name="connsiteX0" fmla="*/ 816428 w 1271395"/>
              <a:gd name="connsiteY0" fmla="*/ 0 h 580719"/>
              <a:gd name="connsiteX1" fmla="*/ 0 w 1271395"/>
              <a:gd name="connsiteY1" fmla="*/ 489857 h 580719"/>
              <a:gd name="connsiteX2" fmla="*/ 190046 w 1271395"/>
              <a:gd name="connsiteY2" fmla="*/ 546100 h 580719"/>
              <a:gd name="connsiteX3" fmla="*/ 387513 w 1271395"/>
              <a:gd name="connsiteY3" fmla="*/ 578757 h 580719"/>
              <a:gd name="connsiteX4" fmla="*/ 590096 w 1271395"/>
              <a:gd name="connsiteY4" fmla="*/ 574675 h 580719"/>
              <a:gd name="connsiteX5" fmla="*/ 793540 w 1271395"/>
              <a:gd name="connsiteY5" fmla="*/ 555171 h 580719"/>
              <a:gd name="connsiteX6" fmla="*/ 1040842 w 1271395"/>
              <a:gd name="connsiteY6" fmla="*/ 518886 h 580719"/>
              <a:gd name="connsiteX7" fmla="*/ 1271395 w 1271395"/>
              <a:gd name="connsiteY7" fmla="*/ 429079 h 580719"/>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793540 w 1271395"/>
              <a:gd name="connsiteY5" fmla="*/ 555171 h 576946"/>
              <a:gd name="connsiteX6" fmla="*/ 1040842 w 1271395"/>
              <a:gd name="connsiteY6" fmla="*/ 518886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793540 w 1271395"/>
              <a:gd name="connsiteY5" fmla="*/ 555171 h 576946"/>
              <a:gd name="connsiteX6" fmla="*/ 1031073 w 1271395"/>
              <a:gd name="connsiteY6" fmla="*/ 515711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826104 w 1271395"/>
              <a:gd name="connsiteY5" fmla="*/ 558346 h 576946"/>
              <a:gd name="connsiteX6" fmla="*/ 1031073 w 1271395"/>
              <a:gd name="connsiteY6" fmla="*/ 515711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848899 w 1271395"/>
              <a:gd name="connsiteY5" fmla="*/ 545646 h 576946"/>
              <a:gd name="connsiteX6" fmla="*/ 1031073 w 1271395"/>
              <a:gd name="connsiteY6" fmla="*/ 515711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848899 w 1271395"/>
              <a:gd name="connsiteY5" fmla="*/ 545646 h 576946"/>
              <a:gd name="connsiteX6" fmla="*/ 1057124 w 1271395"/>
              <a:gd name="connsiteY6" fmla="*/ 512536 h 576946"/>
              <a:gd name="connsiteX7" fmla="*/ 1271395 w 1271395"/>
              <a:gd name="connsiteY7" fmla="*/ 429079 h 576946"/>
              <a:gd name="connsiteX0" fmla="*/ 816428 w 1271395"/>
              <a:gd name="connsiteY0" fmla="*/ 0 h 576946"/>
              <a:gd name="connsiteX1" fmla="*/ 0 w 1271395"/>
              <a:gd name="connsiteY1" fmla="*/ 489857 h 576946"/>
              <a:gd name="connsiteX2" fmla="*/ 190046 w 1271395"/>
              <a:gd name="connsiteY2" fmla="*/ 546100 h 576946"/>
              <a:gd name="connsiteX3" fmla="*/ 397282 w 1271395"/>
              <a:gd name="connsiteY3" fmla="*/ 572407 h 576946"/>
              <a:gd name="connsiteX4" fmla="*/ 590096 w 1271395"/>
              <a:gd name="connsiteY4" fmla="*/ 574675 h 576946"/>
              <a:gd name="connsiteX5" fmla="*/ 848899 w 1271395"/>
              <a:gd name="connsiteY5" fmla="*/ 545646 h 576946"/>
              <a:gd name="connsiteX6" fmla="*/ 1057124 w 1271395"/>
              <a:gd name="connsiteY6" fmla="*/ 512536 h 576946"/>
              <a:gd name="connsiteX7" fmla="*/ 1271395 w 1271395"/>
              <a:gd name="connsiteY7" fmla="*/ 429079 h 576946"/>
              <a:gd name="connsiteX0" fmla="*/ 816428 w 1057124"/>
              <a:gd name="connsiteY0" fmla="*/ 0 h 576946"/>
              <a:gd name="connsiteX1" fmla="*/ 0 w 1057124"/>
              <a:gd name="connsiteY1" fmla="*/ 489857 h 576946"/>
              <a:gd name="connsiteX2" fmla="*/ 190046 w 1057124"/>
              <a:gd name="connsiteY2" fmla="*/ 546100 h 576946"/>
              <a:gd name="connsiteX3" fmla="*/ 397282 w 1057124"/>
              <a:gd name="connsiteY3" fmla="*/ 572407 h 576946"/>
              <a:gd name="connsiteX4" fmla="*/ 590096 w 1057124"/>
              <a:gd name="connsiteY4" fmla="*/ 574675 h 576946"/>
              <a:gd name="connsiteX5" fmla="*/ 848899 w 1057124"/>
              <a:gd name="connsiteY5" fmla="*/ 545646 h 576946"/>
              <a:gd name="connsiteX6" fmla="*/ 1057124 w 1057124"/>
              <a:gd name="connsiteY6" fmla="*/ 512536 h 576946"/>
              <a:gd name="connsiteX0" fmla="*/ 816428 w 1278560"/>
              <a:gd name="connsiteY0" fmla="*/ 0 h 576946"/>
              <a:gd name="connsiteX1" fmla="*/ 0 w 1278560"/>
              <a:gd name="connsiteY1" fmla="*/ 489857 h 576946"/>
              <a:gd name="connsiteX2" fmla="*/ 190046 w 1278560"/>
              <a:gd name="connsiteY2" fmla="*/ 546100 h 576946"/>
              <a:gd name="connsiteX3" fmla="*/ 397282 w 1278560"/>
              <a:gd name="connsiteY3" fmla="*/ 572407 h 576946"/>
              <a:gd name="connsiteX4" fmla="*/ 590096 w 1278560"/>
              <a:gd name="connsiteY4" fmla="*/ 574675 h 576946"/>
              <a:gd name="connsiteX5" fmla="*/ 848899 w 1278560"/>
              <a:gd name="connsiteY5" fmla="*/ 545646 h 576946"/>
              <a:gd name="connsiteX6" fmla="*/ 1278560 w 1278560"/>
              <a:gd name="connsiteY6" fmla="*/ 426811 h 576946"/>
              <a:gd name="connsiteX0" fmla="*/ 816428 w 1278560"/>
              <a:gd name="connsiteY0" fmla="*/ 0 h 576946"/>
              <a:gd name="connsiteX1" fmla="*/ 0 w 1278560"/>
              <a:gd name="connsiteY1" fmla="*/ 489857 h 576946"/>
              <a:gd name="connsiteX2" fmla="*/ 190046 w 1278560"/>
              <a:gd name="connsiteY2" fmla="*/ 546100 h 576946"/>
              <a:gd name="connsiteX3" fmla="*/ 397282 w 1278560"/>
              <a:gd name="connsiteY3" fmla="*/ 572407 h 576946"/>
              <a:gd name="connsiteX4" fmla="*/ 590096 w 1278560"/>
              <a:gd name="connsiteY4" fmla="*/ 574675 h 576946"/>
              <a:gd name="connsiteX5" fmla="*/ 848899 w 1278560"/>
              <a:gd name="connsiteY5" fmla="*/ 545646 h 576946"/>
              <a:gd name="connsiteX6" fmla="*/ 1061588 w 1278560"/>
              <a:gd name="connsiteY6" fmla="*/ 507999 h 576946"/>
              <a:gd name="connsiteX7" fmla="*/ 1278560 w 1278560"/>
              <a:gd name="connsiteY7" fmla="*/ 426811 h 576946"/>
              <a:gd name="connsiteX0" fmla="*/ 816428 w 1278560"/>
              <a:gd name="connsiteY0" fmla="*/ 0 h 576946"/>
              <a:gd name="connsiteX1" fmla="*/ 0 w 1278560"/>
              <a:gd name="connsiteY1" fmla="*/ 489857 h 576946"/>
              <a:gd name="connsiteX2" fmla="*/ 190046 w 1278560"/>
              <a:gd name="connsiteY2" fmla="*/ 546100 h 576946"/>
              <a:gd name="connsiteX3" fmla="*/ 397282 w 1278560"/>
              <a:gd name="connsiteY3" fmla="*/ 572407 h 576946"/>
              <a:gd name="connsiteX4" fmla="*/ 590096 w 1278560"/>
              <a:gd name="connsiteY4" fmla="*/ 574675 h 576946"/>
              <a:gd name="connsiteX5" fmla="*/ 848899 w 1278560"/>
              <a:gd name="connsiteY5" fmla="*/ 551996 h 576946"/>
              <a:gd name="connsiteX6" fmla="*/ 1061588 w 1278560"/>
              <a:gd name="connsiteY6" fmla="*/ 507999 h 576946"/>
              <a:gd name="connsiteX7" fmla="*/ 1278560 w 1278560"/>
              <a:gd name="connsiteY7" fmla="*/ 426811 h 576946"/>
              <a:gd name="connsiteX0" fmla="*/ 858367 w 1320499"/>
              <a:gd name="connsiteY0" fmla="*/ 0 h 576946"/>
              <a:gd name="connsiteX1" fmla="*/ 41939 w 1320499"/>
              <a:gd name="connsiteY1" fmla="*/ 489857 h 576946"/>
              <a:gd name="connsiteX2" fmla="*/ 129861 w 1320499"/>
              <a:gd name="connsiteY2" fmla="*/ 511174 h 576946"/>
              <a:gd name="connsiteX3" fmla="*/ 231985 w 1320499"/>
              <a:gd name="connsiteY3" fmla="*/ 546100 h 576946"/>
              <a:gd name="connsiteX4" fmla="*/ 439221 w 1320499"/>
              <a:gd name="connsiteY4" fmla="*/ 572407 h 576946"/>
              <a:gd name="connsiteX5" fmla="*/ 632035 w 1320499"/>
              <a:gd name="connsiteY5" fmla="*/ 574675 h 576946"/>
              <a:gd name="connsiteX6" fmla="*/ 890838 w 1320499"/>
              <a:gd name="connsiteY6" fmla="*/ 551996 h 576946"/>
              <a:gd name="connsiteX7" fmla="*/ 1103527 w 1320499"/>
              <a:gd name="connsiteY7" fmla="*/ 507999 h 576946"/>
              <a:gd name="connsiteX8" fmla="*/ 1320499 w 1320499"/>
              <a:gd name="connsiteY8" fmla="*/ 426811 h 576946"/>
              <a:gd name="connsiteX0" fmla="*/ 816428 w 1278560"/>
              <a:gd name="connsiteY0" fmla="*/ 0 h 576946"/>
              <a:gd name="connsiteX1" fmla="*/ 0 w 1278560"/>
              <a:gd name="connsiteY1" fmla="*/ 489857 h 576946"/>
              <a:gd name="connsiteX2" fmla="*/ 87922 w 1278560"/>
              <a:gd name="connsiteY2" fmla="*/ 511174 h 576946"/>
              <a:gd name="connsiteX3" fmla="*/ 190046 w 1278560"/>
              <a:gd name="connsiteY3" fmla="*/ 546100 h 576946"/>
              <a:gd name="connsiteX4" fmla="*/ 397282 w 1278560"/>
              <a:gd name="connsiteY4" fmla="*/ 572407 h 576946"/>
              <a:gd name="connsiteX5" fmla="*/ 590096 w 1278560"/>
              <a:gd name="connsiteY5" fmla="*/ 574675 h 576946"/>
              <a:gd name="connsiteX6" fmla="*/ 848899 w 1278560"/>
              <a:gd name="connsiteY6" fmla="*/ 551996 h 576946"/>
              <a:gd name="connsiteX7" fmla="*/ 1061588 w 1278560"/>
              <a:gd name="connsiteY7" fmla="*/ 507999 h 576946"/>
              <a:gd name="connsiteX8" fmla="*/ 1278560 w 1278560"/>
              <a:gd name="connsiteY8" fmla="*/ 426811 h 576946"/>
              <a:gd name="connsiteX0" fmla="*/ 816428 w 1278560"/>
              <a:gd name="connsiteY0" fmla="*/ 0 h 576946"/>
              <a:gd name="connsiteX1" fmla="*/ 0 w 1278560"/>
              <a:gd name="connsiteY1" fmla="*/ 489857 h 576946"/>
              <a:gd name="connsiteX2" fmla="*/ 68384 w 1278560"/>
              <a:gd name="connsiteY2" fmla="*/ 507999 h 576946"/>
              <a:gd name="connsiteX3" fmla="*/ 190046 w 1278560"/>
              <a:gd name="connsiteY3" fmla="*/ 546100 h 576946"/>
              <a:gd name="connsiteX4" fmla="*/ 397282 w 1278560"/>
              <a:gd name="connsiteY4" fmla="*/ 572407 h 576946"/>
              <a:gd name="connsiteX5" fmla="*/ 590096 w 1278560"/>
              <a:gd name="connsiteY5" fmla="*/ 574675 h 576946"/>
              <a:gd name="connsiteX6" fmla="*/ 848899 w 1278560"/>
              <a:gd name="connsiteY6" fmla="*/ 551996 h 576946"/>
              <a:gd name="connsiteX7" fmla="*/ 1061588 w 1278560"/>
              <a:gd name="connsiteY7" fmla="*/ 507999 h 576946"/>
              <a:gd name="connsiteX8" fmla="*/ 1278560 w 1278560"/>
              <a:gd name="connsiteY8" fmla="*/ 426811 h 576946"/>
              <a:gd name="connsiteX0" fmla="*/ 816428 w 1278560"/>
              <a:gd name="connsiteY0" fmla="*/ 0 h 576946"/>
              <a:gd name="connsiteX1" fmla="*/ 0 w 1278560"/>
              <a:gd name="connsiteY1" fmla="*/ 489857 h 576946"/>
              <a:gd name="connsiteX2" fmla="*/ 68384 w 1278560"/>
              <a:gd name="connsiteY2" fmla="*/ 517524 h 576946"/>
              <a:gd name="connsiteX3" fmla="*/ 190046 w 1278560"/>
              <a:gd name="connsiteY3" fmla="*/ 546100 h 576946"/>
              <a:gd name="connsiteX4" fmla="*/ 397282 w 1278560"/>
              <a:gd name="connsiteY4" fmla="*/ 572407 h 576946"/>
              <a:gd name="connsiteX5" fmla="*/ 590096 w 1278560"/>
              <a:gd name="connsiteY5" fmla="*/ 574675 h 576946"/>
              <a:gd name="connsiteX6" fmla="*/ 848899 w 1278560"/>
              <a:gd name="connsiteY6" fmla="*/ 551996 h 576946"/>
              <a:gd name="connsiteX7" fmla="*/ 1061588 w 1278560"/>
              <a:gd name="connsiteY7" fmla="*/ 507999 h 576946"/>
              <a:gd name="connsiteX8" fmla="*/ 1278560 w 1278560"/>
              <a:gd name="connsiteY8" fmla="*/ 426811 h 576946"/>
              <a:gd name="connsiteX0" fmla="*/ 816428 w 1278560"/>
              <a:gd name="connsiteY0" fmla="*/ 0 h 576946"/>
              <a:gd name="connsiteX1" fmla="*/ 0 w 1278560"/>
              <a:gd name="connsiteY1" fmla="*/ 489857 h 576946"/>
              <a:gd name="connsiteX2" fmla="*/ 68384 w 1278560"/>
              <a:gd name="connsiteY2" fmla="*/ 517524 h 576946"/>
              <a:gd name="connsiteX3" fmla="*/ 193302 w 1278560"/>
              <a:gd name="connsiteY3" fmla="*/ 549275 h 576946"/>
              <a:gd name="connsiteX4" fmla="*/ 397282 w 1278560"/>
              <a:gd name="connsiteY4" fmla="*/ 572407 h 576946"/>
              <a:gd name="connsiteX5" fmla="*/ 590096 w 1278560"/>
              <a:gd name="connsiteY5" fmla="*/ 574675 h 576946"/>
              <a:gd name="connsiteX6" fmla="*/ 848899 w 1278560"/>
              <a:gd name="connsiteY6" fmla="*/ 551996 h 576946"/>
              <a:gd name="connsiteX7" fmla="*/ 1061588 w 1278560"/>
              <a:gd name="connsiteY7" fmla="*/ 507999 h 576946"/>
              <a:gd name="connsiteX8" fmla="*/ 1278560 w 1278560"/>
              <a:gd name="connsiteY8" fmla="*/ 426811 h 576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8560" h="576946">
                <a:moveTo>
                  <a:pt x="816428" y="0"/>
                </a:moveTo>
                <a:lnTo>
                  <a:pt x="0" y="489857"/>
                </a:lnTo>
                <a:lnTo>
                  <a:pt x="68384" y="517524"/>
                </a:lnTo>
                <a:cubicBezTo>
                  <a:pt x="100058" y="526898"/>
                  <a:pt x="141742" y="539070"/>
                  <a:pt x="193302" y="549275"/>
                </a:cubicBezTo>
                <a:cubicBezTo>
                  <a:pt x="256802" y="561975"/>
                  <a:pt x="330607" y="567645"/>
                  <a:pt x="397282" y="572407"/>
                </a:cubicBezTo>
                <a:cubicBezTo>
                  <a:pt x="463957" y="577170"/>
                  <a:pt x="520254" y="578606"/>
                  <a:pt x="590096" y="574675"/>
                </a:cubicBezTo>
                <a:cubicBezTo>
                  <a:pt x="657224" y="572861"/>
                  <a:pt x="790691" y="560463"/>
                  <a:pt x="848899" y="551996"/>
                </a:cubicBezTo>
                <a:cubicBezTo>
                  <a:pt x="926938" y="538238"/>
                  <a:pt x="989978" y="527805"/>
                  <a:pt x="1061588" y="507999"/>
                </a:cubicBezTo>
                <a:cubicBezTo>
                  <a:pt x="1133198" y="488193"/>
                  <a:pt x="1241855" y="437696"/>
                  <a:pt x="1278560" y="426811"/>
                </a:cubicBezTo>
              </a:path>
            </a:pathLst>
          </a:custGeom>
          <a:solidFill>
            <a:schemeClr val="accent5">
              <a:lumMod val="90000"/>
            </a:schemeClr>
          </a:solidFill>
          <a:ln w="9525" cap="flat" cmpd="sng" algn="ctr">
            <a:solidFill>
              <a:srgbClr val="000066"/>
            </a:solidFill>
            <a:prstDash val="dash"/>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37"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
        <p:nvSpPr>
          <p:cNvPr id="92" name="等腰三角形 91"/>
          <p:cNvSpPr/>
          <p:nvPr/>
        </p:nvSpPr>
        <p:spPr bwMode="auto">
          <a:xfrm flipV="1">
            <a:off x="2378982" y="4458607"/>
            <a:ext cx="932544" cy="423030"/>
          </a:xfrm>
          <a:prstGeom prst="triangle">
            <a:avLst/>
          </a:prstGeom>
          <a:solidFill>
            <a:schemeClr val="accent5">
              <a:lumMod val="90000"/>
            </a:schemeClr>
          </a:solidFill>
          <a:ln w="9525" cap="flat" cmpd="sng" algn="ctr">
            <a:solidFill>
              <a:srgbClr val="000066"/>
            </a:solidFill>
            <a:prstDash val="dash"/>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39" name="Rectangle 24" descr="深色上对角线"/>
          <p:cNvSpPr>
            <a:spLocks noChangeArrowheads="1"/>
          </p:cNvSpPr>
          <p:nvPr/>
        </p:nvSpPr>
        <p:spPr bwMode="auto">
          <a:xfrm>
            <a:off x="2386304" y="4316345"/>
            <a:ext cx="930275" cy="152400"/>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Tree>
    <p:extLst>
      <p:ext uri="{BB962C8B-B14F-4D97-AF65-F5344CB8AC3E}">
        <p14:creationId xmlns:p14="http://schemas.microsoft.com/office/powerpoint/2010/main" val="87074488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inVertical)">
                                      <p:cBhvr>
                                        <p:cTn id="7" dur="500"/>
                                        <p:tgtEl>
                                          <p:spTgt spid="2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barn(inVertical)">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4000" fill="hold" nodeType="clickEffect">
                                  <p:stCondLst>
                                    <p:cond delay="0"/>
                                  </p:stCondLst>
                                  <p:childTnLst>
                                    <p:anim calcmode="discrete" valueType="str">
                                      <p:cBhvr>
                                        <p:cTn id="14" dur="1000" fill="hold"/>
                                        <p:tgtEl>
                                          <p:spTgt spid="7"/>
                                        </p:tgtEl>
                                        <p:attrNameLst>
                                          <p:attrName>style.visibility</p:attrName>
                                        </p:attrNameLst>
                                      </p:cBhvr>
                                      <p:tavLst>
                                        <p:tav tm="0">
                                          <p:val>
                                            <p:strVal val="hidden"/>
                                          </p:val>
                                        </p:tav>
                                        <p:tav tm="50000">
                                          <p:val>
                                            <p:strVal val="visible"/>
                                          </p:val>
                                        </p:tav>
                                      </p:tavLst>
                                    </p:anim>
                                  </p:childTnLst>
                                </p:cTn>
                              </p:par>
                              <p:par>
                                <p:cTn id="15" presetID="35" presetClass="emph" presetSubtype="0" repeatCount="4000" fill="hold" grpId="0" nodeType="withEffect">
                                  <p:stCondLst>
                                    <p:cond delay="0"/>
                                  </p:stCondLst>
                                  <p:childTnLst>
                                    <p:anim calcmode="discrete" valueType="str">
                                      <p:cBhvr>
                                        <p:cTn id="16" dur="1000" fill="hold"/>
                                        <p:tgtEl>
                                          <p:spTgt spid="68"/>
                                        </p:tgtEl>
                                        <p:attrNameLst>
                                          <p:attrName>style.visibility</p:attrName>
                                        </p:attrNameLst>
                                      </p:cBhvr>
                                      <p:tavLst>
                                        <p:tav tm="0">
                                          <p:val>
                                            <p:strVal val="hidden"/>
                                          </p:val>
                                        </p:tav>
                                        <p:tav tm="50000">
                                          <p:val>
                                            <p:strVal val="visible"/>
                                          </p:val>
                                        </p:tav>
                                      </p:tavLst>
                                    </p:anim>
                                  </p:childTnLst>
                                </p:cTn>
                              </p:par>
                              <p:par>
                                <p:cTn id="17" presetID="35" presetClass="emph" presetSubtype="0" repeatCount="4000" fill="hold" grpId="0" nodeType="withEffect">
                                  <p:stCondLst>
                                    <p:cond delay="0"/>
                                  </p:stCondLst>
                                  <p:childTnLst>
                                    <p:anim calcmode="discrete" valueType="str">
                                      <p:cBhvr>
                                        <p:cTn id="1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7" grpId="0"/>
      <p:bldP spid="4" grpId="0" animBg="1"/>
      <p:bldP spid="6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bwMode="auto">
          <a:xfrm>
            <a:off x="735256" y="4289265"/>
            <a:ext cx="4245997" cy="1184744"/>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3" name="任意多边形 2"/>
          <p:cNvSpPr/>
          <p:nvPr/>
        </p:nvSpPr>
        <p:spPr bwMode="auto">
          <a:xfrm>
            <a:off x="2247900" y="4720936"/>
            <a:ext cx="1219200" cy="529146"/>
          </a:xfrm>
          <a:custGeom>
            <a:avLst/>
            <a:gdLst>
              <a:gd name="connsiteX0" fmla="*/ 114300 w 1219200"/>
              <a:gd name="connsiteY0" fmla="*/ 0 h 671946"/>
              <a:gd name="connsiteX1" fmla="*/ 0 w 1219200"/>
              <a:gd name="connsiteY1" fmla="*/ 103909 h 671946"/>
              <a:gd name="connsiteX2" fmla="*/ 0 w 1219200"/>
              <a:gd name="connsiteY2" fmla="*/ 554182 h 671946"/>
              <a:gd name="connsiteX3" fmla="*/ 117764 w 1219200"/>
              <a:gd name="connsiteY3" fmla="*/ 671946 h 671946"/>
              <a:gd name="connsiteX4" fmla="*/ 1091045 w 1219200"/>
              <a:gd name="connsiteY4" fmla="*/ 671946 h 671946"/>
              <a:gd name="connsiteX5" fmla="*/ 1219200 w 1219200"/>
              <a:gd name="connsiteY5" fmla="*/ 543791 h 671946"/>
              <a:gd name="connsiteX6" fmla="*/ 1219200 w 1219200"/>
              <a:gd name="connsiteY6" fmla="*/ 79664 h 671946"/>
              <a:gd name="connsiteX7" fmla="*/ 1070264 w 1219200"/>
              <a:gd name="connsiteY7" fmla="*/ 6928 h 671946"/>
              <a:gd name="connsiteX8" fmla="*/ 114300 w 1219200"/>
              <a:gd name="connsiteY8" fmla="*/ 0 h 671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 h="671946">
                <a:moveTo>
                  <a:pt x="114300" y="0"/>
                </a:moveTo>
                <a:lnTo>
                  <a:pt x="0" y="103909"/>
                </a:lnTo>
                <a:lnTo>
                  <a:pt x="0" y="554182"/>
                </a:lnTo>
                <a:lnTo>
                  <a:pt x="117764" y="671946"/>
                </a:lnTo>
                <a:lnTo>
                  <a:pt x="1091045" y="671946"/>
                </a:lnTo>
                <a:lnTo>
                  <a:pt x="1219200" y="543791"/>
                </a:lnTo>
                <a:lnTo>
                  <a:pt x="1219200" y="79664"/>
                </a:lnTo>
                <a:lnTo>
                  <a:pt x="1070264" y="6928"/>
                </a:lnTo>
                <a:lnTo>
                  <a:pt x="114300" y="0"/>
                </a:lnTo>
                <a:close/>
              </a:path>
            </a:pathLst>
          </a:cu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 name="任意多边形 16"/>
          <p:cNvSpPr/>
          <p:nvPr/>
        </p:nvSpPr>
        <p:spPr bwMode="auto">
          <a:xfrm>
            <a:off x="2222339" y="4288420"/>
            <a:ext cx="1261641" cy="292261"/>
          </a:xfrm>
          <a:custGeom>
            <a:avLst/>
            <a:gdLst>
              <a:gd name="connsiteX0" fmla="*/ 0 w 1261641"/>
              <a:gd name="connsiteY0" fmla="*/ 0 h 292261"/>
              <a:gd name="connsiteX1" fmla="*/ 1261641 w 1261641"/>
              <a:gd name="connsiteY1" fmla="*/ 0 h 292261"/>
              <a:gd name="connsiteX2" fmla="*/ 1134319 w 1261641"/>
              <a:gd name="connsiteY2" fmla="*/ 40512 h 292261"/>
              <a:gd name="connsiteX3" fmla="*/ 1102489 w 1261641"/>
              <a:gd name="connsiteY3" fmla="*/ 101279 h 292261"/>
              <a:gd name="connsiteX4" fmla="*/ 1108276 w 1261641"/>
              <a:gd name="connsiteY4" fmla="*/ 280686 h 292261"/>
              <a:gd name="connsiteX5" fmla="*/ 159152 w 1261641"/>
              <a:gd name="connsiteY5" fmla="*/ 292261 h 292261"/>
              <a:gd name="connsiteX6" fmla="*/ 159152 w 1261641"/>
              <a:gd name="connsiteY6" fmla="*/ 92598 h 292261"/>
              <a:gd name="connsiteX7" fmla="*/ 127322 w 1261641"/>
              <a:gd name="connsiteY7" fmla="*/ 46299 h 292261"/>
              <a:gd name="connsiteX8" fmla="*/ 0 w 1261641"/>
              <a:gd name="connsiteY8" fmla="*/ 0 h 292261"/>
              <a:gd name="connsiteX0" fmla="*/ 0 w 1261641"/>
              <a:gd name="connsiteY0" fmla="*/ 0 h 292261"/>
              <a:gd name="connsiteX1" fmla="*/ 1261641 w 1261641"/>
              <a:gd name="connsiteY1" fmla="*/ 0 h 292261"/>
              <a:gd name="connsiteX2" fmla="*/ 1134319 w 1261641"/>
              <a:gd name="connsiteY2" fmla="*/ 40512 h 292261"/>
              <a:gd name="connsiteX3" fmla="*/ 1102489 w 1261641"/>
              <a:gd name="connsiteY3" fmla="*/ 101279 h 292261"/>
              <a:gd name="connsiteX4" fmla="*/ 1108276 w 1261641"/>
              <a:gd name="connsiteY4" fmla="*/ 280686 h 292261"/>
              <a:gd name="connsiteX5" fmla="*/ 159152 w 1261641"/>
              <a:gd name="connsiteY5" fmla="*/ 292261 h 292261"/>
              <a:gd name="connsiteX6" fmla="*/ 159152 w 1261641"/>
              <a:gd name="connsiteY6" fmla="*/ 92598 h 292261"/>
              <a:gd name="connsiteX7" fmla="*/ 127322 w 1261641"/>
              <a:gd name="connsiteY7" fmla="*/ 46299 h 292261"/>
              <a:gd name="connsiteX8" fmla="*/ 98586 w 1261641"/>
              <a:gd name="connsiteY8" fmla="*/ 18468 h 292261"/>
              <a:gd name="connsiteX9" fmla="*/ 0 w 1261641"/>
              <a:gd name="connsiteY9" fmla="*/ 0 h 292261"/>
              <a:gd name="connsiteX0" fmla="*/ 0 w 1261641"/>
              <a:gd name="connsiteY0" fmla="*/ 0 h 292261"/>
              <a:gd name="connsiteX1" fmla="*/ 1261641 w 1261641"/>
              <a:gd name="connsiteY1" fmla="*/ 0 h 292261"/>
              <a:gd name="connsiteX2" fmla="*/ 1134319 w 1261641"/>
              <a:gd name="connsiteY2" fmla="*/ 40512 h 292261"/>
              <a:gd name="connsiteX3" fmla="*/ 1102489 w 1261641"/>
              <a:gd name="connsiteY3" fmla="*/ 101279 h 292261"/>
              <a:gd name="connsiteX4" fmla="*/ 1108276 w 1261641"/>
              <a:gd name="connsiteY4" fmla="*/ 280686 h 292261"/>
              <a:gd name="connsiteX5" fmla="*/ 159152 w 1261641"/>
              <a:gd name="connsiteY5" fmla="*/ 292261 h 292261"/>
              <a:gd name="connsiteX6" fmla="*/ 159152 w 1261641"/>
              <a:gd name="connsiteY6" fmla="*/ 92598 h 292261"/>
              <a:gd name="connsiteX7" fmla="*/ 130497 w 1261641"/>
              <a:gd name="connsiteY7" fmla="*/ 46299 h 292261"/>
              <a:gd name="connsiteX8" fmla="*/ 98586 w 1261641"/>
              <a:gd name="connsiteY8" fmla="*/ 18468 h 292261"/>
              <a:gd name="connsiteX9" fmla="*/ 0 w 1261641"/>
              <a:gd name="connsiteY9" fmla="*/ 0 h 292261"/>
              <a:gd name="connsiteX0" fmla="*/ 0 w 1261641"/>
              <a:gd name="connsiteY0" fmla="*/ 0 h 292261"/>
              <a:gd name="connsiteX1" fmla="*/ 1261641 w 1261641"/>
              <a:gd name="connsiteY1" fmla="*/ 0 h 292261"/>
              <a:gd name="connsiteX2" fmla="*/ 1190786 w 1261641"/>
              <a:gd name="connsiteY2" fmla="*/ 12118 h 292261"/>
              <a:gd name="connsiteX3" fmla="*/ 1134319 w 1261641"/>
              <a:gd name="connsiteY3" fmla="*/ 40512 h 292261"/>
              <a:gd name="connsiteX4" fmla="*/ 1102489 w 1261641"/>
              <a:gd name="connsiteY4" fmla="*/ 101279 h 292261"/>
              <a:gd name="connsiteX5" fmla="*/ 1108276 w 1261641"/>
              <a:gd name="connsiteY5" fmla="*/ 280686 h 292261"/>
              <a:gd name="connsiteX6" fmla="*/ 159152 w 1261641"/>
              <a:gd name="connsiteY6" fmla="*/ 292261 h 292261"/>
              <a:gd name="connsiteX7" fmla="*/ 159152 w 1261641"/>
              <a:gd name="connsiteY7" fmla="*/ 92598 h 292261"/>
              <a:gd name="connsiteX8" fmla="*/ 130497 w 1261641"/>
              <a:gd name="connsiteY8" fmla="*/ 46299 h 292261"/>
              <a:gd name="connsiteX9" fmla="*/ 98586 w 1261641"/>
              <a:gd name="connsiteY9" fmla="*/ 18468 h 292261"/>
              <a:gd name="connsiteX10" fmla="*/ 0 w 1261641"/>
              <a:gd name="connsiteY10" fmla="*/ 0 h 292261"/>
              <a:gd name="connsiteX0" fmla="*/ 0 w 1261641"/>
              <a:gd name="connsiteY0" fmla="*/ 0 h 292261"/>
              <a:gd name="connsiteX1" fmla="*/ 1261641 w 1261641"/>
              <a:gd name="connsiteY1" fmla="*/ 0 h 292261"/>
              <a:gd name="connsiteX2" fmla="*/ 1190786 w 1261641"/>
              <a:gd name="connsiteY2" fmla="*/ 12118 h 292261"/>
              <a:gd name="connsiteX3" fmla="*/ 1126381 w 1261641"/>
              <a:gd name="connsiteY3" fmla="*/ 40512 h 292261"/>
              <a:gd name="connsiteX4" fmla="*/ 1102489 w 1261641"/>
              <a:gd name="connsiteY4" fmla="*/ 101279 h 292261"/>
              <a:gd name="connsiteX5" fmla="*/ 1108276 w 1261641"/>
              <a:gd name="connsiteY5" fmla="*/ 280686 h 292261"/>
              <a:gd name="connsiteX6" fmla="*/ 159152 w 1261641"/>
              <a:gd name="connsiteY6" fmla="*/ 292261 h 292261"/>
              <a:gd name="connsiteX7" fmla="*/ 159152 w 1261641"/>
              <a:gd name="connsiteY7" fmla="*/ 92598 h 292261"/>
              <a:gd name="connsiteX8" fmla="*/ 130497 w 1261641"/>
              <a:gd name="connsiteY8" fmla="*/ 46299 h 292261"/>
              <a:gd name="connsiteX9" fmla="*/ 98586 w 1261641"/>
              <a:gd name="connsiteY9" fmla="*/ 18468 h 292261"/>
              <a:gd name="connsiteX10" fmla="*/ 0 w 1261641"/>
              <a:gd name="connsiteY10" fmla="*/ 0 h 292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641" h="292261">
                <a:moveTo>
                  <a:pt x="0" y="0"/>
                </a:moveTo>
                <a:lnTo>
                  <a:pt x="1261641" y="0"/>
                </a:lnTo>
                <a:cubicBezTo>
                  <a:pt x="1238023" y="7214"/>
                  <a:pt x="1214404" y="4904"/>
                  <a:pt x="1190786" y="12118"/>
                </a:cubicBezTo>
                <a:lnTo>
                  <a:pt x="1126381" y="40512"/>
                </a:lnTo>
                <a:lnTo>
                  <a:pt x="1102489" y="101279"/>
                </a:lnTo>
                <a:lnTo>
                  <a:pt x="1108276" y="280686"/>
                </a:lnTo>
                <a:lnTo>
                  <a:pt x="159152" y="292261"/>
                </a:lnTo>
                <a:lnTo>
                  <a:pt x="159152" y="92598"/>
                </a:lnTo>
                <a:lnTo>
                  <a:pt x="130497" y="46299"/>
                </a:lnTo>
                <a:cubicBezTo>
                  <a:pt x="116156" y="41255"/>
                  <a:pt x="112927" y="23512"/>
                  <a:pt x="98586" y="18468"/>
                </a:cubicBezTo>
                <a:lnTo>
                  <a:pt x="0" y="0"/>
                </a:lnTo>
                <a:close/>
              </a:path>
            </a:pathLst>
          </a:custGeom>
          <a:solidFill>
            <a:schemeClr val="bg1"/>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16</a:t>
            </a:fld>
            <a:endParaRPr lang="zh-CN" altLang="en-US" dirty="0">
              <a:solidFill>
                <a:srgbClr val="C00000"/>
              </a:solidFill>
            </a:endParaRPr>
          </a:p>
        </p:txBody>
      </p:sp>
      <p:sp>
        <p:nvSpPr>
          <p:cNvPr id="8" name="Text Box 46"/>
          <p:cNvSpPr txBox="1">
            <a:spLocks noChangeArrowheads="1"/>
          </p:cNvSpPr>
          <p:nvPr/>
        </p:nvSpPr>
        <p:spPr bwMode="auto">
          <a:xfrm>
            <a:off x="384649" y="601804"/>
            <a:ext cx="5439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地基失稳的三种破坏形式</a:t>
            </a:r>
          </a:p>
        </p:txBody>
      </p:sp>
      <p:sp>
        <p:nvSpPr>
          <p:cNvPr id="56" name="Text Box 2"/>
          <p:cNvSpPr txBox="1">
            <a:spLocks noChangeArrowheads="1"/>
          </p:cNvSpPr>
          <p:nvPr/>
        </p:nvSpPr>
        <p:spPr bwMode="auto">
          <a:xfrm>
            <a:off x="2032000" y="5773566"/>
            <a:ext cx="64346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竖直荷载下地基的破坏形式</a:t>
            </a:r>
          </a:p>
        </p:txBody>
      </p:sp>
      <p:sp>
        <p:nvSpPr>
          <p:cNvPr id="27" name="矩形 26"/>
          <p:cNvSpPr/>
          <p:nvPr/>
        </p:nvSpPr>
        <p:spPr>
          <a:xfrm>
            <a:off x="718557" y="1214026"/>
            <a:ext cx="1885453" cy="517065"/>
          </a:xfrm>
          <a:prstGeom prst="rect">
            <a:avLst/>
          </a:prstGeom>
        </p:spPr>
        <p:txBody>
          <a:bodyPr wrap="none">
            <a:spAutoFit/>
          </a:bodyPr>
          <a:lstStyle/>
          <a:p>
            <a:r>
              <a:rPr lang="en-US" altLang="zh-CN" sz="2400" b="1" dirty="0">
                <a:solidFill>
                  <a:srgbClr val="000066"/>
                </a:solidFill>
                <a:ea typeface="幼圆" panose="02010509060101010101" pitchFamily="49" charset="-122"/>
                <a:cs typeface="Times New Roman" panose="02020603050405020304" pitchFamily="18" charset="0"/>
              </a:rPr>
              <a:t>3</a:t>
            </a:r>
            <a:r>
              <a:rPr lang="zh-CN" altLang="en-US" sz="2400" b="1" dirty="0">
                <a:solidFill>
                  <a:srgbClr val="000066"/>
                </a:solidFill>
                <a:ea typeface="幼圆" panose="02010509060101010101" pitchFamily="49" charset="-122"/>
                <a:cs typeface="Times New Roman" panose="02020603050405020304" pitchFamily="18" charset="0"/>
              </a:rPr>
              <a:t>）</a:t>
            </a:r>
            <a:r>
              <a:rPr lang="zh-CN" altLang="en-US" sz="2400" b="1" dirty="0">
                <a:solidFill>
                  <a:srgbClr val="C00000"/>
                </a:solidFill>
                <a:ea typeface="幼圆" panose="02010509060101010101" pitchFamily="49" charset="-122"/>
                <a:cs typeface="Times New Roman" panose="02020603050405020304" pitchFamily="18" charset="0"/>
              </a:rPr>
              <a:t>冲剪破坏</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33" name="Text Box 15"/>
          <p:cNvSpPr txBox="1">
            <a:spLocks noChangeArrowheads="1"/>
          </p:cNvSpPr>
          <p:nvPr/>
        </p:nvSpPr>
        <p:spPr bwMode="auto">
          <a:xfrm>
            <a:off x="5946684" y="4517352"/>
            <a:ext cx="30489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s</a:t>
            </a:r>
            <a:endParaRPr kumimoji="1" lang="en-US" altLang="zh-CN" sz="2400" b="1" dirty="0">
              <a:solidFill>
                <a:srgbClr val="000066"/>
              </a:solidFill>
              <a:latin typeface="Times New Roman" panose="02020603050405020304" pitchFamily="18" charset="0"/>
            </a:endParaRPr>
          </a:p>
        </p:txBody>
      </p:sp>
      <p:sp>
        <p:nvSpPr>
          <p:cNvPr id="34" name="Text Box 16"/>
          <p:cNvSpPr txBox="1">
            <a:spLocks noChangeArrowheads="1"/>
          </p:cNvSpPr>
          <p:nvPr/>
        </p:nvSpPr>
        <p:spPr bwMode="auto">
          <a:xfrm>
            <a:off x="8136008" y="1007460"/>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endParaRPr kumimoji="1" lang="en-US" altLang="zh-CN" sz="2400" b="1" dirty="0">
              <a:solidFill>
                <a:srgbClr val="000066"/>
              </a:solidFill>
              <a:latin typeface="Times New Roman" panose="02020603050405020304" pitchFamily="18" charset="0"/>
            </a:endParaRPr>
          </a:p>
        </p:txBody>
      </p:sp>
      <p:sp>
        <p:nvSpPr>
          <p:cNvPr id="36" name="Text Box 17"/>
          <p:cNvSpPr txBox="1">
            <a:spLocks noChangeArrowheads="1"/>
          </p:cNvSpPr>
          <p:nvPr/>
        </p:nvSpPr>
        <p:spPr bwMode="auto">
          <a:xfrm>
            <a:off x="5744844" y="1072506"/>
            <a:ext cx="42351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rPr>
              <a:t>O</a:t>
            </a:r>
          </a:p>
        </p:txBody>
      </p:sp>
      <p:sp>
        <p:nvSpPr>
          <p:cNvPr id="40" name="任意多边形 39"/>
          <p:cNvSpPr/>
          <p:nvPr/>
        </p:nvSpPr>
        <p:spPr bwMode="auto">
          <a:xfrm>
            <a:off x="5900321" y="1561838"/>
            <a:ext cx="2742936" cy="3312000"/>
          </a:xfrm>
          <a:custGeom>
            <a:avLst/>
            <a:gdLst>
              <a:gd name="connsiteX0" fmla="*/ 2772137 w 2772137"/>
              <a:gd name="connsiteY0" fmla="*/ 0 h 3466618"/>
              <a:gd name="connsiteX1" fmla="*/ 0 w 2772137"/>
              <a:gd name="connsiteY1" fmla="*/ 0 h 3466618"/>
              <a:gd name="connsiteX2" fmla="*/ 0 w 2772137"/>
              <a:gd name="connsiteY2" fmla="*/ 3466618 h 3466618"/>
            </a:gdLst>
            <a:ahLst/>
            <a:cxnLst>
              <a:cxn ang="0">
                <a:pos x="connsiteX0" y="connsiteY0"/>
              </a:cxn>
              <a:cxn ang="0">
                <a:pos x="connsiteX1" y="connsiteY1"/>
              </a:cxn>
              <a:cxn ang="0">
                <a:pos x="connsiteX2" y="connsiteY2"/>
              </a:cxn>
            </a:cxnLst>
            <a:rect l="l" t="t" r="r" b="b"/>
            <a:pathLst>
              <a:path w="2772137" h="3466618">
                <a:moveTo>
                  <a:pt x="2772137" y="0"/>
                </a:moveTo>
                <a:lnTo>
                  <a:pt x="0" y="0"/>
                </a:lnTo>
                <a:lnTo>
                  <a:pt x="0" y="3466618"/>
                </a:lnTo>
              </a:path>
            </a:pathLst>
          </a:custGeom>
          <a:noFill/>
          <a:ln w="28575"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1" name="任意多边形 40"/>
          <p:cNvSpPr/>
          <p:nvPr/>
        </p:nvSpPr>
        <p:spPr bwMode="auto">
          <a:xfrm>
            <a:off x="5911894" y="1569402"/>
            <a:ext cx="2307342" cy="3024511"/>
          </a:xfrm>
          <a:custGeom>
            <a:avLst/>
            <a:gdLst>
              <a:gd name="connsiteX0" fmla="*/ 0 w 2453833"/>
              <a:gd name="connsiteY0" fmla="*/ 0 h 3090440"/>
              <a:gd name="connsiteX1" fmla="*/ 1116957 w 2453833"/>
              <a:gd name="connsiteY1" fmla="*/ 653969 h 3090440"/>
              <a:gd name="connsiteX2" fmla="*/ 1475772 w 2453833"/>
              <a:gd name="connsiteY2" fmla="*/ 850739 h 3090440"/>
              <a:gd name="connsiteX3" fmla="*/ 1678329 w 2453833"/>
              <a:gd name="connsiteY3" fmla="*/ 983848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53833 w 2453833"/>
              <a:gd name="connsiteY8"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786782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88131 w 2453833"/>
              <a:gd name="connsiteY6" fmla="*/ 1841076 h 3090440"/>
              <a:gd name="connsiteX7" fmla="*/ 2291172 w 2453833"/>
              <a:gd name="connsiteY7" fmla="*/ 2430683 h 3090440"/>
              <a:gd name="connsiteX8" fmla="*/ 2453833 w 2453833"/>
              <a:gd name="connsiteY8" fmla="*/ 3090440 h 3090440"/>
              <a:gd name="connsiteX0" fmla="*/ 0 w 2394916"/>
              <a:gd name="connsiteY0" fmla="*/ 0 h 3661343"/>
              <a:gd name="connsiteX1" fmla="*/ 1028187 w 2394916"/>
              <a:gd name="connsiteY1" fmla="*/ 353618 h 3661343"/>
              <a:gd name="connsiteX2" fmla="*/ 1508913 w 2394916"/>
              <a:gd name="connsiteY2" fmla="*/ 554870 h 3661343"/>
              <a:gd name="connsiteX3" fmla="*/ 1816240 w 2394916"/>
              <a:gd name="connsiteY3" fmla="*/ 882200 h 3661343"/>
              <a:gd name="connsiteX4" fmla="*/ 1979934 w 2394916"/>
              <a:gd name="connsiteY4" fmla="*/ 1140471 h 3661343"/>
              <a:gd name="connsiteX5" fmla="*/ 2094478 w 2394916"/>
              <a:gd name="connsiteY5" fmla="*/ 1451003 h 3661343"/>
              <a:gd name="connsiteX6" fmla="*/ 2188131 w 2394916"/>
              <a:gd name="connsiteY6" fmla="*/ 1841076 h 3661343"/>
              <a:gd name="connsiteX7" fmla="*/ 2291172 w 2394916"/>
              <a:gd name="connsiteY7" fmla="*/ 2430683 h 3661343"/>
              <a:gd name="connsiteX8" fmla="*/ 2394916 w 2394916"/>
              <a:gd name="connsiteY8" fmla="*/ 3661343 h 3661343"/>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291172 w 2402281"/>
              <a:gd name="connsiteY7" fmla="*/ 2430683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13266 w 2402281"/>
              <a:gd name="connsiteY7" fmla="*/ 2814064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206543 w 2402281"/>
              <a:gd name="connsiteY6" fmla="*/ 1907751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280127 w 2402281"/>
              <a:gd name="connsiteY8" fmla="*/ 2839066 h 4053058"/>
              <a:gd name="connsiteX9" fmla="*/ 2402281 w 2402281"/>
              <a:gd name="connsiteY9" fmla="*/ 4053058 h 4053058"/>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80127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54350 w 2299175"/>
              <a:gd name="connsiteY8" fmla="*/ 2997419 h 4073895"/>
              <a:gd name="connsiteX9" fmla="*/ 2299175 w 2299175"/>
              <a:gd name="connsiteY9" fmla="*/ 4073895 h 4073895"/>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816240 w 2262351"/>
              <a:gd name="connsiteY4" fmla="*/ 882200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2569 w 2262351"/>
              <a:gd name="connsiteY5" fmla="*/ 1115468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35938 w 2262351"/>
              <a:gd name="connsiteY8" fmla="*/ 3005754 h 4107232"/>
              <a:gd name="connsiteX9" fmla="*/ 2262351 w 2262351"/>
              <a:gd name="connsiteY9" fmla="*/ 4107232 h 4107232"/>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35938"/>
              <a:gd name="connsiteY0" fmla="*/ 0 h 4001022"/>
              <a:gd name="connsiteX1" fmla="*/ 976633 w 2235938"/>
              <a:gd name="connsiteY1" fmla="*/ 286942 h 4001022"/>
              <a:gd name="connsiteX2" fmla="*/ 1272134 w 2235938"/>
              <a:gd name="connsiteY2" fmla="*/ 403953 h 4001022"/>
              <a:gd name="connsiteX3" fmla="*/ 1508913 w 2235938"/>
              <a:gd name="connsiteY3" fmla="*/ 554870 h 4001022"/>
              <a:gd name="connsiteX4" fmla="*/ 1790464 w 2235938"/>
              <a:gd name="connsiteY4" fmla="*/ 811358 h 4001022"/>
              <a:gd name="connsiteX5" fmla="*/ 1983616 w 2235938"/>
              <a:gd name="connsiteY5" fmla="*/ 1077962 h 4001022"/>
              <a:gd name="connsiteX6" fmla="*/ 2094478 w 2235938"/>
              <a:gd name="connsiteY6" fmla="*/ 1451003 h 4001022"/>
              <a:gd name="connsiteX7" fmla="*/ 2162355 w 2235938"/>
              <a:gd name="connsiteY7" fmla="*/ 1920252 h 4001022"/>
              <a:gd name="connsiteX8" fmla="*/ 2235938 w 2235938"/>
              <a:gd name="connsiteY8" fmla="*/ 3005754 h 4001022"/>
              <a:gd name="connsiteX9" fmla="*/ 2228368 w 2235938"/>
              <a:gd name="connsiteY9" fmla="*/ 4001022 h 4001022"/>
              <a:gd name="connsiteX0" fmla="*/ 0 w 2228584"/>
              <a:gd name="connsiteY0" fmla="*/ 0 h 4001022"/>
              <a:gd name="connsiteX1" fmla="*/ 976633 w 2228584"/>
              <a:gd name="connsiteY1" fmla="*/ 286942 h 4001022"/>
              <a:gd name="connsiteX2" fmla="*/ 1272134 w 2228584"/>
              <a:gd name="connsiteY2" fmla="*/ 403953 h 4001022"/>
              <a:gd name="connsiteX3" fmla="*/ 1508913 w 2228584"/>
              <a:gd name="connsiteY3" fmla="*/ 554870 h 4001022"/>
              <a:gd name="connsiteX4" fmla="*/ 1790464 w 2228584"/>
              <a:gd name="connsiteY4" fmla="*/ 811358 h 4001022"/>
              <a:gd name="connsiteX5" fmla="*/ 1983616 w 2228584"/>
              <a:gd name="connsiteY5" fmla="*/ 1077962 h 4001022"/>
              <a:gd name="connsiteX6" fmla="*/ 2094478 w 2228584"/>
              <a:gd name="connsiteY6" fmla="*/ 1451003 h 4001022"/>
              <a:gd name="connsiteX7" fmla="*/ 2162355 w 2228584"/>
              <a:gd name="connsiteY7" fmla="*/ 1920252 h 4001022"/>
              <a:gd name="connsiteX8" fmla="*/ 2213002 w 2228584"/>
              <a:gd name="connsiteY8" fmla="*/ 3005755 h 4001022"/>
              <a:gd name="connsiteX9" fmla="*/ 2228368 w 2228584"/>
              <a:gd name="connsiteY9" fmla="*/ 4001022 h 4001022"/>
              <a:gd name="connsiteX0" fmla="*/ 0 w 2218549"/>
              <a:gd name="connsiteY0" fmla="*/ 0 h 3762911"/>
              <a:gd name="connsiteX1" fmla="*/ 976633 w 2218549"/>
              <a:gd name="connsiteY1" fmla="*/ 286942 h 3762911"/>
              <a:gd name="connsiteX2" fmla="*/ 1272134 w 2218549"/>
              <a:gd name="connsiteY2" fmla="*/ 403953 h 3762911"/>
              <a:gd name="connsiteX3" fmla="*/ 1508913 w 2218549"/>
              <a:gd name="connsiteY3" fmla="*/ 554870 h 3762911"/>
              <a:gd name="connsiteX4" fmla="*/ 1790464 w 2218549"/>
              <a:gd name="connsiteY4" fmla="*/ 811358 h 3762911"/>
              <a:gd name="connsiteX5" fmla="*/ 1983616 w 2218549"/>
              <a:gd name="connsiteY5" fmla="*/ 1077962 h 3762911"/>
              <a:gd name="connsiteX6" fmla="*/ 2094478 w 2218549"/>
              <a:gd name="connsiteY6" fmla="*/ 1451003 h 3762911"/>
              <a:gd name="connsiteX7" fmla="*/ 2162355 w 2218549"/>
              <a:gd name="connsiteY7" fmla="*/ 1920252 h 3762911"/>
              <a:gd name="connsiteX8" fmla="*/ 2213002 w 2218549"/>
              <a:gd name="connsiteY8" fmla="*/ 3005755 h 3762911"/>
              <a:gd name="connsiteX9" fmla="*/ 2218144 w 2218549"/>
              <a:gd name="connsiteY9" fmla="*/ 3762911 h 376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8549" h="3762911">
                <a:moveTo>
                  <a:pt x="0" y="0"/>
                </a:moveTo>
                <a:lnTo>
                  <a:pt x="976633" y="286942"/>
                </a:lnTo>
                <a:cubicBezTo>
                  <a:pt x="1059176" y="321778"/>
                  <a:pt x="1189591" y="369117"/>
                  <a:pt x="1272134" y="403953"/>
                </a:cubicBezTo>
                <a:cubicBezTo>
                  <a:pt x="1359006" y="448608"/>
                  <a:pt x="1424980" y="489053"/>
                  <a:pt x="1508913" y="554870"/>
                </a:cubicBezTo>
                <a:cubicBezTo>
                  <a:pt x="1617547" y="622131"/>
                  <a:pt x="1728531" y="756124"/>
                  <a:pt x="1790464" y="811358"/>
                </a:cubicBezTo>
                <a:cubicBezTo>
                  <a:pt x="1852397" y="866592"/>
                  <a:pt x="1926810" y="1001914"/>
                  <a:pt x="1983616" y="1077962"/>
                </a:cubicBezTo>
                <a:cubicBezTo>
                  <a:pt x="2034285" y="1184570"/>
                  <a:pt x="2064688" y="1310621"/>
                  <a:pt x="2094478" y="1451003"/>
                </a:cubicBezTo>
                <a:lnTo>
                  <a:pt x="2162355" y="1920252"/>
                </a:lnTo>
                <a:lnTo>
                  <a:pt x="2213002" y="3005755"/>
                </a:lnTo>
                <a:cubicBezTo>
                  <a:pt x="2210479" y="3337511"/>
                  <a:pt x="2220667" y="3431155"/>
                  <a:pt x="2218144" y="3762911"/>
                </a:cubicBez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2" name="椭圆 41"/>
          <p:cNvSpPr/>
          <p:nvPr/>
        </p:nvSpPr>
        <p:spPr bwMode="auto">
          <a:xfrm>
            <a:off x="6778672" y="1738170"/>
            <a:ext cx="77338" cy="77338"/>
          </a:xfrm>
          <a:prstGeom prst="ellipse">
            <a:avLst/>
          </a:prstGeom>
          <a:solidFill>
            <a:schemeClr val="bg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3" name="椭圆 42"/>
          <p:cNvSpPr/>
          <p:nvPr/>
        </p:nvSpPr>
        <p:spPr bwMode="auto">
          <a:xfrm>
            <a:off x="7909162" y="2368241"/>
            <a:ext cx="77338" cy="77338"/>
          </a:xfrm>
          <a:prstGeom prst="ellipse">
            <a:avLst/>
          </a:prstGeom>
          <a:solidFill>
            <a:schemeClr val="bg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 name="任意多边形 3"/>
          <p:cNvSpPr/>
          <p:nvPr/>
        </p:nvSpPr>
        <p:spPr bwMode="auto">
          <a:xfrm>
            <a:off x="5923181" y="1569575"/>
            <a:ext cx="1878750" cy="2668093"/>
          </a:xfrm>
          <a:custGeom>
            <a:avLst/>
            <a:gdLst>
              <a:gd name="connsiteX0" fmla="*/ 0 w 1842655"/>
              <a:gd name="connsiteY0" fmla="*/ 0 h 2660072"/>
              <a:gd name="connsiteX1" fmla="*/ 408709 w 1842655"/>
              <a:gd name="connsiteY1" fmla="*/ 173181 h 2660072"/>
              <a:gd name="connsiteX2" fmla="*/ 748146 w 1842655"/>
              <a:gd name="connsiteY2" fmla="*/ 401781 h 2660072"/>
              <a:gd name="connsiteX3" fmla="*/ 1129146 w 1842655"/>
              <a:gd name="connsiteY3" fmla="*/ 838200 h 2660072"/>
              <a:gd name="connsiteX4" fmla="*/ 1420091 w 1842655"/>
              <a:gd name="connsiteY4" fmla="*/ 1309254 h 2660072"/>
              <a:gd name="connsiteX5" fmla="*/ 1690255 w 1842655"/>
              <a:gd name="connsiteY5" fmla="*/ 2008909 h 2660072"/>
              <a:gd name="connsiteX6" fmla="*/ 1842655 w 1842655"/>
              <a:gd name="connsiteY6" fmla="*/ 2660072 h 2660072"/>
              <a:gd name="connsiteX0" fmla="*/ 0 w 1842655"/>
              <a:gd name="connsiteY0" fmla="*/ 0 h 2660072"/>
              <a:gd name="connsiteX1" fmla="*/ 408709 w 1842655"/>
              <a:gd name="connsiteY1" fmla="*/ 173181 h 2660072"/>
              <a:gd name="connsiteX2" fmla="*/ 748146 w 1842655"/>
              <a:gd name="connsiteY2" fmla="*/ 429490 h 2660072"/>
              <a:gd name="connsiteX3" fmla="*/ 1129146 w 1842655"/>
              <a:gd name="connsiteY3" fmla="*/ 838200 h 2660072"/>
              <a:gd name="connsiteX4" fmla="*/ 1420091 w 1842655"/>
              <a:gd name="connsiteY4" fmla="*/ 1309254 h 2660072"/>
              <a:gd name="connsiteX5" fmla="*/ 1690255 w 1842655"/>
              <a:gd name="connsiteY5" fmla="*/ 2008909 h 2660072"/>
              <a:gd name="connsiteX6" fmla="*/ 1842655 w 1842655"/>
              <a:gd name="connsiteY6" fmla="*/ 2660072 h 2660072"/>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44804 w 1878750"/>
              <a:gd name="connsiteY1" fmla="*/ 18120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24752 w 1878750"/>
              <a:gd name="connsiteY1" fmla="*/ 17719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 name="connsiteX0" fmla="*/ 0 w 1878750"/>
              <a:gd name="connsiteY0" fmla="*/ 0 h 2668093"/>
              <a:gd name="connsiteX1" fmla="*/ 424752 w 1878750"/>
              <a:gd name="connsiteY1" fmla="*/ 177192 h 2668093"/>
              <a:gd name="connsiteX2" fmla="*/ 784241 w 1878750"/>
              <a:gd name="connsiteY2" fmla="*/ 437511 h 2668093"/>
              <a:gd name="connsiteX3" fmla="*/ 1165241 w 1878750"/>
              <a:gd name="connsiteY3" fmla="*/ 846221 h 2668093"/>
              <a:gd name="connsiteX4" fmla="*/ 1456186 w 1878750"/>
              <a:gd name="connsiteY4" fmla="*/ 1317275 h 2668093"/>
              <a:gd name="connsiteX5" fmla="*/ 1726350 w 1878750"/>
              <a:gd name="connsiteY5" fmla="*/ 2016930 h 2668093"/>
              <a:gd name="connsiteX6" fmla="*/ 1878750 w 1878750"/>
              <a:gd name="connsiteY6" fmla="*/ 2668093 h 266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750" h="2668093">
                <a:moveTo>
                  <a:pt x="0" y="0"/>
                </a:moveTo>
                <a:cubicBezTo>
                  <a:pt x="148268" y="60401"/>
                  <a:pt x="294045" y="104274"/>
                  <a:pt x="424752" y="177192"/>
                </a:cubicBezTo>
                <a:cubicBezTo>
                  <a:pt x="555459" y="250110"/>
                  <a:pt x="664168" y="326675"/>
                  <a:pt x="784241" y="437511"/>
                </a:cubicBezTo>
                <a:cubicBezTo>
                  <a:pt x="904314" y="548347"/>
                  <a:pt x="1053250" y="699594"/>
                  <a:pt x="1165241" y="846221"/>
                </a:cubicBezTo>
                <a:cubicBezTo>
                  <a:pt x="1277232" y="992848"/>
                  <a:pt x="1362668" y="1122157"/>
                  <a:pt x="1456186" y="1317275"/>
                </a:cubicBezTo>
                <a:cubicBezTo>
                  <a:pt x="1549704" y="1512393"/>
                  <a:pt x="1655923" y="1791794"/>
                  <a:pt x="1726350" y="2016930"/>
                </a:cubicBezTo>
                <a:lnTo>
                  <a:pt x="1878750" y="2668093"/>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 name="任意多边形 4"/>
          <p:cNvSpPr/>
          <p:nvPr/>
        </p:nvSpPr>
        <p:spPr bwMode="auto">
          <a:xfrm>
            <a:off x="5908964" y="1567780"/>
            <a:ext cx="1108363" cy="2424546"/>
          </a:xfrm>
          <a:custGeom>
            <a:avLst/>
            <a:gdLst>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 name="connsiteX0" fmla="*/ 0 w 1108363"/>
              <a:gd name="connsiteY0" fmla="*/ 0 h 2424546"/>
              <a:gd name="connsiteX1" fmla="*/ 277091 w 1108363"/>
              <a:gd name="connsiteY1" fmla="*/ 235528 h 2424546"/>
              <a:gd name="connsiteX2" fmla="*/ 540327 w 1108363"/>
              <a:gd name="connsiteY2" fmla="*/ 568037 h 2424546"/>
              <a:gd name="connsiteX3" fmla="*/ 789709 w 1108363"/>
              <a:gd name="connsiteY3" fmla="*/ 1011382 h 2424546"/>
              <a:gd name="connsiteX4" fmla="*/ 962891 w 1108363"/>
              <a:gd name="connsiteY4" fmla="*/ 1544782 h 2424546"/>
              <a:gd name="connsiteX5" fmla="*/ 1059872 w 1108363"/>
              <a:gd name="connsiteY5" fmla="*/ 2085109 h 2424546"/>
              <a:gd name="connsiteX6" fmla="*/ 1108363 w 1108363"/>
              <a:gd name="connsiteY6" fmla="*/ 2424546 h 242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8363" h="2424546">
                <a:moveTo>
                  <a:pt x="0" y="0"/>
                </a:moveTo>
                <a:cubicBezTo>
                  <a:pt x="92364" y="78509"/>
                  <a:pt x="187037" y="140855"/>
                  <a:pt x="277091" y="235528"/>
                </a:cubicBezTo>
                <a:cubicBezTo>
                  <a:pt x="367146" y="330201"/>
                  <a:pt x="454891" y="438728"/>
                  <a:pt x="540327" y="568037"/>
                </a:cubicBezTo>
                <a:lnTo>
                  <a:pt x="789709" y="1011382"/>
                </a:lnTo>
                <a:cubicBezTo>
                  <a:pt x="860136" y="1174173"/>
                  <a:pt x="917864" y="1365828"/>
                  <a:pt x="962891" y="1544782"/>
                </a:cubicBezTo>
                <a:cubicBezTo>
                  <a:pt x="1007918" y="1723736"/>
                  <a:pt x="1035627" y="1938482"/>
                  <a:pt x="1059872" y="2085109"/>
                </a:cubicBezTo>
                <a:lnTo>
                  <a:pt x="1108363" y="2424546"/>
                </a:ln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8" name="矩形 67"/>
          <p:cNvSpPr/>
          <p:nvPr/>
        </p:nvSpPr>
        <p:spPr>
          <a:xfrm>
            <a:off x="6048375" y="3937643"/>
            <a:ext cx="1106885" cy="338554"/>
          </a:xfrm>
          <a:prstGeom prst="rect">
            <a:avLst/>
          </a:prstGeom>
        </p:spPr>
        <p:txBody>
          <a:bodyPr wrap="square">
            <a:spAutoFit/>
          </a:bodyPr>
          <a:lstStyle/>
          <a:p>
            <a:pPr algn="ctr">
              <a:lnSpc>
                <a:spcPct val="100000"/>
              </a:lnSpc>
              <a:buClr>
                <a:srgbClr val="C00000"/>
              </a:buClr>
            </a:pPr>
            <a:r>
              <a:rPr lang="zh-CN" altLang="en-US" sz="16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冲剪破坏</a:t>
            </a:r>
          </a:p>
        </p:txBody>
      </p:sp>
      <p:cxnSp>
        <p:nvCxnSpPr>
          <p:cNvPr id="7" name="直接连接符 6"/>
          <p:cNvCxnSpPr/>
          <p:nvPr/>
        </p:nvCxnSpPr>
        <p:spPr bwMode="auto">
          <a:xfrm flipV="1">
            <a:off x="6715937" y="3757734"/>
            <a:ext cx="211667" cy="20320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Line 25"/>
          <p:cNvSpPr>
            <a:spLocks noChangeShapeType="1"/>
          </p:cNvSpPr>
          <p:nvPr/>
        </p:nvSpPr>
        <p:spPr bwMode="auto">
          <a:xfrm>
            <a:off x="2836674" y="4201598"/>
            <a:ext cx="0" cy="381000"/>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Text Box 21"/>
          <p:cNvSpPr txBox="1">
            <a:spLocks noChangeArrowheads="1"/>
          </p:cNvSpPr>
          <p:nvPr/>
        </p:nvSpPr>
        <p:spPr bwMode="auto">
          <a:xfrm>
            <a:off x="2844708" y="3759183"/>
            <a:ext cx="452367"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990000"/>
                </a:solidFill>
                <a:latin typeface="Times New Roman" panose="02020603050405020304" pitchFamily="18" charset="0"/>
              </a:rPr>
              <a:t>p</a:t>
            </a:r>
            <a:r>
              <a:rPr kumimoji="1" lang="en-US" altLang="zh-CN" sz="2400" b="1" baseline="-25000" dirty="0" err="1">
                <a:solidFill>
                  <a:srgbClr val="990000"/>
                </a:solidFill>
                <a:latin typeface="Times New Roman" panose="02020603050405020304" pitchFamily="18" charset="0"/>
              </a:rPr>
              <a:t>u</a:t>
            </a:r>
            <a:endParaRPr kumimoji="1" lang="en-US" altLang="zh-CN" sz="2400" b="1" baseline="-25000" dirty="0">
              <a:solidFill>
                <a:srgbClr val="990000"/>
              </a:solidFill>
              <a:latin typeface="Times New Roman" panose="02020603050405020304" pitchFamily="18" charset="0"/>
            </a:endParaRPr>
          </a:p>
        </p:txBody>
      </p:sp>
      <p:sp>
        <p:nvSpPr>
          <p:cNvPr id="92" name="等腰三角形 91"/>
          <p:cNvSpPr/>
          <p:nvPr/>
        </p:nvSpPr>
        <p:spPr bwMode="auto">
          <a:xfrm flipV="1">
            <a:off x="2378982" y="4723783"/>
            <a:ext cx="932544" cy="423030"/>
          </a:xfrm>
          <a:prstGeom prst="triangl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97" name="直接连接符 96"/>
          <p:cNvCxnSpPr/>
          <p:nvPr/>
        </p:nvCxnSpPr>
        <p:spPr bwMode="auto">
          <a:xfrm>
            <a:off x="1025610" y="4287845"/>
            <a:ext cx="3738612" cy="0"/>
          </a:xfrm>
          <a:prstGeom prst="line">
            <a:avLst/>
          </a:prstGeom>
          <a:noFill/>
          <a:ln w="12700" cap="flat" cmpd="sng" algn="ctr">
            <a:solidFill>
              <a:srgbClr val="0000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组合 13"/>
          <p:cNvGrpSpPr/>
          <p:nvPr/>
        </p:nvGrpSpPr>
        <p:grpSpPr>
          <a:xfrm>
            <a:off x="2235200" y="4597400"/>
            <a:ext cx="139700" cy="596900"/>
            <a:chOff x="2235200" y="4597400"/>
            <a:chExt cx="139700" cy="596900"/>
          </a:xfrm>
        </p:grpSpPr>
        <p:sp>
          <p:nvSpPr>
            <p:cNvPr id="9" name="任意多边形 8"/>
            <p:cNvSpPr/>
            <p:nvPr/>
          </p:nvSpPr>
          <p:spPr bwMode="auto">
            <a:xfrm>
              <a:off x="2241550" y="4832350"/>
              <a:ext cx="133350" cy="101600"/>
            </a:xfrm>
            <a:custGeom>
              <a:avLst/>
              <a:gdLst>
                <a:gd name="connsiteX0" fmla="*/ 0 w 133350"/>
                <a:gd name="connsiteY0" fmla="*/ 0 h 101600"/>
                <a:gd name="connsiteX1" fmla="*/ 63500 w 133350"/>
                <a:gd name="connsiteY1" fmla="*/ 57150 h 101600"/>
                <a:gd name="connsiteX2" fmla="*/ 82550 w 133350"/>
                <a:gd name="connsiteY2" fmla="*/ 69850 h 101600"/>
                <a:gd name="connsiteX3" fmla="*/ 95250 w 133350"/>
                <a:gd name="connsiteY3" fmla="*/ 88900 h 101600"/>
                <a:gd name="connsiteX4" fmla="*/ 133350 w 133350"/>
                <a:gd name="connsiteY4" fmla="*/ 101600 h 10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01600">
                  <a:moveTo>
                    <a:pt x="0" y="0"/>
                  </a:moveTo>
                  <a:cubicBezTo>
                    <a:pt x="34935" y="43669"/>
                    <a:pt x="14123" y="24232"/>
                    <a:pt x="63500" y="57150"/>
                  </a:cubicBezTo>
                  <a:lnTo>
                    <a:pt x="82550" y="69850"/>
                  </a:lnTo>
                  <a:cubicBezTo>
                    <a:pt x="86783" y="76200"/>
                    <a:pt x="88778" y="84855"/>
                    <a:pt x="95250" y="88900"/>
                  </a:cubicBezTo>
                  <a:cubicBezTo>
                    <a:pt x="106602" y="95995"/>
                    <a:pt x="133350" y="101600"/>
                    <a:pt x="133350" y="101600"/>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1" name="任意多边形 10"/>
            <p:cNvSpPr/>
            <p:nvPr/>
          </p:nvSpPr>
          <p:spPr bwMode="auto">
            <a:xfrm>
              <a:off x="2235200" y="5073650"/>
              <a:ext cx="127000" cy="120650"/>
            </a:xfrm>
            <a:custGeom>
              <a:avLst/>
              <a:gdLst>
                <a:gd name="connsiteX0" fmla="*/ 0 w 127000"/>
                <a:gd name="connsiteY0" fmla="*/ 0 h 120650"/>
                <a:gd name="connsiteX1" fmla="*/ 31750 w 127000"/>
                <a:gd name="connsiteY1" fmla="*/ 12700 h 120650"/>
                <a:gd name="connsiteX2" fmla="*/ 50800 w 127000"/>
                <a:gd name="connsiteY2" fmla="*/ 31750 h 120650"/>
                <a:gd name="connsiteX3" fmla="*/ 69850 w 127000"/>
                <a:gd name="connsiteY3" fmla="*/ 44450 h 120650"/>
                <a:gd name="connsiteX4" fmla="*/ 107950 w 127000"/>
                <a:gd name="connsiteY4" fmla="*/ 107950 h 120650"/>
                <a:gd name="connsiteX5" fmla="*/ 127000 w 127000"/>
                <a:gd name="connsiteY5" fmla="*/ 120650 h 1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000" h="120650">
                  <a:moveTo>
                    <a:pt x="0" y="0"/>
                  </a:moveTo>
                  <a:cubicBezTo>
                    <a:pt x="10583" y="4233"/>
                    <a:pt x="22084" y="6659"/>
                    <a:pt x="31750" y="12700"/>
                  </a:cubicBezTo>
                  <a:cubicBezTo>
                    <a:pt x="39365" y="17460"/>
                    <a:pt x="43901" y="26001"/>
                    <a:pt x="50800" y="31750"/>
                  </a:cubicBezTo>
                  <a:cubicBezTo>
                    <a:pt x="56663" y="36636"/>
                    <a:pt x="63500" y="40217"/>
                    <a:pt x="69850" y="44450"/>
                  </a:cubicBezTo>
                  <a:cubicBezTo>
                    <a:pt x="77496" y="59741"/>
                    <a:pt x="96456" y="100287"/>
                    <a:pt x="107950" y="107950"/>
                  </a:cubicBezTo>
                  <a:lnTo>
                    <a:pt x="127000" y="12065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 name="任意多边形 12"/>
            <p:cNvSpPr/>
            <p:nvPr/>
          </p:nvSpPr>
          <p:spPr bwMode="auto">
            <a:xfrm>
              <a:off x="2235200" y="4597400"/>
              <a:ext cx="133350" cy="127024"/>
            </a:xfrm>
            <a:custGeom>
              <a:avLst/>
              <a:gdLst>
                <a:gd name="connsiteX0" fmla="*/ 0 w 133350"/>
                <a:gd name="connsiteY0" fmla="*/ 0 h 127024"/>
                <a:gd name="connsiteX1" fmla="*/ 31750 w 133350"/>
                <a:gd name="connsiteY1" fmla="*/ 25400 h 127024"/>
                <a:gd name="connsiteX2" fmla="*/ 50800 w 133350"/>
                <a:gd name="connsiteY2" fmla="*/ 44450 h 127024"/>
                <a:gd name="connsiteX3" fmla="*/ 107950 w 133350"/>
                <a:gd name="connsiteY3" fmla="*/ 107950 h 127024"/>
                <a:gd name="connsiteX4" fmla="*/ 133350 w 133350"/>
                <a:gd name="connsiteY4" fmla="*/ 127000 h 127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27024">
                  <a:moveTo>
                    <a:pt x="0" y="0"/>
                  </a:moveTo>
                  <a:cubicBezTo>
                    <a:pt x="10583" y="8467"/>
                    <a:pt x="21550" y="16475"/>
                    <a:pt x="31750" y="25400"/>
                  </a:cubicBezTo>
                  <a:cubicBezTo>
                    <a:pt x="38508" y="31314"/>
                    <a:pt x="44709" y="37851"/>
                    <a:pt x="50800" y="44450"/>
                  </a:cubicBezTo>
                  <a:cubicBezTo>
                    <a:pt x="70115" y="65375"/>
                    <a:pt x="88635" y="87025"/>
                    <a:pt x="107950" y="107950"/>
                  </a:cubicBezTo>
                  <a:cubicBezTo>
                    <a:pt x="126916" y="128497"/>
                    <a:pt x="118392" y="127000"/>
                    <a:pt x="133350" y="127000"/>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44" name="组合 43"/>
          <p:cNvGrpSpPr/>
          <p:nvPr/>
        </p:nvGrpSpPr>
        <p:grpSpPr>
          <a:xfrm flipH="1">
            <a:off x="3321050" y="4584700"/>
            <a:ext cx="139700" cy="596900"/>
            <a:chOff x="2235200" y="4597400"/>
            <a:chExt cx="139700" cy="596900"/>
          </a:xfrm>
        </p:grpSpPr>
        <p:sp>
          <p:nvSpPr>
            <p:cNvPr id="45" name="任意多边形 44"/>
            <p:cNvSpPr/>
            <p:nvPr/>
          </p:nvSpPr>
          <p:spPr bwMode="auto">
            <a:xfrm>
              <a:off x="2241550" y="4832350"/>
              <a:ext cx="133350" cy="101600"/>
            </a:xfrm>
            <a:custGeom>
              <a:avLst/>
              <a:gdLst>
                <a:gd name="connsiteX0" fmla="*/ 0 w 133350"/>
                <a:gd name="connsiteY0" fmla="*/ 0 h 101600"/>
                <a:gd name="connsiteX1" fmla="*/ 63500 w 133350"/>
                <a:gd name="connsiteY1" fmla="*/ 57150 h 101600"/>
                <a:gd name="connsiteX2" fmla="*/ 82550 w 133350"/>
                <a:gd name="connsiteY2" fmla="*/ 69850 h 101600"/>
                <a:gd name="connsiteX3" fmla="*/ 95250 w 133350"/>
                <a:gd name="connsiteY3" fmla="*/ 88900 h 101600"/>
                <a:gd name="connsiteX4" fmla="*/ 133350 w 133350"/>
                <a:gd name="connsiteY4" fmla="*/ 101600 h 10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01600">
                  <a:moveTo>
                    <a:pt x="0" y="0"/>
                  </a:moveTo>
                  <a:cubicBezTo>
                    <a:pt x="34935" y="43669"/>
                    <a:pt x="14123" y="24232"/>
                    <a:pt x="63500" y="57150"/>
                  </a:cubicBezTo>
                  <a:lnTo>
                    <a:pt x="82550" y="69850"/>
                  </a:lnTo>
                  <a:cubicBezTo>
                    <a:pt x="86783" y="76200"/>
                    <a:pt x="88778" y="84855"/>
                    <a:pt x="95250" y="88900"/>
                  </a:cubicBezTo>
                  <a:cubicBezTo>
                    <a:pt x="106602" y="95995"/>
                    <a:pt x="133350" y="101600"/>
                    <a:pt x="133350" y="101600"/>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6" name="任意多边形 45"/>
            <p:cNvSpPr/>
            <p:nvPr/>
          </p:nvSpPr>
          <p:spPr bwMode="auto">
            <a:xfrm>
              <a:off x="2235200" y="5073650"/>
              <a:ext cx="127000" cy="120650"/>
            </a:xfrm>
            <a:custGeom>
              <a:avLst/>
              <a:gdLst>
                <a:gd name="connsiteX0" fmla="*/ 0 w 127000"/>
                <a:gd name="connsiteY0" fmla="*/ 0 h 120650"/>
                <a:gd name="connsiteX1" fmla="*/ 31750 w 127000"/>
                <a:gd name="connsiteY1" fmla="*/ 12700 h 120650"/>
                <a:gd name="connsiteX2" fmla="*/ 50800 w 127000"/>
                <a:gd name="connsiteY2" fmla="*/ 31750 h 120650"/>
                <a:gd name="connsiteX3" fmla="*/ 69850 w 127000"/>
                <a:gd name="connsiteY3" fmla="*/ 44450 h 120650"/>
                <a:gd name="connsiteX4" fmla="*/ 107950 w 127000"/>
                <a:gd name="connsiteY4" fmla="*/ 107950 h 120650"/>
                <a:gd name="connsiteX5" fmla="*/ 127000 w 127000"/>
                <a:gd name="connsiteY5" fmla="*/ 120650 h 1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000" h="120650">
                  <a:moveTo>
                    <a:pt x="0" y="0"/>
                  </a:moveTo>
                  <a:cubicBezTo>
                    <a:pt x="10583" y="4233"/>
                    <a:pt x="22084" y="6659"/>
                    <a:pt x="31750" y="12700"/>
                  </a:cubicBezTo>
                  <a:cubicBezTo>
                    <a:pt x="39365" y="17460"/>
                    <a:pt x="43901" y="26001"/>
                    <a:pt x="50800" y="31750"/>
                  </a:cubicBezTo>
                  <a:cubicBezTo>
                    <a:pt x="56663" y="36636"/>
                    <a:pt x="63500" y="40217"/>
                    <a:pt x="69850" y="44450"/>
                  </a:cubicBezTo>
                  <a:cubicBezTo>
                    <a:pt x="77496" y="59741"/>
                    <a:pt x="96456" y="100287"/>
                    <a:pt x="107950" y="107950"/>
                  </a:cubicBezTo>
                  <a:lnTo>
                    <a:pt x="127000" y="12065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8" name="任意多边形 47"/>
            <p:cNvSpPr/>
            <p:nvPr/>
          </p:nvSpPr>
          <p:spPr bwMode="auto">
            <a:xfrm>
              <a:off x="2235200" y="4597400"/>
              <a:ext cx="133350" cy="127024"/>
            </a:xfrm>
            <a:custGeom>
              <a:avLst/>
              <a:gdLst>
                <a:gd name="connsiteX0" fmla="*/ 0 w 133350"/>
                <a:gd name="connsiteY0" fmla="*/ 0 h 127024"/>
                <a:gd name="connsiteX1" fmla="*/ 31750 w 133350"/>
                <a:gd name="connsiteY1" fmla="*/ 25400 h 127024"/>
                <a:gd name="connsiteX2" fmla="*/ 50800 w 133350"/>
                <a:gd name="connsiteY2" fmla="*/ 44450 h 127024"/>
                <a:gd name="connsiteX3" fmla="*/ 107950 w 133350"/>
                <a:gd name="connsiteY3" fmla="*/ 107950 h 127024"/>
                <a:gd name="connsiteX4" fmla="*/ 133350 w 133350"/>
                <a:gd name="connsiteY4" fmla="*/ 127000 h 127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27024">
                  <a:moveTo>
                    <a:pt x="0" y="0"/>
                  </a:moveTo>
                  <a:cubicBezTo>
                    <a:pt x="10583" y="8467"/>
                    <a:pt x="21550" y="16475"/>
                    <a:pt x="31750" y="25400"/>
                  </a:cubicBezTo>
                  <a:cubicBezTo>
                    <a:pt x="38508" y="31314"/>
                    <a:pt x="44709" y="37851"/>
                    <a:pt x="50800" y="44450"/>
                  </a:cubicBezTo>
                  <a:cubicBezTo>
                    <a:pt x="70115" y="65375"/>
                    <a:pt x="88635" y="87025"/>
                    <a:pt x="107950" y="107950"/>
                  </a:cubicBezTo>
                  <a:cubicBezTo>
                    <a:pt x="126916" y="128497"/>
                    <a:pt x="118392" y="127000"/>
                    <a:pt x="133350" y="127000"/>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16" name="任意多边形 15"/>
          <p:cNvSpPr/>
          <p:nvPr/>
        </p:nvSpPr>
        <p:spPr bwMode="auto">
          <a:xfrm>
            <a:off x="744238" y="4288420"/>
            <a:ext cx="1637818" cy="303836"/>
          </a:xfrm>
          <a:custGeom>
            <a:avLst/>
            <a:gdLst>
              <a:gd name="connsiteX0" fmla="*/ 0 w 1637818"/>
              <a:gd name="connsiteY0" fmla="*/ 0 h 303836"/>
              <a:gd name="connsiteX1" fmla="*/ 1498922 w 1637818"/>
              <a:gd name="connsiteY1" fmla="*/ 0 h 303836"/>
              <a:gd name="connsiteX2" fmla="*/ 1605987 w 1637818"/>
              <a:gd name="connsiteY2" fmla="*/ 43405 h 303836"/>
              <a:gd name="connsiteX3" fmla="*/ 1637818 w 1637818"/>
              <a:gd name="connsiteY3" fmla="*/ 98385 h 303836"/>
              <a:gd name="connsiteX4" fmla="*/ 1637818 w 1637818"/>
              <a:gd name="connsiteY4" fmla="*/ 303836 h 303836"/>
              <a:gd name="connsiteX0" fmla="*/ 0 w 1646156"/>
              <a:gd name="connsiteY0" fmla="*/ 0 h 303836"/>
              <a:gd name="connsiteX1" fmla="*/ 1498922 w 1646156"/>
              <a:gd name="connsiteY1" fmla="*/ 0 h 303836"/>
              <a:gd name="connsiteX2" fmla="*/ 1605987 w 1646156"/>
              <a:gd name="connsiteY2" fmla="*/ 43405 h 303836"/>
              <a:gd name="connsiteX3" fmla="*/ 1637818 w 1646156"/>
              <a:gd name="connsiteY3" fmla="*/ 98385 h 303836"/>
              <a:gd name="connsiteX4" fmla="*/ 1637818 w 1646156"/>
              <a:gd name="connsiteY4" fmla="*/ 303836 h 303836"/>
              <a:gd name="connsiteX0" fmla="*/ 0 w 1646156"/>
              <a:gd name="connsiteY0" fmla="*/ 0 h 303836"/>
              <a:gd name="connsiteX1" fmla="*/ 1498922 w 1646156"/>
              <a:gd name="connsiteY1" fmla="*/ 0 h 303836"/>
              <a:gd name="connsiteX2" fmla="*/ 1605987 w 1646156"/>
              <a:gd name="connsiteY2" fmla="*/ 43405 h 303836"/>
              <a:gd name="connsiteX3" fmla="*/ 1637818 w 1646156"/>
              <a:gd name="connsiteY3" fmla="*/ 98385 h 303836"/>
              <a:gd name="connsiteX4" fmla="*/ 1637818 w 1646156"/>
              <a:gd name="connsiteY4" fmla="*/ 303836 h 303836"/>
              <a:gd name="connsiteX0" fmla="*/ 0 w 1637818"/>
              <a:gd name="connsiteY0" fmla="*/ 0 h 303836"/>
              <a:gd name="connsiteX1" fmla="*/ 1498922 w 1637818"/>
              <a:gd name="connsiteY1" fmla="*/ 0 h 303836"/>
              <a:gd name="connsiteX2" fmla="*/ 1556795 w 1637818"/>
              <a:gd name="connsiteY2" fmla="*/ 11575 h 303836"/>
              <a:gd name="connsiteX3" fmla="*/ 1605987 w 1637818"/>
              <a:gd name="connsiteY3" fmla="*/ 43405 h 303836"/>
              <a:gd name="connsiteX4" fmla="*/ 1637818 w 1637818"/>
              <a:gd name="connsiteY4" fmla="*/ 98385 h 303836"/>
              <a:gd name="connsiteX5" fmla="*/ 1637818 w 1637818"/>
              <a:gd name="connsiteY5" fmla="*/ 303836 h 303836"/>
              <a:gd name="connsiteX0" fmla="*/ 0 w 1637818"/>
              <a:gd name="connsiteY0" fmla="*/ 0 h 303836"/>
              <a:gd name="connsiteX1" fmla="*/ 1498922 w 1637818"/>
              <a:gd name="connsiteY1" fmla="*/ 0 h 303836"/>
              <a:gd name="connsiteX2" fmla="*/ 1556795 w 1637818"/>
              <a:gd name="connsiteY2" fmla="*/ 11575 h 303836"/>
              <a:gd name="connsiteX3" fmla="*/ 1605987 w 1637818"/>
              <a:gd name="connsiteY3" fmla="*/ 43405 h 303836"/>
              <a:gd name="connsiteX4" fmla="*/ 1637818 w 1637818"/>
              <a:gd name="connsiteY4" fmla="*/ 98385 h 303836"/>
              <a:gd name="connsiteX5" fmla="*/ 1637818 w 1637818"/>
              <a:gd name="connsiteY5" fmla="*/ 303836 h 303836"/>
              <a:gd name="connsiteX0" fmla="*/ 0 w 1637818"/>
              <a:gd name="connsiteY0" fmla="*/ 0 h 303836"/>
              <a:gd name="connsiteX1" fmla="*/ 1498922 w 1637818"/>
              <a:gd name="connsiteY1" fmla="*/ 0 h 303836"/>
              <a:gd name="connsiteX2" fmla="*/ 1556795 w 1637818"/>
              <a:gd name="connsiteY2" fmla="*/ 11575 h 303836"/>
              <a:gd name="connsiteX3" fmla="*/ 1610750 w 1637818"/>
              <a:gd name="connsiteY3" fmla="*/ 41817 h 303836"/>
              <a:gd name="connsiteX4" fmla="*/ 1637818 w 1637818"/>
              <a:gd name="connsiteY4" fmla="*/ 98385 h 303836"/>
              <a:gd name="connsiteX5" fmla="*/ 1637818 w 1637818"/>
              <a:gd name="connsiteY5" fmla="*/ 303836 h 303836"/>
              <a:gd name="connsiteX0" fmla="*/ 0 w 1637818"/>
              <a:gd name="connsiteY0" fmla="*/ 0 h 303836"/>
              <a:gd name="connsiteX1" fmla="*/ 1498922 w 1637818"/>
              <a:gd name="connsiteY1" fmla="*/ 0 h 303836"/>
              <a:gd name="connsiteX2" fmla="*/ 1556795 w 1637818"/>
              <a:gd name="connsiteY2" fmla="*/ 11575 h 303836"/>
              <a:gd name="connsiteX3" fmla="*/ 1610750 w 1637818"/>
              <a:gd name="connsiteY3" fmla="*/ 41817 h 303836"/>
              <a:gd name="connsiteX4" fmla="*/ 1633055 w 1637818"/>
              <a:gd name="connsiteY4" fmla="*/ 99972 h 303836"/>
              <a:gd name="connsiteX5" fmla="*/ 1637818 w 1637818"/>
              <a:gd name="connsiteY5" fmla="*/ 303836 h 30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7818" h="303836">
                <a:moveTo>
                  <a:pt x="0" y="0"/>
                </a:moveTo>
                <a:lnTo>
                  <a:pt x="1498922" y="0"/>
                </a:lnTo>
                <a:lnTo>
                  <a:pt x="1556795" y="11575"/>
                </a:lnTo>
                <a:cubicBezTo>
                  <a:pt x="1574639" y="18809"/>
                  <a:pt x="1607374" y="25902"/>
                  <a:pt x="1610750" y="41817"/>
                </a:cubicBezTo>
                <a:cubicBezTo>
                  <a:pt x="1614126" y="57732"/>
                  <a:pt x="1627750" y="56567"/>
                  <a:pt x="1633055" y="99972"/>
                </a:cubicBezTo>
                <a:lnTo>
                  <a:pt x="1637818" y="303836"/>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9" name="任意多边形 48"/>
          <p:cNvSpPr/>
          <p:nvPr/>
        </p:nvSpPr>
        <p:spPr bwMode="auto">
          <a:xfrm flipH="1">
            <a:off x="3320970" y="4284563"/>
            <a:ext cx="1637818" cy="303836"/>
          </a:xfrm>
          <a:custGeom>
            <a:avLst/>
            <a:gdLst>
              <a:gd name="connsiteX0" fmla="*/ 0 w 1637818"/>
              <a:gd name="connsiteY0" fmla="*/ 0 h 303836"/>
              <a:gd name="connsiteX1" fmla="*/ 1498922 w 1637818"/>
              <a:gd name="connsiteY1" fmla="*/ 0 h 303836"/>
              <a:gd name="connsiteX2" fmla="*/ 1605987 w 1637818"/>
              <a:gd name="connsiteY2" fmla="*/ 43405 h 303836"/>
              <a:gd name="connsiteX3" fmla="*/ 1637818 w 1637818"/>
              <a:gd name="connsiteY3" fmla="*/ 98385 h 303836"/>
              <a:gd name="connsiteX4" fmla="*/ 1637818 w 1637818"/>
              <a:gd name="connsiteY4" fmla="*/ 303836 h 303836"/>
              <a:gd name="connsiteX0" fmla="*/ 0 w 1637818"/>
              <a:gd name="connsiteY0" fmla="*/ 0 h 303836"/>
              <a:gd name="connsiteX1" fmla="*/ 1498922 w 1637818"/>
              <a:gd name="connsiteY1" fmla="*/ 0 h 303836"/>
              <a:gd name="connsiteX2" fmla="*/ 1555188 w 1637818"/>
              <a:gd name="connsiteY2" fmla="*/ 15975 h 303836"/>
              <a:gd name="connsiteX3" fmla="*/ 1605987 w 1637818"/>
              <a:gd name="connsiteY3" fmla="*/ 43405 h 303836"/>
              <a:gd name="connsiteX4" fmla="*/ 1637818 w 1637818"/>
              <a:gd name="connsiteY4" fmla="*/ 98385 h 303836"/>
              <a:gd name="connsiteX5" fmla="*/ 1637818 w 1637818"/>
              <a:gd name="connsiteY5" fmla="*/ 303836 h 303836"/>
              <a:gd name="connsiteX0" fmla="*/ 0 w 1637818"/>
              <a:gd name="connsiteY0" fmla="*/ 0 h 303836"/>
              <a:gd name="connsiteX1" fmla="*/ 1498922 w 1637818"/>
              <a:gd name="connsiteY1" fmla="*/ 0 h 303836"/>
              <a:gd name="connsiteX2" fmla="*/ 1555188 w 1637818"/>
              <a:gd name="connsiteY2" fmla="*/ 15975 h 303836"/>
              <a:gd name="connsiteX3" fmla="*/ 1605987 w 1637818"/>
              <a:gd name="connsiteY3" fmla="*/ 43405 h 303836"/>
              <a:gd name="connsiteX4" fmla="*/ 1637818 w 1637818"/>
              <a:gd name="connsiteY4" fmla="*/ 98385 h 303836"/>
              <a:gd name="connsiteX5" fmla="*/ 1637818 w 1637818"/>
              <a:gd name="connsiteY5" fmla="*/ 303836 h 303836"/>
              <a:gd name="connsiteX0" fmla="*/ 0 w 1637818"/>
              <a:gd name="connsiteY0" fmla="*/ 0 h 303836"/>
              <a:gd name="connsiteX1" fmla="*/ 1498922 w 1637818"/>
              <a:gd name="connsiteY1" fmla="*/ 0 h 303836"/>
              <a:gd name="connsiteX2" fmla="*/ 1555188 w 1637818"/>
              <a:gd name="connsiteY2" fmla="*/ 15975 h 303836"/>
              <a:gd name="connsiteX3" fmla="*/ 1605987 w 1637818"/>
              <a:gd name="connsiteY3" fmla="*/ 43405 h 303836"/>
              <a:gd name="connsiteX4" fmla="*/ 1637818 w 1637818"/>
              <a:gd name="connsiteY4" fmla="*/ 98385 h 303836"/>
              <a:gd name="connsiteX5" fmla="*/ 1637818 w 1637818"/>
              <a:gd name="connsiteY5" fmla="*/ 303836 h 303836"/>
              <a:gd name="connsiteX0" fmla="*/ 0 w 1637818"/>
              <a:gd name="connsiteY0" fmla="*/ 0 h 303836"/>
              <a:gd name="connsiteX1" fmla="*/ 1498922 w 1637818"/>
              <a:gd name="connsiteY1" fmla="*/ 0 h 303836"/>
              <a:gd name="connsiteX2" fmla="*/ 1555188 w 1637818"/>
              <a:gd name="connsiteY2" fmla="*/ 15975 h 303836"/>
              <a:gd name="connsiteX3" fmla="*/ 1602812 w 1637818"/>
              <a:gd name="connsiteY3" fmla="*/ 43405 h 303836"/>
              <a:gd name="connsiteX4" fmla="*/ 1637818 w 1637818"/>
              <a:gd name="connsiteY4" fmla="*/ 98385 h 303836"/>
              <a:gd name="connsiteX5" fmla="*/ 1637818 w 1637818"/>
              <a:gd name="connsiteY5" fmla="*/ 303836 h 303836"/>
              <a:gd name="connsiteX0" fmla="*/ 0 w 1637818"/>
              <a:gd name="connsiteY0" fmla="*/ 0 h 303836"/>
              <a:gd name="connsiteX1" fmla="*/ 1498922 w 1637818"/>
              <a:gd name="connsiteY1" fmla="*/ 0 h 303836"/>
              <a:gd name="connsiteX2" fmla="*/ 1555188 w 1637818"/>
              <a:gd name="connsiteY2" fmla="*/ 11213 h 303836"/>
              <a:gd name="connsiteX3" fmla="*/ 1602812 w 1637818"/>
              <a:gd name="connsiteY3" fmla="*/ 43405 h 303836"/>
              <a:gd name="connsiteX4" fmla="*/ 1637818 w 1637818"/>
              <a:gd name="connsiteY4" fmla="*/ 98385 h 303836"/>
              <a:gd name="connsiteX5" fmla="*/ 1637818 w 1637818"/>
              <a:gd name="connsiteY5" fmla="*/ 303836 h 30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7818" h="303836">
                <a:moveTo>
                  <a:pt x="0" y="0"/>
                </a:moveTo>
                <a:lnTo>
                  <a:pt x="1498922" y="0"/>
                </a:lnTo>
                <a:cubicBezTo>
                  <a:pt x="1516090" y="6912"/>
                  <a:pt x="1538020" y="4301"/>
                  <a:pt x="1555188" y="11213"/>
                </a:cubicBezTo>
                <a:cubicBezTo>
                  <a:pt x="1573032" y="18447"/>
                  <a:pt x="1589040" y="29670"/>
                  <a:pt x="1602812" y="43405"/>
                </a:cubicBezTo>
                <a:cubicBezTo>
                  <a:pt x="1616584" y="57140"/>
                  <a:pt x="1632513" y="54980"/>
                  <a:pt x="1637818" y="98385"/>
                </a:cubicBezTo>
                <a:lnTo>
                  <a:pt x="1637818" y="303836"/>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0" name="矩形 49"/>
          <p:cNvSpPr/>
          <p:nvPr/>
        </p:nvSpPr>
        <p:spPr>
          <a:xfrm>
            <a:off x="1087970" y="1742293"/>
            <a:ext cx="4561716" cy="2174954"/>
          </a:xfrm>
          <a:prstGeom prst="rect">
            <a:avLst/>
          </a:prstGeom>
        </p:spPr>
        <p:txBody>
          <a:bodyPr wrap="square">
            <a:spAutoFit/>
          </a:bodyPr>
          <a:lstStyle/>
          <a:p>
            <a:pPr marL="177800" indent="-177800">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rPr>
              <a:t>松软地基，埋深较大</a:t>
            </a:r>
            <a:endParaRPr lang="en-US" altLang="zh-CN" sz="2000" b="1" dirty="0">
              <a:solidFill>
                <a:srgbClr val="000066"/>
              </a:solidFill>
              <a:ea typeface="幼圆" panose="02010509060101010101" pitchFamily="49" charset="-122"/>
              <a:cs typeface="Times New Roman" panose="02020603050405020304" pitchFamily="18" charset="0"/>
            </a:endParaRPr>
          </a:p>
          <a:p>
            <a:pPr marL="177800" indent="-177800">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rPr>
              <a:t>板下土体被压缩，荷载板几乎垂直下切，两侧土体不隆起，地基土沿板侧发生垂直的剪切破坏面</a:t>
            </a:r>
            <a:endParaRPr lang="zh-CN" altLang="en-US" sz="2000" b="1" dirty="0">
              <a:solidFill>
                <a:srgbClr val="C00000"/>
              </a:solidFill>
              <a:ea typeface="幼圆" panose="02010509060101010101" pitchFamily="49" charset="-122"/>
              <a:cs typeface="Times New Roman" panose="02020603050405020304" pitchFamily="18" charset="0"/>
            </a:endParaRPr>
          </a:p>
          <a:p>
            <a:pPr marL="177800" indent="-177800">
              <a:lnSpc>
                <a:spcPct val="110000"/>
              </a:lnSpc>
              <a:spcBef>
                <a:spcPts val="100"/>
              </a:spcBef>
              <a:spcAft>
                <a:spcPts val="100"/>
              </a:spcAft>
              <a:buClr>
                <a:srgbClr val="C00000"/>
              </a:buClr>
              <a:buFont typeface="Arial" panose="020B0604020202020204" pitchFamily="34" charset="0"/>
              <a:buChar char="•"/>
            </a:pPr>
            <a:r>
              <a:rPr lang="en-US" altLang="zh-CN" sz="2000" b="1" i="1" dirty="0">
                <a:solidFill>
                  <a:srgbClr val="000066"/>
                </a:solidFill>
                <a:ea typeface="幼圆" panose="02010509060101010101" pitchFamily="49" charset="-122"/>
                <a:cs typeface="Times New Roman" panose="02020603050405020304" pitchFamily="18" charset="0"/>
              </a:rPr>
              <a:t>p</a:t>
            </a:r>
            <a:r>
              <a:rPr lang="en-US"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s</a:t>
            </a:r>
            <a:r>
              <a:rPr lang="zh-CN" altLang="en-US" sz="2000" b="1" dirty="0">
                <a:solidFill>
                  <a:srgbClr val="000066"/>
                </a:solidFill>
                <a:ea typeface="幼圆" panose="02010509060101010101" pitchFamily="49" charset="-122"/>
                <a:cs typeface="Times New Roman" panose="02020603050405020304" pitchFamily="18" charset="0"/>
              </a:rPr>
              <a:t>曲线与局部剪切破坏类似，但是变形的发展速率更快</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51"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sp>
        <p:nvSpPr>
          <p:cNvPr id="38" name="Rectangle 24" descr="深色上对角线"/>
          <p:cNvSpPr>
            <a:spLocks noChangeArrowheads="1"/>
          </p:cNvSpPr>
          <p:nvPr/>
        </p:nvSpPr>
        <p:spPr bwMode="auto">
          <a:xfrm>
            <a:off x="2393392" y="4571527"/>
            <a:ext cx="930275" cy="152400"/>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Tree>
    <p:extLst>
      <p:ext uri="{BB962C8B-B14F-4D97-AF65-F5344CB8AC3E}">
        <p14:creationId xmlns:p14="http://schemas.microsoft.com/office/powerpoint/2010/main" val="256670613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inVertical)">
                                      <p:cBhvr>
                                        <p:cTn id="7" dur="500"/>
                                        <p:tgtEl>
                                          <p:spTgt spid="2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barn(inVertical)">
                                      <p:cBhvr>
                                        <p:cTn id="10" dur="500"/>
                                        <p:tgtEl>
                                          <p:spTgt spid="50"/>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4000" fill="hold" grpId="0" nodeType="clickEffect">
                                  <p:stCondLst>
                                    <p:cond delay="0"/>
                                  </p:stCondLst>
                                  <p:childTnLst>
                                    <p:anim calcmode="discrete" valueType="str">
                                      <p:cBhvr>
                                        <p:cTn id="14" dur="1000" fill="hold"/>
                                        <p:tgtEl>
                                          <p:spTgt spid="5"/>
                                        </p:tgtEl>
                                        <p:attrNameLst>
                                          <p:attrName>style.visibility</p:attrName>
                                        </p:attrNameLst>
                                      </p:cBhvr>
                                      <p:tavLst>
                                        <p:tav tm="0">
                                          <p:val>
                                            <p:strVal val="hidden"/>
                                          </p:val>
                                        </p:tav>
                                        <p:tav tm="50000">
                                          <p:val>
                                            <p:strVal val="visible"/>
                                          </p:val>
                                        </p:tav>
                                      </p:tavLst>
                                    </p:anim>
                                  </p:childTnLst>
                                </p:cTn>
                              </p:par>
                              <p:par>
                                <p:cTn id="15" presetID="35" presetClass="emph" presetSubtype="0" repeatCount="4000" fill="hold" nodeType="withEffect">
                                  <p:stCondLst>
                                    <p:cond delay="0"/>
                                  </p:stCondLst>
                                  <p:childTnLst>
                                    <p:anim calcmode="discrete" valueType="str">
                                      <p:cBhvr>
                                        <p:cTn id="16" dur="1000" fill="hold"/>
                                        <p:tgtEl>
                                          <p:spTgt spid="7"/>
                                        </p:tgtEl>
                                        <p:attrNameLst>
                                          <p:attrName>style.visibility</p:attrName>
                                        </p:attrNameLst>
                                      </p:cBhvr>
                                      <p:tavLst>
                                        <p:tav tm="0">
                                          <p:val>
                                            <p:strVal val="hidden"/>
                                          </p:val>
                                        </p:tav>
                                        <p:tav tm="50000">
                                          <p:val>
                                            <p:strVal val="visible"/>
                                          </p:val>
                                        </p:tav>
                                      </p:tavLst>
                                    </p:anim>
                                  </p:childTnLst>
                                </p:cTn>
                              </p:par>
                              <p:par>
                                <p:cTn id="17" presetID="35" presetClass="emph" presetSubtype="0" repeatCount="4000" fill="hold" grpId="0" nodeType="withEffect">
                                  <p:stCondLst>
                                    <p:cond delay="0"/>
                                  </p:stCondLst>
                                  <p:childTnLst>
                                    <p:anim calcmode="discrete" valueType="str">
                                      <p:cBhvr>
                                        <p:cTn id="18" dur="1000" fill="hold"/>
                                        <p:tgtEl>
                                          <p:spTgt spid="6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5" grpId="0" animBg="1"/>
      <p:bldP spid="68" grpId="0"/>
      <p:bldP spid="5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17</a:t>
            </a:fld>
            <a:endParaRPr lang="zh-CN" altLang="en-US" dirty="0">
              <a:solidFill>
                <a:srgbClr val="C00000"/>
              </a:solidFill>
            </a:endParaRPr>
          </a:p>
        </p:txBody>
      </p:sp>
      <p:sp>
        <p:nvSpPr>
          <p:cNvPr id="8" name="Text Box 46"/>
          <p:cNvSpPr txBox="1">
            <a:spLocks noChangeArrowheads="1"/>
          </p:cNvSpPr>
          <p:nvPr/>
        </p:nvSpPr>
        <p:spPr bwMode="auto">
          <a:xfrm>
            <a:off x="1266808" y="4277692"/>
            <a:ext cx="281575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7675" indent="-447675"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地基失稳的三种破坏形式</a:t>
            </a:r>
          </a:p>
        </p:txBody>
      </p:sp>
      <p:pic>
        <p:nvPicPr>
          <p:cNvPr id="38" name="Picture 1045"/>
          <p:cNvPicPr>
            <a:picLocks noChangeAspect="1" noChangeArrowheads="1"/>
          </p:cNvPicPr>
          <p:nvPr/>
        </p:nvPicPr>
        <p:blipFill rotWithShape="1">
          <a:blip r:embed="rId3">
            <a:extLst>
              <a:ext uri="{28A0092B-C50C-407E-A947-70E740481C1C}">
                <a14:useLocalDpi xmlns:a14="http://schemas.microsoft.com/office/drawing/2010/main" val="0"/>
              </a:ext>
            </a:extLst>
          </a:blip>
          <a:srcRect t="12837" r="1509"/>
          <a:stretch/>
        </p:blipFill>
        <p:spPr bwMode="auto">
          <a:xfrm>
            <a:off x="954024" y="1417319"/>
            <a:ext cx="3581400" cy="2193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1047"/>
          <p:cNvPicPr>
            <a:picLocks noChangeAspect="1" noChangeArrowheads="1"/>
          </p:cNvPicPr>
          <p:nvPr/>
        </p:nvPicPr>
        <p:blipFill rotWithShape="1">
          <a:blip r:embed="rId4">
            <a:extLst>
              <a:ext uri="{28A0092B-C50C-407E-A947-70E740481C1C}">
                <a14:useLocalDpi xmlns:a14="http://schemas.microsoft.com/office/drawing/2010/main" val="0"/>
              </a:ext>
            </a:extLst>
          </a:blip>
          <a:srcRect l="3416" t="18729" r="3835" b="2423"/>
          <a:stretch/>
        </p:blipFill>
        <p:spPr bwMode="auto">
          <a:xfrm>
            <a:off x="5020056" y="4216232"/>
            <a:ext cx="3822192" cy="222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Rectangle 1058"/>
          <p:cNvSpPr>
            <a:spLocks noChangeArrowheads="1"/>
          </p:cNvSpPr>
          <p:nvPr/>
        </p:nvSpPr>
        <p:spPr bwMode="auto">
          <a:xfrm>
            <a:off x="5626608" y="3751262"/>
            <a:ext cx="2072640" cy="43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en-US" altLang="zh-CN" sz="2200" b="1" dirty="0">
                <a:solidFill>
                  <a:srgbClr val="CC0000"/>
                </a:solidFill>
                <a:latin typeface="幼圆" panose="02010509060101010101" pitchFamily="49" charset="-122"/>
                <a:ea typeface="幼圆" panose="02010509060101010101" pitchFamily="49" charset="-122"/>
              </a:rPr>
              <a:t>3 </a:t>
            </a:r>
            <a:r>
              <a:rPr lang="zh-CN" altLang="en-US" sz="2200" b="1" dirty="0">
                <a:solidFill>
                  <a:srgbClr val="CC0000"/>
                </a:solidFill>
                <a:latin typeface="幼圆" panose="02010509060101010101" pitchFamily="49" charset="-122"/>
                <a:ea typeface="幼圆" panose="02010509060101010101" pitchFamily="49" charset="-122"/>
              </a:rPr>
              <a:t>冲剪破坏</a:t>
            </a:r>
          </a:p>
        </p:txBody>
      </p:sp>
      <p:sp>
        <p:nvSpPr>
          <p:cNvPr id="53" name="Rectangle 1055"/>
          <p:cNvSpPr>
            <a:spLocks noChangeArrowheads="1"/>
          </p:cNvSpPr>
          <p:nvPr/>
        </p:nvSpPr>
        <p:spPr bwMode="auto">
          <a:xfrm>
            <a:off x="1286256" y="780288"/>
            <a:ext cx="2517648" cy="445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en-US" altLang="zh-CN" sz="2200" b="1" dirty="0">
                <a:solidFill>
                  <a:srgbClr val="CC0000"/>
                </a:solidFill>
                <a:latin typeface="幼圆" panose="02010509060101010101" pitchFamily="49" charset="-122"/>
                <a:ea typeface="幼圆" panose="02010509060101010101" pitchFamily="49" charset="-122"/>
              </a:rPr>
              <a:t>1 </a:t>
            </a:r>
            <a:r>
              <a:rPr lang="zh-CN" altLang="en-US" sz="2200" b="1" dirty="0">
                <a:solidFill>
                  <a:srgbClr val="CC0000"/>
                </a:solidFill>
                <a:latin typeface="幼圆" panose="02010509060101010101" pitchFamily="49" charset="-122"/>
                <a:ea typeface="幼圆" panose="02010509060101010101" pitchFamily="49" charset="-122"/>
              </a:rPr>
              <a:t>整体剪切破坏</a:t>
            </a:r>
          </a:p>
        </p:txBody>
      </p:sp>
      <p:sp>
        <p:nvSpPr>
          <p:cNvPr id="54" name="Rectangle 1057"/>
          <p:cNvSpPr>
            <a:spLocks noChangeArrowheads="1"/>
          </p:cNvSpPr>
          <p:nvPr/>
        </p:nvSpPr>
        <p:spPr bwMode="auto">
          <a:xfrm>
            <a:off x="5323396" y="807720"/>
            <a:ext cx="2657856" cy="40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en-US" altLang="zh-CN" sz="2200" b="1" dirty="0">
                <a:solidFill>
                  <a:srgbClr val="CC0000"/>
                </a:solidFill>
                <a:latin typeface="幼圆" panose="02010509060101010101" pitchFamily="49" charset="-122"/>
                <a:ea typeface="幼圆" panose="02010509060101010101" pitchFamily="49" charset="-122"/>
              </a:rPr>
              <a:t>2 </a:t>
            </a:r>
            <a:r>
              <a:rPr lang="zh-CN" altLang="en-US" sz="2200" b="1" dirty="0">
                <a:solidFill>
                  <a:srgbClr val="CC0000"/>
                </a:solidFill>
                <a:latin typeface="幼圆" panose="02010509060101010101" pitchFamily="49" charset="-122"/>
                <a:ea typeface="幼圆" panose="02010509060101010101" pitchFamily="49" charset="-122"/>
              </a:rPr>
              <a:t>局部剪切破坏</a:t>
            </a:r>
          </a:p>
        </p:txBody>
      </p:sp>
      <p:sp>
        <p:nvSpPr>
          <p:cNvPr id="55"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pic>
        <p:nvPicPr>
          <p:cNvPr id="2" name="图片 1"/>
          <p:cNvPicPr>
            <a:picLocks noChangeAspect="1"/>
          </p:cNvPicPr>
          <p:nvPr/>
        </p:nvPicPr>
        <p:blipFill rotWithShape="1">
          <a:blip r:embed="rId5"/>
          <a:srcRect t="-5912"/>
          <a:stretch/>
        </p:blipFill>
        <p:spPr>
          <a:xfrm>
            <a:off x="4962168" y="1394587"/>
            <a:ext cx="3847250" cy="2243717"/>
          </a:xfrm>
          <a:prstGeom prst="rect">
            <a:avLst/>
          </a:prstGeom>
        </p:spPr>
      </p:pic>
    </p:spTree>
    <p:extLst>
      <p:ext uri="{BB962C8B-B14F-4D97-AF65-F5344CB8AC3E}">
        <p14:creationId xmlns:p14="http://schemas.microsoft.com/office/powerpoint/2010/main" val="280501788"/>
      </p:ext>
    </p:extLst>
  </p:cSld>
  <p:clrMapOvr>
    <a:masterClrMapping/>
  </p:clrMapOvr>
  <p:transition spd="med">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18</a:t>
            </a:fld>
            <a:endParaRPr lang="zh-CN" altLang="en-US" dirty="0">
              <a:solidFill>
                <a:srgbClr val="C00000"/>
              </a:solidFill>
            </a:endParaRPr>
          </a:p>
        </p:txBody>
      </p:sp>
      <p:sp>
        <p:nvSpPr>
          <p:cNvPr id="8" name="Text Box 46"/>
          <p:cNvSpPr txBox="1">
            <a:spLocks noChangeArrowheads="1"/>
          </p:cNvSpPr>
          <p:nvPr/>
        </p:nvSpPr>
        <p:spPr bwMode="auto">
          <a:xfrm>
            <a:off x="297544" y="665812"/>
            <a:ext cx="46219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7675" indent="-447675"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地基失稳的三种破坏形式</a:t>
            </a:r>
          </a:p>
        </p:txBody>
      </p:sp>
      <p:sp>
        <p:nvSpPr>
          <p:cNvPr id="55"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§8.1  </a:t>
            </a:r>
            <a:r>
              <a:rPr lang="zh-CN" altLang="en-US" sz="1800" b="1" kern="900" spc="130" dirty="0">
                <a:solidFill>
                  <a:srgbClr val="000066"/>
                </a:solidFill>
                <a:ea typeface="黑体" panose="02010609060101010101" pitchFamily="49" charset="-122"/>
                <a:cs typeface="Times New Roman" panose="02020603050405020304" pitchFamily="18" charset="0"/>
              </a:rPr>
              <a:t>地基的失稳形式和过程</a:t>
            </a:r>
          </a:p>
        </p:txBody>
      </p:sp>
      <p:pic>
        <p:nvPicPr>
          <p:cNvPr id="1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0060" y="1180980"/>
            <a:ext cx="3072197" cy="4853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8"/>
          <p:cNvSpPr txBox="1">
            <a:spLocks noChangeArrowheads="1"/>
          </p:cNvSpPr>
          <p:nvPr/>
        </p:nvSpPr>
        <p:spPr bwMode="auto">
          <a:xfrm>
            <a:off x="2315718" y="4048504"/>
            <a:ext cx="2752344" cy="94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dirty="0">
                <a:solidFill>
                  <a:srgbClr val="000066"/>
                </a:solidFill>
                <a:latin typeface="幼圆" panose="02010509060101010101" pitchFamily="49" charset="-122"/>
                <a:ea typeface="幼圆" panose="02010509060101010101" pitchFamily="49" charset="-122"/>
              </a:rPr>
              <a:t>在软粘土上的密砂地基的冲剪破坏</a:t>
            </a:r>
          </a:p>
        </p:txBody>
      </p:sp>
      <p:sp>
        <p:nvSpPr>
          <p:cNvPr id="3" name="右箭头 2"/>
          <p:cNvSpPr/>
          <p:nvPr/>
        </p:nvSpPr>
        <p:spPr bwMode="auto">
          <a:xfrm>
            <a:off x="3600450" y="5185632"/>
            <a:ext cx="859536" cy="514033"/>
          </a:xfrm>
          <a:prstGeom prst="rightArrow">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1976819773"/>
      </p:ext>
    </p:extLst>
  </p:cSld>
  <p:clrMapOvr>
    <a:masterClrMapping/>
  </p:clrMapOvr>
  <p:transition spd="med">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780874"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§8.1  </a:t>
            </a:r>
            <a:r>
              <a:rPr kumimoji="1" lang="zh-CN" altLang="en-US" sz="2800" b="1" dirty="0">
                <a:solidFill>
                  <a:srgbClr val="000066"/>
                </a:solidFill>
                <a:ea typeface="幼圆" pitchFamily="49" charset="-122"/>
                <a:cs typeface="Times New Roman" panose="02020603050405020304" pitchFamily="18" charset="0"/>
              </a:rPr>
              <a:t>地基失稳的形式和过程</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§8.2 </a:t>
            </a:r>
            <a:r>
              <a:rPr kumimoji="1" lang="zh-CN" altLang="en-US" sz="2800" b="1" dirty="0">
                <a:solidFill>
                  <a:srgbClr val="000066"/>
                </a:solidFill>
                <a:ea typeface="幼圆" pitchFamily="49" charset="-122"/>
                <a:cs typeface="Times New Roman" panose="02020603050405020304" pitchFamily="18" charset="0"/>
              </a:rPr>
              <a:t>临塑荷载和临界荷载</a:t>
            </a:r>
            <a:endParaRPr kumimoji="1" lang="en-US" altLang="zh-CN"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§8.3 </a:t>
            </a:r>
            <a:r>
              <a:rPr kumimoji="1" lang="zh-CN" altLang="en-US" sz="2800" b="1" dirty="0">
                <a:solidFill>
                  <a:srgbClr val="000066"/>
                </a:solidFill>
                <a:ea typeface="幼圆" pitchFamily="49" charset="-122"/>
                <a:cs typeface="Times New Roman" panose="02020603050405020304" pitchFamily="18" charset="0"/>
              </a:rPr>
              <a:t>极限承载力计算</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§8.4 </a:t>
            </a:r>
            <a:r>
              <a:rPr kumimoji="1" lang="zh-CN" altLang="en-US" sz="2800" b="1" dirty="0">
                <a:solidFill>
                  <a:srgbClr val="000066"/>
                </a:solidFill>
                <a:ea typeface="幼圆" pitchFamily="49" charset="-122"/>
                <a:cs typeface="Times New Roman" panose="02020603050405020304" pitchFamily="18" charset="0"/>
              </a:rPr>
              <a:t>地基承载力的确定方法</a:t>
            </a:r>
          </a:p>
        </p:txBody>
      </p:sp>
      <p:sp>
        <p:nvSpPr>
          <p:cNvPr id="9" name="Text Box 4"/>
          <p:cNvSpPr txBox="1">
            <a:spLocks noChangeArrowheads="1"/>
          </p:cNvSpPr>
          <p:nvPr/>
        </p:nvSpPr>
        <p:spPr bwMode="auto">
          <a:xfrm>
            <a:off x="1986107" y="2550771"/>
            <a:ext cx="4469557"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a:solidFill>
                  <a:srgbClr val="003399"/>
                </a:solidFill>
                <a:ea typeface="幼圆" pitchFamily="49" charset="-122"/>
                <a:cs typeface="Times New Roman" panose="02020603050405020304" pitchFamily="18" charset="0"/>
              </a:rPr>
              <a:t>§8.2 </a:t>
            </a:r>
            <a:r>
              <a:rPr kumimoji="1" lang="zh-CN" altLang="en-US" sz="2800" b="1" dirty="0">
                <a:solidFill>
                  <a:srgbClr val="003399"/>
                </a:solidFill>
                <a:ea typeface="幼圆" pitchFamily="49" charset="-122"/>
                <a:cs typeface="Times New Roman" panose="02020603050405020304" pitchFamily="18" charset="0"/>
              </a:rPr>
              <a:t>临塑荷载和临界荷载</a:t>
            </a: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第八章：地基承载力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19</a:t>
            </a:fld>
            <a:endParaRPr lang="zh-CN" altLang="en-US" dirty="0">
              <a:solidFill>
                <a:srgbClr val="C00000"/>
              </a:solidFill>
            </a:endParaRPr>
          </a:p>
        </p:txBody>
      </p:sp>
    </p:spTree>
    <p:extLst>
      <p:ext uri="{BB962C8B-B14F-4D97-AF65-F5344CB8AC3E}">
        <p14:creationId xmlns:p14="http://schemas.microsoft.com/office/powerpoint/2010/main" val="190808859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668866" y="4012302"/>
            <a:ext cx="2312930" cy="1412013"/>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4" name="Line 23"/>
          <p:cNvSpPr>
            <a:spLocks noChangeShapeType="1"/>
          </p:cNvSpPr>
          <p:nvPr/>
        </p:nvSpPr>
        <p:spPr bwMode="auto">
          <a:xfrm>
            <a:off x="668768" y="4012302"/>
            <a:ext cx="2305878"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矩形 48"/>
          <p:cNvSpPr/>
          <p:nvPr/>
        </p:nvSpPr>
        <p:spPr bwMode="auto">
          <a:xfrm>
            <a:off x="3227295" y="4035767"/>
            <a:ext cx="2330389" cy="1412013"/>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20</a:t>
            </a:fld>
            <a:endParaRPr lang="zh-CN" altLang="en-US" dirty="0">
              <a:solidFill>
                <a:srgbClr val="C00000"/>
              </a:solidFill>
            </a:endParaRPr>
          </a:p>
        </p:txBody>
      </p:sp>
      <p:sp>
        <p:nvSpPr>
          <p:cNvPr id="222"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临塑荷载和临界荷载</a:t>
            </a:r>
          </a:p>
        </p:txBody>
      </p:sp>
      <p:sp>
        <p:nvSpPr>
          <p:cNvPr id="16"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sp>
        <p:nvSpPr>
          <p:cNvPr id="18" name="Freeform 29" descr="再生纸"/>
          <p:cNvSpPr>
            <a:spLocks/>
          </p:cNvSpPr>
          <p:nvPr/>
        </p:nvSpPr>
        <p:spPr bwMode="auto">
          <a:xfrm flipH="1">
            <a:off x="4858102" y="4436099"/>
            <a:ext cx="99527" cy="149386"/>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C00000"/>
            </a:solidFill>
            <a:prstDash val="dash"/>
            <a:round/>
            <a:headEnd/>
            <a:tailEnd/>
          </a:ln>
        </p:spPr>
        <p:txBody>
          <a:bodyPr wrap="none" anchor="ctr"/>
          <a:lstStyle/>
          <a:p>
            <a:endParaRPr lang="zh-CN" altLang="en-US"/>
          </a:p>
        </p:txBody>
      </p:sp>
      <p:sp>
        <p:nvSpPr>
          <p:cNvPr id="19" name="Freeform 29" descr="再生纸"/>
          <p:cNvSpPr>
            <a:spLocks/>
          </p:cNvSpPr>
          <p:nvPr/>
        </p:nvSpPr>
        <p:spPr bwMode="auto">
          <a:xfrm>
            <a:off x="3827938" y="4434489"/>
            <a:ext cx="99527" cy="149386"/>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C00000"/>
            </a:solidFill>
            <a:prstDash val="dash"/>
            <a:round/>
            <a:headEnd/>
            <a:tailEnd/>
          </a:ln>
        </p:spPr>
        <p:txBody>
          <a:bodyPr wrap="none" anchor="ctr"/>
          <a:lstStyle/>
          <a:p>
            <a:endParaRPr lang="zh-CN" altLang="en-US"/>
          </a:p>
        </p:txBody>
      </p:sp>
      <p:sp>
        <p:nvSpPr>
          <p:cNvPr id="21" name="Line 23"/>
          <p:cNvSpPr>
            <a:spLocks noChangeShapeType="1"/>
          </p:cNvSpPr>
          <p:nvPr/>
        </p:nvSpPr>
        <p:spPr bwMode="auto">
          <a:xfrm>
            <a:off x="3229024" y="4024715"/>
            <a:ext cx="2305878"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5"/>
          <p:cNvSpPr>
            <a:spLocks noChangeShapeType="1"/>
          </p:cNvSpPr>
          <p:nvPr/>
        </p:nvSpPr>
        <p:spPr bwMode="auto">
          <a:xfrm>
            <a:off x="4378261" y="3532885"/>
            <a:ext cx="0" cy="381000"/>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矩形 24"/>
          <p:cNvSpPr/>
          <p:nvPr/>
        </p:nvSpPr>
        <p:spPr>
          <a:xfrm>
            <a:off x="3727676" y="4759459"/>
            <a:ext cx="1349503" cy="369332"/>
          </a:xfrm>
          <a:prstGeom prst="rect">
            <a:avLst/>
          </a:prstGeom>
        </p:spPr>
        <p:txBody>
          <a:bodyPr wrap="square">
            <a:spAutoFit/>
          </a:bodyPr>
          <a:lstStyle/>
          <a:p>
            <a:pPr algn="ctr">
              <a:lnSpc>
                <a:spcPct val="100000"/>
              </a:lnSpc>
              <a:buClr>
                <a:srgbClr val="C00000"/>
              </a:buClr>
            </a:pPr>
            <a:r>
              <a:rPr lang="zh-CN" altLang="en-US" sz="18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塑性破坏区</a:t>
            </a:r>
          </a:p>
        </p:txBody>
      </p:sp>
      <p:cxnSp>
        <p:nvCxnSpPr>
          <p:cNvPr id="26" name="直接连接符 25"/>
          <p:cNvCxnSpPr/>
          <p:nvPr/>
        </p:nvCxnSpPr>
        <p:spPr bwMode="auto">
          <a:xfrm>
            <a:off x="3924252" y="4634580"/>
            <a:ext cx="96671" cy="17656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Text Box 21"/>
          <p:cNvSpPr txBox="1">
            <a:spLocks noChangeArrowheads="1"/>
          </p:cNvSpPr>
          <p:nvPr/>
        </p:nvSpPr>
        <p:spPr bwMode="auto">
          <a:xfrm>
            <a:off x="1883791" y="3294486"/>
            <a:ext cx="84991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p&lt;</a:t>
            </a: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cr</a:t>
            </a:r>
            <a:endParaRPr kumimoji="1" lang="en-US" altLang="zh-CN" sz="2400" b="1" baseline="-25000" dirty="0">
              <a:solidFill>
                <a:srgbClr val="000066"/>
              </a:solidFill>
              <a:latin typeface="Times New Roman" panose="02020603050405020304" pitchFamily="18" charset="0"/>
            </a:endParaRPr>
          </a:p>
        </p:txBody>
      </p:sp>
      <p:sp>
        <p:nvSpPr>
          <p:cNvPr id="48" name="Text Box 21"/>
          <p:cNvSpPr txBox="1">
            <a:spLocks noChangeArrowheads="1"/>
          </p:cNvSpPr>
          <p:nvPr/>
        </p:nvSpPr>
        <p:spPr bwMode="auto">
          <a:xfrm>
            <a:off x="4425410" y="3279909"/>
            <a:ext cx="84991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p&gt;</a:t>
            </a: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cr</a:t>
            </a:r>
            <a:endParaRPr kumimoji="1" lang="en-US" altLang="zh-CN" sz="2400" b="1" baseline="-25000" dirty="0">
              <a:solidFill>
                <a:srgbClr val="000066"/>
              </a:solidFill>
              <a:latin typeface="Times New Roman" panose="02020603050405020304" pitchFamily="18" charset="0"/>
            </a:endParaRPr>
          </a:p>
        </p:txBody>
      </p:sp>
      <p:sp>
        <p:nvSpPr>
          <p:cNvPr id="55" name="Line 25"/>
          <p:cNvSpPr>
            <a:spLocks noChangeShapeType="1"/>
          </p:cNvSpPr>
          <p:nvPr/>
        </p:nvSpPr>
        <p:spPr bwMode="auto">
          <a:xfrm>
            <a:off x="1818005" y="3526259"/>
            <a:ext cx="0" cy="381000"/>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矩形 41"/>
          <p:cNvSpPr/>
          <p:nvPr/>
        </p:nvSpPr>
        <p:spPr>
          <a:xfrm>
            <a:off x="2146649" y="5065579"/>
            <a:ext cx="892937" cy="410882"/>
          </a:xfrm>
          <a:prstGeom prst="rect">
            <a:avLst/>
          </a:prstGeom>
        </p:spPr>
        <p:txBody>
          <a:bodyPr wrap="square">
            <a:spAutoFit/>
          </a:bodyPr>
          <a:lstStyle/>
          <a:p>
            <a:pPr>
              <a:buClr>
                <a:srgbClr val="C00000"/>
              </a:buClr>
            </a:pPr>
            <a:r>
              <a:rPr lang="zh-CN" altLang="en-US" sz="18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弹性区</a:t>
            </a:r>
          </a:p>
        </p:txBody>
      </p:sp>
      <p:sp>
        <p:nvSpPr>
          <p:cNvPr id="47" name="Text Box 46"/>
          <p:cNvSpPr txBox="1">
            <a:spLocks noChangeArrowheads="1"/>
          </p:cNvSpPr>
          <p:nvPr/>
        </p:nvSpPr>
        <p:spPr bwMode="auto">
          <a:xfrm>
            <a:off x="491452" y="1208629"/>
            <a:ext cx="8195348" cy="216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14000"/>
              </a:lnSpc>
              <a:spcBef>
                <a:spcPts val="300"/>
              </a:spcBef>
              <a:spcAft>
                <a:spcPts val="300"/>
              </a:spcAft>
              <a:buSzPct val="130000"/>
              <a:buFont typeface="Wingdings" panose="05000000000000000000" pitchFamily="2" charset="2"/>
              <a:buChar char="F"/>
            </a:pPr>
            <a:r>
              <a:rPr lang="zh-CN" altLang="en-US" sz="2400" b="1" dirty="0">
                <a:solidFill>
                  <a:srgbClr val="A50021"/>
                </a:solidFill>
                <a:ea typeface="黑体" panose="02010609060101010101" pitchFamily="49" charset="-122"/>
                <a:cs typeface="Times New Roman" panose="02020603050405020304" pitchFamily="18" charset="0"/>
              </a:rPr>
              <a:t>临塑荷载 </a:t>
            </a:r>
            <a:r>
              <a:rPr lang="en-US" altLang="zh-CN" sz="2400" b="1" i="1" dirty="0" err="1">
                <a:solidFill>
                  <a:srgbClr val="A50021"/>
                </a:solidFill>
                <a:ea typeface="黑体" panose="02010609060101010101" pitchFamily="49" charset="-122"/>
                <a:cs typeface="Times New Roman" panose="02020603050405020304" pitchFamily="18" charset="0"/>
              </a:rPr>
              <a:t>p</a:t>
            </a:r>
            <a:r>
              <a:rPr lang="en-US" altLang="zh-CN" sz="2400" b="1" baseline="-25000" dirty="0" err="1">
                <a:solidFill>
                  <a:srgbClr val="A50021"/>
                </a:solidFill>
                <a:ea typeface="黑体" panose="02010609060101010101" pitchFamily="49" charset="-122"/>
                <a:cs typeface="Times New Roman" panose="02020603050405020304" pitchFamily="18" charset="0"/>
              </a:rPr>
              <a:t>cr</a:t>
            </a:r>
            <a:r>
              <a:rPr lang="en-US" altLang="zh-CN" sz="2200" b="1" dirty="0">
                <a:solidFill>
                  <a:srgbClr val="000066"/>
                </a:solidFill>
                <a:ea typeface="幼圆" panose="02010509060101010101" pitchFamily="49" charset="-122"/>
                <a:cs typeface="Times New Roman" panose="02020603050405020304" pitchFamily="18" charset="0"/>
              </a:rPr>
              <a:t>:</a:t>
            </a:r>
            <a:r>
              <a:rPr lang="zh-CN" altLang="en-US" sz="2200" b="1" dirty="0">
                <a:solidFill>
                  <a:srgbClr val="000066"/>
                </a:solidFill>
                <a:ea typeface="幼圆" panose="02010509060101010101" pitchFamily="49" charset="-122"/>
                <a:cs typeface="Times New Roman" panose="02020603050405020304" pitchFamily="18" charset="0"/>
              </a:rPr>
              <a:t>地基处于弹性阶段与局部塑性阶段界限状态时对应的荷载。此时地基中任一点都尚未达到，但即将要出现塑性破坏状态</a:t>
            </a:r>
            <a:endParaRPr lang="en-US" altLang="zh-CN" sz="2200" b="1" dirty="0">
              <a:solidFill>
                <a:srgbClr val="000066"/>
              </a:solidFill>
              <a:ea typeface="幼圆" panose="02010509060101010101" pitchFamily="49" charset="-122"/>
              <a:cs typeface="Times New Roman" panose="02020603050405020304" pitchFamily="18" charset="0"/>
            </a:endParaRPr>
          </a:p>
          <a:p>
            <a:pPr marL="442913" indent="-358775" eaLnBrk="1" hangingPunct="1">
              <a:lnSpc>
                <a:spcPct val="114000"/>
              </a:lnSpc>
              <a:spcBef>
                <a:spcPts val="300"/>
              </a:spcBef>
              <a:spcAft>
                <a:spcPts val="300"/>
              </a:spcAft>
              <a:buSzPct val="130000"/>
              <a:buFont typeface="Wingdings" panose="05000000000000000000" pitchFamily="2" charset="2"/>
              <a:buChar char="F"/>
            </a:pPr>
            <a:r>
              <a:rPr lang="zh-CN" altLang="en-US" sz="2400" b="1" dirty="0">
                <a:solidFill>
                  <a:srgbClr val="A50021"/>
                </a:solidFill>
                <a:ea typeface="黑体" panose="02010609060101010101" pitchFamily="49" charset="-122"/>
                <a:cs typeface="Times New Roman" panose="02020603050405020304" pitchFamily="18" charset="0"/>
              </a:rPr>
              <a:t>临界荷载</a:t>
            </a:r>
            <a:r>
              <a:rPr lang="en-US" altLang="zh-CN" sz="2400" b="1" i="1" dirty="0">
                <a:solidFill>
                  <a:srgbClr val="A50021"/>
                </a:solidFill>
                <a:ea typeface="黑体" panose="02010609060101010101" pitchFamily="49" charset="-122"/>
                <a:cs typeface="Times New Roman" panose="02020603050405020304" pitchFamily="18" charset="0"/>
              </a:rPr>
              <a:t>p</a:t>
            </a:r>
            <a:r>
              <a:rPr lang="en-US" altLang="zh-CN" sz="2400" b="1" baseline="-25000" dirty="0">
                <a:solidFill>
                  <a:srgbClr val="A50021"/>
                </a:solidFill>
                <a:ea typeface="黑体" panose="02010609060101010101" pitchFamily="49" charset="-122"/>
                <a:cs typeface="Times New Roman" panose="02020603050405020304" pitchFamily="18" charset="0"/>
              </a:rPr>
              <a:t>1/4</a:t>
            </a:r>
            <a:r>
              <a:rPr lang="zh-CN" altLang="en-US" sz="2400" b="1" dirty="0">
                <a:solidFill>
                  <a:srgbClr val="A50021"/>
                </a:solidFill>
                <a:ea typeface="黑体" panose="02010609060101010101" pitchFamily="49" charset="-122"/>
                <a:cs typeface="Times New Roman" panose="02020603050405020304" pitchFamily="18" charset="0"/>
              </a:rPr>
              <a:t>或</a:t>
            </a:r>
            <a:r>
              <a:rPr lang="en-US" altLang="zh-CN" sz="2400" b="1" i="1" dirty="0">
                <a:solidFill>
                  <a:srgbClr val="A50021"/>
                </a:solidFill>
                <a:ea typeface="黑体" panose="02010609060101010101" pitchFamily="49" charset="-122"/>
                <a:cs typeface="Times New Roman" panose="02020603050405020304" pitchFamily="18" charset="0"/>
              </a:rPr>
              <a:t>p</a:t>
            </a:r>
            <a:r>
              <a:rPr lang="en-US" altLang="zh-CN" sz="2400" b="1" baseline="-25000" dirty="0">
                <a:solidFill>
                  <a:srgbClr val="A50021"/>
                </a:solidFill>
                <a:ea typeface="黑体" panose="02010609060101010101" pitchFamily="49" charset="-122"/>
                <a:cs typeface="Times New Roman" panose="02020603050405020304" pitchFamily="18" charset="0"/>
              </a:rPr>
              <a:t>1/3</a:t>
            </a:r>
            <a:r>
              <a:rPr lang="zh-CN" altLang="en-US" sz="2200" b="1" dirty="0">
                <a:solidFill>
                  <a:srgbClr val="A50021"/>
                </a:solidFill>
                <a:ea typeface="黑体" panose="02010609060101010101" pitchFamily="49" charset="-122"/>
                <a:cs typeface="Times New Roman" panose="02020603050405020304" pitchFamily="18" charset="0"/>
              </a:rPr>
              <a:t> </a:t>
            </a:r>
            <a:r>
              <a:rPr lang="en-US" altLang="zh-CN" sz="2200" b="1" dirty="0">
                <a:solidFill>
                  <a:srgbClr val="000066"/>
                </a:solidFill>
                <a:ea typeface="幼圆" panose="02010509060101010101" pitchFamily="49" charset="-122"/>
                <a:cs typeface="Times New Roman" panose="02020603050405020304" pitchFamily="18" charset="0"/>
              </a:rPr>
              <a:t>:</a:t>
            </a:r>
            <a:r>
              <a:rPr lang="zh-CN" altLang="en-US" sz="2200" b="1" dirty="0">
                <a:solidFill>
                  <a:srgbClr val="000066"/>
                </a:solidFill>
                <a:ea typeface="幼圆" panose="02010509060101010101" pitchFamily="49" charset="-122"/>
                <a:cs typeface="Times New Roman" panose="02020603050405020304" pitchFamily="18" charset="0"/>
              </a:rPr>
              <a:t>基础下极限平衡区发展的最大深度等于基础宽度</a:t>
            </a:r>
            <a:r>
              <a:rPr lang="en-US" altLang="zh-CN" sz="2200" b="1" i="1" dirty="0">
                <a:solidFill>
                  <a:srgbClr val="000066"/>
                </a:solidFill>
                <a:ea typeface="幼圆" panose="02010509060101010101" pitchFamily="49" charset="-122"/>
                <a:cs typeface="Times New Roman" panose="02020603050405020304" pitchFamily="18" charset="0"/>
              </a:rPr>
              <a:t>b</a:t>
            </a:r>
            <a:r>
              <a:rPr lang="zh-CN" altLang="en-US" sz="2200" b="1" dirty="0">
                <a:solidFill>
                  <a:srgbClr val="000066"/>
                </a:solidFill>
                <a:ea typeface="幼圆" panose="02010509060101010101" pitchFamily="49" charset="-122"/>
                <a:cs typeface="Times New Roman" panose="02020603050405020304" pitchFamily="18" charset="0"/>
              </a:rPr>
              <a:t>的</a:t>
            </a:r>
            <a:r>
              <a:rPr lang="en-US" altLang="zh-CN" sz="2200" b="1" dirty="0">
                <a:solidFill>
                  <a:srgbClr val="000066"/>
                </a:solidFill>
                <a:ea typeface="幼圆" panose="02010509060101010101" pitchFamily="49" charset="-122"/>
                <a:cs typeface="Times New Roman" panose="02020603050405020304" pitchFamily="18" charset="0"/>
              </a:rPr>
              <a:t>1/4</a:t>
            </a:r>
            <a:r>
              <a:rPr lang="zh-CN" altLang="en-US" sz="2200" b="1" dirty="0">
                <a:solidFill>
                  <a:srgbClr val="000066"/>
                </a:solidFill>
                <a:ea typeface="幼圆" panose="02010509060101010101" pitchFamily="49" charset="-122"/>
                <a:cs typeface="Times New Roman" panose="02020603050405020304" pitchFamily="18" charset="0"/>
              </a:rPr>
              <a:t>或</a:t>
            </a:r>
            <a:r>
              <a:rPr lang="en-US" altLang="zh-CN" sz="2200" b="1" dirty="0">
                <a:solidFill>
                  <a:srgbClr val="000066"/>
                </a:solidFill>
                <a:ea typeface="幼圆" panose="02010509060101010101" pitchFamily="49" charset="-122"/>
                <a:cs typeface="Times New Roman" panose="02020603050405020304" pitchFamily="18" charset="0"/>
              </a:rPr>
              <a:t>1/3</a:t>
            </a:r>
            <a:r>
              <a:rPr lang="zh-CN" altLang="en-US" sz="2200" b="1" dirty="0">
                <a:solidFill>
                  <a:srgbClr val="000066"/>
                </a:solidFill>
                <a:ea typeface="幼圆" panose="02010509060101010101" pitchFamily="49" charset="-122"/>
                <a:cs typeface="Times New Roman" panose="02020603050405020304" pitchFamily="18" charset="0"/>
              </a:rPr>
              <a:t>时所相应的荷载</a:t>
            </a:r>
          </a:p>
        </p:txBody>
      </p:sp>
      <p:sp>
        <p:nvSpPr>
          <p:cNvPr id="46" name="Text Box 46"/>
          <p:cNvSpPr txBox="1">
            <a:spLocks noChangeArrowheads="1"/>
          </p:cNvSpPr>
          <p:nvPr/>
        </p:nvSpPr>
        <p:spPr bwMode="auto">
          <a:xfrm>
            <a:off x="297544" y="580753"/>
            <a:ext cx="46219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7675" indent="-447675"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临塑和临界荷载的定义</a:t>
            </a:r>
          </a:p>
        </p:txBody>
      </p:sp>
      <p:grpSp>
        <p:nvGrpSpPr>
          <p:cNvPr id="6" name="组合 5"/>
          <p:cNvGrpSpPr/>
          <p:nvPr/>
        </p:nvGrpSpPr>
        <p:grpSpPr>
          <a:xfrm>
            <a:off x="1352172" y="3918035"/>
            <a:ext cx="930275" cy="514937"/>
            <a:chOff x="1352172" y="3918035"/>
            <a:chExt cx="930275" cy="514937"/>
          </a:xfrm>
        </p:grpSpPr>
        <p:sp>
          <p:nvSpPr>
            <p:cNvPr id="56" name="Rectangle 24" descr="深色上对角线"/>
            <p:cNvSpPr>
              <a:spLocks noChangeArrowheads="1"/>
            </p:cNvSpPr>
            <p:nvPr/>
          </p:nvSpPr>
          <p:spPr bwMode="auto">
            <a:xfrm rot="5400000">
              <a:off x="1613702" y="4028943"/>
              <a:ext cx="412815" cy="190999"/>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52" name="Rectangle 24" descr="深色上对角线"/>
            <p:cNvSpPr>
              <a:spLocks noChangeArrowheads="1"/>
            </p:cNvSpPr>
            <p:nvPr/>
          </p:nvSpPr>
          <p:spPr bwMode="auto">
            <a:xfrm>
              <a:off x="1352172" y="4255290"/>
              <a:ext cx="930275" cy="177682"/>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grpSp>
        <p:nvGrpSpPr>
          <p:cNvPr id="57" name="组合 56"/>
          <p:cNvGrpSpPr/>
          <p:nvPr/>
        </p:nvGrpSpPr>
        <p:grpSpPr>
          <a:xfrm>
            <a:off x="3917893" y="3919965"/>
            <a:ext cx="930275" cy="514937"/>
            <a:chOff x="1352172" y="3918035"/>
            <a:chExt cx="930275" cy="514937"/>
          </a:xfrm>
        </p:grpSpPr>
        <p:sp>
          <p:nvSpPr>
            <p:cNvPr id="60" name="Rectangle 24" descr="深色上对角线"/>
            <p:cNvSpPr>
              <a:spLocks noChangeArrowheads="1"/>
            </p:cNvSpPr>
            <p:nvPr/>
          </p:nvSpPr>
          <p:spPr bwMode="auto">
            <a:xfrm rot="5400000">
              <a:off x="1613702" y="4028943"/>
              <a:ext cx="412815" cy="190999"/>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69" name="Rectangle 24" descr="深色上对角线"/>
            <p:cNvSpPr>
              <a:spLocks noChangeArrowheads="1"/>
            </p:cNvSpPr>
            <p:nvPr/>
          </p:nvSpPr>
          <p:spPr bwMode="auto">
            <a:xfrm>
              <a:off x="1352172" y="4255290"/>
              <a:ext cx="930275" cy="177682"/>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grpSp>
        <p:nvGrpSpPr>
          <p:cNvPr id="7" name="组合 6"/>
          <p:cNvGrpSpPr/>
          <p:nvPr/>
        </p:nvGrpSpPr>
        <p:grpSpPr>
          <a:xfrm>
            <a:off x="5802963" y="3298866"/>
            <a:ext cx="3190014" cy="2143826"/>
            <a:chOff x="5802963" y="3298866"/>
            <a:chExt cx="3190014" cy="2143826"/>
          </a:xfrm>
        </p:grpSpPr>
        <p:sp>
          <p:nvSpPr>
            <p:cNvPr id="50" name="矩形 49"/>
            <p:cNvSpPr/>
            <p:nvPr/>
          </p:nvSpPr>
          <p:spPr bwMode="auto">
            <a:xfrm>
              <a:off x="5802963" y="4030679"/>
              <a:ext cx="2314345" cy="1412013"/>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1" name="Freeform 29" descr="再生纸"/>
            <p:cNvSpPr>
              <a:spLocks/>
            </p:cNvSpPr>
            <p:nvPr/>
          </p:nvSpPr>
          <p:spPr bwMode="auto">
            <a:xfrm flipH="1">
              <a:off x="7422554" y="4429473"/>
              <a:ext cx="316265" cy="474702"/>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C00000"/>
              </a:solidFill>
              <a:prstDash val="dash"/>
              <a:round/>
              <a:headEnd/>
              <a:tailEnd/>
            </a:ln>
          </p:spPr>
          <p:txBody>
            <a:bodyPr wrap="none" anchor="ctr"/>
            <a:lstStyle/>
            <a:p>
              <a:endParaRPr lang="zh-CN" altLang="en-US"/>
            </a:p>
          </p:txBody>
        </p:sp>
        <p:sp>
          <p:nvSpPr>
            <p:cNvPr id="62" name="Freeform 29" descr="再生纸"/>
            <p:cNvSpPr>
              <a:spLocks/>
            </p:cNvSpPr>
            <p:nvPr/>
          </p:nvSpPr>
          <p:spPr bwMode="auto">
            <a:xfrm>
              <a:off x="6193606" y="4427863"/>
              <a:ext cx="316265" cy="474702"/>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C00000"/>
              </a:solidFill>
              <a:prstDash val="dash"/>
              <a:round/>
              <a:headEnd/>
              <a:tailEnd/>
            </a:ln>
          </p:spPr>
          <p:txBody>
            <a:bodyPr wrap="none" anchor="ctr"/>
            <a:lstStyle/>
            <a:p>
              <a:endParaRPr lang="zh-CN" altLang="en-US"/>
            </a:p>
          </p:txBody>
        </p:sp>
        <p:sp>
          <p:nvSpPr>
            <p:cNvPr id="63" name="Line 23"/>
            <p:cNvSpPr>
              <a:spLocks noChangeShapeType="1"/>
            </p:cNvSpPr>
            <p:nvPr/>
          </p:nvSpPr>
          <p:spPr bwMode="auto">
            <a:xfrm>
              <a:off x="5811430" y="4018089"/>
              <a:ext cx="2305878"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25"/>
            <p:cNvSpPr>
              <a:spLocks noChangeShapeType="1"/>
            </p:cNvSpPr>
            <p:nvPr/>
          </p:nvSpPr>
          <p:spPr bwMode="auto">
            <a:xfrm>
              <a:off x="6960667" y="3514685"/>
              <a:ext cx="0" cy="381000"/>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矩形 64"/>
            <p:cNvSpPr/>
            <p:nvPr/>
          </p:nvSpPr>
          <p:spPr>
            <a:xfrm>
              <a:off x="5904566" y="5054983"/>
              <a:ext cx="1349503" cy="369332"/>
            </a:xfrm>
            <a:prstGeom prst="rect">
              <a:avLst/>
            </a:prstGeom>
          </p:spPr>
          <p:txBody>
            <a:bodyPr wrap="square">
              <a:spAutoFit/>
            </a:bodyPr>
            <a:lstStyle/>
            <a:p>
              <a:pPr algn="ctr">
                <a:lnSpc>
                  <a:spcPct val="100000"/>
                </a:lnSpc>
                <a:buClr>
                  <a:srgbClr val="C00000"/>
                </a:buClr>
              </a:pPr>
              <a:r>
                <a:rPr lang="zh-CN" altLang="en-US" sz="18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塑性破坏区</a:t>
              </a:r>
            </a:p>
          </p:txBody>
        </p:sp>
        <p:cxnSp>
          <p:nvCxnSpPr>
            <p:cNvPr id="66" name="直接连接符 65"/>
            <p:cNvCxnSpPr/>
            <p:nvPr/>
          </p:nvCxnSpPr>
          <p:spPr bwMode="auto">
            <a:xfrm>
              <a:off x="6441781" y="4890347"/>
              <a:ext cx="96671" cy="17656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 name="直接连接符 2"/>
            <p:cNvCxnSpPr/>
            <p:nvPr/>
          </p:nvCxnSpPr>
          <p:spPr bwMode="auto">
            <a:xfrm>
              <a:off x="6488381" y="4538321"/>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p:cNvCxnSpPr/>
            <p:nvPr/>
          </p:nvCxnSpPr>
          <p:spPr bwMode="auto">
            <a:xfrm>
              <a:off x="7409030" y="4533326"/>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p:cNvCxnSpPr/>
            <p:nvPr/>
          </p:nvCxnSpPr>
          <p:spPr bwMode="auto">
            <a:xfrm>
              <a:off x="6488382" y="4590787"/>
              <a:ext cx="930171"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 Box 21"/>
            <p:cNvSpPr txBox="1">
              <a:spLocks noChangeArrowheads="1"/>
            </p:cNvSpPr>
            <p:nvPr/>
          </p:nvSpPr>
          <p:spPr bwMode="auto">
            <a:xfrm>
              <a:off x="6762772" y="4500266"/>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990000"/>
                  </a:solidFill>
                  <a:latin typeface="Times New Roman" panose="02020603050405020304" pitchFamily="18" charset="0"/>
                </a:rPr>
                <a:t>b</a:t>
              </a:r>
              <a:endParaRPr kumimoji="1" lang="en-US" altLang="zh-CN" sz="2400" b="1" baseline="-25000" dirty="0">
                <a:solidFill>
                  <a:srgbClr val="990000"/>
                </a:solidFill>
                <a:latin typeface="Times New Roman" panose="02020603050405020304" pitchFamily="18" charset="0"/>
              </a:endParaRPr>
            </a:p>
          </p:txBody>
        </p:sp>
        <p:cxnSp>
          <p:nvCxnSpPr>
            <p:cNvPr id="40" name="直接连接符 39"/>
            <p:cNvCxnSpPr/>
            <p:nvPr/>
          </p:nvCxnSpPr>
          <p:spPr bwMode="auto">
            <a:xfrm flipH="1">
              <a:off x="7714510" y="4431634"/>
              <a:ext cx="24993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p:cNvCxnSpPr/>
            <p:nvPr/>
          </p:nvCxnSpPr>
          <p:spPr bwMode="auto">
            <a:xfrm rot="5400000">
              <a:off x="7916973" y="4854549"/>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p:cNvCxnSpPr/>
            <p:nvPr/>
          </p:nvCxnSpPr>
          <p:spPr bwMode="auto">
            <a:xfrm>
              <a:off x="7911977" y="4429410"/>
              <a:ext cx="0" cy="47244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 name="对象 1"/>
            <p:cNvGraphicFramePr>
              <a:graphicFrameLocks noChangeAspect="1"/>
            </p:cNvGraphicFramePr>
            <p:nvPr>
              <p:extLst>
                <p:ext uri="{D42A27DB-BD31-4B8C-83A1-F6EECF244321}">
                  <p14:modId xmlns:p14="http://schemas.microsoft.com/office/powerpoint/2010/main" val="2558941436"/>
                </p:ext>
              </p:extLst>
            </p:nvPr>
          </p:nvGraphicFramePr>
          <p:xfrm>
            <a:off x="8092865" y="4396135"/>
            <a:ext cx="900112" cy="563563"/>
          </p:xfrm>
          <a:graphic>
            <a:graphicData uri="http://schemas.openxmlformats.org/presentationml/2006/ole">
              <mc:AlternateContent xmlns:mc="http://schemas.openxmlformats.org/markup-compatibility/2006">
                <mc:Choice xmlns:v="urn:schemas-microsoft-com:vml" Requires="v">
                  <p:oleObj spid="_x0000_s1797490" name="Equation" r:id="rId4" imgW="647640" imgH="406080" progId="Equation.KSEE3">
                    <p:embed/>
                  </p:oleObj>
                </mc:Choice>
                <mc:Fallback>
                  <p:oleObj name="Equation" r:id="rId4" imgW="647640" imgH="406080" progId="Equation.KSEE3">
                    <p:embed/>
                    <p:pic>
                      <p:nvPicPr>
                        <p:cNvPr id="2" name="对象 1"/>
                        <p:cNvPicPr/>
                        <p:nvPr/>
                      </p:nvPicPr>
                      <p:blipFill>
                        <a:blip r:embed="rId5"/>
                        <a:stretch>
                          <a:fillRect/>
                        </a:stretch>
                      </p:blipFill>
                      <p:spPr>
                        <a:xfrm>
                          <a:off x="8092865" y="4396135"/>
                          <a:ext cx="900112" cy="563563"/>
                        </a:xfrm>
                        <a:prstGeom prst="rect">
                          <a:avLst/>
                        </a:prstGeom>
                      </p:spPr>
                    </p:pic>
                  </p:oleObj>
                </mc:Fallback>
              </mc:AlternateContent>
            </a:graphicData>
          </a:graphic>
        </p:graphicFrame>
        <p:graphicFrame>
          <p:nvGraphicFramePr>
            <p:cNvPr id="45" name="对象 44"/>
            <p:cNvGraphicFramePr>
              <a:graphicFrameLocks noChangeAspect="1"/>
            </p:cNvGraphicFramePr>
            <p:nvPr>
              <p:extLst>
                <p:ext uri="{D42A27DB-BD31-4B8C-83A1-F6EECF244321}">
                  <p14:modId xmlns:p14="http://schemas.microsoft.com/office/powerpoint/2010/main" val="203884665"/>
                </p:ext>
              </p:extLst>
            </p:nvPr>
          </p:nvGraphicFramePr>
          <p:xfrm>
            <a:off x="7011582" y="3298866"/>
            <a:ext cx="1282836" cy="417132"/>
          </p:xfrm>
          <a:graphic>
            <a:graphicData uri="http://schemas.openxmlformats.org/presentationml/2006/ole">
              <mc:AlternateContent xmlns:mc="http://schemas.openxmlformats.org/markup-compatibility/2006">
                <mc:Choice xmlns:v="urn:schemas-microsoft-com:vml" Requires="v">
                  <p:oleObj spid="_x0000_s1797491" name="Equation" r:id="rId6" imgW="698400" imgH="228600" progId="Equation.KSEE3">
                    <p:embed/>
                  </p:oleObj>
                </mc:Choice>
                <mc:Fallback>
                  <p:oleObj name="Equation" r:id="rId6" imgW="698400" imgH="228600" progId="Equation.KSEE3">
                    <p:embed/>
                    <p:pic>
                      <p:nvPicPr>
                        <p:cNvPr id="45" name="对象 44"/>
                        <p:cNvPicPr/>
                        <p:nvPr/>
                      </p:nvPicPr>
                      <p:blipFill>
                        <a:blip r:embed="rId7"/>
                        <a:stretch>
                          <a:fillRect/>
                        </a:stretch>
                      </p:blipFill>
                      <p:spPr>
                        <a:xfrm>
                          <a:off x="7011582" y="3298866"/>
                          <a:ext cx="1282836" cy="417132"/>
                        </a:xfrm>
                        <a:prstGeom prst="rect">
                          <a:avLst/>
                        </a:prstGeom>
                      </p:spPr>
                    </p:pic>
                  </p:oleObj>
                </mc:Fallback>
              </mc:AlternateContent>
            </a:graphicData>
          </a:graphic>
        </p:graphicFrame>
        <p:sp>
          <p:nvSpPr>
            <p:cNvPr id="70" name="Rectangle 24" descr="深色上对角线"/>
            <p:cNvSpPr>
              <a:spLocks noChangeArrowheads="1"/>
            </p:cNvSpPr>
            <p:nvPr/>
          </p:nvSpPr>
          <p:spPr bwMode="auto">
            <a:xfrm rot="5400000">
              <a:off x="6766365" y="4030872"/>
              <a:ext cx="412815" cy="190999"/>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71" name="Rectangle 24" descr="深色上对角线"/>
            <p:cNvSpPr>
              <a:spLocks noChangeArrowheads="1"/>
            </p:cNvSpPr>
            <p:nvPr/>
          </p:nvSpPr>
          <p:spPr bwMode="auto">
            <a:xfrm>
              <a:off x="6504835" y="4257219"/>
              <a:ext cx="930275" cy="177682"/>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spTree>
    <p:extLst>
      <p:ext uri="{BB962C8B-B14F-4D97-AF65-F5344CB8AC3E}">
        <p14:creationId xmlns:p14="http://schemas.microsoft.com/office/powerpoint/2010/main" val="117419884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barn(inVertical)">
                                      <p:cBhvr>
                                        <p:cTn id="7" dur="500"/>
                                        <p:tgtEl>
                                          <p:spTgt spid="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7">
                                            <p:txEl>
                                              <p:pRg st="1" end="1"/>
                                            </p:txEl>
                                          </p:spTgt>
                                        </p:tgtEl>
                                        <p:attrNameLst>
                                          <p:attrName>style.visibility</p:attrName>
                                        </p:attrNameLst>
                                      </p:cBhvr>
                                      <p:to>
                                        <p:strVal val="visible"/>
                                      </p:to>
                                    </p:set>
                                    <p:animEffect transition="in" filter="barn(inVertical)">
                                      <p:cBhvr>
                                        <p:cTn id="12" dur="500"/>
                                        <p:tgtEl>
                                          <p:spTgt spid="47">
                                            <p:txEl>
                                              <p:pRg st="1" end="1"/>
                                            </p:txEl>
                                          </p:spTgt>
                                        </p:tgtEl>
                                      </p:cBhvr>
                                    </p:animEffect>
                                  </p:childTnLst>
                                </p:cTn>
                              </p:par>
                              <p:par>
                                <p:cTn id="13" presetID="21" presetClass="entr" presetSubtype="1"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heel(1)">
                                      <p:cBhvr>
                                        <p:cTn id="1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21</a:t>
            </a:fld>
            <a:endParaRPr lang="zh-CN" altLang="en-US" dirty="0">
              <a:solidFill>
                <a:srgbClr val="C00000"/>
              </a:solidFill>
            </a:endParaRPr>
          </a:p>
        </p:txBody>
      </p:sp>
      <p:sp>
        <p:nvSpPr>
          <p:cNvPr id="222"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临塑荷载和临界荷载</a:t>
            </a:r>
          </a:p>
        </p:txBody>
      </p:sp>
      <p:sp>
        <p:nvSpPr>
          <p:cNvPr id="16"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sp>
        <p:nvSpPr>
          <p:cNvPr id="47" name="Text Box 46"/>
          <p:cNvSpPr txBox="1">
            <a:spLocks noChangeArrowheads="1"/>
          </p:cNvSpPr>
          <p:nvPr/>
        </p:nvSpPr>
        <p:spPr bwMode="auto">
          <a:xfrm>
            <a:off x="682839" y="1495695"/>
            <a:ext cx="7504231"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ts val="600"/>
              </a:spcBef>
              <a:spcAft>
                <a:spcPts val="600"/>
              </a:spcAft>
              <a:buClr>
                <a:srgbClr val="C00000"/>
              </a:buClr>
              <a:buSzPct val="130000"/>
              <a:buFont typeface="Wingdings" panose="05000000000000000000" pitchFamily="2" charset="2"/>
              <a:buChar char="F"/>
            </a:pPr>
            <a:r>
              <a:rPr lang="zh-CN" altLang="en-US" sz="2400" b="1" dirty="0">
                <a:solidFill>
                  <a:srgbClr val="000066"/>
                </a:solidFill>
                <a:ea typeface="幼圆" panose="02010509060101010101" pitchFamily="49" charset="-122"/>
                <a:cs typeface="Times New Roman" panose="02020603050405020304" pitchFamily="18" charset="0"/>
              </a:rPr>
              <a:t>设计中往往选用临塑荷载</a:t>
            </a:r>
            <a:r>
              <a:rPr lang="en-US" altLang="zh-CN" sz="2400" b="1" i="1" dirty="0" err="1">
                <a:solidFill>
                  <a:srgbClr val="000066"/>
                </a:solidFill>
                <a:ea typeface="幼圆" panose="02010509060101010101" pitchFamily="49" charset="-122"/>
                <a:cs typeface="Times New Roman" panose="02020603050405020304" pitchFamily="18" charset="0"/>
              </a:rPr>
              <a:t>p</a:t>
            </a:r>
            <a:r>
              <a:rPr lang="en-US" altLang="zh-CN" sz="2400" b="1" baseline="-25000" dirty="0" err="1">
                <a:solidFill>
                  <a:srgbClr val="000066"/>
                </a:solidFill>
                <a:ea typeface="幼圆" panose="02010509060101010101" pitchFamily="49" charset="-122"/>
                <a:cs typeface="Times New Roman" panose="02020603050405020304" pitchFamily="18" charset="0"/>
              </a:rPr>
              <a:t>cr</a:t>
            </a:r>
            <a:r>
              <a:rPr lang="zh-CN" altLang="en-US" sz="2400" b="1" dirty="0">
                <a:solidFill>
                  <a:srgbClr val="000066"/>
                </a:solidFill>
                <a:ea typeface="幼圆" panose="02010509060101010101" pitchFamily="49" charset="-122"/>
                <a:cs typeface="Times New Roman" panose="02020603050405020304" pitchFamily="18" charset="0"/>
              </a:rPr>
              <a:t>或比其稍大的临界荷载</a:t>
            </a:r>
            <a:r>
              <a:rPr lang="en-US" altLang="zh-CN" sz="2400" b="1" i="1" dirty="0">
                <a:solidFill>
                  <a:srgbClr val="000066"/>
                </a:solidFill>
                <a:ea typeface="幼圆" panose="02010509060101010101" pitchFamily="49" charset="-122"/>
                <a:cs typeface="Times New Roman" panose="02020603050405020304" pitchFamily="18" charset="0"/>
              </a:rPr>
              <a:t>p</a:t>
            </a:r>
            <a:r>
              <a:rPr lang="en-US" altLang="zh-CN" sz="2400" b="1" baseline="-25000" dirty="0">
                <a:solidFill>
                  <a:srgbClr val="000066"/>
                </a:solidFill>
                <a:ea typeface="幼圆" panose="02010509060101010101" pitchFamily="49" charset="-122"/>
                <a:cs typeface="Times New Roman" panose="02020603050405020304" pitchFamily="18" charset="0"/>
              </a:rPr>
              <a:t>1/4</a:t>
            </a:r>
            <a:r>
              <a:rPr lang="zh-CN" altLang="en-US" sz="2400" b="1" dirty="0">
                <a:solidFill>
                  <a:srgbClr val="000066"/>
                </a:solidFill>
                <a:ea typeface="幼圆" panose="02010509060101010101" pitchFamily="49" charset="-122"/>
                <a:cs typeface="Times New Roman" panose="02020603050405020304" pitchFamily="18" charset="0"/>
              </a:rPr>
              <a:t>和</a:t>
            </a:r>
            <a:r>
              <a:rPr lang="en-US" altLang="zh-CN" sz="2400" b="1" i="1" dirty="0">
                <a:solidFill>
                  <a:srgbClr val="000066"/>
                </a:solidFill>
                <a:ea typeface="幼圆" panose="02010509060101010101" pitchFamily="49" charset="-122"/>
                <a:cs typeface="Times New Roman" panose="02020603050405020304" pitchFamily="18" charset="0"/>
              </a:rPr>
              <a:t>p</a:t>
            </a:r>
            <a:r>
              <a:rPr lang="en-US" altLang="zh-CN" sz="2400" b="1" baseline="-25000" dirty="0">
                <a:solidFill>
                  <a:srgbClr val="000066"/>
                </a:solidFill>
                <a:ea typeface="幼圆" panose="02010509060101010101" pitchFamily="49" charset="-122"/>
                <a:cs typeface="Times New Roman" panose="02020603050405020304" pitchFamily="18" charset="0"/>
              </a:rPr>
              <a:t>1/3</a:t>
            </a:r>
            <a:r>
              <a:rPr lang="zh-CN" altLang="en-US" sz="2400" b="1" dirty="0">
                <a:solidFill>
                  <a:srgbClr val="000066"/>
                </a:solidFill>
                <a:ea typeface="幼圆" panose="02010509060101010101" pitchFamily="49" charset="-122"/>
                <a:cs typeface="Times New Roman" panose="02020603050405020304" pitchFamily="18" charset="0"/>
              </a:rPr>
              <a:t>作为地基容许承载力的初值</a:t>
            </a:r>
            <a:endParaRPr lang="en-US" altLang="zh-CN" sz="2400" b="1" dirty="0">
              <a:solidFill>
                <a:srgbClr val="000066"/>
              </a:solidFill>
              <a:ea typeface="幼圆" panose="02010509060101010101" pitchFamily="49" charset="-122"/>
              <a:cs typeface="Times New Roman" panose="02020603050405020304" pitchFamily="18" charset="0"/>
            </a:endParaRPr>
          </a:p>
          <a:p>
            <a:pPr marL="442913" indent="-358775" eaLnBrk="1" hangingPunct="1">
              <a:lnSpc>
                <a:spcPct val="125000"/>
              </a:lnSpc>
              <a:spcBef>
                <a:spcPts val="600"/>
              </a:spcBef>
              <a:spcAft>
                <a:spcPts val="600"/>
              </a:spcAft>
              <a:buClr>
                <a:srgbClr val="C00000"/>
              </a:buClr>
              <a:buSzPct val="130000"/>
              <a:buFont typeface="Wingdings" panose="05000000000000000000" pitchFamily="2" charset="2"/>
              <a:buChar char="F"/>
            </a:pPr>
            <a:r>
              <a:rPr lang="zh-CN" altLang="en-US" sz="2400" b="1" dirty="0">
                <a:solidFill>
                  <a:srgbClr val="000066"/>
                </a:solidFill>
                <a:ea typeface="幼圆" panose="02010509060101010101" pitchFamily="49" charset="-122"/>
                <a:cs typeface="Times New Roman" panose="02020603050405020304" pitchFamily="18" charset="0"/>
              </a:rPr>
              <a:t>此时地基处于即将产生或已产生局部极限平衡状态，但距离整体失稳仍有足够的安全系数</a:t>
            </a:r>
          </a:p>
          <a:p>
            <a:pPr marL="442913" indent="-358775" eaLnBrk="1" hangingPunct="1">
              <a:lnSpc>
                <a:spcPct val="125000"/>
              </a:lnSpc>
              <a:spcBef>
                <a:spcPts val="600"/>
              </a:spcBef>
              <a:spcAft>
                <a:spcPts val="600"/>
              </a:spcAft>
              <a:buClr>
                <a:srgbClr val="C00000"/>
              </a:buClr>
              <a:buSzPct val="130000"/>
              <a:buFont typeface="Wingdings" panose="05000000000000000000" pitchFamily="2" charset="2"/>
              <a:buChar char="F"/>
            </a:pPr>
            <a:r>
              <a:rPr lang="zh-CN" altLang="en-US" sz="2400" b="1" dirty="0">
                <a:solidFill>
                  <a:srgbClr val="000066"/>
                </a:solidFill>
                <a:ea typeface="幼圆" panose="02010509060101010101" pitchFamily="49" charset="-122"/>
                <a:cs typeface="Times New Roman" panose="02020603050405020304" pitchFamily="18" charset="0"/>
              </a:rPr>
              <a:t>地基中处于极限平衡区的范围不大，仍可以近似当成弹性半空间体，用弹性理论计算地基中的应力，以便计算变形量</a:t>
            </a:r>
          </a:p>
        </p:txBody>
      </p:sp>
      <p:sp>
        <p:nvSpPr>
          <p:cNvPr id="53" name="Text Box 46"/>
          <p:cNvSpPr txBox="1">
            <a:spLocks noChangeArrowheads="1"/>
          </p:cNvSpPr>
          <p:nvPr/>
        </p:nvSpPr>
        <p:spPr bwMode="auto">
          <a:xfrm>
            <a:off x="297544" y="580753"/>
            <a:ext cx="46219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7675" indent="-447675"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临塑和临界荷载的特性</a:t>
            </a:r>
          </a:p>
        </p:txBody>
      </p:sp>
    </p:spTree>
    <p:extLst>
      <p:ext uri="{BB962C8B-B14F-4D97-AF65-F5344CB8AC3E}">
        <p14:creationId xmlns:p14="http://schemas.microsoft.com/office/powerpoint/2010/main" val="376472643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inVertical)">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p:cNvSpPr/>
          <p:nvPr/>
        </p:nvSpPr>
        <p:spPr bwMode="auto">
          <a:xfrm>
            <a:off x="5125502" y="4464596"/>
            <a:ext cx="3535898" cy="799003"/>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1" name="矩形 70"/>
          <p:cNvSpPr/>
          <p:nvPr/>
        </p:nvSpPr>
        <p:spPr bwMode="auto">
          <a:xfrm>
            <a:off x="830030" y="4062850"/>
            <a:ext cx="2766138" cy="1183743"/>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38" name="组合 37"/>
          <p:cNvGrpSpPr/>
          <p:nvPr/>
        </p:nvGrpSpPr>
        <p:grpSpPr>
          <a:xfrm>
            <a:off x="6226235" y="3920292"/>
            <a:ext cx="1314450" cy="531427"/>
            <a:chOff x="6252391" y="1449388"/>
            <a:chExt cx="1314450" cy="531427"/>
          </a:xfrm>
        </p:grpSpPr>
        <p:sp>
          <p:nvSpPr>
            <p:cNvPr id="58"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22</a:t>
            </a:fld>
            <a:endParaRPr lang="zh-CN" altLang="en-US" dirty="0">
              <a:solidFill>
                <a:srgbClr val="C00000"/>
              </a:solidFill>
            </a:endParaRPr>
          </a:p>
        </p:txBody>
      </p:sp>
      <p:sp>
        <p:nvSpPr>
          <p:cNvPr id="13" name="Text Box 46"/>
          <p:cNvSpPr txBox="1">
            <a:spLocks noChangeArrowheads="1"/>
          </p:cNvSpPr>
          <p:nvPr/>
        </p:nvSpPr>
        <p:spPr bwMode="auto">
          <a:xfrm>
            <a:off x="464159" y="720845"/>
            <a:ext cx="27406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一般计算方法</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a:t>
            </a:r>
          </a:p>
        </p:txBody>
      </p:sp>
      <p:sp>
        <p:nvSpPr>
          <p:cNvPr id="17" name="Line 23"/>
          <p:cNvSpPr>
            <a:spLocks noChangeShapeType="1"/>
          </p:cNvSpPr>
          <p:nvPr/>
        </p:nvSpPr>
        <p:spPr bwMode="auto">
          <a:xfrm>
            <a:off x="827089" y="4059760"/>
            <a:ext cx="2773361"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2246875" y="3451978"/>
            <a:ext cx="0" cy="436177"/>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23"/>
          <p:cNvSpPr>
            <a:spLocks noChangeShapeType="1"/>
          </p:cNvSpPr>
          <p:nvPr/>
        </p:nvSpPr>
        <p:spPr bwMode="auto">
          <a:xfrm>
            <a:off x="5092495" y="4070877"/>
            <a:ext cx="3576841" cy="0"/>
          </a:xfrm>
          <a:prstGeom prst="line">
            <a:avLst/>
          </a:prstGeom>
          <a:noFill/>
          <a:ln w="25400"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8" name="直接连接符 7"/>
          <p:cNvCxnSpPr/>
          <p:nvPr/>
        </p:nvCxnSpPr>
        <p:spPr bwMode="auto">
          <a:xfrm>
            <a:off x="827089" y="4472728"/>
            <a:ext cx="2773361" cy="0"/>
          </a:xfrm>
          <a:prstGeom prst="line">
            <a:avLst/>
          </a:prstGeom>
          <a:noFill/>
          <a:ln w="190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p:cNvCxnSpPr/>
          <p:nvPr/>
        </p:nvCxnSpPr>
        <p:spPr bwMode="auto">
          <a:xfrm flipH="1">
            <a:off x="6228828" y="3913152"/>
            <a:ext cx="131226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p:cNvCxnSpPr/>
          <p:nvPr/>
        </p:nvCxnSpPr>
        <p:spPr bwMode="auto">
          <a:xfrm>
            <a:off x="1013772" y="4063596"/>
            <a:ext cx="0" cy="416217"/>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p:cNvCxnSpPr/>
          <p:nvPr/>
        </p:nvCxnSpPr>
        <p:spPr bwMode="auto">
          <a:xfrm>
            <a:off x="1581610" y="4892425"/>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p:cNvCxnSpPr/>
          <p:nvPr/>
        </p:nvCxnSpPr>
        <p:spPr bwMode="auto">
          <a:xfrm>
            <a:off x="2929996" y="4887430"/>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p:cNvCxnSpPr/>
          <p:nvPr/>
        </p:nvCxnSpPr>
        <p:spPr bwMode="auto">
          <a:xfrm>
            <a:off x="1581611" y="4944891"/>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 Box 21"/>
          <p:cNvSpPr txBox="1">
            <a:spLocks noChangeArrowheads="1"/>
          </p:cNvSpPr>
          <p:nvPr/>
        </p:nvSpPr>
        <p:spPr bwMode="auto">
          <a:xfrm>
            <a:off x="2062130" y="4854370"/>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sp>
        <p:nvSpPr>
          <p:cNvPr id="33" name="Text Box 21"/>
          <p:cNvSpPr txBox="1">
            <a:spLocks noChangeArrowheads="1"/>
          </p:cNvSpPr>
          <p:nvPr/>
        </p:nvSpPr>
        <p:spPr bwMode="auto">
          <a:xfrm>
            <a:off x="1030897" y="4027945"/>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34" name="Text Box 21"/>
          <p:cNvSpPr txBox="1">
            <a:spLocks noChangeArrowheads="1"/>
          </p:cNvSpPr>
          <p:nvPr/>
        </p:nvSpPr>
        <p:spPr bwMode="auto">
          <a:xfrm>
            <a:off x="3168597" y="3935644"/>
            <a:ext cx="311304" cy="477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sym typeface="Symbol" panose="05050102010706020507" pitchFamily="18" charset="2"/>
              </a:rPr>
              <a:t></a:t>
            </a:r>
            <a:endParaRPr kumimoji="1" lang="en-US" altLang="zh-CN" sz="2400" b="1" baseline="-25000" dirty="0">
              <a:solidFill>
                <a:srgbClr val="000066"/>
              </a:solidFill>
              <a:latin typeface="Times New Roman" panose="02020603050405020304" pitchFamily="18" charset="0"/>
            </a:endParaRPr>
          </a:p>
        </p:txBody>
      </p:sp>
      <p:sp>
        <p:nvSpPr>
          <p:cNvPr id="37" name="矩形 36"/>
          <p:cNvSpPr/>
          <p:nvPr/>
        </p:nvSpPr>
        <p:spPr>
          <a:xfrm>
            <a:off x="1945821" y="4458630"/>
            <a:ext cx="1106885" cy="338554"/>
          </a:xfrm>
          <a:prstGeom prst="rect">
            <a:avLst/>
          </a:prstGeom>
        </p:spPr>
        <p:txBody>
          <a:bodyPr wrap="square">
            <a:spAutoFit/>
          </a:bodyPr>
          <a:lstStyle/>
          <a:p>
            <a:pPr algn="ctr">
              <a:lnSpc>
                <a:spcPct val="100000"/>
              </a:lnSpc>
              <a:buClr>
                <a:srgbClr val="C00000"/>
              </a:buClr>
            </a:pPr>
            <a:r>
              <a:rPr lang="zh-CN" altLang="en-US" sz="16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基地压力</a:t>
            </a:r>
            <a:r>
              <a:rPr lang="en-US" altLang="zh-CN" sz="1600" b="1" i="1" dirty="0">
                <a:solidFill>
                  <a:srgbClr val="000066"/>
                </a:solidFill>
                <a:ea typeface="幼圆" panose="02010509060101010101" pitchFamily="49" charset="-122"/>
                <a:cs typeface="Times New Roman" panose="02020603050405020304" pitchFamily="18" charset="0"/>
              </a:rPr>
              <a:t>p</a:t>
            </a:r>
            <a:endParaRPr lang="zh-CN" altLang="en-US" sz="1600" b="1" i="1" dirty="0">
              <a:solidFill>
                <a:srgbClr val="000066"/>
              </a:solidFill>
              <a:ea typeface="幼圆" panose="02010509060101010101" pitchFamily="49" charset="-122"/>
              <a:cs typeface="Times New Roman" panose="02020603050405020304" pitchFamily="18" charset="0"/>
            </a:endParaRPr>
          </a:p>
        </p:txBody>
      </p:sp>
      <p:sp>
        <p:nvSpPr>
          <p:cNvPr id="41" name="Line 23"/>
          <p:cNvSpPr>
            <a:spLocks noChangeShapeType="1"/>
          </p:cNvSpPr>
          <p:nvPr/>
        </p:nvSpPr>
        <p:spPr bwMode="auto">
          <a:xfrm>
            <a:off x="5125502" y="4450283"/>
            <a:ext cx="3509967"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Text Box 21"/>
          <p:cNvSpPr txBox="1">
            <a:spLocks noChangeArrowheads="1"/>
          </p:cNvSpPr>
          <p:nvPr/>
        </p:nvSpPr>
        <p:spPr bwMode="auto">
          <a:xfrm>
            <a:off x="5145063" y="3649641"/>
            <a:ext cx="793807"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65" name="Line 25"/>
          <p:cNvSpPr>
            <a:spLocks noChangeShapeType="1"/>
          </p:cNvSpPr>
          <p:nvPr/>
        </p:nvSpPr>
        <p:spPr bwMode="auto">
          <a:xfrm>
            <a:off x="5130860" y="4181741"/>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25"/>
          <p:cNvSpPr>
            <a:spLocks noChangeShapeType="1"/>
          </p:cNvSpPr>
          <p:nvPr/>
        </p:nvSpPr>
        <p:spPr bwMode="auto">
          <a:xfrm>
            <a:off x="5349935" y="4181741"/>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25"/>
          <p:cNvSpPr>
            <a:spLocks noChangeShapeType="1"/>
          </p:cNvSpPr>
          <p:nvPr/>
        </p:nvSpPr>
        <p:spPr bwMode="auto">
          <a:xfrm>
            <a:off x="5569010" y="4181741"/>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25"/>
          <p:cNvSpPr>
            <a:spLocks noChangeShapeType="1"/>
          </p:cNvSpPr>
          <p:nvPr/>
        </p:nvSpPr>
        <p:spPr bwMode="auto">
          <a:xfrm>
            <a:off x="5788085" y="4181741"/>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25"/>
          <p:cNvSpPr>
            <a:spLocks noChangeShapeType="1"/>
          </p:cNvSpPr>
          <p:nvPr/>
        </p:nvSpPr>
        <p:spPr bwMode="auto">
          <a:xfrm>
            <a:off x="6007160" y="4181741"/>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Line 25"/>
          <p:cNvSpPr>
            <a:spLocks noChangeShapeType="1"/>
          </p:cNvSpPr>
          <p:nvPr/>
        </p:nvSpPr>
        <p:spPr bwMode="auto">
          <a:xfrm>
            <a:off x="7760532" y="417357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25"/>
          <p:cNvSpPr>
            <a:spLocks noChangeShapeType="1"/>
          </p:cNvSpPr>
          <p:nvPr/>
        </p:nvSpPr>
        <p:spPr bwMode="auto">
          <a:xfrm>
            <a:off x="7979607" y="417357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25"/>
          <p:cNvSpPr>
            <a:spLocks noChangeShapeType="1"/>
          </p:cNvSpPr>
          <p:nvPr/>
        </p:nvSpPr>
        <p:spPr bwMode="auto">
          <a:xfrm>
            <a:off x="8198682" y="417357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25"/>
          <p:cNvSpPr>
            <a:spLocks noChangeShapeType="1"/>
          </p:cNvSpPr>
          <p:nvPr/>
        </p:nvSpPr>
        <p:spPr bwMode="auto">
          <a:xfrm>
            <a:off x="8417757" y="417357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25"/>
          <p:cNvSpPr>
            <a:spLocks noChangeShapeType="1"/>
          </p:cNvSpPr>
          <p:nvPr/>
        </p:nvSpPr>
        <p:spPr bwMode="auto">
          <a:xfrm>
            <a:off x="8636832" y="417357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矩形 78"/>
          <p:cNvSpPr/>
          <p:nvPr/>
        </p:nvSpPr>
        <p:spPr>
          <a:xfrm>
            <a:off x="6553301" y="3388968"/>
            <a:ext cx="571620" cy="461665"/>
          </a:xfrm>
          <a:prstGeom prst="rect">
            <a:avLst/>
          </a:prstGeom>
        </p:spPr>
        <p:txBody>
          <a:bodyPr wrap="square">
            <a:spAutoFit/>
          </a:bodyPr>
          <a:lstStyle/>
          <a:p>
            <a:pPr algn="ctr">
              <a:lnSpc>
                <a:spcPct val="100000"/>
              </a:lnSpc>
              <a:buClr>
                <a:srgbClr val="C00000"/>
              </a:buClr>
            </a:pPr>
            <a:r>
              <a:rPr lang="en-US" altLang="zh-CN" sz="2400" b="1" i="1" dirty="0">
                <a:solidFill>
                  <a:srgbClr val="000066"/>
                </a:solidFill>
                <a:ea typeface="幼圆" panose="02010509060101010101" pitchFamily="49" charset="-122"/>
                <a:cs typeface="Times New Roman" panose="02020603050405020304" pitchFamily="18" charset="0"/>
              </a:rPr>
              <a:t>p</a:t>
            </a:r>
            <a:endParaRPr lang="zh-CN" altLang="en-US" sz="2400" b="1" i="1" dirty="0">
              <a:solidFill>
                <a:srgbClr val="000066"/>
              </a:solidFill>
              <a:ea typeface="幼圆" panose="02010509060101010101" pitchFamily="49" charset="-122"/>
              <a:cs typeface="Times New Roman" panose="02020603050405020304" pitchFamily="18" charset="0"/>
            </a:endParaRPr>
          </a:p>
        </p:txBody>
      </p:sp>
      <p:cxnSp>
        <p:nvCxnSpPr>
          <p:cNvPr id="81" name="直接连接符 80"/>
          <p:cNvCxnSpPr/>
          <p:nvPr/>
        </p:nvCxnSpPr>
        <p:spPr bwMode="auto">
          <a:xfrm flipH="1">
            <a:off x="5087408" y="4168863"/>
            <a:ext cx="114655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连接符 82"/>
          <p:cNvCxnSpPr/>
          <p:nvPr/>
        </p:nvCxnSpPr>
        <p:spPr bwMode="auto">
          <a:xfrm flipH="1">
            <a:off x="7540971" y="4168863"/>
            <a:ext cx="115641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 Box 46"/>
          <p:cNvSpPr txBox="1">
            <a:spLocks noChangeArrowheads="1"/>
          </p:cNvSpPr>
          <p:nvPr/>
        </p:nvSpPr>
        <p:spPr bwMode="auto">
          <a:xfrm>
            <a:off x="716613" y="1451199"/>
            <a:ext cx="7742582" cy="1713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14000"/>
              </a:lnSpc>
              <a:spcBef>
                <a:spcPts val="300"/>
              </a:spcBef>
              <a:spcAft>
                <a:spcPts val="300"/>
              </a:spcAft>
              <a:buClr>
                <a:srgbClr val="C00000"/>
              </a:buClr>
              <a:buSzPct val="100000"/>
              <a:buFont typeface="Wingdings" panose="05000000000000000000" pitchFamily="2" charset="2"/>
              <a:buChar char="Ø"/>
            </a:pPr>
            <a:r>
              <a:rPr lang="zh-CN" altLang="en-US" sz="2200" b="1" dirty="0">
                <a:solidFill>
                  <a:srgbClr val="000066"/>
                </a:solidFill>
                <a:ea typeface="幼圆" panose="02010509060101010101" pitchFamily="49" charset="-122"/>
                <a:cs typeface="Times New Roman" panose="02020603050405020304" pitchFamily="18" charset="0"/>
              </a:rPr>
              <a:t>对于埋置深度</a:t>
            </a:r>
            <a:r>
              <a:rPr lang="en-US" altLang="zh-CN" sz="2200" b="1" i="1" dirty="0">
                <a:solidFill>
                  <a:srgbClr val="000066"/>
                </a:solidFill>
                <a:ea typeface="幼圆" panose="02010509060101010101" pitchFamily="49" charset="-122"/>
                <a:cs typeface="Times New Roman" panose="02020603050405020304" pitchFamily="18" charset="0"/>
              </a:rPr>
              <a:t>d</a:t>
            </a:r>
            <a:r>
              <a:rPr lang="zh-CN" altLang="en-US" sz="2200" b="1" dirty="0">
                <a:solidFill>
                  <a:srgbClr val="000066"/>
                </a:solidFill>
                <a:ea typeface="幼圆" panose="02010509060101010101" pitchFamily="49" charset="-122"/>
                <a:cs typeface="Times New Roman" panose="02020603050405020304" pitchFamily="18" charset="0"/>
              </a:rPr>
              <a:t>小于基础宽度</a:t>
            </a:r>
            <a:r>
              <a:rPr lang="en-US" altLang="zh-CN" sz="2200" b="1" i="1" dirty="0">
                <a:solidFill>
                  <a:srgbClr val="000066"/>
                </a:solidFill>
                <a:ea typeface="幼圆" panose="02010509060101010101" pitchFamily="49" charset="-122"/>
                <a:cs typeface="Times New Roman" panose="02020603050405020304" pitchFamily="18" charset="0"/>
              </a:rPr>
              <a:t>b</a:t>
            </a:r>
            <a:r>
              <a:rPr lang="zh-CN" altLang="en-US" sz="2200" b="1" dirty="0">
                <a:solidFill>
                  <a:srgbClr val="000066"/>
                </a:solidFill>
                <a:ea typeface="幼圆" panose="02010509060101010101" pitchFamily="49" charset="-122"/>
                <a:cs typeface="Times New Roman" panose="02020603050405020304" pitchFamily="18" charset="0"/>
              </a:rPr>
              <a:t>的浅基础，可以把基底平面当成地基表面</a:t>
            </a:r>
            <a:endParaRPr lang="en-US" altLang="zh-CN" sz="2200" b="1" dirty="0">
              <a:solidFill>
                <a:srgbClr val="000066"/>
              </a:solidFill>
              <a:ea typeface="幼圆" panose="02010509060101010101" pitchFamily="49" charset="-122"/>
              <a:cs typeface="Times New Roman" panose="02020603050405020304" pitchFamily="18" charset="0"/>
            </a:endParaRPr>
          </a:p>
          <a:p>
            <a:pPr marL="442913" indent="-358775" eaLnBrk="1" hangingPunct="1">
              <a:lnSpc>
                <a:spcPct val="114000"/>
              </a:lnSpc>
              <a:spcBef>
                <a:spcPts val="300"/>
              </a:spcBef>
              <a:spcAft>
                <a:spcPts val="300"/>
              </a:spcAft>
              <a:buClr>
                <a:srgbClr val="C00000"/>
              </a:buClr>
              <a:buSzPct val="100000"/>
              <a:buFont typeface="Wingdings" panose="05000000000000000000" pitchFamily="2" charset="2"/>
              <a:buChar char="Ø"/>
            </a:pPr>
            <a:r>
              <a:rPr lang="zh-CN" altLang="en-US" sz="2200" b="1" dirty="0">
                <a:solidFill>
                  <a:srgbClr val="000066"/>
                </a:solidFill>
                <a:ea typeface="幼圆" panose="02010509060101010101" pitchFamily="49" charset="-122"/>
                <a:cs typeface="Times New Roman" panose="02020603050405020304" pitchFamily="18" charset="0"/>
              </a:rPr>
              <a:t>在这个平面以上基础两侧的土体，当成作用在基础两侧的均布荷载</a:t>
            </a:r>
            <a:r>
              <a:rPr lang="en-US" altLang="zh-CN" sz="2200" b="1" i="1" dirty="0">
                <a:solidFill>
                  <a:srgbClr val="000066"/>
                </a:solidFill>
                <a:ea typeface="幼圆" panose="02010509060101010101" pitchFamily="49" charset="-122"/>
                <a:cs typeface="Times New Roman" panose="02020603050405020304" pitchFamily="18" charset="0"/>
              </a:rPr>
              <a:t>q</a:t>
            </a:r>
            <a:r>
              <a:rPr lang="zh-CN" altLang="en-US" sz="2200" b="1" dirty="0">
                <a:solidFill>
                  <a:srgbClr val="000066"/>
                </a:solidFill>
                <a:ea typeface="幼圆" panose="02010509060101010101" pitchFamily="49" charset="-122"/>
                <a:cs typeface="Times New Roman" panose="02020603050405020304" pitchFamily="18" charset="0"/>
              </a:rPr>
              <a:t>＝</a:t>
            </a:r>
            <a:r>
              <a:rPr lang="en-US" altLang="zh-CN" sz="2200" b="1" i="1" dirty="0" err="1">
                <a:solidFill>
                  <a:srgbClr val="000066"/>
                </a:solidFill>
                <a:ea typeface="幼圆" panose="02010509060101010101" pitchFamily="49" charset="-122"/>
                <a:cs typeface="Times New Roman" panose="02020603050405020304" pitchFamily="18" charset="0"/>
              </a:rPr>
              <a:t>γd</a:t>
            </a:r>
            <a:endParaRPr lang="zh-CN" altLang="en-US" sz="2200" b="1" i="1" dirty="0">
              <a:solidFill>
                <a:srgbClr val="000066"/>
              </a:solidFill>
              <a:ea typeface="幼圆" panose="02010509060101010101" pitchFamily="49" charset="-122"/>
              <a:cs typeface="Times New Roman" panose="02020603050405020304" pitchFamily="18" charset="0"/>
            </a:endParaRPr>
          </a:p>
        </p:txBody>
      </p:sp>
      <p:sp>
        <p:nvSpPr>
          <p:cNvPr id="50"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cxnSp>
        <p:nvCxnSpPr>
          <p:cNvPr id="53" name="直接连接符 52"/>
          <p:cNvCxnSpPr/>
          <p:nvPr/>
        </p:nvCxnSpPr>
        <p:spPr bwMode="auto">
          <a:xfrm>
            <a:off x="6211818" y="4703631"/>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连接符 53"/>
          <p:cNvCxnSpPr/>
          <p:nvPr/>
        </p:nvCxnSpPr>
        <p:spPr bwMode="auto">
          <a:xfrm>
            <a:off x="7560204" y="4698636"/>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p:cNvCxnSpPr/>
          <p:nvPr/>
        </p:nvCxnSpPr>
        <p:spPr bwMode="auto">
          <a:xfrm>
            <a:off x="6211819" y="4756097"/>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Text Box 21"/>
          <p:cNvSpPr txBox="1">
            <a:spLocks noChangeArrowheads="1"/>
          </p:cNvSpPr>
          <p:nvPr/>
        </p:nvSpPr>
        <p:spPr bwMode="auto">
          <a:xfrm>
            <a:off x="6692338" y="4665576"/>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cxnSp>
        <p:nvCxnSpPr>
          <p:cNvPr id="64" name="直接连接符 63"/>
          <p:cNvCxnSpPr/>
          <p:nvPr/>
        </p:nvCxnSpPr>
        <p:spPr bwMode="auto">
          <a:xfrm flipV="1">
            <a:off x="7732663" y="3896924"/>
            <a:ext cx="159798" cy="15979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Text Box 21"/>
          <p:cNvSpPr txBox="1">
            <a:spLocks noChangeArrowheads="1"/>
          </p:cNvSpPr>
          <p:nvPr/>
        </p:nvSpPr>
        <p:spPr bwMode="auto">
          <a:xfrm>
            <a:off x="7629071" y="3553310"/>
            <a:ext cx="121700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dirty="0">
                <a:solidFill>
                  <a:srgbClr val="000066"/>
                </a:solidFill>
                <a:latin typeface="Times New Roman" panose="02020603050405020304" pitchFamily="18" charset="0"/>
              </a:rPr>
              <a:t>原地面线</a:t>
            </a:r>
            <a:endParaRPr kumimoji="1" lang="en-US" altLang="zh-CN" sz="2000" b="1" baseline="-25000" dirty="0">
              <a:solidFill>
                <a:srgbClr val="000066"/>
              </a:solidFill>
              <a:latin typeface="Times New Roman" panose="02020603050405020304" pitchFamily="18" charset="0"/>
            </a:endParaRPr>
          </a:p>
        </p:txBody>
      </p:sp>
      <p:sp>
        <p:nvSpPr>
          <p:cNvPr id="2" name="右箭头 1"/>
          <p:cNvSpPr/>
          <p:nvPr/>
        </p:nvSpPr>
        <p:spPr bwMode="auto">
          <a:xfrm>
            <a:off x="4087788" y="4327990"/>
            <a:ext cx="508000" cy="549202"/>
          </a:xfrm>
          <a:prstGeom prst="rightArrow">
            <a:avLst/>
          </a:prstGeom>
          <a:solidFill>
            <a:srgbClr val="C00000"/>
          </a:solidFill>
          <a:ln w="12700" cap="flat" cmpd="sng" algn="ctr">
            <a:solidFill>
              <a:srgbClr val="C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3" name="组合 2"/>
          <p:cNvGrpSpPr/>
          <p:nvPr/>
        </p:nvGrpSpPr>
        <p:grpSpPr>
          <a:xfrm>
            <a:off x="1550503" y="3880237"/>
            <a:ext cx="1383527" cy="584540"/>
            <a:chOff x="1606750" y="3949841"/>
            <a:chExt cx="930275" cy="514936"/>
          </a:xfrm>
        </p:grpSpPr>
        <p:sp>
          <p:nvSpPr>
            <p:cNvPr id="78" name="Rectangle 24" descr="深色上对角线"/>
            <p:cNvSpPr>
              <a:spLocks noChangeArrowheads="1"/>
            </p:cNvSpPr>
            <p:nvPr/>
          </p:nvSpPr>
          <p:spPr bwMode="auto">
            <a:xfrm rot="5400000">
              <a:off x="1869186" y="4072347"/>
              <a:ext cx="412815" cy="167803"/>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80" name="Rectangle 24" descr="深色上对角线"/>
            <p:cNvSpPr>
              <a:spLocks noChangeArrowheads="1"/>
            </p:cNvSpPr>
            <p:nvPr/>
          </p:nvSpPr>
          <p:spPr bwMode="auto">
            <a:xfrm>
              <a:off x="1606750" y="4287095"/>
              <a:ext cx="930275" cy="177682"/>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spTree>
    <p:extLst>
      <p:ext uri="{BB962C8B-B14F-4D97-AF65-F5344CB8AC3E}">
        <p14:creationId xmlns:p14="http://schemas.microsoft.com/office/powerpoint/2010/main" val="350579627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barn(inVertical)">
                                      <p:cBhvr>
                                        <p:cTn id="7" dur="500"/>
                                        <p:tgtEl>
                                          <p:spTgt spid="85"/>
                                        </p:tgtEl>
                                      </p:cBhvr>
                                    </p:animEffect>
                                  </p:childTnLst>
                                </p:cTn>
                              </p:par>
                            </p:childTnLst>
                          </p:cTn>
                        </p:par>
                        <p:par>
                          <p:cTn id="8" fill="hold">
                            <p:stCondLst>
                              <p:cond delay="500"/>
                            </p:stCondLst>
                            <p:childTnLst>
                              <p:par>
                                <p:cTn id="9" presetID="22" presetClass="entr" presetSubtype="8" repeatCount="400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矩形 211"/>
          <p:cNvSpPr/>
          <p:nvPr/>
        </p:nvSpPr>
        <p:spPr bwMode="auto">
          <a:xfrm>
            <a:off x="4921938" y="2176214"/>
            <a:ext cx="4069661" cy="1669806"/>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23</a:t>
            </a:fld>
            <a:endParaRPr lang="zh-CN" altLang="en-US" dirty="0">
              <a:solidFill>
                <a:srgbClr val="C00000"/>
              </a:solidFill>
            </a:endParaRPr>
          </a:p>
        </p:txBody>
      </p:sp>
      <p:sp>
        <p:nvSpPr>
          <p:cNvPr id="13" name="Text Box 46"/>
          <p:cNvSpPr txBox="1">
            <a:spLocks noChangeArrowheads="1"/>
          </p:cNvSpPr>
          <p:nvPr/>
        </p:nvSpPr>
        <p:spPr bwMode="auto">
          <a:xfrm>
            <a:off x="464159" y="720845"/>
            <a:ext cx="57937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极限平衡区范围的一般计算方法</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832238" y="1566821"/>
            <a:ext cx="3866762" cy="812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a:pPr>
            <a:r>
              <a:rPr lang="zh-CN" altLang="en-US" sz="2200" b="1" dirty="0">
                <a:solidFill>
                  <a:srgbClr val="000066"/>
                </a:solidFill>
                <a:ea typeface="幼圆" pitchFamily="49" charset="-122"/>
                <a:cs typeface="Times New Roman" panose="02020603050405020304" pitchFamily="18" charset="0"/>
                <a:sym typeface="Symbol" pitchFamily="18" charset="2"/>
              </a:rPr>
              <a:t>选点：靠近基础底面一定范围内，选定若干点，如</a:t>
            </a:r>
            <a:r>
              <a:rPr lang="en-US" altLang="zh-CN" sz="2200" b="1" dirty="0">
                <a:solidFill>
                  <a:srgbClr val="000066"/>
                </a:solidFill>
                <a:ea typeface="幼圆" pitchFamily="49" charset="-122"/>
                <a:cs typeface="Times New Roman" panose="02020603050405020304" pitchFamily="18" charset="0"/>
                <a:sym typeface="Symbol" pitchFamily="18" charset="2"/>
              </a:rPr>
              <a:t>M</a:t>
            </a:r>
            <a:r>
              <a:rPr lang="zh-CN" altLang="en-US" sz="2200" b="1" dirty="0">
                <a:solidFill>
                  <a:srgbClr val="000066"/>
                </a:solidFill>
                <a:ea typeface="幼圆" pitchFamily="49" charset="-122"/>
                <a:cs typeface="Times New Roman" panose="02020603050405020304" pitchFamily="18" charset="0"/>
                <a:sym typeface="Symbol" pitchFamily="18" charset="2"/>
              </a:rPr>
              <a:t>点</a:t>
            </a:r>
            <a:endPar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a:t>
            </a:r>
          </a:p>
        </p:txBody>
      </p:sp>
      <p:grpSp>
        <p:nvGrpSpPr>
          <p:cNvPr id="7" name="组合 6"/>
          <p:cNvGrpSpPr/>
          <p:nvPr/>
        </p:nvGrpSpPr>
        <p:grpSpPr>
          <a:xfrm>
            <a:off x="6272802" y="1638491"/>
            <a:ext cx="1314450" cy="531427"/>
            <a:chOff x="6252391" y="1449388"/>
            <a:chExt cx="1314450" cy="531427"/>
          </a:xfrm>
        </p:grpSpPr>
        <p:sp>
          <p:nvSpPr>
            <p:cNvPr id="8"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9" name="直接连接符 18"/>
          <p:cNvCxnSpPr/>
          <p:nvPr/>
        </p:nvCxnSpPr>
        <p:spPr bwMode="auto">
          <a:xfrm flipH="1">
            <a:off x="6275395" y="1624129"/>
            <a:ext cx="131226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Line 23"/>
          <p:cNvSpPr>
            <a:spLocks noChangeShapeType="1"/>
          </p:cNvSpPr>
          <p:nvPr/>
        </p:nvSpPr>
        <p:spPr bwMode="auto">
          <a:xfrm>
            <a:off x="4953001" y="2168484"/>
            <a:ext cx="3979984"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21"/>
          <p:cNvSpPr txBox="1">
            <a:spLocks noChangeArrowheads="1"/>
          </p:cNvSpPr>
          <p:nvPr/>
        </p:nvSpPr>
        <p:spPr bwMode="auto">
          <a:xfrm>
            <a:off x="7812059" y="1287424"/>
            <a:ext cx="793807"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24" name="Line 25"/>
          <p:cNvSpPr>
            <a:spLocks noChangeShapeType="1"/>
          </p:cNvSpPr>
          <p:nvPr/>
        </p:nvSpPr>
        <p:spPr bwMode="auto">
          <a:xfrm>
            <a:off x="4958352" y="189994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a:off x="5177427" y="189994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5"/>
          <p:cNvSpPr>
            <a:spLocks noChangeShapeType="1"/>
          </p:cNvSpPr>
          <p:nvPr/>
        </p:nvSpPr>
        <p:spPr bwMode="auto">
          <a:xfrm>
            <a:off x="5396502" y="189994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5615577" y="189994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p:cNvSpPr>
            <a:spLocks noChangeShapeType="1"/>
          </p:cNvSpPr>
          <p:nvPr/>
        </p:nvSpPr>
        <p:spPr bwMode="auto">
          <a:xfrm>
            <a:off x="5834652" y="189994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5"/>
          <p:cNvSpPr>
            <a:spLocks noChangeShapeType="1"/>
          </p:cNvSpPr>
          <p:nvPr/>
        </p:nvSpPr>
        <p:spPr bwMode="auto">
          <a:xfrm>
            <a:off x="6053727" y="189994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p:cNvSpPr>
            <a:spLocks noChangeShapeType="1"/>
          </p:cNvSpPr>
          <p:nvPr/>
        </p:nvSpPr>
        <p:spPr bwMode="auto">
          <a:xfrm>
            <a:off x="7807099" y="189177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5"/>
          <p:cNvSpPr>
            <a:spLocks noChangeShapeType="1"/>
          </p:cNvSpPr>
          <p:nvPr/>
        </p:nvSpPr>
        <p:spPr bwMode="auto">
          <a:xfrm>
            <a:off x="8026174" y="189177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p:cNvSpPr>
            <a:spLocks noChangeShapeType="1"/>
          </p:cNvSpPr>
          <p:nvPr/>
        </p:nvSpPr>
        <p:spPr bwMode="auto">
          <a:xfrm>
            <a:off x="8245249" y="189177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5"/>
          <p:cNvSpPr>
            <a:spLocks noChangeShapeType="1"/>
          </p:cNvSpPr>
          <p:nvPr/>
        </p:nvSpPr>
        <p:spPr bwMode="auto">
          <a:xfrm>
            <a:off x="8464324" y="189177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5"/>
          <p:cNvSpPr>
            <a:spLocks noChangeShapeType="1"/>
          </p:cNvSpPr>
          <p:nvPr/>
        </p:nvSpPr>
        <p:spPr bwMode="auto">
          <a:xfrm>
            <a:off x="8683399" y="189177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5"/>
          <p:cNvSpPr>
            <a:spLocks noChangeShapeType="1"/>
          </p:cNvSpPr>
          <p:nvPr/>
        </p:nvSpPr>
        <p:spPr bwMode="auto">
          <a:xfrm>
            <a:off x="8902474" y="189177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矩形 35"/>
          <p:cNvSpPr/>
          <p:nvPr/>
        </p:nvSpPr>
        <p:spPr>
          <a:xfrm>
            <a:off x="6599868" y="1107167"/>
            <a:ext cx="571620" cy="461665"/>
          </a:xfrm>
          <a:prstGeom prst="rect">
            <a:avLst/>
          </a:prstGeom>
        </p:spPr>
        <p:txBody>
          <a:bodyPr wrap="square">
            <a:spAutoFit/>
          </a:bodyPr>
          <a:lstStyle/>
          <a:p>
            <a:pPr algn="ctr">
              <a:lnSpc>
                <a:spcPct val="100000"/>
              </a:lnSpc>
              <a:buClr>
                <a:srgbClr val="C00000"/>
              </a:buClr>
            </a:pPr>
            <a:r>
              <a:rPr lang="en-US" altLang="zh-CN" sz="2400" b="1" i="1" dirty="0">
                <a:solidFill>
                  <a:srgbClr val="000066"/>
                </a:solidFill>
                <a:ea typeface="幼圆" panose="02010509060101010101" pitchFamily="49" charset="-122"/>
                <a:cs typeface="Times New Roman" panose="02020603050405020304" pitchFamily="18" charset="0"/>
              </a:rPr>
              <a:t>p</a:t>
            </a:r>
            <a:endParaRPr lang="zh-CN" altLang="en-US" sz="2400" b="1" i="1" dirty="0">
              <a:solidFill>
                <a:srgbClr val="000066"/>
              </a:solidFill>
              <a:ea typeface="幼圆" panose="02010509060101010101" pitchFamily="49" charset="-122"/>
              <a:cs typeface="Times New Roman" panose="02020603050405020304" pitchFamily="18" charset="0"/>
            </a:endParaRPr>
          </a:p>
        </p:txBody>
      </p:sp>
      <p:cxnSp>
        <p:nvCxnSpPr>
          <p:cNvPr id="37" name="直接连接符 36"/>
          <p:cNvCxnSpPr/>
          <p:nvPr/>
        </p:nvCxnSpPr>
        <p:spPr bwMode="auto">
          <a:xfrm flipH="1">
            <a:off x="4949965" y="1887062"/>
            <a:ext cx="133056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p:cNvCxnSpPr/>
          <p:nvPr/>
        </p:nvCxnSpPr>
        <p:spPr bwMode="auto">
          <a:xfrm flipH="1">
            <a:off x="7587538" y="1876176"/>
            <a:ext cx="133056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Line 23"/>
          <p:cNvSpPr>
            <a:spLocks noChangeShapeType="1"/>
          </p:cNvSpPr>
          <p:nvPr/>
        </p:nvSpPr>
        <p:spPr bwMode="auto">
          <a:xfrm>
            <a:off x="4941278" y="2273990"/>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23"/>
          <p:cNvSpPr>
            <a:spLocks noChangeShapeType="1"/>
          </p:cNvSpPr>
          <p:nvPr/>
        </p:nvSpPr>
        <p:spPr bwMode="auto">
          <a:xfrm>
            <a:off x="4935417" y="2449840"/>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23"/>
          <p:cNvSpPr>
            <a:spLocks noChangeShapeType="1"/>
          </p:cNvSpPr>
          <p:nvPr/>
        </p:nvSpPr>
        <p:spPr bwMode="auto">
          <a:xfrm>
            <a:off x="4929556" y="2707754"/>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23"/>
          <p:cNvSpPr>
            <a:spLocks noChangeShapeType="1"/>
          </p:cNvSpPr>
          <p:nvPr/>
        </p:nvSpPr>
        <p:spPr bwMode="auto">
          <a:xfrm>
            <a:off x="4941281" y="3006704"/>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23"/>
          <p:cNvSpPr>
            <a:spLocks noChangeShapeType="1"/>
          </p:cNvSpPr>
          <p:nvPr/>
        </p:nvSpPr>
        <p:spPr bwMode="auto">
          <a:xfrm>
            <a:off x="4947142" y="3399426"/>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23"/>
          <p:cNvSpPr>
            <a:spLocks noChangeShapeType="1"/>
          </p:cNvSpPr>
          <p:nvPr/>
        </p:nvSpPr>
        <p:spPr bwMode="auto">
          <a:xfrm rot="5400000">
            <a:off x="4607808" y="3011926"/>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23"/>
          <p:cNvSpPr>
            <a:spLocks noChangeShapeType="1"/>
          </p:cNvSpPr>
          <p:nvPr/>
        </p:nvSpPr>
        <p:spPr bwMode="auto">
          <a:xfrm rot="5400000">
            <a:off x="4775836" y="3011288"/>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23"/>
          <p:cNvSpPr>
            <a:spLocks noChangeShapeType="1"/>
          </p:cNvSpPr>
          <p:nvPr/>
        </p:nvSpPr>
        <p:spPr bwMode="auto">
          <a:xfrm rot="5400000">
            <a:off x="4943864" y="3004788"/>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23"/>
          <p:cNvSpPr>
            <a:spLocks noChangeShapeType="1"/>
          </p:cNvSpPr>
          <p:nvPr/>
        </p:nvSpPr>
        <p:spPr bwMode="auto">
          <a:xfrm rot="5400000">
            <a:off x="5111892" y="2998288"/>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3"/>
          <p:cNvSpPr>
            <a:spLocks noChangeShapeType="1"/>
          </p:cNvSpPr>
          <p:nvPr/>
        </p:nvSpPr>
        <p:spPr bwMode="auto">
          <a:xfrm rot="5400000">
            <a:off x="5279920" y="2991788"/>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23"/>
          <p:cNvSpPr>
            <a:spLocks noChangeShapeType="1"/>
          </p:cNvSpPr>
          <p:nvPr/>
        </p:nvSpPr>
        <p:spPr bwMode="auto">
          <a:xfrm rot="5400000">
            <a:off x="5447948" y="2991150"/>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23"/>
          <p:cNvSpPr>
            <a:spLocks noChangeShapeType="1"/>
          </p:cNvSpPr>
          <p:nvPr/>
        </p:nvSpPr>
        <p:spPr bwMode="auto">
          <a:xfrm rot="5400000">
            <a:off x="5615976" y="2990512"/>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23"/>
          <p:cNvSpPr>
            <a:spLocks noChangeShapeType="1"/>
          </p:cNvSpPr>
          <p:nvPr/>
        </p:nvSpPr>
        <p:spPr bwMode="auto">
          <a:xfrm rot="5400000">
            <a:off x="5784004" y="2989874"/>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23"/>
          <p:cNvSpPr>
            <a:spLocks noChangeShapeType="1"/>
          </p:cNvSpPr>
          <p:nvPr/>
        </p:nvSpPr>
        <p:spPr bwMode="auto">
          <a:xfrm rot="5400000">
            <a:off x="5952032" y="2995098"/>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23"/>
          <p:cNvSpPr>
            <a:spLocks noChangeShapeType="1"/>
          </p:cNvSpPr>
          <p:nvPr/>
        </p:nvSpPr>
        <p:spPr bwMode="auto">
          <a:xfrm rot="5400000">
            <a:off x="6120060" y="3000322"/>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3"/>
          <p:cNvSpPr>
            <a:spLocks noChangeShapeType="1"/>
          </p:cNvSpPr>
          <p:nvPr/>
        </p:nvSpPr>
        <p:spPr bwMode="auto">
          <a:xfrm rot="5400000">
            <a:off x="6288088" y="2999684"/>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23"/>
          <p:cNvSpPr>
            <a:spLocks noChangeShapeType="1"/>
          </p:cNvSpPr>
          <p:nvPr/>
        </p:nvSpPr>
        <p:spPr bwMode="auto">
          <a:xfrm rot="5400000">
            <a:off x="6456116" y="2999046"/>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3"/>
          <p:cNvSpPr>
            <a:spLocks noChangeShapeType="1"/>
          </p:cNvSpPr>
          <p:nvPr/>
        </p:nvSpPr>
        <p:spPr bwMode="auto">
          <a:xfrm rot="5400000">
            <a:off x="6624144" y="3004270"/>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23"/>
          <p:cNvSpPr>
            <a:spLocks noChangeShapeType="1"/>
          </p:cNvSpPr>
          <p:nvPr/>
        </p:nvSpPr>
        <p:spPr bwMode="auto">
          <a:xfrm rot="5400000">
            <a:off x="6792172" y="3009494"/>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23"/>
          <p:cNvSpPr>
            <a:spLocks noChangeShapeType="1"/>
          </p:cNvSpPr>
          <p:nvPr/>
        </p:nvSpPr>
        <p:spPr bwMode="auto">
          <a:xfrm rot="5400000">
            <a:off x="6960200" y="3008856"/>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23"/>
          <p:cNvSpPr>
            <a:spLocks noChangeShapeType="1"/>
          </p:cNvSpPr>
          <p:nvPr/>
        </p:nvSpPr>
        <p:spPr bwMode="auto">
          <a:xfrm rot="5400000">
            <a:off x="7128228" y="3008218"/>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23"/>
          <p:cNvSpPr>
            <a:spLocks noChangeShapeType="1"/>
          </p:cNvSpPr>
          <p:nvPr/>
        </p:nvSpPr>
        <p:spPr bwMode="auto">
          <a:xfrm rot="5400000">
            <a:off x="7296256" y="3001718"/>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3"/>
          <p:cNvSpPr>
            <a:spLocks noChangeShapeType="1"/>
          </p:cNvSpPr>
          <p:nvPr/>
        </p:nvSpPr>
        <p:spPr bwMode="auto">
          <a:xfrm rot="5400000">
            <a:off x="7464284" y="3001080"/>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23"/>
          <p:cNvSpPr>
            <a:spLocks noChangeShapeType="1"/>
          </p:cNvSpPr>
          <p:nvPr/>
        </p:nvSpPr>
        <p:spPr bwMode="auto">
          <a:xfrm rot="5400000">
            <a:off x="7632312" y="3000442"/>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 name="组合 4"/>
          <p:cNvGrpSpPr/>
          <p:nvPr/>
        </p:nvGrpSpPr>
        <p:grpSpPr>
          <a:xfrm>
            <a:off x="5411317" y="2248310"/>
            <a:ext cx="51161" cy="1172092"/>
            <a:chOff x="5411317" y="1760416"/>
            <a:chExt cx="51161" cy="1172092"/>
          </a:xfrm>
          <a:solidFill>
            <a:srgbClr val="000066"/>
          </a:solidFill>
        </p:grpSpPr>
        <p:sp>
          <p:nvSpPr>
            <p:cNvPr id="3" name="椭圆 2"/>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4" name="椭圆 63"/>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5" name="椭圆 64"/>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6" name="椭圆 65"/>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27" name="椭圆 126"/>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28" name="组合 127"/>
          <p:cNvGrpSpPr/>
          <p:nvPr/>
        </p:nvGrpSpPr>
        <p:grpSpPr>
          <a:xfrm>
            <a:off x="5576856" y="2248310"/>
            <a:ext cx="51161" cy="1172092"/>
            <a:chOff x="5411317" y="1760416"/>
            <a:chExt cx="51161" cy="1172092"/>
          </a:xfrm>
          <a:solidFill>
            <a:srgbClr val="000066"/>
          </a:solidFill>
        </p:grpSpPr>
        <p:sp>
          <p:nvSpPr>
            <p:cNvPr id="129" name="椭圆 128"/>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0" name="椭圆 129"/>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1" name="椭圆 130"/>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2" name="椭圆 131"/>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3" name="椭圆 132"/>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34" name="组合 133"/>
          <p:cNvGrpSpPr/>
          <p:nvPr/>
        </p:nvGrpSpPr>
        <p:grpSpPr>
          <a:xfrm>
            <a:off x="5742395" y="2248310"/>
            <a:ext cx="51161" cy="1172092"/>
            <a:chOff x="5411317" y="1760416"/>
            <a:chExt cx="51161" cy="1172092"/>
          </a:xfrm>
          <a:solidFill>
            <a:srgbClr val="000066"/>
          </a:solidFill>
        </p:grpSpPr>
        <p:sp>
          <p:nvSpPr>
            <p:cNvPr id="135" name="椭圆 134"/>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6" name="椭圆 135"/>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7" name="椭圆 136"/>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8" name="椭圆 137"/>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9" name="椭圆 138"/>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40" name="组合 139"/>
          <p:cNvGrpSpPr/>
          <p:nvPr/>
        </p:nvGrpSpPr>
        <p:grpSpPr>
          <a:xfrm>
            <a:off x="5907934" y="2248310"/>
            <a:ext cx="51161" cy="1172092"/>
            <a:chOff x="5411317" y="1760416"/>
            <a:chExt cx="51161" cy="1172092"/>
          </a:xfrm>
          <a:solidFill>
            <a:srgbClr val="000066"/>
          </a:solidFill>
        </p:grpSpPr>
        <p:sp>
          <p:nvSpPr>
            <p:cNvPr id="141" name="椭圆 140"/>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2" name="椭圆 141"/>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3" name="椭圆 142"/>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4" name="椭圆 143"/>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5" name="椭圆 144"/>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46" name="组合 145"/>
          <p:cNvGrpSpPr/>
          <p:nvPr/>
        </p:nvGrpSpPr>
        <p:grpSpPr>
          <a:xfrm>
            <a:off x="6078729" y="2248310"/>
            <a:ext cx="51161" cy="1172092"/>
            <a:chOff x="5411317" y="1760416"/>
            <a:chExt cx="51161" cy="1172092"/>
          </a:xfrm>
          <a:solidFill>
            <a:srgbClr val="000066"/>
          </a:solidFill>
        </p:grpSpPr>
        <p:sp>
          <p:nvSpPr>
            <p:cNvPr id="147" name="椭圆 146"/>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8" name="椭圆 147"/>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9" name="椭圆 148"/>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0" name="椭圆 149"/>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1" name="椭圆 150"/>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52" name="组合 151"/>
          <p:cNvGrpSpPr/>
          <p:nvPr/>
        </p:nvGrpSpPr>
        <p:grpSpPr>
          <a:xfrm>
            <a:off x="6252152" y="2248310"/>
            <a:ext cx="51161" cy="1172092"/>
            <a:chOff x="5411317" y="1760416"/>
            <a:chExt cx="51161" cy="1172092"/>
          </a:xfrm>
          <a:solidFill>
            <a:srgbClr val="000066"/>
          </a:solidFill>
        </p:grpSpPr>
        <p:sp>
          <p:nvSpPr>
            <p:cNvPr id="153" name="椭圆 152"/>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4" name="椭圆 153"/>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5" name="椭圆 154"/>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6" name="椭圆 155"/>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7" name="椭圆 156"/>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58" name="组合 157"/>
          <p:cNvGrpSpPr/>
          <p:nvPr/>
        </p:nvGrpSpPr>
        <p:grpSpPr>
          <a:xfrm>
            <a:off x="6417691" y="2248310"/>
            <a:ext cx="51161" cy="1172092"/>
            <a:chOff x="5411317" y="1760416"/>
            <a:chExt cx="51161" cy="1172092"/>
          </a:xfrm>
          <a:solidFill>
            <a:srgbClr val="000066"/>
          </a:solidFill>
        </p:grpSpPr>
        <p:sp>
          <p:nvSpPr>
            <p:cNvPr id="159" name="椭圆 158"/>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0" name="椭圆 159"/>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1" name="椭圆 160"/>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2" name="椭圆 161"/>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3" name="椭圆 162"/>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64" name="组合 163"/>
          <p:cNvGrpSpPr/>
          <p:nvPr/>
        </p:nvGrpSpPr>
        <p:grpSpPr>
          <a:xfrm>
            <a:off x="6585858" y="2248310"/>
            <a:ext cx="51161" cy="1172092"/>
            <a:chOff x="5411317" y="1760416"/>
            <a:chExt cx="51161" cy="1172092"/>
          </a:xfrm>
          <a:solidFill>
            <a:srgbClr val="000066"/>
          </a:solidFill>
        </p:grpSpPr>
        <p:sp>
          <p:nvSpPr>
            <p:cNvPr id="165" name="椭圆 164"/>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6" name="椭圆 165"/>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7" name="椭圆 166"/>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8" name="椭圆 167"/>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9" name="椭圆 168"/>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70" name="组合 169"/>
          <p:cNvGrpSpPr/>
          <p:nvPr/>
        </p:nvGrpSpPr>
        <p:grpSpPr>
          <a:xfrm>
            <a:off x="6756653" y="2248310"/>
            <a:ext cx="51161" cy="1172092"/>
            <a:chOff x="5411317" y="1760416"/>
            <a:chExt cx="51161" cy="1172092"/>
          </a:xfrm>
          <a:solidFill>
            <a:srgbClr val="000066"/>
          </a:solidFill>
        </p:grpSpPr>
        <p:sp>
          <p:nvSpPr>
            <p:cNvPr id="171" name="椭圆 170"/>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2" name="椭圆 171"/>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3" name="椭圆 172"/>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4" name="椭圆 173"/>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5" name="椭圆 174"/>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76" name="组合 175"/>
          <p:cNvGrpSpPr/>
          <p:nvPr/>
        </p:nvGrpSpPr>
        <p:grpSpPr>
          <a:xfrm>
            <a:off x="6927448" y="2248310"/>
            <a:ext cx="51161" cy="1172092"/>
            <a:chOff x="5411317" y="1760416"/>
            <a:chExt cx="51161" cy="1172092"/>
          </a:xfrm>
          <a:solidFill>
            <a:srgbClr val="000066"/>
          </a:solidFill>
        </p:grpSpPr>
        <p:sp>
          <p:nvSpPr>
            <p:cNvPr id="177" name="椭圆 176"/>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8" name="椭圆 177"/>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9" name="椭圆 178"/>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0" name="椭圆 179"/>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1" name="椭圆 180"/>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82" name="组合 181"/>
          <p:cNvGrpSpPr/>
          <p:nvPr/>
        </p:nvGrpSpPr>
        <p:grpSpPr>
          <a:xfrm>
            <a:off x="7095615" y="2248310"/>
            <a:ext cx="51161" cy="1172092"/>
            <a:chOff x="5411317" y="1760416"/>
            <a:chExt cx="51161" cy="1172092"/>
          </a:xfrm>
          <a:solidFill>
            <a:srgbClr val="000066"/>
          </a:solidFill>
        </p:grpSpPr>
        <p:sp>
          <p:nvSpPr>
            <p:cNvPr id="183" name="椭圆 182"/>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4" name="椭圆 183"/>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5" name="椭圆 184"/>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6" name="椭圆 185"/>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7" name="椭圆 186"/>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88" name="组合 187"/>
          <p:cNvGrpSpPr/>
          <p:nvPr/>
        </p:nvGrpSpPr>
        <p:grpSpPr>
          <a:xfrm>
            <a:off x="7263782" y="2248310"/>
            <a:ext cx="51161" cy="1172092"/>
            <a:chOff x="5411317" y="1760416"/>
            <a:chExt cx="51161" cy="1172092"/>
          </a:xfrm>
          <a:solidFill>
            <a:srgbClr val="000066"/>
          </a:solidFill>
        </p:grpSpPr>
        <p:sp>
          <p:nvSpPr>
            <p:cNvPr id="189" name="椭圆 188"/>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0" name="椭圆 189"/>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1" name="椭圆 190"/>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2" name="椭圆 191"/>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3" name="椭圆 192"/>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94" name="组合 193"/>
          <p:cNvGrpSpPr/>
          <p:nvPr/>
        </p:nvGrpSpPr>
        <p:grpSpPr>
          <a:xfrm>
            <a:off x="7429321" y="2248310"/>
            <a:ext cx="51161" cy="1172092"/>
            <a:chOff x="5411317" y="1760416"/>
            <a:chExt cx="51161" cy="1172092"/>
          </a:xfrm>
          <a:solidFill>
            <a:srgbClr val="000066"/>
          </a:solidFill>
        </p:grpSpPr>
        <p:sp>
          <p:nvSpPr>
            <p:cNvPr id="195" name="椭圆 194"/>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6" name="椭圆 195"/>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7" name="椭圆 196"/>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8" name="椭圆 197"/>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9" name="椭圆 198"/>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201" name="椭圆 200"/>
          <p:cNvSpPr/>
          <p:nvPr/>
        </p:nvSpPr>
        <p:spPr bwMode="auto">
          <a:xfrm>
            <a:off x="7592232" y="2248310"/>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2" name="椭圆 201"/>
          <p:cNvSpPr/>
          <p:nvPr/>
        </p:nvSpPr>
        <p:spPr bwMode="auto">
          <a:xfrm>
            <a:off x="7594953" y="2422481"/>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3" name="椭圆 202"/>
          <p:cNvSpPr/>
          <p:nvPr/>
        </p:nvSpPr>
        <p:spPr bwMode="auto">
          <a:xfrm>
            <a:off x="7590416" y="2674470"/>
            <a:ext cx="62240" cy="62240"/>
          </a:xfrm>
          <a:prstGeom prst="ellipse">
            <a:avLst/>
          </a:prstGeom>
          <a:solidFill>
            <a:srgbClr val="FF0000"/>
          </a:solidFill>
          <a:ln w="12700" cap="flat" cmpd="sng" algn="ctr">
            <a:solidFill>
              <a:srgbClr val="FF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4" name="椭圆 203"/>
          <p:cNvSpPr/>
          <p:nvPr/>
        </p:nvSpPr>
        <p:spPr bwMode="auto">
          <a:xfrm>
            <a:off x="7597674" y="2985800"/>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5" name="椭圆 204"/>
          <p:cNvSpPr/>
          <p:nvPr/>
        </p:nvSpPr>
        <p:spPr bwMode="auto">
          <a:xfrm>
            <a:off x="7597674" y="3374683"/>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206" name="组合 205"/>
          <p:cNvGrpSpPr/>
          <p:nvPr/>
        </p:nvGrpSpPr>
        <p:grpSpPr>
          <a:xfrm>
            <a:off x="7757771" y="2248310"/>
            <a:ext cx="51161" cy="1172092"/>
            <a:chOff x="5411317" y="1760416"/>
            <a:chExt cx="51161" cy="1172092"/>
          </a:xfrm>
          <a:solidFill>
            <a:srgbClr val="000066"/>
          </a:solidFill>
        </p:grpSpPr>
        <p:sp>
          <p:nvSpPr>
            <p:cNvPr id="207" name="椭圆 206"/>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8" name="椭圆 207"/>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9" name="椭圆 208"/>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0" name="椭圆 209"/>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1" name="椭圆 210"/>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213" name="椭圆 212"/>
          <p:cNvSpPr/>
          <p:nvPr/>
        </p:nvSpPr>
        <p:spPr bwMode="auto">
          <a:xfrm>
            <a:off x="7928566" y="2248310"/>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4" name="椭圆 213"/>
          <p:cNvSpPr/>
          <p:nvPr/>
        </p:nvSpPr>
        <p:spPr bwMode="auto">
          <a:xfrm>
            <a:off x="7931287" y="2422481"/>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5" name="椭圆 214"/>
          <p:cNvSpPr/>
          <p:nvPr/>
        </p:nvSpPr>
        <p:spPr bwMode="auto">
          <a:xfrm>
            <a:off x="7934008" y="2683732"/>
            <a:ext cx="45719" cy="45719"/>
          </a:xfrm>
          <a:prstGeom prst="ellipse">
            <a:avLst/>
          </a:prstGeom>
          <a:solidFill>
            <a:schemeClr val="tx1"/>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6" name="椭圆 215"/>
          <p:cNvSpPr/>
          <p:nvPr/>
        </p:nvSpPr>
        <p:spPr bwMode="auto">
          <a:xfrm>
            <a:off x="7934008" y="2985800"/>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7" name="椭圆 216"/>
          <p:cNvSpPr/>
          <p:nvPr/>
        </p:nvSpPr>
        <p:spPr bwMode="auto">
          <a:xfrm>
            <a:off x="7934008" y="3374683"/>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218" name="组合 217"/>
          <p:cNvGrpSpPr/>
          <p:nvPr/>
        </p:nvGrpSpPr>
        <p:grpSpPr>
          <a:xfrm>
            <a:off x="8099361" y="2248310"/>
            <a:ext cx="51161" cy="1172092"/>
            <a:chOff x="5411317" y="1760416"/>
            <a:chExt cx="51161" cy="1172092"/>
          </a:xfrm>
          <a:solidFill>
            <a:srgbClr val="000066"/>
          </a:solidFill>
        </p:grpSpPr>
        <p:sp>
          <p:nvSpPr>
            <p:cNvPr id="219" name="椭圆 218"/>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0" name="椭圆 219"/>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1" name="椭圆 220"/>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2" name="椭圆 221"/>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3" name="椭圆 222"/>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224" name="组合 223"/>
          <p:cNvGrpSpPr/>
          <p:nvPr/>
        </p:nvGrpSpPr>
        <p:grpSpPr>
          <a:xfrm>
            <a:off x="8270156" y="2248310"/>
            <a:ext cx="51161" cy="1172092"/>
            <a:chOff x="5411317" y="1760416"/>
            <a:chExt cx="51161" cy="1172092"/>
          </a:xfrm>
          <a:solidFill>
            <a:srgbClr val="000066"/>
          </a:solidFill>
        </p:grpSpPr>
        <p:sp>
          <p:nvSpPr>
            <p:cNvPr id="225" name="椭圆 224"/>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6" name="椭圆 225"/>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7" name="椭圆 226"/>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8" name="椭圆 227"/>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9" name="椭圆 228"/>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230" name="组合 229"/>
          <p:cNvGrpSpPr/>
          <p:nvPr/>
        </p:nvGrpSpPr>
        <p:grpSpPr>
          <a:xfrm>
            <a:off x="8440951" y="2248310"/>
            <a:ext cx="51161" cy="1172092"/>
            <a:chOff x="5411317" y="1760416"/>
            <a:chExt cx="51161" cy="1172092"/>
          </a:xfrm>
          <a:solidFill>
            <a:srgbClr val="000066"/>
          </a:solidFill>
        </p:grpSpPr>
        <p:sp>
          <p:nvSpPr>
            <p:cNvPr id="231" name="椭圆 230"/>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32" name="椭圆 231"/>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33" name="椭圆 232"/>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34" name="椭圆 233"/>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35" name="椭圆 234"/>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242" name="Line 25"/>
          <p:cNvSpPr>
            <a:spLocks noChangeShapeType="1"/>
          </p:cNvSpPr>
          <p:nvPr/>
        </p:nvSpPr>
        <p:spPr bwMode="auto">
          <a:xfrm>
            <a:off x="8672467" y="2183784"/>
            <a:ext cx="0" cy="518989"/>
          </a:xfrm>
          <a:prstGeom prst="line">
            <a:avLst/>
          </a:prstGeom>
          <a:noFill/>
          <a:ln w="9525"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 name="矩形 242"/>
          <p:cNvSpPr/>
          <p:nvPr/>
        </p:nvSpPr>
        <p:spPr>
          <a:xfrm>
            <a:off x="8501058" y="2141106"/>
            <a:ext cx="571620" cy="461665"/>
          </a:xfrm>
          <a:prstGeom prst="rect">
            <a:avLst/>
          </a:prstGeom>
        </p:spPr>
        <p:txBody>
          <a:bodyPr wrap="square">
            <a:spAutoFit/>
          </a:bodyPr>
          <a:lstStyle/>
          <a:p>
            <a:pPr algn="ctr">
              <a:lnSpc>
                <a:spcPct val="100000"/>
              </a:lnSpc>
              <a:buClr>
                <a:srgbClr val="C00000"/>
              </a:buClr>
            </a:pPr>
            <a:r>
              <a:rPr lang="en-US" altLang="zh-CN" sz="2400" b="1" dirty="0">
                <a:solidFill>
                  <a:srgbClr val="FF0000"/>
                </a:solidFill>
                <a:ea typeface="幼圆" panose="02010509060101010101" pitchFamily="49" charset="-122"/>
                <a:cs typeface="Times New Roman" panose="02020603050405020304" pitchFamily="18" charset="0"/>
              </a:rPr>
              <a:t>z</a:t>
            </a:r>
            <a:endParaRPr lang="zh-CN" altLang="en-US" sz="2400" b="1" dirty="0">
              <a:solidFill>
                <a:srgbClr val="FF0000"/>
              </a:solidFill>
              <a:ea typeface="幼圆" panose="02010509060101010101" pitchFamily="49" charset="-122"/>
              <a:cs typeface="Times New Roman" panose="02020603050405020304" pitchFamily="18" charset="0"/>
            </a:endParaRPr>
          </a:p>
        </p:txBody>
      </p:sp>
      <p:sp>
        <p:nvSpPr>
          <p:cNvPr id="244" name="矩形 243"/>
          <p:cNvSpPr/>
          <p:nvPr/>
        </p:nvSpPr>
        <p:spPr>
          <a:xfrm>
            <a:off x="7519230" y="2652790"/>
            <a:ext cx="571620" cy="461665"/>
          </a:xfrm>
          <a:prstGeom prst="rect">
            <a:avLst/>
          </a:prstGeom>
        </p:spPr>
        <p:txBody>
          <a:bodyPr wrap="square">
            <a:spAutoFit/>
          </a:bodyPr>
          <a:lstStyle/>
          <a:p>
            <a:pPr algn="ctr">
              <a:lnSpc>
                <a:spcPct val="100000"/>
              </a:lnSpc>
              <a:buClr>
                <a:srgbClr val="C00000"/>
              </a:buClr>
            </a:pPr>
            <a:r>
              <a:rPr lang="en-US" altLang="zh-CN" sz="2400" b="1" dirty="0">
                <a:solidFill>
                  <a:srgbClr val="FF0000"/>
                </a:solidFill>
                <a:ea typeface="幼圆" panose="02010509060101010101" pitchFamily="49" charset="-122"/>
                <a:cs typeface="Times New Roman" panose="02020603050405020304" pitchFamily="18" charset="0"/>
              </a:rPr>
              <a:t>M</a:t>
            </a:r>
            <a:endParaRPr lang="zh-CN" altLang="en-US" sz="2400" b="1" dirty="0">
              <a:solidFill>
                <a:srgbClr val="FF0000"/>
              </a:solidFill>
              <a:ea typeface="幼圆" panose="02010509060101010101" pitchFamily="49" charset="-122"/>
              <a:cs typeface="Times New Roman" panose="02020603050405020304" pitchFamily="18" charset="0"/>
            </a:endParaRPr>
          </a:p>
        </p:txBody>
      </p:sp>
      <p:sp>
        <p:nvSpPr>
          <p:cNvPr id="245" name="Text Box 5"/>
          <p:cNvSpPr txBox="1">
            <a:spLocks noChangeArrowheads="1"/>
          </p:cNvSpPr>
          <p:nvPr/>
        </p:nvSpPr>
        <p:spPr bwMode="auto">
          <a:xfrm>
            <a:off x="840704" y="2565888"/>
            <a:ext cx="3866762" cy="7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2"/>
            </a:pPr>
            <a:r>
              <a:rPr lang="zh-CN" altLang="en-US" sz="2200" b="1" dirty="0">
                <a:solidFill>
                  <a:srgbClr val="000066"/>
                </a:solidFill>
                <a:ea typeface="幼圆" pitchFamily="49" charset="-122"/>
                <a:cs typeface="Times New Roman" panose="02020603050405020304" pitchFamily="18" charset="0"/>
                <a:sym typeface="Symbol" pitchFamily="18" charset="2"/>
              </a:rPr>
              <a:t>弹性理论应力计算：自重应力</a:t>
            </a:r>
            <a:r>
              <a:rPr lang="en-US" altLang="zh-CN" sz="2200" b="1" dirty="0">
                <a:solidFill>
                  <a:srgbClr val="000066"/>
                </a:solidFill>
                <a:ea typeface="幼圆" pitchFamily="49" charset="-122"/>
                <a:cs typeface="Times New Roman" panose="02020603050405020304" pitchFamily="18" charset="0"/>
                <a:sym typeface="Symbol" pitchFamily="18" charset="2"/>
              </a:rPr>
              <a:t>+</a:t>
            </a:r>
            <a:r>
              <a:rPr lang="zh-CN" altLang="en-US" sz="2200" b="1" dirty="0">
                <a:solidFill>
                  <a:srgbClr val="000066"/>
                </a:solidFill>
                <a:ea typeface="幼圆" pitchFamily="49" charset="-122"/>
                <a:cs typeface="Times New Roman" panose="02020603050405020304" pitchFamily="18" charset="0"/>
                <a:sym typeface="Symbol" pitchFamily="18" charset="2"/>
              </a:rPr>
              <a:t>附加应力</a:t>
            </a:r>
            <a:endPar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246" name="Object 46"/>
          <p:cNvGraphicFramePr>
            <a:graphicFrameLocks noChangeAspect="1"/>
          </p:cNvGraphicFramePr>
          <p:nvPr>
            <p:extLst>
              <p:ext uri="{D42A27DB-BD31-4B8C-83A1-F6EECF244321}">
                <p14:modId xmlns:p14="http://schemas.microsoft.com/office/powerpoint/2010/main" val="3603602982"/>
              </p:ext>
            </p:extLst>
          </p:nvPr>
        </p:nvGraphicFramePr>
        <p:xfrm>
          <a:off x="1392238" y="3506788"/>
          <a:ext cx="2195512" cy="1028700"/>
        </p:xfrm>
        <a:graphic>
          <a:graphicData uri="http://schemas.openxmlformats.org/presentationml/2006/ole">
            <mc:AlternateContent xmlns:mc="http://schemas.openxmlformats.org/markup-compatibility/2006">
              <mc:Choice xmlns:v="urn:schemas-microsoft-com:vml" Requires="v">
                <p:oleObj spid="_x0000_s1799531" name="Equation" r:id="rId4" imgW="1218960" imgH="571320" progId="Equation.DSMT4">
                  <p:embed/>
                </p:oleObj>
              </mc:Choice>
              <mc:Fallback>
                <p:oleObj name="Equation" r:id="rId4" imgW="1218960" imgH="571320" progId="Equation.DSMT4">
                  <p:embed/>
                  <p:pic>
                    <p:nvPicPr>
                      <p:cNvPr id="543790" name="Object 46"/>
                      <p:cNvPicPr>
                        <a:picLocks noChangeAspect="1" noChangeArrowheads="1"/>
                      </p:cNvPicPr>
                      <p:nvPr/>
                    </p:nvPicPr>
                    <p:blipFill>
                      <a:blip r:embed="rId5"/>
                      <a:srcRect/>
                      <a:stretch>
                        <a:fillRect/>
                      </a:stretch>
                    </p:blipFill>
                    <p:spPr bwMode="auto">
                      <a:xfrm>
                        <a:off x="1392238" y="3506788"/>
                        <a:ext cx="2195512" cy="1028700"/>
                      </a:xfrm>
                      <a:prstGeom prst="rect">
                        <a:avLst/>
                      </a:prstGeom>
                      <a:noFill/>
                      <a:ln>
                        <a:noFill/>
                      </a:ln>
                      <a:extLst/>
                    </p:spPr>
                  </p:pic>
                </p:oleObj>
              </mc:Fallback>
            </mc:AlternateContent>
          </a:graphicData>
        </a:graphic>
      </p:graphicFrame>
      <p:sp>
        <p:nvSpPr>
          <p:cNvPr id="247" name="Text Box 5"/>
          <p:cNvSpPr txBox="1">
            <a:spLocks noChangeArrowheads="1"/>
          </p:cNvSpPr>
          <p:nvPr/>
        </p:nvSpPr>
        <p:spPr bwMode="auto">
          <a:xfrm>
            <a:off x="840704" y="4830117"/>
            <a:ext cx="2283496"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3"/>
            </a:pPr>
            <a:r>
              <a:rPr lang="zh-CN" altLang="en-US" sz="2200" b="1" dirty="0">
                <a:solidFill>
                  <a:srgbClr val="000066"/>
                </a:solidFill>
                <a:ea typeface="幼圆" pitchFamily="49" charset="-122"/>
                <a:cs typeface="Times New Roman" panose="02020603050405020304" pitchFamily="18" charset="0"/>
                <a:sym typeface="Symbol" pitchFamily="18" charset="2"/>
              </a:rPr>
              <a:t>计算主应力：</a:t>
            </a:r>
            <a:endPar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248" name="Object 7"/>
          <p:cNvGraphicFramePr>
            <a:graphicFrameLocks noChangeAspect="1"/>
          </p:cNvGraphicFramePr>
          <p:nvPr>
            <p:extLst>
              <p:ext uri="{D42A27DB-BD31-4B8C-83A1-F6EECF244321}">
                <p14:modId xmlns:p14="http://schemas.microsoft.com/office/powerpoint/2010/main" val="2932758512"/>
              </p:ext>
            </p:extLst>
          </p:nvPr>
        </p:nvGraphicFramePr>
        <p:xfrm>
          <a:off x="3296557" y="4673600"/>
          <a:ext cx="3519488" cy="752475"/>
        </p:xfrm>
        <a:graphic>
          <a:graphicData uri="http://schemas.openxmlformats.org/presentationml/2006/ole">
            <mc:AlternateContent xmlns:mc="http://schemas.openxmlformats.org/markup-compatibility/2006">
              <mc:Choice xmlns:v="urn:schemas-microsoft-com:vml" Requires="v">
                <p:oleObj spid="_x0000_s1799532" name="Equation" r:id="rId6" imgW="1955520" imgH="419040" progId="Equation.DSMT4">
                  <p:embed/>
                </p:oleObj>
              </mc:Choice>
              <mc:Fallback>
                <p:oleObj name="Equation" r:id="rId6" imgW="1955520" imgH="419040" progId="Equation.DSMT4">
                  <p:embed/>
                  <p:pic>
                    <p:nvPicPr>
                      <p:cNvPr id="8" name="Object 7"/>
                      <p:cNvPicPr>
                        <a:picLocks noChangeAspect="1" noChangeArrowheads="1"/>
                      </p:cNvPicPr>
                      <p:nvPr/>
                    </p:nvPicPr>
                    <p:blipFill>
                      <a:blip r:embed="rId7"/>
                      <a:srcRect/>
                      <a:stretch>
                        <a:fillRect/>
                      </a:stretch>
                    </p:blipFill>
                    <p:spPr bwMode="auto">
                      <a:xfrm>
                        <a:off x="3296557" y="4673600"/>
                        <a:ext cx="3519488"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spTree>
    <p:extLst>
      <p:ext uri="{BB962C8B-B14F-4D97-AF65-F5344CB8AC3E}">
        <p14:creationId xmlns:p14="http://schemas.microsoft.com/office/powerpoint/2010/main" val="381045222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45">
                                            <p:txEl>
                                              <p:pRg st="0" end="0"/>
                                            </p:txEl>
                                          </p:spTgt>
                                        </p:tgtEl>
                                        <p:attrNameLst>
                                          <p:attrName>style.visibility</p:attrName>
                                        </p:attrNameLst>
                                      </p:cBhvr>
                                      <p:to>
                                        <p:strVal val="visible"/>
                                      </p:to>
                                    </p:set>
                                    <p:animEffect transition="in" filter="fade">
                                      <p:cBhvr>
                                        <p:cTn id="13" dur="1000"/>
                                        <p:tgtEl>
                                          <p:spTgt spid="245">
                                            <p:txEl>
                                              <p:pRg st="0" end="0"/>
                                            </p:txEl>
                                          </p:spTgt>
                                        </p:tgtEl>
                                      </p:cBhvr>
                                    </p:animEffect>
                                    <p:anim calcmode="lin" valueType="num">
                                      <p:cBhvr>
                                        <p:cTn id="14" dur="1000" fill="hold"/>
                                        <p:tgtEl>
                                          <p:spTgt spid="24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45">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246"/>
                                        </p:tgtEl>
                                        <p:attrNameLst>
                                          <p:attrName>style.visibility</p:attrName>
                                        </p:attrNameLst>
                                      </p:cBhvr>
                                      <p:to>
                                        <p:strVal val="visible"/>
                                      </p:to>
                                    </p:set>
                                    <p:animEffect transition="in" filter="wipe(left)">
                                      <p:cBhvr>
                                        <p:cTn id="19" dur="500"/>
                                        <p:tgtEl>
                                          <p:spTgt spid="246"/>
                                        </p:tgtEl>
                                      </p:cBhvr>
                                    </p:animEffect>
                                  </p:childTnLst>
                                </p:cTn>
                              </p:par>
                            </p:childTnLst>
                          </p:cTn>
                        </p:par>
                        <p:par>
                          <p:cTn id="20" fill="hold">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247">
                                            <p:txEl>
                                              <p:pRg st="0" end="0"/>
                                            </p:txEl>
                                          </p:spTgt>
                                        </p:tgtEl>
                                        <p:attrNameLst>
                                          <p:attrName>style.visibility</p:attrName>
                                        </p:attrNameLst>
                                      </p:cBhvr>
                                      <p:to>
                                        <p:strVal val="visible"/>
                                      </p:to>
                                    </p:set>
                                    <p:animEffect transition="in" filter="fade">
                                      <p:cBhvr>
                                        <p:cTn id="23" dur="1000"/>
                                        <p:tgtEl>
                                          <p:spTgt spid="247">
                                            <p:txEl>
                                              <p:pRg st="0" end="0"/>
                                            </p:txEl>
                                          </p:spTgt>
                                        </p:tgtEl>
                                      </p:cBhvr>
                                    </p:animEffect>
                                    <p:anim calcmode="lin" valueType="num">
                                      <p:cBhvr>
                                        <p:cTn id="24" dur="1000" fill="hold"/>
                                        <p:tgtEl>
                                          <p:spTgt spid="247">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247">
                                            <p:txEl>
                                              <p:pRg st="0" end="0"/>
                                            </p:txEl>
                                          </p:spTgt>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12" presetClass="entr" presetSubtype="4" fill="hold" nodeType="afterEffect">
                                  <p:stCondLst>
                                    <p:cond delay="0"/>
                                  </p:stCondLst>
                                  <p:childTnLst>
                                    <p:set>
                                      <p:cBhvr>
                                        <p:cTn id="28" dur="1" fill="hold">
                                          <p:stCondLst>
                                            <p:cond delay="0"/>
                                          </p:stCondLst>
                                        </p:cTn>
                                        <p:tgtEl>
                                          <p:spTgt spid="248"/>
                                        </p:tgtEl>
                                        <p:attrNameLst>
                                          <p:attrName>style.visibility</p:attrName>
                                        </p:attrNameLst>
                                      </p:cBhvr>
                                      <p:to>
                                        <p:strVal val="visible"/>
                                      </p:to>
                                    </p:set>
                                    <p:animEffect transition="in" filter="slide(fromBottom)">
                                      <p:cBhvr>
                                        <p:cTn id="29" dur="5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P spid="245" grpId="0" uiExpand="1" build="p"/>
      <p:bldP spid="247"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1134533" y="3711309"/>
            <a:ext cx="7801492" cy="1868224"/>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37" name="矩形 236"/>
          <p:cNvSpPr/>
          <p:nvPr/>
        </p:nvSpPr>
        <p:spPr bwMode="auto">
          <a:xfrm>
            <a:off x="4916064" y="1856084"/>
            <a:ext cx="4019961" cy="1669806"/>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24</a:t>
            </a:fld>
            <a:endParaRPr lang="zh-CN" altLang="en-US" dirty="0">
              <a:solidFill>
                <a:srgbClr val="C00000"/>
              </a:solidFill>
            </a:endParaRPr>
          </a:p>
        </p:txBody>
      </p:sp>
      <p:sp>
        <p:nvSpPr>
          <p:cNvPr id="13" name="Text Box 46"/>
          <p:cNvSpPr txBox="1">
            <a:spLocks noChangeArrowheads="1"/>
          </p:cNvSpPr>
          <p:nvPr/>
        </p:nvSpPr>
        <p:spPr bwMode="auto">
          <a:xfrm>
            <a:off x="464159" y="720845"/>
            <a:ext cx="57937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极限平衡区范围的一般计算方法</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832238" y="1393085"/>
            <a:ext cx="3866762" cy="7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4"/>
            </a:pPr>
            <a:r>
              <a:rPr lang="zh-CN" altLang="en-US" sz="2200" b="1" dirty="0">
                <a:solidFill>
                  <a:srgbClr val="000066"/>
                </a:solidFill>
                <a:ea typeface="幼圆" pitchFamily="49" charset="-122"/>
                <a:cs typeface="Times New Roman" panose="02020603050405020304" pitchFamily="18" charset="0"/>
                <a:sym typeface="Symbol" pitchFamily="18" charset="2"/>
              </a:rPr>
              <a:t>判断计算点是否处于极限平衡状态第</a:t>
            </a:r>
            <a:r>
              <a:rPr lang="en-US" altLang="zh-CN" sz="2200" b="1" dirty="0">
                <a:solidFill>
                  <a:srgbClr val="000066"/>
                </a:solidFill>
                <a:ea typeface="幼圆" pitchFamily="49" charset="-122"/>
                <a:cs typeface="Times New Roman" panose="02020603050405020304" pitchFamily="18" charset="0"/>
                <a:sym typeface="Symbol" pitchFamily="18" charset="2"/>
              </a:rPr>
              <a:t>5</a:t>
            </a:r>
            <a:r>
              <a:rPr lang="zh-CN" altLang="en-US" sz="2200" b="1" dirty="0">
                <a:solidFill>
                  <a:srgbClr val="000066"/>
                </a:solidFill>
                <a:ea typeface="幼圆" pitchFamily="49" charset="-122"/>
                <a:cs typeface="Times New Roman" panose="02020603050405020304" pitchFamily="18" charset="0"/>
                <a:sym typeface="Symbol" pitchFamily="18" charset="2"/>
              </a:rPr>
              <a:t>章方法</a:t>
            </a:r>
            <a:endPar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2"/>
          <p:cNvSpPr txBox="1">
            <a:spLocks noChangeArrowheads="1"/>
          </p:cNvSpPr>
          <p:nvPr/>
        </p:nvSpPr>
        <p:spPr bwMode="auto">
          <a:xfrm>
            <a:off x="1839433" y="5806224"/>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a:t>
            </a:r>
          </a:p>
        </p:txBody>
      </p:sp>
      <p:grpSp>
        <p:nvGrpSpPr>
          <p:cNvPr id="7" name="组合 6"/>
          <p:cNvGrpSpPr/>
          <p:nvPr/>
        </p:nvGrpSpPr>
        <p:grpSpPr>
          <a:xfrm>
            <a:off x="6253449" y="1308048"/>
            <a:ext cx="1314450" cy="531427"/>
            <a:chOff x="6252391" y="1449388"/>
            <a:chExt cx="1314450" cy="531427"/>
          </a:xfrm>
        </p:grpSpPr>
        <p:sp>
          <p:nvSpPr>
            <p:cNvPr id="8"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9" name="直接连接符 18"/>
          <p:cNvCxnSpPr/>
          <p:nvPr/>
        </p:nvCxnSpPr>
        <p:spPr bwMode="auto">
          <a:xfrm flipH="1">
            <a:off x="6256042" y="1293686"/>
            <a:ext cx="131226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Line 23"/>
          <p:cNvSpPr>
            <a:spLocks noChangeShapeType="1"/>
          </p:cNvSpPr>
          <p:nvPr/>
        </p:nvSpPr>
        <p:spPr bwMode="auto">
          <a:xfrm>
            <a:off x="4933648" y="1838041"/>
            <a:ext cx="3979984"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21"/>
          <p:cNvSpPr txBox="1">
            <a:spLocks noChangeArrowheads="1"/>
          </p:cNvSpPr>
          <p:nvPr/>
        </p:nvSpPr>
        <p:spPr bwMode="auto">
          <a:xfrm>
            <a:off x="7803592" y="984413"/>
            <a:ext cx="793807"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24" name="Line 25"/>
          <p:cNvSpPr>
            <a:spLocks noChangeShapeType="1"/>
          </p:cNvSpPr>
          <p:nvPr/>
        </p:nvSpPr>
        <p:spPr bwMode="auto">
          <a:xfrm>
            <a:off x="4938999" y="156949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a:off x="5158074" y="156949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5"/>
          <p:cNvSpPr>
            <a:spLocks noChangeShapeType="1"/>
          </p:cNvSpPr>
          <p:nvPr/>
        </p:nvSpPr>
        <p:spPr bwMode="auto">
          <a:xfrm>
            <a:off x="5377149" y="156949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5596224" y="156949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p:cNvSpPr>
            <a:spLocks noChangeShapeType="1"/>
          </p:cNvSpPr>
          <p:nvPr/>
        </p:nvSpPr>
        <p:spPr bwMode="auto">
          <a:xfrm>
            <a:off x="5815299" y="156949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5"/>
          <p:cNvSpPr>
            <a:spLocks noChangeShapeType="1"/>
          </p:cNvSpPr>
          <p:nvPr/>
        </p:nvSpPr>
        <p:spPr bwMode="auto">
          <a:xfrm>
            <a:off x="6034374" y="156949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p:cNvSpPr>
            <a:spLocks noChangeShapeType="1"/>
          </p:cNvSpPr>
          <p:nvPr/>
        </p:nvSpPr>
        <p:spPr bwMode="auto">
          <a:xfrm>
            <a:off x="7787746" y="156133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5"/>
          <p:cNvSpPr>
            <a:spLocks noChangeShapeType="1"/>
          </p:cNvSpPr>
          <p:nvPr/>
        </p:nvSpPr>
        <p:spPr bwMode="auto">
          <a:xfrm>
            <a:off x="8006821" y="156133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p:cNvSpPr>
            <a:spLocks noChangeShapeType="1"/>
          </p:cNvSpPr>
          <p:nvPr/>
        </p:nvSpPr>
        <p:spPr bwMode="auto">
          <a:xfrm>
            <a:off x="8225896" y="156133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5"/>
          <p:cNvSpPr>
            <a:spLocks noChangeShapeType="1"/>
          </p:cNvSpPr>
          <p:nvPr/>
        </p:nvSpPr>
        <p:spPr bwMode="auto">
          <a:xfrm>
            <a:off x="8444971" y="156133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5"/>
          <p:cNvSpPr>
            <a:spLocks noChangeShapeType="1"/>
          </p:cNvSpPr>
          <p:nvPr/>
        </p:nvSpPr>
        <p:spPr bwMode="auto">
          <a:xfrm>
            <a:off x="8664046" y="156133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5"/>
          <p:cNvSpPr>
            <a:spLocks noChangeShapeType="1"/>
          </p:cNvSpPr>
          <p:nvPr/>
        </p:nvSpPr>
        <p:spPr bwMode="auto">
          <a:xfrm>
            <a:off x="8883121" y="156133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矩形 35"/>
          <p:cNvSpPr/>
          <p:nvPr/>
        </p:nvSpPr>
        <p:spPr>
          <a:xfrm>
            <a:off x="6580515" y="776724"/>
            <a:ext cx="571620" cy="461665"/>
          </a:xfrm>
          <a:prstGeom prst="rect">
            <a:avLst/>
          </a:prstGeom>
        </p:spPr>
        <p:txBody>
          <a:bodyPr wrap="square">
            <a:spAutoFit/>
          </a:bodyPr>
          <a:lstStyle/>
          <a:p>
            <a:pPr algn="ctr">
              <a:lnSpc>
                <a:spcPct val="100000"/>
              </a:lnSpc>
              <a:buClr>
                <a:srgbClr val="C00000"/>
              </a:buClr>
            </a:pPr>
            <a:r>
              <a:rPr lang="en-US" altLang="zh-CN" sz="2400" b="1" i="1" dirty="0">
                <a:solidFill>
                  <a:srgbClr val="000066"/>
                </a:solidFill>
                <a:ea typeface="幼圆" panose="02010509060101010101" pitchFamily="49" charset="-122"/>
                <a:cs typeface="Times New Roman" panose="02020603050405020304" pitchFamily="18" charset="0"/>
              </a:rPr>
              <a:t>p</a:t>
            </a:r>
            <a:endParaRPr lang="zh-CN" altLang="en-US" sz="2400" b="1" i="1" dirty="0">
              <a:solidFill>
                <a:srgbClr val="000066"/>
              </a:solidFill>
              <a:ea typeface="幼圆" panose="02010509060101010101" pitchFamily="49" charset="-122"/>
              <a:cs typeface="Times New Roman" panose="02020603050405020304" pitchFamily="18" charset="0"/>
            </a:endParaRPr>
          </a:p>
        </p:txBody>
      </p:sp>
      <p:cxnSp>
        <p:nvCxnSpPr>
          <p:cNvPr id="37" name="直接连接符 36"/>
          <p:cNvCxnSpPr/>
          <p:nvPr/>
        </p:nvCxnSpPr>
        <p:spPr bwMode="auto">
          <a:xfrm flipH="1">
            <a:off x="4930612" y="1556619"/>
            <a:ext cx="133056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p:cNvCxnSpPr/>
          <p:nvPr/>
        </p:nvCxnSpPr>
        <p:spPr bwMode="auto">
          <a:xfrm flipH="1">
            <a:off x="7568185" y="1545733"/>
            <a:ext cx="133056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Line 23"/>
          <p:cNvSpPr>
            <a:spLocks noChangeShapeType="1"/>
          </p:cNvSpPr>
          <p:nvPr/>
        </p:nvSpPr>
        <p:spPr bwMode="auto">
          <a:xfrm>
            <a:off x="4921925" y="1943547"/>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23"/>
          <p:cNvSpPr>
            <a:spLocks noChangeShapeType="1"/>
          </p:cNvSpPr>
          <p:nvPr/>
        </p:nvSpPr>
        <p:spPr bwMode="auto">
          <a:xfrm>
            <a:off x="4916064" y="2119397"/>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23"/>
          <p:cNvSpPr>
            <a:spLocks noChangeShapeType="1"/>
          </p:cNvSpPr>
          <p:nvPr/>
        </p:nvSpPr>
        <p:spPr bwMode="auto">
          <a:xfrm>
            <a:off x="4910203" y="2377311"/>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23"/>
          <p:cNvSpPr>
            <a:spLocks noChangeShapeType="1"/>
          </p:cNvSpPr>
          <p:nvPr/>
        </p:nvSpPr>
        <p:spPr bwMode="auto">
          <a:xfrm>
            <a:off x="4921928" y="2676261"/>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23"/>
          <p:cNvSpPr>
            <a:spLocks noChangeShapeType="1"/>
          </p:cNvSpPr>
          <p:nvPr/>
        </p:nvSpPr>
        <p:spPr bwMode="auto">
          <a:xfrm>
            <a:off x="4927789" y="3068983"/>
            <a:ext cx="3979984"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23"/>
          <p:cNvSpPr>
            <a:spLocks noChangeShapeType="1"/>
          </p:cNvSpPr>
          <p:nvPr/>
        </p:nvSpPr>
        <p:spPr bwMode="auto">
          <a:xfrm rot="5400000">
            <a:off x="4588455" y="2681483"/>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23"/>
          <p:cNvSpPr>
            <a:spLocks noChangeShapeType="1"/>
          </p:cNvSpPr>
          <p:nvPr/>
        </p:nvSpPr>
        <p:spPr bwMode="auto">
          <a:xfrm rot="5400000">
            <a:off x="4756483" y="2680845"/>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23"/>
          <p:cNvSpPr>
            <a:spLocks noChangeShapeType="1"/>
          </p:cNvSpPr>
          <p:nvPr/>
        </p:nvSpPr>
        <p:spPr bwMode="auto">
          <a:xfrm rot="5400000">
            <a:off x="4924511" y="2674345"/>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23"/>
          <p:cNvSpPr>
            <a:spLocks noChangeShapeType="1"/>
          </p:cNvSpPr>
          <p:nvPr/>
        </p:nvSpPr>
        <p:spPr bwMode="auto">
          <a:xfrm rot="5400000">
            <a:off x="5092539" y="2667845"/>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3"/>
          <p:cNvSpPr>
            <a:spLocks noChangeShapeType="1"/>
          </p:cNvSpPr>
          <p:nvPr/>
        </p:nvSpPr>
        <p:spPr bwMode="auto">
          <a:xfrm rot="5400000">
            <a:off x="5260567" y="2661345"/>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23"/>
          <p:cNvSpPr>
            <a:spLocks noChangeShapeType="1"/>
          </p:cNvSpPr>
          <p:nvPr/>
        </p:nvSpPr>
        <p:spPr bwMode="auto">
          <a:xfrm rot="5400000">
            <a:off x="5428595" y="2660707"/>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23"/>
          <p:cNvSpPr>
            <a:spLocks noChangeShapeType="1"/>
          </p:cNvSpPr>
          <p:nvPr/>
        </p:nvSpPr>
        <p:spPr bwMode="auto">
          <a:xfrm rot="5400000">
            <a:off x="5596623" y="2660069"/>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23"/>
          <p:cNvSpPr>
            <a:spLocks noChangeShapeType="1"/>
          </p:cNvSpPr>
          <p:nvPr/>
        </p:nvSpPr>
        <p:spPr bwMode="auto">
          <a:xfrm rot="5400000">
            <a:off x="5764651" y="2659431"/>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23"/>
          <p:cNvSpPr>
            <a:spLocks noChangeShapeType="1"/>
          </p:cNvSpPr>
          <p:nvPr/>
        </p:nvSpPr>
        <p:spPr bwMode="auto">
          <a:xfrm rot="5400000">
            <a:off x="5932679" y="2664655"/>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23"/>
          <p:cNvSpPr>
            <a:spLocks noChangeShapeType="1"/>
          </p:cNvSpPr>
          <p:nvPr/>
        </p:nvSpPr>
        <p:spPr bwMode="auto">
          <a:xfrm rot="5400000">
            <a:off x="6100707" y="2669879"/>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3"/>
          <p:cNvSpPr>
            <a:spLocks noChangeShapeType="1"/>
          </p:cNvSpPr>
          <p:nvPr/>
        </p:nvSpPr>
        <p:spPr bwMode="auto">
          <a:xfrm rot="5400000">
            <a:off x="6268735" y="2669241"/>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23"/>
          <p:cNvSpPr>
            <a:spLocks noChangeShapeType="1"/>
          </p:cNvSpPr>
          <p:nvPr/>
        </p:nvSpPr>
        <p:spPr bwMode="auto">
          <a:xfrm rot="5400000">
            <a:off x="6436763" y="2668603"/>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3"/>
          <p:cNvSpPr>
            <a:spLocks noChangeShapeType="1"/>
          </p:cNvSpPr>
          <p:nvPr/>
        </p:nvSpPr>
        <p:spPr bwMode="auto">
          <a:xfrm rot="5400000">
            <a:off x="6604791" y="2673827"/>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23"/>
          <p:cNvSpPr>
            <a:spLocks noChangeShapeType="1"/>
          </p:cNvSpPr>
          <p:nvPr/>
        </p:nvSpPr>
        <p:spPr bwMode="auto">
          <a:xfrm rot="5400000">
            <a:off x="6772819" y="2679051"/>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23"/>
          <p:cNvSpPr>
            <a:spLocks noChangeShapeType="1"/>
          </p:cNvSpPr>
          <p:nvPr/>
        </p:nvSpPr>
        <p:spPr bwMode="auto">
          <a:xfrm rot="5400000">
            <a:off x="6940847" y="2678413"/>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23"/>
          <p:cNvSpPr>
            <a:spLocks noChangeShapeType="1"/>
          </p:cNvSpPr>
          <p:nvPr/>
        </p:nvSpPr>
        <p:spPr bwMode="auto">
          <a:xfrm rot="5400000">
            <a:off x="7108875" y="2677775"/>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23"/>
          <p:cNvSpPr>
            <a:spLocks noChangeShapeType="1"/>
          </p:cNvSpPr>
          <p:nvPr/>
        </p:nvSpPr>
        <p:spPr bwMode="auto">
          <a:xfrm rot="5400000">
            <a:off x="7276903" y="2671275"/>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3"/>
          <p:cNvSpPr>
            <a:spLocks noChangeShapeType="1"/>
          </p:cNvSpPr>
          <p:nvPr/>
        </p:nvSpPr>
        <p:spPr bwMode="auto">
          <a:xfrm rot="5400000">
            <a:off x="7444931" y="2670637"/>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23"/>
          <p:cNvSpPr>
            <a:spLocks noChangeShapeType="1"/>
          </p:cNvSpPr>
          <p:nvPr/>
        </p:nvSpPr>
        <p:spPr bwMode="auto">
          <a:xfrm rot="5400000">
            <a:off x="7612959" y="2669999"/>
            <a:ext cx="1657536" cy="0"/>
          </a:xfrm>
          <a:prstGeom prst="line">
            <a:avLst/>
          </a:prstGeom>
          <a:noFill/>
          <a:ln w="9525" cap="sq">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 name="组合 4"/>
          <p:cNvGrpSpPr/>
          <p:nvPr/>
        </p:nvGrpSpPr>
        <p:grpSpPr>
          <a:xfrm>
            <a:off x="5391964" y="1917867"/>
            <a:ext cx="51161" cy="1172092"/>
            <a:chOff x="5411317" y="1760416"/>
            <a:chExt cx="51161" cy="1172092"/>
          </a:xfrm>
          <a:solidFill>
            <a:srgbClr val="000066"/>
          </a:solidFill>
        </p:grpSpPr>
        <p:sp>
          <p:nvSpPr>
            <p:cNvPr id="3" name="椭圆 2"/>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4" name="椭圆 63"/>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5" name="椭圆 64"/>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6" name="椭圆 65"/>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27" name="椭圆 126"/>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28" name="组合 127"/>
          <p:cNvGrpSpPr/>
          <p:nvPr/>
        </p:nvGrpSpPr>
        <p:grpSpPr>
          <a:xfrm>
            <a:off x="5557503" y="1917867"/>
            <a:ext cx="51161" cy="1172092"/>
            <a:chOff x="5411317" y="1760416"/>
            <a:chExt cx="51161" cy="1172092"/>
          </a:xfrm>
          <a:solidFill>
            <a:srgbClr val="000066"/>
          </a:solidFill>
        </p:grpSpPr>
        <p:sp>
          <p:nvSpPr>
            <p:cNvPr id="129" name="椭圆 128"/>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0" name="椭圆 129"/>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1" name="椭圆 130"/>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2" name="椭圆 131"/>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3" name="椭圆 132"/>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34" name="组合 133"/>
          <p:cNvGrpSpPr/>
          <p:nvPr/>
        </p:nvGrpSpPr>
        <p:grpSpPr>
          <a:xfrm>
            <a:off x="5723042" y="1917867"/>
            <a:ext cx="51161" cy="1172092"/>
            <a:chOff x="5411317" y="1760416"/>
            <a:chExt cx="51161" cy="1172092"/>
          </a:xfrm>
          <a:solidFill>
            <a:srgbClr val="000066"/>
          </a:solidFill>
        </p:grpSpPr>
        <p:sp>
          <p:nvSpPr>
            <p:cNvPr id="135" name="椭圆 134"/>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6" name="椭圆 135"/>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7" name="椭圆 136"/>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8" name="椭圆 137"/>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9" name="椭圆 138"/>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40" name="组合 139"/>
          <p:cNvGrpSpPr/>
          <p:nvPr/>
        </p:nvGrpSpPr>
        <p:grpSpPr>
          <a:xfrm>
            <a:off x="5888581" y="1917867"/>
            <a:ext cx="51161" cy="1172092"/>
            <a:chOff x="5411317" y="1760416"/>
            <a:chExt cx="51161" cy="1172092"/>
          </a:xfrm>
          <a:solidFill>
            <a:srgbClr val="000066"/>
          </a:solidFill>
        </p:grpSpPr>
        <p:sp>
          <p:nvSpPr>
            <p:cNvPr id="141" name="椭圆 140"/>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2" name="椭圆 141"/>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3" name="椭圆 142"/>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4" name="椭圆 143"/>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5" name="椭圆 144"/>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46" name="组合 145"/>
          <p:cNvGrpSpPr/>
          <p:nvPr/>
        </p:nvGrpSpPr>
        <p:grpSpPr>
          <a:xfrm>
            <a:off x="6059376" y="1917867"/>
            <a:ext cx="51161" cy="1172092"/>
            <a:chOff x="5411317" y="1760416"/>
            <a:chExt cx="51161" cy="1172092"/>
          </a:xfrm>
          <a:solidFill>
            <a:srgbClr val="000066"/>
          </a:solidFill>
        </p:grpSpPr>
        <p:sp>
          <p:nvSpPr>
            <p:cNvPr id="147" name="椭圆 146"/>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8" name="椭圆 147"/>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9" name="椭圆 148"/>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0" name="椭圆 149"/>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1" name="椭圆 150"/>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52" name="组合 151"/>
          <p:cNvGrpSpPr/>
          <p:nvPr/>
        </p:nvGrpSpPr>
        <p:grpSpPr>
          <a:xfrm>
            <a:off x="6232799" y="1917867"/>
            <a:ext cx="51161" cy="1172092"/>
            <a:chOff x="5411317" y="1760416"/>
            <a:chExt cx="51161" cy="1172092"/>
          </a:xfrm>
          <a:solidFill>
            <a:srgbClr val="000066"/>
          </a:solidFill>
        </p:grpSpPr>
        <p:sp>
          <p:nvSpPr>
            <p:cNvPr id="153" name="椭圆 152"/>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4" name="椭圆 153"/>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5" name="椭圆 154"/>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6" name="椭圆 155"/>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7" name="椭圆 156"/>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58" name="组合 157"/>
          <p:cNvGrpSpPr/>
          <p:nvPr/>
        </p:nvGrpSpPr>
        <p:grpSpPr>
          <a:xfrm>
            <a:off x="6398338" y="1917867"/>
            <a:ext cx="51161" cy="1172092"/>
            <a:chOff x="5411317" y="1760416"/>
            <a:chExt cx="51161" cy="1172092"/>
          </a:xfrm>
          <a:solidFill>
            <a:srgbClr val="000066"/>
          </a:solidFill>
        </p:grpSpPr>
        <p:sp>
          <p:nvSpPr>
            <p:cNvPr id="159" name="椭圆 158"/>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0" name="椭圆 159"/>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1" name="椭圆 160"/>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2" name="椭圆 161"/>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3" name="椭圆 162"/>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64" name="组合 163"/>
          <p:cNvGrpSpPr/>
          <p:nvPr/>
        </p:nvGrpSpPr>
        <p:grpSpPr>
          <a:xfrm>
            <a:off x="6566505" y="1917867"/>
            <a:ext cx="51161" cy="1172092"/>
            <a:chOff x="5411317" y="1760416"/>
            <a:chExt cx="51161" cy="1172092"/>
          </a:xfrm>
          <a:solidFill>
            <a:srgbClr val="000066"/>
          </a:solidFill>
        </p:grpSpPr>
        <p:sp>
          <p:nvSpPr>
            <p:cNvPr id="165" name="椭圆 164"/>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6" name="椭圆 165"/>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7" name="椭圆 166"/>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8" name="椭圆 167"/>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9" name="椭圆 168"/>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70" name="组合 169"/>
          <p:cNvGrpSpPr/>
          <p:nvPr/>
        </p:nvGrpSpPr>
        <p:grpSpPr>
          <a:xfrm>
            <a:off x="6737300" y="1917867"/>
            <a:ext cx="51161" cy="1172092"/>
            <a:chOff x="5411317" y="1760416"/>
            <a:chExt cx="51161" cy="1172092"/>
          </a:xfrm>
          <a:solidFill>
            <a:srgbClr val="000066"/>
          </a:solidFill>
        </p:grpSpPr>
        <p:sp>
          <p:nvSpPr>
            <p:cNvPr id="171" name="椭圆 170"/>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2" name="椭圆 171"/>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3" name="椭圆 172"/>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4" name="椭圆 173"/>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5" name="椭圆 174"/>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76" name="组合 175"/>
          <p:cNvGrpSpPr/>
          <p:nvPr/>
        </p:nvGrpSpPr>
        <p:grpSpPr>
          <a:xfrm>
            <a:off x="6908095" y="1917867"/>
            <a:ext cx="51161" cy="1172092"/>
            <a:chOff x="5411317" y="1760416"/>
            <a:chExt cx="51161" cy="1172092"/>
          </a:xfrm>
          <a:solidFill>
            <a:srgbClr val="000066"/>
          </a:solidFill>
        </p:grpSpPr>
        <p:sp>
          <p:nvSpPr>
            <p:cNvPr id="177" name="椭圆 176"/>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8" name="椭圆 177"/>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9" name="椭圆 178"/>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0" name="椭圆 179"/>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1" name="椭圆 180"/>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82" name="组合 181"/>
          <p:cNvGrpSpPr/>
          <p:nvPr/>
        </p:nvGrpSpPr>
        <p:grpSpPr>
          <a:xfrm>
            <a:off x="7076262" y="1917867"/>
            <a:ext cx="51161" cy="1172092"/>
            <a:chOff x="5411317" y="1760416"/>
            <a:chExt cx="51161" cy="1172092"/>
          </a:xfrm>
          <a:solidFill>
            <a:srgbClr val="000066"/>
          </a:solidFill>
        </p:grpSpPr>
        <p:sp>
          <p:nvSpPr>
            <p:cNvPr id="183" name="椭圆 182"/>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4" name="椭圆 183"/>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5" name="椭圆 184"/>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6" name="椭圆 185"/>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87" name="椭圆 186"/>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88" name="组合 187"/>
          <p:cNvGrpSpPr/>
          <p:nvPr/>
        </p:nvGrpSpPr>
        <p:grpSpPr>
          <a:xfrm>
            <a:off x="7244429" y="1917867"/>
            <a:ext cx="51161" cy="1172092"/>
            <a:chOff x="5411317" y="1760416"/>
            <a:chExt cx="51161" cy="1172092"/>
          </a:xfrm>
          <a:solidFill>
            <a:srgbClr val="000066"/>
          </a:solidFill>
        </p:grpSpPr>
        <p:sp>
          <p:nvSpPr>
            <p:cNvPr id="189" name="椭圆 188"/>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0" name="椭圆 189"/>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1" name="椭圆 190"/>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2" name="椭圆 191"/>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3" name="椭圆 192"/>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194" name="组合 193"/>
          <p:cNvGrpSpPr/>
          <p:nvPr/>
        </p:nvGrpSpPr>
        <p:grpSpPr>
          <a:xfrm>
            <a:off x="7409968" y="1917867"/>
            <a:ext cx="51161" cy="1172092"/>
            <a:chOff x="5411317" y="1760416"/>
            <a:chExt cx="51161" cy="1172092"/>
          </a:xfrm>
          <a:solidFill>
            <a:srgbClr val="000066"/>
          </a:solidFill>
        </p:grpSpPr>
        <p:sp>
          <p:nvSpPr>
            <p:cNvPr id="195" name="椭圆 194"/>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6" name="椭圆 195"/>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7" name="椭圆 196"/>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8" name="椭圆 197"/>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9" name="椭圆 198"/>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201" name="椭圆 200"/>
          <p:cNvSpPr/>
          <p:nvPr/>
        </p:nvSpPr>
        <p:spPr bwMode="auto">
          <a:xfrm>
            <a:off x="7572879" y="1917867"/>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2" name="椭圆 201"/>
          <p:cNvSpPr/>
          <p:nvPr/>
        </p:nvSpPr>
        <p:spPr bwMode="auto">
          <a:xfrm>
            <a:off x="7575600" y="2092038"/>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3" name="椭圆 202"/>
          <p:cNvSpPr/>
          <p:nvPr/>
        </p:nvSpPr>
        <p:spPr bwMode="auto">
          <a:xfrm>
            <a:off x="7571063" y="2344027"/>
            <a:ext cx="62240" cy="62240"/>
          </a:xfrm>
          <a:prstGeom prst="ellipse">
            <a:avLst/>
          </a:prstGeom>
          <a:solidFill>
            <a:srgbClr val="FF0000"/>
          </a:solidFill>
          <a:ln w="12700" cap="flat" cmpd="sng" algn="ctr">
            <a:solidFill>
              <a:srgbClr val="FF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4" name="椭圆 203"/>
          <p:cNvSpPr/>
          <p:nvPr/>
        </p:nvSpPr>
        <p:spPr bwMode="auto">
          <a:xfrm>
            <a:off x="7578321" y="2655357"/>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5" name="椭圆 204"/>
          <p:cNvSpPr/>
          <p:nvPr/>
        </p:nvSpPr>
        <p:spPr bwMode="auto">
          <a:xfrm>
            <a:off x="7578321" y="3044240"/>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206" name="组合 205"/>
          <p:cNvGrpSpPr/>
          <p:nvPr/>
        </p:nvGrpSpPr>
        <p:grpSpPr>
          <a:xfrm>
            <a:off x="7738418" y="1917867"/>
            <a:ext cx="51161" cy="1172092"/>
            <a:chOff x="5411317" y="1760416"/>
            <a:chExt cx="51161" cy="1172092"/>
          </a:xfrm>
          <a:solidFill>
            <a:srgbClr val="000066"/>
          </a:solidFill>
        </p:grpSpPr>
        <p:sp>
          <p:nvSpPr>
            <p:cNvPr id="207" name="椭圆 206"/>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8" name="椭圆 207"/>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9" name="椭圆 208"/>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0" name="椭圆 209"/>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1" name="椭圆 210"/>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213" name="椭圆 212"/>
          <p:cNvSpPr/>
          <p:nvPr/>
        </p:nvSpPr>
        <p:spPr bwMode="auto">
          <a:xfrm>
            <a:off x="7909213" y="1917867"/>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4" name="椭圆 213"/>
          <p:cNvSpPr/>
          <p:nvPr/>
        </p:nvSpPr>
        <p:spPr bwMode="auto">
          <a:xfrm>
            <a:off x="7911934" y="2092038"/>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5" name="椭圆 214"/>
          <p:cNvSpPr/>
          <p:nvPr/>
        </p:nvSpPr>
        <p:spPr bwMode="auto">
          <a:xfrm>
            <a:off x="7914655" y="2353289"/>
            <a:ext cx="45719" cy="45719"/>
          </a:xfrm>
          <a:prstGeom prst="ellipse">
            <a:avLst/>
          </a:prstGeom>
          <a:solidFill>
            <a:schemeClr val="tx1"/>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6" name="椭圆 215"/>
          <p:cNvSpPr/>
          <p:nvPr/>
        </p:nvSpPr>
        <p:spPr bwMode="auto">
          <a:xfrm>
            <a:off x="7914655" y="2655357"/>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7" name="椭圆 216"/>
          <p:cNvSpPr/>
          <p:nvPr/>
        </p:nvSpPr>
        <p:spPr bwMode="auto">
          <a:xfrm>
            <a:off x="7914655" y="3044240"/>
            <a:ext cx="45719" cy="45719"/>
          </a:xfrm>
          <a:prstGeom prst="ellipse">
            <a:avLst/>
          </a:prstGeom>
          <a:solidFill>
            <a:srgbClr val="000066"/>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218" name="组合 217"/>
          <p:cNvGrpSpPr/>
          <p:nvPr/>
        </p:nvGrpSpPr>
        <p:grpSpPr>
          <a:xfrm>
            <a:off x="8080008" y="1917867"/>
            <a:ext cx="51161" cy="1172092"/>
            <a:chOff x="5411317" y="1760416"/>
            <a:chExt cx="51161" cy="1172092"/>
          </a:xfrm>
          <a:solidFill>
            <a:srgbClr val="000066"/>
          </a:solidFill>
        </p:grpSpPr>
        <p:sp>
          <p:nvSpPr>
            <p:cNvPr id="219" name="椭圆 218"/>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0" name="椭圆 219"/>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1" name="椭圆 220"/>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2" name="椭圆 221"/>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3" name="椭圆 222"/>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224" name="组合 223"/>
          <p:cNvGrpSpPr/>
          <p:nvPr/>
        </p:nvGrpSpPr>
        <p:grpSpPr>
          <a:xfrm>
            <a:off x="8250803" y="1917867"/>
            <a:ext cx="51161" cy="1172092"/>
            <a:chOff x="5411317" y="1760416"/>
            <a:chExt cx="51161" cy="1172092"/>
          </a:xfrm>
          <a:solidFill>
            <a:srgbClr val="000066"/>
          </a:solidFill>
        </p:grpSpPr>
        <p:sp>
          <p:nvSpPr>
            <p:cNvPr id="225" name="椭圆 224"/>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6" name="椭圆 225"/>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7" name="椭圆 226"/>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8" name="椭圆 227"/>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9" name="椭圆 228"/>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230" name="组合 229"/>
          <p:cNvGrpSpPr/>
          <p:nvPr/>
        </p:nvGrpSpPr>
        <p:grpSpPr>
          <a:xfrm>
            <a:off x="8421598" y="1917867"/>
            <a:ext cx="51161" cy="1172092"/>
            <a:chOff x="5411317" y="1760416"/>
            <a:chExt cx="51161" cy="1172092"/>
          </a:xfrm>
          <a:solidFill>
            <a:srgbClr val="000066"/>
          </a:solidFill>
        </p:grpSpPr>
        <p:sp>
          <p:nvSpPr>
            <p:cNvPr id="231" name="椭圆 230"/>
            <p:cNvSpPr/>
            <p:nvPr/>
          </p:nvSpPr>
          <p:spPr bwMode="auto">
            <a:xfrm>
              <a:off x="5411317" y="176041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32" name="椭圆 231"/>
            <p:cNvSpPr/>
            <p:nvPr/>
          </p:nvSpPr>
          <p:spPr bwMode="auto">
            <a:xfrm>
              <a:off x="5414038" y="1934587"/>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33" name="椭圆 232"/>
            <p:cNvSpPr/>
            <p:nvPr/>
          </p:nvSpPr>
          <p:spPr bwMode="auto">
            <a:xfrm>
              <a:off x="5416759" y="2195838"/>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34" name="椭圆 233"/>
            <p:cNvSpPr/>
            <p:nvPr/>
          </p:nvSpPr>
          <p:spPr bwMode="auto">
            <a:xfrm>
              <a:off x="5416759" y="2497906"/>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35" name="椭圆 234"/>
            <p:cNvSpPr/>
            <p:nvPr/>
          </p:nvSpPr>
          <p:spPr bwMode="auto">
            <a:xfrm>
              <a:off x="5416759" y="2886789"/>
              <a:ext cx="45719" cy="45719"/>
            </a:xfrm>
            <a:prstGeom prst="ellipse">
              <a:avLst/>
            </a:prstGeom>
            <a:grp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242" name="Line 25"/>
          <p:cNvSpPr>
            <a:spLocks noChangeShapeType="1"/>
          </p:cNvSpPr>
          <p:nvPr/>
        </p:nvSpPr>
        <p:spPr bwMode="auto">
          <a:xfrm>
            <a:off x="8653114" y="1853341"/>
            <a:ext cx="0" cy="518989"/>
          </a:xfrm>
          <a:prstGeom prst="line">
            <a:avLst/>
          </a:prstGeom>
          <a:noFill/>
          <a:ln w="9525"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 name="矩形 242"/>
          <p:cNvSpPr/>
          <p:nvPr/>
        </p:nvSpPr>
        <p:spPr>
          <a:xfrm>
            <a:off x="8481705" y="1810663"/>
            <a:ext cx="571620" cy="461665"/>
          </a:xfrm>
          <a:prstGeom prst="rect">
            <a:avLst/>
          </a:prstGeom>
        </p:spPr>
        <p:txBody>
          <a:bodyPr wrap="square">
            <a:spAutoFit/>
          </a:bodyPr>
          <a:lstStyle/>
          <a:p>
            <a:pPr algn="ctr">
              <a:lnSpc>
                <a:spcPct val="100000"/>
              </a:lnSpc>
              <a:buClr>
                <a:srgbClr val="C00000"/>
              </a:buClr>
            </a:pPr>
            <a:r>
              <a:rPr lang="en-US" altLang="zh-CN" sz="2400" b="1" dirty="0">
                <a:solidFill>
                  <a:srgbClr val="FF0000"/>
                </a:solidFill>
                <a:ea typeface="幼圆" panose="02010509060101010101" pitchFamily="49" charset="-122"/>
                <a:cs typeface="Times New Roman" panose="02020603050405020304" pitchFamily="18" charset="0"/>
              </a:rPr>
              <a:t>z</a:t>
            </a:r>
            <a:endParaRPr lang="zh-CN" altLang="en-US" sz="2400" b="1" dirty="0">
              <a:solidFill>
                <a:srgbClr val="FF0000"/>
              </a:solidFill>
              <a:ea typeface="幼圆" panose="02010509060101010101" pitchFamily="49" charset="-122"/>
              <a:cs typeface="Times New Roman" panose="02020603050405020304" pitchFamily="18" charset="0"/>
            </a:endParaRPr>
          </a:p>
        </p:txBody>
      </p:sp>
      <p:sp>
        <p:nvSpPr>
          <p:cNvPr id="244" name="矩形 243"/>
          <p:cNvSpPr/>
          <p:nvPr/>
        </p:nvSpPr>
        <p:spPr>
          <a:xfrm>
            <a:off x="7499877" y="2322347"/>
            <a:ext cx="571620" cy="461665"/>
          </a:xfrm>
          <a:prstGeom prst="rect">
            <a:avLst/>
          </a:prstGeom>
        </p:spPr>
        <p:txBody>
          <a:bodyPr wrap="square">
            <a:spAutoFit/>
          </a:bodyPr>
          <a:lstStyle/>
          <a:p>
            <a:pPr algn="ctr">
              <a:lnSpc>
                <a:spcPct val="100000"/>
              </a:lnSpc>
              <a:buClr>
                <a:srgbClr val="C00000"/>
              </a:buClr>
            </a:pPr>
            <a:r>
              <a:rPr lang="en-US" altLang="zh-CN" sz="2400" b="1" dirty="0">
                <a:solidFill>
                  <a:srgbClr val="FF0000"/>
                </a:solidFill>
                <a:ea typeface="幼圆" panose="02010509060101010101" pitchFamily="49" charset="-122"/>
                <a:cs typeface="Times New Roman" panose="02020603050405020304" pitchFamily="18" charset="0"/>
              </a:rPr>
              <a:t>M</a:t>
            </a:r>
            <a:endParaRPr lang="zh-CN" altLang="en-US" sz="2400" b="1" dirty="0">
              <a:solidFill>
                <a:srgbClr val="FF0000"/>
              </a:solidFill>
              <a:ea typeface="幼圆" panose="02010509060101010101" pitchFamily="49" charset="-122"/>
              <a:cs typeface="Times New Roman" panose="02020603050405020304" pitchFamily="18" charset="0"/>
            </a:endParaRPr>
          </a:p>
        </p:txBody>
      </p:sp>
      <p:sp>
        <p:nvSpPr>
          <p:cNvPr id="245" name="Text Box 5"/>
          <p:cNvSpPr txBox="1">
            <a:spLocks noChangeArrowheads="1"/>
          </p:cNvSpPr>
          <p:nvPr/>
        </p:nvSpPr>
        <p:spPr bwMode="auto">
          <a:xfrm>
            <a:off x="840704" y="2248217"/>
            <a:ext cx="3866762" cy="7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5"/>
            </a:pPr>
            <a:r>
              <a:rPr lang="zh-CN" altLang="en-US" sz="2200" b="1" dirty="0">
                <a:solidFill>
                  <a:srgbClr val="000066"/>
                </a:solidFill>
                <a:ea typeface="幼圆" pitchFamily="49" charset="-122"/>
                <a:cs typeface="Times New Roman" panose="02020603050405020304" pitchFamily="18" charset="0"/>
                <a:sym typeface="Symbol" pitchFamily="18" charset="2"/>
              </a:rPr>
              <a:t>绘出地基内土体处于极限平衡状态区域的范围</a:t>
            </a:r>
            <a:endPar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212" name="Text Box 110"/>
          <p:cNvSpPr txBox="1">
            <a:spLocks noChangeArrowheads="1"/>
          </p:cNvSpPr>
          <p:nvPr/>
        </p:nvSpPr>
        <p:spPr bwMode="auto">
          <a:xfrm>
            <a:off x="1263744" y="3789782"/>
            <a:ext cx="7626443" cy="1718419"/>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71463" indent="-271463" defTabSz="739775" eaLnBrk="1" hangingPunct="1">
              <a:lnSpc>
                <a:spcPct val="105000"/>
              </a:lnSpc>
              <a:spcBef>
                <a:spcPts val="100"/>
              </a:spcBef>
              <a:spcAft>
                <a:spcPts val="100"/>
              </a:spcAft>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部分土体破坏后，应力分布不再符合弹性解，会使计算极限平衡区范围偏大</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eaLnBrk="1" hangingPunct="1">
              <a:lnSpc>
                <a:spcPct val="105000"/>
              </a:lnSpc>
              <a:spcBef>
                <a:spcPts val="100"/>
              </a:spcBef>
              <a:spcAft>
                <a:spcPts val="100"/>
              </a:spcAft>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基底压力分布一般多为边缘大中间小，假设均匀分布，可使计算得的极限平衡区范围偏小</a:t>
            </a:r>
          </a:p>
          <a:p>
            <a:pPr marL="271463" indent="-271463" defTabSz="739775" eaLnBrk="1" hangingPunct="1">
              <a:lnSpc>
                <a:spcPct val="105000"/>
              </a:lnSpc>
              <a:spcBef>
                <a:spcPts val="100"/>
              </a:spcBef>
              <a:spcAft>
                <a:spcPts val="100"/>
              </a:spcAft>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积累了很多经验，仍是确定地基容许承载力的一种常用方法</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00" name="Text Box 4"/>
          <p:cNvSpPr txBox="1">
            <a:spLocks noChangeArrowheads="1"/>
          </p:cNvSpPr>
          <p:nvPr/>
        </p:nvSpPr>
        <p:spPr bwMode="auto">
          <a:xfrm>
            <a:off x="660171" y="3101911"/>
            <a:ext cx="1969509"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600"/>
              </a:spcBef>
              <a:spcAft>
                <a:spcPts val="0"/>
              </a:spcAft>
              <a:buClr>
                <a:srgbClr val="A50021"/>
              </a:buClr>
              <a:buSzPct val="130000"/>
              <a:buFont typeface="Wingdings" panose="05000000000000000000" pitchFamily="2" charset="2"/>
              <a:buChar char="F"/>
            </a:pPr>
            <a:r>
              <a:rPr lang="zh-CN" altLang="en-US" sz="2800" b="1" dirty="0">
                <a:solidFill>
                  <a:srgbClr val="A50021"/>
                </a:solidFill>
                <a:latin typeface="微软雅黑" panose="020B0503020204020204" pitchFamily="34" charset="-122"/>
                <a:ea typeface="微软雅黑" panose="020B0503020204020204" pitchFamily="34" charset="-122"/>
              </a:rPr>
              <a:t>讨 论</a:t>
            </a:r>
            <a:endParaRPr lang="zh-CN" altLang="en-US" sz="2800" b="1" dirty="0">
              <a:solidFill>
                <a:srgbClr val="000066"/>
              </a:solidFill>
              <a:ea typeface="幼圆" pitchFamily="49" charset="-122"/>
            </a:endParaRPr>
          </a:p>
        </p:txBody>
      </p:sp>
      <p:sp>
        <p:nvSpPr>
          <p:cNvPr id="236"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spTree>
    <p:extLst>
      <p:ext uri="{BB962C8B-B14F-4D97-AF65-F5344CB8AC3E}">
        <p14:creationId xmlns:p14="http://schemas.microsoft.com/office/powerpoint/2010/main" val="208069078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45">
                                            <p:txEl>
                                              <p:pRg st="0" end="0"/>
                                            </p:txEl>
                                          </p:spTgt>
                                        </p:tgtEl>
                                        <p:attrNameLst>
                                          <p:attrName>style.visibility</p:attrName>
                                        </p:attrNameLst>
                                      </p:cBhvr>
                                      <p:to>
                                        <p:strVal val="visible"/>
                                      </p:to>
                                    </p:set>
                                    <p:animEffect transition="in" filter="fade">
                                      <p:cBhvr>
                                        <p:cTn id="13" dur="1000"/>
                                        <p:tgtEl>
                                          <p:spTgt spid="245">
                                            <p:txEl>
                                              <p:pRg st="0" end="0"/>
                                            </p:txEl>
                                          </p:spTgt>
                                        </p:tgtEl>
                                      </p:cBhvr>
                                    </p:animEffect>
                                    <p:anim calcmode="lin" valueType="num">
                                      <p:cBhvr>
                                        <p:cTn id="14" dur="1000" fill="hold"/>
                                        <p:tgtEl>
                                          <p:spTgt spid="24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4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200"/>
                                        </p:tgtEl>
                                        <p:attrNameLst>
                                          <p:attrName>style.visibility</p:attrName>
                                        </p:attrNameLst>
                                      </p:cBhvr>
                                      <p:to>
                                        <p:strVal val="visible"/>
                                      </p:to>
                                    </p:set>
                                    <p:anim calcmode="lin" valueType="num">
                                      <p:cBhvr>
                                        <p:cTn id="20" dur="1000" fill="hold"/>
                                        <p:tgtEl>
                                          <p:spTgt spid="200"/>
                                        </p:tgtEl>
                                        <p:attrNameLst>
                                          <p:attrName>ppt_w</p:attrName>
                                        </p:attrNameLst>
                                      </p:cBhvr>
                                      <p:tavLst>
                                        <p:tav tm="0">
                                          <p:val>
                                            <p:fltVal val="0"/>
                                          </p:val>
                                        </p:tav>
                                        <p:tav tm="100000">
                                          <p:val>
                                            <p:strVal val="#ppt_w"/>
                                          </p:val>
                                        </p:tav>
                                      </p:tavLst>
                                    </p:anim>
                                    <p:anim calcmode="lin" valueType="num">
                                      <p:cBhvr>
                                        <p:cTn id="21" dur="1000" fill="hold"/>
                                        <p:tgtEl>
                                          <p:spTgt spid="200"/>
                                        </p:tgtEl>
                                        <p:attrNameLst>
                                          <p:attrName>ppt_h</p:attrName>
                                        </p:attrNameLst>
                                      </p:cBhvr>
                                      <p:tavLst>
                                        <p:tav tm="0">
                                          <p:val>
                                            <p:fltVal val="0"/>
                                          </p:val>
                                        </p:tav>
                                        <p:tav tm="100000">
                                          <p:val>
                                            <p:strVal val="#ppt_h"/>
                                          </p:val>
                                        </p:tav>
                                      </p:tavLst>
                                    </p:anim>
                                    <p:anim calcmode="lin" valueType="num">
                                      <p:cBhvr>
                                        <p:cTn id="22" dur="1000" fill="hold"/>
                                        <p:tgtEl>
                                          <p:spTgt spid="200"/>
                                        </p:tgtEl>
                                        <p:attrNameLst>
                                          <p:attrName>style.rotation</p:attrName>
                                        </p:attrNameLst>
                                      </p:cBhvr>
                                      <p:tavLst>
                                        <p:tav tm="0">
                                          <p:val>
                                            <p:fltVal val="90"/>
                                          </p:val>
                                        </p:tav>
                                        <p:tav tm="100000">
                                          <p:val>
                                            <p:fltVal val="0"/>
                                          </p:val>
                                        </p:tav>
                                      </p:tavLst>
                                    </p:anim>
                                    <p:animEffect transition="in" filter="fade">
                                      <p:cBhvr>
                                        <p:cTn id="23" dur="1000"/>
                                        <p:tgtEl>
                                          <p:spTgt spid="200"/>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par>
                          <p:cTn id="28" fill="hold">
                            <p:stCondLst>
                              <p:cond delay="1500"/>
                            </p:stCondLst>
                            <p:childTnLst>
                              <p:par>
                                <p:cTn id="29" presetID="22" presetClass="entr" presetSubtype="8" fill="hold" grpId="0" nodeType="afterEffect">
                                  <p:stCondLst>
                                    <p:cond delay="0"/>
                                  </p:stCondLst>
                                  <p:childTnLst>
                                    <p:set>
                                      <p:cBhvr>
                                        <p:cTn id="30" dur="1" fill="hold">
                                          <p:stCondLst>
                                            <p:cond delay="0"/>
                                          </p:stCondLst>
                                        </p:cTn>
                                        <p:tgtEl>
                                          <p:spTgt spid="212">
                                            <p:txEl>
                                              <p:pRg st="0" end="0"/>
                                            </p:txEl>
                                          </p:spTgt>
                                        </p:tgtEl>
                                        <p:attrNameLst>
                                          <p:attrName>style.visibility</p:attrName>
                                        </p:attrNameLst>
                                      </p:cBhvr>
                                      <p:to>
                                        <p:strVal val="visible"/>
                                      </p:to>
                                    </p:set>
                                    <p:animEffect transition="in" filter="wipe(left)">
                                      <p:cBhvr>
                                        <p:cTn id="31" dur="1000"/>
                                        <p:tgtEl>
                                          <p:spTgt spid="212">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12">
                                            <p:txEl>
                                              <p:pRg st="1" end="1"/>
                                            </p:txEl>
                                          </p:spTgt>
                                        </p:tgtEl>
                                        <p:attrNameLst>
                                          <p:attrName>style.visibility</p:attrName>
                                        </p:attrNameLst>
                                      </p:cBhvr>
                                      <p:to>
                                        <p:strVal val="visible"/>
                                      </p:to>
                                    </p:set>
                                    <p:animEffect transition="in" filter="wipe(left)">
                                      <p:cBhvr>
                                        <p:cTn id="36" dur="1000"/>
                                        <p:tgtEl>
                                          <p:spTgt spid="212">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12">
                                            <p:txEl>
                                              <p:pRg st="2" end="2"/>
                                            </p:txEl>
                                          </p:spTgt>
                                        </p:tgtEl>
                                        <p:attrNameLst>
                                          <p:attrName>style.visibility</p:attrName>
                                        </p:attrNameLst>
                                      </p:cBhvr>
                                      <p:to>
                                        <p:strVal val="visible"/>
                                      </p:to>
                                    </p:set>
                                    <p:animEffect transition="in" filter="wipe(left)">
                                      <p:cBhvr>
                                        <p:cTn id="41" dur="1000"/>
                                        <p:tgtEl>
                                          <p:spTgt spid="2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uiExpand="1" build="p"/>
      <p:bldP spid="245" grpId="0" uiExpand="1" build="p"/>
      <p:bldP spid="212" grpId="0" build="p"/>
      <p:bldP spid="20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75"/>
          <p:cNvSpPr/>
          <p:nvPr/>
        </p:nvSpPr>
        <p:spPr bwMode="auto">
          <a:xfrm>
            <a:off x="5883964" y="1828497"/>
            <a:ext cx="2966245" cy="1711130"/>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25</a:t>
            </a:fld>
            <a:endParaRPr lang="zh-CN" altLang="en-US" dirty="0">
              <a:solidFill>
                <a:srgbClr val="C00000"/>
              </a:solidFill>
            </a:endParaRPr>
          </a:p>
        </p:txBody>
      </p:sp>
      <p:sp>
        <p:nvSpPr>
          <p:cNvPr id="13"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条形均布荷载</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832238" y="1401721"/>
            <a:ext cx="3866762" cy="35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a:pPr>
            <a:r>
              <a:rPr lang="zh-CN" altLang="en-US" sz="2200" b="1" dirty="0">
                <a:solidFill>
                  <a:srgbClr val="800000"/>
                </a:solidFill>
                <a:ea typeface="幼圆" pitchFamily="49" charset="-122"/>
                <a:cs typeface="Times New Roman" panose="02020603050405020304" pitchFamily="18" charset="0"/>
                <a:sym typeface="Symbol" pitchFamily="18" charset="2"/>
              </a:rPr>
              <a:t>自重应力：</a:t>
            </a:r>
            <a:endParaRPr lang="zh-CN" altLang="en-US" sz="2200" b="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临塑和临界荷载计算</a:t>
            </a:r>
          </a:p>
        </p:txBody>
      </p:sp>
      <p:sp>
        <p:nvSpPr>
          <p:cNvPr id="23" name="Text Box 21"/>
          <p:cNvSpPr txBox="1">
            <a:spLocks noChangeArrowheads="1"/>
          </p:cNvSpPr>
          <p:nvPr/>
        </p:nvSpPr>
        <p:spPr bwMode="auto">
          <a:xfrm>
            <a:off x="5816600" y="1033386"/>
            <a:ext cx="896399"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36" name="矩形 35"/>
          <p:cNvSpPr/>
          <p:nvPr/>
        </p:nvSpPr>
        <p:spPr>
          <a:xfrm>
            <a:off x="7772055" y="896440"/>
            <a:ext cx="571620" cy="461665"/>
          </a:xfrm>
          <a:prstGeom prst="rect">
            <a:avLst/>
          </a:prstGeom>
        </p:spPr>
        <p:txBody>
          <a:bodyPr wrap="square">
            <a:spAutoFit/>
          </a:bodyPr>
          <a:lstStyle/>
          <a:p>
            <a:pPr algn="ctr">
              <a:lnSpc>
                <a:spcPct val="100000"/>
              </a:lnSpc>
              <a:buClr>
                <a:srgbClr val="C00000"/>
              </a:buClr>
            </a:pPr>
            <a:r>
              <a:rPr lang="en-US" altLang="zh-CN" sz="2400" b="1" i="1" dirty="0">
                <a:solidFill>
                  <a:srgbClr val="000066"/>
                </a:solidFill>
                <a:ea typeface="幼圆" panose="02010509060101010101" pitchFamily="49" charset="-122"/>
                <a:cs typeface="Times New Roman" panose="02020603050405020304" pitchFamily="18" charset="0"/>
              </a:rPr>
              <a:t>p</a:t>
            </a:r>
            <a:endParaRPr lang="zh-CN" altLang="en-US" sz="2400" b="1" i="1" dirty="0">
              <a:solidFill>
                <a:srgbClr val="000066"/>
              </a:solidFill>
              <a:ea typeface="幼圆" panose="02010509060101010101" pitchFamily="49" charset="-122"/>
              <a:cs typeface="Times New Roman" panose="02020603050405020304" pitchFamily="18" charset="0"/>
            </a:endParaRPr>
          </a:p>
        </p:txBody>
      </p:sp>
      <p:grpSp>
        <p:nvGrpSpPr>
          <p:cNvPr id="7" name="组合 6"/>
          <p:cNvGrpSpPr/>
          <p:nvPr/>
        </p:nvGrpSpPr>
        <p:grpSpPr>
          <a:xfrm>
            <a:off x="6873550" y="1284667"/>
            <a:ext cx="972754" cy="531427"/>
            <a:chOff x="6252391" y="1449388"/>
            <a:chExt cx="1314450" cy="531427"/>
          </a:xfrm>
        </p:grpSpPr>
        <p:sp>
          <p:nvSpPr>
            <p:cNvPr id="8"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9" name="直接连接符 18"/>
          <p:cNvCxnSpPr/>
          <p:nvPr/>
        </p:nvCxnSpPr>
        <p:spPr bwMode="auto">
          <a:xfrm flipH="1">
            <a:off x="6853366" y="1270305"/>
            <a:ext cx="99987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Line 23"/>
          <p:cNvSpPr>
            <a:spLocks noChangeShapeType="1"/>
          </p:cNvSpPr>
          <p:nvPr/>
        </p:nvSpPr>
        <p:spPr bwMode="auto">
          <a:xfrm>
            <a:off x="5896836" y="1814660"/>
            <a:ext cx="2945372"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5"/>
          <p:cNvSpPr>
            <a:spLocks noChangeShapeType="1"/>
          </p:cNvSpPr>
          <p:nvPr/>
        </p:nvSpPr>
        <p:spPr bwMode="auto">
          <a:xfrm>
            <a:off x="5900796" y="154611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a:off x="6062922" y="154611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5"/>
          <p:cNvSpPr>
            <a:spLocks noChangeShapeType="1"/>
          </p:cNvSpPr>
          <p:nvPr/>
        </p:nvSpPr>
        <p:spPr bwMode="auto">
          <a:xfrm>
            <a:off x="6225047" y="154611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6387173" y="154611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p:cNvSpPr>
            <a:spLocks noChangeShapeType="1"/>
          </p:cNvSpPr>
          <p:nvPr/>
        </p:nvSpPr>
        <p:spPr bwMode="auto">
          <a:xfrm>
            <a:off x="6549299" y="154611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5"/>
          <p:cNvSpPr>
            <a:spLocks noChangeShapeType="1"/>
          </p:cNvSpPr>
          <p:nvPr/>
        </p:nvSpPr>
        <p:spPr bwMode="auto">
          <a:xfrm>
            <a:off x="6711424" y="154611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p:cNvSpPr>
            <a:spLocks noChangeShapeType="1"/>
          </p:cNvSpPr>
          <p:nvPr/>
        </p:nvSpPr>
        <p:spPr bwMode="auto">
          <a:xfrm>
            <a:off x="8009001" y="1537952"/>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5"/>
          <p:cNvSpPr>
            <a:spLocks noChangeShapeType="1"/>
          </p:cNvSpPr>
          <p:nvPr/>
        </p:nvSpPr>
        <p:spPr bwMode="auto">
          <a:xfrm>
            <a:off x="8171126" y="1537952"/>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p:cNvSpPr>
            <a:spLocks noChangeShapeType="1"/>
          </p:cNvSpPr>
          <p:nvPr/>
        </p:nvSpPr>
        <p:spPr bwMode="auto">
          <a:xfrm>
            <a:off x="8333252" y="1537952"/>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5"/>
          <p:cNvSpPr>
            <a:spLocks noChangeShapeType="1"/>
          </p:cNvSpPr>
          <p:nvPr/>
        </p:nvSpPr>
        <p:spPr bwMode="auto">
          <a:xfrm>
            <a:off x="8495378" y="1537952"/>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5"/>
          <p:cNvSpPr>
            <a:spLocks noChangeShapeType="1"/>
          </p:cNvSpPr>
          <p:nvPr/>
        </p:nvSpPr>
        <p:spPr bwMode="auto">
          <a:xfrm>
            <a:off x="8657503" y="1537952"/>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5"/>
          <p:cNvSpPr>
            <a:spLocks noChangeShapeType="1"/>
          </p:cNvSpPr>
          <p:nvPr/>
        </p:nvSpPr>
        <p:spPr bwMode="auto">
          <a:xfrm>
            <a:off x="8819629" y="1537952"/>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37" name="直接连接符 36"/>
          <p:cNvCxnSpPr/>
          <p:nvPr/>
        </p:nvCxnSpPr>
        <p:spPr bwMode="auto">
          <a:xfrm flipH="1">
            <a:off x="5894589" y="1533238"/>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p:cNvCxnSpPr/>
          <p:nvPr/>
        </p:nvCxnSpPr>
        <p:spPr bwMode="auto">
          <a:xfrm flipH="1">
            <a:off x="7846515" y="1522352"/>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2" name="Line 25"/>
          <p:cNvSpPr>
            <a:spLocks noChangeShapeType="1"/>
          </p:cNvSpPr>
          <p:nvPr/>
        </p:nvSpPr>
        <p:spPr bwMode="auto">
          <a:xfrm>
            <a:off x="6410155" y="1806054"/>
            <a:ext cx="0" cy="1328656"/>
          </a:xfrm>
          <a:prstGeom prst="line">
            <a:avLst/>
          </a:prstGeom>
          <a:noFill/>
          <a:ln w="9525"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 name="矩形 242"/>
          <p:cNvSpPr/>
          <p:nvPr/>
        </p:nvSpPr>
        <p:spPr>
          <a:xfrm>
            <a:off x="5954596" y="2235356"/>
            <a:ext cx="571620" cy="461665"/>
          </a:xfrm>
          <a:prstGeom prst="rect">
            <a:avLst/>
          </a:prstGeom>
        </p:spPr>
        <p:txBody>
          <a:bodyPr wrap="square">
            <a:spAutoFit/>
          </a:bodyPr>
          <a:lstStyle/>
          <a:p>
            <a:pPr algn="ctr">
              <a:lnSpc>
                <a:spcPct val="100000"/>
              </a:lnSpc>
              <a:buClr>
                <a:srgbClr val="C00000"/>
              </a:buClr>
            </a:pPr>
            <a:r>
              <a:rPr lang="en-US" altLang="zh-CN" sz="2400" b="1" dirty="0">
                <a:solidFill>
                  <a:srgbClr val="000066"/>
                </a:solidFill>
                <a:ea typeface="幼圆" panose="02010509060101010101" pitchFamily="49" charset="-122"/>
                <a:cs typeface="Times New Roman" panose="02020603050405020304" pitchFamily="18" charset="0"/>
              </a:rPr>
              <a:t>z</a:t>
            </a:r>
            <a:endParaRPr lang="zh-CN" altLang="en-US" sz="2400" b="1" dirty="0">
              <a:solidFill>
                <a:srgbClr val="000066"/>
              </a:solidFill>
              <a:ea typeface="幼圆" panose="02010509060101010101" pitchFamily="49" charset="-122"/>
              <a:cs typeface="Times New Roman" panose="02020603050405020304" pitchFamily="18" charset="0"/>
            </a:endParaRPr>
          </a:p>
        </p:txBody>
      </p:sp>
      <p:sp>
        <p:nvSpPr>
          <p:cNvPr id="244" name="矩形 243"/>
          <p:cNvSpPr/>
          <p:nvPr/>
        </p:nvSpPr>
        <p:spPr>
          <a:xfrm>
            <a:off x="6322621" y="3103557"/>
            <a:ext cx="571620"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M</a:t>
            </a:r>
            <a:endParaRPr lang="zh-CN" altLang="en-US" sz="2200" b="1" dirty="0">
              <a:solidFill>
                <a:srgbClr val="C00000"/>
              </a:solidFill>
              <a:ea typeface="幼圆" panose="02010509060101010101" pitchFamily="49" charset="-122"/>
              <a:cs typeface="Times New Roman" panose="02020603050405020304" pitchFamily="18" charset="0"/>
            </a:endParaRPr>
          </a:p>
        </p:txBody>
      </p:sp>
      <p:sp>
        <p:nvSpPr>
          <p:cNvPr id="245" name="Text Box 5"/>
          <p:cNvSpPr txBox="1">
            <a:spLocks noChangeArrowheads="1"/>
          </p:cNvSpPr>
          <p:nvPr/>
        </p:nvSpPr>
        <p:spPr bwMode="auto">
          <a:xfrm>
            <a:off x="840704" y="2171968"/>
            <a:ext cx="5002312"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2"/>
            </a:pPr>
            <a:r>
              <a:rPr lang="zh-CN" altLang="en-US" sz="2200" b="1" dirty="0">
                <a:solidFill>
                  <a:srgbClr val="800000"/>
                </a:solidFill>
                <a:ea typeface="幼圆" pitchFamily="49" charset="-122"/>
                <a:cs typeface="Times New Roman" panose="02020603050405020304" pitchFamily="18" charset="0"/>
                <a:sym typeface="Symbol" pitchFamily="18" charset="2"/>
              </a:rPr>
              <a:t>附加应力：</a:t>
            </a:r>
            <a:r>
              <a:rPr lang="zh-CN" altLang="en-US" sz="2200" b="1" dirty="0">
                <a:solidFill>
                  <a:srgbClr val="000066"/>
                </a:solidFill>
                <a:ea typeface="幼圆" pitchFamily="49" charset="-122"/>
                <a:cs typeface="Times New Roman" panose="02020603050405020304" pitchFamily="18" charset="0"/>
              </a:rPr>
              <a:t>条形均布荷载</a:t>
            </a:r>
            <a:r>
              <a:rPr lang="zh-CN" altLang="en-US" sz="2200" b="1" dirty="0">
                <a:solidFill>
                  <a:srgbClr val="000066"/>
                </a:solidFill>
                <a:ea typeface="幼圆" pitchFamily="49" charset="-122"/>
                <a:cs typeface="Times New Roman" panose="02020603050405020304" pitchFamily="18" charset="0"/>
                <a:sym typeface="Symbol" panose="05050102010706020507" pitchFamily="18" charset="2"/>
              </a:rPr>
              <a:t>平面问题</a:t>
            </a:r>
            <a:endParaRPr lang="zh-CN" altLang="en-US" sz="2200" b="1" dirty="0">
              <a:solidFill>
                <a:srgbClr val="000066"/>
              </a:solidFill>
              <a:ea typeface="幼圆" pitchFamily="49" charset="-122"/>
              <a:cs typeface="Times New Roman" panose="02020603050405020304" pitchFamily="18" charset="0"/>
            </a:endParaRPr>
          </a:p>
        </p:txBody>
      </p:sp>
      <p:graphicFrame>
        <p:nvGraphicFramePr>
          <p:cNvPr id="246" name="Object 46"/>
          <p:cNvGraphicFramePr>
            <a:graphicFrameLocks noChangeAspect="1"/>
          </p:cNvGraphicFramePr>
          <p:nvPr>
            <p:extLst>
              <p:ext uri="{D42A27DB-BD31-4B8C-83A1-F6EECF244321}">
                <p14:modId xmlns:p14="http://schemas.microsoft.com/office/powerpoint/2010/main" val="2809155657"/>
              </p:ext>
            </p:extLst>
          </p:nvPr>
        </p:nvGraphicFramePr>
        <p:xfrm>
          <a:off x="2622550" y="1317625"/>
          <a:ext cx="1806575" cy="685800"/>
        </p:xfrm>
        <a:graphic>
          <a:graphicData uri="http://schemas.openxmlformats.org/presentationml/2006/ole">
            <mc:AlternateContent xmlns:mc="http://schemas.openxmlformats.org/markup-compatibility/2006">
              <mc:Choice xmlns:v="urn:schemas-microsoft-com:vml" Requires="v">
                <p:oleObj spid="_x0000_s1800768" name="Equation" r:id="rId4" imgW="1002960" imgH="380880" progId="Equation.DSMT4">
                  <p:embed/>
                </p:oleObj>
              </mc:Choice>
              <mc:Fallback>
                <p:oleObj name="Equation" r:id="rId4" imgW="1002960" imgH="380880" progId="Equation.DSMT4">
                  <p:embed/>
                  <p:pic>
                    <p:nvPicPr>
                      <p:cNvPr id="246" name="Object 46"/>
                      <p:cNvPicPr>
                        <a:picLocks noChangeAspect="1" noChangeArrowheads="1"/>
                      </p:cNvPicPr>
                      <p:nvPr/>
                    </p:nvPicPr>
                    <p:blipFill>
                      <a:blip r:embed="rId5"/>
                      <a:srcRect/>
                      <a:stretch>
                        <a:fillRect/>
                      </a:stretch>
                    </p:blipFill>
                    <p:spPr bwMode="auto">
                      <a:xfrm>
                        <a:off x="2622550" y="1317625"/>
                        <a:ext cx="1806575" cy="685800"/>
                      </a:xfrm>
                      <a:prstGeom prst="rect">
                        <a:avLst/>
                      </a:prstGeom>
                      <a:noFill/>
                      <a:ln>
                        <a:noFill/>
                      </a:ln>
                      <a:extLst/>
                    </p:spPr>
                  </p:pic>
                </p:oleObj>
              </mc:Fallback>
            </mc:AlternateContent>
          </a:graphicData>
        </a:graphic>
      </p:graphicFrame>
      <p:sp>
        <p:nvSpPr>
          <p:cNvPr id="247" name="Text Box 5"/>
          <p:cNvSpPr txBox="1">
            <a:spLocks noChangeArrowheads="1"/>
          </p:cNvSpPr>
          <p:nvPr/>
        </p:nvSpPr>
        <p:spPr bwMode="auto">
          <a:xfrm>
            <a:off x="840704" y="4347517"/>
            <a:ext cx="3261396"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3"/>
            </a:pPr>
            <a:r>
              <a:rPr lang="zh-CN" altLang="en-US" sz="2200" b="1" dirty="0">
                <a:solidFill>
                  <a:srgbClr val="800000"/>
                </a:solidFill>
                <a:ea typeface="幼圆" pitchFamily="49" charset="-122"/>
                <a:cs typeface="Times New Roman" panose="02020603050405020304" pitchFamily="18" charset="0"/>
                <a:sym typeface="Symbol" pitchFamily="18" charset="2"/>
              </a:rPr>
              <a:t>合应力：</a:t>
            </a:r>
            <a:r>
              <a:rPr lang="zh-CN" altLang="en-US" sz="2200" b="1" dirty="0">
                <a:solidFill>
                  <a:srgbClr val="000066"/>
                </a:solidFill>
                <a:ea typeface="幼圆" pitchFamily="49" charset="-122"/>
                <a:cs typeface="Times New Roman" panose="02020603050405020304" pitchFamily="18" charset="0"/>
                <a:sym typeface="Symbol" pitchFamily="18" charset="2"/>
              </a:rPr>
              <a:t>设</a:t>
            </a:r>
            <a:r>
              <a:rPr lang="en-US" altLang="zh-CN" sz="2200" b="1" i="1" dirty="0">
                <a:solidFill>
                  <a:srgbClr val="000066"/>
                </a:solidFill>
                <a:ea typeface="幼圆" pitchFamily="49" charset="-122"/>
                <a:cs typeface="Times New Roman" panose="02020603050405020304" pitchFamily="18" charset="0"/>
                <a:sym typeface="Symbol" pitchFamily="18" charset="2"/>
              </a:rPr>
              <a:t>K</a:t>
            </a:r>
            <a:r>
              <a:rPr lang="en-US" altLang="zh-CN" sz="2200" b="1" baseline="-25000" dirty="0">
                <a:solidFill>
                  <a:srgbClr val="000066"/>
                </a:solidFill>
                <a:ea typeface="幼圆" pitchFamily="49" charset="-122"/>
                <a:cs typeface="Times New Roman" panose="02020603050405020304" pitchFamily="18" charset="0"/>
                <a:sym typeface="Symbol" panose="05050102010706020507" pitchFamily="18" charset="2"/>
              </a:rPr>
              <a:t>0</a:t>
            </a:r>
            <a:r>
              <a:rPr lang="en-US" altLang="zh-CN" sz="2200" b="1" dirty="0">
                <a:solidFill>
                  <a:srgbClr val="000066"/>
                </a:solidFill>
                <a:ea typeface="幼圆" pitchFamily="49" charset="-122"/>
                <a:cs typeface="Times New Roman" panose="02020603050405020304" pitchFamily="18" charset="0"/>
                <a:sym typeface="Symbol" panose="05050102010706020507" pitchFamily="18" charset="2"/>
              </a:rPr>
              <a:t> =1.0</a:t>
            </a:r>
            <a:endParaRPr lang="zh-CN" altLang="en-US" sz="2200" b="1" dirty="0">
              <a:solidFill>
                <a:srgbClr val="000066"/>
              </a:solidFill>
              <a:ea typeface="幼圆" pitchFamily="49" charset="-122"/>
              <a:cs typeface="Times New Roman" panose="02020603050405020304" pitchFamily="18" charset="0"/>
            </a:endParaRPr>
          </a:p>
        </p:txBody>
      </p:sp>
      <p:grpSp>
        <p:nvGrpSpPr>
          <p:cNvPr id="4" name="组合 3"/>
          <p:cNvGrpSpPr/>
          <p:nvPr/>
        </p:nvGrpSpPr>
        <p:grpSpPr>
          <a:xfrm>
            <a:off x="6864248" y="936497"/>
            <a:ext cx="986232" cy="274033"/>
            <a:chOff x="6348986" y="3976340"/>
            <a:chExt cx="1362333" cy="109926"/>
          </a:xfrm>
        </p:grpSpPr>
        <p:cxnSp>
          <p:nvCxnSpPr>
            <p:cNvPr id="200" name="直接连接符 199"/>
            <p:cNvCxnSpPr/>
            <p:nvPr/>
          </p:nvCxnSpPr>
          <p:spPr bwMode="auto">
            <a:xfrm>
              <a:off x="6348986" y="3981335"/>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2" name="直接连接符 211"/>
            <p:cNvCxnSpPr/>
            <p:nvPr/>
          </p:nvCxnSpPr>
          <p:spPr bwMode="auto">
            <a:xfrm>
              <a:off x="7697372" y="3976340"/>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接连接符 235"/>
            <p:cNvCxnSpPr/>
            <p:nvPr/>
          </p:nvCxnSpPr>
          <p:spPr bwMode="auto">
            <a:xfrm>
              <a:off x="6348987" y="4047235"/>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37" name="Text Box 21"/>
          <p:cNvSpPr txBox="1">
            <a:spLocks noChangeArrowheads="1"/>
          </p:cNvSpPr>
          <p:nvPr/>
        </p:nvSpPr>
        <p:spPr bwMode="auto">
          <a:xfrm>
            <a:off x="7188050" y="680527"/>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cxnSp>
        <p:nvCxnSpPr>
          <p:cNvPr id="238" name="直接连接符 237"/>
          <p:cNvCxnSpPr/>
          <p:nvPr/>
        </p:nvCxnSpPr>
        <p:spPr bwMode="auto">
          <a:xfrm flipH="1">
            <a:off x="6323012" y="3129022"/>
            <a:ext cx="24993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任意多边形 5"/>
          <p:cNvSpPr/>
          <p:nvPr/>
        </p:nvSpPr>
        <p:spPr bwMode="auto">
          <a:xfrm>
            <a:off x="6753044" y="1806085"/>
            <a:ext cx="1111472" cy="1260718"/>
          </a:xfrm>
          <a:custGeom>
            <a:avLst/>
            <a:gdLst>
              <a:gd name="connsiteX0" fmla="*/ 163032 w 1148316"/>
              <a:gd name="connsiteY0" fmla="*/ 14177 h 1304260"/>
              <a:gd name="connsiteX1" fmla="*/ 0 w 1148316"/>
              <a:gd name="connsiteY1" fmla="*/ 1304260 h 1304260"/>
              <a:gd name="connsiteX2" fmla="*/ 1148316 w 1148316"/>
              <a:gd name="connsiteY2" fmla="*/ 0 h 1304260"/>
              <a:gd name="connsiteX0" fmla="*/ 142935 w 1148316"/>
              <a:gd name="connsiteY0" fmla="*/ 54370 h 1304260"/>
              <a:gd name="connsiteX1" fmla="*/ 0 w 1148316"/>
              <a:gd name="connsiteY1" fmla="*/ 1304260 h 1304260"/>
              <a:gd name="connsiteX2" fmla="*/ 1148316 w 1148316"/>
              <a:gd name="connsiteY2" fmla="*/ 0 h 1304260"/>
              <a:gd name="connsiteX0" fmla="*/ 142935 w 1111472"/>
              <a:gd name="connsiteY0" fmla="*/ 10828 h 1260718"/>
              <a:gd name="connsiteX1" fmla="*/ 0 w 1111472"/>
              <a:gd name="connsiteY1" fmla="*/ 1260718 h 1260718"/>
              <a:gd name="connsiteX2" fmla="*/ 1111472 w 1111472"/>
              <a:gd name="connsiteY2" fmla="*/ 0 h 1260718"/>
              <a:gd name="connsiteX0" fmla="*/ 136236 w 1111472"/>
              <a:gd name="connsiteY0" fmla="*/ 14177 h 1260718"/>
              <a:gd name="connsiteX1" fmla="*/ 0 w 1111472"/>
              <a:gd name="connsiteY1" fmla="*/ 1260718 h 1260718"/>
              <a:gd name="connsiteX2" fmla="*/ 1111472 w 1111472"/>
              <a:gd name="connsiteY2" fmla="*/ 0 h 1260718"/>
            </a:gdLst>
            <a:ahLst/>
            <a:cxnLst>
              <a:cxn ang="0">
                <a:pos x="connsiteX0" y="connsiteY0"/>
              </a:cxn>
              <a:cxn ang="0">
                <a:pos x="connsiteX1" y="connsiteY1"/>
              </a:cxn>
              <a:cxn ang="0">
                <a:pos x="connsiteX2" y="connsiteY2"/>
              </a:cxn>
            </a:cxnLst>
            <a:rect l="l" t="t" r="r" b="b"/>
            <a:pathLst>
              <a:path w="1111472" h="1260718">
                <a:moveTo>
                  <a:pt x="136236" y="14177"/>
                </a:moveTo>
                <a:lnTo>
                  <a:pt x="0" y="1260718"/>
                </a:lnTo>
                <a:lnTo>
                  <a:pt x="1111472"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50" name="Freeform 185"/>
          <p:cNvSpPr>
            <a:spLocks/>
          </p:cNvSpPr>
          <p:nvPr/>
        </p:nvSpPr>
        <p:spPr bwMode="auto">
          <a:xfrm rot="19023617">
            <a:off x="6866200" y="2588116"/>
            <a:ext cx="86196" cy="232729"/>
          </a:xfrm>
          <a:custGeom>
            <a:avLst/>
            <a:gdLst>
              <a:gd name="T0" fmla="*/ 70 w 70"/>
              <a:gd name="T1" fmla="*/ 189 h 189"/>
              <a:gd name="T2" fmla="*/ 58 w 70"/>
              <a:gd name="T3" fmla="*/ 96 h 189"/>
              <a:gd name="T4" fmla="*/ 0 w 70"/>
              <a:gd name="T5" fmla="*/ 0 h 189"/>
              <a:gd name="T6" fmla="*/ 0 60000 65536"/>
              <a:gd name="T7" fmla="*/ 0 60000 65536"/>
              <a:gd name="T8" fmla="*/ 0 60000 65536"/>
              <a:gd name="T9" fmla="*/ 0 w 70"/>
              <a:gd name="T10" fmla="*/ 0 h 189"/>
              <a:gd name="T11" fmla="*/ 70 w 70"/>
              <a:gd name="T12" fmla="*/ 189 h 189"/>
            </a:gdLst>
            <a:ahLst/>
            <a:cxnLst>
              <a:cxn ang="T6">
                <a:pos x="T0" y="T1"/>
              </a:cxn>
              <a:cxn ang="T7">
                <a:pos x="T2" y="T3"/>
              </a:cxn>
              <a:cxn ang="T8">
                <a:pos x="T4" y="T5"/>
              </a:cxn>
            </a:cxnLst>
            <a:rect l="T9" t="T10" r="T11" b="T12"/>
            <a:pathLst>
              <a:path w="70" h="189">
                <a:moveTo>
                  <a:pt x="70" y="189"/>
                </a:moveTo>
                <a:cubicBezTo>
                  <a:pt x="70" y="158"/>
                  <a:pt x="70" y="127"/>
                  <a:pt x="58" y="96"/>
                </a:cubicBezTo>
                <a:cubicBezTo>
                  <a:pt x="46" y="65"/>
                  <a:pt x="23" y="32"/>
                  <a:pt x="0" y="0"/>
                </a:cubicBezTo>
              </a:path>
            </a:pathLst>
          </a:custGeom>
          <a:noFill/>
          <a:ln w="12700" cmpd="sng">
            <a:solidFill>
              <a:schemeClr val="tx1"/>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1" name="Text Box 208"/>
          <p:cNvSpPr txBox="1">
            <a:spLocks noChangeArrowheads="1"/>
          </p:cNvSpPr>
          <p:nvPr/>
        </p:nvSpPr>
        <p:spPr bwMode="auto">
          <a:xfrm>
            <a:off x="6781537" y="2261045"/>
            <a:ext cx="4539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dirty="0">
                <a:solidFill>
                  <a:srgbClr val="A50021"/>
                </a:solidFill>
                <a:ea typeface="幼圆" pitchFamily="49" charset="-122"/>
                <a:sym typeface="Symbol" pitchFamily="18" charset="2"/>
              </a:rPr>
              <a:t>2</a:t>
            </a:r>
            <a:r>
              <a:rPr lang="zh-CN" altLang="en-US" sz="2000" b="1" i="1" dirty="0">
                <a:solidFill>
                  <a:srgbClr val="A50021"/>
                </a:solidFill>
                <a:ea typeface="幼圆" pitchFamily="49" charset="-122"/>
                <a:sym typeface="Symbol" pitchFamily="18" charset="2"/>
              </a:rPr>
              <a:t></a:t>
            </a:r>
          </a:p>
        </p:txBody>
      </p:sp>
      <p:sp>
        <p:nvSpPr>
          <p:cNvPr id="252" name="Text Box 21"/>
          <p:cNvSpPr txBox="1">
            <a:spLocks noChangeArrowheads="1"/>
          </p:cNvSpPr>
          <p:nvPr/>
        </p:nvSpPr>
        <p:spPr bwMode="auto">
          <a:xfrm>
            <a:off x="8289970" y="1922419"/>
            <a:ext cx="311304" cy="477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sym typeface="Symbol" panose="05050102010706020507" pitchFamily="18" charset="2"/>
              </a:rPr>
              <a:t></a:t>
            </a:r>
            <a:endParaRPr kumimoji="1" lang="en-US" altLang="zh-CN" sz="2400" b="1" baseline="-25000" dirty="0">
              <a:solidFill>
                <a:srgbClr val="000066"/>
              </a:solidFill>
              <a:latin typeface="Times New Roman" panose="02020603050405020304" pitchFamily="18" charset="0"/>
            </a:endParaRPr>
          </a:p>
        </p:txBody>
      </p:sp>
      <p:graphicFrame>
        <p:nvGraphicFramePr>
          <p:cNvPr id="253" name="Object 46"/>
          <p:cNvGraphicFramePr>
            <a:graphicFrameLocks noChangeAspect="1"/>
          </p:cNvGraphicFramePr>
          <p:nvPr>
            <p:extLst>
              <p:ext uri="{D42A27DB-BD31-4B8C-83A1-F6EECF244321}">
                <p14:modId xmlns:p14="http://schemas.microsoft.com/office/powerpoint/2010/main" val="3848747784"/>
              </p:ext>
            </p:extLst>
          </p:nvPr>
        </p:nvGraphicFramePr>
        <p:xfrm>
          <a:off x="1239838" y="2658843"/>
          <a:ext cx="3198812" cy="731837"/>
        </p:xfrm>
        <a:graphic>
          <a:graphicData uri="http://schemas.openxmlformats.org/presentationml/2006/ole">
            <mc:AlternateContent xmlns:mc="http://schemas.openxmlformats.org/markup-compatibility/2006">
              <mc:Choice xmlns:v="urn:schemas-microsoft-com:vml" Requires="v">
                <p:oleObj spid="_x0000_s1800769" name="Microsoft 公式 3.0" r:id="rId6" imgW="1777680" imgH="406080" progId="Equation.3">
                  <p:embed/>
                </p:oleObj>
              </mc:Choice>
              <mc:Fallback>
                <p:oleObj name="Microsoft 公式 3.0" r:id="rId6" imgW="1777680" imgH="406080" progId="Equation.3">
                  <p:embed/>
                  <p:pic>
                    <p:nvPicPr>
                      <p:cNvPr id="543790" name="Object 46"/>
                      <p:cNvPicPr>
                        <a:picLocks noChangeAspect="1" noChangeArrowheads="1"/>
                      </p:cNvPicPr>
                      <p:nvPr/>
                    </p:nvPicPr>
                    <p:blipFill>
                      <a:blip r:embed="rId7"/>
                      <a:srcRect/>
                      <a:stretch>
                        <a:fillRect/>
                      </a:stretch>
                    </p:blipFill>
                    <p:spPr bwMode="auto">
                      <a:xfrm>
                        <a:off x="1239838" y="2658843"/>
                        <a:ext cx="3198812" cy="731837"/>
                      </a:xfrm>
                      <a:prstGeom prst="rect">
                        <a:avLst/>
                      </a:prstGeom>
                      <a:noFill/>
                      <a:ln>
                        <a:noFill/>
                      </a:ln>
                      <a:extLst/>
                    </p:spPr>
                  </p:pic>
                </p:oleObj>
              </mc:Fallback>
            </mc:AlternateContent>
          </a:graphicData>
        </a:graphic>
      </p:graphicFrame>
      <p:sp>
        <p:nvSpPr>
          <p:cNvPr id="22" name="矩形 21"/>
          <p:cNvSpPr/>
          <p:nvPr/>
        </p:nvSpPr>
        <p:spPr bwMode="auto">
          <a:xfrm rot="1473332">
            <a:off x="6680027" y="3063804"/>
            <a:ext cx="99196" cy="99196"/>
          </a:xfrm>
          <a:prstGeom prst="rect">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68" name="直接连接符 67"/>
          <p:cNvCxnSpPr>
            <a:stCxn id="6" idx="1"/>
          </p:cNvCxnSpPr>
          <p:nvPr/>
        </p:nvCxnSpPr>
        <p:spPr bwMode="auto">
          <a:xfrm flipV="1">
            <a:off x="6753044" y="2726266"/>
            <a:ext cx="151115" cy="340537"/>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8" name="矩形 267"/>
          <p:cNvSpPr/>
          <p:nvPr/>
        </p:nvSpPr>
        <p:spPr>
          <a:xfrm>
            <a:off x="1233818" y="3495225"/>
            <a:ext cx="4650146" cy="769441"/>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式中，</a:t>
            </a:r>
            <a:r>
              <a:rPr lang="zh-CN" altLang="en-US"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lang="zh-CN" altLang="en-US" sz="20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用弧度表示；</a:t>
            </a:r>
            <a:r>
              <a:rPr lang="zh-CN" altLang="en-US"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baseline="-25000" dirty="0">
                <a:solidFill>
                  <a:srgbClr val="000066"/>
                </a:solidFill>
                <a:ea typeface="幼圆" panose="02010509060101010101" pitchFamily="49" charset="-122"/>
                <a:cs typeface="Times New Roman" panose="02020603050405020304" pitchFamily="18" charset="0"/>
                <a:sym typeface="Symbol" panose="05050102010706020507" pitchFamily="18" charset="2"/>
              </a:rPr>
              <a:t>1</a:t>
            </a:r>
            <a:r>
              <a:rPr lang="zh-CN" altLang="zh-CN" sz="2000" b="1" dirty="0">
                <a:solidFill>
                  <a:srgbClr val="000066"/>
                </a:solidFill>
                <a:ea typeface="幼圆" panose="02010509060101010101" pitchFamily="49" charset="-122"/>
                <a:cs typeface="Times New Roman" panose="02020603050405020304" pitchFamily="18" charset="0"/>
              </a:rPr>
              <a:t>的方向在角∠</a:t>
            </a:r>
            <a:r>
              <a:rPr lang="en-US" altLang="zh-CN" sz="2000" b="1" dirty="0">
                <a:solidFill>
                  <a:srgbClr val="000066"/>
                </a:solidFill>
                <a:ea typeface="幼圆" panose="02010509060101010101" pitchFamily="49" charset="-122"/>
                <a:cs typeface="Times New Roman" panose="02020603050405020304" pitchFamily="18" charset="0"/>
              </a:rPr>
              <a:t>AMB</a:t>
            </a:r>
            <a:r>
              <a:rPr lang="zh-CN" altLang="zh-CN" sz="2000" b="1" dirty="0">
                <a:solidFill>
                  <a:srgbClr val="000066"/>
                </a:solidFill>
                <a:ea typeface="幼圆" panose="02010509060101010101" pitchFamily="49" charset="-122"/>
                <a:cs typeface="Times New Roman" panose="02020603050405020304" pitchFamily="18" charset="0"/>
              </a:rPr>
              <a:t>的分角线上</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269" name="Line 25"/>
          <p:cNvSpPr>
            <a:spLocks noChangeShapeType="1"/>
          </p:cNvSpPr>
          <p:nvPr/>
        </p:nvSpPr>
        <p:spPr bwMode="auto">
          <a:xfrm>
            <a:off x="7365637" y="1791476"/>
            <a:ext cx="0" cy="1328656"/>
          </a:xfrm>
          <a:prstGeom prst="line">
            <a:avLst/>
          </a:prstGeom>
          <a:noFill/>
          <a:ln w="19050" cap="sq">
            <a:solidFill>
              <a:srgbClr val="000066"/>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0" name="矩形 269"/>
          <p:cNvSpPr/>
          <p:nvPr/>
        </p:nvSpPr>
        <p:spPr>
          <a:xfrm>
            <a:off x="6932871" y="1730308"/>
            <a:ext cx="571620"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O</a:t>
            </a:r>
            <a:endParaRPr lang="zh-CN" altLang="en-US" sz="2200" b="1" dirty="0">
              <a:solidFill>
                <a:srgbClr val="C00000"/>
              </a:solidFill>
              <a:ea typeface="幼圆" panose="02010509060101010101" pitchFamily="49" charset="-122"/>
              <a:cs typeface="Times New Roman" panose="02020603050405020304" pitchFamily="18" charset="0"/>
            </a:endParaRPr>
          </a:p>
        </p:txBody>
      </p:sp>
      <p:sp>
        <p:nvSpPr>
          <p:cNvPr id="271" name="矩形 270"/>
          <p:cNvSpPr/>
          <p:nvPr/>
        </p:nvSpPr>
        <p:spPr>
          <a:xfrm>
            <a:off x="6491333" y="1719720"/>
            <a:ext cx="472379"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A</a:t>
            </a:r>
            <a:endParaRPr lang="zh-CN" altLang="en-US" sz="2200" b="1" dirty="0">
              <a:solidFill>
                <a:srgbClr val="C00000"/>
              </a:solidFill>
              <a:ea typeface="幼圆" panose="02010509060101010101" pitchFamily="49" charset="-122"/>
              <a:cs typeface="Times New Roman" panose="02020603050405020304" pitchFamily="18" charset="0"/>
            </a:endParaRPr>
          </a:p>
        </p:txBody>
      </p:sp>
      <p:sp>
        <p:nvSpPr>
          <p:cNvPr id="272" name="矩形 271"/>
          <p:cNvSpPr/>
          <p:nvPr/>
        </p:nvSpPr>
        <p:spPr>
          <a:xfrm>
            <a:off x="7734936" y="1720180"/>
            <a:ext cx="447056"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B</a:t>
            </a:r>
            <a:endParaRPr lang="zh-CN" altLang="en-US" sz="2200" b="1" dirty="0">
              <a:solidFill>
                <a:srgbClr val="C00000"/>
              </a:solidFill>
              <a:ea typeface="幼圆" panose="02010509060101010101" pitchFamily="49" charset="-122"/>
              <a:cs typeface="Times New Roman" panose="02020603050405020304" pitchFamily="18" charset="0"/>
            </a:endParaRPr>
          </a:p>
        </p:txBody>
      </p:sp>
      <p:graphicFrame>
        <p:nvGraphicFramePr>
          <p:cNvPr id="274" name="Object 54"/>
          <p:cNvGraphicFramePr>
            <a:graphicFrameLocks noChangeAspect="1"/>
          </p:cNvGraphicFramePr>
          <p:nvPr>
            <p:extLst>
              <p:ext uri="{D42A27DB-BD31-4B8C-83A1-F6EECF244321}">
                <p14:modId xmlns:p14="http://schemas.microsoft.com/office/powerpoint/2010/main" val="2577620133"/>
              </p:ext>
            </p:extLst>
          </p:nvPr>
        </p:nvGraphicFramePr>
        <p:xfrm>
          <a:off x="1465263" y="4833938"/>
          <a:ext cx="4298950" cy="730250"/>
        </p:xfrm>
        <a:graphic>
          <a:graphicData uri="http://schemas.openxmlformats.org/presentationml/2006/ole">
            <mc:AlternateContent xmlns:mc="http://schemas.openxmlformats.org/markup-compatibility/2006">
              <mc:Choice xmlns:v="urn:schemas-microsoft-com:vml" Requires="v">
                <p:oleObj spid="_x0000_s1800770" name="Microsoft 公式 3.0" r:id="rId8" imgW="2387520" imgH="406080" progId="Equation.3">
                  <p:embed/>
                </p:oleObj>
              </mc:Choice>
              <mc:Fallback>
                <p:oleObj name="Microsoft 公式 3.0" r:id="rId8" imgW="2387520" imgH="406080" progId="Equation.3">
                  <p:embed/>
                  <p:pic>
                    <p:nvPicPr>
                      <p:cNvPr id="543798" name="Object 54"/>
                      <p:cNvPicPr>
                        <a:picLocks noChangeAspect="1" noChangeArrowheads="1"/>
                      </p:cNvPicPr>
                      <p:nvPr/>
                    </p:nvPicPr>
                    <p:blipFill>
                      <a:blip r:embed="rId9"/>
                      <a:srcRect/>
                      <a:stretch>
                        <a:fillRect/>
                      </a:stretch>
                    </p:blipFill>
                    <p:spPr bwMode="auto">
                      <a:xfrm>
                        <a:off x="1465263" y="4833938"/>
                        <a:ext cx="4298950" cy="730250"/>
                      </a:xfrm>
                      <a:prstGeom prst="rect">
                        <a:avLst/>
                      </a:prstGeom>
                      <a:noFill/>
                      <a:ln>
                        <a:noFill/>
                      </a:ln>
                      <a:extLst/>
                    </p:spPr>
                  </p:pic>
                </p:oleObj>
              </mc:Fallback>
            </mc:AlternateContent>
          </a:graphicData>
        </a:graphic>
      </p:graphicFrame>
      <p:sp>
        <p:nvSpPr>
          <p:cNvPr id="74"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grpSp>
        <p:nvGrpSpPr>
          <p:cNvPr id="5" name="组合 4"/>
          <p:cNvGrpSpPr/>
          <p:nvPr/>
        </p:nvGrpSpPr>
        <p:grpSpPr>
          <a:xfrm>
            <a:off x="6387776" y="2780422"/>
            <a:ext cx="1945476" cy="2897944"/>
            <a:chOff x="6387776" y="2780422"/>
            <a:chExt cx="1945476" cy="2897944"/>
          </a:xfrm>
        </p:grpSpPr>
        <p:grpSp>
          <p:nvGrpSpPr>
            <p:cNvPr id="3" name="组合 2"/>
            <p:cNvGrpSpPr/>
            <p:nvPr/>
          </p:nvGrpSpPr>
          <p:grpSpPr>
            <a:xfrm>
              <a:off x="6694213" y="4048680"/>
              <a:ext cx="1639039" cy="1629686"/>
              <a:chOff x="6694213" y="4048680"/>
              <a:chExt cx="1639039" cy="1629686"/>
            </a:xfrm>
          </p:grpSpPr>
          <p:sp>
            <p:nvSpPr>
              <p:cNvPr id="2" name="矩形 1"/>
              <p:cNvSpPr/>
              <p:nvPr/>
            </p:nvSpPr>
            <p:spPr bwMode="auto">
              <a:xfrm>
                <a:off x="6790380" y="4148814"/>
                <a:ext cx="1457864" cy="1526875"/>
              </a:xfrm>
              <a:prstGeom prst="rect">
                <a:avLst/>
              </a:prstGeom>
              <a:solidFill>
                <a:schemeClr val="accent6">
                  <a:lumMod val="40000"/>
                  <a:lumOff val="60000"/>
                </a:schemeClr>
              </a:solidFill>
              <a:ln w="19050" cap="flat" cmpd="sng" algn="ctr">
                <a:solidFill>
                  <a:srgbClr val="C00000"/>
                </a:solidFill>
                <a:prstDash val="dash"/>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77" name="组合 76"/>
              <p:cNvGrpSpPr/>
              <p:nvPr/>
            </p:nvGrpSpPr>
            <p:grpSpPr>
              <a:xfrm>
                <a:off x="7086790" y="4048680"/>
                <a:ext cx="1246462" cy="1629686"/>
                <a:chOff x="7849318" y="2892669"/>
                <a:chExt cx="963684" cy="1259968"/>
              </a:xfrm>
            </p:grpSpPr>
            <p:sp>
              <p:nvSpPr>
                <p:cNvPr id="254" name="任意多边形 253"/>
                <p:cNvSpPr/>
                <p:nvPr/>
              </p:nvSpPr>
              <p:spPr bwMode="auto">
                <a:xfrm>
                  <a:off x="8197521" y="2977696"/>
                  <a:ext cx="451715" cy="523123"/>
                </a:xfrm>
                <a:custGeom>
                  <a:avLst/>
                  <a:gdLst>
                    <a:gd name="connsiteX0" fmla="*/ 163032 w 1148316"/>
                    <a:gd name="connsiteY0" fmla="*/ 14177 h 1304260"/>
                    <a:gd name="connsiteX1" fmla="*/ 0 w 1148316"/>
                    <a:gd name="connsiteY1" fmla="*/ 1304260 h 1304260"/>
                    <a:gd name="connsiteX2" fmla="*/ 1148316 w 1148316"/>
                    <a:gd name="connsiteY2" fmla="*/ 0 h 1304260"/>
                    <a:gd name="connsiteX0" fmla="*/ 142935 w 1148316"/>
                    <a:gd name="connsiteY0" fmla="*/ 54370 h 1304260"/>
                    <a:gd name="connsiteX1" fmla="*/ 0 w 1148316"/>
                    <a:gd name="connsiteY1" fmla="*/ 1304260 h 1304260"/>
                    <a:gd name="connsiteX2" fmla="*/ 1148316 w 1148316"/>
                    <a:gd name="connsiteY2" fmla="*/ 0 h 1304260"/>
                    <a:gd name="connsiteX0" fmla="*/ 142935 w 1111472"/>
                    <a:gd name="connsiteY0" fmla="*/ 10828 h 1260718"/>
                    <a:gd name="connsiteX1" fmla="*/ 0 w 1111472"/>
                    <a:gd name="connsiteY1" fmla="*/ 1260718 h 1260718"/>
                    <a:gd name="connsiteX2" fmla="*/ 1111472 w 1111472"/>
                    <a:gd name="connsiteY2" fmla="*/ 0 h 1260718"/>
                    <a:gd name="connsiteX0" fmla="*/ 136236 w 1111472"/>
                    <a:gd name="connsiteY0" fmla="*/ 14177 h 1260718"/>
                    <a:gd name="connsiteX1" fmla="*/ 0 w 1111472"/>
                    <a:gd name="connsiteY1" fmla="*/ 1260718 h 1260718"/>
                    <a:gd name="connsiteX2" fmla="*/ 1111472 w 1111472"/>
                    <a:gd name="connsiteY2" fmla="*/ 0 h 1260718"/>
                    <a:gd name="connsiteX0" fmla="*/ 49426 w 1111472"/>
                    <a:gd name="connsiteY0" fmla="*/ 737595 h 1260718"/>
                    <a:gd name="connsiteX1" fmla="*/ 0 w 1111472"/>
                    <a:gd name="connsiteY1" fmla="*/ 1260718 h 1260718"/>
                    <a:gd name="connsiteX2" fmla="*/ 1111472 w 1111472"/>
                    <a:gd name="connsiteY2" fmla="*/ 0 h 1260718"/>
                    <a:gd name="connsiteX0" fmla="*/ 49426 w 451715"/>
                    <a:gd name="connsiteY0" fmla="*/ 0 h 523123"/>
                    <a:gd name="connsiteX1" fmla="*/ 0 w 451715"/>
                    <a:gd name="connsiteY1" fmla="*/ 523123 h 523123"/>
                    <a:gd name="connsiteX2" fmla="*/ 451715 w 451715"/>
                    <a:gd name="connsiteY2" fmla="*/ 8972 h 523123"/>
                  </a:gdLst>
                  <a:ahLst/>
                  <a:cxnLst>
                    <a:cxn ang="0">
                      <a:pos x="connsiteX0" y="connsiteY0"/>
                    </a:cxn>
                    <a:cxn ang="0">
                      <a:pos x="connsiteX1" y="connsiteY1"/>
                    </a:cxn>
                    <a:cxn ang="0">
                      <a:pos x="connsiteX2" y="connsiteY2"/>
                    </a:cxn>
                  </a:cxnLst>
                  <a:rect l="l" t="t" r="r" b="b"/>
                  <a:pathLst>
                    <a:path w="451715" h="523123">
                      <a:moveTo>
                        <a:pt x="49426" y="0"/>
                      </a:moveTo>
                      <a:lnTo>
                        <a:pt x="0" y="523123"/>
                      </a:lnTo>
                      <a:lnTo>
                        <a:pt x="451715" y="8972"/>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55" name="矩形 254"/>
                <p:cNvSpPr/>
                <p:nvPr/>
              </p:nvSpPr>
              <p:spPr bwMode="auto">
                <a:xfrm rot="1473332">
                  <a:off x="8022696" y="3492573"/>
                  <a:ext cx="237744" cy="237744"/>
                </a:xfrm>
                <a:prstGeom prst="rect">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57" name="Line 25"/>
                <p:cNvSpPr>
                  <a:spLocks noChangeShapeType="1"/>
                </p:cNvSpPr>
                <p:nvPr/>
              </p:nvSpPr>
              <p:spPr bwMode="auto">
                <a:xfrm flipH="1">
                  <a:off x="8194276" y="3189005"/>
                  <a:ext cx="129161" cy="313849"/>
                </a:xfrm>
                <a:prstGeom prst="line">
                  <a:avLst/>
                </a:prstGeom>
                <a:noFill/>
                <a:ln w="19050" cap="sq">
                  <a:solidFill>
                    <a:schemeClr val="tx1"/>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8" name="Line 25"/>
                <p:cNvSpPr>
                  <a:spLocks noChangeShapeType="1"/>
                </p:cNvSpPr>
                <p:nvPr/>
              </p:nvSpPr>
              <p:spPr bwMode="auto">
                <a:xfrm rot="10800000" flipH="1">
                  <a:off x="7966858" y="3723060"/>
                  <a:ext cx="123620" cy="300385"/>
                </a:xfrm>
                <a:prstGeom prst="line">
                  <a:avLst/>
                </a:prstGeom>
                <a:noFill/>
                <a:ln w="19050" cap="sq">
                  <a:solidFill>
                    <a:schemeClr val="tx1"/>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9" name="Line 25"/>
                <p:cNvSpPr>
                  <a:spLocks noChangeShapeType="1"/>
                </p:cNvSpPr>
                <p:nvPr/>
              </p:nvSpPr>
              <p:spPr bwMode="auto">
                <a:xfrm rot="16200000" flipH="1">
                  <a:off x="7900881" y="3443661"/>
                  <a:ext cx="72121" cy="175247"/>
                </a:xfrm>
                <a:prstGeom prst="line">
                  <a:avLst/>
                </a:prstGeom>
                <a:noFill/>
                <a:ln w="19050" cap="sq">
                  <a:solidFill>
                    <a:schemeClr val="tx1"/>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0" name="Line 25"/>
                <p:cNvSpPr>
                  <a:spLocks noChangeShapeType="1"/>
                </p:cNvSpPr>
                <p:nvPr/>
              </p:nvSpPr>
              <p:spPr bwMode="auto">
                <a:xfrm rot="5400000" flipH="1">
                  <a:off x="8305985" y="3611936"/>
                  <a:ext cx="72121" cy="175247"/>
                </a:xfrm>
                <a:prstGeom prst="line">
                  <a:avLst/>
                </a:prstGeom>
                <a:noFill/>
                <a:ln w="19050" cap="sq">
                  <a:solidFill>
                    <a:schemeClr val="tx1"/>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任意多边形 71"/>
                <p:cNvSpPr/>
                <p:nvPr/>
              </p:nvSpPr>
              <p:spPr bwMode="auto">
                <a:xfrm flipV="1">
                  <a:off x="8319286" y="3248514"/>
                  <a:ext cx="245533" cy="50800"/>
                </a:xfrm>
                <a:custGeom>
                  <a:avLst/>
                  <a:gdLst>
                    <a:gd name="connsiteX0" fmla="*/ 0 w 245533"/>
                    <a:gd name="connsiteY0" fmla="*/ 0 h 50800"/>
                    <a:gd name="connsiteX1" fmla="*/ 101600 w 245533"/>
                    <a:gd name="connsiteY1" fmla="*/ 8467 h 50800"/>
                    <a:gd name="connsiteX2" fmla="*/ 245533 w 245533"/>
                    <a:gd name="connsiteY2" fmla="*/ 50800 h 50800"/>
                  </a:gdLst>
                  <a:ahLst/>
                  <a:cxnLst>
                    <a:cxn ang="0">
                      <a:pos x="connsiteX0" y="connsiteY0"/>
                    </a:cxn>
                    <a:cxn ang="0">
                      <a:pos x="connsiteX1" y="connsiteY1"/>
                    </a:cxn>
                    <a:cxn ang="0">
                      <a:pos x="connsiteX2" y="connsiteY2"/>
                    </a:cxn>
                  </a:cxnLst>
                  <a:rect l="l" t="t" r="r" b="b"/>
                  <a:pathLst>
                    <a:path w="245533" h="50800">
                      <a:moveTo>
                        <a:pt x="0" y="0"/>
                      </a:moveTo>
                      <a:cubicBezTo>
                        <a:pt x="30339" y="0"/>
                        <a:pt x="60678" y="0"/>
                        <a:pt x="101600" y="8467"/>
                      </a:cubicBezTo>
                      <a:cubicBezTo>
                        <a:pt x="142522" y="16934"/>
                        <a:pt x="194027" y="33867"/>
                        <a:pt x="245533" y="50800"/>
                      </a:cubicBezTo>
                    </a:path>
                  </a:pathLst>
                </a:custGeom>
                <a:noFill/>
                <a:ln w="6350" cap="flat" cmpd="sng" algn="ctr">
                  <a:solidFill>
                    <a:schemeClr val="tx1"/>
                  </a:solidFill>
                  <a:prstDash val="solid"/>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61" name="Text Box 208"/>
                <p:cNvSpPr txBox="1">
                  <a:spLocks noChangeArrowheads="1"/>
                </p:cNvSpPr>
                <p:nvPr/>
              </p:nvSpPr>
              <p:spPr bwMode="auto">
                <a:xfrm>
                  <a:off x="8487272" y="3131383"/>
                  <a:ext cx="3257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i="1" dirty="0">
                      <a:solidFill>
                        <a:srgbClr val="A50021"/>
                      </a:solidFill>
                      <a:ea typeface="幼圆" pitchFamily="49" charset="-122"/>
                      <a:sym typeface="Symbol" pitchFamily="18" charset="2"/>
                    </a:rPr>
                    <a:t></a:t>
                  </a:r>
                </a:p>
              </p:txBody>
            </p:sp>
            <p:sp>
              <p:nvSpPr>
                <p:cNvPr id="262" name="任意多边形 261"/>
                <p:cNvSpPr/>
                <p:nvPr/>
              </p:nvSpPr>
              <p:spPr bwMode="auto">
                <a:xfrm rot="12103098">
                  <a:off x="8021547" y="3178672"/>
                  <a:ext cx="245533" cy="50800"/>
                </a:xfrm>
                <a:custGeom>
                  <a:avLst/>
                  <a:gdLst>
                    <a:gd name="connsiteX0" fmla="*/ 0 w 245533"/>
                    <a:gd name="connsiteY0" fmla="*/ 0 h 50800"/>
                    <a:gd name="connsiteX1" fmla="*/ 101600 w 245533"/>
                    <a:gd name="connsiteY1" fmla="*/ 8467 h 50800"/>
                    <a:gd name="connsiteX2" fmla="*/ 245533 w 245533"/>
                    <a:gd name="connsiteY2" fmla="*/ 50800 h 50800"/>
                  </a:gdLst>
                  <a:ahLst/>
                  <a:cxnLst>
                    <a:cxn ang="0">
                      <a:pos x="connsiteX0" y="connsiteY0"/>
                    </a:cxn>
                    <a:cxn ang="0">
                      <a:pos x="connsiteX1" y="connsiteY1"/>
                    </a:cxn>
                    <a:cxn ang="0">
                      <a:pos x="connsiteX2" y="connsiteY2"/>
                    </a:cxn>
                  </a:cxnLst>
                  <a:rect l="l" t="t" r="r" b="b"/>
                  <a:pathLst>
                    <a:path w="245533" h="50800">
                      <a:moveTo>
                        <a:pt x="0" y="0"/>
                      </a:moveTo>
                      <a:cubicBezTo>
                        <a:pt x="30339" y="0"/>
                        <a:pt x="60678" y="0"/>
                        <a:pt x="101600" y="8467"/>
                      </a:cubicBezTo>
                      <a:cubicBezTo>
                        <a:pt x="142522" y="16934"/>
                        <a:pt x="194027" y="33867"/>
                        <a:pt x="245533" y="50800"/>
                      </a:cubicBezTo>
                    </a:path>
                  </a:pathLst>
                </a:custGeom>
                <a:noFill/>
                <a:ln w="6350" cap="flat" cmpd="sng" algn="ctr">
                  <a:solidFill>
                    <a:schemeClr val="tx1"/>
                  </a:solidFill>
                  <a:prstDash val="solid"/>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63" name="Text Box 208"/>
                <p:cNvSpPr txBox="1">
                  <a:spLocks noChangeArrowheads="1"/>
                </p:cNvSpPr>
                <p:nvPr/>
              </p:nvSpPr>
              <p:spPr bwMode="auto">
                <a:xfrm>
                  <a:off x="7888719" y="2892669"/>
                  <a:ext cx="3257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i="1" dirty="0">
                      <a:solidFill>
                        <a:srgbClr val="A50021"/>
                      </a:solidFill>
                      <a:ea typeface="幼圆" pitchFamily="49" charset="-122"/>
                      <a:sym typeface="Symbol" pitchFamily="18" charset="2"/>
                    </a:rPr>
                    <a:t></a:t>
                  </a:r>
                </a:p>
              </p:txBody>
            </p:sp>
            <p:sp>
              <p:nvSpPr>
                <p:cNvPr id="264" name="Text Box 208"/>
                <p:cNvSpPr txBox="1">
                  <a:spLocks noChangeArrowheads="1"/>
                </p:cNvSpPr>
                <p:nvPr/>
              </p:nvSpPr>
              <p:spPr bwMode="auto">
                <a:xfrm>
                  <a:off x="7949229" y="3752527"/>
                  <a:ext cx="4251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i="1" dirty="0">
                      <a:solidFill>
                        <a:srgbClr val="A50021"/>
                      </a:solidFill>
                      <a:ea typeface="幼圆" pitchFamily="49" charset="-122"/>
                      <a:sym typeface="Symbol" pitchFamily="18" charset="2"/>
                    </a:rPr>
                    <a:t></a:t>
                  </a:r>
                  <a:r>
                    <a:rPr lang="en-US" altLang="zh-CN" sz="2000" b="1" baseline="-25000" dirty="0">
                      <a:solidFill>
                        <a:srgbClr val="A50021"/>
                      </a:solidFill>
                      <a:ea typeface="幼圆" pitchFamily="49" charset="-122"/>
                      <a:sym typeface="Symbol" pitchFamily="18" charset="2"/>
                    </a:rPr>
                    <a:t>1</a:t>
                  </a:r>
                  <a:endParaRPr lang="zh-CN" altLang="en-US" sz="2000" b="1" dirty="0">
                    <a:solidFill>
                      <a:srgbClr val="A50021"/>
                    </a:solidFill>
                    <a:ea typeface="幼圆" pitchFamily="49" charset="-122"/>
                    <a:sym typeface="Symbol" pitchFamily="18" charset="2"/>
                  </a:endParaRPr>
                </a:p>
              </p:txBody>
            </p:sp>
            <p:sp>
              <p:nvSpPr>
                <p:cNvPr id="265" name="Text Box 208"/>
                <p:cNvSpPr txBox="1">
                  <a:spLocks noChangeArrowheads="1"/>
                </p:cNvSpPr>
                <p:nvPr/>
              </p:nvSpPr>
              <p:spPr bwMode="auto">
                <a:xfrm>
                  <a:off x="8378067" y="3555069"/>
                  <a:ext cx="4251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i="1" dirty="0">
                      <a:solidFill>
                        <a:srgbClr val="A50021"/>
                      </a:solidFill>
                      <a:ea typeface="幼圆" pitchFamily="49" charset="-122"/>
                      <a:sym typeface="Symbol" pitchFamily="18" charset="2"/>
                    </a:rPr>
                    <a:t></a:t>
                  </a:r>
                  <a:r>
                    <a:rPr lang="en-US" altLang="zh-CN" sz="2000" b="1" baseline="-25000" dirty="0">
                      <a:solidFill>
                        <a:srgbClr val="A50021"/>
                      </a:solidFill>
                      <a:ea typeface="幼圆" pitchFamily="49" charset="-122"/>
                      <a:sym typeface="Symbol" pitchFamily="18" charset="2"/>
                    </a:rPr>
                    <a:t>3</a:t>
                  </a:r>
                  <a:endParaRPr lang="zh-CN" altLang="en-US" sz="2000" b="1" dirty="0">
                    <a:solidFill>
                      <a:srgbClr val="A50021"/>
                    </a:solidFill>
                    <a:ea typeface="幼圆" pitchFamily="49" charset="-122"/>
                    <a:sym typeface="Symbol" pitchFamily="18" charset="2"/>
                  </a:endParaRPr>
                </a:p>
              </p:txBody>
            </p:sp>
          </p:grpSp>
          <p:sp>
            <p:nvSpPr>
              <p:cNvPr id="275" name="矩形 274"/>
              <p:cNvSpPr/>
              <p:nvPr/>
            </p:nvSpPr>
            <p:spPr>
              <a:xfrm>
                <a:off x="6694213" y="4920383"/>
                <a:ext cx="571620"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M</a:t>
                </a:r>
                <a:endParaRPr lang="zh-CN" altLang="en-US" sz="2200" b="1" dirty="0">
                  <a:solidFill>
                    <a:srgbClr val="C00000"/>
                  </a:solidFill>
                  <a:ea typeface="幼圆" panose="02010509060101010101" pitchFamily="49" charset="-122"/>
                  <a:cs typeface="Times New Roman" panose="02020603050405020304" pitchFamily="18" charset="0"/>
                </a:endParaRPr>
              </a:p>
            </p:txBody>
          </p:sp>
        </p:grpSp>
        <p:sp>
          <p:nvSpPr>
            <p:cNvPr id="75" name="矩形 74"/>
            <p:cNvSpPr/>
            <p:nvPr/>
          </p:nvSpPr>
          <p:spPr bwMode="auto">
            <a:xfrm>
              <a:off x="6387776" y="2780422"/>
              <a:ext cx="694612" cy="727493"/>
            </a:xfrm>
            <a:prstGeom prst="rect">
              <a:avLst/>
            </a:prstGeom>
            <a:noFill/>
            <a:ln w="19050"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4" name="右箭头 43"/>
            <p:cNvSpPr/>
            <p:nvPr/>
          </p:nvSpPr>
          <p:spPr bwMode="auto">
            <a:xfrm rot="5400000">
              <a:off x="6707003" y="3698830"/>
              <a:ext cx="529904" cy="278017"/>
            </a:xfrm>
            <a:prstGeom prst="rightArrow">
              <a:avLst/>
            </a:prstGeom>
            <a:solidFill>
              <a:srgbClr val="C00000"/>
            </a:solidFill>
            <a:ln w="12700" cap="flat" cmpd="sng" algn="ctr">
              <a:solidFill>
                <a:srgbClr val="C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Tree>
    <p:extLst>
      <p:ext uri="{BB962C8B-B14F-4D97-AF65-F5344CB8AC3E}">
        <p14:creationId xmlns:p14="http://schemas.microsoft.com/office/powerpoint/2010/main" val="324348602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46"/>
                                        </p:tgtEl>
                                        <p:attrNameLst>
                                          <p:attrName>style.visibility</p:attrName>
                                        </p:attrNameLst>
                                      </p:cBhvr>
                                      <p:to>
                                        <p:strVal val="visible"/>
                                      </p:to>
                                    </p:set>
                                    <p:animEffect transition="in" filter="wipe(left)">
                                      <p:cBhvr>
                                        <p:cTn id="13" dur="500"/>
                                        <p:tgtEl>
                                          <p:spTgt spid="246"/>
                                        </p:tgtEl>
                                      </p:cBhvr>
                                    </p:animEffect>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245">
                                            <p:txEl>
                                              <p:pRg st="0" end="0"/>
                                            </p:txEl>
                                          </p:spTgt>
                                        </p:tgtEl>
                                        <p:attrNameLst>
                                          <p:attrName>style.visibility</p:attrName>
                                        </p:attrNameLst>
                                      </p:cBhvr>
                                      <p:to>
                                        <p:strVal val="visible"/>
                                      </p:to>
                                    </p:set>
                                    <p:animEffect transition="in" filter="fade">
                                      <p:cBhvr>
                                        <p:cTn id="17" dur="1000"/>
                                        <p:tgtEl>
                                          <p:spTgt spid="245">
                                            <p:txEl>
                                              <p:pRg st="0" end="0"/>
                                            </p:txEl>
                                          </p:spTgt>
                                        </p:tgtEl>
                                      </p:cBhvr>
                                    </p:animEffect>
                                    <p:anim calcmode="lin" valueType="num">
                                      <p:cBhvr>
                                        <p:cTn id="18" dur="1000" fill="hold"/>
                                        <p:tgtEl>
                                          <p:spTgt spid="24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245">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6" presetClass="entr" presetSubtype="21" fill="hold" nodeType="afterEffect">
                                  <p:stCondLst>
                                    <p:cond delay="0"/>
                                  </p:stCondLst>
                                  <p:childTnLst>
                                    <p:set>
                                      <p:cBhvr>
                                        <p:cTn id="22" dur="1" fill="hold">
                                          <p:stCondLst>
                                            <p:cond delay="0"/>
                                          </p:stCondLst>
                                        </p:cTn>
                                        <p:tgtEl>
                                          <p:spTgt spid="253"/>
                                        </p:tgtEl>
                                        <p:attrNameLst>
                                          <p:attrName>style.visibility</p:attrName>
                                        </p:attrNameLst>
                                      </p:cBhvr>
                                      <p:to>
                                        <p:strVal val="visible"/>
                                      </p:to>
                                    </p:set>
                                    <p:animEffect transition="in" filter="barn(inVertical)">
                                      <p:cBhvr>
                                        <p:cTn id="23" dur="500"/>
                                        <p:tgtEl>
                                          <p:spTgt spid="25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8"/>
                                        </p:tgtEl>
                                        <p:attrNameLst>
                                          <p:attrName>style.visibility</p:attrName>
                                        </p:attrNameLst>
                                      </p:cBhvr>
                                      <p:to>
                                        <p:strVal val="visible"/>
                                      </p:to>
                                    </p:set>
                                    <p:animEffect transition="in" filter="wipe(left)">
                                      <p:cBhvr>
                                        <p:cTn id="28" dur="1000"/>
                                        <p:tgtEl>
                                          <p:spTgt spid="268"/>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10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247">
                                            <p:txEl>
                                              <p:pRg st="0" end="0"/>
                                            </p:txEl>
                                          </p:spTgt>
                                        </p:tgtEl>
                                        <p:attrNameLst>
                                          <p:attrName>style.visibility</p:attrName>
                                        </p:attrNameLst>
                                      </p:cBhvr>
                                      <p:to>
                                        <p:strVal val="visible"/>
                                      </p:to>
                                    </p:set>
                                    <p:animEffect transition="in" filter="fade">
                                      <p:cBhvr>
                                        <p:cTn id="37" dur="1000"/>
                                        <p:tgtEl>
                                          <p:spTgt spid="247">
                                            <p:txEl>
                                              <p:pRg st="0" end="0"/>
                                            </p:txEl>
                                          </p:spTgt>
                                        </p:tgtEl>
                                      </p:cBhvr>
                                    </p:animEffect>
                                    <p:anim calcmode="lin" valueType="num">
                                      <p:cBhvr>
                                        <p:cTn id="38" dur="1000" fill="hold"/>
                                        <p:tgtEl>
                                          <p:spTgt spid="247">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247">
                                            <p:txEl>
                                              <p:pRg st="0" end="0"/>
                                            </p:txEl>
                                          </p:spTgt>
                                        </p:tgtEl>
                                        <p:attrNameLst>
                                          <p:attrName>ppt_y</p:attrName>
                                        </p:attrNameLst>
                                      </p:cBhvr>
                                      <p:tavLst>
                                        <p:tav tm="0">
                                          <p:val>
                                            <p:strVal val="#ppt_y+.1"/>
                                          </p:val>
                                        </p:tav>
                                        <p:tav tm="100000">
                                          <p:val>
                                            <p:strVal val="#ppt_y"/>
                                          </p:val>
                                        </p:tav>
                                      </p:tavLst>
                                    </p:anim>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274"/>
                                        </p:tgtEl>
                                        <p:attrNameLst>
                                          <p:attrName>style.visibility</p:attrName>
                                        </p:attrNameLst>
                                      </p:cBhvr>
                                      <p:to>
                                        <p:strVal val="visible"/>
                                      </p:to>
                                    </p:set>
                                    <p:animEffect transition="in" filter="wipe(left)">
                                      <p:cBhvr>
                                        <p:cTn id="43" dur="500"/>
                                        <p:tgtEl>
                                          <p:spTgt spid="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P spid="245" grpId="0" uiExpand="1" build="p"/>
      <p:bldP spid="247" grpId="0" uiExpand="1" build="p"/>
      <p:bldP spid="26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p:cNvSpPr/>
          <p:nvPr/>
        </p:nvSpPr>
        <p:spPr bwMode="auto">
          <a:xfrm>
            <a:off x="6008688" y="1800534"/>
            <a:ext cx="2984196" cy="1711130"/>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26</a:t>
            </a:fld>
            <a:endParaRPr lang="zh-CN" altLang="en-US" dirty="0">
              <a:solidFill>
                <a:srgbClr val="C00000"/>
              </a:solidFill>
            </a:endParaRPr>
          </a:p>
        </p:txBody>
      </p:sp>
      <p:sp>
        <p:nvSpPr>
          <p:cNvPr id="13"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条形均布荷载</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764504" y="1401721"/>
            <a:ext cx="3866762" cy="35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4"/>
            </a:pPr>
            <a:r>
              <a:rPr lang="zh-CN" altLang="en-US" sz="2200" b="1" dirty="0">
                <a:solidFill>
                  <a:srgbClr val="800000"/>
                </a:solidFill>
                <a:ea typeface="幼圆" pitchFamily="49" charset="-122"/>
                <a:cs typeface="Times New Roman" panose="02020603050405020304" pitchFamily="18" charset="0"/>
                <a:sym typeface="Symbol" pitchFamily="18" charset="2"/>
              </a:rPr>
              <a:t>极限平衡条件：</a:t>
            </a:r>
            <a:endParaRPr lang="zh-CN" altLang="en-US" sz="2200" b="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临塑和临界荷载计算</a:t>
            </a:r>
          </a:p>
        </p:txBody>
      </p:sp>
      <p:sp>
        <p:nvSpPr>
          <p:cNvPr id="23" name="Text Box 21"/>
          <p:cNvSpPr txBox="1">
            <a:spLocks noChangeArrowheads="1"/>
          </p:cNvSpPr>
          <p:nvPr/>
        </p:nvSpPr>
        <p:spPr bwMode="auto">
          <a:xfrm>
            <a:off x="5967276" y="1005477"/>
            <a:ext cx="896399"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36" name="矩形 35"/>
          <p:cNvSpPr/>
          <p:nvPr/>
        </p:nvSpPr>
        <p:spPr>
          <a:xfrm>
            <a:off x="7922731" y="868531"/>
            <a:ext cx="571620" cy="461665"/>
          </a:xfrm>
          <a:prstGeom prst="rect">
            <a:avLst/>
          </a:prstGeom>
        </p:spPr>
        <p:txBody>
          <a:bodyPr wrap="square">
            <a:spAutoFit/>
          </a:bodyPr>
          <a:lstStyle/>
          <a:p>
            <a:pPr algn="ctr">
              <a:lnSpc>
                <a:spcPct val="100000"/>
              </a:lnSpc>
              <a:buClr>
                <a:srgbClr val="C00000"/>
              </a:buClr>
            </a:pPr>
            <a:r>
              <a:rPr lang="en-US" altLang="zh-CN" sz="2400" b="1" i="1" dirty="0">
                <a:solidFill>
                  <a:srgbClr val="000066"/>
                </a:solidFill>
                <a:ea typeface="幼圆" panose="02010509060101010101" pitchFamily="49" charset="-122"/>
                <a:cs typeface="Times New Roman" panose="02020603050405020304" pitchFamily="18" charset="0"/>
              </a:rPr>
              <a:t>p</a:t>
            </a:r>
            <a:endParaRPr lang="zh-CN" altLang="en-US" sz="2400" b="1" i="1" dirty="0">
              <a:solidFill>
                <a:srgbClr val="000066"/>
              </a:solidFill>
              <a:ea typeface="幼圆" panose="02010509060101010101" pitchFamily="49" charset="-122"/>
              <a:cs typeface="Times New Roman" panose="02020603050405020304" pitchFamily="18" charset="0"/>
            </a:endParaRPr>
          </a:p>
        </p:txBody>
      </p:sp>
      <p:grpSp>
        <p:nvGrpSpPr>
          <p:cNvPr id="7" name="组合 6"/>
          <p:cNvGrpSpPr/>
          <p:nvPr/>
        </p:nvGrpSpPr>
        <p:grpSpPr>
          <a:xfrm>
            <a:off x="7024226" y="1256758"/>
            <a:ext cx="972754" cy="531427"/>
            <a:chOff x="6252391" y="1449388"/>
            <a:chExt cx="1314450" cy="531427"/>
          </a:xfrm>
        </p:grpSpPr>
        <p:sp>
          <p:nvSpPr>
            <p:cNvPr id="8"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9" name="直接连接符 18"/>
          <p:cNvCxnSpPr/>
          <p:nvPr/>
        </p:nvCxnSpPr>
        <p:spPr bwMode="auto">
          <a:xfrm flipH="1">
            <a:off x="7004042" y="1242396"/>
            <a:ext cx="99987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Line 23"/>
          <p:cNvSpPr>
            <a:spLocks noChangeShapeType="1"/>
          </p:cNvSpPr>
          <p:nvPr/>
        </p:nvSpPr>
        <p:spPr bwMode="auto">
          <a:xfrm>
            <a:off x="6047512" y="1786751"/>
            <a:ext cx="2945372"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5"/>
          <p:cNvSpPr>
            <a:spLocks noChangeShapeType="1"/>
          </p:cNvSpPr>
          <p:nvPr/>
        </p:nvSpPr>
        <p:spPr bwMode="auto">
          <a:xfrm>
            <a:off x="6051472" y="151820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a:off x="6213598" y="151820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5"/>
          <p:cNvSpPr>
            <a:spLocks noChangeShapeType="1"/>
          </p:cNvSpPr>
          <p:nvPr/>
        </p:nvSpPr>
        <p:spPr bwMode="auto">
          <a:xfrm>
            <a:off x="6375723" y="151820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6537849" y="151820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p:cNvSpPr>
            <a:spLocks noChangeShapeType="1"/>
          </p:cNvSpPr>
          <p:nvPr/>
        </p:nvSpPr>
        <p:spPr bwMode="auto">
          <a:xfrm>
            <a:off x="6699975" y="151820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5"/>
          <p:cNvSpPr>
            <a:spLocks noChangeShapeType="1"/>
          </p:cNvSpPr>
          <p:nvPr/>
        </p:nvSpPr>
        <p:spPr bwMode="auto">
          <a:xfrm>
            <a:off x="6862100" y="1518207"/>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p:cNvSpPr>
            <a:spLocks noChangeShapeType="1"/>
          </p:cNvSpPr>
          <p:nvPr/>
        </p:nvSpPr>
        <p:spPr bwMode="auto">
          <a:xfrm>
            <a:off x="8159677" y="151004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5"/>
          <p:cNvSpPr>
            <a:spLocks noChangeShapeType="1"/>
          </p:cNvSpPr>
          <p:nvPr/>
        </p:nvSpPr>
        <p:spPr bwMode="auto">
          <a:xfrm>
            <a:off x="8321802" y="151004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p:cNvSpPr>
            <a:spLocks noChangeShapeType="1"/>
          </p:cNvSpPr>
          <p:nvPr/>
        </p:nvSpPr>
        <p:spPr bwMode="auto">
          <a:xfrm>
            <a:off x="8483928" y="151004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5"/>
          <p:cNvSpPr>
            <a:spLocks noChangeShapeType="1"/>
          </p:cNvSpPr>
          <p:nvPr/>
        </p:nvSpPr>
        <p:spPr bwMode="auto">
          <a:xfrm>
            <a:off x="8646054" y="151004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5"/>
          <p:cNvSpPr>
            <a:spLocks noChangeShapeType="1"/>
          </p:cNvSpPr>
          <p:nvPr/>
        </p:nvSpPr>
        <p:spPr bwMode="auto">
          <a:xfrm>
            <a:off x="8808179" y="151004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5"/>
          <p:cNvSpPr>
            <a:spLocks noChangeShapeType="1"/>
          </p:cNvSpPr>
          <p:nvPr/>
        </p:nvSpPr>
        <p:spPr bwMode="auto">
          <a:xfrm>
            <a:off x="8970305" y="151004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37" name="直接连接符 36"/>
          <p:cNvCxnSpPr/>
          <p:nvPr/>
        </p:nvCxnSpPr>
        <p:spPr bwMode="auto">
          <a:xfrm flipH="1">
            <a:off x="6045265" y="1505329"/>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p:cNvCxnSpPr/>
          <p:nvPr/>
        </p:nvCxnSpPr>
        <p:spPr bwMode="auto">
          <a:xfrm flipH="1">
            <a:off x="7997191" y="1494443"/>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2" name="Line 25"/>
          <p:cNvSpPr>
            <a:spLocks noChangeShapeType="1"/>
          </p:cNvSpPr>
          <p:nvPr/>
        </p:nvSpPr>
        <p:spPr bwMode="auto">
          <a:xfrm>
            <a:off x="6560831" y="1778145"/>
            <a:ext cx="0" cy="1328656"/>
          </a:xfrm>
          <a:prstGeom prst="line">
            <a:avLst/>
          </a:prstGeom>
          <a:noFill/>
          <a:ln w="9525"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 name="矩形 242"/>
          <p:cNvSpPr/>
          <p:nvPr/>
        </p:nvSpPr>
        <p:spPr>
          <a:xfrm>
            <a:off x="6105272" y="2207447"/>
            <a:ext cx="571620" cy="461665"/>
          </a:xfrm>
          <a:prstGeom prst="rect">
            <a:avLst/>
          </a:prstGeom>
        </p:spPr>
        <p:txBody>
          <a:bodyPr wrap="square">
            <a:spAutoFit/>
          </a:bodyPr>
          <a:lstStyle/>
          <a:p>
            <a:pPr algn="ctr">
              <a:lnSpc>
                <a:spcPct val="100000"/>
              </a:lnSpc>
              <a:buClr>
                <a:srgbClr val="C00000"/>
              </a:buClr>
            </a:pPr>
            <a:r>
              <a:rPr lang="en-US" altLang="zh-CN" sz="2400" b="1" dirty="0">
                <a:solidFill>
                  <a:srgbClr val="000066"/>
                </a:solidFill>
                <a:ea typeface="幼圆" panose="02010509060101010101" pitchFamily="49" charset="-122"/>
                <a:cs typeface="Times New Roman" panose="02020603050405020304" pitchFamily="18" charset="0"/>
              </a:rPr>
              <a:t>z</a:t>
            </a:r>
            <a:endParaRPr lang="zh-CN" altLang="en-US" sz="2400" b="1" dirty="0">
              <a:solidFill>
                <a:srgbClr val="000066"/>
              </a:solidFill>
              <a:ea typeface="幼圆" panose="02010509060101010101" pitchFamily="49" charset="-122"/>
              <a:cs typeface="Times New Roman" panose="02020603050405020304" pitchFamily="18" charset="0"/>
            </a:endParaRPr>
          </a:p>
        </p:txBody>
      </p:sp>
      <p:sp>
        <p:nvSpPr>
          <p:cNvPr id="244" name="矩形 243"/>
          <p:cNvSpPr/>
          <p:nvPr/>
        </p:nvSpPr>
        <p:spPr>
          <a:xfrm>
            <a:off x="6525054" y="3127408"/>
            <a:ext cx="571620"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M</a:t>
            </a:r>
            <a:endParaRPr lang="zh-CN" altLang="en-US" sz="2200" b="1" dirty="0">
              <a:solidFill>
                <a:srgbClr val="C00000"/>
              </a:solidFill>
              <a:ea typeface="幼圆" panose="02010509060101010101" pitchFamily="49" charset="-122"/>
              <a:cs typeface="Times New Roman" panose="02020603050405020304" pitchFamily="18" charset="0"/>
            </a:endParaRPr>
          </a:p>
        </p:txBody>
      </p:sp>
      <p:grpSp>
        <p:nvGrpSpPr>
          <p:cNvPr id="4" name="组合 3"/>
          <p:cNvGrpSpPr/>
          <p:nvPr/>
        </p:nvGrpSpPr>
        <p:grpSpPr>
          <a:xfrm>
            <a:off x="7014924" y="1056278"/>
            <a:ext cx="986232" cy="108000"/>
            <a:chOff x="6348986" y="3976340"/>
            <a:chExt cx="1362333" cy="109926"/>
          </a:xfrm>
        </p:grpSpPr>
        <p:cxnSp>
          <p:nvCxnSpPr>
            <p:cNvPr id="200" name="直接连接符 199"/>
            <p:cNvCxnSpPr/>
            <p:nvPr/>
          </p:nvCxnSpPr>
          <p:spPr bwMode="auto">
            <a:xfrm>
              <a:off x="6348986" y="3981335"/>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2" name="直接连接符 211"/>
            <p:cNvCxnSpPr/>
            <p:nvPr/>
          </p:nvCxnSpPr>
          <p:spPr bwMode="auto">
            <a:xfrm>
              <a:off x="7697372" y="3976340"/>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接连接符 235"/>
            <p:cNvCxnSpPr/>
            <p:nvPr/>
          </p:nvCxnSpPr>
          <p:spPr bwMode="auto">
            <a:xfrm>
              <a:off x="6348987" y="4047235"/>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37" name="Text Box 21"/>
          <p:cNvSpPr txBox="1">
            <a:spLocks noChangeArrowheads="1"/>
          </p:cNvSpPr>
          <p:nvPr/>
        </p:nvSpPr>
        <p:spPr bwMode="auto">
          <a:xfrm>
            <a:off x="7338726" y="728819"/>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cxnSp>
        <p:nvCxnSpPr>
          <p:cNvPr id="238" name="直接连接符 237"/>
          <p:cNvCxnSpPr/>
          <p:nvPr/>
        </p:nvCxnSpPr>
        <p:spPr bwMode="auto">
          <a:xfrm flipH="1">
            <a:off x="6473688" y="3101113"/>
            <a:ext cx="24993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任意多边形 5"/>
          <p:cNvSpPr/>
          <p:nvPr/>
        </p:nvSpPr>
        <p:spPr bwMode="auto">
          <a:xfrm>
            <a:off x="6903720" y="1778176"/>
            <a:ext cx="1111472" cy="1260718"/>
          </a:xfrm>
          <a:custGeom>
            <a:avLst/>
            <a:gdLst>
              <a:gd name="connsiteX0" fmla="*/ 163032 w 1148316"/>
              <a:gd name="connsiteY0" fmla="*/ 14177 h 1304260"/>
              <a:gd name="connsiteX1" fmla="*/ 0 w 1148316"/>
              <a:gd name="connsiteY1" fmla="*/ 1304260 h 1304260"/>
              <a:gd name="connsiteX2" fmla="*/ 1148316 w 1148316"/>
              <a:gd name="connsiteY2" fmla="*/ 0 h 1304260"/>
              <a:gd name="connsiteX0" fmla="*/ 142935 w 1148316"/>
              <a:gd name="connsiteY0" fmla="*/ 54370 h 1304260"/>
              <a:gd name="connsiteX1" fmla="*/ 0 w 1148316"/>
              <a:gd name="connsiteY1" fmla="*/ 1304260 h 1304260"/>
              <a:gd name="connsiteX2" fmla="*/ 1148316 w 1148316"/>
              <a:gd name="connsiteY2" fmla="*/ 0 h 1304260"/>
              <a:gd name="connsiteX0" fmla="*/ 142935 w 1111472"/>
              <a:gd name="connsiteY0" fmla="*/ 10828 h 1260718"/>
              <a:gd name="connsiteX1" fmla="*/ 0 w 1111472"/>
              <a:gd name="connsiteY1" fmla="*/ 1260718 h 1260718"/>
              <a:gd name="connsiteX2" fmla="*/ 1111472 w 1111472"/>
              <a:gd name="connsiteY2" fmla="*/ 0 h 1260718"/>
              <a:gd name="connsiteX0" fmla="*/ 136236 w 1111472"/>
              <a:gd name="connsiteY0" fmla="*/ 14177 h 1260718"/>
              <a:gd name="connsiteX1" fmla="*/ 0 w 1111472"/>
              <a:gd name="connsiteY1" fmla="*/ 1260718 h 1260718"/>
              <a:gd name="connsiteX2" fmla="*/ 1111472 w 1111472"/>
              <a:gd name="connsiteY2" fmla="*/ 0 h 1260718"/>
            </a:gdLst>
            <a:ahLst/>
            <a:cxnLst>
              <a:cxn ang="0">
                <a:pos x="connsiteX0" y="connsiteY0"/>
              </a:cxn>
              <a:cxn ang="0">
                <a:pos x="connsiteX1" y="connsiteY1"/>
              </a:cxn>
              <a:cxn ang="0">
                <a:pos x="connsiteX2" y="connsiteY2"/>
              </a:cxn>
            </a:cxnLst>
            <a:rect l="l" t="t" r="r" b="b"/>
            <a:pathLst>
              <a:path w="1111472" h="1260718">
                <a:moveTo>
                  <a:pt x="136236" y="14177"/>
                </a:moveTo>
                <a:lnTo>
                  <a:pt x="0" y="1260718"/>
                </a:lnTo>
                <a:lnTo>
                  <a:pt x="1111472"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50" name="Freeform 185"/>
          <p:cNvSpPr>
            <a:spLocks/>
          </p:cNvSpPr>
          <p:nvPr/>
        </p:nvSpPr>
        <p:spPr bwMode="auto">
          <a:xfrm rot="19023617">
            <a:off x="7016876" y="2560207"/>
            <a:ext cx="86196" cy="232729"/>
          </a:xfrm>
          <a:custGeom>
            <a:avLst/>
            <a:gdLst>
              <a:gd name="T0" fmla="*/ 70 w 70"/>
              <a:gd name="T1" fmla="*/ 189 h 189"/>
              <a:gd name="T2" fmla="*/ 58 w 70"/>
              <a:gd name="T3" fmla="*/ 96 h 189"/>
              <a:gd name="T4" fmla="*/ 0 w 70"/>
              <a:gd name="T5" fmla="*/ 0 h 189"/>
              <a:gd name="T6" fmla="*/ 0 60000 65536"/>
              <a:gd name="T7" fmla="*/ 0 60000 65536"/>
              <a:gd name="T8" fmla="*/ 0 60000 65536"/>
              <a:gd name="T9" fmla="*/ 0 w 70"/>
              <a:gd name="T10" fmla="*/ 0 h 189"/>
              <a:gd name="T11" fmla="*/ 70 w 70"/>
              <a:gd name="T12" fmla="*/ 189 h 189"/>
            </a:gdLst>
            <a:ahLst/>
            <a:cxnLst>
              <a:cxn ang="T6">
                <a:pos x="T0" y="T1"/>
              </a:cxn>
              <a:cxn ang="T7">
                <a:pos x="T2" y="T3"/>
              </a:cxn>
              <a:cxn ang="T8">
                <a:pos x="T4" y="T5"/>
              </a:cxn>
            </a:cxnLst>
            <a:rect l="T9" t="T10" r="T11" b="T12"/>
            <a:pathLst>
              <a:path w="70" h="189">
                <a:moveTo>
                  <a:pt x="70" y="189"/>
                </a:moveTo>
                <a:cubicBezTo>
                  <a:pt x="70" y="158"/>
                  <a:pt x="70" y="127"/>
                  <a:pt x="58" y="96"/>
                </a:cubicBezTo>
                <a:cubicBezTo>
                  <a:pt x="46" y="65"/>
                  <a:pt x="23" y="32"/>
                  <a:pt x="0" y="0"/>
                </a:cubicBezTo>
              </a:path>
            </a:pathLst>
          </a:custGeom>
          <a:noFill/>
          <a:ln w="12700" cmpd="sng">
            <a:solidFill>
              <a:schemeClr val="tx1"/>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1" name="Text Box 208"/>
          <p:cNvSpPr txBox="1">
            <a:spLocks noChangeArrowheads="1"/>
          </p:cNvSpPr>
          <p:nvPr/>
        </p:nvSpPr>
        <p:spPr bwMode="auto">
          <a:xfrm>
            <a:off x="6932213" y="2233136"/>
            <a:ext cx="4539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dirty="0">
                <a:solidFill>
                  <a:srgbClr val="A50021"/>
                </a:solidFill>
                <a:ea typeface="幼圆" pitchFamily="49" charset="-122"/>
                <a:sym typeface="Symbol" pitchFamily="18" charset="2"/>
              </a:rPr>
              <a:t>2</a:t>
            </a:r>
            <a:r>
              <a:rPr lang="zh-CN" altLang="en-US" sz="2000" b="1" i="1" dirty="0">
                <a:solidFill>
                  <a:srgbClr val="A50021"/>
                </a:solidFill>
                <a:ea typeface="幼圆" pitchFamily="49" charset="-122"/>
                <a:sym typeface="Symbol" pitchFamily="18" charset="2"/>
              </a:rPr>
              <a:t></a:t>
            </a:r>
          </a:p>
        </p:txBody>
      </p:sp>
      <p:sp>
        <p:nvSpPr>
          <p:cNvPr id="252" name="Text Box 21"/>
          <p:cNvSpPr txBox="1">
            <a:spLocks noChangeArrowheads="1"/>
          </p:cNvSpPr>
          <p:nvPr/>
        </p:nvSpPr>
        <p:spPr bwMode="auto">
          <a:xfrm>
            <a:off x="8440646" y="1894510"/>
            <a:ext cx="311304" cy="477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sym typeface="Symbol" panose="05050102010706020507" pitchFamily="18" charset="2"/>
              </a:rPr>
              <a:t></a:t>
            </a:r>
            <a:endParaRPr kumimoji="1" lang="en-US" altLang="zh-CN" sz="2400" b="1" baseline="-25000" dirty="0">
              <a:solidFill>
                <a:srgbClr val="000066"/>
              </a:solidFill>
              <a:latin typeface="Times New Roman" panose="02020603050405020304" pitchFamily="18" charset="0"/>
            </a:endParaRPr>
          </a:p>
        </p:txBody>
      </p:sp>
      <p:sp>
        <p:nvSpPr>
          <p:cNvPr id="22" name="矩形 21"/>
          <p:cNvSpPr/>
          <p:nvPr/>
        </p:nvSpPr>
        <p:spPr bwMode="auto">
          <a:xfrm rot="1473332">
            <a:off x="6830703" y="3035895"/>
            <a:ext cx="99196" cy="99196"/>
          </a:xfrm>
          <a:prstGeom prst="rect">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68" name="直接连接符 67"/>
          <p:cNvCxnSpPr>
            <a:stCxn id="6" idx="1"/>
          </p:cNvCxnSpPr>
          <p:nvPr/>
        </p:nvCxnSpPr>
        <p:spPr bwMode="auto">
          <a:xfrm flipV="1">
            <a:off x="6903720" y="2698357"/>
            <a:ext cx="151115" cy="340537"/>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9" name="Line 25"/>
          <p:cNvSpPr>
            <a:spLocks noChangeShapeType="1"/>
          </p:cNvSpPr>
          <p:nvPr/>
        </p:nvSpPr>
        <p:spPr bwMode="auto">
          <a:xfrm>
            <a:off x="7516313" y="1763567"/>
            <a:ext cx="0" cy="1328656"/>
          </a:xfrm>
          <a:prstGeom prst="line">
            <a:avLst/>
          </a:prstGeom>
          <a:noFill/>
          <a:ln w="19050" cap="sq">
            <a:solidFill>
              <a:srgbClr val="000066"/>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0" name="矩形 269"/>
          <p:cNvSpPr/>
          <p:nvPr/>
        </p:nvSpPr>
        <p:spPr>
          <a:xfrm>
            <a:off x="7083547" y="1702399"/>
            <a:ext cx="571620"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O</a:t>
            </a:r>
            <a:endParaRPr lang="zh-CN" altLang="en-US" sz="2200" b="1" dirty="0">
              <a:solidFill>
                <a:srgbClr val="C00000"/>
              </a:solidFill>
              <a:ea typeface="幼圆" panose="02010509060101010101" pitchFamily="49" charset="-122"/>
              <a:cs typeface="Times New Roman" panose="02020603050405020304" pitchFamily="18" charset="0"/>
            </a:endParaRPr>
          </a:p>
        </p:txBody>
      </p:sp>
      <p:sp>
        <p:nvSpPr>
          <p:cNvPr id="271" name="矩形 270"/>
          <p:cNvSpPr/>
          <p:nvPr/>
        </p:nvSpPr>
        <p:spPr>
          <a:xfrm>
            <a:off x="6642009" y="1691811"/>
            <a:ext cx="472379"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A</a:t>
            </a:r>
            <a:endParaRPr lang="zh-CN" altLang="en-US" sz="2200" b="1" dirty="0">
              <a:solidFill>
                <a:srgbClr val="C00000"/>
              </a:solidFill>
              <a:ea typeface="幼圆" panose="02010509060101010101" pitchFamily="49" charset="-122"/>
              <a:cs typeface="Times New Roman" panose="02020603050405020304" pitchFamily="18" charset="0"/>
            </a:endParaRPr>
          </a:p>
        </p:txBody>
      </p:sp>
      <p:sp>
        <p:nvSpPr>
          <p:cNvPr id="272" name="矩形 271"/>
          <p:cNvSpPr/>
          <p:nvPr/>
        </p:nvSpPr>
        <p:spPr>
          <a:xfrm>
            <a:off x="7885612" y="1692271"/>
            <a:ext cx="447056"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B</a:t>
            </a:r>
            <a:endParaRPr lang="zh-CN" altLang="en-US" sz="2200" b="1" dirty="0">
              <a:solidFill>
                <a:srgbClr val="C00000"/>
              </a:solidFill>
              <a:ea typeface="幼圆" panose="02010509060101010101" pitchFamily="49" charset="-122"/>
              <a:cs typeface="Times New Roman" panose="02020603050405020304" pitchFamily="18" charset="0"/>
            </a:endParaRPr>
          </a:p>
        </p:txBody>
      </p:sp>
      <p:graphicFrame>
        <p:nvGraphicFramePr>
          <p:cNvPr id="74" name="Object 37"/>
          <p:cNvGraphicFramePr>
            <a:graphicFrameLocks noChangeAspect="1"/>
          </p:cNvGraphicFramePr>
          <p:nvPr>
            <p:extLst>
              <p:ext uri="{D42A27DB-BD31-4B8C-83A1-F6EECF244321}">
                <p14:modId xmlns:p14="http://schemas.microsoft.com/office/powerpoint/2010/main" val="525100748"/>
              </p:ext>
            </p:extLst>
          </p:nvPr>
        </p:nvGraphicFramePr>
        <p:xfrm>
          <a:off x="1050288" y="1768709"/>
          <a:ext cx="3017088" cy="799632"/>
        </p:xfrm>
        <a:graphic>
          <a:graphicData uri="http://schemas.openxmlformats.org/presentationml/2006/ole">
            <mc:AlternateContent xmlns:mc="http://schemas.openxmlformats.org/markup-compatibility/2006">
              <mc:Choice xmlns:v="urn:schemas-microsoft-com:vml" Requires="v">
                <p:oleObj spid="_x0000_s1801576" name="Microsoft 公式 3.0" r:id="rId4" imgW="1676160" imgH="444240" progId="Equation.3">
                  <p:embed/>
                </p:oleObj>
              </mc:Choice>
              <mc:Fallback>
                <p:oleObj name="Microsoft 公式 3.0" r:id="rId4" imgW="1676160" imgH="444240" progId="Equation.3">
                  <p:embed/>
                  <p:pic>
                    <p:nvPicPr>
                      <p:cNvPr id="544805" name="Object 37"/>
                      <p:cNvPicPr>
                        <a:picLocks noChangeAspect="1" noChangeArrowheads="1"/>
                      </p:cNvPicPr>
                      <p:nvPr/>
                    </p:nvPicPr>
                    <p:blipFill>
                      <a:blip r:embed="rId5"/>
                      <a:srcRect/>
                      <a:stretch>
                        <a:fillRect/>
                      </a:stretch>
                    </p:blipFill>
                    <p:spPr bwMode="auto">
                      <a:xfrm>
                        <a:off x="1050288" y="1768709"/>
                        <a:ext cx="3017088" cy="799632"/>
                      </a:xfrm>
                      <a:prstGeom prst="rect">
                        <a:avLst/>
                      </a:prstGeom>
                      <a:noFill/>
                      <a:ln>
                        <a:noFill/>
                      </a:ln>
                      <a:extLst/>
                    </p:spPr>
                  </p:pic>
                </p:oleObj>
              </mc:Fallback>
            </mc:AlternateContent>
          </a:graphicData>
        </a:graphic>
      </p:graphicFrame>
      <p:sp>
        <p:nvSpPr>
          <p:cNvPr id="75" name="矩形 74"/>
          <p:cNvSpPr/>
          <p:nvPr/>
        </p:nvSpPr>
        <p:spPr>
          <a:xfrm>
            <a:off x="1016259" y="2700095"/>
            <a:ext cx="4037897"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将</a:t>
            </a:r>
            <a:r>
              <a:rPr lang="zh-CN" altLang="en-US"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baseline="-25000" dirty="0">
                <a:solidFill>
                  <a:srgbClr val="000066"/>
                </a:solidFill>
                <a:ea typeface="幼圆" panose="02010509060101010101" pitchFamily="49" charset="-122"/>
                <a:cs typeface="Times New Roman" panose="02020603050405020304" pitchFamily="18" charset="0"/>
                <a:sym typeface="Symbol" panose="05050102010706020507" pitchFamily="18" charset="2"/>
              </a:rPr>
              <a:t>1</a:t>
            </a:r>
            <a:r>
              <a:rPr lang="zh-CN" altLang="en-US" sz="2000" b="1" dirty="0">
                <a:solidFill>
                  <a:srgbClr val="000066"/>
                </a:solidFill>
                <a:ea typeface="幼圆" panose="02010509060101010101" pitchFamily="49" charset="-122"/>
                <a:cs typeface="Times New Roman" panose="02020603050405020304" pitchFamily="18" charset="0"/>
              </a:rPr>
              <a:t>和</a:t>
            </a:r>
            <a:r>
              <a:rPr lang="zh-CN" altLang="en-US"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baseline="-25000" dirty="0">
                <a:solidFill>
                  <a:srgbClr val="000066"/>
                </a:solidFill>
                <a:ea typeface="幼圆" panose="02010509060101010101" pitchFamily="49" charset="-122"/>
                <a:cs typeface="Times New Roman" panose="02020603050405020304" pitchFamily="18" charset="0"/>
                <a:sym typeface="Symbol" panose="05050102010706020507" pitchFamily="18" charset="2"/>
              </a:rPr>
              <a:t>3</a:t>
            </a:r>
            <a:r>
              <a:rPr lang="zh-CN" altLang="en-US" sz="2000" b="1" dirty="0">
                <a:solidFill>
                  <a:srgbClr val="000066"/>
                </a:solidFill>
                <a:ea typeface="幼圆" panose="02010509060101010101" pitchFamily="49" charset="-122"/>
                <a:cs typeface="Times New Roman" panose="02020603050405020304" pitchFamily="18" charset="0"/>
              </a:rPr>
              <a:t>的解代入并整理，可得：</a:t>
            </a:r>
            <a:endParaRPr lang="en-US" altLang="zh-CN" sz="2000" b="1" dirty="0">
              <a:solidFill>
                <a:srgbClr val="000066"/>
              </a:solidFill>
              <a:ea typeface="幼圆" panose="02010509060101010101" pitchFamily="49" charset="-122"/>
              <a:cs typeface="Times New Roman" panose="02020603050405020304" pitchFamily="18" charset="0"/>
            </a:endParaRPr>
          </a:p>
        </p:txBody>
      </p:sp>
      <p:graphicFrame>
        <p:nvGraphicFramePr>
          <p:cNvPr id="76" name="Object 39"/>
          <p:cNvGraphicFramePr>
            <a:graphicFrameLocks noChangeAspect="1"/>
          </p:cNvGraphicFramePr>
          <p:nvPr>
            <p:extLst>
              <p:ext uri="{D42A27DB-BD31-4B8C-83A1-F6EECF244321}">
                <p14:modId xmlns:p14="http://schemas.microsoft.com/office/powerpoint/2010/main" val="2018570769"/>
              </p:ext>
            </p:extLst>
          </p:nvPr>
        </p:nvGraphicFramePr>
        <p:xfrm>
          <a:off x="1076324" y="3238500"/>
          <a:ext cx="4754563" cy="776288"/>
        </p:xfrm>
        <a:graphic>
          <a:graphicData uri="http://schemas.openxmlformats.org/presentationml/2006/ole">
            <mc:AlternateContent xmlns:mc="http://schemas.openxmlformats.org/markup-compatibility/2006">
              <mc:Choice xmlns:v="urn:schemas-microsoft-com:vml" Requires="v">
                <p:oleObj spid="_x0000_s1801577" name="Microsoft 公式 3.0" r:id="rId6" imgW="2641320" imgH="431640" progId="Equation.3">
                  <p:embed/>
                </p:oleObj>
              </mc:Choice>
              <mc:Fallback>
                <p:oleObj name="Microsoft 公式 3.0" r:id="rId6" imgW="2641320" imgH="431640" progId="Equation.3">
                  <p:embed/>
                  <p:pic>
                    <p:nvPicPr>
                      <p:cNvPr id="544807" name="Object 39"/>
                      <p:cNvPicPr>
                        <a:picLocks noChangeAspect="1" noChangeArrowheads="1"/>
                      </p:cNvPicPr>
                      <p:nvPr/>
                    </p:nvPicPr>
                    <p:blipFill>
                      <a:blip r:embed="rId7"/>
                      <a:srcRect/>
                      <a:stretch>
                        <a:fillRect/>
                      </a:stretch>
                    </p:blipFill>
                    <p:spPr bwMode="auto">
                      <a:xfrm>
                        <a:off x="1076324" y="3238500"/>
                        <a:ext cx="4754563" cy="776288"/>
                      </a:xfrm>
                      <a:prstGeom prst="rect">
                        <a:avLst/>
                      </a:prstGeom>
                      <a:noFill/>
                      <a:ln w="9525">
                        <a:noFill/>
                        <a:miter lim="800000"/>
                        <a:headEnd/>
                        <a:tailEnd/>
                      </a:ln>
                    </p:spPr>
                  </p:pic>
                </p:oleObj>
              </mc:Fallback>
            </mc:AlternateContent>
          </a:graphicData>
        </a:graphic>
      </p:graphicFrame>
      <p:sp>
        <p:nvSpPr>
          <p:cNvPr id="78" name="矩形 77"/>
          <p:cNvSpPr/>
          <p:nvPr/>
        </p:nvSpPr>
        <p:spPr>
          <a:xfrm>
            <a:off x="1138470" y="4191754"/>
            <a:ext cx="7070071" cy="1354217"/>
          </a:xfrm>
          <a:prstGeom prst="rect">
            <a:avLst/>
          </a:prstGeom>
          <a:solidFill>
            <a:srgbClr val="CCECFF"/>
          </a:solidFill>
        </p:spPr>
        <p:txBody>
          <a:bodyPr wrap="square">
            <a:spAutoFit/>
          </a:bodyPr>
          <a:lstStyle/>
          <a:p>
            <a:pPr marL="342900" indent="-342900">
              <a:lnSpc>
                <a:spcPct val="120000"/>
              </a:lnSpc>
              <a:spcBef>
                <a:spcPts val="300"/>
              </a:spcBef>
              <a:spcAft>
                <a:spcPts val="300"/>
              </a:spcAft>
              <a:buClr>
                <a:srgbClr val="C00000"/>
              </a:buClr>
              <a:buSzPct val="130000"/>
              <a:buFont typeface="Wingdings" panose="05000000000000000000" pitchFamily="2" charset="2"/>
              <a:buChar char="F"/>
            </a:pPr>
            <a:r>
              <a:rPr lang="zh-CN" altLang="en-US" sz="2000" b="1" dirty="0">
                <a:solidFill>
                  <a:srgbClr val="000066"/>
                </a:solidFill>
                <a:ea typeface="幼圆" panose="02010509060101010101" pitchFamily="49" charset="-122"/>
                <a:cs typeface="Times New Roman" panose="02020603050405020304" pitchFamily="18" charset="0"/>
              </a:rPr>
              <a:t>上式是满足极限平衡条件区域界线的方程式</a:t>
            </a:r>
            <a:endParaRPr lang="en-US" altLang="zh-CN" sz="2000" b="1" dirty="0">
              <a:solidFill>
                <a:srgbClr val="000066"/>
              </a:solidFill>
              <a:ea typeface="幼圆" panose="02010509060101010101" pitchFamily="49" charset="-122"/>
              <a:cs typeface="Times New Roman" panose="02020603050405020304" pitchFamily="18" charset="0"/>
            </a:endParaRPr>
          </a:p>
          <a:p>
            <a:pPr marL="342900" indent="-342900">
              <a:lnSpc>
                <a:spcPct val="120000"/>
              </a:lnSpc>
              <a:spcBef>
                <a:spcPts val="300"/>
              </a:spcBef>
              <a:spcAft>
                <a:spcPts val="300"/>
              </a:spcAft>
              <a:buClr>
                <a:srgbClr val="C00000"/>
              </a:buClr>
              <a:buSzPct val="130000"/>
              <a:buFont typeface="Wingdings" panose="05000000000000000000" pitchFamily="2" charset="2"/>
              <a:buChar char="F"/>
            </a:pPr>
            <a:r>
              <a:rPr lang="zh-CN" altLang="zh-CN" sz="2000" b="1" dirty="0">
                <a:solidFill>
                  <a:srgbClr val="000066"/>
                </a:solidFill>
                <a:ea typeface="幼圆" panose="02010509060101010101" pitchFamily="49" charset="-122"/>
                <a:cs typeface="Times New Roman" panose="02020603050405020304" pitchFamily="18" charset="0"/>
              </a:rPr>
              <a:t>当</a:t>
            </a:r>
            <a:r>
              <a:rPr lang="zh-CN" altLang="zh-CN" sz="2000" b="1" i="1" dirty="0">
                <a:solidFill>
                  <a:srgbClr val="000066"/>
                </a:solidFill>
                <a:ea typeface="幼圆" panose="02010509060101010101" pitchFamily="49" charset="-122"/>
                <a:cs typeface="Times New Roman" panose="02020603050405020304" pitchFamily="18" charset="0"/>
              </a:rPr>
              <a:t>γ</a:t>
            </a:r>
            <a:r>
              <a:rPr lang="zh-CN"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c</a:t>
            </a:r>
            <a:r>
              <a:rPr lang="zh-CN" altLang="zh-CN" sz="2000" b="1" dirty="0">
                <a:solidFill>
                  <a:srgbClr val="000066"/>
                </a:solidFill>
                <a:ea typeface="幼圆" panose="02010509060101010101" pitchFamily="49" charset="-122"/>
                <a:cs typeface="Times New Roman" panose="02020603050405020304" pitchFamily="18" charset="0"/>
              </a:rPr>
              <a:t>、</a:t>
            </a:r>
            <a:r>
              <a:rPr lang="zh-CN" altLang="zh-CN" sz="2000" b="1" i="1" dirty="0">
                <a:solidFill>
                  <a:srgbClr val="000066"/>
                </a:solidFill>
                <a:ea typeface="幼圆" panose="02010509060101010101" pitchFamily="49" charset="-122"/>
                <a:cs typeface="Times New Roman" panose="02020603050405020304" pitchFamily="18" charset="0"/>
              </a:rPr>
              <a:t>φ</a:t>
            </a:r>
            <a:r>
              <a:rPr lang="zh-CN" altLang="zh-CN" sz="2000" b="1" dirty="0">
                <a:solidFill>
                  <a:srgbClr val="000066"/>
                </a:solidFill>
                <a:ea typeface="幼圆" panose="02010509060101010101" pitchFamily="49" charset="-122"/>
                <a:cs typeface="Times New Roman" panose="02020603050405020304" pitchFamily="18" charset="0"/>
              </a:rPr>
              <a:t>已知</a:t>
            </a:r>
            <a:r>
              <a:rPr lang="zh-CN" altLang="en-US" sz="2000" b="1" dirty="0">
                <a:solidFill>
                  <a:srgbClr val="000066"/>
                </a:solidFill>
                <a:ea typeface="幼圆" panose="02010509060101010101" pitchFamily="49" charset="-122"/>
                <a:cs typeface="Times New Roman" panose="02020603050405020304" pitchFamily="18" charset="0"/>
              </a:rPr>
              <a:t>时，表示极限平衡区边界点深度与</a:t>
            </a:r>
            <a:r>
              <a:rPr lang="en-US" altLang="zh-CN" sz="2000" b="1" i="1" dirty="0">
                <a:solidFill>
                  <a:srgbClr val="000066"/>
                </a:solidFill>
                <a:ea typeface="幼圆" panose="02010509060101010101" pitchFamily="49" charset="-122"/>
                <a:cs typeface="Times New Roman" panose="02020603050405020304" pitchFamily="18" charset="0"/>
              </a:rPr>
              <a:t>β</a:t>
            </a:r>
            <a:r>
              <a:rPr lang="zh-CN" altLang="en-US" sz="2000" b="1" dirty="0">
                <a:solidFill>
                  <a:srgbClr val="000066"/>
                </a:solidFill>
                <a:ea typeface="幼圆" panose="02010509060101010101" pitchFamily="49" charset="-122"/>
                <a:cs typeface="Times New Roman" panose="02020603050405020304" pitchFamily="18" charset="0"/>
              </a:rPr>
              <a:t>的关系</a:t>
            </a:r>
            <a:endParaRPr lang="en-US" altLang="zh-CN" sz="2000" b="1" dirty="0">
              <a:solidFill>
                <a:srgbClr val="000066"/>
              </a:solidFill>
              <a:ea typeface="幼圆" panose="02010509060101010101" pitchFamily="49" charset="-122"/>
              <a:cs typeface="Times New Roman" panose="02020603050405020304" pitchFamily="18" charset="0"/>
            </a:endParaRPr>
          </a:p>
          <a:p>
            <a:pPr marL="342900" indent="-342900">
              <a:lnSpc>
                <a:spcPct val="120000"/>
              </a:lnSpc>
              <a:spcBef>
                <a:spcPts val="300"/>
              </a:spcBef>
              <a:spcAft>
                <a:spcPts val="300"/>
              </a:spcAft>
              <a:buClr>
                <a:srgbClr val="C00000"/>
              </a:buClr>
              <a:buSzPct val="130000"/>
              <a:buFont typeface="Wingdings" panose="05000000000000000000" pitchFamily="2" charset="2"/>
              <a:buChar char="F"/>
            </a:pPr>
            <a:r>
              <a:rPr lang="zh-CN" altLang="en-US" sz="2000" b="1" dirty="0">
                <a:solidFill>
                  <a:srgbClr val="000066"/>
                </a:solidFill>
                <a:ea typeface="幼圆" panose="02010509060101010101" pitchFamily="49" charset="-122"/>
                <a:cs typeface="Times New Roman" panose="02020603050405020304" pitchFamily="18" charset="0"/>
              </a:rPr>
              <a:t>决定了极限平衡区的发展轨迹</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57"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spTree>
    <p:extLst>
      <p:ext uri="{BB962C8B-B14F-4D97-AF65-F5344CB8AC3E}">
        <p14:creationId xmlns:p14="http://schemas.microsoft.com/office/powerpoint/2010/main" val="278504622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wipe(left)">
                                      <p:cBhvr>
                                        <p:cTn id="13" dur="500"/>
                                        <p:tgtEl>
                                          <p:spTgt spid="7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5"/>
                                        </p:tgtEl>
                                        <p:attrNameLst>
                                          <p:attrName>style.visibility</p:attrName>
                                        </p:attrNameLst>
                                      </p:cBhvr>
                                      <p:to>
                                        <p:strVal val="visible"/>
                                      </p:to>
                                    </p:set>
                                    <p:animEffect transition="in" filter="wipe(left)">
                                      <p:cBhvr>
                                        <p:cTn id="18" dur="500"/>
                                        <p:tgtEl>
                                          <p:spTgt spid="75"/>
                                        </p:tgtEl>
                                      </p:cBhvr>
                                    </p:animEffect>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76"/>
                                        </p:tgtEl>
                                        <p:attrNameLst>
                                          <p:attrName>style.visibility</p:attrName>
                                        </p:attrNameLst>
                                      </p:cBhvr>
                                      <p:to>
                                        <p:strVal val="visible"/>
                                      </p:to>
                                    </p:set>
                                    <p:animEffect transition="in" filter="dissolve">
                                      <p:cBhvr>
                                        <p:cTn id="22" dur="500"/>
                                        <p:tgtEl>
                                          <p:spTgt spid="76"/>
                                        </p:tgtEl>
                                      </p:cBhvr>
                                    </p:animEffect>
                                  </p:childTnLst>
                                </p:cTn>
                              </p:par>
                            </p:childTnLst>
                          </p:cTn>
                        </p:par>
                        <p:par>
                          <p:cTn id="23" fill="hold">
                            <p:stCondLst>
                              <p:cond delay="1000"/>
                            </p:stCondLst>
                            <p:childTnLst>
                              <p:par>
                                <p:cTn id="24" presetID="22" presetClass="entr" presetSubtype="8" fill="hold" grpId="0" nodeType="afterEffect">
                                  <p:stCondLst>
                                    <p:cond delay="500"/>
                                  </p:stCondLst>
                                  <p:childTnLst>
                                    <p:set>
                                      <p:cBhvr>
                                        <p:cTn id="25" dur="1" fill="hold">
                                          <p:stCondLst>
                                            <p:cond delay="0"/>
                                          </p:stCondLst>
                                        </p:cTn>
                                        <p:tgtEl>
                                          <p:spTgt spid="78">
                                            <p:bg/>
                                          </p:spTgt>
                                        </p:tgtEl>
                                        <p:attrNameLst>
                                          <p:attrName>style.visibility</p:attrName>
                                        </p:attrNameLst>
                                      </p:cBhvr>
                                      <p:to>
                                        <p:strVal val="visible"/>
                                      </p:to>
                                    </p:set>
                                    <p:animEffect transition="in" filter="wipe(left)">
                                      <p:cBhvr>
                                        <p:cTn id="26" dur="500"/>
                                        <p:tgtEl>
                                          <p:spTgt spid="78">
                                            <p:bg/>
                                          </p:spTgt>
                                        </p:tgtEl>
                                      </p:cBhvr>
                                    </p:animEffect>
                                  </p:childTnLst>
                                </p:cTn>
                              </p:par>
                            </p:childTnLst>
                          </p:cTn>
                        </p:par>
                        <p:par>
                          <p:cTn id="27" fill="hold">
                            <p:stCondLst>
                              <p:cond delay="2000"/>
                            </p:stCondLst>
                            <p:childTnLst>
                              <p:par>
                                <p:cTn id="28" presetID="22" presetClass="entr" presetSubtype="8" fill="hold" grpId="0" nodeType="afterEffect">
                                  <p:stCondLst>
                                    <p:cond delay="500"/>
                                  </p:stCondLst>
                                  <p:childTnLst>
                                    <p:set>
                                      <p:cBhvr>
                                        <p:cTn id="29" dur="1" fill="hold">
                                          <p:stCondLst>
                                            <p:cond delay="0"/>
                                          </p:stCondLst>
                                        </p:cTn>
                                        <p:tgtEl>
                                          <p:spTgt spid="78">
                                            <p:txEl>
                                              <p:pRg st="0" end="0"/>
                                            </p:txEl>
                                          </p:spTgt>
                                        </p:tgtEl>
                                        <p:attrNameLst>
                                          <p:attrName>style.visibility</p:attrName>
                                        </p:attrNameLst>
                                      </p:cBhvr>
                                      <p:to>
                                        <p:strVal val="visible"/>
                                      </p:to>
                                    </p:set>
                                    <p:animEffect transition="in" filter="wipe(left)">
                                      <p:cBhvr>
                                        <p:cTn id="30" dur="500"/>
                                        <p:tgtEl>
                                          <p:spTgt spid="78">
                                            <p:txEl>
                                              <p:pRg st="0" end="0"/>
                                            </p:txEl>
                                          </p:spTgt>
                                        </p:tgtEl>
                                      </p:cBhvr>
                                    </p:animEffect>
                                  </p:childTnLst>
                                </p:cTn>
                              </p:par>
                            </p:childTnLst>
                          </p:cTn>
                        </p:par>
                        <p:par>
                          <p:cTn id="31" fill="hold">
                            <p:stCondLst>
                              <p:cond delay="3000"/>
                            </p:stCondLst>
                            <p:childTnLst>
                              <p:par>
                                <p:cTn id="32" presetID="22" presetClass="entr" presetSubtype="8" fill="hold" grpId="0" nodeType="afterEffect">
                                  <p:stCondLst>
                                    <p:cond delay="500"/>
                                  </p:stCondLst>
                                  <p:childTnLst>
                                    <p:set>
                                      <p:cBhvr>
                                        <p:cTn id="33" dur="1" fill="hold">
                                          <p:stCondLst>
                                            <p:cond delay="0"/>
                                          </p:stCondLst>
                                        </p:cTn>
                                        <p:tgtEl>
                                          <p:spTgt spid="78">
                                            <p:txEl>
                                              <p:pRg st="1" end="1"/>
                                            </p:txEl>
                                          </p:spTgt>
                                        </p:tgtEl>
                                        <p:attrNameLst>
                                          <p:attrName>style.visibility</p:attrName>
                                        </p:attrNameLst>
                                      </p:cBhvr>
                                      <p:to>
                                        <p:strVal val="visible"/>
                                      </p:to>
                                    </p:set>
                                    <p:animEffect transition="in" filter="wipe(left)">
                                      <p:cBhvr>
                                        <p:cTn id="34" dur="500"/>
                                        <p:tgtEl>
                                          <p:spTgt spid="78">
                                            <p:txEl>
                                              <p:pRg st="1" end="1"/>
                                            </p:txEl>
                                          </p:spTgt>
                                        </p:tgtEl>
                                      </p:cBhvr>
                                    </p:animEffect>
                                  </p:childTnLst>
                                </p:cTn>
                              </p:par>
                            </p:childTnLst>
                          </p:cTn>
                        </p:par>
                        <p:par>
                          <p:cTn id="35" fill="hold">
                            <p:stCondLst>
                              <p:cond delay="4000"/>
                            </p:stCondLst>
                            <p:childTnLst>
                              <p:par>
                                <p:cTn id="36" presetID="22" presetClass="entr" presetSubtype="8" fill="hold" grpId="0" nodeType="afterEffect">
                                  <p:stCondLst>
                                    <p:cond delay="500"/>
                                  </p:stCondLst>
                                  <p:childTnLst>
                                    <p:set>
                                      <p:cBhvr>
                                        <p:cTn id="37" dur="1" fill="hold">
                                          <p:stCondLst>
                                            <p:cond delay="0"/>
                                          </p:stCondLst>
                                        </p:cTn>
                                        <p:tgtEl>
                                          <p:spTgt spid="78">
                                            <p:txEl>
                                              <p:pRg st="2" end="2"/>
                                            </p:txEl>
                                          </p:spTgt>
                                        </p:tgtEl>
                                        <p:attrNameLst>
                                          <p:attrName>style.visibility</p:attrName>
                                        </p:attrNameLst>
                                      </p:cBhvr>
                                      <p:to>
                                        <p:strVal val="visible"/>
                                      </p:to>
                                    </p:set>
                                    <p:animEffect transition="in" filter="wipe(left)">
                                      <p:cBhvr>
                                        <p:cTn id="38" dur="500"/>
                                        <p:tgtEl>
                                          <p:spTgt spid="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P spid="75" grpId="0"/>
      <p:bldP spid="78" grpId="0" build="p" animBg="1" advAuto="50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矩形 65"/>
          <p:cNvSpPr/>
          <p:nvPr/>
        </p:nvSpPr>
        <p:spPr bwMode="auto">
          <a:xfrm>
            <a:off x="5786016" y="1752441"/>
            <a:ext cx="2984196" cy="1711130"/>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2" name="Freeform 29" descr="再生纸"/>
          <p:cNvSpPr>
            <a:spLocks/>
          </p:cNvSpPr>
          <p:nvPr/>
        </p:nvSpPr>
        <p:spPr bwMode="auto">
          <a:xfrm flipH="1">
            <a:off x="7746778" y="1752632"/>
            <a:ext cx="518070" cy="777604"/>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C00000"/>
            </a:solidFill>
            <a:prstDash val="dash"/>
            <a:round/>
            <a:headEnd/>
            <a:tailEnd/>
          </a:ln>
        </p:spPr>
        <p:txBody>
          <a:bodyPr wrap="none" anchor="ctr"/>
          <a:lstStyle/>
          <a:p>
            <a:endParaRPr lang="zh-CN" altLang="en-US"/>
          </a:p>
        </p:txBody>
      </p:sp>
      <p:sp>
        <p:nvSpPr>
          <p:cNvPr id="64" name="Freeform 29" descr="再生纸"/>
          <p:cNvSpPr>
            <a:spLocks/>
          </p:cNvSpPr>
          <p:nvPr/>
        </p:nvSpPr>
        <p:spPr bwMode="auto">
          <a:xfrm>
            <a:off x="6266389" y="1749995"/>
            <a:ext cx="518070" cy="777604"/>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C00000"/>
            </a:solidFill>
            <a:prstDash val="dash"/>
            <a:round/>
            <a:headEnd/>
            <a:tailEnd/>
          </a:ln>
        </p:spPr>
        <p:txBody>
          <a:bodyPr wrap="none" anchor="ctr"/>
          <a:lstStyle/>
          <a:p>
            <a:endParaRPr lang="zh-CN" altLang="en-US"/>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27</a:t>
            </a:fld>
            <a:endParaRPr lang="zh-CN" altLang="en-US" dirty="0">
              <a:solidFill>
                <a:srgbClr val="C00000"/>
              </a:solidFill>
            </a:endParaRPr>
          </a:p>
        </p:txBody>
      </p:sp>
      <p:sp>
        <p:nvSpPr>
          <p:cNvPr id="13"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条形均布荷载</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832238" y="1401721"/>
            <a:ext cx="3866762" cy="36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5"/>
            </a:pPr>
            <a:r>
              <a:rPr lang="zh-CN" altLang="en-US" sz="2200" b="1" dirty="0">
                <a:solidFill>
                  <a:srgbClr val="800000"/>
                </a:solidFill>
                <a:ea typeface="幼圆" pitchFamily="49" charset="-122"/>
                <a:cs typeface="Times New Roman" panose="02020603050405020304" pitchFamily="18" charset="0"/>
                <a:sym typeface="Symbol" pitchFamily="18" charset="2"/>
              </a:rPr>
              <a:t>极限平衡区最大深度</a:t>
            </a:r>
            <a:r>
              <a:rPr lang="en-US" altLang="zh-CN" sz="2200" b="1" dirty="0" err="1">
                <a:solidFill>
                  <a:srgbClr val="800000"/>
                </a:solidFill>
                <a:ea typeface="幼圆" pitchFamily="49" charset="-122"/>
                <a:cs typeface="Times New Roman" panose="02020603050405020304" pitchFamily="18" charset="0"/>
                <a:sym typeface="Symbol" pitchFamily="18" charset="2"/>
              </a:rPr>
              <a:t>z</a:t>
            </a:r>
            <a:r>
              <a:rPr lang="en-US" altLang="zh-CN" sz="2200" b="1" baseline="-25000" dirty="0" err="1">
                <a:solidFill>
                  <a:srgbClr val="800000"/>
                </a:solidFill>
                <a:ea typeface="幼圆" pitchFamily="49" charset="-122"/>
                <a:cs typeface="Times New Roman" panose="02020603050405020304" pitchFamily="18" charset="0"/>
                <a:sym typeface="Symbol" pitchFamily="18" charset="2"/>
              </a:rPr>
              <a:t>max</a:t>
            </a:r>
            <a:r>
              <a:rPr lang="zh-CN" altLang="en-US" sz="2200" b="1" dirty="0">
                <a:solidFill>
                  <a:srgbClr val="800000"/>
                </a:solidFill>
                <a:ea typeface="幼圆" pitchFamily="49" charset="-122"/>
                <a:cs typeface="Times New Roman" panose="02020603050405020304" pitchFamily="18" charset="0"/>
                <a:sym typeface="Symbol" pitchFamily="18" charset="2"/>
              </a:rPr>
              <a:t>：</a:t>
            </a:r>
            <a:endParaRPr lang="zh-CN" altLang="en-US" sz="2200" b="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临塑和临界荷载计算</a:t>
            </a:r>
          </a:p>
        </p:txBody>
      </p:sp>
      <p:sp>
        <p:nvSpPr>
          <p:cNvPr id="23" name="Text Box 21"/>
          <p:cNvSpPr txBox="1">
            <a:spLocks noChangeArrowheads="1"/>
          </p:cNvSpPr>
          <p:nvPr/>
        </p:nvSpPr>
        <p:spPr bwMode="auto">
          <a:xfrm>
            <a:off x="5726320" y="975224"/>
            <a:ext cx="896399"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36" name="矩形 35"/>
          <p:cNvSpPr/>
          <p:nvPr/>
        </p:nvSpPr>
        <p:spPr>
          <a:xfrm>
            <a:off x="7681775" y="838278"/>
            <a:ext cx="571620" cy="461665"/>
          </a:xfrm>
          <a:prstGeom prst="rect">
            <a:avLst/>
          </a:prstGeom>
        </p:spPr>
        <p:txBody>
          <a:bodyPr wrap="square">
            <a:spAutoFit/>
          </a:bodyPr>
          <a:lstStyle/>
          <a:p>
            <a:pPr algn="ctr">
              <a:lnSpc>
                <a:spcPct val="100000"/>
              </a:lnSpc>
              <a:buClr>
                <a:srgbClr val="C00000"/>
              </a:buClr>
            </a:pPr>
            <a:r>
              <a:rPr lang="en-US" altLang="zh-CN" sz="2400" b="1" i="1" dirty="0">
                <a:solidFill>
                  <a:srgbClr val="000066"/>
                </a:solidFill>
                <a:ea typeface="幼圆" panose="02010509060101010101" pitchFamily="49" charset="-122"/>
                <a:cs typeface="Times New Roman" panose="02020603050405020304" pitchFamily="18" charset="0"/>
              </a:rPr>
              <a:t>p</a:t>
            </a:r>
            <a:endParaRPr lang="zh-CN" altLang="en-US" sz="2400" b="1" i="1" dirty="0">
              <a:solidFill>
                <a:srgbClr val="000066"/>
              </a:solidFill>
              <a:ea typeface="幼圆" panose="02010509060101010101" pitchFamily="49" charset="-122"/>
              <a:cs typeface="Times New Roman" panose="02020603050405020304" pitchFamily="18" charset="0"/>
            </a:endParaRPr>
          </a:p>
        </p:txBody>
      </p:sp>
      <p:grpSp>
        <p:nvGrpSpPr>
          <p:cNvPr id="7" name="组合 6"/>
          <p:cNvGrpSpPr/>
          <p:nvPr/>
        </p:nvGrpSpPr>
        <p:grpSpPr>
          <a:xfrm>
            <a:off x="6783270" y="1226505"/>
            <a:ext cx="972754" cy="531427"/>
            <a:chOff x="6252391" y="1449388"/>
            <a:chExt cx="1314450" cy="531427"/>
          </a:xfrm>
        </p:grpSpPr>
        <p:sp>
          <p:nvSpPr>
            <p:cNvPr id="8"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9" name="直接连接符 18"/>
          <p:cNvCxnSpPr/>
          <p:nvPr/>
        </p:nvCxnSpPr>
        <p:spPr bwMode="auto">
          <a:xfrm flipH="1">
            <a:off x="6771552" y="1212143"/>
            <a:ext cx="99987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Line 23"/>
          <p:cNvSpPr>
            <a:spLocks noChangeShapeType="1"/>
          </p:cNvSpPr>
          <p:nvPr/>
        </p:nvSpPr>
        <p:spPr bwMode="auto">
          <a:xfrm>
            <a:off x="5806556" y="1756498"/>
            <a:ext cx="2945372"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5"/>
          <p:cNvSpPr>
            <a:spLocks noChangeShapeType="1"/>
          </p:cNvSpPr>
          <p:nvPr/>
        </p:nvSpPr>
        <p:spPr bwMode="auto">
          <a:xfrm>
            <a:off x="5810516" y="148795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a:off x="5972642" y="148795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5"/>
          <p:cNvSpPr>
            <a:spLocks noChangeShapeType="1"/>
          </p:cNvSpPr>
          <p:nvPr/>
        </p:nvSpPr>
        <p:spPr bwMode="auto">
          <a:xfrm>
            <a:off x="6134767" y="148795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6296893" y="148795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p:cNvSpPr>
            <a:spLocks noChangeShapeType="1"/>
          </p:cNvSpPr>
          <p:nvPr/>
        </p:nvSpPr>
        <p:spPr bwMode="auto">
          <a:xfrm>
            <a:off x="6459019" y="148795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5"/>
          <p:cNvSpPr>
            <a:spLocks noChangeShapeType="1"/>
          </p:cNvSpPr>
          <p:nvPr/>
        </p:nvSpPr>
        <p:spPr bwMode="auto">
          <a:xfrm>
            <a:off x="6621144" y="148795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p:cNvSpPr>
            <a:spLocks noChangeShapeType="1"/>
          </p:cNvSpPr>
          <p:nvPr/>
        </p:nvSpPr>
        <p:spPr bwMode="auto">
          <a:xfrm>
            <a:off x="7918721" y="147979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5"/>
          <p:cNvSpPr>
            <a:spLocks noChangeShapeType="1"/>
          </p:cNvSpPr>
          <p:nvPr/>
        </p:nvSpPr>
        <p:spPr bwMode="auto">
          <a:xfrm>
            <a:off x="8080846" y="147979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p:cNvSpPr>
            <a:spLocks noChangeShapeType="1"/>
          </p:cNvSpPr>
          <p:nvPr/>
        </p:nvSpPr>
        <p:spPr bwMode="auto">
          <a:xfrm>
            <a:off x="8242972" y="147979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5"/>
          <p:cNvSpPr>
            <a:spLocks noChangeShapeType="1"/>
          </p:cNvSpPr>
          <p:nvPr/>
        </p:nvSpPr>
        <p:spPr bwMode="auto">
          <a:xfrm>
            <a:off x="8405098" y="147979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5"/>
          <p:cNvSpPr>
            <a:spLocks noChangeShapeType="1"/>
          </p:cNvSpPr>
          <p:nvPr/>
        </p:nvSpPr>
        <p:spPr bwMode="auto">
          <a:xfrm>
            <a:off x="8567223" y="147979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5"/>
          <p:cNvSpPr>
            <a:spLocks noChangeShapeType="1"/>
          </p:cNvSpPr>
          <p:nvPr/>
        </p:nvSpPr>
        <p:spPr bwMode="auto">
          <a:xfrm>
            <a:off x="8729349" y="1479790"/>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37" name="直接连接符 36"/>
          <p:cNvCxnSpPr/>
          <p:nvPr/>
        </p:nvCxnSpPr>
        <p:spPr bwMode="auto">
          <a:xfrm flipH="1">
            <a:off x="5804309" y="1475076"/>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p:cNvCxnSpPr/>
          <p:nvPr/>
        </p:nvCxnSpPr>
        <p:spPr bwMode="auto">
          <a:xfrm flipH="1">
            <a:off x="7756235" y="1464190"/>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2" name="Line 25"/>
          <p:cNvSpPr>
            <a:spLocks noChangeShapeType="1"/>
          </p:cNvSpPr>
          <p:nvPr/>
        </p:nvSpPr>
        <p:spPr bwMode="auto">
          <a:xfrm>
            <a:off x="6182715" y="1752441"/>
            <a:ext cx="0" cy="791729"/>
          </a:xfrm>
          <a:prstGeom prst="line">
            <a:avLst/>
          </a:prstGeom>
          <a:noFill/>
          <a:ln w="9525"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 name="矩形 242"/>
          <p:cNvSpPr/>
          <p:nvPr/>
        </p:nvSpPr>
        <p:spPr>
          <a:xfrm>
            <a:off x="5481566" y="1861492"/>
            <a:ext cx="841612" cy="430887"/>
          </a:xfrm>
          <a:prstGeom prst="rect">
            <a:avLst/>
          </a:prstGeom>
        </p:spPr>
        <p:txBody>
          <a:bodyPr wrap="square">
            <a:spAutoFit/>
          </a:bodyPr>
          <a:lstStyle/>
          <a:p>
            <a:pPr algn="ctr">
              <a:lnSpc>
                <a:spcPct val="100000"/>
              </a:lnSpc>
              <a:buClr>
                <a:srgbClr val="C00000"/>
              </a:buClr>
            </a:pPr>
            <a:r>
              <a:rPr lang="en-US" altLang="zh-CN" sz="2200" b="1" dirty="0" err="1">
                <a:solidFill>
                  <a:srgbClr val="000066"/>
                </a:solidFill>
                <a:ea typeface="幼圆" panose="02010509060101010101" pitchFamily="49" charset="-122"/>
                <a:cs typeface="Times New Roman" panose="02020603050405020304" pitchFamily="18" charset="0"/>
              </a:rPr>
              <a:t>z</a:t>
            </a:r>
            <a:r>
              <a:rPr lang="en-US" altLang="zh-CN" sz="2200" b="1" baseline="-25000" dirty="0" err="1">
                <a:solidFill>
                  <a:srgbClr val="000066"/>
                </a:solidFill>
                <a:ea typeface="幼圆" panose="02010509060101010101" pitchFamily="49" charset="-122"/>
                <a:cs typeface="Times New Roman" panose="02020603050405020304" pitchFamily="18" charset="0"/>
              </a:rPr>
              <a:t>max</a:t>
            </a:r>
            <a:endParaRPr lang="zh-CN" altLang="en-US" sz="2200" b="1" baseline="-25000" dirty="0">
              <a:solidFill>
                <a:srgbClr val="000066"/>
              </a:solidFill>
              <a:ea typeface="幼圆" panose="02010509060101010101" pitchFamily="49" charset="-122"/>
              <a:cs typeface="Times New Roman" panose="02020603050405020304" pitchFamily="18" charset="0"/>
            </a:endParaRPr>
          </a:p>
        </p:txBody>
      </p:sp>
      <p:cxnSp>
        <p:nvCxnSpPr>
          <p:cNvPr id="238" name="直接连接符 237"/>
          <p:cNvCxnSpPr/>
          <p:nvPr/>
        </p:nvCxnSpPr>
        <p:spPr bwMode="auto">
          <a:xfrm flipH="1">
            <a:off x="6095572" y="2549652"/>
            <a:ext cx="24993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9" name="Line 25"/>
          <p:cNvSpPr>
            <a:spLocks noChangeShapeType="1"/>
          </p:cNvSpPr>
          <p:nvPr/>
        </p:nvSpPr>
        <p:spPr bwMode="auto">
          <a:xfrm>
            <a:off x="7275357" y="1733314"/>
            <a:ext cx="0" cy="1328656"/>
          </a:xfrm>
          <a:prstGeom prst="line">
            <a:avLst/>
          </a:prstGeom>
          <a:noFill/>
          <a:ln w="19050" cap="sq">
            <a:solidFill>
              <a:srgbClr val="000066"/>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0" name="矩形 269"/>
          <p:cNvSpPr/>
          <p:nvPr/>
        </p:nvSpPr>
        <p:spPr>
          <a:xfrm>
            <a:off x="6842591" y="1672146"/>
            <a:ext cx="571620"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O</a:t>
            </a:r>
            <a:endParaRPr lang="zh-CN" altLang="en-US" sz="2200" b="1" dirty="0">
              <a:solidFill>
                <a:srgbClr val="C00000"/>
              </a:solidFill>
              <a:ea typeface="幼圆" panose="02010509060101010101" pitchFamily="49" charset="-122"/>
              <a:cs typeface="Times New Roman" panose="02020603050405020304" pitchFamily="18" charset="0"/>
            </a:endParaRPr>
          </a:p>
        </p:txBody>
      </p:sp>
      <p:sp>
        <p:nvSpPr>
          <p:cNvPr id="75" name="矩形 74"/>
          <p:cNvSpPr/>
          <p:nvPr/>
        </p:nvSpPr>
        <p:spPr>
          <a:xfrm>
            <a:off x="1042988" y="1944721"/>
            <a:ext cx="4037897" cy="769441"/>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工程中主要关心极限平衡区的最大深度</a:t>
            </a:r>
            <a:r>
              <a:rPr lang="en-US" altLang="zh-CN" sz="2000" b="1" dirty="0" err="1">
                <a:solidFill>
                  <a:srgbClr val="000066"/>
                </a:solidFill>
                <a:ea typeface="幼圆" pitchFamily="49" charset="-122"/>
                <a:cs typeface="Times New Roman" panose="02020603050405020304" pitchFamily="18" charset="0"/>
                <a:sym typeface="Symbol" pitchFamily="18" charset="2"/>
              </a:rPr>
              <a:t>z</a:t>
            </a:r>
            <a:r>
              <a:rPr lang="en-US" altLang="zh-CN" sz="2000" b="1" baseline="-25000" dirty="0" err="1">
                <a:solidFill>
                  <a:srgbClr val="000066"/>
                </a:solidFill>
                <a:ea typeface="幼圆" pitchFamily="49" charset="-122"/>
                <a:cs typeface="Times New Roman" panose="02020603050405020304" pitchFamily="18" charset="0"/>
                <a:sym typeface="Symbol" pitchFamily="18" charset="2"/>
              </a:rPr>
              <a:t>max</a:t>
            </a:r>
            <a:r>
              <a:rPr lang="en-US" altLang="zh-CN" sz="2000" b="1" baseline="-25000" dirty="0">
                <a:solidFill>
                  <a:srgbClr val="000066"/>
                </a:solidFill>
                <a:ea typeface="幼圆" pitchFamily="49" charset="-122"/>
                <a:cs typeface="Times New Roman" panose="02020603050405020304" pitchFamily="18" charset="0"/>
                <a:sym typeface="Symbol" pitchFamily="18" charset="2"/>
              </a:rPr>
              <a:t> </a:t>
            </a:r>
            <a:r>
              <a:rPr lang="zh-CN" altLang="en-US" sz="2000" b="1" dirty="0">
                <a:solidFill>
                  <a:srgbClr val="000066"/>
                </a:solidFill>
                <a:ea typeface="幼圆" panose="02010509060101010101" pitchFamily="49" charset="-122"/>
                <a:cs typeface="Times New Roman" panose="02020603050405020304" pitchFamily="18" charset="0"/>
              </a:rPr>
              <a:t>，取</a:t>
            </a:r>
            <a:r>
              <a:rPr lang="en-US" altLang="zh-CN" sz="2000" b="1" dirty="0" err="1">
                <a:solidFill>
                  <a:srgbClr val="000066"/>
                </a:solidFill>
                <a:ea typeface="幼圆" panose="02010509060101010101" pitchFamily="49" charset="-122"/>
                <a:cs typeface="Times New Roman" panose="02020603050405020304" pitchFamily="18" charset="0"/>
              </a:rPr>
              <a:t>dz</a:t>
            </a:r>
            <a:r>
              <a:rPr lang="en-US" altLang="zh-CN" sz="2000" b="1" dirty="0">
                <a:solidFill>
                  <a:srgbClr val="000066"/>
                </a:solidFill>
                <a:ea typeface="幼圆" panose="02010509060101010101" pitchFamily="49" charset="-122"/>
                <a:cs typeface="Times New Roman" panose="02020603050405020304" pitchFamily="18" charset="0"/>
              </a:rPr>
              <a:t>/d</a:t>
            </a:r>
            <a:r>
              <a:rPr lang="en-US" altLang="zh-CN"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=0</a:t>
            </a:r>
            <a:r>
              <a:rPr lang="zh-CN" altLang="en-US" sz="2000" b="1" dirty="0">
                <a:solidFill>
                  <a:srgbClr val="000066"/>
                </a:solidFill>
                <a:ea typeface="幼圆" panose="02010509060101010101" pitchFamily="49" charset="-122"/>
                <a:cs typeface="Times New Roman" panose="02020603050405020304" pitchFamily="18" charset="0"/>
              </a:rPr>
              <a:t>，可得：</a:t>
            </a:r>
            <a:endParaRPr lang="en-US" altLang="zh-CN" sz="2000" b="1" dirty="0">
              <a:solidFill>
                <a:srgbClr val="000066"/>
              </a:solidFill>
              <a:ea typeface="幼圆" panose="02010509060101010101" pitchFamily="49" charset="-122"/>
              <a:cs typeface="Times New Roman" panose="02020603050405020304" pitchFamily="18" charset="0"/>
            </a:endParaRPr>
          </a:p>
        </p:txBody>
      </p:sp>
      <p:graphicFrame>
        <p:nvGraphicFramePr>
          <p:cNvPr id="76" name="Object 39"/>
          <p:cNvGraphicFramePr>
            <a:graphicFrameLocks noChangeAspect="1"/>
          </p:cNvGraphicFramePr>
          <p:nvPr>
            <p:extLst/>
          </p:nvPr>
        </p:nvGraphicFramePr>
        <p:xfrm>
          <a:off x="1273826" y="2737568"/>
          <a:ext cx="3633787" cy="776288"/>
        </p:xfrm>
        <a:graphic>
          <a:graphicData uri="http://schemas.openxmlformats.org/presentationml/2006/ole">
            <mc:AlternateContent xmlns:mc="http://schemas.openxmlformats.org/markup-compatibility/2006">
              <mc:Choice xmlns:v="urn:schemas-microsoft-com:vml" Requires="v">
                <p:oleObj spid="_x0000_s1803974" name="Microsoft 公式 3.0" r:id="rId4" imgW="2019240" imgH="431640" progId="Equation.3">
                  <p:embed/>
                </p:oleObj>
              </mc:Choice>
              <mc:Fallback>
                <p:oleObj name="Microsoft 公式 3.0" r:id="rId4" imgW="2019240" imgH="431640" progId="Equation.3">
                  <p:embed/>
                  <p:pic>
                    <p:nvPicPr>
                      <p:cNvPr id="76" name="Object 39"/>
                      <p:cNvPicPr>
                        <a:picLocks noChangeAspect="1" noChangeArrowheads="1"/>
                      </p:cNvPicPr>
                      <p:nvPr/>
                    </p:nvPicPr>
                    <p:blipFill>
                      <a:blip r:embed="rId5"/>
                      <a:srcRect/>
                      <a:stretch>
                        <a:fillRect/>
                      </a:stretch>
                    </p:blipFill>
                    <p:spPr bwMode="auto">
                      <a:xfrm>
                        <a:off x="1273826" y="2737568"/>
                        <a:ext cx="3633787" cy="776288"/>
                      </a:xfrm>
                      <a:prstGeom prst="rect">
                        <a:avLst/>
                      </a:prstGeom>
                      <a:noFill/>
                      <a:ln w="9525">
                        <a:noFill/>
                        <a:miter lim="800000"/>
                        <a:headEnd/>
                        <a:tailEnd/>
                      </a:ln>
                    </p:spPr>
                  </p:pic>
                </p:oleObj>
              </mc:Fallback>
            </mc:AlternateContent>
          </a:graphicData>
        </a:graphic>
      </p:graphicFrame>
      <p:graphicFrame>
        <p:nvGraphicFramePr>
          <p:cNvPr id="57" name="Object 39"/>
          <p:cNvGraphicFramePr>
            <a:graphicFrameLocks noChangeAspect="1"/>
          </p:cNvGraphicFramePr>
          <p:nvPr>
            <p:extLst/>
          </p:nvPr>
        </p:nvGraphicFramePr>
        <p:xfrm>
          <a:off x="1802897" y="3786215"/>
          <a:ext cx="1624012" cy="365125"/>
        </p:xfrm>
        <a:graphic>
          <a:graphicData uri="http://schemas.openxmlformats.org/presentationml/2006/ole">
            <mc:AlternateContent xmlns:mc="http://schemas.openxmlformats.org/markup-compatibility/2006">
              <mc:Choice xmlns:v="urn:schemas-microsoft-com:vml" Requires="v">
                <p:oleObj spid="_x0000_s1803975" name="Microsoft 公式 3.0" r:id="rId6" imgW="901440" imgH="203040" progId="Equation.3">
                  <p:embed/>
                </p:oleObj>
              </mc:Choice>
              <mc:Fallback>
                <p:oleObj name="Microsoft 公式 3.0" r:id="rId6" imgW="901440" imgH="203040" progId="Equation.3">
                  <p:embed/>
                  <p:pic>
                    <p:nvPicPr>
                      <p:cNvPr id="57" name="Object 39"/>
                      <p:cNvPicPr>
                        <a:picLocks noChangeAspect="1" noChangeArrowheads="1"/>
                      </p:cNvPicPr>
                      <p:nvPr/>
                    </p:nvPicPr>
                    <p:blipFill>
                      <a:blip r:embed="rId7"/>
                      <a:srcRect/>
                      <a:stretch>
                        <a:fillRect/>
                      </a:stretch>
                    </p:blipFill>
                    <p:spPr bwMode="auto">
                      <a:xfrm>
                        <a:off x="1802897" y="3786215"/>
                        <a:ext cx="1624012" cy="365125"/>
                      </a:xfrm>
                      <a:prstGeom prst="rect">
                        <a:avLst/>
                      </a:prstGeom>
                      <a:noFill/>
                      <a:ln w="9525">
                        <a:noFill/>
                        <a:miter lim="800000"/>
                        <a:headEnd/>
                        <a:tailEnd/>
                      </a:ln>
                    </p:spPr>
                  </p:pic>
                </p:oleObj>
              </mc:Fallback>
            </mc:AlternateContent>
          </a:graphicData>
        </a:graphic>
      </p:graphicFrame>
      <p:sp>
        <p:nvSpPr>
          <p:cNvPr id="58" name="AutoShape 5"/>
          <p:cNvSpPr>
            <a:spLocks noChangeArrowheads="1"/>
          </p:cNvSpPr>
          <p:nvPr/>
        </p:nvSpPr>
        <p:spPr bwMode="auto">
          <a:xfrm>
            <a:off x="1321296" y="3797046"/>
            <a:ext cx="356430" cy="329679"/>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59" name="AutoShape 5"/>
          <p:cNvSpPr>
            <a:spLocks noChangeArrowheads="1"/>
          </p:cNvSpPr>
          <p:nvPr/>
        </p:nvSpPr>
        <p:spPr bwMode="auto">
          <a:xfrm>
            <a:off x="3747770" y="3798370"/>
            <a:ext cx="356430" cy="329679"/>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graphicFrame>
        <p:nvGraphicFramePr>
          <p:cNvPr id="60" name="Object 39"/>
          <p:cNvGraphicFramePr>
            <a:graphicFrameLocks noChangeAspect="1"/>
          </p:cNvGraphicFramePr>
          <p:nvPr>
            <p:extLst/>
          </p:nvPr>
        </p:nvGraphicFramePr>
        <p:xfrm>
          <a:off x="4261582" y="3596668"/>
          <a:ext cx="1258887" cy="730250"/>
        </p:xfrm>
        <a:graphic>
          <a:graphicData uri="http://schemas.openxmlformats.org/presentationml/2006/ole">
            <mc:AlternateContent xmlns:mc="http://schemas.openxmlformats.org/markup-compatibility/2006">
              <mc:Choice xmlns:v="urn:schemas-microsoft-com:vml" Requires="v">
                <p:oleObj spid="_x0000_s1803976" name="Microsoft 公式 3.0" r:id="rId8" imgW="698400" imgH="406080" progId="Equation.3">
                  <p:embed/>
                </p:oleObj>
              </mc:Choice>
              <mc:Fallback>
                <p:oleObj name="Microsoft 公式 3.0" r:id="rId8" imgW="698400" imgH="406080" progId="Equation.3">
                  <p:embed/>
                  <p:pic>
                    <p:nvPicPr>
                      <p:cNvPr id="60" name="Object 39"/>
                      <p:cNvPicPr>
                        <a:picLocks noChangeAspect="1" noChangeArrowheads="1"/>
                      </p:cNvPicPr>
                      <p:nvPr/>
                    </p:nvPicPr>
                    <p:blipFill>
                      <a:blip r:embed="rId9"/>
                      <a:srcRect/>
                      <a:stretch>
                        <a:fillRect/>
                      </a:stretch>
                    </p:blipFill>
                    <p:spPr bwMode="auto">
                      <a:xfrm>
                        <a:off x="4261582" y="3596668"/>
                        <a:ext cx="1258887" cy="730250"/>
                      </a:xfrm>
                      <a:prstGeom prst="rect">
                        <a:avLst/>
                      </a:prstGeom>
                      <a:noFill/>
                      <a:ln w="9525">
                        <a:noFill/>
                        <a:miter lim="800000"/>
                        <a:headEnd/>
                        <a:tailEnd/>
                      </a:ln>
                    </p:spPr>
                  </p:pic>
                </p:oleObj>
              </mc:Fallback>
            </mc:AlternateContent>
          </a:graphicData>
        </a:graphic>
      </p:graphicFrame>
      <p:sp>
        <p:nvSpPr>
          <p:cNvPr id="61" name="矩形 60"/>
          <p:cNvSpPr/>
          <p:nvPr/>
        </p:nvSpPr>
        <p:spPr>
          <a:xfrm>
            <a:off x="1306707" y="4347340"/>
            <a:ext cx="7264800"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代入深度</a:t>
            </a:r>
            <a:r>
              <a:rPr lang="en-US" altLang="zh-CN" sz="2000" b="1" dirty="0">
                <a:solidFill>
                  <a:srgbClr val="000066"/>
                </a:solidFill>
                <a:ea typeface="幼圆" panose="02010509060101010101" pitchFamily="49" charset="-122"/>
                <a:cs typeface="Times New Roman" panose="02020603050405020304" pitchFamily="18" charset="0"/>
              </a:rPr>
              <a:t>z</a:t>
            </a:r>
            <a:r>
              <a:rPr lang="zh-CN" altLang="en-US" sz="2000" b="1" dirty="0">
                <a:solidFill>
                  <a:srgbClr val="000066"/>
                </a:solidFill>
                <a:ea typeface="幼圆" panose="02010509060101010101" pitchFamily="49" charset="-122"/>
                <a:cs typeface="Times New Roman" panose="02020603050405020304" pitchFamily="18" charset="0"/>
              </a:rPr>
              <a:t>的表达式，可得极限平衡区最大深度的计算公式：</a:t>
            </a:r>
            <a:endParaRPr lang="en-US" altLang="zh-CN" sz="2000" b="1" dirty="0">
              <a:solidFill>
                <a:srgbClr val="000066"/>
              </a:solidFill>
              <a:ea typeface="幼圆" panose="02010509060101010101" pitchFamily="49" charset="-122"/>
              <a:cs typeface="Times New Roman" panose="02020603050405020304" pitchFamily="18" charset="0"/>
            </a:endParaRPr>
          </a:p>
        </p:txBody>
      </p:sp>
      <p:graphicFrame>
        <p:nvGraphicFramePr>
          <p:cNvPr id="63" name="Object 3"/>
          <p:cNvGraphicFramePr>
            <a:graphicFrameLocks noChangeAspect="1"/>
          </p:cNvGraphicFramePr>
          <p:nvPr/>
        </p:nvGraphicFramePr>
        <p:xfrm>
          <a:off x="1695340" y="4848170"/>
          <a:ext cx="5165856" cy="776952"/>
        </p:xfrm>
        <a:graphic>
          <a:graphicData uri="http://schemas.openxmlformats.org/presentationml/2006/ole">
            <mc:AlternateContent xmlns:mc="http://schemas.openxmlformats.org/markup-compatibility/2006">
              <mc:Choice xmlns:v="urn:schemas-microsoft-com:vml" Requires="v">
                <p:oleObj spid="_x0000_s1803977" name="Microsoft 公式 3.0" r:id="rId10" imgW="2869920" imgH="431640" progId="Equation.3">
                  <p:embed/>
                </p:oleObj>
              </mc:Choice>
              <mc:Fallback>
                <p:oleObj name="Microsoft 公式 3.0" r:id="rId10" imgW="2869920" imgH="431640" progId="Equation.3">
                  <p:embed/>
                  <p:pic>
                    <p:nvPicPr>
                      <p:cNvPr id="63" name="Object 3"/>
                      <p:cNvPicPr>
                        <a:picLocks noChangeAspect="1" noChangeArrowheads="1"/>
                      </p:cNvPicPr>
                      <p:nvPr/>
                    </p:nvPicPr>
                    <p:blipFill>
                      <a:blip r:embed="rId11"/>
                      <a:srcRect/>
                      <a:stretch>
                        <a:fillRect/>
                      </a:stretch>
                    </p:blipFill>
                    <p:spPr bwMode="auto">
                      <a:xfrm>
                        <a:off x="1695340" y="4848170"/>
                        <a:ext cx="5165856" cy="776952"/>
                      </a:xfrm>
                      <a:prstGeom prst="rect">
                        <a:avLst/>
                      </a:prstGeom>
                      <a:noFill/>
                      <a:ln w="9525">
                        <a:noFill/>
                        <a:miter lim="800000"/>
                        <a:headEnd/>
                        <a:tailEnd/>
                      </a:ln>
                    </p:spPr>
                  </p:pic>
                </p:oleObj>
              </mc:Fallback>
            </mc:AlternateContent>
          </a:graphicData>
        </a:graphic>
      </p:graphicFrame>
      <p:sp>
        <p:nvSpPr>
          <p:cNvPr id="67" name="椭圆 66"/>
          <p:cNvSpPr/>
          <p:nvPr/>
        </p:nvSpPr>
        <p:spPr bwMode="auto">
          <a:xfrm>
            <a:off x="6447628" y="2495173"/>
            <a:ext cx="62240" cy="62240"/>
          </a:xfrm>
          <a:prstGeom prst="ellipse">
            <a:avLst/>
          </a:prstGeom>
          <a:solidFill>
            <a:srgbClr val="000066"/>
          </a:solid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8" name="任意多边形 67"/>
          <p:cNvSpPr/>
          <p:nvPr/>
        </p:nvSpPr>
        <p:spPr bwMode="auto">
          <a:xfrm>
            <a:off x="6475907" y="1735872"/>
            <a:ext cx="1273397" cy="795691"/>
          </a:xfrm>
          <a:custGeom>
            <a:avLst/>
            <a:gdLst>
              <a:gd name="connsiteX0" fmla="*/ 163032 w 1148316"/>
              <a:gd name="connsiteY0" fmla="*/ 14177 h 1304260"/>
              <a:gd name="connsiteX1" fmla="*/ 0 w 1148316"/>
              <a:gd name="connsiteY1" fmla="*/ 1304260 h 1304260"/>
              <a:gd name="connsiteX2" fmla="*/ 1148316 w 1148316"/>
              <a:gd name="connsiteY2" fmla="*/ 0 h 1304260"/>
              <a:gd name="connsiteX0" fmla="*/ 142935 w 1148316"/>
              <a:gd name="connsiteY0" fmla="*/ 54370 h 1304260"/>
              <a:gd name="connsiteX1" fmla="*/ 0 w 1148316"/>
              <a:gd name="connsiteY1" fmla="*/ 1304260 h 1304260"/>
              <a:gd name="connsiteX2" fmla="*/ 1148316 w 1148316"/>
              <a:gd name="connsiteY2" fmla="*/ 0 h 1304260"/>
              <a:gd name="connsiteX0" fmla="*/ 142935 w 1111472"/>
              <a:gd name="connsiteY0" fmla="*/ 10828 h 1260718"/>
              <a:gd name="connsiteX1" fmla="*/ 0 w 1111472"/>
              <a:gd name="connsiteY1" fmla="*/ 1260718 h 1260718"/>
              <a:gd name="connsiteX2" fmla="*/ 1111472 w 1111472"/>
              <a:gd name="connsiteY2" fmla="*/ 0 h 1260718"/>
              <a:gd name="connsiteX0" fmla="*/ 136236 w 1111472"/>
              <a:gd name="connsiteY0" fmla="*/ 14177 h 1260718"/>
              <a:gd name="connsiteX1" fmla="*/ 0 w 1111472"/>
              <a:gd name="connsiteY1" fmla="*/ 1260718 h 1260718"/>
              <a:gd name="connsiteX2" fmla="*/ 1111472 w 1111472"/>
              <a:gd name="connsiteY2" fmla="*/ 0 h 1260718"/>
              <a:gd name="connsiteX0" fmla="*/ 136236 w 1273397"/>
              <a:gd name="connsiteY0" fmla="*/ 0 h 1246541"/>
              <a:gd name="connsiteX1" fmla="*/ 0 w 1273397"/>
              <a:gd name="connsiteY1" fmla="*/ 1246541 h 1246541"/>
              <a:gd name="connsiteX2" fmla="*/ 1273397 w 1273397"/>
              <a:gd name="connsiteY2" fmla="*/ 468423 h 1246541"/>
              <a:gd name="connsiteX0" fmla="*/ 136236 w 1273397"/>
              <a:gd name="connsiteY0" fmla="*/ 0 h 1246541"/>
              <a:gd name="connsiteX1" fmla="*/ 0 w 1273397"/>
              <a:gd name="connsiteY1" fmla="*/ 1246541 h 1246541"/>
              <a:gd name="connsiteX2" fmla="*/ 1273397 w 1273397"/>
              <a:gd name="connsiteY2" fmla="*/ 468423 h 1246541"/>
              <a:gd name="connsiteX0" fmla="*/ 304511 w 1273397"/>
              <a:gd name="connsiteY0" fmla="*/ 0 h 795691"/>
              <a:gd name="connsiteX1" fmla="*/ 0 w 1273397"/>
              <a:gd name="connsiteY1" fmla="*/ 795691 h 795691"/>
              <a:gd name="connsiteX2" fmla="*/ 1273397 w 1273397"/>
              <a:gd name="connsiteY2" fmla="*/ 17573 h 795691"/>
            </a:gdLst>
            <a:ahLst/>
            <a:cxnLst>
              <a:cxn ang="0">
                <a:pos x="connsiteX0" y="connsiteY0"/>
              </a:cxn>
              <a:cxn ang="0">
                <a:pos x="connsiteX1" y="connsiteY1"/>
              </a:cxn>
              <a:cxn ang="0">
                <a:pos x="connsiteX2" y="connsiteY2"/>
              </a:cxn>
            </a:cxnLst>
            <a:rect l="l" t="t" r="r" b="b"/>
            <a:pathLst>
              <a:path w="1273397" h="795691">
                <a:moveTo>
                  <a:pt x="304511" y="0"/>
                </a:moveTo>
                <a:lnTo>
                  <a:pt x="0" y="795691"/>
                </a:lnTo>
                <a:lnTo>
                  <a:pt x="1273397" y="17573"/>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9" name="Freeform 185"/>
          <p:cNvSpPr>
            <a:spLocks/>
          </p:cNvSpPr>
          <p:nvPr/>
        </p:nvSpPr>
        <p:spPr bwMode="auto">
          <a:xfrm rot="19023617">
            <a:off x="6658913" y="2154476"/>
            <a:ext cx="86196" cy="232729"/>
          </a:xfrm>
          <a:custGeom>
            <a:avLst/>
            <a:gdLst>
              <a:gd name="T0" fmla="*/ 70 w 70"/>
              <a:gd name="T1" fmla="*/ 189 h 189"/>
              <a:gd name="T2" fmla="*/ 58 w 70"/>
              <a:gd name="T3" fmla="*/ 96 h 189"/>
              <a:gd name="T4" fmla="*/ 0 w 70"/>
              <a:gd name="T5" fmla="*/ 0 h 189"/>
              <a:gd name="T6" fmla="*/ 0 60000 65536"/>
              <a:gd name="T7" fmla="*/ 0 60000 65536"/>
              <a:gd name="T8" fmla="*/ 0 60000 65536"/>
              <a:gd name="T9" fmla="*/ 0 w 70"/>
              <a:gd name="T10" fmla="*/ 0 h 189"/>
              <a:gd name="T11" fmla="*/ 70 w 70"/>
              <a:gd name="T12" fmla="*/ 189 h 189"/>
            </a:gdLst>
            <a:ahLst/>
            <a:cxnLst>
              <a:cxn ang="T6">
                <a:pos x="T0" y="T1"/>
              </a:cxn>
              <a:cxn ang="T7">
                <a:pos x="T2" y="T3"/>
              </a:cxn>
              <a:cxn ang="T8">
                <a:pos x="T4" y="T5"/>
              </a:cxn>
            </a:cxnLst>
            <a:rect l="T9" t="T10" r="T11" b="T12"/>
            <a:pathLst>
              <a:path w="70" h="189">
                <a:moveTo>
                  <a:pt x="70" y="189"/>
                </a:moveTo>
                <a:cubicBezTo>
                  <a:pt x="70" y="158"/>
                  <a:pt x="70" y="127"/>
                  <a:pt x="58" y="96"/>
                </a:cubicBezTo>
                <a:cubicBezTo>
                  <a:pt x="46" y="65"/>
                  <a:pt x="23" y="32"/>
                  <a:pt x="0" y="0"/>
                </a:cubicBezTo>
              </a:path>
            </a:pathLst>
          </a:custGeom>
          <a:noFill/>
          <a:ln w="12700" cmpd="sng">
            <a:solidFill>
              <a:schemeClr val="tx1"/>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 name="Text Box 208"/>
          <p:cNvSpPr txBox="1">
            <a:spLocks noChangeArrowheads="1"/>
          </p:cNvSpPr>
          <p:nvPr/>
        </p:nvSpPr>
        <p:spPr bwMode="auto">
          <a:xfrm>
            <a:off x="6650450" y="1892270"/>
            <a:ext cx="4539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dirty="0">
                <a:solidFill>
                  <a:srgbClr val="A50021"/>
                </a:solidFill>
                <a:ea typeface="幼圆" pitchFamily="49" charset="-122"/>
                <a:sym typeface="Symbol" pitchFamily="18" charset="2"/>
              </a:rPr>
              <a:t>2</a:t>
            </a:r>
            <a:r>
              <a:rPr lang="zh-CN" altLang="en-US" sz="2000" b="1" i="1" dirty="0">
                <a:solidFill>
                  <a:srgbClr val="A50021"/>
                </a:solidFill>
                <a:ea typeface="幼圆" pitchFamily="49" charset="-122"/>
                <a:sym typeface="Symbol" pitchFamily="18" charset="2"/>
              </a:rPr>
              <a:t></a:t>
            </a:r>
          </a:p>
        </p:txBody>
      </p:sp>
      <p:sp>
        <p:nvSpPr>
          <p:cNvPr id="65"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grpSp>
        <p:nvGrpSpPr>
          <p:cNvPr id="72" name="组合 71"/>
          <p:cNvGrpSpPr/>
          <p:nvPr/>
        </p:nvGrpSpPr>
        <p:grpSpPr>
          <a:xfrm>
            <a:off x="6760546" y="1029715"/>
            <a:ext cx="986232" cy="108000"/>
            <a:chOff x="6348986" y="3976340"/>
            <a:chExt cx="1362333" cy="109926"/>
          </a:xfrm>
        </p:grpSpPr>
        <p:cxnSp>
          <p:nvCxnSpPr>
            <p:cNvPr id="73" name="直接连接符 72"/>
            <p:cNvCxnSpPr/>
            <p:nvPr/>
          </p:nvCxnSpPr>
          <p:spPr bwMode="auto">
            <a:xfrm>
              <a:off x="6348986" y="3981335"/>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73"/>
            <p:cNvCxnSpPr/>
            <p:nvPr/>
          </p:nvCxnSpPr>
          <p:spPr bwMode="auto">
            <a:xfrm>
              <a:off x="7697372" y="3976340"/>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76"/>
            <p:cNvCxnSpPr/>
            <p:nvPr/>
          </p:nvCxnSpPr>
          <p:spPr bwMode="auto">
            <a:xfrm>
              <a:off x="6348987" y="4047235"/>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8" name="Text Box 21"/>
          <p:cNvSpPr txBox="1">
            <a:spLocks noChangeArrowheads="1"/>
          </p:cNvSpPr>
          <p:nvPr/>
        </p:nvSpPr>
        <p:spPr bwMode="auto">
          <a:xfrm>
            <a:off x="7116810" y="692937"/>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spTree>
    <p:extLst>
      <p:ext uri="{BB962C8B-B14F-4D97-AF65-F5344CB8AC3E}">
        <p14:creationId xmlns:p14="http://schemas.microsoft.com/office/powerpoint/2010/main" val="362041143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1" fill="hold" grpId="0" nodeType="afterEffect">
                                  <p:stCondLst>
                                    <p:cond delay="0"/>
                                  </p:stCondLst>
                                  <p:childTnLst>
                                    <p:set>
                                      <p:cBhvr>
                                        <p:cTn id="12" dur="1" fill="hold">
                                          <p:stCondLst>
                                            <p:cond delay="0"/>
                                          </p:stCondLst>
                                        </p:cTn>
                                        <p:tgtEl>
                                          <p:spTgt spid="75"/>
                                        </p:tgtEl>
                                        <p:attrNameLst>
                                          <p:attrName>style.visibility</p:attrName>
                                        </p:attrNameLst>
                                      </p:cBhvr>
                                      <p:to>
                                        <p:strVal val="visible"/>
                                      </p:to>
                                    </p:set>
                                    <p:animEffect transition="in" filter="barn(inVertical)">
                                      <p:cBhvr>
                                        <p:cTn id="13" dur="500"/>
                                        <p:tgtEl>
                                          <p:spTgt spid="75"/>
                                        </p:tgtEl>
                                      </p:cBhvr>
                                    </p:animEffect>
                                  </p:childTnLst>
                                </p:cTn>
                              </p:par>
                            </p:childTnLst>
                          </p:cTn>
                        </p:par>
                        <p:par>
                          <p:cTn id="14" fill="hold">
                            <p:stCondLst>
                              <p:cond delay="1500"/>
                            </p:stCondLst>
                            <p:childTnLst>
                              <p:par>
                                <p:cTn id="15" presetID="9" presetClass="entr" presetSubtype="0" fill="hold" nodeType="after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dissolve">
                                      <p:cBhvr>
                                        <p:cTn id="17" dur="500"/>
                                        <p:tgtEl>
                                          <p:spTgt spid="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wipe(left)">
                                      <p:cBhvr>
                                        <p:cTn id="22" dur="1000"/>
                                        <p:tgtEl>
                                          <p:spTgt spid="58"/>
                                        </p:tgtEl>
                                      </p:cBhvr>
                                    </p:animEffect>
                                  </p:childTnLst>
                                </p:cTn>
                              </p:par>
                            </p:childTnLst>
                          </p:cTn>
                        </p:par>
                        <p:par>
                          <p:cTn id="23" fill="hold">
                            <p:stCondLst>
                              <p:cond delay="1000"/>
                            </p:stCondLst>
                            <p:childTnLst>
                              <p:par>
                                <p:cTn id="24" presetID="9" presetClass="entr" presetSubtype="0" fill="hold" nodeType="after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dissolve">
                                      <p:cBhvr>
                                        <p:cTn id="26" dur="500"/>
                                        <p:tgtEl>
                                          <p:spTgt spid="57"/>
                                        </p:tgtEl>
                                      </p:cBhvr>
                                    </p:animEffect>
                                  </p:childTnLst>
                                </p:cTn>
                              </p:par>
                            </p:childTnLst>
                          </p:cTn>
                        </p:par>
                        <p:par>
                          <p:cTn id="27" fill="hold">
                            <p:stCondLst>
                              <p:cond delay="1500"/>
                            </p:stCondLst>
                            <p:childTnLst>
                              <p:par>
                                <p:cTn id="28" presetID="22" presetClass="entr" presetSubtype="8" fill="hold" grpId="0" nodeType="after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wipe(left)">
                                      <p:cBhvr>
                                        <p:cTn id="30" dur="1000"/>
                                        <p:tgtEl>
                                          <p:spTgt spid="59"/>
                                        </p:tgtEl>
                                      </p:cBhvr>
                                    </p:animEffect>
                                  </p:childTnLst>
                                </p:cTn>
                              </p:par>
                            </p:childTnLst>
                          </p:cTn>
                        </p:par>
                        <p:par>
                          <p:cTn id="31" fill="hold">
                            <p:stCondLst>
                              <p:cond delay="2500"/>
                            </p:stCondLst>
                            <p:childTnLst>
                              <p:par>
                                <p:cTn id="32" presetID="9" presetClass="entr" presetSubtype="0" fill="hold" nodeType="after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dissolve">
                                      <p:cBhvr>
                                        <p:cTn id="34" dur="500"/>
                                        <p:tgtEl>
                                          <p:spTgt spid="60"/>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barn(inVertical)">
                                      <p:cBhvr>
                                        <p:cTn id="39" dur="500"/>
                                        <p:tgtEl>
                                          <p:spTgt spid="61"/>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63"/>
                                        </p:tgtEl>
                                        <p:attrNameLst>
                                          <p:attrName>style.visibility</p:attrName>
                                        </p:attrNameLst>
                                      </p:cBhvr>
                                      <p:to>
                                        <p:strVal val="visible"/>
                                      </p:to>
                                    </p:set>
                                    <p:animEffect transition="in" filter="wipe(left)">
                                      <p:cBhvr>
                                        <p:cTn id="4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P spid="75" grpId="0"/>
      <p:bldP spid="58" grpId="0" animBg="1"/>
      <p:bldP spid="59" grpId="0" animBg="1"/>
      <p:bldP spid="6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bwMode="auto">
          <a:xfrm>
            <a:off x="6014330" y="3229979"/>
            <a:ext cx="2984196" cy="750494"/>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28</a:t>
            </a:fld>
            <a:endParaRPr lang="zh-CN" altLang="en-US" dirty="0">
              <a:solidFill>
                <a:srgbClr val="C00000"/>
              </a:solidFill>
            </a:endParaRPr>
          </a:p>
        </p:txBody>
      </p:sp>
      <p:sp>
        <p:nvSpPr>
          <p:cNvPr id="13"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条形均布荷载</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832238" y="1401721"/>
            <a:ext cx="2514466" cy="36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6"/>
            </a:pPr>
            <a:r>
              <a:rPr lang="zh-CN" altLang="en-US" sz="2200" b="1" dirty="0">
                <a:solidFill>
                  <a:srgbClr val="800000"/>
                </a:solidFill>
                <a:ea typeface="幼圆" pitchFamily="49" charset="-122"/>
                <a:cs typeface="Times New Roman" panose="02020603050405020304" pitchFamily="18" charset="0"/>
                <a:sym typeface="Symbol" pitchFamily="18" charset="2"/>
              </a:rPr>
              <a:t>临塑荷载 </a:t>
            </a:r>
            <a:r>
              <a:rPr lang="en-US" altLang="zh-CN" sz="2200" b="1" i="1" dirty="0" err="1">
                <a:solidFill>
                  <a:srgbClr val="800000"/>
                </a:solidFill>
                <a:ea typeface="幼圆" panose="02010509060101010101" pitchFamily="49" charset="-122"/>
                <a:cs typeface="Times New Roman" panose="02020603050405020304" pitchFamily="18" charset="0"/>
              </a:rPr>
              <a:t>p</a:t>
            </a:r>
            <a:r>
              <a:rPr lang="en-US" altLang="zh-CN" sz="2200" b="1" baseline="-25000" dirty="0" err="1">
                <a:solidFill>
                  <a:srgbClr val="800000"/>
                </a:solidFill>
                <a:ea typeface="幼圆" panose="02010509060101010101" pitchFamily="49" charset="-122"/>
                <a:cs typeface="Times New Roman" panose="02020603050405020304" pitchFamily="18" charset="0"/>
              </a:rPr>
              <a:t>cr</a:t>
            </a:r>
            <a:r>
              <a:rPr lang="en-US" altLang="zh-CN" sz="2000" b="1" baseline="-25000" dirty="0">
                <a:solidFill>
                  <a:srgbClr val="800000"/>
                </a:solidFill>
                <a:ea typeface="幼圆" panose="02010509060101010101" pitchFamily="49" charset="-122"/>
                <a:cs typeface="Times New Roman" panose="02020603050405020304" pitchFamily="18" charset="0"/>
              </a:rPr>
              <a:t> </a:t>
            </a:r>
            <a:r>
              <a:rPr lang="zh-CN" altLang="en-US" sz="2200" b="1" dirty="0">
                <a:solidFill>
                  <a:srgbClr val="800000"/>
                </a:solidFill>
                <a:ea typeface="幼圆" pitchFamily="49" charset="-122"/>
                <a:cs typeface="Times New Roman" panose="02020603050405020304" pitchFamily="18" charset="0"/>
                <a:sym typeface="Symbol" pitchFamily="18" charset="2"/>
              </a:rPr>
              <a:t>：</a:t>
            </a:r>
            <a:endParaRPr lang="zh-CN" altLang="en-US" sz="2200" b="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临塑和临界荷载计算</a:t>
            </a:r>
          </a:p>
        </p:txBody>
      </p:sp>
      <p:sp>
        <p:nvSpPr>
          <p:cNvPr id="23" name="Text Box 21"/>
          <p:cNvSpPr txBox="1">
            <a:spLocks noChangeArrowheads="1"/>
          </p:cNvSpPr>
          <p:nvPr/>
        </p:nvSpPr>
        <p:spPr bwMode="auto">
          <a:xfrm>
            <a:off x="5945698" y="2457728"/>
            <a:ext cx="896399"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36" name="矩形 35"/>
          <p:cNvSpPr/>
          <p:nvPr/>
        </p:nvSpPr>
        <p:spPr>
          <a:xfrm>
            <a:off x="7901153" y="2320782"/>
            <a:ext cx="571620" cy="461665"/>
          </a:xfrm>
          <a:prstGeom prst="rect">
            <a:avLst/>
          </a:prstGeom>
        </p:spPr>
        <p:txBody>
          <a:bodyPr wrap="square">
            <a:spAutoFit/>
          </a:bodyPr>
          <a:lstStyle/>
          <a:p>
            <a:pPr algn="ctr">
              <a:lnSpc>
                <a:spcPct val="100000"/>
              </a:lnSpc>
              <a:buClr>
                <a:srgbClr val="C00000"/>
              </a:buClr>
            </a:pPr>
            <a:r>
              <a:rPr lang="en-US" altLang="zh-CN" sz="2400" b="1" i="1" dirty="0">
                <a:solidFill>
                  <a:srgbClr val="000066"/>
                </a:solidFill>
                <a:ea typeface="幼圆" panose="02010509060101010101" pitchFamily="49" charset="-122"/>
                <a:cs typeface="Times New Roman" panose="02020603050405020304" pitchFamily="18" charset="0"/>
              </a:rPr>
              <a:t>p</a:t>
            </a:r>
            <a:endParaRPr lang="zh-CN" altLang="en-US" sz="2400" b="1" i="1" dirty="0">
              <a:solidFill>
                <a:srgbClr val="000066"/>
              </a:solidFill>
              <a:ea typeface="幼圆" panose="02010509060101010101" pitchFamily="49" charset="-122"/>
              <a:cs typeface="Times New Roman" panose="02020603050405020304" pitchFamily="18" charset="0"/>
            </a:endParaRPr>
          </a:p>
        </p:txBody>
      </p:sp>
      <p:grpSp>
        <p:nvGrpSpPr>
          <p:cNvPr id="7" name="组合 6"/>
          <p:cNvGrpSpPr/>
          <p:nvPr/>
        </p:nvGrpSpPr>
        <p:grpSpPr>
          <a:xfrm>
            <a:off x="7002648" y="2709009"/>
            <a:ext cx="972754" cy="531427"/>
            <a:chOff x="6252391" y="1449388"/>
            <a:chExt cx="1314450" cy="531427"/>
          </a:xfrm>
        </p:grpSpPr>
        <p:sp>
          <p:nvSpPr>
            <p:cNvPr id="8"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9" name="直接连接符 18"/>
          <p:cNvCxnSpPr/>
          <p:nvPr/>
        </p:nvCxnSpPr>
        <p:spPr bwMode="auto">
          <a:xfrm flipH="1">
            <a:off x="6982464" y="2694647"/>
            <a:ext cx="99987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Line 23"/>
          <p:cNvSpPr>
            <a:spLocks noChangeShapeType="1"/>
          </p:cNvSpPr>
          <p:nvPr/>
        </p:nvSpPr>
        <p:spPr bwMode="auto">
          <a:xfrm>
            <a:off x="6025934" y="3239002"/>
            <a:ext cx="2945372"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5"/>
          <p:cNvSpPr>
            <a:spLocks noChangeShapeType="1"/>
          </p:cNvSpPr>
          <p:nvPr/>
        </p:nvSpPr>
        <p:spPr bwMode="auto">
          <a:xfrm>
            <a:off x="6029894" y="305618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a:off x="6192020" y="297045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5"/>
          <p:cNvSpPr>
            <a:spLocks noChangeShapeType="1"/>
          </p:cNvSpPr>
          <p:nvPr/>
        </p:nvSpPr>
        <p:spPr bwMode="auto">
          <a:xfrm>
            <a:off x="6354145" y="297045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6516271" y="297045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p:cNvSpPr>
            <a:spLocks noChangeShapeType="1"/>
          </p:cNvSpPr>
          <p:nvPr/>
        </p:nvSpPr>
        <p:spPr bwMode="auto">
          <a:xfrm>
            <a:off x="6678397" y="297045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5"/>
          <p:cNvSpPr>
            <a:spLocks noChangeShapeType="1"/>
          </p:cNvSpPr>
          <p:nvPr/>
        </p:nvSpPr>
        <p:spPr bwMode="auto">
          <a:xfrm>
            <a:off x="6840522" y="297045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p:cNvSpPr>
            <a:spLocks noChangeShapeType="1"/>
          </p:cNvSpPr>
          <p:nvPr/>
        </p:nvSpPr>
        <p:spPr bwMode="auto">
          <a:xfrm>
            <a:off x="8138099" y="296229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5"/>
          <p:cNvSpPr>
            <a:spLocks noChangeShapeType="1"/>
          </p:cNvSpPr>
          <p:nvPr/>
        </p:nvSpPr>
        <p:spPr bwMode="auto">
          <a:xfrm>
            <a:off x="8300224" y="296229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p:cNvSpPr>
            <a:spLocks noChangeShapeType="1"/>
          </p:cNvSpPr>
          <p:nvPr/>
        </p:nvSpPr>
        <p:spPr bwMode="auto">
          <a:xfrm>
            <a:off x="8462350" y="296229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5"/>
          <p:cNvSpPr>
            <a:spLocks noChangeShapeType="1"/>
          </p:cNvSpPr>
          <p:nvPr/>
        </p:nvSpPr>
        <p:spPr bwMode="auto">
          <a:xfrm>
            <a:off x="8624476" y="296229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5"/>
          <p:cNvSpPr>
            <a:spLocks noChangeShapeType="1"/>
          </p:cNvSpPr>
          <p:nvPr/>
        </p:nvSpPr>
        <p:spPr bwMode="auto">
          <a:xfrm>
            <a:off x="8786601" y="296229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5"/>
          <p:cNvSpPr>
            <a:spLocks noChangeShapeType="1"/>
          </p:cNvSpPr>
          <p:nvPr/>
        </p:nvSpPr>
        <p:spPr bwMode="auto">
          <a:xfrm>
            <a:off x="8948727" y="296229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37" name="直接连接符 36"/>
          <p:cNvCxnSpPr/>
          <p:nvPr/>
        </p:nvCxnSpPr>
        <p:spPr bwMode="auto">
          <a:xfrm flipH="1">
            <a:off x="6023687" y="2957580"/>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p:cNvCxnSpPr/>
          <p:nvPr/>
        </p:nvCxnSpPr>
        <p:spPr bwMode="auto">
          <a:xfrm flipH="1">
            <a:off x="7975613" y="2948056"/>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7" name="Text Box 21"/>
          <p:cNvSpPr txBox="1">
            <a:spLocks noChangeArrowheads="1"/>
          </p:cNvSpPr>
          <p:nvPr/>
        </p:nvSpPr>
        <p:spPr bwMode="auto">
          <a:xfrm>
            <a:off x="7341002" y="2189020"/>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sp>
        <p:nvSpPr>
          <p:cNvPr id="252" name="Text Box 21"/>
          <p:cNvSpPr txBox="1">
            <a:spLocks noChangeArrowheads="1"/>
          </p:cNvSpPr>
          <p:nvPr/>
        </p:nvSpPr>
        <p:spPr bwMode="auto">
          <a:xfrm>
            <a:off x="6394286" y="3176223"/>
            <a:ext cx="311304" cy="477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sym typeface="Symbol" panose="05050102010706020507" pitchFamily="18" charset="2"/>
              </a:rPr>
              <a:t></a:t>
            </a:r>
            <a:endParaRPr kumimoji="1" lang="en-US" altLang="zh-CN" sz="2400" b="1" baseline="-25000" dirty="0">
              <a:solidFill>
                <a:srgbClr val="000066"/>
              </a:solidFill>
              <a:latin typeface="Times New Roman" panose="02020603050405020304" pitchFamily="18" charset="0"/>
            </a:endParaRPr>
          </a:p>
        </p:txBody>
      </p:sp>
      <p:sp>
        <p:nvSpPr>
          <p:cNvPr id="75" name="矩形 74"/>
          <p:cNvSpPr/>
          <p:nvPr/>
        </p:nvSpPr>
        <p:spPr>
          <a:xfrm>
            <a:off x="1183549" y="2240576"/>
            <a:ext cx="4037897"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令</a:t>
            </a:r>
            <a:r>
              <a:rPr lang="en-US" altLang="zh-CN" sz="2000" b="1" i="1" dirty="0" err="1">
                <a:solidFill>
                  <a:srgbClr val="000066"/>
                </a:solidFill>
                <a:ea typeface="幼圆" pitchFamily="49" charset="-122"/>
                <a:cs typeface="Times New Roman" panose="02020603050405020304" pitchFamily="18" charset="0"/>
                <a:sym typeface="Symbol" pitchFamily="18" charset="2"/>
              </a:rPr>
              <a:t>z</a:t>
            </a:r>
            <a:r>
              <a:rPr lang="en-US" altLang="zh-CN" sz="2000" b="1" baseline="-25000" dirty="0" err="1">
                <a:solidFill>
                  <a:srgbClr val="000066"/>
                </a:solidFill>
                <a:ea typeface="幼圆" pitchFamily="49" charset="-122"/>
                <a:cs typeface="Times New Roman" panose="02020603050405020304" pitchFamily="18" charset="0"/>
                <a:sym typeface="Symbol" pitchFamily="18" charset="2"/>
              </a:rPr>
              <a:t>max</a:t>
            </a:r>
            <a:r>
              <a:rPr lang="en-US" altLang="zh-CN" sz="2000" b="1" baseline="-25000" dirty="0">
                <a:solidFill>
                  <a:srgbClr val="000066"/>
                </a:solidFill>
                <a:ea typeface="幼圆" pitchFamily="49" charset="-122"/>
                <a:cs typeface="Times New Roman" panose="02020603050405020304" pitchFamily="18" charset="0"/>
                <a:sym typeface="Symbol" pitchFamily="18" charset="2"/>
              </a:rPr>
              <a:t> </a:t>
            </a:r>
            <a:r>
              <a:rPr lang="en-US" altLang="zh-CN" sz="2000" b="1" dirty="0">
                <a:solidFill>
                  <a:srgbClr val="000066"/>
                </a:solidFill>
                <a:ea typeface="幼圆" panose="02010509060101010101" pitchFamily="49" charset="-122"/>
                <a:cs typeface="Times New Roman" panose="02020603050405020304" pitchFamily="18" charset="0"/>
              </a:rPr>
              <a:t>=0</a:t>
            </a:r>
            <a:r>
              <a:rPr lang="zh-CN" altLang="en-US" sz="2000" b="1" dirty="0">
                <a:solidFill>
                  <a:srgbClr val="000066"/>
                </a:solidFill>
                <a:ea typeface="幼圆" panose="02010509060101010101" pitchFamily="49" charset="-122"/>
                <a:cs typeface="Times New Roman" panose="02020603050405020304" pitchFamily="18" charset="0"/>
              </a:rPr>
              <a:t>，整理可得：</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70" name="Rectangle 7"/>
          <p:cNvSpPr>
            <a:spLocks noChangeArrowheads="1"/>
          </p:cNvSpPr>
          <p:nvPr/>
        </p:nvSpPr>
        <p:spPr bwMode="auto">
          <a:xfrm>
            <a:off x="1318894" y="2917053"/>
            <a:ext cx="2971800" cy="609600"/>
          </a:xfrm>
          <a:prstGeom prst="rect">
            <a:avLst/>
          </a:prstGeom>
          <a:noFill/>
          <a:ln w="9525">
            <a:noFill/>
            <a:miter lim="800000"/>
            <a:headEnd/>
            <a:tailEnd/>
          </a:ln>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pPr>
            <a:r>
              <a:rPr lang="en-US" altLang="zh-CN" sz="28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p</a:t>
            </a:r>
            <a:r>
              <a:rPr lang="en-US" altLang="zh-CN" sz="28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cr</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sz="28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0</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a:t>
            </a:r>
            <a:r>
              <a:rPr lang="en-US" altLang="zh-CN" sz="28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dN</a:t>
            </a:r>
            <a:r>
              <a:rPr lang="en-US" altLang="zh-CN" sz="28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q</a:t>
            </a:r>
            <a:r>
              <a:rPr lang="en-US" altLang="zh-CN" sz="28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+cN</a:t>
            </a:r>
            <a:r>
              <a:rPr lang="en-US" altLang="zh-CN" sz="28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c</a:t>
            </a:r>
            <a:endParaRPr lang="en-US" altLang="zh-CN" sz="28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endParaRPr>
          </a:p>
        </p:txBody>
      </p:sp>
      <p:sp>
        <p:nvSpPr>
          <p:cNvPr id="72" name="Text Box 12"/>
          <p:cNvSpPr txBox="1">
            <a:spLocks noChangeArrowheads="1"/>
          </p:cNvSpPr>
          <p:nvPr/>
        </p:nvSpPr>
        <p:spPr bwMode="auto">
          <a:xfrm>
            <a:off x="1691807" y="4650054"/>
            <a:ext cx="993862" cy="38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zh-CN" altLang="en-US" sz="2200" b="1" dirty="0">
                <a:solidFill>
                  <a:srgbClr val="000066"/>
                </a:solidFill>
                <a:latin typeface="幼圆" panose="02010509060101010101" pitchFamily="49" charset="-122"/>
                <a:ea typeface="幼圆" panose="02010509060101010101" pitchFamily="49" charset="-122"/>
              </a:rPr>
              <a:t>其中， </a:t>
            </a:r>
          </a:p>
        </p:txBody>
      </p:sp>
      <p:graphicFrame>
        <p:nvGraphicFramePr>
          <p:cNvPr id="73" name="Object 15"/>
          <p:cNvGraphicFramePr>
            <a:graphicFrameLocks noChangeAspect="1"/>
          </p:cNvGraphicFramePr>
          <p:nvPr>
            <p:extLst>
              <p:ext uri="{D42A27DB-BD31-4B8C-83A1-F6EECF244321}">
                <p14:modId xmlns:p14="http://schemas.microsoft.com/office/powerpoint/2010/main" val="4260747571"/>
              </p:ext>
            </p:extLst>
          </p:nvPr>
        </p:nvGraphicFramePr>
        <p:xfrm>
          <a:off x="2685669" y="4485162"/>
          <a:ext cx="2582928" cy="1074384"/>
        </p:xfrm>
        <a:graphic>
          <a:graphicData uri="http://schemas.openxmlformats.org/presentationml/2006/ole">
            <mc:AlternateContent xmlns:mc="http://schemas.openxmlformats.org/markup-compatibility/2006">
              <mc:Choice xmlns:v="urn:schemas-microsoft-com:vml" Requires="v">
                <p:oleObj spid="_x0000_s1802608" name="Microsoft 公式 3.0" r:id="rId4" imgW="1434960" imgH="596880" progId="Equation.3">
                  <p:embed/>
                </p:oleObj>
              </mc:Choice>
              <mc:Fallback>
                <p:oleObj name="Microsoft 公式 3.0" r:id="rId4" imgW="1434960" imgH="596880" progId="Equation.3">
                  <p:embed/>
                  <p:pic>
                    <p:nvPicPr>
                      <p:cNvPr id="546831" name="Object 15"/>
                      <p:cNvPicPr>
                        <a:picLocks noChangeAspect="1" noChangeArrowheads="1"/>
                      </p:cNvPicPr>
                      <p:nvPr/>
                    </p:nvPicPr>
                    <p:blipFill>
                      <a:blip r:embed="rId5"/>
                      <a:srcRect/>
                      <a:stretch>
                        <a:fillRect/>
                      </a:stretch>
                    </p:blipFill>
                    <p:spPr bwMode="auto">
                      <a:xfrm>
                        <a:off x="2685669" y="4485162"/>
                        <a:ext cx="2582928" cy="1074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Lst>
                    </p:spPr>
                  </p:pic>
                </p:oleObj>
              </mc:Fallback>
            </mc:AlternateContent>
          </a:graphicData>
        </a:graphic>
      </p:graphicFrame>
      <p:graphicFrame>
        <p:nvGraphicFramePr>
          <p:cNvPr id="77" name="Object 16"/>
          <p:cNvGraphicFramePr>
            <a:graphicFrameLocks noChangeAspect="1"/>
          </p:cNvGraphicFramePr>
          <p:nvPr>
            <p:extLst>
              <p:ext uri="{D42A27DB-BD31-4B8C-83A1-F6EECF244321}">
                <p14:modId xmlns:p14="http://schemas.microsoft.com/office/powerpoint/2010/main" val="83242339"/>
              </p:ext>
            </p:extLst>
          </p:nvPr>
        </p:nvGraphicFramePr>
        <p:xfrm>
          <a:off x="5822061" y="4478316"/>
          <a:ext cx="2194128" cy="1074384"/>
        </p:xfrm>
        <a:graphic>
          <a:graphicData uri="http://schemas.openxmlformats.org/presentationml/2006/ole">
            <mc:AlternateContent xmlns:mc="http://schemas.openxmlformats.org/markup-compatibility/2006">
              <mc:Choice xmlns:v="urn:schemas-microsoft-com:vml" Requires="v">
                <p:oleObj spid="_x0000_s1802609" name="Microsoft 公式 3.0" r:id="rId6" imgW="1218960" imgH="596880" progId="Equation.3">
                  <p:embed/>
                </p:oleObj>
              </mc:Choice>
              <mc:Fallback>
                <p:oleObj name="Microsoft 公式 3.0" r:id="rId6" imgW="1218960" imgH="596880" progId="Equation.3">
                  <p:embed/>
                  <p:pic>
                    <p:nvPicPr>
                      <p:cNvPr id="546832" name="Object 16"/>
                      <p:cNvPicPr>
                        <a:picLocks noChangeAspect="1" noChangeArrowheads="1"/>
                      </p:cNvPicPr>
                      <p:nvPr/>
                    </p:nvPicPr>
                    <p:blipFill>
                      <a:blip r:embed="rId7"/>
                      <a:srcRect/>
                      <a:stretch>
                        <a:fillRect/>
                      </a:stretch>
                    </p:blipFill>
                    <p:spPr bwMode="auto">
                      <a:xfrm>
                        <a:off x="5822061" y="4478316"/>
                        <a:ext cx="2194128" cy="1074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Lst>
                    </p:spPr>
                  </p:pic>
                </p:oleObj>
              </mc:Fallback>
            </mc:AlternateContent>
          </a:graphicData>
        </a:graphic>
      </p:graphicFrame>
      <p:sp>
        <p:nvSpPr>
          <p:cNvPr id="79" name="矩形 78"/>
          <p:cNvSpPr/>
          <p:nvPr/>
        </p:nvSpPr>
        <p:spPr>
          <a:xfrm>
            <a:off x="7720717" y="3360302"/>
            <a:ext cx="1272209" cy="430887"/>
          </a:xfrm>
          <a:prstGeom prst="rect">
            <a:avLst/>
          </a:prstGeom>
        </p:spPr>
        <p:txBody>
          <a:bodyPr wrap="square">
            <a:spAutoFit/>
          </a:bodyPr>
          <a:lstStyle/>
          <a:p>
            <a:pPr>
              <a:lnSpc>
                <a:spcPct val="110000"/>
              </a:lnSpc>
              <a:spcBef>
                <a:spcPts val="100"/>
              </a:spcBef>
              <a:spcAft>
                <a:spcPts val="100"/>
              </a:spcAft>
              <a:buClr>
                <a:srgbClr val="C00000"/>
              </a:buClr>
            </a:pPr>
            <a:r>
              <a:rPr lang="en-US" altLang="zh-CN" sz="2000" b="1" dirty="0" err="1">
                <a:solidFill>
                  <a:srgbClr val="000066"/>
                </a:solidFill>
                <a:ea typeface="幼圆" pitchFamily="49" charset="-122"/>
                <a:cs typeface="Times New Roman" panose="02020603050405020304" pitchFamily="18" charset="0"/>
                <a:sym typeface="Symbol" pitchFamily="18" charset="2"/>
              </a:rPr>
              <a:t>z</a:t>
            </a:r>
            <a:r>
              <a:rPr lang="en-US" altLang="zh-CN" sz="2000" b="1" baseline="-25000" dirty="0" err="1">
                <a:solidFill>
                  <a:srgbClr val="000066"/>
                </a:solidFill>
                <a:ea typeface="幼圆" pitchFamily="49" charset="-122"/>
                <a:cs typeface="Times New Roman" panose="02020603050405020304" pitchFamily="18" charset="0"/>
                <a:sym typeface="Symbol" pitchFamily="18" charset="2"/>
              </a:rPr>
              <a:t>max</a:t>
            </a:r>
            <a:r>
              <a:rPr lang="en-US" altLang="zh-CN" sz="2000" b="1" baseline="-25000" dirty="0">
                <a:solidFill>
                  <a:srgbClr val="000066"/>
                </a:solidFill>
                <a:ea typeface="幼圆" pitchFamily="49" charset="-122"/>
                <a:cs typeface="Times New Roman" panose="02020603050405020304" pitchFamily="18" charset="0"/>
                <a:sym typeface="Symbol" pitchFamily="18" charset="2"/>
              </a:rPr>
              <a:t> </a:t>
            </a:r>
            <a:r>
              <a:rPr lang="en-US" altLang="zh-CN" sz="2000" b="1" dirty="0">
                <a:solidFill>
                  <a:srgbClr val="000066"/>
                </a:solidFill>
                <a:ea typeface="幼圆" panose="02010509060101010101" pitchFamily="49" charset="-122"/>
                <a:cs typeface="Times New Roman" panose="02020603050405020304" pitchFamily="18" charset="0"/>
              </a:rPr>
              <a:t>=0</a:t>
            </a:r>
          </a:p>
        </p:txBody>
      </p:sp>
      <p:sp>
        <p:nvSpPr>
          <p:cNvPr id="80" name="矩形 79"/>
          <p:cNvSpPr/>
          <p:nvPr/>
        </p:nvSpPr>
        <p:spPr>
          <a:xfrm>
            <a:off x="3113677" y="1331373"/>
            <a:ext cx="5796371" cy="837152"/>
          </a:xfrm>
          <a:prstGeom prst="rect">
            <a:avLst/>
          </a:prstGeom>
        </p:spPr>
        <p:txBody>
          <a:bodyPr wrap="square">
            <a:spAutoFit/>
          </a:bodyPr>
          <a:lstStyle/>
          <a:p>
            <a:pPr>
              <a:lnSpc>
                <a:spcPct val="110000"/>
              </a:lnSpc>
              <a:spcBef>
                <a:spcPts val="100"/>
              </a:spcBef>
              <a:spcAft>
                <a:spcPts val="100"/>
              </a:spcAft>
              <a:buClr>
                <a:srgbClr val="C00000"/>
              </a:buClr>
            </a:pPr>
            <a:r>
              <a:rPr lang="zh-CN" altLang="en-US" sz="2200" b="1" dirty="0">
                <a:solidFill>
                  <a:srgbClr val="000066"/>
                </a:solidFill>
                <a:ea typeface="幼圆" panose="02010509060101010101" pitchFamily="49" charset="-122"/>
                <a:cs typeface="Times New Roman" panose="02020603050405020304" pitchFamily="18" charset="0"/>
              </a:rPr>
              <a:t>弹性与局部塑性阶段的界限荷载，地基中尚未出现，但即将要出现塑性破坏状态</a:t>
            </a:r>
            <a:endParaRPr lang="en-US" altLang="zh-CN" sz="2200" b="1" dirty="0">
              <a:solidFill>
                <a:srgbClr val="000066"/>
              </a:solidFill>
              <a:ea typeface="幼圆" panose="02010509060101010101" pitchFamily="49" charset="-122"/>
              <a:cs typeface="Times New Roman" panose="02020603050405020304" pitchFamily="18" charset="0"/>
            </a:endParaRPr>
          </a:p>
        </p:txBody>
      </p:sp>
      <p:sp>
        <p:nvSpPr>
          <p:cNvPr id="47" name="Freeform 29" descr="再生纸"/>
          <p:cNvSpPr>
            <a:spLocks/>
          </p:cNvSpPr>
          <p:nvPr/>
        </p:nvSpPr>
        <p:spPr bwMode="auto">
          <a:xfrm flipH="1">
            <a:off x="7959949" y="3253203"/>
            <a:ext cx="90036" cy="135140"/>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12700" cap="sq">
            <a:solidFill>
              <a:srgbClr val="C00000"/>
            </a:solidFill>
            <a:prstDash val="sysDash"/>
            <a:round/>
            <a:headEnd/>
            <a:tailEnd/>
          </a:ln>
        </p:spPr>
        <p:txBody>
          <a:bodyPr wrap="none" anchor="ctr"/>
          <a:lstStyle/>
          <a:p>
            <a:endParaRPr lang="zh-CN" altLang="en-US"/>
          </a:p>
        </p:txBody>
      </p:sp>
      <p:sp>
        <p:nvSpPr>
          <p:cNvPr id="48" name="Freeform 29" descr="再生纸"/>
          <p:cNvSpPr>
            <a:spLocks/>
          </p:cNvSpPr>
          <p:nvPr/>
        </p:nvSpPr>
        <p:spPr bwMode="auto">
          <a:xfrm>
            <a:off x="6937821" y="3256353"/>
            <a:ext cx="90036" cy="135140"/>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12700" cap="sq">
            <a:solidFill>
              <a:srgbClr val="C00000"/>
            </a:solidFill>
            <a:prstDash val="sysDash"/>
            <a:round/>
            <a:headEnd/>
            <a:tailEnd/>
          </a:ln>
        </p:spPr>
        <p:txBody>
          <a:bodyPr wrap="none" anchor="ctr"/>
          <a:lstStyle/>
          <a:p>
            <a:endParaRPr lang="zh-CN" altLang="en-US"/>
          </a:p>
        </p:txBody>
      </p:sp>
      <p:sp>
        <p:nvSpPr>
          <p:cNvPr id="51" name="矩形 50"/>
          <p:cNvSpPr/>
          <p:nvPr/>
        </p:nvSpPr>
        <p:spPr>
          <a:xfrm>
            <a:off x="3626387" y="3580542"/>
            <a:ext cx="1881995"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黏聚力</a:t>
            </a:r>
            <a:r>
              <a:rPr lang="en-US" altLang="zh-CN" sz="2000" b="1" i="1" dirty="0">
                <a:solidFill>
                  <a:srgbClr val="000066"/>
                </a:solidFill>
                <a:ea typeface="幼圆" panose="02010509060101010101" pitchFamily="49" charset="-122"/>
                <a:cs typeface="Times New Roman" panose="02020603050405020304" pitchFamily="18" charset="0"/>
              </a:rPr>
              <a:t>c</a:t>
            </a:r>
            <a:r>
              <a:rPr lang="zh-CN" altLang="en-US" sz="2000" b="1" dirty="0">
                <a:solidFill>
                  <a:srgbClr val="000066"/>
                </a:solidFill>
                <a:ea typeface="幼圆" panose="02010509060101010101" pitchFamily="49" charset="-122"/>
                <a:cs typeface="Times New Roman" panose="02020603050405020304" pitchFamily="18" charset="0"/>
              </a:rPr>
              <a:t>的影响</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53" name="矩形 52"/>
          <p:cNvSpPr/>
          <p:nvPr/>
        </p:nvSpPr>
        <p:spPr>
          <a:xfrm>
            <a:off x="2514047" y="3962178"/>
            <a:ext cx="3649835"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基础两侧荷载</a:t>
            </a:r>
            <a:r>
              <a:rPr lang="en-US" altLang="zh-CN" sz="2000" b="1" i="1" dirty="0">
                <a:solidFill>
                  <a:srgbClr val="000066"/>
                </a:solidFill>
                <a:ea typeface="幼圆" panose="02010509060101010101" pitchFamily="49" charset="-122"/>
                <a:cs typeface="Times New Roman" panose="02020603050405020304" pitchFamily="18" charset="0"/>
              </a:rPr>
              <a:t>q</a:t>
            </a:r>
            <a:r>
              <a:rPr lang="zh-CN" altLang="en-US" sz="2000" b="1" dirty="0">
                <a:solidFill>
                  <a:srgbClr val="000066"/>
                </a:solidFill>
                <a:ea typeface="幼圆" panose="02010509060101010101" pitchFamily="49" charset="-122"/>
                <a:cs typeface="Times New Roman" panose="02020603050405020304" pitchFamily="18" charset="0"/>
              </a:rPr>
              <a:t>或埋深</a:t>
            </a:r>
            <a:r>
              <a:rPr lang="en-US" altLang="zh-CN" sz="2000" b="1" i="1" dirty="0">
                <a:solidFill>
                  <a:srgbClr val="000066"/>
                </a:solidFill>
                <a:ea typeface="幼圆" panose="02010509060101010101" pitchFamily="49" charset="-122"/>
                <a:cs typeface="Times New Roman" panose="02020603050405020304" pitchFamily="18" charset="0"/>
              </a:rPr>
              <a:t>d</a:t>
            </a:r>
            <a:r>
              <a:rPr lang="zh-CN" altLang="en-US" sz="2000" b="1" dirty="0">
                <a:solidFill>
                  <a:srgbClr val="000066"/>
                </a:solidFill>
                <a:ea typeface="幼圆" panose="02010509060101010101" pitchFamily="49" charset="-122"/>
                <a:cs typeface="Times New Roman" panose="02020603050405020304" pitchFamily="18" charset="0"/>
              </a:rPr>
              <a:t>的影响</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55"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grpSp>
        <p:nvGrpSpPr>
          <p:cNvPr id="57" name="组合 56"/>
          <p:cNvGrpSpPr/>
          <p:nvPr/>
        </p:nvGrpSpPr>
        <p:grpSpPr>
          <a:xfrm>
            <a:off x="6982464" y="2518810"/>
            <a:ext cx="986232" cy="108000"/>
            <a:chOff x="6348986" y="3976340"/>
            <a:chExt cx="1362333" cy="109926"/>
          </a:xfrm>
        </p:grpSpPr>
        <p:cxnSp>
          <p:nvCxnSpPr>
            <p:cNvPr id="58" name="直接连接符 57"/>
            <p:cNvCxnSpPr/>
            <p:nvPr/>
          </p:nvCxnSpPr>
          <p:spPr bwMode="auto">
            <a:xfrm>
              <a:off x="6348986" y="3981335"/>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58"/>
            <p:cNvCxnSpPr/>
            <p:nvPr/>
          </p:nvCxnSpPr>
          <p:spPr bwMode="auto">
            <a:xfrm>
              <a:off x="7697372" y="3976340"/>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59"/>
            <p:cNvCxnSpPr/>
            <p:nvPr/>
          </p:nvCxnSpPr>
          <p:spPr bwMode="auto">
            <a:xfrm>
              <a:off x="6348987" y="4047235"/>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 name="组合 5"/>
          <p:cNvGrpSpPr/>
          <p:nvPr/>
        </p:nvGrpSpPr>
        <p:grpSpPr>
          <a:xfrm>
            <a:off x="2176272" y="3496437"/>
            <a:ext cx="950976" cy="676656"/>
            <a:chOff x="2176272" y="3496437"/>
            <a:chExt cx="950976" cy="676656"/>
          </a:xfrm>
        </p:grpSpPr>
        <p:sp>
          <p:nvSpPr>
            <p:cNvPr id="5" name="任意多边形 4"/>
            <p:cNvSpPr/>
            <p:nvPr/>
          </p:nvSpPr>
          <p:spPr bwMode="auto">
            <a:xfrm>
              <a:off x="2273427" y="3496437"/>
              <a:ext cx="246888" cy="676656"/>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4" name="直接连接符 3"/>
            <p:cNvCxnSpPr/>
            <p:nvPr/>
          </p:nvCxnSpPr>
          <p:spPr bwMode="auto">
            <a:xfrm>
              <a:off x="2176272" y="3511296"/>
              <a:ext cx="950976" cy="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1" name="组合 60"/>
          <p:cNvGrpSpPr/>
          <p:nvPr/>
        </p:nvGrpSpPr>
        <p:grpSpPr>
          <a:xfrm>
            <a:off x="3270504" y="3502533"/>
            <a:ext cx="652272" cy="310515"/>
            <a:chOff x="2176272" y="3496437"/>
            <a:chExt cx="652272" cy="676656"/>
          </a:xfrm>
        </p:grpSpPr>
        <p:sp>
          <p:nvSpPr>
            <p:cNvPr id="62" name="任意多边形 61"/>
            <p:cNvSpPr/>
            <p:nvPr/>
          </p:nvSpPr>
          <p:spPr bwMode="auto">
            <a:xfrm>
              <a:off x="2273427" y="3496437"/>
              <a:ext cx="246888" cy="676656"/>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63" name="直接连接符 62"/>
            <p:cNvCxnSpPr/>
            <p:nvPr/>
          </p:nvCxnSpPr>
          <p:spPr bwMode="auto">
            <a:xfrm>
              <a:off x="2176272" y="3511295"/>
              <a:ext cx="652272" cy="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65201991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1" fill="hold" grpId="0" nodeType="after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barn(inVertical)">
                                      <p:cBhvr>
                                        <p:cTn id="13" dur="500"/>
                                        <p:tgtEl>
                                          <p:spTgt spid="8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5"/>
                                        </p:tgtEl>
                                        <p:attrNameLst>
                                          <p:attrName>style.visibility</p:attrName>
                                        </p:attrNameLst>
                                      </p:cBhvr>
                                      <p:to>
                                        <p:strVal val="visible"/>
                                      </p:to>
                                    </p:set>
                                    <p:animEffect transition="in" filter="wipe(left)">
                                      <p:cBhvr>
                                        <p:cTn id="18" dur="500"/>
                                        <p:tgtEl>
                                          <p:spTgt spid="75"/>
                                        </p:tgtEl>
                                      </p:cBhvr>
                                    </p:animEffect>
                                  </p:childTnLst>
                                </p:cTn>
                              </p:par>
                            </p:childTnLst>
                          </p:cTn>
                        </p:par>
                        <p:par>
                          <p:cTn id="19" fill="hold">
                            <p:stCondLst>
                              <p:cond delay="500"/>
                            </p:stCondLst>
                            <p:childTnLst>
                              <p:par>
                                <p:cTn id="20" presetID="9" presetClass="entr" presetSubtype="0" fill="hold" grpId="0" nodeType="afterEffect">
                                  <p:stCondLst>
                                    <p:cond delay="0"/>
                                  </p:stCondLst>
                                  <p:iterate type="wd">
                                    <p:tmPct val="100000"/>
                                  </p:iterate>
                                  <p:childTnLst>
                                    <p:set>
                                      <p:cBhvr>
                                        <p:cTn id="21" dur="1" fill="hold">
                                          <p:stCondLst>
                                            <p:cond delay="0"/>
                                          </p:stCondLst>
                                        </p:cTn>
                                        <p:tgtEl>
                                          <p:spTgt spid="70"/>
                                        </p:tgtEl>
                                        <p:attrNameLst>
                                          <p:attrName>style.visibility</p:attrName>
                                        </p:attrNameLst>
                                      </p:cBhvr>
                                      <p:to>
                                        <p:strVal val="visible"/>
                                      </p:to>
                                    </p:set>
                                    <p:animEffect transition="in" filter="dissolve">
                                      <p:cBhvr>
                                        <p:cTn id="22" dur="300"/>
                                        <p:tgtEl>
                                          <p:spTgt spid="70"/>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72"/>
                                        </p:tgtEl>
                                        <p:attrNameLst>
                                          <p:attrName>style.visibility</p:attrName>
                                        </p:attrNameLst>
                                      </p:cBhvr>
                                      <p:to>
                                        <p:strVal val="visible"/>
                                      </p:to>
                                    </p:set>
                                    <p:animEffect transition="in" filter="wipe(left)">
                                      <p:cBhvr>
                                        <p:cTn id="26" dur="500"/>
                                        <p:tgtEl>
                                          <p:spTgt spid="72"/>
                                        </p:tgtEl>
                                      </p:cBhvr>
                                    </p:animEffect>
                                  </p:childTnLst>
                                </p:cTn>
                              </p:par>
                            </p:childTnLst>
                          </p:cTn>
                        </p:par>
                        <p:par>
                          <p:cTn id="27" fill="hold">
                            <p:stCondLst>
                              <p:cond delay="2500"/>
                            </p:stCondLst>
                            <p:childTnLst>
                              <p:par>
                                <p:cTn id="28" presetID="22" presetClass="entr" presetSubtype="8" fill="hold" nodeType="afterEffect">
                                  <p:stCondLst>
                                    <p:cond delay="0"/>
                                  </p:stCondLst>
                                  <p:childTnLst>
                                    <p:set>
                                      <p:cBhvr>
                                        <p:cTn id="29" dur="1" fill="hold">
                                          <p:stCondLst>
                                            <p:cond delay="0"/>
                                          </p:stCondLst>
                                        </p:cTn>
                                        <p:tgtEl>
                                          <p:spTgt spid="73"/>
                                        </p:tgtEl>
                                        <p:attrNameLst>
                                          <p:attrName>style.visibility</p:attrName>
                                        </p:attrNameLst>
                                      </p:cBhvr>
                                      <p:to>
                                        <p:strVal val="visible"/>
                                      </p:to>
                                    </p:set>
                                    <p:animEffect transition="in" filter="wipe(left)">
                                      <p:cBhvr>
                                        <p:cTn id="30" dur="500"/>
                                        <p:tgtEl>
                                          <p:spTgt spid="73"/>
                                        </p:tgtEl>
                                      </p:cBhvr>
                                    </p:animEffect>
                                  </p:childTnLst>
                                </p:cTn>
                              </p:par>
                            </p:childTnLst>
                          </p:cTn>
                        </p:par>
                        <p:par>
                          <p:cTn id="31" fill="hold">
                            <p:stCondLst>
                              <p:cond delay="3000"/>
                            </p:stCondLst>
                            <p:childTnLst>
                              <p:par>
                                <p:cTn id="32" presetID="22" presetClass="entr" presetSubtype="8" fill="hold" nodeType="afterEffect">
                                  <p:stCondLst>
                                    <p:cond delay="0"/>
                                  </p:stCondLst>
                                  <p:childTnLst>
                                    <p:set>
                                      <p:cBhvr>
                                        <p:cTn id="33" dur="1" fill="hold">
                                          <p:stCondLst>
                                            <p:cond delay="0"/>
                                          </p:stCondLst>
                                        </p:cTn>
                                        <p:tgtEl>
                                          <p:spTgt spid="77"/>
                                        </p:tgtEl>
                                        <p:attrNameLst>
                                          <p:attrName>style.visibility</p:attrName>
                                        </p:attrNameLst>
                                      </p:cBhvr>
                                      <p:to>
                                        <p:strVal val="visible"/>
                                      </p:to>
                                    </p:set>
                                    <p:animEffect transition="in" filter="wipe(left)">
                                      <p:cBhvr>
                                        <p:cTn id="34" dur="500"/>
                                        <p:tgtEl>
                                          <p:spTgt spid="7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right)">
                                      <p:cBhvr>
                                        <p:cTn id="39" dur="500"/>
                                        <p:tgtEl>
                                          <p:spTgt spid="6"/>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wipe(left)">
                                      <p:cBhvr>
                                        <p:cTn id="43" dur="500"/>
                                        <p:tgtEl>
                                          <p:spTgt spid="5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wipe(right)">
                                      <p:cBhvr>
                                        <p:cTn id="48" dur="500"/>
                                        <p:tgtEl>
                                          <p:spTgt spid="61"/>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wipe(left)">
                                      <p:cBhvr>
                                        <p:cTn id="5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P spid="75" grpId="0"/>
      <p:bldP spid="70" grpId="0"/>
      <p:bldP spid="72" grpId="0" autoUpdateAnimBg="0"/>
      <p:bldP spid="80" grpId="0"/>
      <p:bldP spid="51" grpId="0"/>
      <p:bldP spid="5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63"/>
          <p:cNvSpPr/>
          <p:nvPr/>
        </p:nvSpPr>
        <p:spPr bwMode="auto">
          <a:xfrm>
            <a:off x="5240026" y="3061241"/>
            <a:ext cx="2984196" cy="865179"/>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29</a:t>
            </a:fld>
            <a:endParaRPr lang="zh-CN" altLang="en-US" dirty="0">
              <a:solidFill>
                <a:srgbClr val="C00000"/>
              </a:solidFill>
            </a:endParaRPr>
          </a:p>
        </p:txBody>
      </p:sp>
      <p:sp>
        <p:nvSpPr>
          <p:cNvPr id="13"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a:solidFill>
                  <a:srgbClr val="A50021"/>
                </a:solidFill>
                <a:latin typeface="微软雅黑" panose="020B0503020204020204" pitchFamily="34" charset="-122"/>
                <a:ea typeface="微软雅黑" panose="020B0503020204020204" pitchFamily="34" charset="-122"/>
              </a:rPr>
              <a:t> 条形均布荷载</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832238" y="1391088"/>
            <a:ext cx="3087755" cy="36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7"/>
            </a:pPr>
            <a:r>
              <a:rPr lang="zh-CN" altLang="en-US" sz="2200" b="1" dirty="0">
                <a:solidFill>
                  <a:srgbClr val="800000"/>
                </a:solidFill>
                <a:ea typeface="幼圆" pitchFamily="49" charset="-122"/>
                <a:cs typeface="Times New Roman" panose="02020603050405020304" pitchFamily="18" charset="0"/>
                <a:sym typeface="Symbol" pitchFamily="18" charset="2"/>
              </a:rPr>
              <a:t>临界荷载</a:t>
            </a:r>
            <a:r>
              <a:rPr lang="en-US" altLang="zh-CN" sz="2000" b="1" baseline="-25000" dirty="0">
                <a:solidFill>
                  <a:srgbClr val="800000"/>
                </a:solidFill>
                <a:ea typeface="幼圆" panose="02010509060101010101" pitchFamily="49" charset="-122"/>
                <a:cs typeface="Times New Roman" panose="02020603050405020304" pitchFamily="18" charset="0"/>
              </a:rPr>
              <a:t> </a:t>
            </a:r>
            <a:r>
              <a:rPr lang="en-US" altLang="zh-CN" sz="2200" b="1" i="1" dirty="0">
                <a:solidFill>
                  <a:srgbClr val="800000"/>
                </a:solidFill>
                <a:ea typeface="幼圆" panose="02010509060101010101" pitchFamily="49" charset="-122"/>
                <a:cs typeface="Times New Roman" panose="02020603050405020304" pitchFamily="18" charset="0"/>
              </a:rPr>
              <a:t>p</a:t>
            </a:r>
            <a:r>
              <a:rPr lang="en-US" altLang="zh-CN" sz="2200" b="1" baseline="-25000" dirty="0">
                <a:solidFill>
                  <a:srgbClr val="800000"/>
                </a:solidFill>
                <a:ea typeface="幼圆" panose="02010509060101010101" pitchFamily="49" charset="-122"/>
                <a:cs typeface="Times New Roman" panose="02020603050405020304" pitchFamily="18" charset="0"/>
              </a:rPr>
              <a:t>1/4</a:t>
            </a:r>
            <a:r>
              <a:rPr lang="zh-CN" altLang="en-US" sz="2200" b="1" dirty="0">
                <a:solidFill>
                  <a:srgbClr val="800000"/>
                </a:solidFill>
                <a:ea typeface="幼圆" panose="02010509060101010101" pitchFamily="49" charset="-122"/>
                <a:cs typeface="Times New Roman" panose="02020603050405020304" pitchFamily="18" charset="0"/>
              </a:rPr>
              <a:t>和</a:t>
            </a:r>
            <a:r>
              <a:rPr lang="en-US" altLang="zh-CN" sz="2200" b="1" i="1" dirty="0">
                <a:solidFill>
                  <a:srgbClr val="800000"/>
                </a:solidFill>
                <a:ea typeface="幼圆" panose="02010509060101010101" pitchFamily="49" charset="-122"/>
                <a:cs typeface="Times New Roman" panose="02020603050405020304" pitchFamily="18" charset="0"/>
              </a:rPr>
              <a:t>p</a:t>
            </a:r>
            <a:r>
              <a:rPr lang="en-US" altLang="zh-CN" sz="2200" b="1" baseline="-25000" dirty="0">
                <a:solidFill>
                  <a:srgbClr val="800000"/>
                </a:solidFill>
                <a:ea typeface="幼圆" panose="02010509060101010101" pitchFamily="49" charset="-122"/>
                <a:cs typeface="Times New Roman" panose="02020603050405020304" pitchFamily="18" charset="0"/>
              </a:rPr>
              <a:t>1/3 </a:t>
            </a:r>
            <a:r>
              <a:rPr lang="zh-CN" altLang="en-US" sz="2200" b="1" dirty="0">
                <a:solidFill>
                  <a:srgbClr val="800000"/>
                </a:solidFill>
                <a:ea typeface="幼圆" pitchFamily="49" charset="-122"/>
                <a:cs typeface="Times New Roman" panose="02020603050405020304" pitchFamily="18" charset="0"/>
                <a:sym typeface="Symbol" pitchFamily="18" charset="2"/>
              </a:rPr>
              <a:t>：</a:t>
            </a:r>
            <a:endParaRPr lang="zh-CN" altLang="en-US" sz="2200" b="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临塑和临界荷载计算</a:t>
            </a:r>
          </a:p>
        </p:txBody>
      </p:sp>
      <p:sp>
        <p:nvSpPr>
          <p:cNvPr id="23" name="Text Box 21"/>
          <p:cNvSpPr txBox="1">
            <a:spLocks noChangeArrowheads="1"/>
          </p:cNvSpPr>
          <p:nvPr/>
        </p:nvSpPr>
        <p:spPr bwMode="auto">
          <a:xfrm>
            <a:off x="5195420" y="2259238"/>
            <a:ext cx="896399"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36" name="矩形 35"/>
          <p:cNvSpPr/>
          <p:nvPr/>
        </p:nvSpPr>
        <p:spPr>
          <a:xfrm>
            <a:off x="7150875" y="2122292"/>
            <a:ext cx="571620" cy="461665"/>
          </a:xfrm>
          <a:prstGeom prst="rect">
            <a:avLst/>
          </a:prstGeom>
        </p:spPr>
        <p:txBody>
          <a:bodyPr wrap="square">
            <a:spAutoFit/>
          </a:bodyPr>
          <a:lstStyle/>
          <a:p>
            <a:pPr algn="ctr">
              <a:lnSpc>
                <a:spcPct val="100000"/>
              </a:lnSpc>
              <a:buClr>
                <a:srgbClr val="C00000"/>
              </a:buClr>
            </a:pPr>
            <a:r>
              <a:rPr lang="en-US" altLang="zh-CN" sz="2400" b="1" i="1" dirty="0">
                <a:solidFill>
                  <a:srgbClr val="000066"/>
                </a:solidFill>
                <a:ea typeface="幼圆" panose="02010509060101010101" pitchFamily="49" charset="-122"/>
                <a:cs typeface="Times New Roman" panose="02020603050405020304" pitchFamily="18" charset="0"/>
              </a:rPr>
              <a:t>p</a:t>
            </a:r>
            <a:endParaRPr lang="zh-CN" altLang="en-US" sz="2400" b="1" i="1" dirty="0">
              <a:solidFill>
                <a:srgbClr val="000066"/>
              </a:solidFill>
              <a:ea typeface="幼圆" panose="02010509060101010101" pitchFamily="49" charset="-122"/>
              <a:cs typeface="Times New Roman" panose="02020603050405020304" pitchFamily="18" charset="0"/>
            </a:endParaRPr>
          </a:p>
        </p:txBody>
      </p:sp>
      <p:grpSp>
        <p:nvGrpSpPr>
          <p:cNvPr id="7" name="组合 6"/>
          <p:cNvGrpSpPr/>
          <p:nvPr/>
        </p:nvGrpSpPr>
        <p:grpSpPr>
          <a:xfrm>
            <a:off x="6252370" y="2510519"/>
            <a:ext cx="972754" cy="531427"/>
            <a:chOff x="6252391" y="1449388"/>
            <a:chExt cx="1314450" cy="531427"/>
          </a:xfrm>
        </p:grpSpPr>
        <p:sp>
          <p:nvSpPr>
            <p:cNvPr id="8"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9" name="直接连接符 18"/>
          <p:cNvCxnSpPr/>
          <p:nvPr/>
        </p:nvCxnSpPr>
        <p:spPr bwMode="auto">
          <a:xfrm flipH="1">
            <a:off x="6232186" y="2496157"/>
            <a:ext cx="99987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Line 23"/>
          <p:cNvSpPr>
            <a:spLocks noChangeShapeType="1"/>
          </p:cNvSpPr>
          <p:nvPr/>
        </p:nvSpPr>
        <p:spPr bwMode="auto">
          <a:xfrm>
            <a:off x="5275656" y="3040512"/>
            <a:ext cx="2945372"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5"/>
          <p:cNvSpPr>
            <a:spLocks noChangeShapeType="1"/>
          </p:cNvSpPr>
          <p:nvPr/>
        </p:nvSpPr>
        <p:spPr bwMode="auto">
          <a:xfrm>
            <a:off x="5279616" y="277196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a:off x="5441742" y="277196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5"/>
          <p:cNvSpPr>
            <a:spLocks noChangeShapeType="1"/>
          </p:cNvSpPr>
          <p:nvPr/>
        </p:nvSpPr>
        <p:spPr bwMode="auto">
          <a:xfrm>
            <a:off x="5603867" y="277196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5765993" y="277196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p:cNvSpPr>
            <a:spLocks noChangeShapeType="1"/>
          </p:cNvSpPr>
          <p:nvPr/>
        </p:nvSpPr>
        <p:spPr bwMode="auto">
          <a:xfrm>
            <a:off x="5928119" y="277196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5"/>
          <p:cNvSpPr>
            <a:spLocks noChangeShapeType="1"/>
          </p:cNvSpPr>
          <p:nvPr/>
        </p:nvSpPr>
        <p:spPr bwMode="auto">
          <a:xfrm>
            <a:off x="6090244" y="2771968"/>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p:cNvSpPr>
            <a:spLocks noChangeShapeType="1"/>
          </p:cNvSpPr>
          <p:nvPr/>
        </p:nvSpPr>
        <p:spPr bwMode="auto">
          <a:xfrm>
            <a:off x="7387821" y="276380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5"/>
          <p:cNvSpPr>
            <a:spLocks noChangeShapeType="1"/>
          </p:cNvSpPr>
          <p:nvPr/>
        </p:nvSpPr>
        <p:spPr bwMode="auto">
          <a:xfrm>
            <a:off x="7549946" y="276380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p:cNvSpPr>
            <a:spLocks noChangeShapeType="1"/>
          </p:cNvSpPr>
          <p:nvPr/>
        </p:nvSpPr>
        <p:spPr bwMode="auto">
          <a:xfrm>
            <a:off x="7712072" y="276380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5"/>
          <p:cNvSpPr>
            <a:spLocks noChangeShapeType="1"/>
          </p:cNvSpPr>
          <p:nvPr/>
        </p:nvSpPr>
        <p:spPr bwMode="auto">
          <a:xfrm>
            <a:off x="7874198" y="276380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5"/>
          <p:cNvSpPr>
            <a:spLocks noChangeShapeType="1"/>
          </p:cNvSpPr>
          <p:nvPr/>
        </p:nvSpPr>
        <p:spPr bwMode="auto">
          <a:xfrm>
            <a:off x="8036323" y="276380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5"/>
          <p:cNvSpPr>
            <a:spLocks noChangeShapeType="1"/>
          </p:cNvSpPr>
          <p:nvPr/>
        </p:nvSpPr>
        <p:spPr bwMode="auto">
          <a:xfrm>
            <a:off x="8198449" y="276380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37" name="直接连接符 36"/>
          <p:cNvCxnSpPr/>
          <p:nvPr/>
        </p:nvCxnSpPr>
        <p:spPr bwMode="auto">
          <a:xfrm flipH="1">
            <a:off x="5273409" y="2759090"/>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p:cNvCxnSpPr/>
          <p:nvPr/>
        </p:nvCxnSpPr>
        <p:spPr bwMode="auto">
          <a:xfrm flipH="1">
            <a:off x="7225335" y="2748204"/>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7" name="Text Box 21"/>
          <p:cNvSpPr txBox="1">
            <a:spLocks noChangeArrowheads="1"/>
          </p:cNvSpPr>
          <p:nvPr/>
        </p:nvSpPr>
        <p:spPr bwMode="auto">
          <a:xfrm>
            <a:off x="6590724" y="1990530"/>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sp>
        <p:nvSpPr>
          <p:cNvPr id="252" name="Text Box 21"/>
          <p:cNvSpPr txBox="1">
            <a:spLocks noChangeArrowheads="1"/>
          </p:cNvSpPr>
          <p:nvPr/>
        </p:nvSpPr>
        <p:spPr bwMode="auto">
          <a:xfrm>
            <a:off x="5348831" y="3098989"/>
            <a:ext cx="311304" cy="477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sym typeface="Symbol" panose="05050102010706020507" pitchFamily="18" charset="2"/>
              </a:rPr>
              <a:t></a:t>
            </a:r>
            <a:endParaRPr kumimoji="1" lang="en-US" altLang="zh-CN" sz="2400" b="1" baseline="-25000" dirty="0">
              <a:solidFill>
                <a:srgbClr val="000066"/>
              </a:solidFill>
              <a:latin typeface="Times New Roman" panose="02020603050405020304" pitchFamily="18" charset="0"/>
            </a:endParaRPr>
          </a:p>
        </p:txBody>
      </p:sp>
      <p:sp>
        <p:nvSpPr>
          <p:cNvPr id="75" name="矩形 74"/>
          <p:cNvSpPr/>
          <p:nvPr/>
        </p:nvSpPr>
        <p:spPr>
          <a:xfrm>
            <a:off x="1191501" y="2114005"/>
            <a:ext cx="3097036"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令</a:t>
            </a:r>
            <a:r>
              <a:rPr lang="en-US" altLang="zh-CN" sz="2000" b="1" dirty="0" err="1">
                <a:solidFill>
                  <a:srgbClr val="000066"/>
                </a:solidFill>
                <a:ea typeface="幼圆" pitchFamily="49" charset="-122"/>
                <a:cs typeface="Times New Roman" panose="02020603050405020304" pitchFamily="18" charset="0"/>
                <a:sym typeface="Symbol" pitchFamily="18" charset="2"/>
              </a:rPr>
              <a:t>z</a:t>
            </a:r>
            <a:r>
              <a:rPr lang="en-US" altLang="zh-CN" sz="2000" b="1" baseline="-25000" dirty="0" err="1">
                <a:solidFill>
                  <a:srgbClr val="000066"/>
                </a:solidFill>
                <a:ea typeface="幼圆" pitchFamily="49" charset="-122"/>
                <a:cs typeface="Times New Roman" panose="02020603050405020304" pitchFamily="18" charset="0"/>
                <a:sym typeface="Symbol" pitchFamily="18" charset="2"/>
              </a:rPr>
              <a:t>max</a:t>
            </a:r>
            <a:r>
              <a:rPr lang="en-US" altLang="zh-CN" sz="2000" b="1" baseline="-25000" dirty="0">
                <a:solidFill>
                  <a:srgbClr val="000066"/>
                </a:solidFill>
                <a:ea typeface="幼圆" pitchFamily="49" charset="-122"/>
                <a:cs typeface="Times New Roman" panose="02020603050405020304" pitchFamily="18" charset="0"/>
                <a:sym typeface="Symbol" pitchFamily="18" charset="2"/>
              </a:rPr>
              <a:t> </a:t>
            </a:r>
            <a:r>
              <a:rPr lang="en-US"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b</a:t>
            </a:r>
            <a:r>
              <a:rPr lang="en-US" altLang="zh-CN" sz="2000" b="1" dirty="0">
                <a:solidFill>
                  <a:srgbClr val="000066"/>
                </a:solidFill>
                <a:ea typeface="幼圆" panose="02010509060101010101" pitchFamily="49" charset="-122"/>
                <a:cs typeface="Times New Roman" panose="02020603050405020304" pitchFamily="18" charset="0"/>
              </a:rPr>
              <a:t>/4 </a:t>
            </a:r>
            <a:r>
              <a:rPr lang="zh-CN" altLang="en-US" sz="2000" b="1" dirty="0">
                <a:solidFill>
                  <a:srgbClr val="000066"/>
                </a:solidFill>
                <a:ea typeface="幼圆" panose="02010509060101010101" pitchFamily="49" charset="-122"/>
                <a:cs typeface="Times New Roman" panose="02020603050405020304" pitchFamily="18" charset="0"/>
              </a:rPr>
              <a:t>或 </a:t>
            </a:r>
            <a:r>
              <a:rPr lang="en-US" altLang="zh-CN" sz="2000" b="1" i="1" dirty="0">
                <a:solidFill>
                  <a:srgbClr val="000066"/>
                </a:solidFill>
                <a:ea typeface="幼圆" panose="02010509060101010101" pitchFamily="49" charset="-122"/>
                <a:cs typeface="Times New Roman" panose="02020603050405020304" pitchFamily="18" charset="0"/>
              </a:rPr>
              <a:t>b</a:t>
            </a:r>
            <a:r>
              <a:rPr lang="en-US" altLang="zh-CN" sz="2000" b="1" dirty="0">
                <a:solidFill>
                  <a:srgbClr val="000066"/>
                </a:solidFill>
                <a:ea typeface="幼圆" panose="02010509060101010101" pitchFamily="49" charset="-122"/>
                <a:cs typeface="Times New Roman" panose="02020603050405020304" pitchFamily="18" charset="0"/>
              </a:rPr>
              <a:t>/3</a:t>
            </a:r>
            <a:r>
              <a:rPr lang="zh-CN" altLang="en-US" sz="2000" b="1" dirty="0">
                <a:solidFill>
                  <a:srgbClr val="000066"/>
                </a:solidFill>
                <a:ea typeface="幼圆" panose="02010509060101010101" pitchFamily="49" charset="-122"/>
                <a:cs typeface="Times New Roman" panose="02020603050405020304" pitchFamily="18" charset="0"/>
              </a:rPr>
              <a:t>，可得：</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72" name="Text Box 12"/>
          <p:cNvSpPr txBox="1">
            <a:spLocks noChangeArrowheads="1"/>
          </p:cNvSpPr>
          <p:nvPr/>
        </p:nvSpPr>
        <p:spPr bwMode="auto">
          <a:xfrm>
            <a:off x="1318493" y="4859826"/>
            <a:ext cx="993862" cy="38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zh-CN" altLang="en-US" sz="2200" b="1" dirty="0">
                <a:solidFill>
                  <a:srgbClr val="000066"/>
                </a:solidFill>
                <a:latin typeface="幼圆" panose="02010509060101010101" pitchFamily="49" charset="-122"/>
                <a:ea typeface="幼圆" panose="02010509060101010101" pitchFamily="49" charset="-122"/>
              </a:rPr>
              <a:t>其中， </a:t>
            </a:r>
          </a:p>
        </p:txBody>
      </p:sp>
      <p:sp>
        <p:nvSpPr>
          <p:cNvPr id="80" name="矩形 79"/>
          <p:cNvSpPr/>
          <p:nvPr/>
        </p:nvSpPr>
        <p:spPr>
          <a:xfrm>
            <a:off x="3853998" y="1241079"/>
            <a:ext cx="5043114" cy="837152"/>
          </a:xfrm>
          <a:prstGeom prst="rect">
            <a:avLst/>
          </a:prstGeom>
        </p:spPr>
        <p:txBody>
          <a:bodyPr wrap="square">
            <a:spAutoFit/>
          </a:bodyPr>
          <a:lstStyle/>
          <a:p>
            <a:pPr>
              <a:lnSpc>
                <a:spcPct val="110000"/>
              </a:lnSpc>
              <a:spcBef>
                <a:spcPts val="100"/>
              </a:spcBef>
              <a:spcAft>
                <a:spcPts val="100"/>
              </a:spcAft>
              <a:buClr>
                <a:srgbClr val="C00000"/>
              </a:buClr>
            </a:pPr>
            <a:r>
              <a:rPr lang="zh-CN" altLang="en-US" sz="2200" b="1" dirty="0">
                <a:solidFill>
                  <a:srgbClr val="000066"/>
                </a:solidFill>
                <a:ea typeface="幼圆" panose="02010509060101010101" pitchFamily="49" charset="-122"/>
                <a:cs typeface="Times New Roman" panose="02020603050405020304" pitchFamily="18" charset="0"/>
              </a:rPr>
              <a:t>基础下极限平衡区发展的最大深度等于基础宽度</a:t>
            </a:r>
            <a:r>
              <a:rPr lang="en-US" altLang="zh-CN" sz="2200" b="1" i="1" dirty="0">
                <a:solidFill>
                  <a:srgbClr val="000066"/>
                </a:solidFill>
                <a:ea typeface="幼圆" panose="02010509060101010101" pitchFamily="49" charset="-122"/>
                <a:cs typeface="Times New Roman" panose="02020603050405020304" pitchFamily="18" charset="0"/>
              </a:rPr>
              <a:t>b</a:t>
            </a:r>
            <a:r>
              <a:rPr lang="zh-CN" altLang="en-US" sz="2200" b="1" dirty="0">
                <a:solidFill>
                  <a:srgbClr val="000066"/>
                </a:solidFill>
                <a:ea typeface="幼圆" panose="02010509060101010101" pitchFamily="49" charset="-122"/>
                <a:cs typeface="Times New Roman" panose="02020603050405020304" pitchFamily="18" charset="0"/>
              </a:rPr>
              <a:t>的</a:t>
            </a:r>
            <a:r>
              <a:rPr lang="en-US" altLang="zh-CN" sz="2200" b="1" dirty="0">
                <a:solidFill>
                  <a:srgbClr val="000066"/>
                </a:solidFill>
                <a:ea typeface="幼圆" panose="02010509060101010101" pitchFamily="49" charset="-122"/>
                <a:cs typeface="Times New Roman" panose="02020603050405020304" pitchFamily="18" charset="0"/>
              </a:rPr>
              <a:t>1/4</a:t>
            </a:r>
            <a:r>
              <a:rPr lang="zh-CN" altLang="en-US" sz="2200" b="1" dirty="0">
                <a:solidFill>
                  <a:srgbClr val="000066"/>
                </a:solidFill>
                <a:ea typeface="幼圆" panose="02010509060101010101" pitchFamily="49" charset="-122"/>
                <a:cs typeface="Times New Roman" panose="02020603050405020304" pitchFamily="18" charset="0"/>
              </a:rPr>
              <a:t>和</a:t>
            </a:r>
            <a:r>
              <a:rPr lang="en-US" altLang="zh-CN" sz="2200" b="1" dirty="0">
                <a:solidFill>
                  <a:srgbClr val="000066"/>
                </a:solidFill>
                <a:ea typeface="幼圆" panose="02010509060101010101" pitchFamily="49" charset="-122"/>
                <a:cs typeface="Times New Roman" panose="02020603050405020304" pitchFamily="18" charset="0"/>
              </a:rPr>
              <a:t>1/3</a:t>
            </a:r>
            <a:r>
              <a:rPr lang="zh-CN" altLang="en-US" sz="2200" b="1" dirty="0">
                <a:solidFill>
                  <a:srgbClr val="000066"/>
                </a:solidFill>
                <a:ea typeface="幼圆" panose="02010509060101010101" pitchFamily="49" charset="-122"/>
                <a:cs typeface="Times New Roman" panose="02020603050405020304" pitchFamily="18" charset="0"/>
              </a:rPr>
              <a:t>时所相应的荷载</a:t>
            </a:r>
            <a:endParaRPr lang="en-US" altLang="zh-CN" sz="2200" b="1" dirty="0">
              <a:solidFill>
                <a:srgbClr val="000066"/>
              </a:solidFill>
              <a:ea typeface="幼圆" panose="02010509060101010101" pitchFamily="49" charset="-122"/>
              <a:cs typeface="Times New Roman" panose="02020603050405020304" pitchFamily="18" charset="0"/>
            </a:endParaRPr>
          </a:p>
        </p:txBody>
      </p:sp>
      <p:sp>
        <p:nvSpPr>
          <p:cNvPr id="48" name="Rectangle 2057"/>
          <p:cNvSpPr>
            <a:spLocks noChangeArrowheads="1"/>
          </p:cNvSpPr>
          <p:nvPr/>
        </p:nvSpPr>
        <p:spPr bwMode="auto">
          <a:xfrm>
            <a:off x="1200000" y="2738757"/>
            <a:ext cx="3655463" cy="609600"/>
          </a:xfrm>
          <a:prstGeom prst="rect">
            <a:avLst/>
          </a:prstGeom>
          <a:noFill/>
          <a:ln w="9525">
            <a:noFill/>
            <a:miter lim="800000"/>
            <a:headEnd/>
            <a:tailEnd/>
          </a:ln>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pP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p</a:t>
            </a:r>
            <a:r>
              <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1/4</a:t>
            </a:r>
            <a:r>
              <a:rPr lang="en-US" altLang="zh-CN" sz="2400" b="1" i="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b</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N</a:t>
            </a:r>
            <a:r>
              <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1/4 </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a:t>
            </a:r>
            <a:r>
              <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0</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d </a:t>
            </a:r>
            <a:r>
              <a:rPr lang="en-US" altLang="zh-CN" sz="24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N</a:t>
            </a:r>
            <a:r>
              <a:rPr lang="en-US" altLang="zh-CN" sz="24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q</a:t>
            </a:r>
            <a:r>
              <a:rPr lang="en-US" altLang="zh-CN" sz="24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+cN</a:t>
            </a:r>
            <a:r>
              <a:rPr lang="en-US" altLang="zh-CN" sz="24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c</a:t>
            </a:r>
            <a:endPar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endParaRPr>
          </a:p>
        </p:txBody>
      </p:sp>
      <p:sp>
        <p:nvSpPr>
          <p:cNvPr id="49" name="Rectangle 2059"/>
          <p:cNvSpPr>
            <a:spLocks noChangeArrowheads="1"/>
          </p:cNvSpPr>
          <p:nvPr/>
        </p:nvSpPr>
        <p:spPr bwMode="auto">
          <a:xfrm>
            <a:off x="1231900" y="3316881"/>
            <a:ext cx="3614420" cy="609600"/>
          </a:xfrm>
          <a:prstGeom prst="rect">
            <a:avLst/>
          </a:prstGeom>
          <a:noFill/>
          <a:ln w="9525">
            <a:noFill/>
            <a:miter lim="800000"/>
            <a:headEnd/>
            <a:tailEnd/>
          </a:ln>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pP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p</a:t>
            </a:r>
            <a:r>
              <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1/3</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b</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N</a:t>
            </a:r>
            <a:r>
              <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1/3 </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a:t>
            </a:r>
            <a:r>
              <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0</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d </a:t>
            </a:r>
            <a:r>
              <a:rPr lang="en-US" altLang="zh-CN" sz="24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N</a:t>
            </a:r>
            <a:r>
              <a:rPr lang="en-US" altLang="zh-CN" sz="24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q</a:t>
            </a:r>
            <a:r>
              <a:rPr lang="en-US" altLang="zh-CN" sz="24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+cN</a:t>
            </a:r>
            <a:r>
              <a:rPr lang="en-US" altLang="zh-CN" sz="24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c</a:t>
            </a:r>
            <a:endPar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endParaRPr>
          </a:p>
        </p:txBody>
      </p:sp>
      <p:graphicFrame>
        <p:nvGraphicFramePr>
          <p:cNvPr id="50" name="Object 2061"/>
          <p:cNvGraphicFramePr>
            <a:graphicFrameLocks noChangeAspect="1"/>
          </p:cNvGraphicFramePr>
          <p:nvPr>
            <p:extLst>
              <p:ext uri="{D42A27DB-BD31-4B8C-83A1-F6EECF244321}">
                <p14:modId xmlns:p14="http://schemas.microsoft.com/office/powerpoint/2010/main" val="2227533459"/>
              </p:ext>
            </p:extLst>
          </p:nvPr>
        </p:nvGraphicFramePr>
        <p:xfrm>
          <a:off x="2291084" y="4708276"/>
          <a:ext cx="2765664" cy="1142424"/>
        </p:xfrm>
        <a:graphic>
          <a:graphicData uri="http://schemas.openxmlformats.org/presentationml/2006/ole">
            <mc:AlternateContent xmlns:mc="http://schemas.openxmlformats.org/markup-compatibility/2006">
              <mc:Choice xmlns:v="urn:schemas-microsoft-com:vml" Requires="v">
                <p:oleObj spid="_x0000_s1804830" name="Microsoft 公式 3.0" r:id="rId4" imgW="1536480" imgH="634680" progId="Equation.3">
                  <p:embed/>
                </p:oleObj>
              </mc:Choice>
              <mc:Fallback>
                <p:oleObj name="Microsoft 公式 3.0" r:id="rId4" imgW="1536480" imgH="634680" progId="Equation.3">
                  <p:embed/>
                  <p:pic>
                    <p:nvPicPr>
                      <p:cNvPr id="587789" name="Object 2061"/>
                      <p:cNvPicPr>
                        <a:picLocks noChangeAspect="1" noChangeArrowheads="1"/>
                      </p:cNvPicPr>
                      <p:nvPr/>
                    </p:nvPicPr>
                    <p:blipFill>
                      <a:blip r:embed="rId5"/>
                      <a:srcRect/>
                      <a:stretch>
                        <a:fillRect/>
                      </a:stretch>
                    </p:blipFill>
                    <p:spPr bwMode="auto">
                      <a:xfrm>
                        <a:off x="2291084" y="4708276"/>
                        <a:ext cx="2765664" cy="1142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Lst>
                    </p:spPr>
                  </p:pic>
                </p:oleObj>
              </mc:Fallback>
            </mc:AlternateContent>
          </a:graphicData>
        </a:graphic>
      </p:graphicFrame>
      <p:graphicFrame>
        <p:nvGraphicFramePr>
          <p:cNvPr id="51" name="Object 2063"/>
          <p:cNvGraphicFramePr>
            <a:graphicFrameLocks noChangeAspect="1"/>
          </p:cNvGraphicFramePr>
          <p:nvPr>
            <p:extLst>
              <p:ext uri="{D42A27DB-BD31-4B8C-83A1-F6EECF244321}">
                <p14:modId xmlns:p14="http://schemas.microsoft.com/office/powerpoint/2010/main" val="3205227788"/>
              </p:ext>
            </p:extLst>
          </p:nvPr>
        </p:nvGraphicFramePr>
        <p:xfrm>
          <a:off x="5377625" y="4700325"/>
          <a:ext cx="2765664" cy="1142424"/>
        </p:xfrm>
        <a:graphic>
          <a:graphicData uri="http://schemas.openxmlformats.org/presentationml/2006/ole">
            <mc:AlternateContent xmlns:mc="http://schemas.openxmlformats.org/markup-compatibility/2006">
              <mc:Choice xmlns:v="urn:schemas-microsoft-com:vml" Requires="v">
                <p:oleObj spid="_x0000_s1804831" name="Microsoft 公式 3.0" r:id="rId6" imgW="1536480" imgH="634680" progId="Equation.3">
                  <p:embed/>
                </p:oleObj>
              </mc:Choice>
              <mc:Fallback>
                <p:oleObj name="Microsoft 公式 3.0" r:id="rId6" imgW="1536480" imgH="634680" progId="Equation.3">
                  <p:embed/>
                  <p:pic>
                    <p:nvPicPr>
                      <p:cNvPr id="587791" name="Object 2063"/>
                      <p:cNvPicPr>
                        <a:picLocks noChangeAspect="1" noChangeArrowheads="1"/>
                      </p:cNvPicPr>
                      <p:nvPr/>
                    </p:nvPicPr>
                    <p:blipFill>
                      <a:blip r:embed="rId7"/>
                      <a:srcRect/>
                      <a:stretch>
                        <a:fillRect/>
                      </a:stretch>
                    </p:blipFill>
                    <p:spPr bwMode="auto">
                      <a:xfrm>
                        <a:off x="5377625" y="4700325"/>
                        <a:ext cx="2765664" cy="1142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Lst>
                    </p:spPr>
                  </p:pic>
                </p:oleObj>
              </mc:Fallback>
            </mc:AlternateContent>
          </a:graphicData>
        </a:graphic>
      </p:graphicFrame>
      <p:sp>
        <p:nvSpPr>
          <p:cNvPr id="52" name="Freeform 29" descr="再生纸"/>
          <p:cNvSpPr>
            <a:spLocks/>
          </p:cNvSpPr>
          <p:nvPr/>
        </p:nvSpPr>
        <p:spPr bwMode="auto">
          <a:xfrm flipH="1">
            <a:off x="7233085" y="3063283"/>
            <a:ext cx="518070" cy="777604"/>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C00000"/>
            </a:solidFill>
            <a:prstDash val="dash"/>
            <a:round/>
            <a:headEnd/>
            <a:tailEnd/>
          </a:ln>
        </p:spPr>
        <p:txBody>
          <a:bodyPr wrap="none" anchor="ctr"/>
          <a:lstStyle/>
          <a:p>
            <a:endParaRPr lang="zh-CN" altLang="en-US"/>
          </a:p>
        </p:txBody>
      </p:sp>
      <p:sp>
        <p:nvSpPr>
          <p:cNvPr id="53" name="Freeform 29" descr="再生纸"/>
          <p:cNvSpPr>
            <a:spLocks/>
          </p:cNvSpPr>
          <p:nvPr/>
        </p:nvSpPr>
        <p:spPr bwMode="auto">
          <a:xfrm>
            <a:off x="5752696" y="3042358"/>
            <a:ext cx="518070" cy="777604"/>
          </a:xfrm>
          <a:custGeom>
            <a:avLst/>
            <a:gdLst>
              <a:gd name="T0" fmla="*/ 246 w 253"/>
              <a:gd name="T1" fmla="*/ 59 h 467"/>
              <a:gd name="T2" fmla="*/ 78 w 253"/>
              <a:gd name="T3" fmla="*/ 167 h 467"/>
              <a:gd name="T4" fmla="*/ 30 w 253"/>
              <a:gd name="T5" fmla="*/ 239 h 467"/>
              <a:gd name="T6" fmla="*/ 6 w 253"/>
              <a:gd name="T7" fmla="*/ 311 h 467"/>
              <a:gd name="T8" fmla="*/ 78 w 253"/>
              <a:gd name="T9" fmla="*/ 467 h 467"/>
              <a:gd name="T10" fmla="*/ 210 w 253"/>
              <a:gd name="T11" fmla="*/ 383 h 467"/>
              <a:gd name="T12" fmla="*/ 210 w 253"/>
              <a:gd name="T13" fmla="*/ 107 h 467"/>
              <a:gd name="T14" fmla="*/ 246 w 253"/>
              <a:gd name="T15" fmla="*/ 59 h 467"/>
              <a:gd name="T16" fmla="*/ 0 60000 65536"/>
              <a:gd name="T17" fmla="*/ 0 60000 65536"/>
              <a:gd name="T18" fmla="*/ 0 60000 65536"/>
              <a:gd name="T19" fmla="*/ 0 60000 65536"/>
              <a:gd name="T20" fmla="*/ 0 60000 65536"/>
              <a:gd name="T21" fmla="*/ 0 60000 65536"/>
              <a:gd name="T22" fmla="*/ 0 60000 65536"/>
              <a:gd name="T23" fmla="*/ 0 60000 65536"/>
              <a:gd name="T24" fmla="*/ 0 w 253"/>
              <a:gd name="T25" fmla="*/ 0 h 467"/>
              <a:gd name="T26" fmla="*/ 253 w 253"/>
              <a:gd name="T27" fmla="*/ 467 h 467"/>
              <a:gd name="connsiteX0" fmla="*/ 9491 w 9507"/>
              <a:gd name="connsiteY0" fmla="*/ 0 h 8737"/>
              <a:gd name="connsiteX1" fmla="*/ 2851 w 9507"/>
              <a:gd name="connsiteY1" fmla="*/ 2313 h 8737"/>
              <a:gd name="connsiteX2" fmla="*/ 5 w 9507"/>
              <a:gd name="connsiteY2" fmla="*/ 5397 h 8737"/>
              <a:gd name="connsiteX3" fmla="*/ 2851 w 9507"/>
              <a:gd name="connsiteY3" fmla="*/ 8737 h 8737"/>
              <a:gd name="connsiteX4" fmla="*/ 8068 w 9507"/>
              <a:gd name="connsiteY4" fmla="*/ 6938 h 8737"/>
              <a:gd name="connsiteX5" fmla="*/ 8068 w 9507"/>
              <a:gd name="connsiteY5" fmla="*/ 1028 h 8737"/>
              <a:gd name="connsiteX6" fmla="*/ 9491 w 9507"/>
              <a:gd name="connsiteY6" fmla="*/ 0 h 8737"/>
              <a:gd name="connsiteX0" fmla="*/ 9983 w 9983"/>
              <a:gd name="connsiteY0" fmla="*/ 0 h 10000"/>
              <a:gd name="connsiteX1" fmla="*/ 2999 w 9983"/>
              <a:gd name="connsiteY1" fmla="*/ 2647 h 10000"/>
              <a:gd name="connsiteX2" fmla="*/ 5 w 9983"/>
              <a:gd name="connsiteY2" fmla="*/ 6177 h 10000"/>
              <a:gd name="connsiteX3" fmla="*/ 2999 w 9983"/>
              <a:gd name="connsiteY3" fmla="*/ 10000 h 10000"/>
              <a:gd name="connsiteX4" fmla="*/ 8486 w 9983"/>
              <a:gd name="connsiteY4" fmla="*/ 7941 h 10000"/>
              <a:gd name="connsiteX5" fmla="*/ 8241 w 9983"/>
              <a:gd name="connsiteY5" fmla="*/ 1926 h 10000"/>
              <a:gd name="connsiteX6" fmla="*/ 9983 w 9983"/>
              <a:gd name="connsiteY6" fmla="*/ 0 h 10000"/>
              <a:gd name="connsiteX0" fmla="*/ 10000 w 10000"/>
              <a:gd name="connsiteY0" fmla="*/ 0 h 10000"/>
              <a:gd name="connsiteX1" fmla="*/ 3004 w 10000"/>
              <a:gd name="connsiteY1" fmla="*/ 2647 h 10000"/>
              <a:gd name="connsiteX2" fmla="*/ 5 w 10000"/>
              <a:gd name="connsiteY2" fmla="*/ 6177 h 10000"/>
              <a:gd name="connsiteX3" fmla="*/ 3004 w 10000"/>
              <a:gd name="connsiteY3" fmla="*/ 10000 h 10000"/>
              <a:gd name="connsiteX4" fmla="*/ 8500 w 10000"/>
              <a:gd name="connsiteY4" fmla="*/ 7941 h 10000"/>
              <a:gd name="connsiteX5" fmla="*/ 8255 w 10000"/>
              <a:gd name="connsiteY5" fmla="*/ 1926 h 10000"/>
              <a:gd name="connsiteX6" fmla="*/ 10000 w 10000"/>
              <a:gd name="connsiteY6" fmla="*/ 0 h 10000"/>
              <a:gd name="connsiteX0" fmla="*/ 9995 w 9995"/>
              <a:gd name="connsiteY0" fmla="*/ 0 h 10266"/>
              <a:gd name="connsiteX1" fmla="*/ 2999 w 9995"/>
              <a:gd name="connsiteY1" fmla="*/ 2647 h 10266"/>
              <a:gd name="connsiteX2" fmla="*/ 0 w 9995"/>
              <a:gd name="connsiteY2" fmla="*/ 6177 h 10266"/>
              <a:gd name="connsiteX3" fmla="*/ 2999 w 9995"/>
              <a:gd name="connsiteY3" fmla="*/ 10000 h 10266"/>
              <a:gd name="connsiteX4" fmla="*/ 6190 w 9995"/>
              <a:gd name="connsiteY4" fmla="*/ 9722 h 10266"/>
              <a:gd name="connsiteX5" fmla="*/ 8495 w 9995"/>
              <a:gd name="connsiteY5" fmla="*/ 7941 h 10266"/>
              <a:gd name="connsiteX6" fmla="*/ 8250 w 9995"/>
              <a:gd name="connsiteY6" fmla="*/ 1926 h 10266"/>
              <a:gd name="connsiteX7" fmla="*/ 9995 w 9995"/>
              <a:gd name="connsiteY7" fmla="*/ 0 h 10266"/>
              <a:gd name="connsiteX0" fmla="*/ 10015 w 10015"/>
              <a:gd name="connsiteY0" fmla="*/ 0 h 9750"/>
              <a:gd name="connsiteX1" fmla="*/ 3016 w 10015"/>
              <a:gd name="connsiteY1" fmla="*/ 2578 h 9750"/>
              <a:gd name="connsiteX2" fmla="*/ 15 w 10015"/>
              <a:gd name="connsiteY2" fmla="*/ 6017 h 9750"/>
              <a:gd name="connsiteX3" fmla="*/ 2033 w 10015"/>
              <a:gd name="connsiteY3" fmla="*/ 9348 h 9750"/>
              <a:gd name="connsiteX4" fmla="*/ 6208 w 10015"/>
              <a:gd name="connsiteY4" fmla="*/ 9470 h 9750"/>
              <a:gd name="connsiteX5" fmla="*/ 8514 w 10015"/>
              <a:gd name="connsiteY5" fmla="*/ 7735 h 9750"/>
              <a:gd name="connsiteX6" fmla="*/ 8269 w 10015"/>
              <a:gd name="connsiteY6" fmla="*/ 1876 h 9750"/>
              <a:gd name="connsiteX7" fmla="*/ 10015 w 10015"/>
              <a:gd name="connsiteY7" fmla="*/ 0 h 975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933 h 10030"/>
              <a:gd name="connsiteX6" fmla="*/ 8257 w 10000"/>
              <a:gd name="connsiteY6" fmla="*/ 1924 h 10030"/>
              <a:gd name="connsiteX7" fmla="*/ 10000 w 10000"/>
              <a:gd name="connsiteY7" fmla="*/ 0 h 10030"/>
              <a:gd name="connsiteX0" fmla="*/ 10000 w 10000"/>
              <a:gd name="connsiteY0" fmla="*/ 0 h 10030"/>
              <a:gd name="connsiteX1" fmla="*/ 3011 w 10000"/>
              <a:gd name="connsiteY1" fmla="*/ 2644 h 10030"/>
              <a:gd name="connsiteX2" fmla="*/ 15 w 10000"/>
              <a:gd name="connsiteY2" fmla="*/ 6171 h 10030"/>
              <a:gd name="connsiteX3" fmla="*/ 2030 w 10000"/>
              <a:gd name="connsiteY3" fmla="*/ 9588 h 10030"/>
              <a:gd name="connsiteX4" fmla="*/ 6035 w 10000"/>
              <a:gd name="connsiteY4" fmla="*/ 9771 h 10030"/>
              <a:gd name="connsiteX5" fmla="*/ 8501 w 10000"/>
              <a:gd name="connsiteY5" fmla="*/ 7415 h 10030"/>
              <a:gd name="connsiteX6" fmla="*/ 8257 w 10000"/>
              <a:gd name="connsiteY6" fmla="*/ 1924 h 10030"/>
              <a:gd name="connsiteX7" fmla="*/ 10000 w 10000"/>
              <a:gd name="connsiteY7" fmla="*/ 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30">
                <a:moveTo>
                  <a:pt x="10000" y="0"/>
                </a:moveTo>
                <a:cubicBezTo>
                  <a:pt x="7422" y="612"/>
                  <a:pt x="4675" y="1616"/>
                  <a:pt x="3011" y="2644"/>
                </a:cubicBezTo>
                <a:cubicBezTo>
                  <a:pt x="1347" y="3673"/>
                  <a:pt x="179" y="5014"/>
                  <a:pt x="15" y="6171"/>
                </a:cubicBezTo>
                <a:cubicBezTo>
                  <a:pt x="-149" y="7328"/>
                  <a:pt x="999" y="8997"/>
                  <a:pt x="2030" y="9588"/>
                </a:cubicBezTo>
                <a:cubicBezTo>
                  <a:pt x="3060" y="10178"/>
                  <a:pt x="5120" y="10113"/>
                  <a:pt x="6035" y="9771"/>
                </a:cubicBezTo>
                <a:cubicBezTo>
                  <a:pt x="6950" y="9428"/>
                  <a:pt x="8159" y="8714"/>
                  <a:pt x="8501" y="7415"/>
                </a:cubicBezTo>
                <a:cubicBezTo>
                  <a:pt x="8377" y="6411"/>
                  <a:pt x="7176" y="3491"/>
                  <a:pt x="8257" y="1924"/>
                </a:cubicBezTo>
                <a:lnTo>
                  <a:pt x="10000" y="0"/>
                </a:lnTo>
                <a:close/>
              </a:path>
            </a:pathLst>
          </a:custGeom>
          <a:solidFill>
            <a:schemeClr val="accent5">
              <a:lumMod val="90000"/>
            </a:schemeClr>
          </a:solidFill>
          <a:ln w="9525" cap="sq">
            <a:solidFill>
              <a:srgbClr val="C00000"/>
            </a:solidFill>
            <a:prstDash val="dash"/>
            <a:round/>
            <a:headEnd/>
            <a:tailEnd/>
          </a:ln>
        </p:spPr>
        <p:txBody>
          <a:bodyPr wrap="none" anchor="ctr"/>
          <a:lstStyle/>
          <a:p>
            <a:endParaRPr lang="zh-CN" altLang="en-US"/>
          </a:p>
        </p:txBody>
      </p:sp>
      <p:cxnSp>
        <p:nvCxnSpPr>
          <p:cNvPr id="61" name="直接连接符 60"/>
          <p:cNvCxnSpPr/>
          <p:nvPr/>
        </p:nvCxnSpPr>
        <p:spPr bwMode="auto">
          <a:xfrm flipH="1">
            <a:off x="7802775" y="3829599"/>
            <a:ext cx="17680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61"/>
          <p:cNvCxnSpPr/>
          <p:nvPr/>
        </p:nvCxnSpPr>
        <p:spPr bwMode="auto">
          <a:xfrm>
            <a:off x="7858613" y="3040351"/>
            <a:ext cx="0" cy="790869"/>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3" name="对象 62"/>
          <p:cNvGraphicFramePr>
            <a:graphicFrameLocks noChangeAspect="1"/>
          </p:cNvGraphicFramePr>
          <p:nvPr>
            <p:extLst>
              <p:ext uri="{D42A27DB-BD31-4B8C-83A1-F6EECF244321}">
                <p14:modId xmlns:p14="http://schemas.microsoft.com/office/powerpoint/2010/main" val="3121869096"/>
              </p:ext>
            </p:extLst>
          </p:nvPr>
        </p:nvGraphicFramePr>
        <p:xfrm>
          <a:off x="7983115" y="3163836"/>
          <a:ext cx="1022730" cy="640334"/>
        </p:xfrm>
        <a:graphic>
          <a:graphicData uri="http://schemas.openxmlformats.org/presentationml/2006/ole">
            <mc:AlternateContent xmlns:mc="http://schemas.openxmlformats.org/markup-compatibility/2006">
              <mc:Choice xmlns:v="urn:schemas-microsoft-com:vml" Requires="v">
                <p:oleObj spid="_x0000_s1804832" name="Equation" r:id="rId8" imgW="647640" imgH="406080" progId="Equation.KSEE3">
                  <p:embed/>
                </p:oleObj>
              </mc:Choice>
              <mc:Fallback>
                <p:oleObj name="Equation" r:id="rId8" imgW="647640" imgH="406080" progId="Equation.KSEE3">
                  <p:embed/>
                  <p:pic>
                    <p:nvPicPr>
                      <p:cNvPr id="2" name="对象 1"/>
                      <p:cNvPicPr/>
                      <p:nvPr/>
                    </p:nvPicPr>
                    <p:blipFill>
                      <a:blip r:embed="rId9"/>
                      <a:stretch>
                        <a:fillRect/>
                      </a:stretch>
                    </p:blipFill>
                    <p:spPr>
                      <a:xfrm>
                        <a:off x="7983115" y="3163836"/>
                        <a:ext cx="1022730" cy="640334"/>
                      </a:xfrm>
                      <a:prstGeom prst="rect">
                        <a:avLst/>
                      </a:prstGeom>
                    </p:spPr>
                  </p:pic>
                </p:oleObj>
              </mc:Fallback>
            </mc:AlternateContent>
          </a:graphicData>
        </a:graphic>
      </p:graphicFrame>
      <p:sp>
        <p:nvSpPr>
          <p:cNvPr id="55" name="矩形 54"/>
          <p:cNvSpPr/>
          <p:nvPr/>
        </p:nvSpPr>
        <p:spPr>
          <a:xfrm>
            <a:off x="3600860" y="4015809"/>
            <a:ext cx="5341972"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黏聚力</a:t>
            </a:r>
            <a:r>
              <a:rPr lang="en-US" altLang="zh-CN" sz="2000" b="1" i="1" dirty="0">
                <a:solidFill>
                  <a:srgbClr val="000066"/>
                </a:solidFill>
                <a:ea typeface="幼圆" panose="02010509060101010101" pitchFamily="49" charset="-122"/>
                <a:cs typeface="Times New Roman" panose="02020603050405020304" pitchFamily="18" charset="0"/>
              </a:rPr>
              <a:t>c</a:t>
            </a:r>
            <a:r>
              <a:rPr lang="zh-CN" altLang="en-US" sz="2000" b="1" dirty="0">
                <a:solidFill>
                  <a:srgbClr val="000066"/>
                </a:solidFill>
                <a:ea typeface="幼圆" panose="02010509060101010101" pitchFamily="49" charset="-122"/>
                <a:cs typeface="Times New Roman" panose="02020603050405020304" pitchFamily="18" charset="0"/>
              </a:rPr>
              <a:t>和埋深</a:t>
            </a:r>
            <a:r>
              <a:rPr lang="en-US" altLang="zh-CN" sz="2000" b="1" i="1" dirty="0">
                <a:solidFill>
                  <a:srgbClr val="000066"/>
                </a:solidFill>
                <a:ea typeface="幼圆" panose="02010509060101010101" pitchFamily="49" charset="-122"/>
                <a:cs typeface="Times New Roman" panose="02020603050405020304" pitchFamily="18" charset="0"/>
              </a:rPr>
              <a:t>d</a:t>
            </a:r>
            <a:r>
              <a:rPr lang="zh-CN" altLang="en-US" sz="2000" b="1" dirty="0">
                <a:solidFill>
                  <a:srgbClr val="000066"/>
                </a:solidFill>
                <a:ea typeface="幼圆" panose="02010509060101010101" pitchFamily="49" charset="-122"/>
                <a:cs typeface="Times New Roman" panose="02020603050405020304" pitchFamily="18" charset="0"/>
              </a:rPr>
              <a:t>的影响，它们也组成临塑荷载</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57" name="矩形 56"/>
          <p:cNvSpPr/>
          <p:nvPr/>
        </p:nvSpPr>
        <p:spPr>
          <a:xfrm>
            <a:off x="2688545" y="4397444"/>
            <a:ext cx="4009967"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基础宽度</a:t>
            </a:r>
            <a:r>
              <a:rPr lang="en-US" altLang="zh-CN" sz="2000" b="1" i="1" dirty="0">
                <a:solidFill>
                  <a:srgbClr val="000066"/>
                </a:solidFill>
                <a:ea typeface="幼圆" panose="02010509060101010101" pitchFamily="49" charset="-122"/>
                <a:cs typeface="Times New Roman" panose="02020603050405020304" pitchFamily="18" charset="0"/>
              </a:rPr>
              <a:t>b</a:t>
            </a:r>
            <a:r>
              <a:rPr lang="zh-CN" altLang="en-US" sz="2000" b="1" dirty="0">
                <a:solidFill>
                  <a:srgbClr val="000066"/>
                </a:solidFill>
                <a:ea typeface="幼圆" panose="02010509060101010101" pitchFamily="49" charset="-122"/>
                <a:cs typeface="Times New Roman" panose="02020603050405020304" pitchFamily="18" charset="0"/>
              </a:rPr>
              <a:t>和地基土重度</a:t>
            </a:r>
            <a:r>
              <a:rPr lang="zh-CN" altLang="en-US"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lang="zh-CN" altLang="en-US" sz="2000" b="1" dirty="0">
                <a:solidFill>
                  <a:srgbClr val="000066"/>
                </a:solidFill>
                <a:ea typeface="幼圆" panose="02010509060101010101" pitchFamily="49" charset="-122"/>
                <a:cs typeface="Times New Roman" panose="02020603050405020304" pitchFamily="18" charset="0"/>
              </a:rPr>
              <a:t>的影响</a:t>
            </a:r>
            <a:endParaRPr lang="en-US" altLang="zh-CN" sz="2000" b="1" dirty="0">
              <a:solidFill>
                <a:srgbClr val="000066"/>
              </a:solidFill>
              <a:ea typeface="幼圆" panose="02010509060101010101" pitchFamily="49" charset="-122"/>
              <a:cs typeface="Times New Roman" panose="02020603050405020304" pitchFamily="18" charset="0"/>
            </a:endParaRPr>
          </a:p>
        </p:txBody>
      </p:sp>
      <p:grpSp>
        <p:nvGrpSpPr>
          <p:cNvPr id="2" name="组合 1"/>
          <p:cNvGrpSpPr/>
          <p:nvPr/>
        </p:nvGrpSpPr>
        <p:grpSpPr>
          <a:xfrm>
            <a:off x="1984249" y="2764460"/>
            <a:ext cx="865278" cy="1844115"/>
            <a:chOff x="1984249" y="2764460"/>
            <a:chExt cx="865278" cy="1844115"/>
          </a:xfrm>
        </p:grpSpPr>
        <p:sp>
          <p:nvSpPr>
            <p:cNvPr id="54" name="矩形 53"/>
            <p:cNvSpPr/>
            <p:nvPr/>
          </p:nvSpPr>
          <p:spPr bwMode="auto">
            <a:xfrm>
              <a:off x="1984249" y="2764460"/>
              <a:ext cx="865278" cy="1071545"/>
            </a:xfrm>
            <a:prstGeom prst="rect">
              <a:avLst/>
            </a:prstGeom>
            <a:noFill/>
            <a:ln w="28575"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8" name="任意多边形 57"/>
            <p:cNvSpPr/>
            <p:nvPr/>
          </p:nvSpPr>
          <p:spPr bwMode="auto">
            <a:xfrm>
              <a:off x="2447925" y="3836004"/>
              <a:ext cx="212979" cy="772571"/>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grpSp>
        <p:nvGrpSpPr>
          <p:cNvPr id="3" name="组合 2"/>
          <p:cNvGrpSpPr/>
          <p:nvPr/>
        </p:nvGrpSpPr>
        <p:grpSpPr>
          <a:xfrm>
            <a:off x="3099815" y="2785725"/>
            <a:ext cx="1572769" cy="1438803"/>
            <a:chOff x="3099815" y="2785725"/>
            <a:chExt cx="1572769" cy="1438803"/>
          </a:xfrm>
        </p:grpSpPr>
        <p:sp>
          <p:nvSpPr>
            <p:cNvPr id="56" name="矩形 55"/>
            <p:cNvSpPr/>
            <p:nvPr/>
          </p:nvSpPr>
          <p:spPr bwMode="auto">
            <a:xfrm>
              <a:off x="3099815" y="2785725"/>
              <a:ext cx="1572769" cy="1047232"/>
            </a:xfrm>
            <a:prstGeom prst="rect">
              <a:avLst/>
            </a:prstGeom>
            <a:noFill/>
            <a:ln w="28575"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9" name="任意多边形 58"/>
            <p:cNvSpPr/>
            <p:nvPr/>
          </p:nvSpPr>
          <p:spPr bwMode="auto">
            <a:xfrm>
              <a:off x="3416929" y="3848179"/>
              <a:ext cx="194951" cy="376349"/>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60"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grpSp>
        <p:nvGrpSpPr>
          <p:cNvPr id="65" name="组合 64"/>
          <p:cNvGrpSpPr/>
          <p:nvPr/>
        </p:nvGrpSpPr>
        <p:grpSpPr>
          <a:xfrm>
            <a:off x="6226967" y="2322011"/>
            <a:ext cx="986232" cy="108000"/>
            <a:chOff x="6348986" y="3976340"/>
            <a:chExt cx="1362333" cy="109926"/>
          </a:xfrm>
        </p:grpSpPr>
        <p:cxnSp>
          <p:nvCxnSpPr>
            <p:cNvPr id="66" name="直接连接符 65"/>
            <p:cNvCxnSpPr/>
            <p:nvPr/>
          </p:nvCxnSpPr>
          <p:spPr bwMode="auto">
            <a:xfrm>
              <a:off x="6348986" y="3981335"/>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连接符 66"/>
            <p:cNvCxnSpPr/>
            <p:nvPr/>
          </p:nvCxnSpPr>
          <p:spPr bwMode="auto">
            <a:xfrm>
              <a:off x="7697372" y="3976340"/>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p:cNvCxnSpPr/>
            <p:nvPr/>
          </p:nvCxnSpPr>
          <p:spPr bwMode="auto">
            <a:xfrm>
              <a:off x="6348987" y="4047235"/>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78395752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wipe(left)">
                                      <p:cBhvr>
                                        <p:cTn id="13" dur="500"/>
                                        <p:tgtEl>
                                          <p:spTgt spid="80"/>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75"/>
                                        </p:tgtEl>
                                        <p:attrNameLst>
                                          <p:attrName>style.visibility</p:attrName>
                                        </p:attrNameLst>
                                      </p:cBhvr>
                                      <p:to>
                                        <p:strVal val="visible"/>
                                      </p:to>
                                    </p:set>
                                    <p:animEffect transition="in" filter="barn(inVertical)">
                                      <p:cBhvr>
                                        <p:cTn id="18" dur="500"/>
                                        <p:tgtEl>
                                          <p:spTgt spid="75"/>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left)">
                                      <p:cBhvr>
                                        <p:cTn id="22" dur="500"/>
                                        <p:tgtEl>
                                          <p:spTgt spid="48"/>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wipe(left)">
                                      <p:cBhvr>
                                        <p:cTn id="26" dur="500"/>
                                        <p:tgtEl>
                                          <p:spTgt spid="49"/>
                                        </p:tgtEl>
                                      </p:cBhvr>
                                    </p:animEffect>
                                  </p:childTnLst>
                                </p:cTn>
                              </p:par>
                            </p:childTnLst>
                          </p:cTn>
                        </p:par>
                        <p:par>
                          <p:cTn id="27" fill="hold">
                            <p:stCondLst>
                              <p:cond delay="1500"/>
                            </p:stCondLst>
                            <p:childTnLst>
                              <p:par>
                                <p:cTn id="28" presetID="22" presetClass="entr" presetSubtype="8" fill="hold" grpId="0" nodeType="after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wipe(left)">
                                      <p:cBhvr>
                                        <p:cTn id="30" dur="500"/>
                                        <p:tgtEl>
                                          <p:spTgt spid="72"/>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500"/>
                                        <p:tgtEl>
                                          <p:spTgt spid="50"/>
                                        </p:tgtEl>
                                      </p:cBhvr>
                                    </p:animEffect>
                                  </p:childTnLst>
                                </p:cTn>
                              </p:par>
                            </p:childTnLst>
                          </p:cTn>
                        </p:par>
                        <p:par>
                          <p:cTn id="35" fill="hold">
                            <p:stCondLst>
                              <p:cond delay="2500"/>
                            </p:stCondLst>
                            <p:childTnLst>
                              <p:par>
                                <p:cTn id="36" presetID="22" presetClass="entr" presetSubtype="8" fill="hold" nodeType="after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wipe(left)">
                                      <p:cBhvr>
                                        <p:cTn id="38" dur="500"/>
                                        <p:tgtEl>
                                          <p:spTgt spid="51"/>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barn(inVertical)">
                                      <p:cBhvr>
                                        <p:cTn id="43" dur="500"/>
                                        <p:tgtEl>
                                          <p:spTgt spid="2"/>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wipe(left)">
                                      <p:cBhvr>
                                        <p:cTn id="47" dur="500"/>
                                        <p:tgtEl>
                                          <p:spTgt spid="57"/>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barn(inVertical)">
                                      <p:cBhvr>
                                        <p:cTn id="52" dur="500"/>
                                        <p:tgtEl>
                                          <p:spTgt spid="3"/>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wipe(left)">
                                      <p:cBhvr>
                                        <p:cTn id="5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P spid="75" grpId="0"/>
      <p:bldP spid="72" grpId="0" autoUpdateAnimBg="0"/>
      <p:bldP spid="80" grpId="0"/>
      <p:bldP spid="48" grpId="0"/>
      <p:bldP spid="49" grpId="0"/>
      <p:bldP spid="55" grpId="0"/>
      <p:bldP spid="5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30</a:t>
            </a:fld>
            <a:endParaRPr lang="zh-CN" altLang="en-US" dirty="0">
              <a:solidFill>
                <a:srgbClr val="C00000"/>
              </a:solidFill>
            </a:endParaRPr>
          </a:p>
        </p:txBody>
      </p:sp>
      <p:sp>
        <p:nvSpPr>
          <p:cNvPr id="13"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条形均布荷载</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832238" y="1458871"/>
            <a:ext cx="6034075"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0"/>
              </a:spcBef>
              <a:spcAft>
                <a:spcPts val="400"/>
              </a:spcAft>
              <a:buClr>
                <a:srgbClr val="A50021"/>
              </a:buClr>
              <a:buSzPct val="120000"/>
              <a:buFont typeface="+mj-lt"/>
              <a:buAutoNum type="arabicPeriod" startAt="8"/>
            </a:pPr>
            <a:r>
              <a:rPr lang="zh-CN" altLang="en-US" sz="2200" b="1" dirty="0" smtClean="0">
                <a:solidFill>
                  <a:srgbClr val="000066"/>
                </a:solidFill>
                <a:ea typeface="幼圆" pitchFamily="49" charset="-122"/>
                <a:cs typeface="Times New Roman" panose="02020603050405020304" pitchFamily="18" charset="0"/>
                <a:sym typeface="Symbol" pitchFamily="18" charset="2"/>
              </a:rPr>
              <a:t>各种临塑和临界荷载</a:t>
            </a:r>
            <a:r>
              <a:rPr lang="zh-CN" altLang="en-US" sz="2200" b="1" dirty="0">
                <a:solidFill>
                  <a:srgbClr val="000066"/>
                </a:solidFill>
                <a:ea typeface="幼圆" pitchFamily="49" charset="-122"/>
                <a:cs typeface="Times New Roman" panose="02020603050405020304" pitchFamily="18" charset="0"/>
                <a:sym typeface="Symbol" pitchFamily="18" charset="2"/>
              </a:rPr>
              <a:t>的承载力系数：</a:t>
            </a:r>
            <a:endPar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临塑和临界荷载计算</a:t>
            </a:r>
          </a:p>
        </p:txBody>
      </p:sp>
      <p:graphicFrame>
        <p:nvGraphicFramePr>
          <p:cNvPr id="54" name="Object 15"/>
          <p:cNvGraphicFramePr>
            <a:graphicFrameLocks noChangeAspect="1"/>
          </p:cNvGraphicFramePr>
          <p:nvPr>
            <p:extLst>
              <p:ext uri="{D42A27DB-BD31-4B8C-83A1-F6EECF244321}">
                <p14:modId xmlns:p14="http://schemas.microsoft.com/office/powerpoint/2010/main" val="1039293881"/>
              </p:ext>
            </p:extLst>
          </p:nvPr>
        </p:nvGraphicFramePr>
        <p:xfrm>
          <a:off x="1422400" y="1905000"/>
          <a:ext cx="2560638" cy="660400"/>
        </p:xfrm>
        <a:graphic>
          <a:graphicData uri="http://schemas.openxmlformats.org/presentationml/2006/ole">
            <mc:AlternateContent xmlns:mc="http://schemas.openxmlformats.org/markup-compatibility/2006">
              <mc:Choice xmlns:v="urn:schemas-microsoft-com:vml" Requires="v">
                <p:oleObj spid="_x0000_s1810602" name="Equation" r:id="rId4" imgW="1422360" imgH="368280" progId="Equation.DSMT4">
                  <p:embed/>
                </p:oleObj>
              </mc:Choice>
              <mc:Fallback>
                <p:oleObj name="Equation" r:id="rId4" imgW="1422360" imgH="368280" progId="Equation.DSMT4">
                  <p:embed/>
                  <p:pic>
                    <p:nvPicPr>
                      <p:cNvPr id="54" name="Object 15"/>
                      <p:cNvPicPr>
                        <a:picLocks noChangeAspect="1" noChangeArrowheads="1"/>
                      </p:cNvPicPr>
                      <p:nvPr/>
                    </p:nvPicPr>
                    <p:blipFill>
                      <a:blip r:embed="rId5"/>
                      <a:srcRect/>
                      <a:stretch>
                        <a:fillRect/>
                      </a:stretch>
                    </p:blipFill>
                    <p:spPr bwMode="auto">
                      <a:xfrm>
                        <a:off x="1422400" y="1905000"/>
                        <a:ext cx="2560638" cy="660400"/>
                      </a:xfrm>
                      <a:prstGeom prst="rect">
                        <a:avLst/>
                      </a:prstGeom>
                      <a:noFill/>
                      <a:ln>
                        <a:noFill/>
                      </a:ln>
                      <a:extLst/>
                    </p:spPr>
                  </p:pic>
                </p:oleObj>
              </mc:Fallback>
            </mc:AlternateContent>
          </a:graphicData>
        </a:graphic>
      </p:graphicFrame>
      <p:graphicFrame>
        <p:nvGraphicFramePr>
          <p:cNvPr id="55" name="Group 70"/>
          <p:cNvGraphicFramePr>
            <a:graphicFrameLocks noGrp="1"/>
          </p:cNvGraphicFramePr>
          <p:nvPr>
            <p:extLst>
              <p:ext uri="{D42A27DB-BD31-4B8C-83A1-F6EECF244321}">
                <p14:modId xmlns:p14="http://schemas.microsoft.com/office/powerpoint/2010/main" val="965342752"/>
              </p:ext>
            </p:extLst>
          </p:nvPr>
        </p:nvGraphicFramePr>
        <p:xfrm>
          <a:off x="1308799" y="2697519"/>
          <a:ext cx="7063675" cy="1773896"/>
        </p:xfrm>
        <a:graphic>
          <a:graphicData uri="http://schemas.openxmlformats.org/drawingml/2006/table">
            <a:tbl>
              <a:tblPr/>
              <a:tblGrid>
                <a:gridCol w="1273777">
                  <a:extLst>
                    <a:ext uri="{9D8B030D-6E8A-4147-A177-3AD203B41FA5}">
                      <a16:colId xmlns:a16="http://schemas.microsoft.com/office/drawing/2014/main" val="20000"/>
                    </a:ext>
                  </a:extLst>
                </a:gridCol>
                <a:gridCol w="1598012">
                  <a:extLst>
                    <a:ext uri="{9D8B030D-6E8A-4147-A177-3AD203B41FA5}">
                      <a16:colId xmlns:a16="http://schemas.microsoft.com/office/drawing/2014/main" val="20001"/>
                    </a:ext>
                  </a:extLst>
                </a:gridCol>
                <a:gridCol w="2539835">
                  <a:extLst>
                    <a:ext uri="{9D8B030D-6E8A-4147-A177-3AD203B41FA5}">
                      <a16:colId xmlns:a16="http://schemas.microsoft.com/office/drawing/2014/main" val="20002"/>
                    </a:ext>
                  </a:extLst>
                </a:gridCol>
                <a:gridCol w="1652051">
                  <a:extLst>
                    <a:ext uri="{9D8B030D-6E8A-4147-A177-3AD203B41FA5}">
                      <a16:colId xmlns:a16="http://schemas.microsoft.com/office/drawing/2014/main" val="20003"/>
                    </a:ext>
                  </a:extLst>
                </a:gridCol>
              </a:tblGrid>
              <a:tr h="443474">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zh-CN" altLang="zh-CN" sz="2200" b="0" i="0" u="none" strike="noStrike" cap="none" normalizeH="0" baseline="0" dirty="0">
                        <a:ln>
                          <a:noFill/>
                        </a:ln>
                        <a:solidFill>
                          <a:schemeClr val="bg1"/>
                        </a:solidFill>
                        <a:effectLst/>
                        <a:latin typeface="Times New Roman" panose="02020603050405020304" pitchFamily="18" charset="0"/>
                        <a:ea typeface="宋体" pitchFamily="2" charset="-122"/>
                        <a:cs typeface="Times New Roman" panose="02020603050405020304" pitchFamily="18"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66"/>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1" u="none" strike="noStrike" cap="none" normalizeH="0" baseline="0" dirty="0">
                          <a:ln>
                            <a:noFill/>
                          </a:ln>
                          <a:solidFill>
                            <a:schemeClr val="bg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2200" b="1" i="0" u="none" strike="noStrike" cap="none" normalizeH="0" baseline="-25000" dirty="0">
                          <a:ln>
                            <a:noFill/>
                          </a:ln>
                          <a:solidFill>
                            <a:schemeClr val="bg1"/>
                          </a:solidFill>
                          <a:effectLst/>
                          <a:latin typeface="Times New Roman" panose="02020603050405020304" pitchFamily="18" charset="0"/>
                          <a:ea typeface="宋体" pitchFamily="2" charset="-122"/>
                          <a:cs typeface="Times New Roman" panose="02020603050405020304" pitchFamily="18" charset="0"/>
                          <a:sym typeface="Symbol" pitchFamily="18" charset="2"/>
                        </a:rPr>
                        <a:t></a:t>
                      </a:r>
                    </a:p>
                  </a:txBody>
                  <a:tcPr marT="45706" marB="457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66"/>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1" u="none" strike="noStrike" cap="none" normalizeH="0" baseline="0" dirty="0">
                          <a:ln>
                            <a:noFill/>
                          </a:ln>
                          <a:solidFill>
                            <a:schemeClr val="bg1"/>
                          </a:solidFill>
                          <a:effectLst/>
                          <a:latin typeface="Times New Roman" panose="02020603050405020304" pitchFamily="18" charset="0"/>
                          <a:ea typeface="宋体" pitchFamily="2" charset="-122"/>
                          <a:cs typeface="Times New Roman" panose="02020603050405020304" pitchFamily="18" charset="0"/>
                          <a:sym typeface="Symbol" pitchFamily="18" charset="2"/>
                        </a:rPr>
                        <a:t>N</a:t>
                      </a:r>
                      <a:r>
                        <a:rPr kumimoji="0" lang="en-US" altLang="zh-CN" sz="2200" b="1" i="0" u="none" strike="noStrike" cap="none" normalizeH="0" baseline="-25000" dirty="0">
                          <a:ln>
                            <a:noFill/>
                          </a:ln>
                          <a:solidFill>
                            <a:schemeClr val="bg1"/>
                          </a:solidFill>
                          <a:effectLst/>
                          <a:latin typeface="Times New Roman" panose="02020603050405020304" pitchFamily="18" charset="0"/>
                          <a:ea typeface="宋体" pitchFamily="2" charset="-122"/>
                          <a:cs typeface="Times New Roman" panose="02020603050405020304" pitchFamily="18" charset="0"/>
                          <a:sym typeface="Symbol" pitchFamily="18" charset="2"/>
                        </a:rPr>
                        <a:t>q</a:t>
                      </a:r>
                    </a:p>
                  </a:txBody>
                  <a:tcPr marT="45706" marB="457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66"/>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1" u="none" strike="noStrike" cap="none" normalizeH="0" baseline="0" dirty="0" err="1">
                          <a:ln>
                            <a:noFill/>
                          </a:ln>
                          <a:solidFill>
                            <a:schemeClr val="bg1"/>
                          </a:solidFill>
                          <a:effectLst/>
                          <a:latin typeface="Times New Roman" panose="02020603050405020304" pitchFamily="18" charset="0"/>
                          <a:ea typeface="宋体" pitchFamily="2" charset="-122"/>
                          <a:cs typeface="Times New Roman" panose="02020603050405020304" pitchFamily="18" charset="0"/>
                          <a:sym typeface="Symbol" pitchFamily="18" charset="2"/>
                        </a:rPr>
                        <a:t>N</a:t>
                      </a:r>
                      <a:r>
                        <a:rPr kumimoji="0" lang="en-US" altLang="zh-CN" sz="2200" b="1" i="1" u="none" strike="noStrike" cap="none" normalizeH="0" baseline="-25000" dirty="0" err="1">
                          <a:ln>
                            <a:noFill/>
                          </a:ln>
                          <a:solidFill>
                            <a:schemeClr val="bg1"/>
                          </a:solidFill>
                          <a:effectLst/>
                          <a:latin typeface="Times New Roman" panose="02020603050405020304" pitchFamily="18" charset="0"/>
                          <a:ea typeface="宋体" pitchFamily="2" charset="-122"/>
                          <a:cs typeface="Times New Roman" panose="02020603050405020304" pitchFamily="18" charset="0"/>
                          <a:sym typeface="Symbol" pitchFamily="18" charset="2"/>
                        </a:rPr>
                        <a:t>c</a:t>
                      </a:r>
                      <a:endParaRPr kumimoji="0" lang="en-US" altLang="zh-CN" sz="2200" b="1" i="1" u="none" strike="noStrike" cap="none" normalizeH="0" baseline="-25000" dirty="0">
                        <a:ln>
                          <a:noFill/>
                        </a:ln>
                        <a:solidFill>
                          <a:schemeClr val="bg1"/>
                        </a:solidFill>
                        <a:effectLst/>
                        <a:latin typeface="Times New Roman" panose="02020603050405020304" pitchFamily="18" charset="0"/>
                        <a:ea typeface="宋体" pitchFamily="2" charset="-122"/>
                        <a:cs typeface="Times New Roman" panose="02020603050405020304" pitchFamily="18" charset="0"/>
                        <a:sym typeface="Symbol" pitchFamily="18" charset="2"/>
                      </a:endParaRPr>
                    </a:p>
                  </a:txBody>
                  <a:tcPr marT="45706" marB="45706" anchor="ct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66"/>
                    </a:solidFill>
                  </a:tcPr>
                </a:tc>
                <a:extLst>
                  <a:ext uri="{0D108BD9-81ED-4DB2-BD59-A6C34878D82A}">
                    <a16:rowId xmlns:a16="http://schemas.microsoft.com/office/drawing/2014/main" val="10000"/>
                  </a:ext>
                </a:extLst>
              </a:tr>
              <a:tr h="443474">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1" u="none" strike="noStrike" cap="none" normalizeH="0" baseline="0" dirty="0" err="1">
                          <a:ln>
                            <a:noFill/>
                          </a:ln>
                          <a:solidFill>
                            <a:srgbClr val="CC3300"/>
                          </a:solidFill>
                          <a:effectLst/>
                          <a:latin typeface="Times New Roman" panose="02020603050405020304" pitchFamily="18" charset="0"/>
                          <a:ea typeface="宋体" pitchFamily="2" charset="-122"/>
                          <a:cs typeface="Times New Roman" panose="02020603050405020304" pitchFamily="18" charset="0"/>
                        </a:rPr>
                        <a:t>p</a:t>
                      </a:r>
                      <a:r>
                        <a:rPr kumimoji="0" lang="en-US" altLang="zh-CN" sz="2200" b="1" i="0" u="none" strike="noStrike" cap="none" normalizeH="0" baseline="-25000" dirty="0" err="1">
                          <a:ln>
                            <a:noFill/>
                          </a:ln>
                          <a:solidFill>
                            <a:srgbClr val="CC3300"/>
                          </a:solidFill>
                          <a:effectLst/>
                          <a:latin typeface="Times New Roman" panose="02020603050405020304" pitchFamily="18" charset="0"/>
                          <a:ea typeface="宋体" pitchFamily="2" charset="-122"/>
                          <a:cs typeface="Times New Roman" panose="02020603050405020304" pitchFamily="18" charset="0"/>
                        </a:rPr>
                        <a:t>cr</a:t>
                      </a:r>
                      <a:endParaRPr kumimoji="0" lang="en-US" altLang="zh-CN" sz="2200" b="1" i="0" u="none" strike="noStrike" cap="none" normalizeH="0" baseline="-2500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endParaRP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6FF"/>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6FF"/>
                    </a:solidFill>
                  </a:tcPr>
                </a:tc>
                <a:tc rowSpan="3">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 /cot</a:t>
                      </a:r>
                      <a:r>
                        <a:rPr kumimoji="0" lang="en-US" altLang="zh-CN" sz="22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 -</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/2+</a:t>
                      </a:r>
                      <a:r>
                        <a:rPr kumimoji="0" lang="en-US" altLang="zh-CN" sz="22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6FF"/>
                    </a:solidFill>
                  </a:tcPr>
                </a:tc>
                <a:tc rowSpan="3">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a:t>
                      </a:r>
                      <a:r>
                        <a:rPr kumimoji="0" lang="en-US" altLang="zh-CN" sz="22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N</a:t>
                      </a:r>
                      <a:r>
                        <a:rPr kumimoji="0" lang="en-US" altLang="zh-CN" sz="22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q</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-1</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)cot</a:t>
                      </a:r>
                      <a:r>
                        <a:rPr kumimoji="0" lang="en-US" altLang="zh-CN" sz="22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6FF"/>
                    </a:solidFill>
                  </a:tcPr>
                </a:tc>
                <a:extLst>
                  <a:ext uri="{0D108BD9-81ED-4DB2-BD59-A6C34878D82A}">
                    <a16:rowId xmlns:a16="http://schemas.microsoft.com/office/drawing/2014/main" val="10001"/>
                  </a:ext>
                </a:extLst>
              </a:tr>
              <a:tr h="443474">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1"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p</a:t>
                      </a:r>
                      <a:r>
                        <a:rPr kumimoji="0" lang="en-US" altLang="zh-CN" sz="2200" b="1" i="0" u="none" strike="noStrike" cap="none" normalizeH="0" baseline="-2500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6FF"/>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a:t>
                      </a:r>
                      <a:r>
                        <a:rPr kumimoji="0" lang="en-US" altLang="zh-CN" sz="22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N</a:t>
                      </a:r>
                      <a:r>
                        <a:rPr kumimoji="0" lang="en-US" altLang="zh-CN" sz="22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q</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-1)/2</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6FF"/>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443474">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1"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p</a:t>
                      </a:r>
                      <a:r>
                        <a:rPr kumimoji="0" lang="en-US" altLang="zh-CN" sz="2200" b="1" i="0" u="none" strike="noStrike" cap="none" normalizeH="0" baseline="-2500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1/3</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6FF"/>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2(</a:t>
                      </a:r>
                      <a:r>
                        <a:rPr kumimoji="0" lang="en-US" altLang="zh-CN" sz="22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N</a:t>
                      </a:r>
                      <a:r>
                        <a:rPr kumimoji="0" lang="en-US" altLang="zh-CN" sz="22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q</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Symbol" pitchFamily="18" charset="2"/>
                        </a:rPr>
                        <a:t>-1)/3</a:t>
                      </a:r>
                    </a:p>
                  </a:txBody>
                  <a:tcPr marT="45706" marB="457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E6FF"/>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3"/>
                  </a:ext>
                </a:extLst>
              </a:tr>
            </a:tbl>
          </a:graphicData>
        </a:graphic>
      </p:graphicFrame>
      <p:sp>
        <p:nvSpPr>
          <p:cNvPr id="9" name="Text Box 110"/>
          <p:cNvSpPr txBox="1">
            <a:spLocks noChangeArrowheads="1"/>
          </p:cNvSpPr>
          <p:nvPr/>
        </p:nvSpPr>
        <p:spPr bwMode="auto">
          <a:xfrm>
            <a:off x="1461962" y="4700120"/>
            <a:ext cx="7133397" cy="697627"/>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71463" indent="-271463" defTabSz="739775" eaLnBrk="1" hangingPunct="1">
              <a:lnSpc>
                <a:spcPct val="105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承载力系数</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q</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γ</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都是内摩擦角</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φ</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的函数</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eaLnBrk="1" hangingPunct="1">
              <a:lnSpc>
                <a:spcPct val="105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对重度</a:t>
            </a:r>
            <a:r>
              <a:rPr lang="zh-CN" altLang="en-US"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地下水位以上用天然重度，地下水位以下用浮重度</a:t>
            </a:r>
          </a:p>
        </p:txBody>
      </p:sp>
      <p:sp>
        <p:nvSpPr>
          <p:cNvPr id="10"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spTree>
    <p:extLst>
      <p:ext uri="{BB962C8B-B14F-4D97-AF65-F5344CB8AC3E}">
        <p14:creationId xmlns:p14="http://schemas.microsoft.com/office/powerpoint/2010/main" val="120270725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p:cNvSpPr/>
          <p:nvPr/>
        </p:nvSpPr>
        <p:spPr bwMode="auto">
          <a:xfrm>
            <a:off x="5471246" y="2281300"/>
            <a:ext cx="2984196" cy="865179"/>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31</a:t>
            </a:fld>
            <a:endParaRPr lang="zh-CN" altLang="en-US" dirty="0">
              <a:solidFill>
                <a:srgbClr val="C00000"/>
              </a:solidFill>
            </a:endParaRPr>
          </a:p>
        </p:txBody>
      </p:sp>
      <p:sp>
        <p:nvSpPr>
          <p:cNvPr id="13"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条形均布荷载</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3431050" y="763767"/>
            <a:ext cx="1842699" cy="406265"/>
          </a:xfrm>
          <a:prstGeom prst="rect">
            <a:avLst/>
          </a:prstGeom>
          <a:solidFill>
            <a:schemeClr val="accent1"/>
          </a:solidFill>
          <a:ln>
            <a:noFill/>
          </a:ln>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0" indent="0" eaLnBrk="1" hangingPunct="1">
              <a:lnSpc>
                <a:spcPct val="120000"/>
              </a:lnSpc>
              <a:spcBef>
                <a:spcPts val="0"/>
              </a:spcBef>
              <a:spcAft>
                <a:spcPts val="400"/>
              </a:spcAft>
              <a:buClr>
                <a:srgbClr val="A50021"/>
              </a:buClr>
              <a:buSzPct val="120000"/>
            </a:pPr>
            <a:r>
              <a:rPr lang="en-US" altLang="zh-CN" sz="2400" b="1" i="1" dirty="0">
                <a:solidFill>
                  <a:srgbClr val="800000"/>
                </a:solidFill>
                <a:ea typeface="幼圆" panose="02010509060101010101" pitchFamily="49" charset="-122"/>
                <a:cs typeface="Times New Roman" panose="02020603050405020304" pitchFamily="18" charset="0"/>
              </a:rPr>
              <a:t>φ</a:t>
            </a:r>
            <a:r>
              <a:rPr lang="en-US" altLang="zh-CN" sz="2400" b="1" dirty="0">
                <a:solidFill>
                  <a:srgbClr val="800000"/>
                </a:solidFill>
                <a:ea typeface="幼圆" panose="02010509060101010101" pitchFamily="49" charset="-122"/>
                <a:cs typeface="Times New Roman" panose="02020603050405020304" pitchFamily="18" charset="0"/>
              </a:rPr>
              <a:t>=0</a:t>
            </a:r>
            <a:r>
              <a:rPr lang="zh-CN" altLang="en-US" sz="2400" b="1" dirty="0">
                <a:solidFill>
                  <a:srgbClr val="800000"/>
                </a:solidFill>
                <a:ea typeface="幼圆" panose="02010509060101010101" pitchFamily="49" charset="-122"/>
                <a:cs typeface="Times New Roman" panose="02020603050405020304" pitchFamily="18" charset="0"/>
              </a:rPr>
              <a:t>时的</a:t>
            </a:r>
            <a:r>
              <a:rPr lang="zh-CN" altLang="en-US" sz="2200" b="1" dirty="0">
                <a:solidFill>
                  <a:srgbClr val="800000"/>
                </a:solidFill>
                <a:ea typeface="幼圆" pitchFamily="49" charset="-122"/>
                <a:cs typeface="Times New Roman" panose="02020603050405020304" pitchFamily="18" charset="0"/>
                <a:sym typeface="Symbol" pitchFamily="18" charset="2"/>
              </a:rPr>
              <a:t>特例</a:t>
            </a:r>
            <a:endParaRPr lang="zh-CN" altLang="en-US" sz="2200" b="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临塑和临界荷载计算</a:t>
            </a:r>
          </a:p>
        </p:txBody>
      </p:sp>
      <p:sp>
        <p:nvSpPr>
          <p:cNvPr id="10" name="Text Box 5"/>
          <p:cNvSpPr txBox="1">
            <a:spLocks noChangeArrowheads="1"/>
          </p:cNvSpPr>
          <p:nvPr/>
        </p:nvSpPr>
        <p:spPr bwMode="auto">
          <a:xfrm>
            <a:off x="862909" y="1551837"/>
            <a:ext cx="2026596"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0" indent="0" eaLnBrk="1" hangingPunct="1">
              <a:lnSpc>
                <a:spcPct val="120000"/>
              </a:lnSpc>
              <a:spcBef>
                <a:spcPts val="0"/>
              </a:spcBef>
              <a:spcAft>
                <a:spcPts val="400"/>
              </a:spcAft>
              <a:buClr>
                <a:srgbClr val="A50021"/>
              </a:buClr>
              <a:buSzPct val="120000"/>
            </a:pPr>
            <a:r>
              <a:rPr lang="zh-CN" altLang="en-US" sz="2200" b="1" dirty="0">
                <a:solidFill>
                  <a:srgbClr val="000066"/>
                </a:solidFill>
                <a:ea typeface="幼圆" pitchFamily="49" charset="-122"/>
                <a:cs typeface="Times New Roman" panose="02020603050405020304" pitchFamily="18" charset="0"/>
                <a:sym typeface="Symbol" pitchFamily="18" charset="2"/>
              </a:rPr>
              <a:t>极限平衡条件：</a:t>
            </a:r>
            <a:endParaRPr lang="zh-CN" altLang="en-US" sz="2200" b="1" dirty="0">
              <a:solidFill>
                <a:srgbClr val="000066"/>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12" name="Object 37"/>
          <p:cNvGraphicFramePr>
            <a:graphicFrameLocks noChangeAspect="1"/>
          </p:cNvGraphicFramePr>
          <p:nvPr>
            <p:extLst>
              <p:ext uri="{D42A27DB-BD31-4B8C-83A1-F6EECF244321}">
                <p14:modId xmlns:p14="http://schemas.microsoft.com/office/powerpoint/2010/main" val="2229912149"/>
              </p:ext>
            </p:extLst>
          </p:nvPr>
        </p:nvGraphicFramePr>
        <p:xfrm>
          <a:off x="2888180" y="1551837"/>
          <a:ext cx="1462087" cy="412750"/>
        </p:xfrm>
        <a:graphic>
          <a:graphicData uri="http://schemas.openxmlformats.org/presentationml/2006/ole">
            <mc:AlternateContent xmlns:mc="http://schemas.openxmlformats.org/markup-compatibility/2006">
              <mc:Choice xmlns:v="urn:schemas-microsoft-com:vml" Requires="v">
                <p:oleObj spid="_x0000_s1805834" name="Microsoft 公式 3.0" r:id="rId4" imgW="812520" imgH="228600" progId="Equation.3">
                  <p:embed/>
                </p:oleObj>
              </mc:Choice>
              <mc:Fallback>
                <p:oleObj name="Microsoft 公式 3.0" r:id="rId4" imgW="812520" imgH="228600" progId="Equation.3">
                  <p:embed/>
                  <p:pic>
                    <p:nvPicPr>
                      <p:cNvPr id="74" name="Object 37"/>
                      <p:cNvPicPr>
                        <a:picLocks noChangeAspect="1" noChangeArrowheads="1"/>
                      </p:cNvPicPr>
                      <p:nvPr/>
                    </p:nvPicPr>
                    <p:blipFill>
                      <a:blip r:embed="rId5"/>
                      <a:srcRect/>
                      <a:stretch>
                        <a:fillRect/>
                      </a:stretch>
                    </p:blipFill>
                    <p:spPr bwMode="auto">
                      <a:xfrm>
                        <a:off x="2888180" y="1551837"/>
                        <a:ext cx="1462087" cy="412750"/>
                      </a:xfrm>
                      <a:prstGeom prst="rect">
                        <a:avLst/>
                      </a:prstGeom>
                      <a:noFill/>
                      <a:ln>
                        <a:noFill/>
                      </a:ln>
                      <a:extLst/>
                    </p:spPr>
                  </p:pic>
                </p:oleObj>
              </mc:Fallback>
            </mc:AlternateContent>
          </a:graphicData>
        </a:graphic>
      </p:graphicFrame>
      <p:sp>
        <p:nvSpPr>
          <p:cNvPr id="45" name="矩形 44"/>
          <p:cNvSpPr/>
          <p:nvPr/>
        </p:nvSpPr>
        <p:spPr>
          <a:xfrm>
            <a:off x="6146726" y="2539393"/>
            <a:ext cx="571620" cy="430887"/>
          </a:xfrm>
          <a:prstGeom prst="rect">
            <a:avLst/>
          </a:prstGeom>
        </p:spPr>
        <p:txBody>
          <a:bodyPr wrap="square">
            <a:spAutoFit/>
          </a:bodyPr>
          <a:lstStyle/>
          <a:p>
            <a:pPr algn="ctr">
              <a:lnSpc>
                <a:spcPct val="100000"/>
              </a:lnSpc>
              <a:buClr>
                <a:srgbClr val="C00000"/>
              </a:buClr>
            </a:pPr>
            <a:r>
              <a:rPr lang="en-US" altLang="zh-CN" sz="2200" b="1" dirty="0">
                <a:solidFill>
                  <a:srgbClr val="C00000"/>
                </a:solidFill>
                <a:ea typeface="幼圆" panose="02010509060101010101" pitchFamily="49" charset="-122"/>
                <a:cs typeface="Times New Roman" panose="02020603050405020304" pitchFamily="18" charset="0"/>
              </a:rPr>
              <a:t>M</a:t>
            </a:r>
            <a:endParaRPr lang="zh-CN" altLang="en-US" sz="2200" b="1" dirty="0">
              <a:solidFill>
                <a:srgbClr val="C00000"/>
              </a:solidFill>
              <a:ea typeface="幼圆" panose="02010509060101010101" pitchFamily="49" charset="-122"/>
              <a:cs typeface="Times New Roman" panose="02020603050405020304" pitchFamily="18" charset="0"/>
            </a:endParaRPr>
          </a:p>
        </p:txBody>
      </p:sp>
      <p:sp>
        <p:nvSpPr>
          <p:cNvPr id="64" name="Rectangle 18"/>
          <p:cNvSpPr>
            <a:spLocks noChangeArrowheads="1"/>
          </p:cNvSpPr>
          <p:nvPr/>
        </p:nvSpPr>
        <p:spPr bwMode="auto">
          <a:xfrm>
            <a:off x="781491" y="2131828"/>
            <a:ext cx="3343941" cy="547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将</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3</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的解代入，得到：</a:t>
            </a:r>
            <a:endPar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aphicFrame>
        <p:nvGraphicFramePr>
          <p:cNvPr id="65" name="Object 52"/>
          <p:cNvGraphicFramePr>
            <a:graphicFrameLocks noChangeAspect="1"/>
          </p:cNvGraphicFramePr>
          <p:nvPr>
            <p:extLst>
              <p:ext uri="{D42A27DB-BD31-4B8C-83A1-F6EECF244321}">
                <p14:modId xmlns:p14="http://schemas.microsoft.com/office/powerpoint/2010/main" val="3883657913"/>
              </p:ext>
            </p:extLst>
          </p:nvPr>
        </p:nvGraphicFramePr>
        <p:xfrm>
          <a:off x="848685" y="2636432"/>
          <a:ext cx="2536920" cy="730944"/>
        </p:xfrm>
        <a:graphic>
          <a:graphicData uri="http://schemas.openxmlformats.org/presentationml/2006/ole">
            <mc:AlternateContent xmlns:mc="http://schemas.openxmlformats.org/markup-compatibility/2006">
              <mc:Choice xmlns:v="urn:schemas-microsoft-com:vml" Requires="v">
                <p:oleObj spid="_x0000_s1805835" name="Microsoft 公式 3.0" r:id="rId6" imgW="1409400" imgH="406080" progId="Equation.3">
                  <p:embed/>
                </p:oleObj>
              </mc:Choice>
              <mc:Fallback>
                <p:oleObj name="Microsoft 公式 3.0" r:id="rId6" imgW="1409400" imgH="406080" progId="Equation.3">
                  <p:embed/>
                  <p:pic>
                    <p:nvPicPr>
                      <p:cNvPr id="577588" name="Object 52"/>
                      <p:cNvPicPr>
                        <a:picLocks noChangeAspect="1" noChangeArrowheads="1"/>
                      </p:cNvPicPr>
                      <p:nvPr/>
                    </p:nvPicPr>
                    <p:blipFill>
                      <a:blip r:embed="rId7"/>
                      <a:srcRect/>
                      <a:stretch>
                        <a:fillRect/>
                      </a:stretch>
                    </p:blipFill>
                    <p:spPr bwMode="auto">
                      <a:xfrm>
                        <a:off x="848685" y="2636432"/>
                        <a:ext cx="2536920" cy="730944"/>
                      </a:xfrm>
                      <a:prstGeom prst="rect">
                        <a:avLst/>
                      </a:prstGeom>
                      <a:noFill/>
                      <a:ln>
                        <a:noFill/>
                      </a:ln>
                      <a:extLst/>
                    </p:spPr>
                  </p:pic>
                </p:oleObj>
              </mc:Fallback>
            </mc:AlternateContent>
          </a:graphicData>
        </a:graphic>
      </p:graphicFrame>
      <p:graphicFrame>
        <p:nvGraphicFramePr>
          <p:cNvPr id="66" name="Object 53"/>
          <p:cNvGraphicFramePr>
            <a:graphicFrameLocks noChangeAspect="1"/>
          </p:cNvGraphicFramePr>
          <p:nvPr>
            <p:extLst>
              <p:ext uri="{D42A27DB-BD31-4B8C-83A1-F6EECF244321}">
                <p14:modId xmlns:p14="http://schemas.microsoft.com/office/powerpoint/2010/main" val="1988609983"/>
              </p:ext>
            </p:extLst>
          </p:nvPr>
        </p:nvGraphicFramePr>
        <p:xfrm>
          <a:off x="1574210" y="3319653"/>
          <a:ext cx="1965384" cy="776952"/>
        </p:xfrm>
        <a:graphic>
          <a:graphicData uri="http://schemas.openxmlformats.org/presentationml/2006/ole">
            <mc:AlternateContent xmlns:mc="http://schemas.openxmlformats.org/markup-compatibility/2006">
              <mc:Choice xmlns:v="urn:schemas-microsoft-com:vml" Requires="v">
                <p:oleObj spid="_x0000_s1805836" name="Microsoft 公式 3.0" r:id="rId8" imgW="1091880" imgH="431640" progId="Equation.3">
                  <p:embed/>
                </p:oleObj>
              </mc:Choice>
              <mc:Fallback>
                <p:oleObj name="Microsoft 公式 3.0" r:id="rId8" imgW="1091880" imgH="431640" progId="Equation.3">
                  <p:embed/>
                  <p:pic>
                    <p:nvPicPr>
                      <p:cNvPr id="577589" name="Object 53"/>
                      <p:cNvPicPr>
                        <a:picLocks noChangeAspect="1" noChangeArrowheads="1"/>
                      </p:cNvPicPr>
                      <p:nvPr/>
                    </p:nvPicPr>
                    <p:blipFill>
                      <a:blip r:embed="rId9"/>
                      <a:srcRect/>
                      <a:stretch>
                        <a:fillRect/>
                      </a:stretch>
                    </p:blipFill>
                    <p:spPr bwMode="auto">
                      <a:xfrm>
                        <a:off x="1574210" y="3319653"/>
                        <a:ext cx="1965384" cy="7769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 name="Rectangle 55"/>
          <p:cNvSpPr>
            <a:spLocks noChangeArrowheads="1"/>
          </p:cNvSpPr>
          <p:nvPr/>
        </p:nvSpPr>
        <p:spPr bwMode="auto">
          <a:xfrm>
            <a:off x="3617471" y="3476372"/>
            <a:ext cx="3516977" cy="514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pPr>
            <a:r>
              <a:rPr lang="zh-CN" altLang="en-US" sz="2200" b="1" dirty="0">
                <a:solidFill>
                  <a:srgbClr val="000066"/>
                </a:solidFill>
                <a:latin typeface="幼圆" panose="02010509060101010101" pitchFamily="49" charset="-122"/>
                <a:ea typeface="幼圆" panose="02010509060101010101" pitchFamily="49" charset="-122"/>
                <a:sym typeface="Symbol" panose="05050102010706020507" pitchFamily="18" charset="2"/>
              </a:rPr>
              <a:t>时，地基不会出现塑性区</a:t>
            </a:r>
          </a:p>
        </p:txBody>
      </p:sp>
      <p:sp>
        <p:nvSpPr>
          <p:cNvPr id="69" name="AutoShape 5"/>
          <p:cNvSpPr>
            <a:spLocks noChangeArrowheads="1"/>
          </p:cNvSpPr>
          <p:nvPr/>
        </p:nvSpPr>
        <p:spPr bwMode="auto">
          <a:xfrm>
            <a:off x="959789" y="3545784"/>
            <a:ext cx="356430" cy="329679"/>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70" name="Rectangle 42"/>
          <p:cNvSpPr>
            <a:spLocks noChangeArrowheads="1"/>
          </p:cNvSpPr>
          <p:nvPr/>
        </p:nvSpPr>
        <p:spPr bwMode="auto">
          <a:xfrm>
            <a:off x="1370291" y="4124953"/>
            <a:ext cx="720916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pP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2</a:t>
            </a:r>
            <a:r>
              <a:rPr kumimoji="1"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/2 </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时右端为最小，其轨迹为以基底为直径的圆弧</a:t>
            </a:r>
          </a:p>
        </p:txBody>
      </p:sp>
      <p:sp>
        <p:nvSpPr>
          <p:cNvPr id="2" name="弧形 1"/>
          <p:cNvSpPr/>
          <p:nvPr/>
        </p:nvSpPr>
        <p:spPr bwMode="auto">
          <a:xfrm>
            <a:off x="6450053" y="1817659"/>
            <a:ext cx="965199" cy="965199"/>
          </a:xfrm>
          <a:prstGeom prst="arc">
            <a:avLst>
              <a:gd name="adj1" fmla="val 21508754"/>
              <a:gd name="adj2" fmla="val 10826240"/>
            </a:avLst>
          </a:prstGeom>
          <a:solidFill>
            <a:schemeClr val="accent5">
              <a:lumMod val="90000"/>
            </a:schemeClr>
          </a:solidFill>
          <a:ln w="19050" cap="flat" cmpd="sng" algn="ctr">
            <a:solidFill>
              <a:srgbClr val="C00000"/>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4" name="Text Box 21"/>
          <p:cNvSpPr txBox="1">
            <a:spLocks noChangeArrowheads="1"/>
          </p:cNvSpPr>
          <p:nvPr/>
        </p:nvSpPr>
        <p:spPr bwMode="auto">
          <a:xfrm>
            <a:off x="5390289" y="1501719"/>
            <a:ext cx="896399"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75" name="矩形 74"/>
          <p:cNvSpPr/>
          <p:nvPr/>
        </p:nvSpPr>
        <p:spPr>
          <a:xfrm>
            <a:off x="7345744" y="1364773"/>
            <a:ext cx="571620" cy="461665"/>
          </a:xfrm>
          <a:prstGeom prst="rect">
            <a:avLst/>
          </a:prstGeom>
        </p:spPr>
        <p:txBody>
          <a:bodyPr wrap="square">
            <a:spAutoFit/>
          </a:bodyPr>
          <a:lstStyle/>
          <a:p>
            <a:pPr algn="ctr">
              <a:lnSpc>
                <a:spcPct val="100000"/>
              </a:lnSpc>
              <a:buClr>
                <a:srgbClr val="C00000"/>
              </a:buClr>
            </a:pPr>
            <a:r>
              <a:rPr lang="en-US" altLang="zh-CN" sz="2400" b="1" i="1" dirty="0">
                <a:solidFill>
                  <a:srgbClr val="000066"/>
                </a:solidFill>
                <a:ea typeface="幼圆" panose="02010509060101010101" pitchFamily="49" charset="-122"/>
                <a:cs typeface="Times New Roman" panose="02020603050405020304" pitchFamily="18" charset="0"/>
              </a:rPr>
              <a:t>p</a:t>
            </a:r>
            <a:endParaRPr lang="zh-CN" altLang="en-US" sz="2400" b="1" i="1" dirty="0">
              <a:solidFill>
                <a:srgbClr val="000066"/>
              </a:solidFill>
              <a:ea typeface="幼圆" panose="02010509060101010101" pitchFamily="49" charset="-122"/>
              <a:cs typeface="Times New Roman" panose="02020603050405020304" pitchFamily="18" charset="0"/>
            </a:endParaRPr>
          </a:p>
        </p:txBody>
      </p:sp>
      <p:grpSp>
        <p:nvGrpSpPr>
          <p:cNvPr id="76" name="组合 75"/>
          <p:cNvGrpSpPr/>
          <p:nvPr/>
        </p:nvGrpSpPr>
        <p:grpSpPr>
          <a:xfrm>
            <a:off x="6447239" y="1753000"/>
            <a:ext cx="972754" cy="531427"/>
            <a:chOff x="6252391" y="1449388"/>
            <a:chExt cx="1314450" cy="531427"/>
          </a:xfrm>
        </p:grpSpPr>
        <p:sp>
          <p:nvSpPr>
            <p:cNvPr id="77"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84" name="直接连接符 83"/>
          <p:cNvCxnSpPr/>
          <p:nvPr/>
        </p:nvCxnSpPr>
        <p:spPr bwMode="auto">
          <a:xfrm flipH="1">
            <a:off x="6427055" y="1738638"/>
            <a:ext cx="99987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Line 23"/>
          <p:cNvSpPr>
            <a:spLocks noChangeShapeType="1"/>
          </p:cNvSpPr>
          <p:nvPr/>
        </p:nvSpPr>
        <p:spPr bwMode="auto">
          <a:xfrm>
            <a:off x="5470525" y="2282993"/>
            <a:ext cx="2945372"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25"/>
          <p:cNvSpPr>
            <a:spLocks noChangeShapeType="1"/>
          </p:cNvSpPr>
          <p:nvPr/>
        </p:nvSpPr>
        <p:spPr bwMode="auto">
          <a:xfrm>
            <a:off x="5474485" y="2014449"/>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5"/>
          <p:cNvSpPr>
            <a:spLocks noChangeShapeType="1"/>
          </p:cNvSpPr>
          <p:nvPr/>
        </p:nvSpPr>
        <p:spPr bwMode="auto">
          <a:xfrm>
            <a:off x="5636611" y="2014449"/>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25"/>
          <p:cNvSpPr>
            <a:spLocks noChangeShapeType="1"/>
          </p:cNvSpPr>
          <p:nvPr/>
        </p:nvSpPr>
        <p:spPr bwMode="auto">
          <a:xfrm>
            <a:off x="5798736" y="2014449"/>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25"/>
          <p:cNvSpPr>
            <a:spLocks noChangeShapeType="1"/>
          </p:cNvSpPr>
          <p:nvPr/>
        </p:nvSpPr>
        <p:spPr bwMode="auto">
          <a:xfrm>
            <a:off x="5960862" y="2014449"/>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25"/>
          <p:cNvSpPr>
            <a:spLocks noChangeShapeType="1"/>
          </p:cNvSpPr>
          <p:nvPr/>
        </p:nvSpPr>
        <p:spPr bwMode="auto">
          <a:xfrm>
            <a:off x="6122988" y="2014449"/>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Line 25"/>
          <p:cNvSpPr>
            <a:spLocks noChangeShapeType="1"/>
          </p:cNvSpPr>
          <p:nvPr/>
        </p:nvSpPr>
        <p:spPr bwMode="auto">
          <a:xfrm>
            <a:off x="6285113" y="2014449"/>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25"/>
          <p:cNvSpPr>
            <a:spLocks noChangeShapeType="1"/>
          </p:cNvSpPr>
          <p:nvPr/>
        </p:nvSpPr>
        <p:spPr bwMode="auto">
          <a:xfrm>
            <a:off x="7582690" y="200628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25"/>
          <p:cNvSpPr>
            <a:spLocks noChangeShapeType="1"/>
          </p:cNvSpPr>
          <p:nvPr/>
        </p:nvSpPr>
        <p:spPr bwMode="auto">
          <a:xfrm>
            <a:off x="7744815" y="200628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25"/>
          <p:cNvSpPr>
            <a:spLocks noChangeShapeType="1"/>
          </p:cNvSpPr>
          <p:nvPr/>
        </p:nvSpPr>
        <p:spPr bwMode="auto">
          <a:xfrm>
            <a:off x="7906941" y="200628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25"/>
          <p:cNvSpPr>
            <a:spLocks noChangeShapeType="1"/>
          </p:cNvSpPr>
          <p:nvPr/>
        </p:nvSpPr>
        <p:spPr bwMode="auto">
          <a:xfrm>
            <a:off x="8069067" y="200628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25"/>
          <p:cNvSpPr>
            <a:spLocks noChangeShapeType="1"/>
          </p:cNvSpPr>
          <p:nvPr/>
        </p:nvSpPr>
        <p:spPr bwMode="auto">
          <a:xfrm>
            <a:off x="8231192" y="200628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25"/>
          <p:cNvSpPr>
            <a:spLocks noChangeShapeType="1"/>
          </p:cNvSpPr>
          <p:nvPr/>
        </p:nvSpPr>
        <p:spPr bwMode="auto">
          <a:xfrm>
            <a:off x="8393318" y="200628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98" name="直接连接符 97"/>
          <p:cNvCxnSpPr/>
          <p:nvPr/>
        </p:nvCxnSpPr>
        <p:spPr bwMode="auto">
          <a:xfrm flipH="1">
            <a:off x="5468278" y="2001571"/>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98"/>
          <p:cNvCxnSpPr/>
          <p:nvPr/>
        </p:nvCxnSpPr>
        <p:spPr bwMode="auto">
          <a:xfrm flipH="1">
            <a:off x="7420204" y="1990685"/>
            <a:ext cx="9846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连接符 99"/>
          <p:cNvCxnSpPr/>
          <p:nvPr/>
        </p:nvCxnSpPr>
        <p:spPr bwMode="auto">
          <a:xfrm flipH="1">
            <a:off x="6448623" y="2001571"/>
            <a:ext cx="984682"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Text Box 21"/>
          <p:cNvSpPr txBox="1">
            <a:spLocks noChangeArrowheads="1"/>
          </p:cNvSpPr>
          <p:nvPr/>
        </p:nvSpPr>
        <p:spPr bwMode="auto">
          <a:xfrm>
            <a:off x="6761739" y="1234585"/>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sp>
        <p:nvSpPr>
          <p:cNvPr id="111" name="椭圆 110"/>
          <p:cNvSpPr/>
          <p:nvPr/>
        </p:nvSpPr>
        <p:spPr bwMode="auto">
          <a:xfrm>
            <a:off x="6591282" y="2641247"/>
            <a:ext cx="62240" cy="62240"/>
          </a:xfrm>
          <a:prstGeom prst="ellipse">
            <a:avLst/>
          </a:prstGeom>
          <a:solidFill>
            <a:srgbClr val="000066"/>
          </a:solid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12" name="任意多边形 111"/>
          <p:cNvSpPr/>
          <p:nvPr/>
        </p:nvSpPr>
        <p:spPr bwMode="auto">
          <a:xfrm>
            <a:off x="6444388" y="2262368"/>
            <a:ext cx="968886" cy="417190"/>
          </a:xfrm>
          <a:custGeom>
            <a:avLst/>
            <a:gdLst>
              <a:gd name="connsiteX0" fmla="*/ 163032 w 1148316"/>
              <a:gd name="connsiteY0" fmla="*/ 14177 h 1304260"/>
              <a:gd name="connsiteX1" fmla="*/ 0 w 1148316"/>
              <a:gd name="connsiteY1" fmla="*/ 1304260 h 1304260"/>
              <a:gd name="connsiteX2" fmla="*/ 1148316 w 1148316"/>
              <a:gd name="connsiteY2" fmla="*/ 0 h 1304260"/>
              <a:gd name="connsiteX0" fmla="*/ 142935 w 1148316"/>
              <a:gd name="connsiteY0" fmla="*/ 54370 h 1304260"/>
              <a:gd name="connsiteX1" fmla="*/ 0 w 1148316"/>
              <a:gd name="connsiteY1" fmla="*/ 1304260 h 1304260"/>
              <a:gd name="connsiteX2" fmla="*/ 1148316 w 1148316"/>
              <a:gd name="connsiteY2" fmla="*/ 0 h 1304260"/>
              <a:gd name="connsiteX0" fmla="*/ 142935 w 1111472"/>
              <a:gd name="connsiteY0" fmla="*/ 10828 h 1260718"/>
              <a:gd name="connsiteX1" fmla="*/ 0 w 1111472"/>
              <a:gd name="connsiteY1" fmla="*/ 1260718 h 1260718"/>
              <a:gd name="connsiteX2" fmla="*/ 1111472 w 1111472"/>
              <a:gd name="connsiteY2" fmla="*/ 0 h 1260718"/>
              <a:gd name="connsiteX0" fmla="*/ 136236 w 1111472"/>
              <a:gd name="connsiteY0" fmla="*/ 14177 h 1260718"/>
              <a:gd name="connsiteX1" fmla="*/ 0 w 1111472"/>
              <a:gd name="connsiteY1" fmla="*/ 1260718 h 1260718"/>
              <a:gd name="connsiteX2" fmla="*/ 1111472 w 1111472"/>
              <a:gd name="connsiteY2" fmla="*/ 0 h 1260718"/>
              <a:gd name="connsiteX0" fmla="*/ 136236 w 1273397"/>
              <a:gd name="connsiteY0" fmla="*/ 0 h 1246541"/>
              <a:gd name="connsiteX1" fmla="*/ 0 w 1273397"/>
              <a:gd name="connsiteY1" fmla="*/ 1246541 h 1246541"/>
              <a:gd name="connsiteX2" fmla="*/ 1273397 w 1273397"/>
              <a:gd name="connsiteY2" fmla="*/ 468423 h 1246541"/>
              <a:gd name="connsiteX0" fmla="*/ 136236 w 1273397"/>
              <a:gd name="connsiteY0" fmla="*/ 0 h 1246541"/>
              <a:gd name="connsiteX1" fmla="*/ 0 w 1273397"/>
              <a:gd name="connsiteY1" fmla="*/ 1246541 h 1246541"/>
              <a:gd name="connsiteX2" fmla="*/ 1273397 w 1273397"/>
              <a:gd name="connsiteY2" fmla="*/ 468423 h 1246541"/>
              <a:gd name="connsiteX0" fmla="*/ 304511 w 1273397"/>
              <a:gd name="connsiteY0" fmla="*/ 0 h 795691"/>
              <a:gd name="connsiteX1" fmla="*/ 0 w 1273397"/>
              <a:gd name="connsiteY1" fmla="*/ 795691 h 795691"/>
              <a:gd name="connsiteX2" fmla="*/ 1273397 w 1273397"/>
              <a:gd name="connsiteY2" fmla="*/ 17573 h 795691"/>
              <a:gd name="connsiteX0" fmla="*/ 0 w 968886"/>
              <a:gd name="connsiteY0" fmla="*/ 0 h 405947"/>
              <a:gd name="connsiteX1" fmla="*/ 145194 w 968886"/>
              <a:gd name="connsiteY1" fmla="*/ 405947 h 405947"/>
              <a:gd name="connsiteX2" fmla="*/ 968886 w 968886"/>
              <a:gd name="connsiteY2" fmla="*/ 17573 h 405947"/>
              <a:gd name="connsiteX0" fmla="*/ 0 w 968886"/>
              <a:gd name="connsiteY0" fmla="*/ 0 h 405947"/>
              <a:gd name="connsiteX1" fmla="*/ 145194 w 968886"/>
              <a:gd name="connsiteY1" fmla="*/ 405947 h 405947"/>
              <a:gd name="connsiteX2" fmla="*/ 968886 w 968886"/>
              <a:gd name="connsiteY2" fmla="*/ 17573 h 405947"/>
              <a:gd name="connsiteX0" fmla="*/ 0 w 968886"/>
              <a:gd name="connsiteY0" fmla="*/ 0 h 417190"/>
              <a:gd name="connsiteX1" fmla="*/ 178922 w 968886"/>
              <a:gd name="connsiteY1" fmla="*/ 417190 h 417190"/>
              <a:gd name="connsiteX2" fmla="*/ 968886 w 968886"/>
              <a:gd name="connsiteY2" fmla="*/ 17573 h 417190"/>
            </a:gdLst>
            <a:ahLst/>
            <a:cxnLst>
              <a:cxn ang="0">
                <a:pos x="connsiteX0" y="connsiteY0"/>
              </a:cxn>
              <a:cxn ang="0">
                <a:pos x="connsiteX1" y="connsiteY1"/>
              </a:cxn>
              <a:cxn ang="0">
                <a:pos x="connsiteX2" y="connsiteY2"/>
              </a:cxn>
            </a:cxnLst>
            <a:rect l="l" t="t" r="r" b="b"/>
            <a:pathLst>
              <a:path w="968886" h="417190">
                <a:moveTo>
                  <a:pt x="0" y="0"/>
                </a:moveTo>
                <a:lnTo>
                  <a:pt x="178922" y="417190"/>
                </a:lnTo>
                <a:lnTo>
                  <a:pt x="968886" y="17573"/>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13" name="Freeform 185"/>
          <p:cNvSpPr>
            <a:spLocks/>
          </p:cNvSpPr>
          <p:nvPr/>
        </p:nvSpPr>
        <p:spPr bwMode="auto">
          <a:xfrm rot="19023617">
            <a:off x="6618938" y="2433633"/>
            <a:ext cx="86196" cy="232729"/>
          </a:xfrm>
          <a:custGeom>
            <a:avLst/>
            <a:gdLst>
              <a:gd name="T0" fmla="*/ 70 w 70"/>
              <a:gd name="T1" fmla="*/ 189 h 189"/>
              <a:gd name="T2" fmla="*/ 58 w 70"/>
              <a:gd name="T3" fmla="*/ 96 h 189"/>
              <a:gd name="T4" fmla="*/ 0 w 70"/>
              <a:gd name="T5" fmla="*/ 0 h 189"/>
              <a:gd name="T6" fmla="*/ 0 60000 65536"/>
              <a:gd name="T7" fmla="*/ 0 60000 65536"/>
              <a:gd name="T8" fmla="*/ 0 60000 65536"/>
              <a:gd name="T9" fmla="*/ 0 w 70"/>
              <a:gd name="T10" fmla="*/ 0 h 189"/>
              <a:gd name="T11" fmla="*/ 70 w 70"/>
              <a:gd name="T12" fmla="*/ 189 h 189"/>
            </a:gdLst>
            <a:ahLst/>
            <a:cxnLst>
              <a:cxn ang="T6">
                <a:pos x="T0" y="T1"/>
              </a:cxn>
              <a:cxn ang="T7">
                <a:pos x="T2" y="T3"/>
              </a:cxn>
              <a:cxn ang="T8">
                <a:pos x="T4" y="T5"/>
              </a:cxn>
            </a:cxnLst>
            <a:rect l="T9" t="T10" r="T11" b="T12"/>
            <a:pathLst>
              <a:path w="70" h="189">
                <a:moveTo>
                  <a:pt x="70" y="189"/>
                </a:moveTo>
                <a:cubicBezTo>
                  <a:pt x="70" y="158"/>
                  <a:pt x="70" y="127"/>
                  <a:pt x="58" y="96"/>
                </a:cubicBezTo>
                <a:cubicBezTo>
                  <a:pt x="46" y="65"/>
                  <a:pt x="23" y="32"/>
                  <a:pt x="0" y="0"/>
                </a:cubicBezTo>
              </a:path>
            </a:pathLst>
          </a:custGeom>
          <a:noFill/>
          <a:ln w="12700" cmpd="sng">
            <a:solidFill>
              <a:schemeClr val="tx1"/>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4" name="Text Box 208"/>
          <p:cNvSpPr txBox="1">
            <a:spLocks noChangeArrowheads="1"/>
          </p:cNvSpPr>
          <p:nvPr/>
        </p:nvSpPr>
        <p:spPr bwMode="auto">
          <a:xfrm>
            <a:off x="6613374" y="2218549"/>
            <a:ext cx="4539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dirty="0">
                <a:solidFill>
                  <a:srgbClr val="A50021"/>
                </a:solidFill>
                <a:ea typeface="幼圆" pitchFamily="49" charset="-122"/>
                <a:sym typeface="Symbol" pitchFamily="18" charset="2"/>
              </a:rPr>
              <a:t>2</a:t>
            </a:r>
            <a:r>
              <a:rPr lang="zh-CN" altLang="en-US" sz="2000" b="1" i="1" dirty="0">
                <a:solidFill>
                  <a:srgbClr val="A50021"/>
                </a:solidFill>
                <a:ea typeface="幼圆" pitchFamily="49" charset="-122"/>
                <a:sym typeface="Symbol" pitchFamily="18" charset="2"/>
              </a:rPr>
              <a:t></a:t>
            </a:r>
          </a:p>
        </p:txBody>
      </p:sp>
      <p:sp>
        <p:nvSpPr>
          <p:cNvPr id="115" name="AutoShape 5"/>
          <p:cNvSpPr>
            <a:spLocks noChangeArrowheads="1"/>
          </p:cNvSpPr>
          <p:nvPr/>
        </p:nvSpPr>
        <p:spPr bwMode="auto">
          <a:xfrm>
            <a:off x="961114" y="4159359"/>
            <a:ext cx="356430" cy="329679"/>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19" name="Rectangle 55"/>
          <p:cNvSpPr>
            <a:spLocks noChangeArrowheads="1"/>
          </p:cNvSpPr>
          <p:nvPr/>
        </p:nvSpPr>
        <p:spPr bwMode="auto">
          <a:xfrm>
            <a:off x="776577" y="4841680"/>
            <a:ext cx="2952584" cy="42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buClr>
                <a:srgbClr val="800000"/>
              </a:buClr>
              <a:buSzPct val="130000"/>
              <a:buFont typeface="Wingdings" panose="05000000000000000000" pitchFamily="2" charset="2"/>
              <a:buChar char="F"/>
            </a:pPr>
            <a:r>
              <a:rPr lang="zh-CN" altLang="en-US" sz="24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临塑和临界荷载：</a:t>
            </a:r>
          </a:p>
        </p:txBody>
      </p:sp>
      <p:sp>
        <p:nvSpPr>
          <p:cNvPr id="120" name="Rectangle 44"/>
          <p:cNvSpPr>
            <a:spLocks noChangeArrowheads="1"/>
          </p:cNvSpPr>
          <p:nvPr/>
        </p:nvSpPr>
        <p:spPr bwMode="auto">
          <a:xfrm>
            <a:off x="3775661" y="4808549"/>
            <a:ext cx="3783481" cy="447261"/>
          </a:xfrm>
          <a:prstGeom prst="rect">
            <a:avLst/>
          </a:prstGeom>
          <a:noFill/>
          <a:ln w="9525">
            <a:noFill/>
            <a:miter lim="800000"/>
            <a:headEnd/>
            <a:tailEnd/>
          </a:ln>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pP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p</a:t>
            </a:r>
            <a:r>
              <a:rPr lang="en-US" altLang="zh-CN" sz="24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cr</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 p</a:t>
            </a:r>
            <a:r>
              <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1/4</a:t>
            </a:r>
            <a:r>
              <a:rPr lang="en-US" altLang="zh-CN" sz="2400" b="1" i="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p</a:t>
            </a:r>
            <a:r>
              <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1/3</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sz="24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0</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d+</a:t>
            </a:r>
            <a:r>
              <a:rPr lang="en-US" altLang="zh-CN" sz="2400" b="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sz="24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c</a:t>
            </a:r>
            <a:endParaRPr lang="en-US" altLang="zh-CN" sz="2400" b="1" i="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endParaRPr>
          </a:p>
        </p:txBody>
      </p:sp>
      <p:sp>
        <p:nvSpPr>
          <p:cNvPr id="59"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grpSp>
        <p:nvGrpSpPr>
          <p:cNvPr id="57" name="组合 56"/>
          <p:cNvGrpSpPr/>
          <p:nvPr/>
        </p:nvGrpSpPr>
        <p:grpSpPr>
          <a:xfrm>
            <a:off x="6433877" y="1588182"/>
            <a:ext cx="986232" cy="108000"/>
            <a:chOff x="6348986" y="3976340"/>
            <a:chExt cx="1362333" cy="109926"/>
          </a:xfrm>
        </p:grpSpPr>
        <p:cxnSp>
          <p:nvCxnSpPr>
            <p:cNvPr id="58" name="直接连接符 57"/>
            <p:cNvCxnSpPr/>
            <p:nvPr/>
          </p:nvCxnSpPr>
          <p:spPr bwMode="auto">
            <a:xfrm>
              <a:off x="6348986" y="3981335"/>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59"/>
            <p:cNvCxnSpPr/>
            <p:nvPr/>
          </p:nvCxnSpPr>
          <p:spPr bwMode="auto">
            <a:xfrm>
              <a:off x="7697372" y="3976340"/>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60"/>
            <p:cNvCxnSpPr/>
            <p:nvPr/>
          </p:nvCxnSpPr>
          <p:spPr bwMode="auto">
            <a:xfrm>
              <a:off x="6348987" y="4047235"/>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76206725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42" presetClass="entr" presetSubtype="0" fill="hold" grpId="0" nodeType="after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fade">
                                      <p:cBhvr>
                                        <p:cTn id="10" dur="1000"/>
                                        <p:tgtEl>
                                          <p:spTgt spid="10">
                                            <p:txEl>
                                              <p:pRg st="0" end="0"/>
                                            </p:txEl>
                                          </p:spTgt>
                                        </p:tgtEl>
                                      </p:cBhvr>
                                    </p:animEffect>
                                    <p:anim calcmode="lin" valueType="num">
                                      <p:cBhvr>
                                        <p:cTn id="11"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13" fill="hold">
                            <p:stCondLst>
                              <p:cond delay="4000"/>
                            </p:stCondLst>
                            <p:childTnLst>
                              <p:par>
                                <p:cTn id="14" presetID="22" presetClass="entr" presetSubtype="8"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par>
                          <p:cTn id="17" fill="hold">
                            <p:stCondLst>
                              <p:cond delay="4500"/>
                            </p:stCondLst>
                            <p:childTnLst>
                              <p:par>
                                <p:cTn id="18" presetID="22" presetClass="entr" presetSubtype="8" fill="hold" grpId="0" nodeType="afterEffect">
                                  <p:stCondLst>
                                    <p:cond delay="0"/>
                                  </p:stCondLst>
                                  <p:childTnLst>
                                    <p:set>
                                      <p:cBhvr>
                                        <p:cTn id="19" dur="1" fill="hold">
                                          <p:stCondLst>
                                            <p:cond delay="0"/>
                                          </p:stCondLst>
                                        </p:cTn>
                                        <p:tgtEl>
                                          <p:spTgt spid="64"/>
                                        </p:tgtEl>
                                        <p:attrNameLst>
                                          <p:attrName>style.visibility</p:attrName>
                                        </p:attrNameLst>
                                      </p:cBhvr>
                                      <p:to>
                                        <p:strVal val="visible"/>
                                      </p:to>
                                    </p:set>
                                    <p:animEffect transition="in" filter="wipe(left)">
                                      <p:cBhvr>
                                        <p:cTn id="20" dur="500"/>
                                        <p:tgtEl>
                                          <p:spTgt spid="64"/>
                                        </p:tgtEl>
                                      </p:cBhvr>
                                    </p:animEffect>
                                  </p:childTnLst>
                                </p:cTn>
                              </p:par>
                            </p:childTnLst>
                          </p:cTn>
                        </p:par>
                        <p:par>
                          <p:cTn id="21" fill="hold">
                            <p:stCondLst>
                              <p:cond delay="5000"/>
                            </p:stCondLst>
                            <p:childTnLst>
                              <p:par>
                                <p:cTn id="22" presetID="9" presetClass="entr" presetSubtype="0" fill="hold" nodeType="after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dissolve">
                                      <p:cBhvr>
                                        <p:cTn id="24" dur="500"/>
                                        <p:tgtEl>
                                          <p:spTgt spid="6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9"/>
                                        </p:tgtEl>
                                        <p:attrNameLst>
                                          <p:attrName>style.visibility</p:attrName>
                                        </p:attrNameLst>
                                      </p:cBhvr>
                                      <p:to>
                                        <p:strVal val="visible"/>
                                      </p:to>
                                    </p:set>
                                    <p:animEffect transition="in" filter="wipe(left)">
                                      <p:cBhvr>
                                        <p:cTn id="29" dur="1000"/>
                                        <p:tgtEl>
                                          <p:spTgt spid="69"/>
                                        </p:tgtEl>
                                      </p:cBhvr>
                                    </p:animEffect>
                                  </p:childTnLst>
                                </p:cTn>
                              </p:par>
                            </p:childTnLst>
                          </p:cTn>
                        </p:par>
                        <p:par>
                          <p:cTn id="30" fill="hold">
                            <p:stCondLst>
                              <p:cond delay="1000"/>
                            </p:stCondLst>
                            <p:childTnLst>
                              <p:par>
                                <p:cTn id="31" presetID="9" presetClass="entr" presetSubtype="0" fill="hold" nodeType="after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dissolve">
                                      <p:cBhvr>
                                        <p:cTn id="33" dur="500"/>
                                        <p:tgtEl>
                                          <p:spTgt spid="66"/>
                                        </p:tgtEl>
                                      </p:cBhvr>
                                    </p:animEffect>
                                  </p:childTnLst>
                                </p:cTn>
                              </p:par>
                            </p:childTnLst>
                          </p:cTn>
                        </p:par>
                        <p:par>
                          <p:cTn id="34" fill="hold">
                            <p:stCondLst>
                              <p:cond delay="1500"/>
                            </p:stCondLst>
                            <p:childTnLst>
                              <p:par>
                                <p:cTn id="35" presetID="9" presetClass="entr" presetSubtype="0" fill="hold" grpId="0" nodeType="afterEffect">
                                  <p:stCondLst>
                                    <p:cond delay="0"/>
                                  </p:stCondLst>
                                  <p:childTnLst>
                                    <p:set>
                                      <p:cBhvr>
                                        <p:cTn id="36" dur="1" fill="hold">
                                          <p:stCondLst>
                                            <p:cond delay="0"/>
                                          </p:stCondLst>
                                        </p:cTn>
                                        <p:tgtEl>
                                          <p:spTgt spid="68"/>
                                        </p:tgtEl>
                                        <p:attrNameLst>
                                          <p:attrName>style.visibility</p:attrName>
                                        </p:attrNameLst>
                                      </p:cBhvr>
                                      <p:to>
                                        <p:strVal val="visible"/>
                                      </p:to>
                                    </p:set>
                                    <p:animEffect transition="in" filter="dissolve">
                                      <p:cBhvr>
                                        <p:cTn id="37" dur="500"/>
                                        <p:tgtEl>
                                          <p:spTgt spid="6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5"/>
                                        </p:tgtEl>
                                        <p:attrNameLst>
                                          <p:attrName>style.visibility</p:attrName>
                                        </p:attrNameLst>
                                      </p:cBhvr>
                                      <p:to>
                                        <p:strVal val="visible"/>
                                      </p:to>
                                    </p:set>
                                    <p:animEffect transition="in" filter="wipe(left)">
                                      <p:cBhvr>
                                        <p:cTn id="42" dur="1000"/>
                                        <p:tgtEl>
                                          <p:spTgt spid="115"/>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wipe(left)">
                                      <p:cBhvr>
                                        <p:cTn id="46" dur="500"/>
                                        <p:tgtEl>
                                          <p:spTgt spid="7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19"/>
                                        </p:tgtEl>
                                        <p:attrNameLst>
                                          <p:attrName>style.visibility</p:attrName>
                                        </p:attrNameLst>
                                      </p:cBhvr>
                                      <p:to>
                                        <p:strVal val="visible"/>
                                      </p:to>
                                    </p:set>
                                    <p:animEffect transition="in" filter="wipe(left)">
                                      <p:cBhvr>
                                        <p:cTn id="51" dur="500"/>
                                        <p:tgtEl>
                                          <p:spTgt spid="119"/>
                                        </p:tgtEl>
                                      </p:cBhvr>
                                    </p:animEffect>
                                  </p:childTnLst>
                                </p:cTn>
                              </p:par>
                            </p:childTnLst>
                          </p:cTn>
                        </p:par>
                        <p:par>
                          <p:cTn id="52" fill="hold">
                            <p:stCondLst>
                              <p:cond delay="500"/>
                            </p:stCondLst>
                            <p:childTnLst>
                              <p:par>
                                <p:cTn id="53" presetID="22" presetClass="entr" presetSubtype="8" fill="hold" grpId="0" nodeType="afterEffect">
                                  <p:stCondLst>
                                    <p:cond delay="0"/>
                                  </p:stCondLst>
                                  <p:iterate type="wd">
                                    <p:tmPct val="100000"/>
                                  </p:iterate>
                                  <p:childTnLst>
                                    <p:set>
                                      <p:cBhvr>
                                        <p:cTn id="54" dur="1" fill="hold">
                                          <p:stCondLst>
                                            <p:cond delay="0"/>
                                          </p:stCondLst>
                                        </p:cTn>
                                        <p:tgtEl>
                                          <p:spTgt spid="120"/>
                                        </p:tgtEl>
                                        <p:attrNameLst>
                                          <p:attrName>style.visibility</p:attrName>
                                        </p:attrNameLst>
                                      </p:cBhvr>
                                      <p:to>
                                        <p:strVal val="visible"/>
                                      </p:to>
                                    </p:set>
                                    <p:animEffect transition="in" filter="wipe(left)">
                                      <p:cBhvr>
                                        <p:cTn id="55" dur="3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uiExpand="1" build="p"/>
      <p:bldP spid="64" grpId="0" autoUpdateAnimBg="0"/>
      <p:bldP spid="68" grpId="0" autoUpdateAnimBg="0"/>
      <p:bldP spid="69" grpId="0" animBg="1"/>
      <p:bldP spid="70" grpId="0" autoUpdateAnimBg="0"/>
      <p:bldP spid="115" grpId="0" animBg="1"/>
      <p:bldP spid="119" grpId="0" autoUpdateAnimBg="0"/>
      <p:bldP spid="1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32</a:t>
            </a:fld>
            <a:endParaRPr lang="zh-CN" altLang="en-US" dirty="0">
              <a:solidFill>
                <a:srgbClr val="C00000"/>
              </a:solidFill>
            </a:endParaRPr>
          </a:p>
        </p:txBody>
      </p:sp>
      <p:sp>
        <p:nvSpPr>
          <p:cNvPr id="13"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讨论</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临塑和临界荷载计算</a:t>
            </a:r>
          </a:p>
        </p:txBody>
      </p:sp>
      <p:sp>
        <p:nvSpPr>
          <p:cNvPr id="10" name="Text Box 110"/>
          <p:cNvSpPr txBox="1">
            <a:spLocks noChangeArrowheads="1"/>
          </p:cNvSpPr>
          <p:nvPr/>
        </p:nvSpPr>
        <p:spPr bwMode="auto">
          <a:xfrm>
            <a:off x="1018794" y="1500868"/>
            <a:ext cx="7455356" cy="356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表示地基中极限平衡区刚开始发展（临塑荷载</a:t>
            </a:r>
            <a:r>
              <a:rPr lang="en-US" altLang="zh-CN" sz="24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4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cr</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）或发展范围不大（临界荷载</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1/4</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1/3</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）时的荷载</a:t>
            </a:r>
          </a:p>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推导中假定</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K</a:t>
            </a:r>
            <a:r>
              <a:rPr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0 </a:t>
            </a:r>
            <a:r>
              <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=1.0</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与实际不符，但使问题得以简化</a:t>
            </a:r>
          </a:p>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计算临界荷载</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1/4 </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1/3</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时，土中已出现塑性区，此时仍按弹性理论计算土中应力，在理论上是矛盾的</a:t>
            </a:r>
            <a:endPar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公式来源于条形基础，对于矩形或圆形基础计算结果偏于安全</a:t>
            </a:r>
            <a:endPar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spTree>
    <p:extLst>
      <p:ext uri="{BB962C8B-B14F-4D97-AF65-F5344CB8AC3E}">
        <p14:creationId xmlns:p14="http://schemas.microsoft.com/office/powerpoint/2010/main" val="57936244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1000"/>
                                        <p:tgtEl>
                                          <p:spTgt spid="10">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1000"/>
                                        <p:tgtEl>
                                          <p:spTgt spid="10">
                                            <p:txEl>
                                              <p:pRg st="1" end="1"/>
                                            </p:txEl>
                                          </p:spTgt>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1000"/>
                                        <p:tgtEl>
                                          <p:spTgt spid="10">
                                            <p:txEl>
                                              <p:pRg st="2" end="2"/>
                                            </p:txEl>
                                          </p:spTgt>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10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33</a:t>
            </a:fld>
            <a:endParaRPr lang="zh-CN" altLang="en-US" dirty="0">
              <a:solidFill>
                <a:srgbClr val="C00000"/>
              </a:solidFill>
            </a:endParaRPr>
          </a:p>
        </p:txBody>
      </p:sp>
      <p:sp>
        <p:nvSpPr>
          <p:cNvPr id="13"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讨论</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1" name="Text Box 2"/>
          <p:cNvSpPr txBox="1">
            <a:spLocks noChangeArrowheads="1"/>
          </p:cNvSpPr>
          <p:nvPr/>
        </p:nvSpPr>
        <p:spPr bwMode="auto">
          <a:xfrm>
            <a:off x="1839433" y="5773566"/>
            <a:ext cx="63370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临塑和临界荷载计算</a:t>
            </a:r>
          </a:p>
        </p:txBody>
      </p:sp>
      <p:sp>
        <p:nvSpPr>
          <p:cNvPr id="7" name="Text Box 5"/>
          <p:cNvSpPr txBox="1">
            <a:spLocks noChangeArrowheads="1"/>
          </p:cNvSpPr>
          <p:nvPr/>
        </p:nvSpPr>
        <p:spPr bwMode="auto">
          <a:xfrm>
            <a:off x="981094" y="1698841"/>
            <a:ext cx="1783371" cy="443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ts val="0"/>
              </a:spcBef>
              <a:spcAft>
                <a:spcPts val="400"/>
              </a:spcAft>
              <a:buClr>
                <a:srgbClr val="A50021"/>
              </a:buClr>
              <a:buSzPct val="120000"/>
              <a:buFont typeface="Wingdings" panose="05000000000000000000" pitchFamily="2" charset="2"/>
              <a:buChar char="Ø"/>
            </a:pPr>
            <a:r>
              <a:rPr lang="zh-CN" altLang="en-US" sz="2400" b="1" dirty="0">
                <a:solidFill>
                  <a:srgbClr val="800000"/>
                </a:solidFill>
                <a:ea typeface="幼圆" pitchFamily="49" charset="-122"/>
                <a:cs typeface="Times New Roman" panose="02020603050405020304" pitchFamily="18" charset="0"/>
                <a:sym typeface="Symbol" pitchFamily="18" charset="2"/>
              </a:rPr>
              <a:t>临界荷载</a:t>
            </a:r>
            <a:endParaRPr lang="zh-CN" altLang="en-US" sz="2400" b="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8" name="Object 15"/>
          <p:cNvGraphicFramePr>
            <a:graphicFrameLocks noChangeAspect="1"/>
          </p:cNvGraphicFramePr>
          <p:nvPr>
            <p:extLst>
              <p:ext uri="{D42A27DB-BD31-4B8C-83A1-F6EECF244321}">
                <p14:modId xmlns:p14="http://schemas.microsoft.com/office/powerpoint/2010/main" val="2432813242"/>
              </p:ext>
            </p:extLst>
          </p:nvPr>
        </p:nvGraphicFramePr>
        <p:xfrm>
          <a:off x="2789238" y="1509713"/>
          <a:ext cx="3043237" cy="811212"/>
        </p:xfrm>
        <a:graphic>
          <a:graphicData uri="http://schemas.openxmlformats.org/presentationml/2006/ole">
            <mc:AlternateContent xmlns:mc="http://schemas.openxmlformats.org/markup-compatibility/2006">
              <mc:Choice xmlns:v="urn:schemas-microsoft-com:vml" Requires="v">
                <p:oleObj spid="_x0000_s1808714" name="Equation" r:id="rId4" imgW="1523880" imgH="406080" progId="Equation.DSMT4">
                  <p:embed/>
                </p:oleObj>
              </mc:Choice>
              <mc:Fallback>
                <p:oleObj name="Equation" r:id="rId4" imgW="1523880" imgH="406080" progId="Equation.DSMT4">
                  <p:embed/>
                  <p:pic>
                    <p:nvPicPr>
                      <p:cNvPr id="54" name="Object 15"/>
                      <p:cNvPicPr>
                        <a:picLocks noChangeAspect="1" noChangeArrowheads="1"/>
                      </p:cNvPicPr>
                      <p:nvPr/>
                    </p:nvPicPr>
                    <p:blipFill>
                      <a:blip r:embed="rId5"/>
                      <a:srcRect/>
                      <a:stretch>
                        <a:fillRect/>
                      </a:stretch>
                    </p:blipFill>
                    <p:spPr bwMode="auto">
                      <a:xfrm>
                        <a:off x="2789238" y="1509713"/>
                        <a:ext cx="3043237" cy="811212"/>
                      </a:xfrm>
                      <a:prstGeom prst="rect">
                        <a:avLst/>
                      </a:prstGeom>
                      <a:noFill/>
                      <a:ln>
                        <a:noFill/>
                      </a:ln>
                      <a:extLst/>
                    </p:spPr>
                  </p:pic>
                </p:oleObj>
              </mc:Fallback>
            </mc:AlternateContent>
          </a:graphicData>
        </a:graphic>
      </p:graphicFrame>
      <p:sp>
        <p:nvSpPr>
          <p:cNvPr id="12" name="Text Box 7"/>
          <p:cNvSpPr txBox="1">
            <a:spLocks noChangeArrowheads="1"/>
          </p:cNvSpPr>
          <p:nvPr/>
        </p:nvSpPr>
        <p:spPr bwMode="auto">
          <a:xfrm>
            <a:off x="2635597" y="3038081"/>
            <a:ext cx="3290738" cy="386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基础埋深</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d</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和宽度</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增大</a:t>
            </a:r>
          </a:p>
        </p:txBody>
      </p:sp>
      <p:sp>
        <p:nvSpPr>
          <p:cNvPr id="14" name="Text Box 8"/>
          <p:cNvSpPr txBox="1">
            <a:spLocks noChangeArrowheads="1"/>
          </p:cNvSpPr>
          <p:nvPr/>
        </p:nvSpPr>
        <p:spPr bwMode="auto">
          <a:xfrm>
            <a:off x="6822003" y="3328267"/>
            <a:ext cx="188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en-US" altLang="zh-CN" sz="2400" b="1" i="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400" b="1" baseline="-25000"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1/4 </a:t>
            </a:r>
            <a:r>
              <a:rPr lang="zh-CN" altLang="en-US" sz="2400" b="1" i="1" baseline="-25000"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b="1" i="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400" b="1" baseline="-25000"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1/3</a:t>
            </a:r>
            <a:r>
              <a:rPr lang="zh-CN" altLang="en-US" sz="24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增大</a:t>
            </a:r>
          </a:p>
        </p:txBody>
      </p:sp>
      <p:sp>
        <p:nvSpPr>
          <p:cNvPr id="16" name="Text Box 9"/>
          <p:cNvSpPr txBox="1">
            <a:spLocks noChangeArrowheads="1"/>
          </p:cNvSpPr>
          <p:nvPr/>
        </p:nvSpPr>
        <p:spPr bwMode="auto">
          <a:xfrm>
            <a:off x="2660997" y="3622281"/>
            <a:ext cx="317044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地基土体</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增大</a:t>
            </a:r>
          </a:p>
        </p:txBody>
      </p:sp>
      <p:sp>
        <p:nvSpPr>
          <p:cNvPr id="17" name="AutoShape 10"/>
          <p:cNvSpPr>
            <a:spLocks/>
          </p:cNvSpPr>
          <p:nvPr/>
        </p:nvSpPr>
        <p:spPr bwMode="auto">
          <a:xfrm>
            <a:off x="5999139" y="3134651"/>
            <a:ext cx="152400" cy="914400"/>
          </a:xfrm>
          <a:prstGeom prst="rightBrace">
            <a:avLst>
              <a:gd name="adj1" fmla="val 50000"/>
              <a:gd name="adj2" fmla="val 50000"/>
            </a:avLst>
          </a:pr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20" name="AutoShape 13"/>
          <p:cNvSpPr>
            <a:spLocks noChangeArrowheads="1"/>
          </p:cNvSpPr>
          <p:nvPr/>
        </p:nvSpPr>
        <p:spPr bwMode="auto">
          <a:xfrm>
            <a:off x="1216315" y="3697345"/>
            <a:ext cx="880566" cy="532912"/>
          </a:xfrm>
          <a:prstGeom prst="wedgeRoundRectCallout">
            <a:avLst>
              <a:gd name="adj1" fmla="val 94131"/>
              <a:gd name="adj2" fmla="val -31195"/>
              <a:gd name="adj3" fmla="val 16667"/>
            </a:avLst>
          </a:prstGeom>
          <a:solidFill>
            <a:schemeClr val="accent1"/>
          </a:solidFill>
          <a:ln w="19050" algn="ctr">
            <a:solidFill>
              <a:schemeClr val="folHlink"/>
            </a:solidFill>
            <a:miter lim="800000"/>
            <a:headEnd/>
            <a:tailEnd/>
          </a:ln>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zh-CN" altLang="en-US" sz="2200" b="1"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内因</a:t>
            </a:r>
            <a:endParaRPr lang="zh-CN" altLang="en-US" sz="2200" b="1" baseline="-250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1" name="AutoShape 19"/>
          <p:cNvSpPr>
            <a:spLocks noChangeArrowheads="1"/>
          </p:cNvSpPr>
          <p:nvPr/>
        </p:nvSpPr>
        <p:spPr bwMode="auto">
          <a:xfrm>
            <a:off x="6011862" y="1895626"/>
            <a:ext cx="2045209" cy="963668"/>
          </a:xfrm>
          <a:prstGeom prst="wedgeRoundRectCallout">
            <a:avLst>
              <a:gd name="adj1" fmla="val -94371"/>
              <a:gd name="adj2" fmla="val 65495"/>
              <a:gd name="adj3" fmla="val 16667"/>
            </a:avLst>
          </a:prstGeom>
          <a:solidFill>
            <a:schemeClr val="accent1"/>
          </a:solidFill>
          <a:ln w="19050" algn="ctr">
            <a:solidFill>
              <a:schemeClr val="folHlink"/>
            </a:solidFill>
            <a:miter lim="800000"/>
            <a:headEnd/>
            <a:tailEnd/>
          </a:ln>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zh-CN" altLang="en-US" sz="22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特例：</a:t>
            </a:r>
            <a:r>
              <a:rPr lang="zh-CN" altLang="en-US" sz="2200" b="1" i="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2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2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0</a:t>
            </a:r>
            <a:r>
              <a:rPr lang="zh-CN" altLang="en-US" sz="22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时</a:t>
            </a:r>
            <a:r>
              <a:rPr lang="en-US" altLang="zh-CN" sz="22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r>
            <a:br>
              <a:rPr lang="en-US" altLang="zh-CN" sz="22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br>
            <a:r>
              <a:rPr lang="en-US" altLang="zh-CN" sz="2200" b="1" i="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b</a:t>
            </a:r>
            <a:r>
              <a:rPr lang="zh-CN" altLang="en-US" sz="22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没有影响</a:t>
            </a:r>
          </a:p>
        </p:txBody>
      </p:sp>
      <p:sp>
        <p:nvSpPr>
          <p:cNvPr id="22" name="AutoShape 5"/>
          <p:cNvSpPr>
            <a:spLocks noChangeArrowheads="1"/>
          </p:cNvSpPr>
          <p:nvPr/>
        </p:nvSpPr>
        <p:spPr bwMode="auto">
          <a:xfrm>
            <a:off x="6400313" y="3423095"/>
            <a:ext cx="356430" cy="329679"/>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23" name="AutoShape 13"/>
          <p:cNvSpPr>
            <a:spLocks noChangeArrowheads="1"/>
          </p:cNvSpPr>
          <p:nvPr/>
        </p:nvSpPr>
        <p:spPr bwMode="auto">
          <a:xfrm>
            <a:off x="1216315" y="2803582"/>
            <a:ext cx="880566" cy="532912"/>
          </a:xfrm>
          <a:prstGeom prst="wedgeRoundRectCallout">
            <a:avLst>
              <a:gd name="adj1" fmla="val 83404"/>
              <a:gd name="adj2" fmla="val 26525"/>
              <a:gd name="adj3" fmla="val 16667"/>
            </a:avLst>
          </a:prstGeom>
          <a:solidFill>
            <a:schemeClr val="accent1"/>
          </a:solidFill>
          <a:ln w="19050" algn="ctr">
            <a:solidFill>
              <a:schemeClr val="folHlink"/>
            </a:solidFill>
            <a:miter lim="800000"/>
            <a:headEnd/>
            <a:tailEnd/>
          </a:ln>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zh-CN" altLang="en-US" sz="2200" b="1"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外因</a:t>
            </a:r>
            <a:endParaRPr lang="zh-CN" altLang="en-US" sz="2200" b="1" baseline="-250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4" name="Text Box 5"/>
          <p:cNvSpPr txBox="1">
            <a:spLocks noChangeArrowheads="1"/>
          </p:cNvSpPr>
          <p:nvPr/>
        </p:nvSpPr>
        <p:spPr bwMode="auto">
          <a:xfrm>
            <a:off x="968394" y="4589679"/>
            <a:ext cx="1783371" cy="38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ts val="0"/>
              </a:spcBef>
              <a:spcAft>
                <a:spcPts val="400"/>
              </a:spcAft>
              <a:buClr>
                <a:srgbClr val="A50021"/>
              </a:buClr>
              <a:buSzPct val="120000"/>
              <a:buFont typeface="Wingdings" panose="05000000000000000000" pitchFamily="2" charset="2"/>
              <a:buChar char="Ø"/>
            </a:pPr>
            <a:r>
              <a:rPr lang="zh-CN" altLang="en-US" sz="2400" b="1" dirty="0">
                <a:solidFill>
                  <a:srgbClr val="800000"/>
                </a:solidFill>
                <a:ea typeface="幼圆" pitchFamily="49" charset="-122"/>
                <a:cs typeface="Times New Roman" panose="02020603050405020304" pitchFamily="18" charset="0"/>
                <a:sym typeface="Symbol" pitchFamily="18" charset="2"/>
              </a:rPr>
              <a:t>临塑荷载</a:t>
            </a:r>
            <a:endParaRPr lang="zh-CN" altLang="en-US" sz="2400" b="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25" name="Object 15"/>
          <p:cNvGraphicFramePr>
            <a:graphicFrameLocks noChangeAspect="1"/>
          </p:cNvGraphicFramePr>
          <p:nvPr>
            <p:extLst>
              <p:ext uri="{D42A27DB-BD31-4B8C-83A1-F6EECF244321}">
                <p14:modId xmlns:p14="http://schemas.microsoft.com/office/powerpoint/2010/main" val="1527301625"/>
              </p:ext>
            </p:extLst>
          </p:nvPr>
        </p:nvGraphicFramePr>
        <p:xfrm>
          <a:off x="2987675" y="4591050"/>
          <a:ext cx="2333625" cy="481013"/>
        </p:xfrm>
        <a:graphic>
          <a:graphicData uri="http://schemas.openxmlformats.org/presentationml/2006/ole">
            <mc:AlternateContent xmlns:mc="http://schemas.openxmlformats.org/markup-compatibility/2006">
              <mc:Choice xmlns:v="urn:schemas-microsoft-com:vml" Requires="v">
                <p:oleObj spid="_x0000_s1808715" name="Microsoft 公式 3.0" r:id="rId6" imgW="1168200" imgH="241200" progId="Equation.3">
                  <p:embed/>
                </p:oleObj>
              </mc:Choice>
              <mc:Fallback>
                <p:oleObj name="Microsoft 公式 3.0" r:id="rId6" imgW="1168200" imgH="241200" progId="Equation.3">
                  <p:embed/>
                  <p:pic>
                    <p:nvPicPr>
                      <p:cNvPr id="8" name="Object 15"/>
                      <p:cNvPicPr>
                        <a:picLocks noChangeAspect="1" noChangeArrowheads="1"/>
                      </p:cNvPicPr>
                      <p:nvPr/>
                    </p:nvPicPr>
                    <p:blipFill>
                      <a:blip r:embed="rId7"/>
                      <a:srcRect/>
                      <a:stretch>
                        <a:fillRect/>
                      </a:stretch>
                    </p:blipFill>
                    <p:spPr bwMode="auto">
                      <a:xfrm>
                        <a:off x="2987675" y="4591050"/>
                        <a:ext cx="2333625" cy="481013"/>
                      </a:xfrm>
                      <a:prstGeom prst="rect">
                        <a:avLst/>
                      </a:prstGeom>
                      <a:noFill/>
                      <a:ln>
                        <a:noFill/>
                      </a:ln>
                      <a:extLst/>
                    </p:spPr>
                  </p:pic>
                </p:oleObj>
              </mc:Fallback>
            </mc:AlternateContent>
          </a:graphicData>
        </a:graphic>
      </p:graphicFrame>
      <p:sp>
        <p:nvSpPr>
          <p:cNvPr id="27" name="AutoShape 18"/>
          <p:cNvSpPr>
            <a:spLocks noChangeArrowheads="1"/>
          </p:cNvSpPr>
          <p:nvPr/>
        </p:nvSpPr>
        <p:spPr bwMode="auto">
          <a:xfrm>
            <a:off x="6011863" y="4929248"/>
            <a:ext cx="2102210" cy="532912"/>
          </a:xfrm>
          <a:prstGeom prst="wedgeRoundRectCallout">
            <a:avLst>
              <a:gd name="adj1" fmla="val -72715"/>
              <a:gd name="adj2" fmla="val -46056"/>
              <a:gd name="adj3" fmla="val 16667"/>
            </a:avLst>
          </a:prstGeom>
          <a:solidFill>
            <a:schemeClr val="accent1"/>
          </a:solidFill>
          <a:ln w="19050" algn="ctr">
            <a:solidFill>
              <a:schemeClr val="folHlink"/>
            </a:solidFill>
            <a:miter lim="800000"/>
            <a:headEnd/>
            <a:tailEnd/>
          </a:ln>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en-US" altLang="zh-CN" sz="2200" b="1" i="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2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对</a:t>
            </a:r>
            <a:r>
              <a:rPr lang="en-US" altLang="zh-CN" sz="2200" b="1" i="1" dirty="0" err="1">
                <a:solidFill>
                  <a:srgbClr val="8000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200" b="1" baseline="-25000" dirty="0" err="1">
                <a:solidFill>
                  <a:srgbClr val="800000"/>
                </a:solidFill>
                <a:latin typeface="Times New Roman" panose="02020603050405020304" pitchFamily="18" charset="0"/>
                <a:ea typeface="幼圆" panose="02010509060101010101" pitchFamily="49" charset="-122"/>
                <a:cs typeface="Times New Roman" panose="02020603050405020304" pitchFamily="18" charset="0"/>
              </a:rPr>
              <a:t>cr</a:t>
            </a:r>
            <a:r>
              <a:rPr lang="zh-CN" altLang="en-US" sz="22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没有影响</a:t>
            </a:r>
          </a:p>
        </p:txBody>
      </p:sp>
      <p:sp>
        <p:nvSpPr>
          <p:cNvPr id="28"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§8.2  </a:t>
            </a:r>
            <a:r>
              <a:rPr lang="zh-CN" altLang="en-US" sz="1800" b="1" kern="900" spc="130" dirty="0">
                <a:solidFill>
                  <a:srgbClr val="000066"/>
                </a:solidFill>
                <a:ea typeface="黑体" panose="02010609060101010101" pitchFamily="49" charset="-122"/>
                <a:cs typeface="Times New Roman" panose="02020603050405020304" pitchFamily="18" charset="0"/>
              </a:rPr>
              <a:t>临塑荷载和临界荷载</a:t>
            </a:r>
          </a:p>
        </p:txBody>
      </p:sp>
    </p:spTree>
    <p:extLst>
      <p:ext uri="{BB962C8B-B14F-4D97-AF65-F5344CB8AC3E}">
        <p14:creationId xmlns:p14="http://schemas.microsoft.com/office/powerpoint/2010/main" val="322903710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12" presetClass="entr" presetSubtype="8"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slide(fromLeft)">
                                      <p:cBhvr>
                                        <p:cTn id="14" dur="500"/>
                                        <p:tgtEl>
                                          <p:spTgt spid="17"/>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left)">
                                      <p:cBhvr>
                                        <p:cTn id="18" dur="1000"/>
                                        <p:tgtEl>
                                          <p:spTgt spid="22"/>
                                        </p:tgtEl>
                                      </p:cBhvr>
                                    </p:animEffect>
                                  </p:childTnLst>
                                </p:cTn>
                              </p:par>
                            </p:childTnLst>
                          </p:cTn>
                        </p:par>
                        <p:par>
                          <p:cTn id="19" fill="hold">
                            <p:stCondLst>
                              <p:cond delay="2000"/>
                            </p:stCondLst>
                            <p:childTnLst>
                              <p:par>
                                <p:cTn id="20" presetID="9"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500"/>
                                        <p:tgtEl>
                                          <p:spTgt spid="20"/>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dissolve">
                                      <p:cBhvr>
                                        <p:cTn id="31" dur="500"/>
                                        <p:tgtEl>
                                          <p:spTgt spid="23"/>
                                        </p:tgtEl>
                                      </p:cBhvr>
                                    </p:animEffect>
                                  </p:childTnLst>
                                </p:cTn>
                              </p:par>
                            </p:childTnLst>
                          </p:cTn>
                        </p:par>
                        <p:par>
                          <p:cTn id="32" fill="hold">
                            <p:stCondLst>
                              <p:cond delay="1000"/>
                            </p:stCondLst>
                            <p:childTnLst>
                              <p:par>
                                <p:cTn id="33" presetID="1" presetClass="entr" presetSubtype="0" fill="hold" grpId="0" nodeType="afterEffect">
                                  <p:stCondLst>
                                    <p:cond delay="0"/>
                                  </p:stCondLst>
                                  <p:iterate type="lt">
                                    <p:tmAbs val="75"/>
                                  </p:iterate>
                                  <p:childTnLst>
                                    <p:set>
                                      <p:cBhvr>
                                        <p:cTn id="34" dur="1" fill="hold">
                                          <p:stCondLst>
                                            <p:cond delay="74"/>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24">
                                            <p:txEl>
                                              <p:pRg st="0" end="0"/>
                                            </p:txEl>
                                          </p:spTgt>
                                        </p:tgtEl>
                                        <p:attrNameLst>
                                          <p:attrName>style.visibility</p:attrName>
                                        </p:attrNameLst>
                                      </p:cBhvr>
                                      <p:to>
                                        <p:strVal val="visible"/>
                                      </p:to>
                                    </p:set>
                                    <p:animEffect transition="in" filter="fade">
                                      <p:cBhvr>
                                        <p:cTn id="39" dur="1000"/>
                                        <p:tgtEl>
                                          <p:spTgt spid="24">
                                            <p:txEl>
                                              <p:pRg st="0" end="0"/>
                                            </p:txEl>
                                          </p:spTgt>
                                        </p:tgtEl>
                                      </p:cBhvr>
                                    </p:animEffect>
                                    <p:anim calcmode="lin" valueType="num">
                                      <p:cBhvr>
                                        <p:cTn id="40"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24">
                                            <p:txEl>
                                              <p:pRg st="0" end="0"/>
                                            </p:txEl>
                                          </p:spTgt>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16" presetClass="entr" presetSubtype="21" fill="hold"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barn(inVertical)">
                                      <p:cBhvr>
                                        <p:cTn id="45" dur="500"/>
                                        <p:tgtEl>
                                          <p:spTgt spid="25"/>
                                        </p:tgtEl>
                                      </p:cBhvr>
                                    </p:animEffect>
                                  </p:childTnLst>
                                </p:cTn>
                              </p:par>
                            </p:childTnLst>
                          </p:cTn>
                        </p:par>
                        <p:par>
                          <p:cTn id="46" fill="hold">
                            <p:stCondLst>
                              <p:cond delay="1500"/>
                            </p:stCondLst>
                            <p:childTnLst>
                              <p:par>
                                <p:cTn id="47" presetID="1" presetClass="entr" presetSubtype="0" fill="hold" grpId="0" nodeType="afterEffect">
                                  <p:stCondLst>
                                    <p:cond delay="0"/>
                                  </p:stCondLst>
                                  <p:iterate type="lt">
                                    <p:tmAbs val="75"/>
                                  </p:iterate>
                                  <p:childTnLst>
                                    <p:set>
                                      <p:cBhvr>
                                        <p:cTn id="48" dur="1" fill="hold">
                                          <p:stCondLst>
                                            <p:cond delay="74"/>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4" grpId="0" autoUpdateAnimBg="0"/>
      <p:bldP spid="16" grpId="0" autoUpdateAnimBg="0"/>
      <p:bldP spid="17" grpId="0" animBg="1"/>
      <p:bldP spid="20" grpId="0" animBg="1" autoUpdateAnimBg="0"/>
      <p:bldP spid="21" grpId="0" animBg="1" autoUpdateAnimBg="0"/>
      <p:bldP spid="22" grpId="0" animBg="1"/>
      <p:bldP spid="23" grpId="0" animBg="1" autoUpdateAnimBg="0"/>
      <p:bldP spid="24" grpId="0" uiExpand="1" build="p"/>
      <p:bldP spid="27"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780874"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§8.1  </a:t>
            </a:r>
            <a:r>
              <a:rPr kumimoji="1" lang="zh-CN" altLang="en-US" sz="2800" b="1" dirty="0">
                <a:solidFill>
                  <a:srgbClr val="000066"/>
                </a:solidFill>
                <a:ea typeface="幼圆" pitchFamily="49" charset="-122"/>
                <a:cs typeface="Times New Roman" panose="02020603050405020304" pitchFamily="18" charset="0"/>
              </a:rPr>
              <a:t>地基失稳的形式和过程</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§8.2 </a:t>
            </a:r>
            <a:r>
              <a:rPr kumimoji="1" lang="zh-CN" altLang="en-US" sz="2800" b="1" dirty="0">
                <a:solidFill>
                  <a:srgbClr val="000066"/>
                </a:solidFill>
                <a:ea typeface="幼圆" pitchFamily="49" charset="-122"/>
                <a:cs typeface="Times New Roman" panose="02020603050405020304" pitchFamily="18" charset="0"/>
              </a:rPr>
              <a:t>临塑荷载和临界荷载</a:t>
            </a:r>
            <a:endParaRPr kumimoji="1" lang="en-US" altLang="zh-CN"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§8.3 </a:t>
            </a:r>
            <a:r>
              <a:rPr kumimoji="1" lang="zh-CN" altLang="en-US" sz="2800" b="1" dirty="0">
                <a:solidFill>
                  <a:srgbClr val="000066"/>
                </a:solidFill>
                <a:ea typeface="幼圆" pitchFamily="49" charset="-122"/>
                <a:cs typeface="Times New Roman" panose="02020603050405020304" pitchFamily="18" charset="0"/>
              </a:rPr>
              <a:t>极限承载力计算</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§8.4 </a:t>
            </a:r>
            <a:r>
              <a:rPr kumimoji="1" lang="zh-CN" altLang="en-US" sz="2800" b="1" dirty="0">
                <a:solidFill>
                  <a:srgbClr val="000066"/>
                </a:solidFill>
                <a:ea typeface="幼圆" pitchFamily="49" charset="-122"/>
                <a:cs typeface="Times New Roman" panose="02020603050405020304" pitchFamily="18" charset="0"/>
              </a:rPr>
              <a:t>地基承载力的确定方法</a:t>
            </a: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第八章：地基承载力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34</a:t>
            </a:fld>
            <a:endParaRPr lang="zh-CN" altLang="en-US" dirty="0">
              <a:solidFill>
                <a:srgbClr val="C00000"/>
              </a:solidFill>
            </a:endParaRPr>
          </a:p>
        </p:txBody>
      </p:sp>
      <p:sp>
        <p:nvSpPr>
          <p:cNvPr id="9" name="Text Box 4"/>
          <p:cNvSpPr txBox="1">
            <a:spLocks noChangeArrowheads="1"/>
          </p:cNvSpPr>
          <p:nvPr/>
        </p:nvSpPr>
        <p:spPr bwMode="auto">
          <a:xfrm>
            <a:off x="1986108" y="3185771"/>
            <a:ext cx="4025756"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a:solidFill>
                  <a:srgbClr val="003399"/>
                </a:solidFill>
                <a:ea typeface="幼圆" pitchFamily="49" charset="-122"/>
                <a:cs typeface="Times New Roman" panose="02020603050405020304" pitchFamily="18" charset="0"/>
              </a:rPr>
              <a:t>§8.3 </a:t>
            </a:r>
            <a:r>
              <a:rPr kumimoji="1" lang="zh-CN" altLang="en-US" sz="2800" b="1" dirty="0">
                <a:solidFill>
                  <a:srgbClr val="003399"/>
                </a:solidFill>
                <a:ea typeface="幼圆" pitchFamily="49" charset="-122"/>
                <a:cs typeface="Times New Roman" panose="02020603050405020304" pitchFamily="18" charset="0"/>
              </a:rPr>
              <a:t>极限承载力计算</a:t>
            </a:r>
          </a:p>
        </p:txBody>
      </p:sp>
    </p:spTree>
    <p:extLst>
      <p:ext uri="{BB962C8B-B14F-4D97-AF65-F5344CB8AC3E}">
        <p14:creationId xmlns:p14="http://schemas.microsoft.com/office/powerpoint/2010/main" val="248513133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35</a:t>
            </a:fld>
            <a:endParaRPr lang="zh-CN" altLang="en-US" dirty="0">
              <a:solidFill>
                <a:srgbClr val="C00000"/>
              </a:solidFill>
            </a:endParaRPr>
          </a:p>
        </p:txBody>
      </p:sp>
      <p:sp>
        <p:nvSpPr>
          <p:cNvPr id="61" name="Text Box 2"/>
          <p:cNvSpPr txBox="1">
            <a:spLocks noChangeArrowheads="1"/>
          </p:cNvSpPr>
          <p:nvPr/>
        </p:nvSpPr>
        <p:spPr bwMode="auto">
          <a:xfrm>
            <a:off x="2139885" y="5701142"/>
            <a:ext cx="54204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极限承载力计算</a:t>
            </a:r>
          </a:p>
        </p:txBody>
      </p:sp>
      <p:sp>
        <p:nvSpPr>
          <p:cNvPr id="62" name="Text Box 3"/>
          <p:cNvSpPr txBox="1">
            <a:spLocks noChangeArrowheads="1"/>
          </p:cNvSpPr>
          <p:nvPr/>
        </p:nvSpPr>
        <p:spPr bwMode="auto">
          <a:xfrm>
            <a:off x="1814515" y="1889586"/>
            <a:ext cx="5937623" cy="2342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00000"/>
              </a:lnSpc>
              <a:spcBef>
                <a:spcPct val="30000"/>
              </a:spcBef>
              <a:spcAft>
                <a:spcPts val="600"/>
              </a:spcAft>
              <a:buClr>
                <a:srgbClr val="A50021"/>
              </a:buClr>
              <a:buSzPct val="100000"/>
              <a:buFont typeface="+mj-lt"/>
              <a:buAutoNum type="arabicPeriod"/>
            </a:pPr>
            <a:r>
              <a:rPr lang="zh-CN" altLang="en-US" sz="2800" b="1" dirty="0">
                <a:solidFill>
                  <a:srgbClr val="000066"/>
                </a:solidFill>
                <a:ea typeface="幼圆" pitchFamily="49" charset="-122"/>
                <a:cs typeface="Times New Roman" panose="02020603050405020304" pitchFamily="18" charset="0"/>
              </a:rPr>
              <a:t>普朗德尔</a:t>
            </a:r>
            <a:r>
              <a:rPr lang="en-US" altLang="zh-CN" sz="2800" b="1" dirty="0">
                <a:solidFill>
                  <a:srgbClr val="000066"/>
                </a:solidFill>
                <a:ea typeface="幼圆" pitchFamily="49" charset="-122"/>
                <a:cs typeface="Times New Roman" panose="02020603050405020304" pitchFamily="18" charset="0"/>
              </a:rPr>
              <a:t>-</a:t>
            </a:r>
            <a:r>
              <a:rPr lang="zh-CN" altLang="en-US" sz="2800" b="1" dirty="0">
                <a:solidFill>
                  <a:srgbClr val="000066"/>
                </a:solidFill>
                <a:ea typeface="幼圆" pitchFamily="49" charset="-122"/>
                <a:cs typeface="Times New Roman" panose="02020603050405020304" pitchFamily="18" charset="0"/>
              </a:rPr>
              <a:t>瑞斯纳公式</a:t>
            </a:r>
          </a:p>
          <a:p>
            <a:pPr marL="514350" indent="-514350" eaLnBrk="1" hangingPunct="1">
              <a:lnSpc>
                <a:spcPct val="100000"/>
              </a:lnSpc>
              <a:spcBef>
                <a:spcPct val="30000"/>
              </a:spcBef>
              <a:spcAft>
                <a:spcPts val="600"/>
              </a:spcAft>
              <a:buClr>
                <a:srgbClr val="A50021"/>
              </a:buClr>
              <a:buSzPct val="100000"/>
              <a:buFont typeface="+mj-lt"/>
              <a:buAutoNum type="arabicPeriod"/>
            </a:pPr>
            <a:r>
              <a:rPr lang="zh-CN" altLang="en-US" sz="2800" b="1" dirty="0">
                <a:solidFill>
                  <a:srgbClr val="000066"/>
                </a:solidFill>
                <a:ea typeface="幼圆" pitchFamily="49" charset="-122"/>
                <a:cs typeface="Times New Roman" panose="02020603050405020304" pitchFamily="18" charset="0"/>
              </a:rPr>
              <a:t>太沙基公式</a:t>
            </a:r>
          </a:p>
          <a:p>
            <a:pPr marL="514350" indent="-514350" eaLnBrk="1" hangingPunct="1">
              <a:lnSpc>
                <a:spcPct val="100000"/>
              </a:lnSpc>
              <a:spcBef>
                <a:spcPct val="30000"/>
              </a:spcBef>
              <a:spcAft>
                <a:spcPts val="600"/>
              </a:spcAft>
              <a:buClr>
                <a:srgbClr val="A50021"/>
              </a:buClr>
              <a:buSzPct val="100000"/>
              <a:buFont typeface="+mj-lt"/>
              <a:buAutoNum type="arabicPeriod"/>
            </a:pPr>
            <a:r>
              <a:rPr lang="zh-CN" altLang="en-US" sz="2800" b="1" dirty="0">
                <a:solidFill>
                  <a:srgbClr val="000066"/>
                </a:solidFill>
                <a:ea typeface="幼圆" pitchFamily="49" charset="-122"/>
                <a:cs typeface="Times New Roman" panose="02020603050405020304" pitchFamily="18" charset="0"/>
              </a:rPr>
              <a:t>其它公式</a:t>
            </a:r>
          </a:p>
          <a:p>
            <a:pPr marL="514350" indent="-514350" eaLnBrk="1" hangingPunct="1">
              <a:lnSpc>
                <a:spcPct val="100000"/>
              </a:lnSpc>
              <a:spcBef>
                <a:spcPct val="30000"/>
              </a:spcBef>
              <a:spcAft>
                <a:spcPts val="600"/>
              </a:spcAft>
              <a:buClr>
                <a:srgbClr val="A50021"/>
              </a:buClr>
              <a:buSzPct val="100000"/>
              <a:buFont typeface="+mj-lt"/>
              <a:buAutoNum type="arabicPeriod"/>
            </a:pPr>
            <a:r>
              <a:rPr lang="zh-CN" altLang="en-US" sz="2800" b="1" dirty="0">
                <a:solidFill>
                  <a:srgbClr val="000066"/>
                </a:solidFill>
                <a:ea typeface="幼圆" pitchFamily="49" charset="-122"/>
                <a:cs typeface="Times New Roman" panose="02020603050405020304" pitchFamily="18" charset="0"/>
              </a:rPr>
              <a:t>极限承载力的影响因素</a:t>
            </a:r>
          </a:p>
        </p:txBody>
      </p:sp>
      <p:sp>
        <p:nvSpPr>
          <p:cNvPr id="8"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a:t>
            </a:r>
          </a:p>
        </p:txBody>
      </p:sp>
    </p:spTree>
    <p:extLst>
      <p:ext uri="{BB962C8B-B14F-4D97-AF65-F5344CB8AC3E}">
        <p14:creationId xmlns:p14="http://schemas.microsoft.com/office/powerpoint/2010/main" val="27347706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up)">
                                      <p:cBhvr>
                                        <p:cTn id="7" dur="1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36</a:t>
            </a:fld>
            <a:endParaRPr lang="zh-CN" altLang="en-US" dirty="0">
              <a:solidFill>
                <a:srgbClr val="C00000"/>
              </a:solidFill>
            </a:endParaRPr>
          </a:p>
        </p:txBody>
      </p:sp>
      <p:sp>
        <p:nvSpPr>
          <p:cNvPr id="159" name="Text Box 2"/>
          <p:cNvSpPr txBox="1">
            <a:spLocks noChangeArrowheads="1"/>
          </p:cNvSpPr>
          <p:nvPr/>
        </p:nvSpPr>
        <p:spPr bwMode="auto">
          <a:xfrm>
            <a:off x="2495809" y="5596396"/>
            <a:ext cx="51091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普朗德尔</a:t>
            </a:r>
            <a:r>
              <a:rPr kumimoji="1" lang="en-US" altLang="zh-CN" sz="4000" b="1" dirty="0">
                <a:solidFill>
                  <a:srgbClr val="000066"/>
                </a:solidFill>
                <a:latin typeface="黑体" pitchFamily="2" charset="-122"/>
                <a:ea typeface="黑体" pitchFamily="2" charset="-122"/>
              </a:rPr>
              <a:t>-</a:t>
            </a:r>
            <a:r>
              <a:rPr kumimoji="1" lang="zh-CN" altLang="en-US" sz="4000" b="1" dirty="0">
                <a:solidFill>
                  <a:srgbClr val="000066"/>
                </a:solidFill>
                <a:latin typeface="黑体" pitchFamily="2" charset="-122"/>
                <a:ea typeface="黑体" pitchFamily="2" charset="-122"/>
              </a:rPr>
              <a:t>瑞斯纳公式</a:t>
            </a:r>
          </a:p>
        </p:txBody>
      </p:sp>
      <p:sp>
        <p:nvSpPr>
          <p:cNvPr id="162" name="Text Box 3"/>
          <p:cNvSpPr txBox="1">
            <a:spLocks noChangeArrowheads="1"/>
          </p:cNvSpPr>
          <p:nvPr/>
        </p:nvSpPr>
        <p:spPr bwMode="auto">
          <a:xfrm>
            <a:off x="497863" y="638531"/>
            <a:ext cx="8140110"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Font typeface="Wingdings" pitchFamily="2" charset="2"/>
              <a:buChar char="n"/>
              <a:defRPr/>
            </a:pPr>
            <a:r>
              <a:rPr kumimoji="0" lang="zh-CN" altLang="en-US" sz="2200" b="1" dirty="0">
                <a:solidFill>
                  <a:srgbClr val="000066"/>
                </a:solidFill>
                <a:ea typeface="幼圆" pitchFamily="49" charset="-122"/>
                <a:cs typeface="Times New Roman" panose="02020603050405020304" pitchFamily="18" charset="0"/>
              </a:rPr>
              <a:t>普朗德尔</a:t>
            </a:r>
            <a:r>
              <a:rPr kumimoji="0" lang="en-US" altLang="zh-CN" sz="2200" b="1" dirty="0">
                <a:solidFill>
                  <a:srgbClr val="000066"/>
                </a:solidFill>
                <a:ea typeface="幼圆" pitchFamily="49" charset="-122"/>
                <a:cs typeface="Times New Roman" panose="02020603050405020304" pitchFamily="18" charset="0"/>
              </a:rPr>
              <a:t>(</a:t>
            </a:r>
            <a:r>
              <a:rPr kumimoji="0" lang="en-US" altLang="zh-CN" sz="2200" b="1" dirty="0" err="1">
                <a:solidFill>
                  <a:srgbClr val="000066"/>
                </a:solidFill>
                <a:ea typeface="幼圆" pitchFamily="49" charset="-122"/>
                <a:cs typeface="Times New Roman" panose="02020603050405020304" pitchFamily="18" charset="0"/>
              </a:rPr>
              <a:t>Prandtl</a:t>
            </a:r>
            <a:r>
              <a:rPr kumimoji="0" lang="en-US" altLang="zh-CN" sz="2200" b="1" dirty="0">
                <a:solidFill>
                  <a:srgbClr val="000066"/>
                </a:solidFill>
                <a:ea typeface="幼圆" pitchFamily="49" charset="-122"/>
                <a:cs typeface="Times New Roman" panose="02020603050405020304" pitchFamily="18" charset="0"/>
              </a:rPr>
              <a:t>, 1920)</a:t>
            </a:r>
            <a:r>
              <a:rPr kumimoji="0" lang="zh-CN" altLang="en-US" sz="2200" b="1" dirty="0">
                <a:solidFill>
                  <a:srgbClr val="000066"/>
                </a:solidFill>
                <a:ea typeface="幼圆" pitchFamily="49" charset="-122"/>
                <a:cs typeface="Times New Roman" panose="02020603050405020304" pitchFamily="18" charset="0"/>
              </a:rPr>
              <a:t>利用塑性力学针对无埋深条形基础得到了极限承载力的理论解，瑞斯纳</a:t>
            </a:r>
            <a:r>
              <a:rPr kumimoji="0" lang="en-US" altLang="zh-CN" sz="2200" b="1" dirty="0">
                <a:solidFill>
                  <a:srgbClr val="000066"/>
                </a:solidFill>
                <a:ea typeface="幼圆" pitchFamily="49" charset="-122"/>
                <a:cs typeface="Times New Roman" panose="02020603050405020304" pitchFamily="18" charset="0"/>
              </a:rPr>
              <a:t>(</a:t>
            </a:r>
            <a:r>
              <a:rPr kumimoji="0" lang="en-US" altLang="zh-CN" sz="2200" b="1" dirty="0" err="1">
                <a:solidFill>
                  <a:srgbClr val="000066"/>
                </a:solidFill>
                <a:ea typeface="幼圆" pitchFamily="49" charset="-122"/>
                <a:cs typeface="Times New Roman" panose="02020603050405020304" pitchFamily="18" charset="0"/>
              </a:rPr>
              <a:t>Reissner</a:t>
            </a:r>
            <a:r>
              <a:rPr kumimoji="0" lang="en-US" altLang="zh-CN" sz="2200" b="1" dirty="0">
                <a:solidFill>
                  <a:srgbClr val="000066"/>
                </a:solidFill>
                <a:ea typeface="幼圆" pitchFamily="49" charset="-122"/>
                <a:cs typeface="Times New Roman" panose="02020603050405020304" pitchFamily="18" charset="0"/>
              </a:rPr>
              <a:t>,  1924)</a:t>
            </a:r>
            <a:r>
              <a:rPr kumimoji="0" lang="zh-CN" altLang="en-US" sz="2200" b="1" dirty="0">
                <a:solidFill>
                  <a:srgbClr val="000066"/>
                </a:solidFill>
                <a:ea typeface="幼圆" pitchFamily="49" charset="-122"/>
                <a:cs typeface="Times New Roman" panose="02020603050405020304" pitchFamily="18" charset="0"/>
              </a:rPr>
              <a:t>将其推广到有埋深的情况</a:t>
            </a:r>
          </a:p>
        </p:txBody>
      </p:sp>
      <p:sp>
        <p:nvSpPr>
          <p:cNvPr id="12" name="Text Box 3"/>
          <p:cNvSpPr txBox="1">
            <a:spLocks noChangeArrowheads="1"/>
          </p:cNvSpPr>
          <p:nvPr/>
        </p:nvSpPr>
        <p:spPr bwMode="auto">
          <a:xfrm>
            <a:off x="852372" y="2090568"/>
            <a:ext cx="199750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eaLnBrk="1" hangingPunct="1">
              <a:buClr>
                <a:srgbClr val="C00000"/>
              </a:buClr>
              <a:buSzPct val="135000"/>
              <a:buFont typeface="Wingdings" panose="05000000000000000000" pitchFamily="2" charset="2"/>
              <a:buChar char="F"/>
            </a:pPr>
            <a:r>
              <a:rPr lang="zh-CN" altLang="en-US" sz="2400" b="1" dirty="0">
                <a:solidFill>
                  <a:srgbClr val="000066"/>
                </a:solidFill>
                <a:latin typeface="幼圆" panose="02010509060101010101" pitchFamily="49" charset="-122"/>
                <a:ea typeface="幼圆" panose="02010509060101010101" pitchFamily="49" charset="-122"/>
              </a:rPr>
              <a:t>基本假定：</a:t>
            </a:r>
          </a:p>
        </p:txBody>
      </p:sp>
      <p:sp>
        <p:nvSpPr>
          <p:cNvPr id="13" name="Rectangle 10"/>
          <p:cNvSpPr>
            <a:spLocks noChangeArrowheads="1"/>
          </p:cNvSpPr>
          <p:nvPr/>
        </p:nvSpPr>
        <p:spPr bwMode="auto">
          <a:xfrm>
            <a:off x="895895" y="2564089"/>
            <a:ext cx="4576181" cy="2897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55600" indent="-355600" eaLnBrk="1" hangingPunct="1">
              <a:lnSpc>
                <a:spcPct val="120000"/>
              </a:lnSpc>
              <a:spcBef>
                <a:spcPts val="200"/>
              </a:spcBef>
              <a:spcAft>
                <a:spcPts val="200"/>
              </a:spcAft>
              <a:buClr>
                <a:srgbClr val="C00000"/>
              </a:buClr>
              <a:buFont typeface="+mj-lt"/>
              <a:buAutoNum type="arabicPeriod"/>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假设基础底面以下地基土为无重介质，也即土的重度</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0</a:t>
            </a:r>
          </a:p>
          <a:p>
            <a:pPr marL="355600" indent="-355600" eaLnBrk="1" hangingPunct="1">
              <a:lnSpc>
                <a:spcPct val="120000"/>
              </a:lnSpc>
              <a:spcBef>
                <a:spcPts val="200"/>
              </a:spcBef>
              <a:spcAft>
                <a:spcPts val="200"/>
              </a:spcAft>
              <a:buClr>
                <a:srgbClr val="C00000"/>
              </a:buClr>
              <a:buFont typeface="+mj-lt"/>
              <a:buAutoNum type="arabicPeriod"/>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基础底面完全光滑，基底压应力垂直于地面</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355600" indent="-355600" eaLnBrk="1" hangingPunct="1">
              <a:lnSpc>
                <a:spcPct val="120000"/>
              </a:lnSpc>
              <a:spcBef>
                <a:spcPts val="200"/>
              </a:spcBef>
              <a:spcAft>
                <a:spcPts val="200"/>
              </a:spcAft>
              <a:buClr>
                <a:srgbClr val="C00000"/>
              </a:buClr>
              <a:buFont typeface="+mj-lt"/>
              <a:buAutoNum type="arabicPeriod"/>
            </a:pP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埋置深度</a:t>
            </a:r>
            <a:r>
              <a:rPr kumimoji="1"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d</a:t>
            </a: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小于基础宽度</a:t>
            </a:r>
            <a:r>
              <a:rPr kumimoji="1"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b</a:t>
            </a: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，可以把基底平面当成地基表面，滑动面只延伸到这一假定的地基表面</a:t>
            </a:r>
            <a:endPar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pSp>
        <p:nvGrpSpPr>
          <p:cNvPr id="2" name="组合 1"/>
          <p:cNvGrpSpPr/>
          <p:nvPr/>
        </p:nvGrpSpPr>
        <p:grpSpPr>
          <a:xfrm>
            <a:off x="5634404" y="3815720"/>
            <a:ext cx="3444826" cy="1571430"/>
            <a:chOff x="5634404" y="3815720"/>
            <a:chExt cx="3444826" cy="1571430"/>
          </a:xfrm>
        </p:grpSpPr>
        <p:sp>
          <p:nvSpPr>
            <p:cNvPr id="61" name="矩形 60"/>
            <p:cNvSpPr/>
            <p:nvPr/>
          </p:nvSpPr>
          <p:spPr bwMode="auto">
            <a:xfrm>
              <a:off x="5718791" y="4766136"/>
              <a:ext cx="2984196" cy="621014"/>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34" name="组合 33"/>
            <p:cNvGrpSpPr/>
            <p:nvPr/>
          </p:nvGrpSpPr>
          <p:grpSpPr>
            <a:xfrm>
              <a:off x="6499886" y="4229995"/>
              <a:ext cx="1314450" cy="531427"/>
              <a:chOff x="6252391" y="1449388"/>
              <a:chExt cx="1314450" cy="531427"/>
            </a:xfrm>
          </p:grpSpPr>
          <p:sp>
            <p:nvSpPr>
              <p:cNvPr id="35" name="Line 25"/>
              <p:cNvSpPr>
                <a:spLocks noChangeShapeType="1"/>
              </p:cNvSpPr>
              <p:nvPr/>
            </p:nvSpPr>
            <p:spPr bwMode="auto">
              <a:xfrm>
                <a:off x="690961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6" name="Line 25"/>
              <p:cNvSpPr>
                <a:spLocks noChangeShapeType="1"/>
              </p:cNvSpPr>
              <p:nvPr/>
            </p:nvSpPr>
            <p:spPr bwMode="auto">
              <a:xfrm>
                <a:off x="62523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7" name="Line 25"/>
              <p:cNvSpPr>
                <a:spLocks noChangeShapeType="1"/>
              </p:cNvSpPr>
              <p:nvPr/>
            </p:nvSpPr>
            <p:spPr bwMode="auto">
              <a:xfrm>
                <a:off x="64714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 name="Line 25"/>
              <p:cNvSpPr>
                <a:spLocks noChangeShapeType="1"/>
              </p:cNvSpPr>
              <p:nvPr/>
            </p:nvSpPr>
            <p:spPr bwMode="auto">
              <a:xfrm>
                <a:off x="66905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9" name="Line 25"/>
              <p:cNvSpPr>
                <a:spLocks noChangeShapeType="1"/>
              </p:cNvSpPr>
              <p:nvPr/>
            </p:nvSpPr>
            <p:spPr bwMode="auto">
              <a:xfrm>
                <a:off x="712869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40" name="Line 25"/>
              <p:cNvSpPr>
                <a:spLocks noChangeShapeType="1"/>
              </p:cNvSpPr>
              <p:nvPr/>
            </p:nvSpPr>
            <p:spPr bwMode="auto">
              <a:xfrm>
                <a:off x="7347766"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41" name="Line 25"/>
              <p:cNvSpPr>
                <a:spLocks noChangeShapeType="1"/>
              </p:cNvSpPr>
              <p:nvPr/>
            </p:nvSpPr>
            <p:spPr bwMode="auto">
              <a:xfrm>
                <a:off x="7566841" y="1449388"/>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grpSp>
        <p:cxnSp>
          <p:nvCxnSpPr>
            <p:cNvPr id="49" name="直接连接符 48"/>
            <p:cNvCxnSpPr/>
            <p:nvPr/>
          </p:nvCxnSpPr>
          <p:spPr bwMode="auto">
            <a:xfrm flipH="1">
              <a:off x="6499886" y="4222855"/>
              <a:ext cx="131485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Line 23"/>
            <p:cNvSpPr>
              <a:spLocks noChangeShapeType="1"/>
            </p:cNvSpPr>
            <p:nvPr/>
          </p:nvSpPr>
          <p:spPr bwMode="auto">
            <a:xfrm>
              <a:off x="5732534" y="4759986"/>
              <a:ext cx="2989264"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0" name="Text Box 21"/>
            <p:cNvSpPr txBox="1">
              <a:spLocks noChangeArrowheads="1"/>
            </p:cNvSpPr>
            <p:nvPr/>
          </p:nvSpPr>
          <p:spPr bwMode="auto">
            <a:xfrm>
              <a:off x="5634404" y="4020479"/>
              <a:ext cx="777777"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q=</a:t>
              </a: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sym typeface="Symbol" panose="05050102010706020507" pitchFamily="18" charset="2"/>
                </a:rPr>
                <a:t>0</a:t>
              </a:r>
              <a:r>
                <a:rPr kumimoji="1" lang="en-US" altLang="zh-CN" sz="2000" b="1" i="1" dirty="0">
                  <a:solidFill>
                    <a:srgbClr val="000066"/>
                  </a:solidFill>
                  <a:latin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ndParaRPr>
            </a:p>
          </p:txBody>
        </p:sp>
        <p:sp>
          <p:nvSpPr>
            <p:cNvPr id="71" name="矩形 70"/>
            <p:cNvSpPr/>
            <p:nvPr/>
          </p:nvSpPr>
          <p:spPr>
            <a:xfrm>
              <a:off x="7231340" y="3815720"/>
              <a:ext cx="571620" cy="400110"/>
            </a:xfrm>
            <a:prstGeom prst="rect">
              <a:avLst/>
            </a:prstGeom>
          </p:spPr>
          <p:txBody>
            <a:bodyPr wrap="square">
              <a:spAutoFit/>
            </a:bodyPr>
            <a:lstStyle/>
            <a:p>
              <a:pPr algn="ctr">
                <a:lnSpc>
                  <a:spcPct val="100000"/>
                </a:lnSpc>
                <a:buClr>
                  <a:srgbClr val="C00000"/>
                </a:buClr>
              </a:pPr>
              <a:r>
                <a:rPr lang="en-US" altLang="zh-CN" sz="2000" b="1" i="1" dirty="0">
                  <a:solidFill>
                    <a:srgbClr val="000066"/>
                  </a:solidFill>
                  <a:ea typeface="幼圆" panose="02010509060101010101" pitchFamily="49" charset="-122"/>
                  <a:cs typeface="Times New Roman" panose="02020603050405020304" pitchFamily="18" charset="0"/>
                </a:rPr>
                <a:t>p</a:t>
              </a:r>
              <a:endParaRPr lang="zh-CN" altLang="en-US" sz="2000" b="1" i="1" dirty="0">
                <a:solidFill>
                  <a:srgbClr val="000066"/>
                </a:solidFill>
                <a:ea typeface="幼圆" panose="02010509060101010101" pitchFamily="49" charset="-122"/>
                <a:cs typeface="Times New Roman" panose="02020603050405020304" pitchFamily="18" charset="0"/>
              </a:endParaRPr>
            </a:p>
          </p:txBody>
        </p:sp>
        <p:grpSp>
          <p:nvGrpSpPr>
            <p:cNvPr id="9" name="组合 8"/>
            <p:cNvGrpSpPr/>
            <p:nvPr/>
          </p:nvGrpSpPr>
          <p:grpSpPr>
            <a:xfrm>
              <a:off x="5732535" y="4478566"/>
              <a:ext cx="2989264" cy="288718"/>
              <a:chOff x="5644075" y="4181791"/>
              <a:chExt cx="2866841" cy="288718"/>
            </a:xfrm>
          </p:grpSpPr>
          <p:sp>
            <p:nvSpPr>
              <p:cNvPr id="63" name="Line 25"/>
              <p:cNvSpPr>
                <a:spLocks noChangeShapeType="1"/>
              </p:cNvSpPr>
              <p:nvPr/>
            </p:nvSpPr>
            <p:spPr bwMode="auto">
              <a:xfrm>
                <a:off x="5653677" y="4194669"/>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4" name="Line 25"/>
              <p:cNvSpPr>
                <a:spLocks noChangeShapeType="1"/>
              </p:cNvSpPr>
              <p:nvPr/>
            </p:nvSpPr>
            <p:spPr bwMode="auto">
              <a:xfrm>
                <a:off x="5872752" y="4194669"/>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5" name="Line 25"/>
              <p:cNvSpPr>
                <a:spLocks noChangeShapeType="1"/>
              </p:cNvSpPr>
              <p:nvPr/>
            </p:nvSpPr>
            <p:spPr bwMode="auto">
              <a:xfrm>
                <a:off x="6091827" y="4194669"/>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6" name="Line 25"/>
              <p:cNvSpPr>
                <a:spLocks noChangeShapeType="1"/>
              </p:cNvSpPr>
              <p:nvPr/>
            </p:nvSpPr>
            <p:spPr bwMode="auto">
              <a:xfrm>
                <a:off x="7845199" y="418650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7" name="Line 25"/>
              <p:cNvSpPr>
                <a:spLocks noChangeShapeType="1"/>
              </p:cNvSpPr>
              <p:nvPr/>
            </p:nvSpPr>
            <p:spPr bwMode="auto">
              <a:xfrm>
                <a:off x="8064274" y="418650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8" name="Line 25"/>
              <p:cNvSpPr>
                <a:spLocks noChangeShapeType="1"/>
              </p:cNvSpPr>
              <p:nvPr/>
            </p:nvSpPr>
            <p:spPr bwMode="auto">
              <a:xfrm>
                <a:off x="8283349" y="418650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9" name="Line 25"/>
              <p:cNvSpPr>
                <a:spLocks noChangeShapeType="1"/>
              </p:cNvSpPr>
              <p:nvPr/>
            </p:nvSpPr>
            <p:spPr bwMode="auto">
              <a:xfrm>
                <a:off x="8502424" y="418650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cxnSp>
            <p:nvCxnSpPr>
              <p:cNvPr id="72" name="直接连接符 71"/>
              <p:cNvCxnSpPr/>
              <p:nvPr/>
            </p:nvCxnSpPr>
            <p:spPr bwMode="auto">
              <a:xfrm flipH="1">
                <a:off x="5644075" y="4181791"/>
                <a:ext cx="73592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72"/>
              <p:cNvCxnSpPr/>
              <p:nvPr/>
            </p:nvCxnSpPr>
            <p:spPr bwMode="auto">
              <a:xfrm flipH="1">
                <a:off x="7640617" y="4181791"/>
                <a:ext cx="870299"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3" name="Text Box 21"/>
            <p:cNvSpPr txBox="1">
              <a:spLocks noChangeArrowheads="1"/>
            </p:cNvSpPr>
            <p:nvPr/>
          </p:nvSpPr>
          <p:spPr bwMode="auto">
            <a:xfrm>
              <a:off x="8027654" y="4929585"/>
              <a:ext cx="56457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=0</a:t>
              </a:r>
              <a:endParaRPr kumimoji="1" lang="en-US" altLang="zh-CN" sz="2000" b="1" baseline="-25000" dirty="0">
                <a:solidFill>
                  <a:srgbClr val="000066"/>
                </a:solidFill>
                <a:latin typeface="Times New Roman" panose="02020603050405020304" pitchFamily="18" charset="0"/>
              </a:endParaRPr>
            </a:p>
          </p:txBody>
        </p:sp>
        <p:cxnSp>
          <p:nvCxnSpPr>
            <p:cNvPr id="85" name="直接连接符 84"/>
            <p:cNvCxnSpPr/>
            <p:nvPr/>
          </p:nvCxnSpPr>
          <p:spPr bwMode="auto">
            <a:xfrm>
              <a:off x="5716258" y="4366382"/>
              <a:ext cx="2989263" cy="0"/>
            </a:xfrm>
            <a:prstGeom prst="line">
              <a:avLst/>
            </a:prstGeom>
            <a:noFill/>
            <a:ln w="190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76"/>
            <p:cNvCxnSpPr/>
            <p:nvPr/>
          </p:nvCxnSpPr>
          <p:spPr bwMode="auto">
            <a:xfrm flipV="1">
              <a:off x="7965822" y="4194070"/>
              <a:ext cx="159798" cy="15979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Text Box 21"/>
            <p:cNvSpPr txBox="1">
              <a:spLocks noChangeArrowheads="1"/>
            </p:cNvSpPr>
            <p:nvPr/>
          </p:nvSpPr>
          <p:spPr bwMode="auto">
            <a:xfrm>
              <a:off x="7862230" y="3850456"/>
              <a:ext cx="121700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dirty="0">
                  <a:solidFill>
                    <a:srgbClr val="000066"/>
                  </a:solidFill>
                  <a:latin typeface="Times New Roman" panose="02020603050405020304" pitchFamily="18" charset="0"/>
                </a:rPr>
                <a:t>原地面线</a:t>
              </a:r>
              <a:endParaRPr kumimoji="1" lang="en-US" altLang="zh-CN" sz="2000" b="1" baseline="-25000" dirty="0">
                <a:solidFill>
                  <a:srgbClr val="000066"/>
                </a:solidFill>
                <a:latin typeface="Times New Roman" panose="02020603050405020304" pitchFamily="18" charset="0"/>
              </a:endParaRPr>
            </a:p>
          </p:txBody>
        </p:sp>
        <p:cxnSp>
          <p:nvCxnSpPr>
            <p:cNvPr id="93" name="直接连接符 92"/>
            <p:cNvCxnSpPr/>
            <p:nvPr/>
          </p:nvCxnSpPr>
          <p:spPr bwMode="auto">
            <a:xfrm>
              <a:off x="6535672" y="4936750"/>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连接符 93"/>
            <p:cNvCxnSpPr/>
            <p:nvPr/>
          </p:nvCxnSpPr>
          <p:spPr bwMode="auto">
            <a:xfrm>
              <a:off x="7884058" y="4931755"/>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6535673" y="4989216"/>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Text Box 21"/>
            <p:cNvSpPr txBox="1">
              <a:spLocks noChangeArrowheads="1"/>
            </p:cNvSpPr>
            <p:nvPr/>
          </p:nvSpPr>
          <p:spPr bwMode="auto">
            <a:xfrm>
              <a:off x="7029016" y="4917065"/>
              <a:ext cx="31290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ndParaRPr>
            </a:p>
          </p:txBody>
        </p:sp>
      </p:grpSp>
      <p:sp>
        <p:nvSpPr>
          <p:cNvPr id="57" name="Text Box 7"/>
          <p:cNvSpPr txBox="1">
            <a:spLocks noChangeArrowheads="1"/>
          </p:cNvSpPr>
          <p:nvPr/>
        </p:nvSpPr>
        <p:spPr bwMode="auto">
          <a:xfrm>
            <a:off x="0" y="0"/>
            <a:ext cx="56344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普朗德尔</a:t>
            </a:r>
            <a:r>
              <a:rPr lang="en-US" altLang="zh-CN" sz="1800" b="1" kern="900" spc="130" dirty="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瑞斯纳公式</a:t>
            </a:r>
          </a:p>
        </p:txBody>
      </p:sp>
      <p:sp>
        <p:nvSpPr>
          <p:cNvPr id="62" name="右箭头 61"/>
          <p:cNvSpPr/>
          <p:nvPr/>
        </p:nvSpPr>
        <p:spPr bwMode="auto">
          <a:xfrm rot="5400000">
            <a:off x="6953434" y="3408682"/>
            <a:ext cx="407354" cy="549202"/>
          </a:xfrm>
          <a:prstGeom prst="rightArrow">
            <a:avLst/>
          </a:prstGeom>
          <a:solidFill>
            <a:srgbClr val="C00000"/>
          </a:solidFill>
          <a:ln w="12700" cap="flat" cmpd="sng" algn="ctr">
            <a:solidFill>
              <a:srgbClr val="C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3" name="组合 2"/>
          <p:cNvGrpSpPr/>
          <p:nvPr/>
        </p:nvGrpSpPr>
        <p:grpSpPr>
          <a:xfrm>
            <a:off x="5723656" y="1684956"/>
            <a:ext cx="2998142" cy="1639300"/>
            <a:chOff x="5723656" y="1684956"/>
            <a:chExt cx="2998142" cy="1639300"/>
          </a:xfrm>
        </p:grpSpPr>
        <p:sp>
          <p:nvSpPr>
            <p:cNvPr id="58" name="矩形 57"/>
            <p:cNvSpPr/>
            <p:nvPr/>
          </p:nvSpPr>
          <p:spPr bwMode="auto">
            <a:xfrm>
              <a:off x="5737602" y="2310860"/>
              <a:ext cx="2984196" cy="970517"/>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4" name="Line 23"/>
            <p:cNvSpPr>
              <a:spLocks noChangeShapeType="1"/>
            </p:cNvSpPr>
            <p:nvPr/>
          </p:nvSpPr>
          <p:spPr bwMode="auto">
            <a:xfrm>
              <a:off x="5723656" y="2308640"/>
              <a:ext cx="2989263" cy="0"/>
            </a:xfrm>
            <a:prstGeom prst="line">
              <a:avLst/>
            </a:prstGeom>
            <a:noFill/>
            <a:ln w="25400" cap="sq">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75" name="Rectangle 24" descr="深色上对角线"/>
            <p:cNvSpPr>
              <a:spLocks noChangeArrowheads="1"/>
            </p:cNvSpPr>
            <p:nvPr/>
          </p:nvSpPr>
          <p:spPr bwMode="auto">
            <a:xfrm rot="5400000">
              <a:off x="6984807" y="2206077"/>
              <a:ext cx="492984" cy="295023"/>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45" name="Line 25"/>
            <p:cNvSpPr>
              <a:spLocks noChangeShapeType="1"/>
            </p:cNvSpPr>
            <p:nvPr/>
          </p:nvSpPr>
          <p:spPr bwMode="auto">
            <a:xfrm>
              <a:off x="7230603" y="1684956"/>
              <a:ext cx="0" cy="436177"/>
            </a:xfrm>
            <a:prstGeom prst="line">
              <a:avLst/>
            </a:prstGeom>
            <a:noFill/>
            <a:ln w="571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cxnSp>
          <p:nvCxnSpPr>
            <p:cNvPr id="48" name="直接连接符 47"/>
            <p:cNvCxnSpPr/>
            <p:nvPr/>
          </p:nvCxnSpPr>
          <p:spPr bwMode="auto">
            <a:xfrm>
              <a:off x="5723656" y="2713656"/>
              <a:ext cx="2989263" cy="0"/>
            </a:xfrm>
            <a:prstGeom prst="line">
              <a:avLst/>
            </a:prstGeom>
            <a:noFill/>
            <a:ln w="190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6018625" y="2296573"/>
              <a:ext cx="0" cy="416217"/>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6564379" y="2880002"/>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7912765" y="2875007"/>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52"/>
            <p:cNvCxnSpPr/>
            <p:nvPr/>
          </p:nvCxnSpPr>
          <p:spPr bwMode="auto">
            <a:xfrm>
              <a:off x="6564380" y="2932468"/>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Text Box 21"/>
            <p:cNvSpPr txBox="1">
              <a:spLocks noChangeArrowheads="1"/>
            </p:cNvSpPr>
            <p:nvPr/>
          </p:nvSpPr>
          <p:spPr bwMode="auto">
            <a:xfrm>
              <a:off x="7057723" y="2860317"/>
              <a:ext cx="31290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ndParaRPr>
            </a:p>
          </p:txBody>
        </p:sp>
        <p:sp>
          <p:nvSpPr>
            <p:cNvPr id="55" name="Text Box 21"/>
            <p:cNvSpPr txBox="1">
              <a:spLocks noChangeArrowheads="1"/>
            </p:cNvSpPr>
            <p:nvPr/>
          </p:nvSpPr>
          <p:spPr bwMode="auto">
            <a:xfrm>
              <a:off x="6063814" y="2279292"/>
              <a:ext cx="31290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ndParaRPr>
            </a:p>
          </p:txBody>
        </p:sp>
        <p:sp>
          <p:nvSpPr>
            <p:cNvPr id="56" name="Text Box 21"/>
            <p:cNvSpPr txBox="1">
              <a:spLocks noChangeArrowheads="1"/>
            </p:cNvSpPr>
            <p:nvPr/>
          </p:nvSpPr>
          <p:spPr bwMode="auto">
            <a:xfrm>
              <a:off x="8151570" y="2239647"/>
              <a:ext cx="375424" cy="41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sym typeface="Symbol" panose="05050102010706020507" pitchFamily="18" charset="2"/>
                </a:rPr>
                <a:t>0</a:t>
              </a:r>
              <a:endParaRPr kumimoji="1" lang="en-US" altLang="zh-CN" sz="2000" b="1" baseline="-25000" dirty="0">
                <a:solidFill>
                  <a:srgbClr val="000066"/>
                </a:solidFill>
                <a:latin typeface="Times New Roman" panose="02020603050405020304" pitchFamily="18" charset="0"/>
              </a:endParaRPr>
            </a:p>
          </p:txBody>
        </p:sp>
        <p:sp>
          <p:nvSpPr>
            <p:cNvPr id="82" name="Text Box 21"/>
            <p:cNvSpPr txBox="1">
              <a:spLocks noChangeArrowheads="1"/>
            </p:cNvSpPr>
            <p:nvPr/>
          </p:nvSpPr>
          <p:spPr bwMode="auto">
            <a:xfrm>
              <a:off x="7972423" y="2877980"/>
              <a:ext cx="56457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=0</a:t>
              </a:r>
              <a:endParaRPr kumimoji="1" lang="en-US" altLang="zh-CN" sz="2000" b="1" baseline="-25000" dirty="0">
                <a:solidFill>
                  <a:srgbClr val="000066"/>
                </a:solidFill>
                <a:latin typeface="Times New Roman" panose="02020603050405020304" pitchFamily="18" charset="0"/>
              </a:endParaRPr>
            </a:p>
          </p:txBody>
        </p:sp>
        <p:sp>
          <p:nvSpPr>
            <p:cNvPr id="74" name="Rectangle 24" descr="深色上对角线"/>
            <p:cNvSpPr>
              <a:spLocks noChangeArrowheads="1"/>
            </p:cNvSpPr>
            <p:nvPr/>
          </p:nvSpPr>
          <p:spPr bwMode="auto">
            <a:xfrm>
              <a:off x="6544374" y="2520564"/>
              <a:ext cx="1367174" cy="190830"/>
            </a:xfrm>
            <a:prstGeom prst="rect">
              <a:avLst/>
            </a:prstGeom>
            <a:pattFill prst="wdUpDiag">
              <a:fgClr>
                <a:srgbClr val="660066"/>
              </a:fgClr>
              <a:bgClr>
                <a:schemeClr val="bg1"/>
              </a:bgClr>
            </a:pattFill>
            <a:ln w="12700" cap="sq">
              <a:solidFill>
                <a:srgbClr val="990000"/>
              </a:solidFill>
              <a:miter lim="800000"/>
              <a:headEnd/>
              <a:tailEnd/>
            </a:ln>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grpSp>
    </p:spTree>
    <p:extLst>
      <p:ext uri="{BB962C8B-B14F-4D97-AF65-F5344CB8AC3E}">
        <p14:creationId xmlns:p14="http://schemas.microsoft.com/office/powerpoint/2010/main" val="346465733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1000"/>
                                        <p:tgtEl>
                                          <p:spTgt spid="162"/>
                                        </p:tgtEl>
                                      </p:cBhvr>
                                    </p:animEffect>
                                    <p:anim calcmode="lin" valueType="num">
                                      <p:cBhvr>
                                        <p:cTn id="8" dur="1000" fill="hold"/>
                                        <p:tgtEl>
                                          <p:spTgt spid="162"/>
                                        </p:tgtEl>
                                        <p:attrNameLst>
                                          <p:attrName>ppt_x</p:attrName>
                                        </p:attrNameLst>
                                      </p:cBhvr>
                                      <p:tavLst>
                                        <p:tav tm="0">
                                          <p:val>
                                            <p:strVal val="#ppt_x"/>
                                          </p:val>
                                        </p:tav>
                                        <p:tav tm="100000">
                                          <p:val>
                                            <p:strVal val="#ppt_x"/>
                                          </p:val>
                                        </p:tav>
                                      </p:tavLst>
                                    </p:anim>
                                    <p:anim calcmode="lin" valueType="num">
                                      <p:cBhvr>
                                        <p:cTn id="9" dur="1000" fill="hold"/>
                                        <p:tgtEl>
                                          <p:spTgt spid="16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left)">
                                      <p:cBhvr>
                                        <p:cTn id="14" dur="500"/>
                                        <p:tgtEl>
                                          <p:spTgt spid="12"/>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par>
                          <p:cTn id="19" fill="hold">
                            <p:stCondLst>
                              <p:cond delay="1000"/>
                            </p:stCondLst>
                            <p:childTnLst>
                              <p:par>
                                <p:cTn id="20" presetID="1"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wipe(up)">
                                      <p:cBhvr>
                                        <p:cTn id="26" dur="500"/>
                                        <p:tgtEl>
                                          <p:spTgt spid="62"/>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up)">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0"/>
      <p:bldP spid="12" grpId="0" autoUpdateAnimBg="0"/>
      <p:bldP spid="13" grpId="0" autoUpdateAnimBg="0"/>
      <p:bldP spid="6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37</a:t>
            </a:fld>
            <a:endParaRPr lang="zh-CN" altLang="en-US" dirty="0">
              <a:solidFill>
                <a:srgbClr val="C00000"/>
              </a:solidFill>
            </a:endParaRPr>
          </a:p>
        </p:txBody>
      </p:sp>
      <p:sp>
        <p:nvSpPr>
          <p:cNvPr id="159" name="Text Box 2"/>
          <p:cNvSpPr txBox="1">
            <a:spLocks noChangeArrowheads="1"/>
          </p:cNvSpPr>
          <p:nvPr/>
        </p:nvSpPr>
        <p:spPr bwMode="auto">
          <a:xfrm>
            <a:off x="2495809" y="5596396"/>
            <a:ext cx="51091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普朗德尔</a:t>
            </a:r>
            <a:r>
              <a:rPr kumimoji="1" lang="en-US" altLang="zh-CN" sz="4000" b="1" dirty="0">
                <a:solidFill>
                  <a:srgbClr val="000066"/>
                </a:solidFill>
                <a:latin typeface="黑体" pitchFamily="2" charset="-122"/>
                <a:ea typeface="黑体" pitchFamily="2" charset="-122"/>
              </a:rPr>
              <a:t>-</a:t>
            </a:r>
            <a:r>
              <a:rPr kumimoji="1" lang="zh-CN" altLang="en-US" sz="4000" b="1" dirty="0">
                <a:solidFill>
                  <a:srgbClr val="000066"/>
                </a:solidFill>
                <a:latin typeface="黑体" pitchFamily="2" charset="-122"/>
                <a:ea typeface="黑体" pitchFamily="2" charset="-122"/>
              </a:rPr>
              <a:t>瑞斯纳公式</a:t>
            </a:r>
          </a:p>
        </p:txBody>
      </p:sp>
      <p:sp>
        <p:nvSpPr>
          <p:cNvPr id="162" name="Text Box 3"/>
          <p:cNvSpPr txBox="1">
            <a:spLocks noChangeArrowheads="1"/>
          </p:cNvSpPr>
          <p:nvPr/>
        </p:nvSpPr>
        <p:spPr bwMode="auto">
          <a:xfrm>
            <a:off x="737558" y="585476"/>
            <a:ext cx="2789867"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Font typeface="Wingdings" pitchFamily="2" charset="2"/>
              <a:buChar char="n"/>
              <a:defRPr/>
            </a:pPr>
            <a:r>
              <a:rPr kumimoji="0" lang="zh-CN" altLang="en-US" b="1" dirty="0">
                <a:solidFill>
                  <a:srgbClr val="A50021"/>
                </a:solidFill>
                <a:latin typeface="微软雅黑" panose="020B0503020204020204" pitchFamily="34" charset="-122"/>
                <a:ea typeface="微软雅黑" panose="020B0503020204020204" pitchFamily="34" charset="-122"/>
                <a:cs typeface="Times New Roman" panose="02020603050405020304" pitchFamily="18" charset="0"/>
              </a:rPr>
              <a:t>特征线法解答</a:t>
            </a:r>
          </a:p>
        </p:txBody>
      </p:sp>
      <p:sp>
        <p:nvSpPr>
          <p:cNvPr id="166" name="Text Box 3"/>
          <p:cNvSpPr txBox="1">
            <a:spLocks noChangeArrowheads="1"/>
          </p:cNvSpPr>
          <p:nvPr/>
        </p:nvSpPr>
        <p:spPr bwMode="auto">
          <a:xfrm>
            <a:off x="978311" y="1188193"/>
            <a:ext cx="6931249"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eaLnBrk="1" hangingPunct="1">
              <a:buClr>
                <a:srgbClr val="C00000"/>
              </a:buClr>
              <a:buSzPct val="135000"/>
              <a:buFont typeface="Wingdings" panose="05000000000000000000" pitchFamily="2" charset="2"/>
              <a:buChar char="F"/>
            </a:pPr>
            <a:r>
              <a:rPr lang="zh-CN" altLang="en-US" sz="2000" b="1" dirty="0">
                <a:solidFill>
                  <a:srgbClr val="000066"/>
                </a:solidFill>
                <a:latin typeface="幼圆" panose="02010509060101010101" pitchFamily="49" charset="-122"/>
                <a:ea typeface="幼圆" panose="02010509060101010101" pitchFamily="49" charset="-122"/>
              </a:rPr>
              <a:t>用特征线法可求解偏微分方程组，得解答如下</a:t>
            </a:r>
            <a:r>
              <a:rPr lang="en-US" altLang="zh-CN" sz="2000" b="1" dirty="0">
                <a:solidFill>
                  <a:srgbClr val="000066"/>
                </a:solidFill>
                <a:latin typeface="幼圆" panose="02010509060101010101" pitchFamily="49" charset="-122"/>
                <a:ea typeface="幼圆" panose="02010509060101010101" pitchFamily="49" charset="-122"/>
              </a:rPr>
              <a:t>(</a:t>
            </a:r>
            <a:r>
              <a:rPr lang="zh-CN" altLang="en-US" sz="2000" b="1" dirty="0">
                <a:solidFill>
                  <a:srgbClr val="000066"/>
                </a:solidFill>
                <a:latin typeface="幼圆" panose="02010509060101010101" pitchFamily="49" charset="-122"/>
                <a:ea typeface="幼圆" panose="02010509060101010101" pitchFamily="49" charset="-122"/>
              </a:rPr>
              <a:t>附录</a:t>
            </a:r>
            <a:r>
              <a:rPr lang="en-US" altLang="zh-CN" sz="2000" b="1" dirty="0">
                <a:solidFill>
                  <a:srgbClr val="000066"/>
                </a:solidFill>
                <a:latin typeface="幼圆" panose="02010509060101010101" pitchFamily="49" charset="-122"/>
                <a:ea typeface="幼圆" panose="02010509060101010101" pitchFamily="49" charset="-122"/>
              </a:rPr>
              <a:t>Ⅶ)</a:t>
            </a:r>
            <a:r>
              <a:rPr lang="zh-CN" altLang="en-US" sz="2000" b="1" dirty="0">
                <a:solidFill>
                  <a:srgbClr val="000066"/>
                </a:solidFill>
                <a:latin typeface="幼圆" panose="02010509060101010101" pitchFamily="49" charset="-122"/>
                <a:ea typeface="幼圆" panose="02010509060101010101" pitchFamily="49" charset="-122"/>
              </a:rPr>
              <a:t>：</a:t>
            </a:r>
          </a:p>
        </p:txBody>
      </p:sp>
      <p:sp>
        <p:nvSpPr>
          <p:cNvPr id="87" name="Text Box 5"/>
          <p:cNvSpPr txBox="1">
            <a:spLocks noChangeArrowheads="1"/>
          </p:cNvSpPr>
          <p:nvPr/>
        </p:nvSpPr>
        <p:spPr bwMode="auto">
          <a:xfrm>
            <a:off x="1110263" y="1595627"/>
            <a:ext cx="756998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71463" indent="-271463" eaLnBrk="1" hangingPunct="1">
              <a:lnSpc>
                <a:spcPct val="120000"/>
              </a:lnSpc>
              <a:spcBef>
                <a:spcPts val="0"/>
              </a:spcBef>
              <a:spcAft>
                <a:spcPts val="400"/>
              </a:spcAft>
              <a:buClr>
                <a:srgbClr val="A50021"/>
              </a:buClr>
              <a:buSzPct val="120000"/>
              <a:buFont typeface="+mj-lt"/>
              <a:buAutoNum type="arabicPeriod"/>
            </a:pPr>
            <a:r>
              <a:rPr lang="zh-CN" altLang="en-US" sz="2000" b="1" dirty="0">
                <a:solidFill>
                  <a:srgbClr val="000066"/>
                </a:solidFill>
                <a:ea typeface="幼圆" pitchFamily="49" charset="-122"/>
                <a:cs typeface="Times New Roman" panose="02020603050405020304" pitchFamily="18" charset="0"/>
                <a:sym typeface="Symbol" pitchFamily="18" charset="2"/>
              </a:rPr>
              <a:t> 当达到极限荷载</a:t>
            </a:r>
            <a:r>
              <a:rPr lang="en-US" altLang="zh-CN" sz="2000" b="1" i="1" dirty="0" err="1">
                <a:solidFill>
                  <a:srgbClr val="000066"/>
                </a:solidFill>
                <a:ea typeface="幼圆" pitchFamily="49" charset="-122"/>
                <a:cs typeface="Times New Roman" panose="02020603050405020304" pitchFamily="18" charset="0"/>
                <a:sym typeface="Symbol" pitchFamily="18" charset="2"/>
              </a:rPr>
              <a:t>p</a:t>
            </a:r>
            <a:r>
              <a:rPr lang="en-US" altLang="zh-CN" sz="2000" b="1" baseline="-25000" dirty="0" err="1">
                <a:solidFill>
                  <a:srgbClr val="000066"/>
                </a:solidFill>
                <a:ea typeface="幼圆" pitchFamily="49" charset="-122"/>
                <a:cs typeface="Times New Roman" panose="02020603050405020304" pitchFamily="18" charset="0"/>
                <a:sym typeface="Symbol" pitchFamily="18" charset="2"/>
              </a:rPr>
              <a:t>u</a:t>
            </a:r>
            <a:r>
              <a:rPr lang="zh-CN" altLang="en-US" sz="2000" b="1" dirty="0">
                <a:solidFill>
                  <a:srgbClr val="000066"/>
                </a:solidFill>
                <a:ea typeface="幼圆" pitchFamily="49" charset="-122"/>
                <a:cs typeface="Times New Roman" panose="02020603050405020304" pitchFamily="18" charset="0"/>
                <a:sym typeface="Symbol" pitchFamily="18" charset="2"/>
              </a:rPr>
              <a:t>时，出现连续的滑动面。滑动土体可分成三个区域：</a:t>
            </a:r>
            <a:r>
              <a:rPr lang="en-US" altLang="zh-CN" sz="2000" b="1" dirty="0">
                <a:solidFill>
                  <a:srgbClr val="000066"/>
                </a:solidFill>
                <a:ea typeface="幼圆" pitchFamily="49" charset="-122"/>
                <a:cs typeface="Times New Roman" panose="02020603050405020304" pitchFamily="18" charset="0"/>
                <a:sym typeface="Symbol" pitchFamily="18" charset="2"/>
              </a:rPr>
              <a:t>Ⅰ</a:t>
            </a:r>
            <a:r>
              <a:rPr lang="zh-CN" altLang="en-US" sz="2000" b="1" dirty="0">
                <a:solidFill>
                  <a:srgbClr val="000066"/>
                </a:solidFill>
                <a:ea typeface="幼圆" pitchFamily="49" charset="-122"/>
                <a:cs typeface="Times New Roman" panose="02020603050405020304" pitchFamily="18" charset="0"/>
                <a:sym typeface="Symbol" pitchFamily="18" charset="2"/>
              </a:rPr>
              <a:t>区朗肯主动区，</a:t>
            </a:r>
            <a:r>
              <a:rPr lang="en-US" altLang="zh-CN" sz="2000" b="1" dirty="0">
                <a:solidFill>
                  <a:srgbClr val="000066"/>
                </a:solidFill>
                <a:ea typeface="幼圆" pitchFamily="49" charset="-122"/>
                <a:cs typeface="Times New Roman" panose="02020603050405020304" pitchFamily="18" charset="0"/>
                <a:sym typeface="Symbol" pitchFamily="18" charset="2"/>
              </a:rPr>
              <a:t>Ⅲ</a:t>
            </a:r>
            <a:r>
              <a:rPr lang="zh-CN" altLang="en-US" sz="2000" b="1" dirty="0">
                <a:solidFill>
                  <a:srgbClr val="000066"/>
                </a:solidFill>
                <a:ea typeface="幼圆" pitchFamily="49" charset="-122"/>
                <a:cs typeface="Times New Roman" panose="02020603050405020304" pitchFamily="18" charset="0"/>
                <a:sym typeface="Symbol" pitchFamily="18" charset="2"/>
              </a:rPr>
              <a:t>区朗肯被动区，</a:t>
            </a:r>
            <a:r>
              <a:rPr lang="en-US" altLang="zh-CN" sz="2000" b="1" dirty="0">
                <a:solidFill>
                  <a:srgbClr val="000066"/>
                </a:solidFill>
                <a:ea typeface="幼圆" pitchFamily="49" charset="-122"/>
                <a:cs typeface="Times New Roman" panose="02020603050405020304" pitchFamily="18" charset="0"/>
                <a:sym typeface="Symbol" pitchFamily="18" charset="2"/>
              </a:rPr>
              <a:t>Ⅱ</a:t>
            </a:r>
            <a:r>
              <a:rPr lang="zh-CN" altLang="en-US" sz="2000" b="1" dirty="0">
                <a:solidFill>
                  <a:srgbClr val="000066"/>
                </a:solidFill>
                <a:ea typeface="幼圆" pitchFamily="49" charset="-122"/>
                <a:cs typeface="Times New Roman" panose="02020603050405020304" pitchFamily="18" charset="0"/>
                <a:sym typeface="Symbol" pitchFamily="18" charset="2"/>
              </a:rPr>
              <a:t>区过渡区</a:t>
            </a:r>
            <a:endPar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93" name="Text Box 5"/>
          <p:cNvSpPr txBox="1">
            <a:spLocks noChangeArrowheads="1"/>
          </p:cNvSpPr>
          <p:nvPr/>
        </p:nvSpPr>
        <p:spPr bwMode="auto">
          <a:xfrm>
            <a:off x="1100699" y="2421003"/>
            <a:ext cx="16708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71463" indent="-271463" eaLnBrk="1" hangingPunct="1">
              <a:lnSpc>
                <a:spcPct val="120000"/>
              </a:lnSpc>
              <a:spcBef>
                <a:spcPts val="0"/>
              </a:spcBef>
              <a:spcAft>
                <a:spcPts val="400"/>
              </a:spcAft>
              <a:buClr>
                <a:srgbClr val="A50021"/>
              </a:buClr>
              <a:buSzPct val="120000"/>
              <a:buFont typeface="+mj-lt"/>
              <a:buAutoNum type="arabicPeriod" startAt="2"/>
            </a:pPr>
            <a:r>
              <a:rPr lang="zh-CN" altLang="en-US" sz="2000" b="1" dirty="0">
                <a:solidFill>
                  <a:srgbClr val="000066"/>
                </a:solidFill>
                <a:ea typeface="幼圆" pitchFamily="49" charset="-122"/>
                <a:cs typeface="Times New Roman" panose="02020603050405020304" pitchFamily="18" charset="0"/>
                <a:sym typeface="Symbol" pitchFamily="18" charset="2"/>
              </a:rPr>
              <a:t> 极限荷载：</a:t>
            </a:r>
            <a:endPar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95" name="Object 17"/>
          <p:cNvGraphicFramePr>
            <a:graphicFrameLocks noChangeAspect="1"/>
          </p:cNvGraphicFramePr>
          <p:nvPr>
            <p:extLst>
              <p:ext uri="{D42A27DB-BD31-4B8C-83A1-F6EECF244321}">
                <p14:modId xmlns:p14="http://schemas.microsoft.com/office/powerpoint/2010/main" val="2938318219"/>
              </p:ext>
            </p:extLst>
          </p:nvPr>
        </p:nvGraphicFramePr>
        <p:xfrm>
          <a:off x="2884532" y="2513026"/>
          <a:ext cx="2463120" cy="457200"/>
        </p:xfrm>
        <a:graphic>
          <a:graphicData uri="http://schemas.openxmlformats.org/presentationml/2006/ole">
            <mc:AlternateContent xmlns:mc="http://schemas.openxmlformats.org/markup-compatibility/2006">
              <mc:Choice xmlns:v="urn:schemas-microsoft-com:vml" Requires="v">
                <p:oleObj spid="_x0000_s1812938" name="Equation" r:id="rId4" imgW="1231560" imgH="228600" progId="Equation.DSMT4">
                  <p:embed/>
                </p:oleObj>
              </mc:Choice>
              <mc:Fallback>
                <p:oleObj name="Equation" r:id="rId4" imgW="1231560" imgH="228600" progId="Equation.DSMT4">
                  <p:embed/>
                  <p:pic>
                    <p:nvPicPr>
                      <p:cNvPr id="95" name="Object 17"/>
                      <p:cNvPicPr>
                        <a:picLocks noChangeAspect="1" noChangeArrowheads="1"/>
                      </p:cNvPicPr>
                      <p:nvPr/>
                    </p:nvPicPr>
                    <p:blipFill>
                      <a:blip r:embed="rId5"/>
                      <a:srcRect/>
                      <a:stretch>
                        <a:fillRect/>
                      </a:stretch>
                    </p:blipFill>
                    <p:spPr bwMode="auto">
                      <a:xfrm>
                        <a:off x="2884532" y="2513026"/>
                        <a:ext cx="2463120" cy="457200"/>
                      </a:xfrm>
                      <a:prstGeom prst="rect">
                        <a:avLst/>
                      </a:prstGeom>
                      <a:noFill/>
                      <a:ln w="9525">
                        <a:noFill/>
                        <a:miter lim="800000"/>
                        <a:headEnd/>
                        <a:tailEnd/>
                      </a:ln>
                      <a:effectLst/>
                      <a:extLst/>
                    </p:spPr>
                  </p:pic>
                </p:oleObj>
              </mc:Fallback>
            </mc:AlternateContent>
          </a:graphicData>
        </a:graphic>
      </p:graphicFrame>
      <p:graphicFrame>
        <p:nvGraphicFramePr>
          <p:cNvPr id="97" name="Object 15"/>
          <p:cNvGraphicFramePr>
            <a:graphicFrameLocks noChangeAspect="1"/>
          </p:cNvGraphicFramePr>
          <p:nvPr>
            <p:extLst>
              <p:ext uri="{D42A27DB-BD31-4B8C-83A1-F6EECF244321}">
                <p14:modId xmlns:p14="http://schemas.microsoft.com/office/powerpoint/2010/main" val="191362683"/>
              </p:ext>
            </p:extLst>
          </p:nvPr>
        </p:nvGraphicFramePr>
        <p:xfrm>
          <a:off x="5838538" y="2940948"/>
          <a:ext cx="2032000" cy="412750"/>
        </p:xfrm>
        <a:graphic>
          <a:graphicData uri="http://schemas.openxmlformats.org/presentationml/2006/ole">
            <mc:AlternateContent xmlns:mc="http://schemas.openxmlformats.org/markup-compatibility/2006">
              <mc:Choice xmlns:v="urn:schemas-microsoft-com:vml" Requires="v">
                <p:oleObj spid="_x0000_s1812939" name="Equation" r:id="rId6" imgW="1130040" imgH="228600" progId="Equation.DSMT4">
                  <p:embed/>
                </p:oleObj>
              </mc:Choice>
              <mc:Fallback>
                <p:oleObj name="Equation" r:id="rId6" imgW="1130040" imgH="228600" progId="Equation.DSMT4">
                  <p:embed/>
                  <p:pic>
                    <p:nvPicPr>
                      <p:cNvPr id="97" name="Object 15"/>
                      <p:cNvPicPr>
                        <a:picLocks noChangeAspect="1" noChangeArrowheads="1"/>
                      </p:cNvPicPr>
                      <p:nvPr/>
                    </p:nvPicPr>
                    <p:blipFill>
                      <a:blip r:embed="rId7"/>
                      <a:srcRect/>
                      <a:stretch>
                        <a:fillRect/>
                      </a:stretch>
                    </p:blipFill>
                    <p:spPr bwMode="auto">
                      <a:xfrm>
                        <a:off x="5838538" y="2940948"/>
                        <a:ext cx="2032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 name="Object 16"/>
          <p:cNvGraphicFramePr>
            <a:graphicFrameLocks noChangeAspect="1"/>
          </p:cNvGraphicFramePr>
          <p:nvPr>
            <p:extLst>
              <p:ext uri="{D42A27DB-BD31-4B8C-83A1-F6EECF244321}">
                <p14:modId xmlns:p14="http://schemas.microsoft.com/office/powerpoint/2010/main" val="4043044098"/>
              </p:ext>
            </p:extLst>
          </p:nvPr>
        </p:nvGraphicFramePr>
        <p:xfrm>
          <a:off x="5814239" y="2359753"/>
          <a:ext cx="2673350" cy="661988"/>
        </p:xfrm>
        <a:graphic>
          <a:graphicData uri="http://schemas.openxmlformats.org/presentationml/2006/ole">
            <mc:AlternateContent xmlns:mc="http://schemas.openxmlformats.org/markup-compatibility/2006">
              <mc:Choice xmlns:v="urn:schemas-microsoft-com:vml" Requires="v">
                <p:oleObj spid="_x0000_s1812940" name="Equation" r:id="rId8" imgW="1485720" imgH="368280" progId="Equation.DSMT4">
                  <p:embed/>
                </p:oleObj>
              </mc:Choice>
              <mc:Fallback>
                <p:oleObj name="Equation" r:id="rId8" imgW="1485720" imgH="368280" progId="Equation.DSMT4">
                  <p:embed/>
                  <p:pic>
                    <p:nvPicPr>
                      <p:cNvPr id="98" name="Object 16"/>
                      <p:cNvPicPr>
                        <a:picLocks noChangeAspect="1" noChangeArrowheads="1"/>
                      </p:cNvPicPr>
                      <p:nvPr/>
                    </p:nvPicPr>
                    <p:blipFill>
                      <a:blip r:embed="rId9"/>
                      <a:srcRect/>
                      <a:stretch>
                        <a:fillRect/>
                      </a:stretch>
                    </p:blipFill>
                    <p:spPr bwMode="auto">
                      <a:xfrm>
                        <a:off x="5814239" y="2359753"/>
                        <a:ext cx="267335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组合 2"/>
          <p:cNvGrpSpPr/>
          <p:nvPr/>
        </p:nvGrpSpPr>
        <p:grpSpPr>
          <a:xfrm>
            <a:off x="1032271" y="3215188"/>
            <a:ext cx="7152879" cy="2272434"/>
            <a:chOff x="1032271" y="3215188"/>
            <a:chExt cx="7152879" cy="2272434"/>
          </a:xfrm>
        </p:grpSpPr>
        <p:sp>
          <p:nvSpPr>
            <p:cNvPr id="103" name="矩形 102"/>
            <p:cNvSpPr/>
            <p:nvPr/>
          </p:nvSpPr>
          <p:spPr bwMode="auto">
            <a:xfrm>
              <a:off x="1365201" y="4248230"/>
              <a:ext cx="6737400" cy="1208583"/>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07" name="任意多边形 106"/>
            <p:cNvSpPr/>
            <p:nvPr/>
          </p:nvSpPr>
          <p:spPr bwMode="auto">
            <a:xfrm>
              <a:off x="4832295" y="4253252"/>
              <a:ext cx="3070411" cy="1079468"/>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2633243"/>
                <a:gd name="connsiteY0" fmla="*/ 799365 h 1083950"/>
                <a:gd name="connsiteX1" fmla="*/ 236220 w 2633243"/>
                <a:gd name="connsiteY1" fmla="*/ 950495 h 1083950"/>
                <a:gd name="connsiteX2" fmla="*/ 464820 w 2633243"/>
                <a:gd name="connsiteY2" fmla="*/ 1044475 h 1083950"/>
                <a:gd name="connsiteX3" fmla="*/ 711200 w 2633243"/>
                <a:gd name="connsiteY3" fmla="*/ 1083845 h 1083950"/>
                <a:gd name="connsiteX4" fmla="*/ 1073150 w 2633243"/>
                <a:gd name="connsiteY4" fmla="*/ 1034315 h 1083950"/>
                <a:gd name="connsiteX5" fmla="*/ 1479550 w 2633243"/>
                <a:gd name="connsiteY5" fmla="*/ 875565 h 1083950"/>
                <a:gd name="connsiteX6" fmla="*/ 1928892 w 2633243"/>
                <a:gd name="connsiteY6" fmla="*/ 651584 h 1083950"/>
                <a:gd name="connsiteX7" fmla="*/ 2252786 w 2633243"/>
                <a:gd name="connsiteY7" fmla="*/ 467980 h 1083950"/>
                <a:gd name="connsiteX8" fmla="*/ 2621432 w 2633243"/>
                <a:gd name="connsiteY8" fmla="*/ 260381 h 1083950"/>
                <a:gd name="connsiteX9" fmla="*/ 399024 w 2633243"/>
                <a:gd name="connsiteY9" fmla="*/ 0 h 1083950"/>
                <a:gd name="connsiteX0" fmla="*/ 0 w 3136729"/>
                <a:gd name="connsiteY0" fmla="*/ 799365 h 1083950"/>
                <a:gd name="connsiteX1" fmla="*/ 236220 w 3136729"/>
                <a:gd name="connsiteY1" fmla="*/ 950495 h 1083950"/>
                <a:gd name="connsiteX2" fmla="*/ 464820 w 3136729"/>
                <a:gd name="connsiteY2" fmla="*/ 1044475 h 1083950"/>
                <a:gd name="connsiteX3" fmla="*/ 711200 w 3136729"/>
                <a:gd name="connsiteY3" fmla="*/ 1083845 h 1083950"/>
                <a:gd name="connsiteX4" fmla="*/ 1073150 w 3136729"/>
                <a:gd name="connsiteY4" fmla="*/ 1034315 h 1083950"/>
                <a:gd name="connsiteX5" fmla="*/ 1479550 w 3136729"/>
                <a:gd name="connsiteY5" fmla="*/ 875565 h 1083950"/>
                <a:gd name="connsiteX6" fmla="*/ 1928892 w 3136729"/>
                <a:gd name="connsiteY6" fmla="*/ 651584 h 1083950"/>
                <a:gd name="connsiteX7" fmla="*/ 2252786 w 3136729"/>
                <a:gd name="connsiteY7" fmla="*/ 467980 h 1083950"/>
                <a:gd name="connsiteX8" fmla="*/ 2621432 w 3136729"/>
                <a:gd name="connsiteY8" fmla="*/ 260381 h 1083950"/>
                <a:gd name="connsiteX9" fmla="*/ 3038553 w 3136729"/>
                <a:gd name="connsiteY9" fmla="*/ 19047 h 1083950"/>
                <a:gd name="connsiteX10" fmla="*/ 399024 w 3136729"/>
                <a:gd name="connsiteY10" fmla="*/ 0 h 1083950"/>
                <a:gd name="connsiteX0" fmla="*/ 0 w 3136729"/>
                <a:gd name="connsiteY0" fmla="*/ 799365 h 1083950"/>
                <a:gd name="connsiteX1" fmla="*/ 236220 w 3136729"/>
                <a:gd name="connsiteY1" fmla="*/ 950495 h 1083950"/>
                <a:gd name="connsiteX2" fmla="*/ 464820 w 3136729"/>
                <a:gd name="connsiteY2" fmla="*/ 1044475 h 1083950"/>
                <a:gd name="connsiteX3" fmla="*/ 711200 w 3136729"/>
                <a:gd name="connsiteY3" fmla="*/ 1083845 h 1083950"/>
                <a:gd name="connsiteX4" fmla="*/ 1073150 w 3136729"/>
                <a:gd name="connsiteY4" fmla="*/ 1034315 h 1083950"/>
                <a:gd name="connsiteX5" fmla="*/ 1479550 w 3136729"/>
                <a:gd name="connsiteY5" fmla="*/ 875565 h 1083950"/>
                <a:gd name="connsiteX6" fmla="*/ 1928892 w 3136729"/>
                <a:gd name="connsiteY6" fmla="*/ 651584 h 1083950"/>
                <a:gd name="connsiteX7" fmla="*/ 2252786 w 3136729"/>
                <a:gd name="connsiteY7" fmla="*/ 467980 h 1083950"/>
                <a:gd name="connsiteX8" fmla="*/ 2621432 w 3136729"/>
                <a:gd name="connsiteY8" fmla="*/ 260381 h 1083950"/>
                <a:gd name="connsiteX9" fmla="*/ 3038553 w 3136729"/>
                <a:gd name="connsiteY9" fmla="*/ 19047 h 1083950"/>
                <a:gd name="connsiteX10" fmla="*/ 399024 w 3136729"/>
                <a:gd name="connsiteY10" fmla="*/ 0 h 1083950"/>
                <a:gd name="connsiteX11" fmla="*/ 0 w 3136729"/>
                <a:gd name="connsiteY11" fmla="*/ 799365 h 1083950"/>
                <a:gd name="connsiteX0" fmla="*/ 0 w 3038553"/>
                <a:gd name="connsiteY0" fmla="*/ 799365 h 1083950"/>
                <a:gd name="connsiteX1" fmla="*/ 236220 w 3038553"/>
                <a:gd name="connsiteY1" fmla="*/ 950495 h 1083950"/>
                <a:gd name="connsiteX2" fmla="*/ 464820 w 3038553"/>
                <a:gd name="connsiteY2" fmla="*/ 1044475 h 1083950"/>
                <a:gd name="connsiteX3" fmla="*/ 711200 w 3038553"/>
                <a:gd name="connsiteY3" fmla="*/ 1083845 h 1083950"/>
                <a:gd name="connsiteX4" fmla="*/ 1073150 w 3038553"/>
                <a:gd name="connsiteY4" fmla="*/ 1034315 h 1083950"/>
                <a:gd name="connsiteX5" fmla="*/ 1479550 w 3038553"/>
                <a:gd name="connsiteY5" fmla="*/ 875565 h 1083950"/>
                <a:gd name="connsiteX6" fmla="*/ 1928892 w 3038553"/>
                <a:gd name="connsiteY6" fmla="*/ 651584 h 1083950"/>
                <a:gd name="connsiteX7" fmla="*/ 2252786 w 3038553"/>
                <a:gd name="connsiteY7" fmla="*/ 467980 h 1083950"/>
                <a:gd name="connsiteX8" fmla="*/ 2621432 w 3038553"/>
                <a:gd name="connsiteY8" fmla="*/ 260381 h 1083950"/>
                <a:gd name="connsiteX9" fmla="*/ 3038553 w 3038553"/>
                <a:gd name="connsiteY9" fmla="*/ 19047 h 1083950"/>
                <a:gd name="connsiteX10" fmla="*/ 399024 w 3038553"/>
                <a:gd name="connsiteY10" fmla="*/ 0 h 1083950"/>
                <a:gd name="connsiteX11" fmla="*/ 0 w 3038553"/>
                <a:gd name="connsiteY11" fmla="*/ 799365 h 1083950"/>
                <a:gd name="connsiteX0" fmla="*/ 36341 w 3074894"/>
                <a:gd name="connsiteY0" fmla="*/ 799367 h 1083952"/>
                <a:gd name="connsiteX1" fmla="*/ 272561 w 3074894"/>
                <a:gd name="connsiteY1" fmla="*/ 950497 h 1083952"/>
                <a:gd name="connsiteX2" fmla="*/ 501161 w 3074894"/>
                <a:gd name="connsiteY2" fmla="*/ 1044477 h 1083952"/>
                <a:gd name="connsiteX3" fmla="*/ 747541 w 3074894"/>
                <a:gd name="connsiteY3" fmla="*/ 1083847 h 1083952"/>
                <a:gd name="connsiteX4" fmla="*/ 1109491 w 3074894"/>
                <a:gd name="connsiteY4" fmla="*/ 1034317 h 1083952"/>
                <a:gd name="connsiteX5" fmla="*/ 1515891 w 3074894"/>
                <a:gd name="connsiteY5" fmla="*/ 875567 h 1083952"/>
                <a:gd name="connsiteX6" fmla="*/ 1965233 w 3074894"/>
                <a:gd name="connsiteY6" fmla="*/ 651586 h 1083952"/>
                <a:gd name="connsiteX7" fmla="*/ 2289127 w 3074894"/>
                <a:gd name="connsiteY7" fmla="*/ 467982 h 1083952"/>
                <a:gd name="connsiteX8" fmla="*/ 2657773 w 3074894"/>
                <a:gd name="connsiteY8" fmla="*/ 260383 h 1083952"/>
                <a:gd name="connsiteX9" fmla="*/ 3074894 w 3074894"/>
                <a:gd name="connsiteY9" fmla="*/ 19049 h 1083952"/>
                <a:gd name="connsiteX10" fmla="*/ 435365 w 3074894"/>
                <a:gd name="connsiteY10" fmla="*/ 2 h 1083952"/>
                <a:gd name="connsiteX11" fmla="*/ 0 w 3074894"/>
                <a:gd name="connsiteY11" fmla="*/ 36978 h 1083952"/>
                <a:gd name="connsiteX12" fmla="*/ 36341 w 3074894"/>
                <a:gd name="connsiteY12" fmla="*/ 799367 h 1083952"/>
                <a:gd name="connsiteX0" fmla="*/ 36341 w 3074894"/>
                <a:gd name="connsiteY0" fmla="*/ 799365 h 1083950"/>
                <a:gd name="connsiteX1" fmla="*/ 272561 w 3074894"/>
                <a:gd name="connsiteY1" fmla="*/ 950495 h 1083950"/>
                <a:gd name="connsiteX2" fmla="*/ 501161 w 3074894"/>
                <a:gd name="connsiteY2" fmla="*/ 1044475 h 1083950"/>
                <a:gd name="connsiteX3" fmla="*/ 747541 w 3074894"/>
                <a:gd name="connsiteY3" fmla="*/ 1083845 h 1083950"/>
                <a:gd name="connsiteX4" fmla="*/ 1109491 w 3074894"/>
                <a:gd name="connsiteY4" fmla="*/ 1034315 h 1083950"/>
                <a:gd name="connsiteX5" fmla="*/ 1515891 w 3074894"/>
                <a:gd name="connsiteY5" fmla="*/ 875565 h 1083950"/>
                <a:gd name="connsiteX6" fmla="*/ 1965233 w 3074894"/>
                <a:gd name="connsiteY6" fmla="*/ 651584 h 1083950"/>
                <a:gd name="connsiteX7" fmla="*/ 2289127 w 3074894"/>
                <a:gd name="connsiteY7" fmla="*/ 467980 h 1083950"/>
                <a:gd name="connsiteX8" fmla="*/ 2657773 w 3074894"/>
                <a:gd name="connsiteY8" fmla="*/ 260381 h 1083950"/>
                <a:gd name="connsiteX9" fmla="*/ 3074894 w 3074894"/>
                <a:gd name="connsiteY9" fmla="*/ 19047 h 1083950"/>
                <a:gd name="connsiteX10" fmla="*/ 435365 w 3074894"/>
                <a:gd name="connsiteY10" fmla="*/ 0 h 1083950"/>
                <a:gd name="connsiteX11" fmla="*/ 0 w 3074894"/>
                <a:gd name="connsiteY11" fmla="*/ 36976 h 1083950"/>
                <a:gd name="connsiteX12" fmla="*/ 36341 w 3074894"/>
                <a:gd name="connsiteY12" fmla="*/ 799365 h 1083950"/>
                <a:gd name="connsiteX0" fmla="*/ 31858 w 3070411"/>
                <a:gd name="connsiteY0" fmla="*/ 799365 h 1083950"/>
                <a:gd name="connsiteX1" fmla="*/ 268078 w 3070411"/>
                <a:gd name="connsiteY1" fmla="*/ 950495 h 1083950"/>
                <a:gd name="connsiteX2" fmla="*/ 496678 w 3070411"/>
                <a:gd name="connsiteY2" fmla="*/ 1044475 h 1083950"/>
                <a:gd name="connsiteX3" fmla="*/ 743058 w 3070411"/>
                <a:gd name="connsiteY3" fmla="*/ 1083845 h 1083950"/>
                <a:gd name="connsiteX4" fmla="*/ 1105008 w 3070411"/>
                <a:gd name="connsiteY4" fmla="*/ 1034315 h 1083950"/>
                <a:gd name="connsiteX5" fmla="*/ 1511408 w 3070411"/>
                <a:gd name="connsiteY5" fmla="*/ 875565 h 1083950"/>
                <a:gd name="connsiteX6" fmla="*/ 1960750 w 3070411"/>
                <a:gd name="connsiteY6" fmla="*/ 651584 h 1083950"/>
                <a:gd name="connsiteX7" fmla="*/ 2284644 w 3070411"/>
                <a:gd name="connsiteY7" fmla="*/ 467980 h 1083950"/>
                <a:gd name="connsiteX8" fmla="*/ 2653290 w 3070411"/>
                <a:gd name="connsiteY8" fmla="*/ 260381 h 1083950"/>
                <a:gd name="connsiteX9" fmla="*/ 3070411 w 3070411"/>
                <a:gd name="connsiteY9" fmla="*/ 19047 h 1083950"/>
                <a:gd name="connsiteX10" fmla="*/ 430882 w 3070411"/>
                <a:gd name="connsiteY10" fmla="*/ 0 h 1083950"/>
                <a:gd name="connsiteX11" fmla="*/ 0 w 3070411"/>
                <a:gd name="connsiteY11" fmla="*/ 1117 h 1083950"/>
                <a:gd name="connsiteX12" fmla="*/ 31858 w 3070411"/>
                <a:gd name="connsiteY12" fmla="*/ 799365 h 1083950"/>
                <a:gd name="connsiteX0" fmla="*/ 31858 w 3070411"/>
                <a:gd name="connsiteY0" fmla="*/ 798248 h 1082833"/>
                <a:gd name="connsiteX1" fmla="*/ 268078 w 3070411"/>
                <a:gd name="connsiteY1" fmla="*/ 949378 h 1082833"/>
                <a:gd name="connsiteX2" fmla="*/ 496678 w 3070411"/>
                <a:gd name="connsiteY2" fmla="*/ 1043358 h 1082833"/>
                <a:gd name="connsiteX3" fmla="*/ 743058 w 3070411"/>
                <a:gd name="connsiteY3" fmla="*/ 1082728 h 1082833"/>
                <a:gd name="connsiteX4" fmla="*/ 1105008 w 3070411"/>
                <a:gd name="connsiteY4" fmla="*/ 1033198 h 1082833"/>
                <a:gd name="connsiteX5" fmla="*/ 1511408 w 3070411"/>
                <a:gd name="connsiteY5" fmla="*/ 874448 h 1082833"/>
                <a:gd name="connsiteX6" fmla="*/ 1960750 w 3070411"/>
                <a:gd name="connsiteY6" fmla="*/ 650467 h 1082833"/>
                <a:gd name="connsiteX7" fmla="*/ 2284644 w 3070411"/>
                <a:gd name="connsiteY7" fmla="*/ 466863 h 1082833"/>
                <a:gd name="connsiteX8" fmla="*/ 2653290 w 3070411"/>
                <a:gd name="connsiteY8" fmla="*/ 259264 h 1082833"/>
                <a:gd name="connsiteX9" fmla="*/ 3070411 w 3070411"/>
                <a:gd name="connsiteY9" fmla="*/ 17930 h 1082833"/>
                <a:gd name="connsiteX10" fmla="*/ 430882 w 3070411"/>
                <a:gd name="connsiteY10" fmla="*/ 3365 h 1082833"/>
                <a:gd name="connsiteX11" fmla="*/ 0 w 3070411"/>
                <a:gd name="connsiteY11" fmla="*/ 0 h 1082833"/>
                <a:gd name="connsiteX12" fmla="*/ 31858 w 3070411"/>
                <a:gd name="connsiteY12" fmla="*/ 798248 h 1082833"/>
                <a:gd name="connsiteX0" fmla="*/ 31858 w 3070411"/>
                <a:gd name="connsiteY0" fmla="*/ 796795 h 1081380"/>
                <a:gd name="connsiteX1" fmla="*/ 268078 w 3070411"/>
                <a:gd name="connsiteY1" fmla="*/ 947925 h 1081380"/>
                <a:gd name="connsiteX2" fmla="*/ 496678 w 3070411"/>
                <a:gd name="connsiteY2" fmla="*/ 1041905 h 1081380"/>
                <a:gd name="connsiteX3" fmla="*/ 743058 w 3070411"/>
                <a:gd name="connsiteY3" fmla="*/ 1081275 h 1081380"/>
                <a:gd name="connsiteX4" fmla="*/ 1105008 w 3070411"/>
                <a:gd name="connsiteY4" fmla="*/ 1031745 h 1081380"/>
                <a:gd name="connsiteX5" fmla="*/ 1511408 w 3070411"/>
                <a:gd name="connsiteY5" fmla="*/ 872995 h 1081380"/>
                <a:gd name="connsiteX6" fmla="*/ 1960750 w 3070411"/>
                <a:gd name="connsiteY6" fmla="*/ 649014 h 1081380"/>
                <a:gd name="connsiteX7" fmla="*/ 2284644 w 3070411"/>
                <a:gd name="connsiteY7" fmla="*/ 465410 h 1081380"/>
                <a:gd name="connsiteX8" fmla="*/ 2653290 w 3070411"/>
                <a:gd name="connsiteY8" fmla="*/ 257811 h 1081380"/>
                <a:gd name="connsiteX9" fmla="*/ 3070411 w 3070411"/>
                <a:gd name="connsiteY9" fmla="*/ 16477 h 1081380"/>
                <a:gd name="connsiteX10" fmla="*/ 430882 w 3070411"/>
                <a:gd name="connsiteY10" fmla="*/ 1912 h 1081380"/>
                <a:gd name="connsiteX11" fmla="*/ 0 w 3070411"/>
                <a:gd name="connsiteY11" fmla="*/ 7512 h 1081380"/>
                <a:gd name="connsiteX12" fmla="*/ 31858 w 3070411"/>
                <a:gd name="connsiteY12" fmla="*/ 796795 h 1081380"/>
                <a:gd name="connsiteX0" fmla="*/ 31858 w 3070411"/>
                <a:gd name="connsiteY0" fmla="*/ 794883 h 1079468"/>
                <a:gd name="connsiteX1" fmla="*/ 268078 w 3070411"/>
                <a:gd name="connsiteY1" fmla="*/ 946013 h 1079468"/>
                <a:gd name="connsiteX2" fmla="*/ 496678 w 3070411"/>
                <a:gd name="connsiteY2" fmla="*/ 1039993 h 1079468"/>
                <a:gd name="connsiteX3" fmla="*/ 743058 w 3070411"/>
                <a:gd name="connsiteY3" fmla="*/ 1079363 h 1079468"/>
                <a:gd name="connsiteX4" fmla="*/ 1105008 w 3070411"/>
                <a:gd name="connsiteY4" fmla="*/ 1029833 h 1079468"/>
                <a:gd name="connsiteX5" fmla="*/ 1511408 w 3070411"/>
                <a:gd name="connsiteY5" fmla="*/ 871083 h 1079468"/>
                <a:gd name="connsiteX6" fmla="*/ 1960750 w 3070411"/>
                <a:gd name="connsiteY6" fmla="*/ 647102 h 1079468"/>
                <a:gd name="connsiteX7" fmla="*/ 2284644 w 3070411"/>
                <a:gd name="connsiteY7" fmla="*/ 463498 h 1079468"/>
                <a:gd name="connsiteX8" fmla="*/ 2653290 w 3070411"/>
                <a:gd name="connsiteY8" fmla="*/ 255899 h 1079468"/>
                <a:gd name="connsiteX9" fmla="*/ 3070411 w 3070411"/>
                <a:gd name="connsiteY9" fmla="*/ 14565 h 1079468"/>
                <a:gd name="connsiteX10" fmla="*/ 430882 w 3070411"/>
                <a:gd name="connsiteY10" fmla="*/ 0 h 1079468"/>
                <a:gd name="connsiteX11" fmla="*/ 0 w 3070411"/>
                <a:gd name="connsiteY11" fmla="*/ 5600 h 1079468"/>
                <a:gd name="connsiteX12" fmla="*/ 31858 w 3070411"/>
                <a:gd name="connsiteY12" fmla="*/ 794883 h 107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70411" h="1079468">
                  <a:moveTo>
                    <a:pt x="31858" y="794883"/>
                  </a:moveTo>
                  <a:cubicBezTo>
                    <a:pt x="125520" y="862087"/>
                    <a:pt x="190608" y="905161"/>
                    <a:pt x="268078" y="946013"/>
                  </a:cubicBezTo>
                  <a:cubicBezTo>
                    <a:pt x="345548" y="986865"/>
                    <a:pt x="417515" y="1017768"/>
                    <a:pt x="496678" y="1039993"/>
                  </a:cubicBezTo>
                  <a:cubicBezTo>
                    <a:pt x="575841" y="1062218"/>
                    <a:pt x="641670" y="1081056"/>
                    <a:pt x="743058" y="1079363"/>
                  </a:cubicBezTo>
                  <a:cubicBezTo>
                    <a:pt x="844446" y="1077670"/>
                    <a:pt x="976950" y="1064546"/>
                    <a:pt x="1105008" y="1029833"/>
                  </a:cubicBezTo>
                  <a:cubicBezTo>
                    <a:pt x="1233066" y="995120"/>
                    <a:pt x="1368784" y="934871"/>
                    <a:pt x="1511408" y="871083"/>
                  </a:cubicBezTo>
                  <a:cubicBezTo>
                    <a:pt x="1654032" y="807295"/>
                    <a:pt x="1831877" y="715033"/>
                    <a:pt x="1960750" y="647102"/>
                  </a:cubicBezTo>
                  <a:cubicBezTo>
                    <a:pt x="2089623" y="579171"/>
                    <a:pt x="2197691" y="512509"/>
                    <a:pt x="2284644" y="463498"/>
                  </a:cubicBezTo>
                  <a:lnTo>
                    <a:pt x="2653290" y="255899"/>
                  </a:lnTo>
                  <a:lnTo>
                    <a:pt x="3070411" y="14565"/>
                  </a:lnTo>
                  <a:lnTo>
                    <a:pt x="430882" y="0"/>
                  </a:lnTo>
                  <a:lnTo>
                    <a:pt x="0" y="5600"/>
                  </a:lnTo>
                  <a:lnTo>
                    <a:pt x="31858" y="794883"/>
                  </a:lnTo>
                  <a:close/>
                </a:path>
              </a:pathLst>
            </a:custGeom>
            <a:solidFill>
              <a:schemeClr val="accent5">
                <a:lumMod val="90000"/>
              </a:schemeClr>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05" name="任意多边形 104"/>
            <p:cNvSpPr/>
            <p:nvPr/>
          </p:nvSpPr>
          <p:spPr bwMode="auto">
            <a:xfrm flipH="1">
              <a:off x="1810871" y="4248602"/>
              <a:ext cx="3070411" cy="1079468"/>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2633243"/>
                <a:gd name="connsiteY0" fmla="*/ 799365 h 1083950"/>
                <a:gd name="connsiteX1" fmla="*/ 236220 w 2633243"/>
                <a:gd name="connsiteY1" fmla="*/ 950495 h 1083950"/>
                <a:gd name="connsiteX2" fmla="*/ 464820 w 2633243"/>
                <a:gd name="connsiteY2" fmla="*/ 1044475 h 1083950"/>
                <a:gd name="connsiteX3" fmla="*/ 711200 w 2633243"/>
                <a:gd name="connsiteY3" fmla="*/ 1083845 h 1083950"/>
                <a:gd name="connsiteX4" fmla="*/ 1073150 w 2633243"/>
                <a:gd name="connsiteY4" fmla="*/ 1034315 h 1083950"/>
                <a:gd name="connsiteX5" fmla="*/ 1479550 w 2633243"/>
                <a:gd name="connsiteY5" fmla="*/ 875565 h 1083950"/>
                <a:gd name="connsiteX6" fmla="*/ 1928892 w 2633243"/>
                <a:gd name="connsiteY6" fmla="*/ 651584 h 1083950"/>
                <a:gd name="connsiteX7" fmla="*/ 2252786 w 2633243"/>
                <a:gd name="connsiteY7" fmla="*/ 467980 h 1083950"/>
                <a:gd name="connsiteX8" fmla="*/ 2621432 w 2633243"/>
                <a:gd name="connsiteY8" fmla="*/ 260381 h 1083950"/>
                <a:gd name="connsiteX9" fmla="*/ 399024 w 2633243"/>
                <a:gd name="connsiteY9" fmla="*/ 0 h 1083950"/>
                <a:gd name="connsiteX0" fmla="*/ 0 w 3136729"/>
                <a:gd name="connsiteY0" fmla="*/ 799365 h 1083950"/>
                <a:gd name="connsiteX1" fmla="*/ 236220 w 3136729"/>
                <a:gd name="connsiteY1" fmla="*/ 950495 h 1083950"/>
                <a:gd name="connsiteX2" fmla="*/ 464820 w 3136729"/>
                <a:gd name="connsiteY2" fmla="*/ 1044475 h 1083950"/>
                <a:gd name="connsiteX3" fmla="*/ 711200 w 3136729"/>
                <a:gd name="connsiteY3" fmla="*/ 1083845 h 1083950"/>
                <a:gd name="connsiteX4" fmla="*/ 1073150 w 3136729"/>
                <a:gd name="connsiteY4" fmla="*/ 1034315 h 1083950"/>
                <a:gd name="connsiteX5" fmla="*/ 1479550 w 3136729"/>
                <a:gd name="connsiteY5" fmla="*/ 875565 h 1083950"/>
                <a:gd name="connsiteX6" fmla="*/ 1928892 w 3136729"/>
                <a:gd name="connsiteY6" fmla="*/ 651584 h 1083950"/>
                <a:gd name="connsiteX7" fmla="*/ 2252786 w 3136729"/>
                <a:gd name="connsiteY7" fmla="*/ 467980 h 1083950"/>
                <a:gd name="connsiteX8" fmla="*/ 2621432 w 3136729"/>
                <a:gd name="connsiteY8" fmla="*/ 260381 h 1083950"/>
                <a:gd name="connsiteX9" fmla="*/ 3038553 w 3136729"/>
                <a:gd name="connsiteY9" fmla="*/ 19047 h 1083950"/>
                <a:gd name="connsiteX10" fmla="*/ 399024 w 3136729"/>
                <a:gd name="connsiteY10" fmla="*/ 0 h 1083950"/>
                <a:gd name="connsiteX0" fmla="*/ 0 w 3136729"/>
                <a:gd name="connsiteY0" fmla="*/ 799365 h 1083950"/>
                <a:gd name="connsiteX1" fmla="*/ 236220 w 3136729"/>
                <a:gd name="connsiteY1" fmla="*/ 950495 h 1083950"/>
                <a:gd name="connsiteX2" fmla="*/ 464820 w 3136729"/>
                <a:gd name="connsiteY2" fmla="*/ 1044475 h 1083950"/>
                <a:gd name="connsiteX3" fmla="*/ 711200 w 3136729"/>
                <a:gd name="connsiteY3" fmla="*/ 1083845 h 1083950"/>
                <a:gd name="connsiteX4" fmla="*/ 1073150 w 3136729"/>
                <a:gd name="connsiteY4" fmla="*/ 1034315 h 1083950"/>
                <a:gd name="connsiteX5" fmla="*/ 1479550 w 3136729"/>
                <a:gd name="connsiteY5" fmla="*/ 875565 h 1083950"/>
                <a:gd name="connsiteX6" fmla="*/ 1928892 w 3136729"/>
                <a:gd name="connsiteY6" fmla="*/ 651584 h 1083950"/>
                <a:gd name="connsiteX7" fmla="*/ 2252786 w 3136729"/>
                <a:gd name="connsiteY7" fmla="*/ 467980 h 1083950"/>
                <a:gd name="connsiteX8" fmla="*/ 2621432 w 3136729"/>
                <a:gd name="connsiteY8" fmla="*/ 260381 h 1083950"/>
                <a:gd name="connsiteX9" fmla="*/ 3038553 w 3136729"/>
                <a:gd name="connsiteY9" fmla="*/ 19047 h 1083950"/>
                <a:gd name="connsiteX10" fmla="*/ 399024 w 3136729"/>
                <a:gd name="connsiteY10" fmla="*/ 0 h 1083950"/>
                <a:gd name="connsiteX11" fmla="*/ 0 w 3136729"/>
                <a:gd name="connsiteY11" fmla="*/ 799365 h 1083950"/>
                <a:gd name="connsiteX0" fmla="*/ 0 w 3038553"/>
                <a:gd name="connsiteY0" fmla="*/ 799365 h 1083950"/>
                <a:gd name="connsiteX1" fmla="*/ 236220 w 3038553"/>
                <a:gd name="connsiteY1" fmla="*/ 950495 h 1083950"/>
                <a:gd name="connsiteX2" fmla="*/ 464820 w 3038553"/>
                <a:gd name="connsiteY2" fmla="*/ 1044475 h 1083950"/>
                <a:gd name="connsiteX3" fmla="*/ 711200 w 3038553"/>
                <a:gd name="connsiteY3" fmla="*/ 1083845 h 1083950"/>
                <a:gd name="connsiteX4" fmla="*/ 1073150 w 3038553"/>
                <a:gd name="connsiteY4" fmla="*/ 1034315 h 1083950"/>
                <a:gd name="connsiteX5" fmla="*/ 1479550 w 3038553"/>
                <a:gd name="connsiteY5" fmla="*/ 875565 h 1083950"/>
                <a:gd name="connsiteX6" fmla="*/ 1928892 w 3038553"/>
                <a:gd name="connsiteY6" fmla="*/ 651584 h 1083950"/>
                <a:gd name="connsiteX7" fmla="*/ 2252786 w 3038553"/>
                <a:gd name="connsiteY7" fmla="*/ 467980 h 1083950"/>
                <a:gd name="connsiteX8" fmla="*/ 2621432 w 3038553"/>
                <a:gd name="connsiteY8" fmla="*/ 260381 h 1083950"/>
                <a:gd name="connsiteX9" fmla="*/ 3038553 w 3038553"/>
                <a:gd name="connsiteY9" fmla="*/ 19047 h 1083950"/>
                <a:gd name="connsiteX10" fmla="*/ 399024 w 3038553"/>
                <a:gd name="connsiteY10" fmla="*/ 0 h 1083950"/>
                <a:gd name="connsiteX11" fmla="*/ 0 w 3038553"/>
                <a:gd name="connsiteY11" fmla="*/ 799365 h 1083950"/>
                <a:gd name="connsiteX0" fmla="*/ 36341 w 3074894"/>
                <a:gd name="connsiteY0" fmla="*/ 799367 h 1083952"/>
                <a:gd name="connsiteX1" fmla="*/ 272561 w 3074894"/>
                <a:gd name="connsiteY1" fmla="*/ 950497 h 1083952"/>
                <a:gd name="connsiteX2" fmla="*/ 501161 w 3074894"/>
                <a:gd name="connsiteY2" fmla="*/ 1044477 h 1083952"/>
                <a:gd name="connsiteX3" fmla="*/ 747541 w 3074894"/>
                <a:gd name="connsiteY3" fmla="*/ 1083847 h 1083952"/>
                <a:gd name="connsiteX4" fmla="*/ 1109491 w 3074894"/>
                <a:gd name="connsiteY4" fmla="*/ 1034317 h 1083952"/>
                <a:gd name="connsiteX5" fmla="*/ 1515891 w 3074894"/>
                <a:gd name="connsiteY5" fmla="*/ 875567 h 1083952"/>
                <a:gd name="connsiteX6" fmla="*/ 1965233 w 3074894"/>
                <a:gd name="connsiteY6" fmla="*/ 651586 h 1083952"/>
                <a:gd name="connsiteX7" fmla="*/ 2289127 w 3074894"/>
                <a:gd name="connsiteY7" fmla="*/ 467982 h 1083952"/>
                <a:gd name="connsiteX8" fmla="*/ 2657773 w 3074894"/>
                <a:gd name="connsiteY8" fmla="*/ 260383 h 1083952"/>
                <a:gd name="connsiteX9" fmla="*/ 3074894 w 3074894"/>
                <a:gd name="connsiteY9" fmla="*/ 19049 h 1083952"/>
                <a:gd name="connsiteX10" fmla="*/ 435365 w 3074894"/>
                <a:gd name="connsiteY10" fmla="*/ 2 h 1083952"/>
                <a:gd name="connsiteX11" fmla="*/ 0 w 3074894"/>
                <a:gd name="connsiteY11" fmla="*/ 36978 h 1083952"/>
                <a:gd name="connsiteX12" fmla="*/ 36341 w 3074894"/>
                <a:gd name="connsiteY12" fmla="*/ 799367 h 1083952"/>
                <a:gd name="connsiteX0" fmla="*/ 36341 w 3074894"/>
                <a:gd name="connsiteY0" fmla="*/ 799365 h 1083950"/>
                <a:gd name="connsiteX1" fmla="*/ 272561 w 3074894"/>
                <a:gd name="connsiteY1" fmla="*/ 950495 h 1083950"/>
                <a:gd name="connsiteX2" fmla="*/ 501161 w 3074894"/>
                <a:gd name="connsiteY2" fmla="*/ 1044475 h 1083950"/>
                <a:gd name="connsiteX3" fmla="*/ 747541 w 3074894"/>
                <a:gd name="connsiteY3" fmla="*/ 1083845 h 1083950"/>
                <a:gd name="connsiteX4" fmla="*/ 1109491 w 3074894"/>
                <a:gd name="connsiteY4" fmla="*/ 1034315 h 1083950"/>
                <a:gd name="connsiteX5" fmla="*/ 1515891 w 3074894"/>
                <a:gd name="connsiteY5" fmla="*/ 875565 h 1083950"/>
                <a:gd name="connsiteX6" fmla="*/ 1965233 w 3074894"/>
                <a:gd name="connsiteY6" fmla="*/ 651584 h 1083950"/>
                <a:gd name="connsiteX7" fmla="*/ 2289127 w 3074894"/>
                <a:gd name="connsiteY7" fmla="*/ 467980 h 1083950"/>
                <a:gd name="connsiteX8" fmla="*/ 2657773 w 3074894"/>
                <a:gd name="connsiteY8" fmla="*/ 260381 h 1083950"/>
                <a:gd name="connsiteX9" fmla="*/ 3074894 w 3074894"/>
                <a:gd name="connsiteY9" fmla="*/ 19047 h 1083950"/>
                <a:gd name="connsiteX10" fmla="*/ 435365 w 3074894"/>
                <a:gd name="connsiteY10" fmla="*/ 0 h 1083950"/>
                <a:gd name="connsiteX11" fmla="*/ 0 w 3074894"/>
                <a:gd name="connsiteY11" fmla="*/ 36976 h 1083950"/>
                <a:gd name="connsiteX12" fmla="*/ 36341 w 3074894"/>
                <a:gd name="connsiteY12" fmla="*/ 799365 h 1083950"/>
                <a:gd name="connsiteX0" fmla="*/ 31858 w 3070411"/>
                <a:gd name="connsiteY0" fmla="*/ 799365 h 1083950"/>
                <a:gd name="connsiteX1" fmla="*/ 268078 w 3070411"/>
                <a:gd name="connsiteY1" fmla="*/ 950495 h 1083950"/>
                <a:gd name="connsiteX2" fmla="*/ 496678 w 3070411"/>
                <a:gd name="connsiteY2" fmla="*/ 1044475 h 1083950"/>
                <a:gd name="connsiteX3" fmla="*/ 743058 w 3070411"/>
                <a:gd name="connsiteY3" fmla="*/ 1083845 h 1083950"/>
                <a:gd name="connsiteX4" fmla="*/ 1105008 w 3070411"/>
                <a:gd name="connsiteY4" fmla="*/ 1034315 h 1083950"/>
                <a:gd name="connsiteX5" fmla="*/ 1511408 w 3070411"/>
                <a:gd name="connsiteY5" fmla="*/ 875565 h 1083950"/>
                <a:gd name="connsiteX6" fmla="*/ 1960750 w 3070411"/>
                <a:gd name="connsiteY6" fmla="*/ 651584 h 1083950"/>
                <a:gd name="connsiteX7" fmla="*/ 2284644 w 3070411"/>
                <a:gd name="connsiteY7" fmla="*/ 467980 h 1083950"/>
                <a:gd name="connsiteX8" fmla="*/ 2653290 w 3070411"/>
                <a:gd name="connsiteY8" fmla="*/ 260381 h 1083950"/>
                <a:gd name="connsiteX9" fmla="*/ 3070411 w 3070411"/>
                <a:gd name="connsiteY9" fmla="*/ 19047 h 1083950"/>
                <a:gd name="connsiteX10" fmla="*/ 430882 w 3070411"/>
                <a:gd name="connsiteY10" fmla="*/ 0 h 1083950"/>
                <a:gd name="connsiteX11" fmla="*/ 0 w 3070411"/>
                <a:gd name="connsiteY11" fmla="*/ 1117 h 1083950"/>
                <a:gd name="connsiteX12" fmla="*/ 31858 w 3070411"/>
                <a:gd name="connsiteY12" fmla="*/ 799365 h 1083950"/>
                <a:gd name="connsiteX0" fmla="*/ 31858 w 3070411"/>
                <a:gd name="connsiteY0" fmla="*/ 798248 h 1082833"/>
                <a:gd name="connsiteX1" fmla="*/ 268078 w 3070411"/>
                <a:gd name="connsiteY1" fmla="*/ 949378 h 1082833"/>
                <a:gd name="connsiteX2" fmla="*/ 496678 w 3070411"/>
                <a:gd name="connsiteY2" fmla="*/ 1043358 h 1082833"/>
                <a:gd name="connsiteX3" fmla="*/ 743058 w 3070411"/>
                <a:gd name="connsiteY3" fmla="*/ 1082728 h 1082833"/>
                <a:gd name="connsiteX4" fmla="*/ 1105008 w 3070411"/>
                <a:gd name="connsiteY4" fmla="*/ 1033198 h 1082833"/>
                <a:gd name="connsiteX5" fmla="*/ 1511408 w 3070411"/>
                <a:gd name="connsiteY5" fmla="*/ 874448 h 1082833"/>
                <a:gd name="connsiteX6" fmla="*/ 1960750 w 3070411"/>
                <a:gd name="connsiteY6" fmla="*/ 650467 h 1082833"/>
                <a:gd name="connsiteX7" fmla="*/ 2284644 w 3070411"/>
                <a:gd name="connsiteY7" fmla="*/ 466863 h 1082833"/>
                <a:gd name="connsiteX8" fmla="*/ 2653290 w 3070411"/>
                <a:gd name="connsiteY8" fmla="*/ 259264 h 1082833"/>
                <a:gd name="connsiteX9" fmla="*/ 3070411 w 3070411"/>
                <a:gd name="connsiteY9" fmla="*/ 17930 h 1082833"/>
                <a:gd name="connsiteX10" fmla="*/ 430882 w 3070411"/>
                <a:gd name="connsiteY10" fmla="*/ 3365 h 1082833"/>
                <a:gd name="connsiteX11" fmla="*/ 0 w 3070411"/>
                <a:gd name="connsiteY11" fmla="*/ 0 h 1082833"/>
                <a:gd name="connsiteX12" fmla="*/ 31858 w 3070411"/>
                <a:gd name="connsiteY12" fmla="*/ 798248 h 1082833"/>
                <a:gd name="connsiteX0" fmla="*/ 31858 w 3070411"/>
                <a:gd name="connsiteY0" fmla="*/ 796795 h 1081380"/>
                <a:gd name="connsiteX1" fmla="*/ 268078 w 3070411"/>
                <a:gd name="connsiteY1" fmla="*/ 947925 h 1081380"/>
                <a:gd name="connsiteX2" fmla="*/ 496678 w 3070411"/>
                <a:gd name="connsiteY2" fmla="*/ 1041905 h 1081380"/>
                <a:gd name="connsiteX3" fmla="*/ 743058 w 3070411"/>
                <a:gd name="connsiteY3" fmla="*/ 1081275 h 1081380"/>
                <a:gd name="connsiteX4" fmla="*/ 1105008 w 3070411"/>
                <a:gd name="connsiteY4" fmla="*/ 1031745 h 1081380"/>
                <a:gd name="connsiteX5" fmla="*/ 1511408 w 3070411"/>
                <a:gd name="connsiteY5" fmla="*/ 872995 h 1081380"/>
                <a:gd name="connsiteX6" fmla="*/ 1960750 w 3070411"/>
                <a:gd name="connsiteY6" fmla="*/ 649014 h 1081380"/>
                <a:gd name="connsiteX7" fmla="*/ 2284644 w 3070411"/>
                <a:gd name="connsiteY7" fmla="*/ 465410 h 1081380"/>
                <a:gd name="connsiteX8" fmla="*/ 2653290 w 3070411"/>
                <a:gd name="connsiteY8" fmla="*/ 257811 h 1081380"/>
                <a:gd name="connsiteX9" fmla="*/ 3070411 w 3070411"/>
                <a:gd name="connsiteY9" fmla="*/ 16477 h 1081380"/>
                <a:gd name="connsiteX10" fmla="*/ 430882 w 3070411"/>
                <a:gd name="connsiteY10" fmla="*/ 1912 h 1081380"/>
                <a:gd name="connsiteX11" fmla="*/ 0 w 3070411"/>
                <a:gd name="connsiteY11" fmla="*/ 7512 h 1081380"/>
                <a:gd name="connsiteX12" fmla="*/ 31858 w 3070411"/>
                <a:gd name="connsiteY12" fmla="*/ 796795 h 1081380"/>
                <a:gd name="connsiteX0" fmla="*/ 31858 w 3070411"/>
                <a:gd name="connsiteY0" fmla="*/ 794883 h 1079468"/>
                <a:gd name="connsiteX1" fmla="*/ 268078 w 3070411"/>
                <a:gd name="connsiteY1" fmla="*/ 946013 h 1079468"/>
                <a:gd name="connsiteX2" fmla="*/ 496678 w 3070411"/>
                <a:gd name="connsiteY2" fmla="*/ 1039993 h 1079468"/>
                <a:gd name="connsiteX3" fmla="*/ 743058 w 3070411"/>
                <a:gd name="connsiteY3" fmla="*/ 1079363 h 1079468"/>
                <a:gd name="connsiteX4" fmla="*/ 1105008 w 3070411"/>
                <a:gd name="connsiteY4" fmla="*/ 1029833 h 1079468"/>
                <a:gd name="connsiteX5" fmla="*/ 1511408 w 3070411"/>
                <a:gd name="connsiteY5" fmla="*/ 871083 h 1079468"/>
                <a:gd name="connsiteX6" fmla="*/ 1960750 w 3070411"/>
                <a:gd name="connsiteY6" fmla="*/ 647102 h 1079468"/>
                <a:gd name="connsiteX7" fmla="*/ 2284644 w 3070411"/>
                <a:gd name="connsiteY7" fmla="*/ 463498 h 1079468"/>
                <a:gd name="connsiteX8" fmla="*/ 2653290 w 3070411"/>
                <a:gd name="connsiteY8" fmla="*/ 255899 h 1079468"/>
                <a:gd name="connsiteX9" fmla="*/ 3070411 w 3070411"/>
                <a:gd name="connsiteY9" fmla="*/ 14565 h 1079468"/>
                <a:gd name="connsiteX10" fmla="*/ 430882 w 3070411"/>
                <a:gd name="connsiteY10" fmla="*/ 0 h 1079468"/>
                <a:gd name="connsiteX11" fmla="*/ 0 w 3070411"/>
                <a:gd name="connsiteY11" fmla="*/ 5600 h 1079468"/>
                <a:gd name="connsiteX12" fmla="*/ 31858 w 3070411"/>
                <a:gd name="connsiteY12" fmla="*/ 794883 h 107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70411" h="1079468">
                  <a:moveTo>
                    <a:pt x="31858" y="794883"/>
                  </a:moveTo>
                  <a:cubicBezTo>
                    <a:pt x="125520" y="862087"/>
                    <a:pt x="190608" y="905161"/>
                    <a:pt x="268078" y="946013"/>
                  </a:cubicBezTo>
                  <a:cubicBezTo>
                    <a:pt x="345548" y="986865"/>
                    <a:pt x="417515" y="1017768"/>
                    <a:pt x="496678" y="1039993"/>
                  </a:cubicBezTo>
                  <a:cubicBezTo>
                    <a:pt x="575841" y="1062218"/>
                    <a:pt x="641670" y="1081056"/>
                    <a:pt x="743058" y="1079363"/>
                  </a:cubicBezTo>
                  <a:cubicBezTo>
                    <a:pt x="844446" y="1077670"/>
                    <a:pt x="976950" y="1064546"/>
                    <a:pt x="1105008" y="1029833"/>
                  </a:cubicBezTo>
                  <a:cubicBezTo>
                    <a:pt x="1233066" y="995120"/>
                    <a:pt x="1368784" y="934871"/>
                    <a:pt x="1511408" y="871083"/>
                  </a:cubicBezTo>
                  <a:cubicBezTo>
                    <a:pt x="1654032" y="807295"/>
                    <a:pt x="1831877" y="715033"/>
                    <a:pt x="1960750" y="647102"/>
                  </a:cubicBezTo>
                  <a:cubicBezTo>
                    <a:pt x="2089623" y="579171"/>
                    <a:pt x="2197691" y="512509"/>
                    <a:pt x="2284644" y="463498"/>
                  </a:cubicBezTo>
                  <a:lnTo>
                    <a:pt x="2653290" y="255899"/>
                  </a:lnTo>
                  <a:lnTo>
                    <a:pt x="3070411" y="14565"/>
                  </a:lnTo>
                  <a:lnTo>
                    <a:pt x="430882" y="0"/>
                  </a:lnTo>
                  <a:lnTo>
                    <a:pt x="0" y="5600"/>
                  </a:lnTo>
                  <a:lnTo>
                    <a:pt x="31858" y="794883"/>
                  </a:lnTo>
                  <a:close/>
                </a:path>
              </a:pathLst>
            </a:custGeom>
            <a:solidFill>
              <a:schemeClr val="accent5">
                <a:lumMod val="90000"/>
              </a:schemeClr>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2" name="组合 1"/>
            <p:cNvGrpSpPr/>
            <p:nvPr/>
          </p:nvGrpSpPr>
          <p:grpSpPr>
            <a:xfrm>
              <a:off x="4464050" y="3717461"/>
              <a:ext cx="797569" cy="531427"/>
              <a:chOff x="4443756" y="2848235"/>
              <a:chExt cx="817863" cy="531427"/>
            </a:xfrm>
          </p:grpSpPr>
          <p:sp>
            <p:nvSpPr>
              <p:cNvPr id="14" name="Line 25"/>
              <p:cNvSpPr>
                <a:spLocks noChangeShapeType="1"/>
              </p:cNvSpPr>
              <p:nvPr/>
            </p:nvSpPr>
            <p:spPr bwMode="auto">
              <a:xfrm>
                <a:off x="5057153"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25"/>
              <p:cNvSpPr>
                <a:spLocks noChangeShapeType="1"/>
              </p:cNvSpPr>
              <p:nvPr/>
            </p:nvSpPr>
            <p:spPr bwMode="auto">
              <a:xfrm>
                <a:off x="4443756"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5"/>
              <p:cNvSpPr>
                <a:spLocks noChangeShapeType="1"/>
              </p:cNvSpPr>
              <p:nvPr/>
            </p:nvSpPr>
            <p:spPr bwMode="auto">
              <a:xfrm>
                <a:off x="4648222"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a:off x="4852687"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5261619"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21" name="直接连接符 20"/>
            <p:cNvCxnSpPr/>
            <p:nvPr/>
          </p:nvCxnSpPr>
          <p:spPr bwMode="auto">
            <a:xfrm flipH="1">
              <a:off x="1336885" y="4254834"/>
              <a:ext cx="676571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 Box 21"/>
            <p:cNvSpPr txBox="1">
              <a:spLocks noChangeArrowheads="1"/>
            </p:cNvSpPr>
            <p:nvPr/>
          </p:nvSpPr>
          <p:spPr bwMode="auto">
            <a:xfrm>
              <a:off x="1481139" y="3454516"/>
              <a:ext cx="896399" cy="481863"/>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35" name="Text Box 21"/>
            <p:cNvSpPr txBox="1">
              <a:spLocks noChangeArrowheads="1"/>
            </p:cNvSpPr>
            <p:nvPr/>
          </p:nvSpPr>
          <p:spPr bwMode="auto">
            <a:xfrm>
              <a:off x="3675800" y="4709383"/>
              <a:ext cx="639920" cy="481863"/>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dirty="0">
                  <a:solidFill>
                    <a:srgbClr val="000066"/>
                  </a:solidFill>
                  <a:latin typeface="Times New Roman" panose="02020603050405020304" pitchFamily="18" charset="0"/>
                  <a:sym typeface="Symbol" panose="05050102010706020507" pitchFamily="18" charset="2"/>
                </a:rPr>
                <a:t>=0</a:t>
              </a:r>
              <a:endParaRPr kumimoji="1" lang="en-US" altLang="zh-CN" sz="2400" b="1" baseline="-25000" dirty="0">
                <a:solidFill>
                  <a:srgbClr val="000066"/>
                </a:solidFill>
                <a:latin typeface="Times New Roman" panose="02020603050405020304" pitchFamily="18" charset="0"/>
              </a:endParaRPr>
            </a:p>
          </p:txBody>
        </p:sp>
        <p:cxnSp>
          <p:nvCxnSpPr>
            <p:cNvPr id="37" name="直接连接符 36"/>
            <p:cNvCxnSpPr/>
            <p:nvPr/>
          </p:nvCxnSpPr>
          <p:spPr bwMode="auto">
            <a:xfrm flipV="1">
              <a:off x="6602395" y="3647024"/>
              <a:ext cx="327948" cy="16784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 name="组合 7"/>
            <p:cNvGrpSpPr/>
            <p:nvPr/>
          </p:nvGrpSpPr>
          <p:grpSpPr>
            <a:xfrm>
              <a:off x="5257555" y="3847498"/>
              <a:ext cx="2927595" cy="411041"/>
              <a:chOff x="5257555" y="3397372"/>
              <a:chExt cx="2927595" cy="411041"/>
            </a:xfrm>
          </p:grpSpPr>
          <p:sp>
            <p:nvSpPr>
              <p:cNvPr id="26" name="Line 25"/>
              <p:cNvSpPr>
                <a:spLocks noChangeShapeType="1"/>
              </p:cNvSpPr>
              <p:nvPr/>
            </p:nvSpPr>
            <p:spPr bwMode="auto">
              <a:xfrm>
                <a:off x="5540447" y="3532573"/>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32" name="直接连接符 31"/>
              <p:cNvCxnSpPr/>
              <p:nvPr/>
            </p:nvCxnSpPr>
            <p:spPr bwMode="auto">
              <a:xfrm flipH="1">
                <a:off x="5257555" y="3519695"/>
                <a:ext cx="292759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p:cNvCxnSpPr/>
              <p:nvPr/>
            </p:nvCxnSpPr>
            <p:spPr bwMode="auto">
              <a:xfrm>
                <a:off x="5276850" y="3397372"/>
                <a:ext cx="2763191" cy="0"/>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Line 25"/>
              <p:cNvSpPr>
                <a:spLocks noChangeShapeType="1"/>
              </p:cNvSpPr>
              <p:nvPr/>
            </p:nvSpPr>
            <p:spPr bwMode="auto">
              <a:xfrm>
                <a:off x="5819847" y="3525556"/>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25"/>
              <p:cNvSpPr>
                <a:spLocks noChangeShapeType="1"/>
              </p:cNvSpPr>
              <p:nvPr/>
            </p:nvSpPr>
            <p:spPr bwMode="auto">
              <a:xfrm>
                <a:off x="6099247" y="3525556"/>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25"/>
              <p:cNvSpPr>
                <a:spLocks noChangeShapeType="1"/>
              </p:cNvSpPr>
              <p:nvPr/>
            </p:nvSpPr>
            <p:spPr bwMode="auto">
              <a:xfrm>
                <a:off x="63786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25"/>
              <p:cNvSpPr>
                <a:spLocks noChangeShapeType="1"/>
              </p:cNvSpPr>
              <p:nvPr/>
            </p:nvSpPr>
            <p:spPr bwMode="auto">
              <a:xfrm>
                <a:off x="66580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25"/>
              <p:cNvSpPr>
                <a:spLocks noChangeShapeType="1"/>
              </p:cNvSpPr>
              <p:nvPr/>
            </p:nvSpPr>
            <p:spPr bwMode="auto">
              <a:xfrm>
                <a:off x="69374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25"/>
              <p:cNvSpPr>
                <a:spLocks noChangeShapeType="1"/>
              </p:cNvSpPr>
              <p:nvPr/>
            </p:nvSpPr>
            <p:spPr bwMode="auto">
              <a:xfrm>
                <a:off x="72168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25"/>
              <p:cNvSpPr>
                <a:spLocks noChangeShapeType="1"/>
              </p:cNvSpPr>
              <p:nvPr/>
            </p:nvSpPr>
            <p:spPr bwMode="auto">
              <a:xfrm>
                <a:off x="74962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25"/>
              <p:cNvSpPr>
                <a:spLocks noChangeShapeType="1"/>
              </p:cNvSpPr>
              <p:nvPr/>
            </p:nvSpPr>
            <p:spPr bwMode="auto">
              <a:xfrm>
                <a:off x="776929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25"/>
              <p:cNvSpPr>
                <a:spLocks noChangeShapeType="1"/>
              </p:cNvSpPr>
              <p:nvPr/>
            </p:nvSpPr>
            <p:spPr bwMode="auto">
              <a:xfrm>
                <a:off x="8042347" y="3532573"/>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1" name="组合 50"/>
            <p:cNvGrpSpPr/>
            <p:nvPr/>
          </p:nvGrpSpPr>
          <p:grpSpPr>
            <a:xfrm flipH="1">
              <a:off x="1336885" y="3847498"/>
              <a:ext cx="3114587" cy="411041"/>
              <a:chOff x="5257555" y="3397372"/>
              <a:chExt cx="3114587" cy="411041"/>
            </a:xfrm>
          </p:grpSpPr>
          <p:sp>
            <p:nvSpPr>
              <p:cNvPr id="52" name="Line 25"/>
              <p:cNvSpPr>
                <a:spLocks noChangeShapeType="1"/>
              </p:cNvSpPr>
              <p:nvPr/>
            </p:nvSpPr>
            <p:spPr bwMode="auto">
              <a:xfrm>
                <a:off x="5540447" y="3532573"/>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53" name="直接连接符 52"/>
              <p:cNvCxnSpPr/>
              <p:nvPr/>
            </p:nvCxnSpPr>
            <p:spPr bwMode="auto">
              <a:xfrm flipH="1">
                <a:off x="5257555" y="3519695"/>
                <a:ext cx="292759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连接符 53"/>
              <p:cNvCxnSpPr/>
              <p:nvPr/>
            </p:nvCxnSpPr>
            <p:spPr bwMode="auto">
              <a:xfrm>
                <a:off x="5276848" y="3397372"/>
                <a:ext cx="3095294" cy="0"/>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Line 25"/>
              <p:cNvSpPr>
                <a:spLocks noChangeShapeType="1"/>
              </p:cNvSpPr>
              <p:nvPr/>
            </p:nvSpPr>
            <p:spPr bwMode="auto">
              <a:xfrm>
                <a:off x="5819847" y="3524461"/>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25"/>
              <p:cNvSpPr>
                <a:spLocks noChangeShapeType="1"/>
              </p:cNvSpPr>
              <p:nvPr/>
            </p:nvSpPr>
            <p:spPr bwMode="auto">
              <a:xfrm>
                <a:off x="6099247" y="3524461"/>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5"/>
              <p:cNvSpPr>
                <a:spLocks noChangeShapeType="1"/>
              </p:cNvSpPr>
              <p:nvPr/>
            </p:nvSpPr>
            <p:spPr bwMode="auto">
              <a:xfrm>
                <a:off x="6378647" y="3523884"/>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25"/>
              <p:cNvSpPr>
                <a:spLocks noChangeShapeType="1"/>
              </p:cNvSpPr>
              <p:nvPr/>
            </p:nvSpPr>
            <p:spPr bwMode="auto">
              <a:xfrm>
                <a:off x="66580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25"/>
              <p:cNvSpPr>
                <a:spLocks noChangeShapeType="1"/>
              </p:cNvSpPr>
              <p:nvPr/>
            </p:nvSpPr>
            <p:spPr bwMode="auto">
              <a:xfrm>
                <a:off x="6937447" y="3523884"/>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25"/>
              <p:cNvSpPr>
                <a:spLocks noChangeShapeType="1"/>
              </p:cNvSpPr>
              <p:nvPr/>
            </p:nvSpPr>
            <p:spPr bwMode="auto">
              <a:xfrm>
                <a:off x="72168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25"/>
              <p:cNvSpPr>
                <a:spLocks noChangeShapeType="1"/>
              </p:cNvSpPr>
              <p:nvPr/>
            </p:nvSpPr>
            <p:spPr bwMode="auto">
              <a:xfrm>
                <a:off x="74962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5"/>
              <p:cNvSpPr>
                <a:spLocks noChangeShapeType="1"/>
              </p:cNvSpPr>
              <p:nvPr/>
            </p:nvSpPr>
            <p:spPr bwMode="auto">
              <a:xfrm>
                <a:off x="776929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25"/>
              <p:cNvSpPr>
                <a:spLocks noChangeShapeType="1"/>
              </p:cNvSpPr>
              <p:nvPr/>
            </p:nvSpPr>
            <p:spPr bwMode="auto">
              <a:xfrm>
                <a:off x="8042347" y="3532573"/>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 name="任意多边形 9"/>
            <p:cNvSpPr/>
            <p:nvPr/>
          </p:nvSpPr>
          <p:spPr bwMode="auto">
            <a:xfrm>
              <a:off x="4462780" y="4253776"/>
              <a:ext cx="798195" cy="787400"/>
            </a:xfrm>
            <a:custGeom>
              <a:avLst/>
              <a:gdLst>
                <a:gd name="connsiteX0" fmla="*/ 0 w 800100"/>
                <a:gd name="connsiteY0" fmla="*/ 0 h 781050"/>
                <a:gd name="connsiteX1" fmla="*/ 406400 w 800100"/>
                <a:gd name="connsiteY1" fmla="*/ 781050 h 781050"/>
                <a:gd name="connsiteX2" fmla="*/ 800100 w 800100"/>
                <a:gd name="connsiteY2" fmla="*/ 12700 h 781050"/>
                <a:gd name="connsiteX0" fmla="*/ 0 w 788670"/>
                <a:gd name="connsiteY0" fmla="*/ 0 h 773430"/>
                <a:gd name="connsiteX1" fmla="*/ 394970 w 788670"/>
                <a:gd name="connsiteY1" fmla="*/ 773430 h 773430"/>
                <a:gd name="connsiteX2" fmla="*/ 788670 w 788670"/>
                <a:gd name="connsiteY2" fmla="*/ 5080 h 773430"/>
                <a:gd name="connsiteX0" fmla="*/ 0 w 798195"/>
                <a:gd name="connsiteY0" fmla="*/ 13970 h 787400"/>
                <a:gd name="connsiteX1" fmla="*/ 394970 w 798195"/>
                <a:gd name="connsiteY1" fmla="*/ 787400 h 787400"/>
                <a:gd name="connsiteX2" fmla="*/ 798195 w 798195"/>
                <a:gd name="connsiteY2" fmla="*/ 0 h 787400"/>
                <a:gd name="connsiteX0" fmla="*/ 0 w 809625"/>
                <a:gd name="connsiteY0" fmla="*/ 2540 h 787400"/>
                <a:gd name="connsiteX1" fmla="*/ 406400 w 809625"/>
                <a:gd name="connsiteY1" fmla="*/ 787400 h 787400"/>
                <a:gd name="connsiteX2" fmla="*/ 809625 w 809625"/>
                <a:gd name="connsiteY2" fmla="*/ 0 h 787400"/>
                <a:gd name="connsiteX0" fmla="*/ 0 w 798195"/>
                <a:gd name="connsiteY0" fmla="*/ 4445 h 787400"/>
                <a:gd name="connsiteX1" fmla="*/ 394970 w 798195"/>
                <a:gd name="connsiteY1" fmla="*/ 787400 h 787400"/>
                <a:gd name="connsiteX2" fmla="*/ 798195 w 798195"/>
                <a:gd name="connsiteY2" fmla="*/ 0 h 787400"/>
              </a:gdLst>
              <a:ahLst/>
              <a:cxnLst>
                <a:cxn ang="0">
                  <a:pos x="connsiteX0" y="connsiteY0"/>
                </a:cxn>
                <a:cxn ang="0">
                  <a:pos x="connsiteX1" y="connsiteY1"/>
                </a:cxn>
                <a:cxn ang="0">
                  <a:pos x="connsiteX2" y="connsiteY2"/>
                </a:cxn>
              </a:cxnLst>
              <a:rect l="l" t="t" r="r" b="b"/>
              <a:pathLst>
                <a:path w="798195" h="787400">
                  <a:moveTo>
                    <a:pt x="0" y="4445"/>
                  </a:moveTo>
                  <a:lnTo>
                    <a:pt x="394970" y="787400"/>
                  </a:lnTo>
                  <a:lnTo>
                    <a:pt x="798195" y="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1" name="任意多边形 10"/>
            <p:cNvSpPr/>
            <p:nvPr/>
          </p:nvSpPr>
          <p:spPr bwMode="auto">
            <a:xfrm>
              <a:off x="4851399" y="4250776"/>
              <a:ext cx="3079471" cy="1074985"/>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9471" h="1074985">
                  <a:moveTo>
                    <a:pt x="0" y="790400"/>
                  </a:moveTo>
                  <a:cubicBezTo>
                    <a:pt x="93662" y="857604"/>
                    <a:pt x="158750" y="900678"/>
                    <a:pt x="236220" y="941530"/>
                  </a:cubicBezTo>
                  <a:cubicBezTo>
                    <a:pt x="313690" y="982382"/>
                    <a:pt x="385657" y="1013285"/>
                    <a:pt x="464820" y="1035510"/>
                  </a:cubicBezTo>
                  <a:cubicBezTo>
                    <a:pt x="543983" y="1057735"/>
                    <a:pt x="609812" y="1076573"/>
                    <a:pt x="711200" y="1074880"/>
                  </a:cubicBezTo>
                  <a:cubicBezTo>
                    <a:pt x="812588" y="1073187"/>
                    <a:pt x="945092" y="1060063"/>
                    <a:pt x="1073150" y="1025350"/>
                  </a:cubicBezTo>
                  <a:cubicBezTo>
                    <a:pt x="1201208" y="990637"/>
                    <a:pt x="1336926" y="930388"/>
                    <a:pt x="1479550" y="866600"/>
                  </a:cubicBezTo>
                  <a:cubicBezTo>
                    <a:pt x="1622174" y="802812"/>
                    <a:pt x="1800019" y="710550"/>
                    <a:pt x="1928892" y="642619"/>
                  </a:cubicBezTo>
                  <a:cubicBezTo>
                    <a:pt x="2057765" y="574688"/>
                    <a:pt x="2165833" y="508026"/>
                    <a:pt x="2252786" y="459015"/>
                  </a:cubicBezTo>
                  <a:lnTo>
                    <a:pt x="2621432" y="251416"/>
                  </a:lnTo>
                  <a:cubicBezTo>
                    <a:pt x="2831617" y="144313"/>
                    <a:pt x="2844521" y="126471"/>
                    <a:pt x="3079471" y="0"/>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48" name="直接连接符 47"/>
            <p:cNvCxnSpPr/>
            <p:nvPr/>
          </p:nvCxnSpPr>
          <p:spPr bwMode="auto">
            <a:xfrm>
              <a:off x="5279185" y="4258539"/>
              <a:ext cx="1319100" cy="7343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73"/>
            <p:cNvCxnSpPr/>
            <p:nvPr/>
          </p:nvCxnSpPr>
          <p:spPr bwMode="auto">
            <a:xfrm>
              <a:off x="4674249" y="4258539"/>
              <a:ext cx="313041" cy="523557"/>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81"/>
            <p:cNvCxnSpPr/>
            <p:nvPr/>
          </p:nvCxnSpPr>
          <p:spPr bwMode="auto">
            <a:xfrm>
              <a:off x="4867621" y="4258539"/>
              <a:ext cx="218810" cy="333057"/>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连接符 85"/>
            <p:cNvCxnSpPr/>
            <p:nvPr/>
          </p:nvCxnSpPr>
          <p:spPr bwMode="auto">
            <a:xfrm>
              <a:off x="5075366" y="4252506"/>
              <a:ext cx="106234" cy="17145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连接符 87"/>
            <p:cNvCxnSpPr/>
            <p:nvPr/>
          </p:nvCxnSpPr>
          <p:spPr bwMode="auto">
            <a:xfrm flipH="1">
              <a:off x="4740507" y="4252506"/>
              <a:ext cx="319363" cy="557672"/>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连接符 88"/>
            <p:cNvCxnSpPr/>
            <p:nvPr/>
          </p:nvCxnSpPr>
          <p:spPr bwMode="auto">
            <a:xfrm flipH="1">
              <a:off x="4663440" y="4252506"/>
              <a:ext cx="197774" cy="40005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连接符 89"/>
            <p:cNvCxnSpPr/>
            <p:nvPr/>
          </p:nvCxnSpPr>
          <p:spPr bwMode="auto">
            <a:xfrm flipH="1">
              <a:off x="4560570" y="4259723"/>
              <a:ext cx="100541" cy="194713"/>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任意多边形 82"/>
            <p:cNvSpPr/>
            <p:nvPr/>
          </p:nvSpPr>
          <p:spPr bwMode="auto">
            <a:xfrm>
              <a:off x="5177790" y="4260126"/>
              <a:ext cx="826770" cy="263026"/>
            </a:xfrm>
            <a:custGeom>
              <a:avLst/>
              <a:gdLst>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9525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10668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8650 w 826770"/>
                <a:gd name="connsiteY4" fmla="*/ 11811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32460 w 826770"/>
                <a:gd name="connsiteY4" fmla="*/ 102870 h 263026"/>
                <a:gd name="connsiteX5" fmla="*/ 826770 w 826770"/>
                <a:gd name="connsiteY5" fmla="*/ 0 h 26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770" h="263026">
                  <a:moveTo>
                    <a:pt x="0" y="156210"/>
                  </a:moveTo>
                  <a:cubicBezTo>
                    <a:pt x="20320" y="183515"/>
                    <a:pt x="40640" y="210820"/>
                    <a:pt x="76200" y="228600"/>
                  </a:cubicBezTo>
                  <a:cubicBezTo>
                    <a:pt x="111760" y="246380"/>
                    <a:pt x="161290" y="264795"/>
                    <a:pt x="213360" y="262890"/>
                  </a:cubicBezTo>
                  <a:cubicBezTo>
                    <a:pt x="265430" y="260985"/>
                    <a:pt x="318770" y="243840"/>
                    <a:pt x="388620" y="217170"/>
                  </a:cubicBezTo>
                  <a:cubicBezTo>
                    <a:pt x="458470" y="190500"/>
                    <a:pt x="559435" y="139065"/>
                    <a:pt x="632460" y="102870"/>
                  </a:cubicBezTo>
                  <a:cubicBezTo>
                    <a:pt x="705485" y="66675"/>
                    <a:pt x="760412" y="29527"/>
                    <a:pt x="826770" y="0"/>
                  </a:cubicBezTo>
                </a:path>
              </a:pathLst>
            </a:cu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4" name="任意多边形 83"/>
            <p:cNvSpPr/>
            <p:nvPr/>
          </p:nvSpPr>
          <p:spPr bwMode="auto">
            <a:xfrm>
              <a:off x="5090160" y="4260126"/>
              <a:ext cx="1562100" cy="536052"/>
            </a:xfrm>
            <a:custGeom>
              <a:avLst/>
              <a:gdLst>
                <a:gd name="connsiteX0" fmla="*/ 0 w 1558290"/>
                <a:gd name="connsiteY0" fmla="*/ 335280 h 536052"/>
                <a:gd name="connsiteX1" fmla="*/ 110490 w 1558290"/>
                <a:gd name="connsiteY1" fmla="*/ 453390 h 536052"/>
                <a:gd name="connsiteX2" fmla="*/ 285750 w 1558290"/>
                <a:gd name="connsiteY2" fmla="*/ 533400 h 536052"/>
                <a:gd name="connsiteX3" fmla="*/ 510540 w 1558290"/>
                <a:gd name="connsiteY3" fmla="*/ 506730 h 536052"/>
                <a:gd name="connsiteX4" fmla="*/ 811530 w 1558290"/>
                <a:gd name="connsiteY4" fmla="*/ 407670 h 536052"/>
                <a:gd name="connsiteX5" fmla="*/ 1055370 w 1558290"/>
                <a:gd name="connsiteY5" fmla="*/ 281940 h 536052"/>
                <a:gd name="connsiteX6" fmla="*/ 1299210 w 1558290"/>
                <a:gd name="connsiteY6" fmla="*/ 156210 h 536052"/>
                <a:gd name="connsiteX7" fmla="*/ 1558290 w 1558290"/>
                <a:gd name="connsiteY7" fmla="*/ 0 h 536052"/>
                <a:gd name="connsiteX0" fmla="*/ 0 w 1562100"/>
                <a:gd name="connsiteY0" fmla="*/ 337185 h 536052"/>
                <a:gd name="connsiteX1" fmla="*/ 114300 w 1562100"/>
                <a:gd name="connsiteY1" fmla="*/ 453390 h 536052"/>
                <a:gd name="connsiteX2" fmla="*/ 289560 w 1562100"/>
                <a:gd name="connsiteY2" fmla="*/ 533400 h 536052"/>
                <a:gd name="connsiteX3" fmla="*/ 514350 w 1562100"/>
                <a:gd name="connsiteY3" fmla="*/ 506730 h 536052"/>
                <a:gd name="connsiteX4" fmla="*/ 815340 w 1562100"/>
                <a:gd name="connsiteY4" fmla="*/ 407670 h 536052"/>
                <a:gd name="connsiteX5" fmla="*/ 1059180 w 1562100"/>
                <a:gd name="connsiteY5" fmla="*/ 281940 h 536052"/>
                <a:gd name="connsiteX6" fmla="*/ 1303020 w 1562100"/>
                <a:gd name="connsiteY6" fmla="*/ 156210 h 536052"/>
                <a:gd name="connsiteX7" fmla="*/ 1562100 w 1562100"/>
                <a:gd name="connsiteY7" fmla="*/ 0 h 536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2100" h="536052">
                  <a:moveTo>
                    <a:pt x="0" y="337185"/>
                  </a:moveTo>
                  <a:cubicBezTo>
                    <a:pt x="31432" y="379730"/>
                    <a:pt x="66040" y="420688"/>
                    <a:pt x="114300" y="453390"/>
                  </a:cubicBezTo>
                  <a:cubicBezTo>
                    <a:pt x="162560" y="486092"/>
                    <a:pt x="222885" y="524510"/>
                    <a:pt x="289560" y="533400"/>
                  </a:cubicBezTo>
                  <a:cubicBezTo>
                    <a:pt x="356235" y="542290"/>
                    <a:pt x="426720" y="527685"/>
                    <a:pt x="514350" y="506730"/>
                  </a:cubicBezTo>
                  <a:cubicBezTo>
                    <a:pt x="601980" y="485775"/>
                    <a:pt x="724535" y="445135"/>
                    <a:pt x="815340" y="407670"/>
                  </a:cubicBezTo>
                  <a:cubicBezTo>
                    <a:pt x="906145" y="370205"/>
                    <a:pt x="1059180" y="281940"/>
                    <a:pt x="1059180" y="281940"/>
                  </a:cubicBezTo>
                  <a:cubicBezTo>
                    <a:pt x="1140460" y="240030"/>
                    <a:pt x="1219200" y="203200"/>
                    <a:pt x="1303020" y="156210"/>
                  </a:cubicBezTo>
                  <a:cubicBezTo>
                    <a:pt x="1386840" y="109220"/>
                    <a:pt x="1474470" y="54610"/>
                    <a:pt x="1562100" y="0"/>
                  </a:cubicBezTo>
                </a:path>
              </a:pathLst>
            </a:cu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5" name="任意多边形 84"/>
            <p:cNvSpPr/>
            <p:nvPr/>
          </p:nvSpPr>
          <p:spPr bwMode="auto">
            <a:xfrm>
              <a:off x="4991100" y="4256316"/>
              <a:ext cx="2381250" cy="783784"/>
            </a:xfrm>
            <a:custGeom>
              <a:avLst/>
              <a:gdLst>
                <a:gd name="connsiteX0" fmla="*/ 0 w 2381250"/>
                <a:gd name="connsiteY0" fmla="*/ 525780 h 783784"/>
                <a:gd name="connsiteX1" fmla="*/ 140970 w 2381250"/>
                <a:gd name="connsiteY1" fmla="*/ 693420 h 783784"/>
                <a:gd name="connsiteX2" fmla="*/ 369570 w 2381250"/>
                <a:gd name="connsiteY2" fmla="*/ 777240 h 783784"/>
                <a:gd name="connsiteX3" fmla="*/ 735330 w 2381250"/>
                <a:gd name="connsiteY3" fmla="*/ 765810 h 783784"/>
                <a:gd name="connsiteX4" fmla="*/ 1093470 w 2381250"/>
                <a:gd name="connsiteY4" fmla="*/ 666750 h 783784"/>
                <a:gd name="connsiteX5" fmla="*/ 1512570 w 2381250"/>
                <a:gd name="connsiteY5" fmla="*/ 461010 h 783784"/>
                <a:gd name="connsiteX6" fmla="*/ 1905000 w 2381250"/>
                <a:gd name="connsiteY6" fmla="*/ 247650 h 783784"/>
                <a:gd name="connsiteX7" fmla="*/ 2381250 w 2381250"/>
                <a:gd name="connsiteY7" fmla="*/ 0 h 783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250" h="783784">
                  <a:moveTo>
                    <a:pt x="0" y="525780"/>
                  </a:moveTo>
                  <a:cubicBezTo>
                    <a:pt x="39687" y="588645"/>
                    <a:pt x="79375" y="651510"/>
                    <a:pt x="140970" y="693420"/>
                  </a:cubicBezTo>
                  <a:cubicBezTo>
                    <a:pt x="202565" y="735330"/>
                    <a:pt x="270510" y="765175"/>
                    <a:pt x="369570" y="777240"/>
                  </a:cubicBezTo>
                  <a:cubicBezTo>
                    <a:pt x="468630" y="789305"/>
                    <a:pt x="614680" y="784225"/>
                    <a:pt x="735330" y="765810"/>
                  </a:cubicBezTo>
                  <a:cubicBezTo>
                    <a:pt x="855980" y="747395"/>
                    <a:pt x="963930" y="717550"/>
                    <a:pt x="1093470" y="666750"/>
                  </a:cubicBezTo>
                  <a:cubicBezTo>
                    <a:pt x="1223010" y="615950"/>
                    <a:pt x="1377315" y="530860"/>
                    <a:pt x="1512570" y="461010"/>
                  </a:cubicBezTo>
                  <a:cubicBezTo>
                    <a:pt x="1647825" y="391160"/>
                    <a:pt x="1760220" y="324485"/>
                    <a:pt x="1905000" y="247650"/>
                  </a:cubicBezTo>
                  <a:cubicBezTo>
                    <a:pt x="2049780" y="170815"/>
                    <a:pt x="2215515" y="85407"/>
                    <a:pt x="2381250" y="0"/>
                  </a:cubicBezTo>
                </a:path>
              </a:pathLst>
            </a:cu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91" name="直接连接符 90"/>
            <p:cNvCxnSpPr/>
            <p:nvPr/>
          </p:nvCxnSpPr>
          <p:spPr bwMode="auto">
            <a:xfrm>
              <a:off x="5261372" y="4253776"/>
              <a:ext cx="373618" cy="1067435"/>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连接符 93"/>
            <p:cNvCxnSpPr/>
            <p:nvPr/>
          </p:nvCxnSpPr>
          <p:spPr bwMode="auto">
            <a:xfrm>
              <a:off x="5261610" y="4254054"/>
              <a:ext cx="853440" cy="954762"/>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5971098" y="4253776"/>
              <a:ext cx="999109" cy="526598"/>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98"/>
            <p:cNvCxnSpPr/>
            <p:nvPr/>
          </p:nvCxnSpPr>
          <p:spPr bwMode="auto">
            <a:xfrm>
              <a:off x="6648659" y="4255556"/>
              <a:ext cx="650657" cy="352141"/>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连接符 101"/>
            <p:cNvCxnSpPr/>
            <p:nvPr/>
          </p:nvCxnSpPr>
          <p:spPr bwMode="auto">
            <a:xfrm>
              <a:off x="7242862" y="4258539"/>
              <a:ext cx="346993" cy="176491"/>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直接连接符 103"/>
            <p:cNvCxnSpPr/>
            <p:nvPr/>
          </p:nvCxnSpPr>
          <p:spPr bwMode="auto">
            <a:xfrm>
              <a:off x="5261619" y="4252506"/>
              <a:ext cx="0" cy="1015191"/>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105"/>
            <p:cNvCxnSpPr/>
            <p:nvPr/>
          </p:nvCxnSpPr>
          <p:spPr bwMode="auto">
            <a:xfrm>
              <a:off x="4862834" y="3633922"/>
              <a:ext cx="0" cy="1808151"/>
            </a:xfrm>
            <a:prstGeom prst="line">
              <a:avLst/>
            </a:prstGeom>
            <a:noFill/>
            <a:ln w="1905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连接符 107"/>
            <p:cNvCxnSpPr/>
            <p:nvPr/>
          </p:nvCxnSpPr>
          <p:spPr bwMode="auto">
            <a:xfrm>
              <a:off x="4459253" y="3717461"/>
              <a:ext cx="792197"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21"/>
            <p:cNvSpPr txBox="1">
              <a:spLocks noChangeArrowheads="1"/>
            </p:cNvSpPr>
            <p:nvPr/>
          </p:nvSpPr>
          <p:spPr bwMode="auto">
            <a:xfrm>
              <a:off x="5233686" y="3302587"/>
              <a:ext cx="493768" cy="517065"/>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u</a:t>
              </a:r>
              <a:endParaRPr kumimoji="1" lang="en-US" altLang="zh-CN" sz="2400" b="1" baseline="-25000" dirty="0">
                <a:solidFill>
                  <a:srgbClr val="000066"/>
                </a:solidFill>
                <a:latin typeface="Times New Roman" panose="02020603050405020304" pitchFamily="18" charset="0"/>
              </a:endParaRPr>
            </a:p>
          </p:txBody>
        </p:sp>
        <p:sp>
          <p:nvSpPr>
            <p:cNvPr id="141" name="Text Box 21"/>
            <p:cNvSpPr txBox="1">
              <a:spLocks noChangeArrowheads="1"/>
            </p:cNvSpPr>
            <p:nvPr/>
          </p:nvSpPr>
          <p:spPr bwMode="auto">
            <a:xfrm>
              <a:off x="6937447" y="3454516"/>
              <a:ext cx="1217000" cy="40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dirty="0">
                  <a:solidFill>
                    <a:srgbClr val="000066"/>
                  </a:solidFill>
                  <a:latin typeface="幼圆" panose="02010509060101010101" pitchFamily="49" charset="-122"/>
                  <a:ea typeface="幼圆" panose="02010509060101010101" pitchFamily="49" charset="-122"/>
                </a:rPr>
                <a:t>实际地面</a:t>
              </a:r>
              <a:endParaRPr kumimoji="1" lang="en-US" altLang="zh-CN" sz="2000" b="1" baseline="-25000" dirty="0">
                <a:solidFill>
                  <a:srgbClr val="000066"/>
                </a:solidFill>
                <a:latin typeface="幼圆" panose="02010509060101010101" pitchFamily="49" charset="-122"/>
                <a:ea typeface="幼圆" panose="02010509060101010101" pitchFamily="49" charset="-122"/>
              </a:endParaRPr>
            </a:p>
          </p:txBody>
        </p:sp>
        <p:sp>
          <p:nvSpPr>
            <p:cNvPr id="144" name="Text Box 21"/>
            <p:cNvSpPr txBox="1">
              <a:spLocks noChangeArrowheads="1"/>
            </p:cNvSpPr>
            <p:nvPr/>
          </p:nvSpPr>
          <p:spPr bwMode="auto">
            <a:xfrm>
              <a:off x="4709325" y="4253210"/>
              <a:ext cx="304892"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rPr>
                <a:t>I</a:t>
              </a:r>
              <a:endParaRPr kumimoji="1" lang="en-US" altLang="zh-CN" sz="2400" b="1" baseline="-25000"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5" name="Text Box 21"/>
            <p:cNvSpPr txBox="1">
              <a:spLocks noChangeArrowheads="1"/>
            </p:cNvSpPr>
            <p:nvPr/>
          </p:nvSpPr>
          <p:spPr bwMode="auto">
            <a:xfrm>
              <a:off x="5413411" y="4657988"/>
              <a:ext cx="42511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rPr>
                <a:t>II</a:t>
              </a:r>
              <a:endParaRPr kumimoji="1" lang="en-US" altLang="zh-CN" sz="2400" b="1" baseline="-25000"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6" name="Text Box 21"/>
            <p:cNvSpPr txBox="1">
              <a:spLocks noChangeArrowheads="1"/>
            </p:cNvSpPr>
            <p:nvPr/>
          </p:nvSpPr>
          <p:spPr bwMode="auto">
            <a:xfrm>
              <a:off x="6228683" y="4319498"/>
              <a:ext cx="54534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rPr>
                <a:t>III</a:t>
              </a:r>
              <a:endParaRPr kumimoji="1" lang="en-US" altLang="zh-CN" sz="2400" b="1" baseline="-25000"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7" name="Text Box 21"/>
            <p:cNvSpPr txBox="1">
              <a:spLocks noChangeArrowheads="1"/>
            </p:cNvSpPr>
            <p:nvPr/>
          </p:nvSpPr>
          <p:spPr bwMode="auto">
            <a:xfrm>
              <a:off x="5181615" y="4250094"/>
              <a:ext cx="37061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8" name="Text Box 21"/>
            <p:cNvSpPr txBox="1">
              <a:spLocks noChangeArrowheads="1"/>
            </p:cNvSpPr>
            <p:nvPr/>
          </p:nvSpPr>
          <p:spPr bwMode="auto">
            <a:xfrm>
              <a:off x="4192052" y="4274091"/>
              <a:ext cx="3561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9" name="Text Box 21"/>
            <p:cNvSpPr txBox="1">
              <a:spLocks noChangeArrowheads="1"/>
            </p:cNvSpPr>
            <p:nvPr/>
          </p:nvSpPr>
          <p:spPr bwMode="auto">
            <a:xfrm>
              <a:off x="4542485" y="5041346"/>
              <a:ext cx="37061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50" name="Text Box 21"/>
            <p:cNvSpPr txBox="1">
              <a:spLocks noChangeArrowheads="1"/>
            </p:cNvSpPr>
            <p:nvPr/>
          </p:nvSpPr>
          <p:spPr bwMode="auto">
            <a:xfrm>
              <a:off x="2810813" y="4878581"/>
              <a:ext cx="37061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51" name="Text Box 21"/>
            <p:cNvSpPr txBox="1">
              <a:spLocks noChangeArrowheads="1"/>
            </p:cNvSpPr>
            <p:nvPr/>
          </p:nvSpPr>
          <p:spPr bwMode="auto">
            <a:xfrm>
              <a:off x="6552957" y="4882965"/>
              <a:ext cx="3561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52" name="Text Box 21"/>
            <p:cNvSpPr txBox="1">
              <a:spLocks noChangeArrowheads="1"/>
            </p:cNvSpPr>
            <p:nvPr/>
          </p:nvSpPr>
          <p:spPr bwMode="auto">
            <a:xfrm>
              <a:off x="7840658" y="4167493"/>
              <a:ext cx="34176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153" name="直接连接符 152"/>
            <p:cNvCxnSpPr/>
            <p:nvPr/>
          </p:nvCxnSpPr>
          <p:spPr bwMode="auto">
            <a:xfrm>
              <a:off x="1413842" y="3853848"/>
              <a:ext cx="0" cy="416217"/>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Text Box 21"/>
            <p:cNvSpPr txBox="1">
              <a:spLocks noChangeArrowheads="1"/>
            </p:cNvSpPr>
            <p:nvPr/>
          </p:nvSpPr>
          <p:spPr bwMode="auto">
            <a:xfrm>
              <a:off x="1032271" y="3811045"/>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grpSp>
          <p:nvGrpSpPr>
            <p:cNvPr id="140" name="组合 139"/>
            <p:cNvGrpSpPr/>
            <p:nvPr/>
          </p:nvGrpSpPr>
          <p:grpSpPr>
            <a:xfrm>
              <a:off x="4465135" y="3526960"/>
              <a:ext cx="786315" cy="144743"/>
              <a:chOff x="4457514" y="2897257"/>
              <a:chExt cx="1362333" cy="109926"/>
            </a:xfrm>
          </p:grpSpPr>
          <p:cxnSp>
            <p:nvCxnSpPr>
              <p:cNvPr id="161" name="直接连接符 160"/>
              <p:cNvCxnSpPr/>
              <p:nvPr/>
            </p:nvCxnSpPr>
            <p:spPr bwMode="auto">
              <a:xfrm>
                <a:off x="4457514" y="2902252"/>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直接连接符 162"/>
              <p:cNvCxnSpPr/>
              <p:nvPr/>
            </p:nvCxnSpPr>
            <p:spPr bwMode="auto">
              <a:xfrm>
                <a:off x="5805900" y="2897257"/>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直接连接符 163"/>
              <p:cNvCxnSpPr/>
              <p:nvPr/>
            </p:nvCxnSpPr>
            <p:spPr bwMode="auto">
              <a:xfrm>
                <a:off x="4457515" y="2954718"/>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65" name="Text Box 21"/>
            <p:cNvSpPr txBox="1">
              <a:spLocks noChangeArrowheads="1"/>
            </p:cNvSpPr>
            <p:nvPr/>
          </p:nvSpPr>
          <p:spPr bwMode="auto">
            <a:xfrm>
              <a:off x="4692580" y="3215188"/>
              <a:ext cx="33855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sp>
          <p:nvSpPr>
            <p:cNvPr id="100" name="任意多边形 99"/>
            <p:cNvSpPr/>
            <p:nvPr/>
          </p:nvSpPr>
          <p:spPr bwMode="auto">
            <a:xfrm flipH="1">
              <a:off x="1778590" y="4254321"/>
              <a:ext cx="3079471" cy="1074985"/>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9471" h="1074985">
                  <a:moveTo>
                    <a:pt x="0" y="790400"/>
                  </a:moveTo>
                  <a:cubicBezTo>
                    <a:pt x="93662" y="857604"/>
                    <a:pt x="158750" y="900678"/>
                    <a:pt x="236220" y="941530"/>
                  </a:cubicBezTo>
                  <a:cubicBezTo>
                    <a:pt x="313690" y="982382"/>
                    <a:pt x="385657" y="1013285"/>
                    <a:pt x="464820" y="1035510"/>
                  </a:cubicBezTo>
                  <a:cubicBezTo>
                    <a:pt x="543983" y="1057735"/>
                    <a:pt x="609812" y="1076573"/>
                    <a:pt x="711200" y="1074880"/>
                  </a:cubicBezTo>
                  <a:cubicBezTo>
                    <a:pt x="812588" y="1073187"/>
                    <a:pt x="945092" y="1060063"/>
                    <a:pt x="1073150" y="1025350"/>
                  </a:cubicBezTo>
                  <a:cubicBezTo>
                    <a:pt x="1201208" y="990637"/>
                    <a:pt x="1336926" y="930388"/>
                    <a:pt x="1479550" y="866600"/>
                  </a:cubicBezTo>
                  <a:cubicBezTo>
                    <a:pt x="1622174" y="802812"/>
                    <a:pt x="1800019" y="710550"/>
                    <a:pt x="1928892" y="642619"/>
                  </a:cubicBezTo>
                  <a:cubicBezTo>
                    <a:pt x="2057765" y="574688"/>
                    <a:pt x="2165833" y="508026"/>
                    <a:pt x="2252786" y="459015"/>
                  </a:cubicBezTo>
                  <a:lnTo>
                    <a:pt x="2621432" y="251416"/>
                  </a:lnTo>
                  <a:cubicBezTo>
                    <a:pt x="2831617" y="144313"/>
                    <a:pt x="2844521" y="126471"/>
                    <a:pt x="3079471" y="0"/>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01" name="直接连接符 100"/>
            <p:cNvCxnSpPr/>
            <p:nvPr/>
          </p:nvCxnSpPr>
          <p:spPr bwMode="auto">
            <a:xfrm flipH="1">
              <a:off x="3142041" y="4269172"/>
              <a:ext cx="1319100" cy="7343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2" name="Text Box 7"/>
          <p:cNvSpPr txBox="1">
            <a:spLocks noChangeArrowheads="1"/>
          </p:cNvSpPr>
          <p:nvPr/>
        </p:nvSpPr>
        <p:spPr bwMode="auto">
          <a:xfrm>
            <a:off x="0" y="0"/>
            <a:ext cx="56344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普朗德尔</a:t>
            </a:r>
            <a:r>
              <a:rPr lang="en-US" altLang="zh-CN" sz="1800" b="1" kern="900" spc="130" dirty="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瑞斯纳公式</a:t>
            </a:r>
          </a:p>
        </p:txBody>
      </p:sp>
    </p:spTree>
    <p:extLst>
      <p:ext uri="{BB962C8B-B14F-4D97-AF65-F5344CB8AC3E}">
        <p14:creationId xmlns:p14="http://schemas.microsoft.com/office/powerpoint/2010/main" val="178887811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wipe(left)">
                                      <p:cBhvr>
                                        <p:cTn id="7" dur="500"/>
                                        <p:tgtEl>
                                          <p:spTgt spid="1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wipe(left)">
                                      <p:cBhvr>
                                        <p:cTn id="12" dur="500"/>
                                        <p:tgtEl>
                                          <p:spTgt spid="87"/>
                                        </p:tgtEl>
                                      </p:cBhvr>
                                    </p:animEffect>
                                  </p:childTnLst>
                                </p:cTn>
                              </p:par>
                            </p:childTnLst>
                          </p:cTn>
                        </p:par>
                        <p:par>
                          <p:cTn id="13" fill="hold">
                            <p:stCondLst>
                              <p:cond delay="500"/>
                            </p:stCondLst>
                            <p:childTnLst>
                              <p:par>
                                <p:cTn id="14" presetID="21" presetClass="entr" presetSubtype="1"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heel(1)">
                                      <p:cBhvr>
                                        <p:cTn id="16" dur="2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3"/>
                                        </p:tgtEl>
                                        <p:attrNameLst>
                                          <p:attrName>style.visibility</p:attrName>
                                        </p:attrNameLst>
                                      </p:cBhvr>
                                      <p:to>
                                        <p:strVal val="visible"/>
                                      </p:to>
                                    </p:set>
                                    <p:animEffect transition="in" filter="wipe(left)">
                                      <p:cBhvr>
                                        <p:cTn id="21" dur="500"/>
                                        <p:tgtEl>
                                          <p:spTgt spid="93"/>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95"/>
                                        </p:tgtEl>
                                        <p:attrNameLst>
                                          <p:attrName>style.visibility</p:attrName>
                                        </p:attrNameLst>
                                      </p:cBhvr>
                                      <p:to>
                                        <p:strVal val="visible"/>
                                      </p:to>
                                    </p:set>
                                    <p:animEffect transition="in" filter="wipe(left)">
                                      <p:cBhvr>
                                        <p:cTn id="25" dur="500"/>
                                        <p:tgtEl>
                                          <p:spTgt spid="95"/>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98"/>
                                        </p:tgtEl>
                                        <p:attrNameLst>
                                          <p:attrName>style.visibility</p:attrName>
                                        </p:attrNameLst>
                                      </p:cBhvr>
                                      <p:to>
                                        <p:strVal val="visible"/>
                                      </p:to>
                                    </p:set>
                                    <p:animEffect transition="in" filter="dissolve">
                                      <p:cBhvr>
                                        <p:cTn id="29" dur="500"/>
                                        <p:tgtEl>
                                          <p:spTgt spid="98"/>
                                        </p:tgtEl>
                                      </p:cBhvr>
                                    </p:animEffect>
                                  </p:childTnLst>
                                </p:cTn>
                              </p:par>
                            </p:childTnLst>
                          </p:cTn>
                        </p:par>
                        <p:par>
                          <p:cTn id="30" fill="hold">
                            <p:stCondLst>
                              <p:cond delay="1500"/>
                            </p:stCondLst>
                            <p:childTnLst>
                              <p:par>
                                <p:cTn id="31" presetID="9" presetClass="entr" presetSubtype="0" fill="hold" nodeType="afterEffect">
                                  <p:stCondLst>
                                    <p:cond delay="0"/>
                                  </p:stCondLst>
                                  <p:childTnLst>
                                    <p:set>
                                      <p:cBhvr>
                                        <p:cTn id="32" dur="1" fill="hold">
                                          <p:stCondLst>
                                            <p:cond delay="0"/>
                                          </p:stCondLst>
                                        </p:cTn>
                                        <p:tgtEl>
                                          <p:spTgt spid="97"/>
                                        </p:tgtEl>
                                        <p:attrNameLst>
                                          <p:attrName>style.visibility</p:attrName>
                                        </p:attrNameLst>
                                      </p:cBhvr>
                                      <p:to>
                                        <p:strVal val="visible"/>
                                      </p:to>
                                    </p:set>
                                    <p:animEffect transition="in" filter="dissolve">
                                      <p:cBhvr>
                                        <p:cTn id="33"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p:bldP spid="87" grpId="0"/>
      <p:bldP spid="9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38</a:t>
            </a:fld>
            <a:endParaRPr lang="zh-CN" altLang="en-US" dirty="0">
              <a:solidFill>
                <a:srgbClr val="C00000"/>
              </a:solidFill>
            </a:endParaRPr>
          </a:p>
        </p:txBody>
      </p:sp>
      <p:sp>
        <p:nvSpPr>
          <p:cNvPr id="159" name="Text Box 2"/>
          <p:cNvSpPr txBox="1">
            <a:spLocks noChangeArrowheads="1"/>
          </p:cNvSpPr>
          <p:nvPr/>
        </p:nvSpPr>
        <p:spPr bwMode="auto">
          <a:xfrm>
            <a:off x="2495809" y="5596396"/>
            <a:ext cx="51091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普朗德尔</a:t>
            </a:r>
            <a:r>
              <a:rPr kumimoji="1" lang="en-US" altLang="zh-CN" sz="4000" b="1" dirty="0">
                <a:solidFill>
                  <a:srgbClr val="000066"/>
                </a:solidFill>
                <a:latin typeface="黑体" pitchFamily="2" charset="-122"/>
                <a:ea typeface="黑体" pitchFamily="2" charset="-122"/>
              </a:rPr>
              <a:t>-</a:t>
            </a:r>
            <a:r>
              <a:rPr kumimoji="1" lang="zh-CN" altLang="en-US" sz="4000" b="1" dirty="0">
                <a:solidFill>
                  <a:srgbClr val="000066"/>
                </a:solidFill>
                <a:latin typeface="黑体" pitchFamily="2" charset="-122"/>
                <a:ea typeface="黑体" pitchFamily="2" charset="-122"/>
              </a:rPr>
              <a:t>瑞斯纳公式</a:t>
            </a:r>
          </a:p>
        </p:txBody>
      </p:sp>
      <p:grpSp>
        <p:nvGrpSpPr>
          <p:cNvPr id="2" name="组合 1"/>
          <p:cNvGrpSpPr/>
          <p:nvPr/>
        </p:nvGrpSpPr>
        <p:grpSpPr>
          <a:xfrm>
            <a:off x="1311574" y="2355541"/>
            <a:ext cx="1307486" cy="887061"/>
            <a:chOff x="4443756" y="2848235"/>
            <a:chExt cx="811948" cy="537195"/>
          </a:xfrm>
        </p:grpSpPr>
        <p:sp>
          <p:nvSpPr>
            <p:cNvPr id="14" name="Line 25"/>
            <p:cNvSpPr>
              <a:spLocks noChangeShapeType="1"/>
            </p:cNvSpPr>
            <p:nvPr/>
          </p:nvSpPr>
          <p:spPr bwMode="auto">
            <a:xfrm>
              <a:off x="5057153"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25"/>
            <p:cNvSpPr>
              <a:spLocks noChangeShapeType="1"/>
            </p:cNvSpPr>
            <p:nvPr/>
          </p:nvSpPr>
          <p:spPr bwMode="auto">
            <a:xfrm>
              <a:off x="4443756"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5"/>
            <p:cNvSpPr>
              <a:spLocks noChangeShapeType="1"/>
            </p:cNvSpPr>
            <p:nvPr/>
          </p:nvSpPr>
          <p:spPr bwMode="auto">
            <a:xfrm>
              <a:off x="4648222"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a:off x="4852687"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5"/>
            <p:cNvSpPr>
              <a:spLocks noChangeShapeType="1"/>
            </p:cNvSpPr>
            <p:nvPr/>
          </p:nvSpPr>
          <p:spPr bwMode="auto">
            <a:xfrm>
              <a:off x="5255704" y="2854003"/>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21" name="直接连接符 20"/>
          <p:cNvCxnSpPr/>
          <p:nvPr/>
        </p:nvCxnSpPr>
        <p:spPr bwMode="auto">
          <a:xfrm flipH="1">
            <a:off x="1311574" y="3242893"/>
            <a:ext cx="131594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任意多边形 9"/>
          <p:cNvSpPr/>
          <p:nvPr/>
        </p:nvSpPr>
        <p:spPr bwMode="auto">
          <a:xfrm>
            <a:off x="1309477" y="3241146"/>
            <a:ext cx="1318045" cy="1300220"/>
          </a:xfrm>
          <a:custGeom>
            <a:avLst/>
            <a:gdLst>
              <a:gd name="connsiteX0" fmla="*/ 0 w 800100"/>
              <a:gd name="connsiteY0" fmla="*/ 0 h 781050"/>
              <a:gd name="connsiteX1" fmla="*/ 406400 w 800100"/>
              <a:gd name="connsiteY1" fmla="*/ 781050 h 781050"/>
              <a:gd name="connsiteX2" fmla="*/ 800100 w 800100"/>
              <a:gd name="connsiteY2" fmla="*/ 12700 h 781050"/>
              <a:gd name="connsiteX0" fmla="*/ 0 w 788670"/>
              <a:gd name="connsiteY0" fmla="*/ 0 h 773430"/>
              <a:gd name="connsiteX1" fmla="*/ 394970 w 788670"/>
              <a:gd name="connsiteY1" fmla="*/ 773430 h 773430"/>
              <a:gd name="connsiteX2" fmla="*/ 788670 w 788670"/>
              <a:gd name="connsiteY2" fmla="*/ 5080 h 773430"/>
              <a:gd name="connsiteX0" fmla="*/ 0 w 798195"/>
              <a:gd name="connsiteY0" fmla="*/ 13970 h 787400"/>
              <a:gd name="connsiteX1" fmla="*/ 394970 w 798195"/>
              <a:gd name="connsiteY1" fmla="*/ 787400 h 787400"/>
              <a:gd name="connsiteX2" fmla="*/ 798195 w 798195"/>
              <a:gd name="connsiteY2" fmla="*/ 0 h 787400"/>
              <a:gd name="connsiteX0" fmla="*/ 0 w 809625"/>
              <a:gd name="connsiteY0" fmla="*/ 2540 h 787400"/>
              <a:gd name="connsiteX1" fmla="*/ 406400 w 809625"/>
              <a:gd name="connsiteY1" fmla="*/ 787400 h 787400"/>
              <a:gd name="connsiteX2" fmla="*/ 809625 w 809625"/>
              <a:gd name="connsiteY2" fmla="*/ 0 h 787400"/>
              <a:gd name="connsiteX0" fmla="*/ 0 w 798195"/>
              <a:gd name="connsiteY0" fmla="*/ 4445 h 787400"/>
              <a:gd name="connsiteX1" fmla="*/ 394970 w 798195"/>
              <a:gd name="connsiteY1" fmla="*/ 787400 h 787400"/>
              <a:gd name="connsiteX2" fmla="*/ 798195 w 798195"/>
              <a:gd name="connsiteY2" fmla="*/ 0 h 787400"/>
              <a:gd name="connsiteX0" fmla="*/ 0 w 798195"/>
              <a:gd name="connsiteY0" fmla="*/ 4445 h 787400"/>
              <a:gd name="connsiteX1" fmla="*/ 402069 w 798195"/>
              <a:gd name="connsiteY1" fmla="*/ 787400 h 787400"/>
              <a:gd name="connsiteX2" fmla="*/ 798195 w 798195"/>
              <a:gd name="connsiteY2" fmla="*/ 0 h 787400"/>
              <a:gd name="connsiteX0" fmla="*/ 0 w 798195"/>
              <a:gd name="connsiteY0" fmla="*/ 4445 h 787400"/>
              <a:gd name="connsiteX1" fmla="*/ 398519 w 798195"/>
              <a:gd name="connsiteY1" fmla="*/ 787400 h 787400"/>
              <a:gd name="connsiteX2" fmla="*/ 798195 w 798195"/>
              <a:gd name="connsiteY2" fmla="*/ 0 h 787400"/>
              <a:gd name="connsiteX0" fmla="*/ 0 w 798195"/>
              <a:gd name="connsiteY0" fmla="*/ 4445 h 787400"/>
              <a:gd name="connsiteX1" fmla="*/ 402069 w 798195"/>
              <a:gd name="connsiteY1" fmla="*/ 787400 h 787400"/>
              <a:gd name="connsiteX2" fmla="*/ 798195 w 798195"/>
              <a:gd name="connsiteY2" fmla="*/ 0 h 787400"/>
            </a:gdLst>
            <a:ahLst/>
            <a:cxnLst>
              <a:cxn ang="0">
                <a:pos x="connsiteX0" y="connsiteY0"/>
              </a:cxn>
              <a:cxn ang="0">
                <a:pos x="connsiteX1" y="connsiteY1"/>
              </a:cxn>
              <a:cxn ang="0">
                <a:pos x="connsiteX2" y="connsiteY2"/>
              </a:cxn>
            </a:cxnLst>
            <a:rect l="l" t="t" r="r" b="b"/>
            <a:pathLst>
              <a:path w="798195" h="787400">
                <a:moveTo>
                  <a:pt x="0" y="4445"/>
                </a:moveTo>
                <a:lnTo>
                  <a:pt x="402069" y="787400"/>
                </a:lnTo>
                <a:cubicBezTo>
                  <a:pt x="536477" y="524933"/>
                  <a:pt x="663787" y="262467"/>
                  <a:pt x="798195" y="0"/>
                </a:cubicBezTo>
              </a:path>
            </a:pathLst>
          </a:custGeom>
          <a:solidFill>
            <a:schemeClr val="accent5">
              <a:lumMod val="90000"/>
            </a:schemeClr>
          </a:solid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06" name="直接连接符 105"/>
          <p:cNvCxnSpPr/>
          <p:nvPr/>
        </p:nvCxnSpPr>
        <p:spPr bwMode="auto">
          <a:xfrm>
            <a:off x="1970079" y="2043686"/>
            <a:ext cx="0" cy="2776669"/>
          </a:xfrm>
          <a:prstGeom prst="line">
            <a:avLst/>
          </a:prstGeom>
          <a:noFill/>
          <a:ln w="1905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连接符 107"/>
          <p:cNvCxnSpPr/>
          <p:nvPr/>
        </p:nvCxnSpPr>
        <p:spPr bwMode="auto">
          <a:xfrm>
            <a:off x="1303653" y="2355539"/>
            <a:ext cx="1308141"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21"/>
          <p:cNvSpPr txBox="1">
            <a:spLocks noChangeArrowheads="1"/>
          </p:cNvSpPr>
          <p:nvPr/>
        </p:nvSpPr>
        <p:spPr bwMode="auto">
          <a:xfrm>
            <a:off x="1391702" y="1845816"/>
            <a:ext cx="661623"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200" b="1" i="1" dirty="0" err="1">
                <a:solidFill>
                  <a:srgbClr val="000066"/>
                </a:solidFill>
                <a:latin typeface="Times New Roman" panose="02020603050405020304" pitchFamily="18" charset="0"/>
              </a:rPr>
              <a:t>p</a:t>
            </a:r>
            <a:r>
              <a:rPr kumimoji="1" lang="en-US" altLang="zh-CN" sz="2200" b="1" baseline="-25000" dirty="0" err="1">
                <a:solidFill>
                  <a:srgbClr val="000066"/>
                </a:solidFill>
                <a:latin typeface="Times New Roman" panose="02020603050405020304" pitchFamily="18" charset="0"/>
              </a:rPr>
              <a:t>u</a:t>
            </a:r>
            <a:endParaRPr kumimoji="1" lang="en-US" altLang="zh-CN" sz="2200" b="1" baseline="-25000" dirty="0">
              <a:solidFill>
                <a:srgbClr val="000066"/>
              </a:solidFill>
              <a:latin typeface="Times New Roman" panose="02020603050405020304" pitchFamily="18" charset="0"/>
            </a:endParaRPr>
          </a:p>
        </p:txBody>
      </p:sp>
      <p:sp>
        <p:nvSpPr>
          <p:cNvPr id="147" name="Text Box 21"/>
          <p:cNvSpPr txBox="1">
            <a:spLocks noChangeArrowheads="1"/>
          </p:cNvSpPr>
          <p:nvPr/>
        </p:nvSpPr>
        <p:spPr bwMode="auto">
          <a:xfrm>
            <a:off x="2625074" y="2922561"/>
            <a:ext cx="388248" cy="450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8" name="Text Box 21"/>
          <p:cNvSpPr txBox="1">
            <a:spLocks noChangeArrowheads="1"/>
          </p:cNvSpPr>
          <p:nvPr/>
        </p:nvSpPr>
        <p:spPr bwMode="auto">
          <a:xfrm>
            <a:off x="851773" y="2950672"/>
            <a:ext cx="372218" cy="450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9" name="Text Box 21"/>
          <p:cNvSpPr txBox="1">
            <a:spLocks noChangeArrowheads="1"/>
          </p:cNvSpPr>
          <p:nvPr/>
        </p:nvSpPr>
        <p:spPr bwMode="auto">
          <a:xfrm>
            <a:off x="1851871" y="4232001"/>
            <a:ext cx="672871" cy="79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66" name="Text Box 3"/>
          <p:cNvSpPr txBox="1">
            <a:spLocks noChangeArrowheads="1"/>
          </p:cNvSpPr>
          <p:nvPr/>
        </p:nvSpPr>
        <p:spPr bwMode="auto">
          <a:xfrm>
            <a:off x="1118554" y="1328892"/>
            <a:ext cx="279507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eaLnBrk="1" hangingPunct="1">
              <a:buClr>
                <a:srgbClr val="C00000"/>
              </a:buClr>
              <a:buSzPct val="135000"/>
              <a:buFont typeface="Wingdings" panose="05000000000000000000" pitchFamily="2" charset="2"/>
              <a:buChar char="F"/>
            </a:pPr>
            <a:r>
              <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Ⅰ</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区朗肯主动区：</a:t>
            </a:r>
          </a:p>
        </p:txBody>
      </p:sp>
      <p:grpSp>
        <p:nvGrpSpPr>
          <p:cNvPr id="5" name="组合 4"/>
          <p:cNvGrpSpPr/>
          <p:nvPr/>
        </p:nvGrpSpPr>
        <p:grpSpPr>
          <a:xfrm>
            <a:off x="2422739" y="3230264"/>
            <a:ext cx="1081614" cy="525838"/>
            <a:chOff x="2422739" y="3230264"/>
            <a:chExt cx="1081614" cy="525838"/>
          </a:xfrm>
        </p:grpSpPr>
        <p:sp>
          <p:nvSpPr>
            <p:cNvPr id="126" name="任意多边形 125"/>
            <p:cNvSpPr/>
            <p:nvPr/>
          </p:nvSpPr>
          <p:spPr bwMode="auto">
            <a:xfrm rot="10403643">
              <a:off x="2422739" y="3230264"/>
              <a:ext cx="118423" cy="172482"/>
            </a:xfrm>
            <a:custGeom>
              <a:avLst/>
              <a:gdLst>
                <a:gd name="connsiteX0" fmla="*/ 82339 w 84333"/>
                <a:gd name="connsiteY0" fmla="*/ 177679 h 177679"/>
                <a:gd name="connsiteX1" fmla="*/ 73672 w 84333"/>
                <a:gd name="connsiteY1" fmla="*/ 82339 h 177679"/>
                <a:gd name="connsiteX2" fmla="*/ 0 w 84333"/>
                <a:gd name="connsiteY2" fmla="*/ 0 h 177679"/>
              </a:gdLst>
              <a:ahLst/>
              <a:cxnLst>
                <a:cxn ang="0">
                  <a:pos x="connsiteX0" y="connsiteY0"/>
                </a:cxn>
                <a:cxn ang="0">
                  <a:pos x="connsiteX1" y="connsiteY1"/>
                </a:cxn>
                <a:cxn ang="0">
                  <a:pos x="connsiteX2" y="connsiteY2"/>
                </a:cxn>
              </a:cxnLst>
              <a:rect l="l" t="t" r="r" b="b"/>
              <a:pathLst>
                <a:path w="84333" h="177679">
                  <a:moveTo>
                    <a:pt x="82339" y="177679"/>
                  </a:moveTo>
                  <a:cubicBezTo>
                    <a:pt x="84867" y="144815"/>
                    <a:pt x="87395" y="111952"/>
                    <a:pt x="73672" y="82339"/>
                  </a:cubicBezTo>
                  <a:cubicBezTo>
                    <a:pt x="59949" y="52726"/>
                    <a:pt x="29974" y="26363"/>
                    <a:pt x="0" y="0"/>
                  </a:cubicBezTo>
                </a:path>
              </a:pathLst>
            </a:custGeom>
            <a:noFill/>
            <a:ln w="127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29" name="Rectangle 152"/>
            <p:cNvSpPr>
              <a:spLocks noChangeArrowheads="1"/>
            </p:cNvSpPr>
            <p:nvPr/>
          </p:nvSpPr>
          <p:spPr bwMode="auto">
            <a:xfrm>
              <a:off x="2439963" y="3309826"/>
              <a:ext cx="106439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000066"/>
                  </a:solidFill>
                  <a:latin typeface="Times New Roman" panose="02020603050405020304" pitchFamily="18" charset="0"/>
                  <a:ea typeface="楷体_GB2312" pitchFamily="49" charset="-122"/>
                </a:rPr>
                <a:t>45</a:t>
              </a:r>
              <a:r>
                <a:rPr kumimoji="1" lang="en-US" altLang="zh-CN" sz="2000" b="1" baseline="30000" dirty="0">
                  <a:solidFill>
                    <a:srgbClr val="000066"/>
                  </a:solidFill>
                  <a:latin typeface="Times New Roman" panose="02020603050405020304" pitchFamily="18" charset="0"/>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a:t>
              </a:r>
              <a:r>
                <a:rPr kumimoji="1" lang="en-US" altLang="zh-CN" sz="2000" b="1" i="1" dirty="0">
                  <a:solidFill>
                    <a:srgbClr val="000066"/>
                  </a:solidFill>
                  <a:latin typeface="Symbol" panose="05050102010706020507" pitchFamily="18" charset="2"/>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/2</a:t>
              </a:r>
            </a:p>
          </p:txBody>
        </p:sp>
      </p:grpSp>
      <p:grpSp>
        <p:nvGrpSpPr>
          <p:cNvPr id="3" name="组合 2"/>
          <p:cNvGrpSpPr/>
          <p:nvPr/>
        </p:nvGrpSpPr>
        <p:grpSpPr>
          <a:xfrm>
            <a:off x="2730931" y="3237880"/>
            <a:ext cx="1874188" cy="2148790"/>
            <a:chOff x="3168251" y="2991390"/>
            <a:chExt cx="1874188" cy="2148790"/>
          </a:xfrm>
        </p:grpSpPr>
        <p:sp>
          <p:nvSpPr>
            <p:cNvPr id="134" name="Rectangle 9"/>
            <p:cNvSpPr>
              <a:spLocks noChangeArrowheads="1"/>
            </p:cNvSpPr>
            <p:nvPr/>
          </p:nvSpPr>
          <p:spPr bwMode="auto">
            <a:xfrm>
              <a:off x="4000892" y="3996924"/>
              <a:ext cx="563263" cy="563263"/>
            </a:xfrm>
            <a:prstGeom prst="rect">
              <a:avLst/>
            </a:prstGeom>
            <a:solidFill>
              <a:srgbClr val="FFC000"/>
            </a:solidFill>
            <a:ln w="12700">
              <a:solidFill>
                <a:srgbClr val="C00000"/>
              </a:solidFill>
              <a:miter lim="800000"/>
              <a:headEnd/>
              <a:tailEnd/>
            </a:ln>
          </p:spPr>
          <p:txBody>
            <a:bodyPr wrap="none" anchor="ctr"/>
            <a:lstStyle/>
            <a:p>
              <a:endParaRPr lang="zh-CN" altLang="en-US"/>
            </a:p>
          </p:txBody>
        </p:sp>
        <p:sp>
          <p:nvSpPr>
            <p:cNvPr id="135" name="Line 10"/>
            <p:cNvSpPr>
              <a:spLocks noChangeShapeType="1"/>
            </p:cNvSpPr>
            <p:nvPr/>
          </p:nvSpPr>
          <p:spPr bwMode="auto">
            <a:xfrm>
              <a:off x="3528320" y="4278556"/>
              <a:ext cx="479611"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12"/>
            <p:cNvSpPr>
              <a:spLocks noChangeShapeType="1"/>
            </p:cNvSpPr>
            <p:nvPr/>
          </p:nvSpPr>
          <p:spPr bwMode="auto">
            <a:xfrm rot="16200000">
              <a:off x="4007933" y="4858549"/>
              <a:ext cx="563263"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13"/>
            <p:cNvSpPr>
              <a:spLocks noChangeShapeType="1"/>
            </p:cNvSpPr>
            <p:nvPr/>
          </p:nvSpPr>
          <p:spPr bwMode="auto">
            <a:xfrm rot="5400000">
              <a:off x="4007933" y="3715293"/>
              <a:ext cx="563263"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10"/>
            <p:cNvSpPr>
              <a:spLocks noChangeShapeType="1"/>
            </p:cNvSpPr>
            <p:nvPr/>
          </p:nvSpPr>
          <p:spPr bwMode="auto">
            <a:xfrm rot="10800000">
              <a:off x="4562828" y="4309229"/>
              <a:ext cx="479611"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5" name="Text Box 30"/>
            <p:cNvSpPr txBox="1">
              <a:spLocks noChangeArrowheads="1"/>
            </p:cNvSpPr>
            <p:nvPr/>
          </p:nvSpPr>
          <p:spPr bwMode="auto">
            <a:xfrm>
              <a:off x="3936046" y="2991390"/>
              <a:ext cx="973233"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CC3300"/>
                  </a:solidFill>
                  <a:latin typeface="Times New Roman" panose="02020603050405020304" pitchFamily="18" charset="0"/>
                  <a:sym typeface="Symbol" panose="05050102010706020507" pitchFamily="18" charset="2"/>
                </a:rPr>
                <a:t></a:t>
              </a:r>
              <a:r>
                <a:rPr kumimoji="1" lang="en-US" altLang="zh-CN" sz="2000" b="1" baseline="-25000" dirty="0">
                  <a:solidFill>
                    <a:srgbClr val="CC3300"/>
                  </a:solidFill>
                  <a:latin typeface="Times New Roman" panose="02020603050405020304" pitchFamily="18" charset="0"/>
                  <a:sym typeface="Symbol" panose="05050102010706020507" pitchFamily="18" charset="2"/>
                </a:rPr>
                <a:t></a:t>
              </a:r>
              <a:r>
                <a:rPr kumimoji="1" lang="en-US" altLang="zh-CN" sz="2000" b="1" dirty="0">
                  <a:solidFill>
                    <a:srgbClr val="CC3300"/>
                  </a:solidFill>
                  <a:latin typeface="Times New Roman" panose="02020603050405020304" pitchFamily="18" charset="0"/>
                  <a:sym typeface="Symbol" panose="05050102010706020507" pitchFamily="18" charset="2"/>
                </a:rPr>
                <a:t>=</a:t>
              </a:r>
              <a:r>
                <a:rPr kumimoji="1" lang="en-US" altLang="zh-CN" sz="2000" b="1" i="1" dirty="0" err="1">
                  <a:solidFill>
                    <a:srgbClr val="CC3300"/>
                  </a:solidFill>
                  <a:latin typeface="Times New Roman" panose="02020603050405020304" pitchFamily="18" charset="0"/>
                  <a:sym typeface="Symbol" panose="05050102010706020507" pitchFamily="18" charset="2"/>
                </a:rPr>
                <a:t>p</a:t>
              </a:r>
              <a:r>
                <a:rPr kumimoji="1" lang="en-US" altLang="zh-CN" sz="2000" b="1" baseline="-25000" dirty="0" err="1">
                  <a:solidFill>
                    <a:srgbClr val="CC3300"/>
                  </a:solidFill>
                  <a:latin typeface="Times New Roman" panose="02020603050405020304" pitchFamily="18" charset="0"/>
                  <a:sym typeface="Symbol" panose="05050102010706020507" pitchFamily="18" charset="2"/>
                </a:rPr>
                <a:t>u</a:t>
              </a:r>
              <a:endParaRPr kumimoji="1" lang="en-US" altLang="zh-CN" sz="2000" b="1" baseline="-25000" dirty="0">
                <a:solidFill>
                  <a:srgbClr val="CC3300"/>
                </a:solidFill>
                <a:latin typeface="Times New Roman" panose="02020603050405020304" pitchFamily="18" charset="0"/>
                <a:sym typeface="Symbol" panose="05050102010706020507" pitchFamily="18" charset="2"/>
              </a:endParaRPr>
            </a:p>
          </p:txBody>
        </p:sp>
        <p:sp>
          <p:nvSpPr>
            <p:cNvPr id="156" name="Text Box 36"/>
            <p:cNvSpPr txBox="1">
              <a:spLocks noChangeArrowheads="1"/>
            </p:cNvSpPr>
            <p:nvPr/>
          </p:nvSpPr>
          <p:spPr bwMode="auto">
            <a:xfrm>
              <a:off x="3168251" y="4233558"/>
              <a:ext cx="108113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i="1" dirty="0">
                  <a:solidFill>
                    <a:srgbClr val="CC3300"/>
                  </a:solidFill>
                  <a:latin typeface="Times New Roman" panose="02020603050405020304" pitchFamily="18" charset="0"/>
                  <a:sym typeface="Symbol" panose="05050102010706020507" pitchFamily="18" charset="2"/>
                </a:rPr>
                <a:t></a:t>
              </a:r>
              <a:r>
                <a:rPr kumimoji="1" lang="en-US" altLang="zh-CN" sz="2000" b="1" baseline="-25000" dirty="0">
                  <a:solidFill>
                    <a:srgbClr val="CC3300"/>
                  </a:solidFill>
                  <a:latin typeface="Times New Roman" panose="02020603050405020304" pitchFamily="18" charset="0"/>
                  <a:sym typeface="Symbol" panose="05050102010706020507" pitchFamily="18" charset="2"/>
                </a:rPr>
                <a:t> </a:t>
              </a:r>
              <a:r>
                <a:rPr kumimoji="1" lang="en-US" altLang="zh-CN" sz="2000" b="1" dirty="0">
                  <a:solidFill>
                    <a:srgbClr val="CC3300"/>
                  </a:solidFill>
                  <a:latin typeface="Times New Roman" panose="02020603050405020304" pitchFamily="18" charset="0"/>
                  <a:sym typeface="Symbol" panose="05050102010706020507" pitchFamily="18" charset="2"/>
                </a:rPr>
                <a:t> </a:t>
              </a:r>
              <a:r>
                <a:rPr kumimoji="1" lang="en-US" altLang="zh-CN" sz="2000" b="1" i="1" dirty="0">
                  <a:solidFill>
                    <a:srgbClr val="CC3300"/>
                  </a:solidFill>
                  <a:latin typeface="Times New Roman" panose="02020603050405020304" pitchFamily="18" charset="0"/>
                  <a:sym typeface="Symbol" panose="05050102010706020507" pitchFamily="18" charset="2"/>
                </a:rPr>
                <a:t>p</a:t>
              </a:r>
              <a:r>
                <a:rPr kumimoji="1" lang="en-US" altLang="zh-CN" sz="2000" b="1" baseline="-25000" dirty="0">
                  <a:solidFill>
                    <a:srgbClr val="CC3300"/>
                  </a:solidFill>
                  <a:latin typeface="Times New Roman" panose="02020603050405020304" pitchFamily="18" charset="0"/>
                  <a:sym typeface="Symbol" panose="05050102010706020507" pitchFamily="18" charset="2"/>
                </a:rPr>
                <a:t>a</a:t>
              </a:r>
            </a:p>
          </p:txBody>
        </p:sp>
      </p:grpSp>
      <p:cxnSp>
        <p:nvCxnSpPr>
          <p:cNvPr id="27" name="直接箭头连接符 26"/>
          <p:cNvCxnSpPr/>
          <p:nvPr/>
        </p:nvCxnSpPr>
        <p:spPr bwMode="auto">
          <a:xfrm>
            <a:off x="2116820" y="3837310"/>
            <a:ext cx="1195921" cy="43254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p:cNvCxnSpPr/>
          <p:nvPr/>
        </p:nvCxnSpPr>
        <p:spPr bwMode="auto">
          <a:xfrm flipH="1">
            <a:off x="1804225" y="3255751"/>
            <a:ext cx="494900" cy="97625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直接连接符 156"/>
          <p:cNvCxnSpPr/>
          <p:nvPr/>
        </p:nvCxnSpPr>
        <p:spPr bwMode="auto">
          <a:xfrm flipH="1">
            <a:off x="1647912" y="3255751"/>
            <a:ext cx="322162" cy="635504"/>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直接连接符 157"/>
          <p:cNvCxnSpPr/>
          <p:nvPr/>
        </p:nvCxnSpPr>
        <p:spPr bwMode="auto">
          <a:xfrm flipH="1">
            <a:off x="1467475" y="3233077"/>
            <a:ext cx="176897" cy="348951"/>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直接连接符 166"/>
          <p:cNvCxnSpPr/>
          <p:nvPr/>
        </p:nvCxnSpPr>
        <p:spPr bwMode="auto">
          <a:xfrm>
            <a:off x="1648920" y="3242140"/>
            <a:ext cx="485124" cy="949548"/>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直接连接符 167"/>
          <p:cNvCxnSpPr/>
          <p:nvPr/>
        </p:nvCxnSpPr>
        <p:spPr bwMode="auto">
          <a:xfrm>
            <a:off x="1969961" y="3240642"/>
            <a:ext cx="332398" cy="650613"/>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直接连接符 168"/>
          <p:cNvCxnSpPr/>
          <p:nvPr/>
        </p:nvCxnSpPr>
        <p:spPr bwMode="auto">
          <a:xfrm>
            <a:off x="2304506" y="3246779"/>
            <a:ext cx="157951" cy="309163"/>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0" name="Text Box 110"/>
          <p:cNvSpPr txBox="1">
            <a:spLocks noChangeArrowheads="1"/>
          </p:cNvSpPr>
          <p:nvPr/>
        </p:nvSpPr>
        <p:spPr bwMode="auto">
          <a:xfrm>
            <a:off x="4875461" y="1305046"/>
            <a:ext cx="3692173" cy="1846659"/>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71463" indent="-271463" defTabSz="739775" eaLnBrk="1" hangingPunct="1">
              <a:lnSpc>
                <a:spcPct val="125000"/>
              </a:lnSpc>
              <a:spcBef>
                <a:spcPts val="300"/>
              </a:spcBef>
              <a:spcAft>
                <a:spcPts val="3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朗肯主动区的滑动线与水平面成</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±(45+φ/2)</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的夹角</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eaLnBrk="1" hangingPunct="1">
              <a:lnSpc>
                <a:spcPct val="125000"/>
              </a:lnSpc>
              <a:spcBef>
                <a:spcPts val="300"/>
              </a:spcBef>
              <a:spcAft>
                <a:spcPts val="3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竖直向应力</a:t>
            </a:r>
            <a:r>
              <a:rPr lang="en-US" altLang="zh-CN" sz="22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2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为大主应力</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eaLnBrk="1" hangingPunct="1">
              <a:lnSpc>
                <a:spcPct val="125000"/>
              </a:lnSpc>
              <a:spcBef>
                <a:spcPts val="300"/>
              </a:spcBef>
              <a:spcAft>
                <a:spcPts val="300"/>
              </a:spcAft>
              <a:buClr>
                <a:srgbClr val="C00000"/>
              </a:buClr>
              <a:buSzPct val="130000"/>
              <a:buFont typeface="Arial" panose="020B0604020202020204" pitchFamily="34" charset="0"/>
              <a:buChar char="•"/>
              <a:tabLst>
                <a:tab pos="3411538" algn="l"/>
              </a:tabLst>
            </a:pP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OC</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上朗肯主动土压力：</a:t>
            </a:r>
          </a:p>
        </p:txBody>
      </p:sp>
      <p:sp>
        <p:nvSpPr>
          <p:cNvPr id="171" name="Text Box 21"/>
          <p:cNvSpPr txBox="1">
            <a:spLocks noChangeArrowheads="1"/>
          </p:cNvSpPr>
          <p:nvPr/>
        </p:nvSpPr>
        <p:spPr bwMode="auto">
          <a:xfrm>
            <a:off x="1925228" y="2870117"/>
            <a:ext cx="404277" cy="450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O</a:t>
            </a:r>
            <a:endParaRPr kumimoji="1"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aphicFrame>
        <p:nvGraphicFramePr>
          <p:cNvPr id="172" name="Object 40"/>
          <p:cNvGraphicFramePr>
            <a:graphicFrameLocks noChangeAspect="1"/>
          </p:cNvGraphicFramePr>
          <p:nvPr>
            <p:extLst>
              <p:ext uri="{D42A27DB-BD31-4B8C-83A1-F6EECF244321}">
                <p14:modId xmlns:p14="http://schemas.microsoft.com/office/powerpoint/2010/main" val="1996441727"/>
              </p:ext>
            </p:extLst>
          </p:nvPr>
        </p:nvGraphicFramePr>
        <p:xfrm>
          <a:off x="5356658" y="3338664"/>
          <a:ext cx="2125440" cy="434160"/>
        </p:xfrm>
        <a:graphic>
          <a:graphicData uri="http://schemas.openxmlformats.org/presentationml/2006/ole">
            <mc:AlternateContent xmlns:mc="http://schemas.openxmlformats.org/markup-compatibility/2006">
              <mc:Choice xmlns:v="urn:schemas-microsoft-com:vml" Requires="v">
                <p:oleObj spid="_x0000_s1811755" name="Equation" r:id="rId4" imgW="1180800" imgH="241200" progId="Equation.DSMT4">
                  <p:embed/>
                </p:oleObj>
              </mc:Choice>
              <mc:Fallback>
                <p:oleObj name="Equation" r:id="rId4" imgW="1180800" imgH="241200" progId="Equation.DSMT4">
                  <p:embed/>
                  <p:pic>
                    <p:nvPicPr>
                      <p:cNvPr id="592936" name="Object 40"/>
                      <p:cNvPicPr>
                        <a:picLocks noChangeAspect="1" noChangeArrowheads="1"/>
                      </p:cNvPicPr>
                      <p:nvPr/>
                    </p:nvPicPr>
                    <p:blipFill>
                      <a:blip r:embed="rId5"/>
                      <a:srcRect/>
                      <a:stretch>
                        <a:fillRect/>
                      </a:stretch>
                    </p:blipFill>
                    <p:spPr bwMode="auto">
                      <a:xfrm>
                        <a:off x="5356658" y="3338664"/>
                        <a:ext cx="2125440" cy="43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3" name="Object 41"/>
          <p:cNvGraphicFramePr>
            <a:graphicFrameLocks noChangeAspect="1"/>
          </p:cNvGraphicFramePr>
          <p:nvPr>
            <p:extLst>
              <p:ext uri="{D42A27DB-BD31-4B8C-83A1-F6EECF244321}">
                <p14:modId xmlns:p14="http://schemas.microsoft.com/office/powerpoint/2010/main" val="1070695978"/>
              </p:ext>
            </p:extLst>
          </p:nvPr>
        </p:nvGraphicFramePr>
        <p:xfrm>
          <a:off x="5356658" y="3878344"/>
          <a:ext cx="2080080" cy="662904"/>
        </p:xfrm>
        <a:graphic>
          <a:graphicData uri="http://schemas.openxmlformats.org/presentationml/2006/ole">
            <mc:AlternateContent xmlns:mc="http://schemas.openxmlformats.org/markup-compatibility/2006">
              <mc:Choice xmlns:v="urn:schemas-microsoft-com:vml" Requires="v">
                <p:oleObj spid="_x0000_s1811756" name="Equation" r:id="rId6" imgW="1155600" imgH="368280" progId="Equation.DSMT4">
                  <p:embed/>
                </p:oleObj>
              </mc:Choice>
              <mc:Fallback>
                <p:oleObj name="Equation" r:id="rId6" imgW="1155600" imgH="368280" progId="Equation.DSMT4">
                  <p:embed/>
                  <p:pic>
                    <p:nvPicPr>
                      <p:cNvPr id="592937" name="Object 41"/>
                      <p:cNvPicPr>
                        <a:picLocks noChangeAspect="1" noChangeArrowheads="1"/>
                      </p:cNvPicPr>
                      <p:nvPr/>
                    </p:nvPicPr>
                    <p:blipFill>
                      <a:blip r:embed="rId7"/>
                      <a:srcRect/>
                      <a:stretch>
                        <a:fillRect/>
                      </a:stretch>
                    </p:blipFill>
                    <p:spPr bwMode="auto">
                      <a:xfrm>
                        <a:off x="5356658" y="3878344"/>
                        <a:ext cx="2080080" cy="662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 name="Text Box 7"/>
          <p:cNvSpPr txBox="1">
            <a:spLocks noChangeArrowheads="1"/>
          </p:cNvSpPr>
          <p:nvPr/>
        </p:nvSpPr>
        <p:spPr bwMode="auto">
          <a:xfrm>
            <a:off x="0" y="0"/>
            <a:ext cx="56344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普朗德尔</a:t>
            </a:r>
            <a:r>
              <a:rPr lang="en-US" altLang="zh-CN" sz="1800" b="1" kern="900" spc="130" dirty="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瑞斯纳公式</a:t>
            </a:r>
          </a:p>
        </p:txBody>
      </p:sp>
      <p:sp>
        <p:nvSpPr>
          <p:cNvPr id="44" name="Text Box 3"/>
          <p:cNvSpPr txBox="1">
            <a:spLocks noChangeArrowheads="1"/>
          </p:cNvSpPr>
          <p:nvPr/>
        </p:nvSpPr>
        <p:spPr bwMode="auto">
          <a:xfrm>
            <a:off x="737558" y="585476"/>
            <a:ext cx="2789867"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Font typeface="Wingdings" pitchFamily="2" charset="2"/>
              <a:buChar char="n"/>
              <a:defRPr/>
            </a:pPr>
            <a:r>
              <a:rPr kumimoji="0" lang="zh-CN" altLang="en-US" b="1" dirty="0">
                <a:solidFill>
                  <a:srgbClr val="A50021"/>
                </a:solidFill>
                <a:latin typeface="微软雅黑" panose="020B0503020204020204" pitchFamily="34" charset="-122"/>
                <a:ea typeface="微软雅黑" panose="020B0503020204020204" pitchFamily="34" charset="-122"/>
                <a:cs typeface="Times New Roman" panose="02020603050405020304" pitchFamily="18" charset="0"/>
              </a:rPr>
              <a:t>特征线法解答</a:t>
            </a:r>
          </a:p>
        </p:txBody>
      </p:sp>
      <p:sp>
        <p:nvSpPr>
          <p:cNvPr id="143" name="Rectangle 9"/>
          <p:cNvSpPr>
            <a:spLocks noChangeArrowheads="1"/>
          </p:cNvSpPr>
          <p:nvPr/>
        </p:nvSpPr>
        <p:spPr bwMode="auto">
          <a:xfrm>
            <a:off x="1968499" y="3762842"/>
            <a:ext cx="128413" cy="128413"/>
          </a:xfrm>
          <a:prstGeom prst="rect">
            <a:avLst/>
          </a:prstGeom>
          <a:solidFill>
            <a:srgbClr val="FFC000"/>
          </a:solidFill>
          <a:ln w="12700">
            <a:solidFill>
              <a:srgbClr val="C00000"/>
            </a:solidFill>
            <a:miter lim="800000"/>
            <a:headEnd/>
            <a:tailEnd/>
          </a:ln>
        </p:spPr>
        <p:txBody>
          <a:bodyPr wrap="none" anchor="ctr"/>
          <a:lstStyle/>
          <a:p>
            <a:endParaRPr lang="zh-CN" altLang="en-US"/>
          </a:p>
        </p:txBody>
      </p:sp>
    </p:spTree>
    <p:extLst>
      <p:ext uri="{BB962C8B-B14F-4D97-AF65-F5344CB8AC3E}">
        <p14:creationId xmlns:p14="http://schemas.microsoft.com/office/powerpoint/2010/main" val="165427421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wipe(left)">
                                      <p:cBhvr>
                                        <p:cTn id="7" dur="500"/>
                                        <p:tgtEl>
                                          <p:spTgt spid="16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70">
                                            <p:txEl>
                                              <p:pRg st="0" end="0"/>
                                            </p:txEl>
                                          </p:spTgt>
                                        </p:tgtEl>
                                        <p:attrNameLst>
                                          <p:attrName>style.visibility</p:attrName>
                                        </p:attrNameLst>
                                      </p:cBhvr>
                                      <p:to>
                                        <p:strVal val="visible"/>
                                      </p:to>
                                    </p:set>
                                    <p:animEffect transition="in" filter="barn(inVertical)">
                                      <p:cBhvr>
                                        <p:cTn id="12" dur="500"/>
                                        <p:tgtEl>
                                          <p:spTgt spid="170">
                                            <p:txEl>
                                              <p:pRg st="0" end="0"/>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70">
                                            <p:txEl>
                                              <p:pRg st="1" end="1"/>
                                            </p:txEl>
                                          </p:spTgt>
                                        </p:tgtEl>
                                        <p:attrNameLst>
                                          <p:attrName>style.visibility</p:attrName>
                                        </p:attrNameLst>
                                      </p:cBhvr>
                                      <p:to>
                                        <p:strVal val="visible"/>
                                      </p:to>
                                    </p:set>
                                    <p:animEffect transition="in" filter="barn(inVertical)">
                                      <p:cBhvr>
                                        <p:cTn id="21" dur="500"/>
                                        <p:tgtEl>
                                          <p:spTgt spid="170">
                                            <p:txEl>
                                              <p:pRg st="1" end="1"/>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43"/>
                                        </p:tgtEl>
                                        <p:attrNameLst>
                                          <p:attrName>style.visibility</p:attrName>
                                        </p:attrNameLst>
                                      </p:cBhvr>
                                      <p:to>
                                        <p:strVal val="visible"/>
                                      </p:to>
                                    </p:set>
                                    <p:animEffect transition="in" filter="wipe(left)">
                                      <p:cBhvr>
                                        <p:cTn id="25" dur="500"/>
                                        <p:tgtEl>
                                          <p:spTgt spid="143"/>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left)">
                                      <p:cBhvr>
                                        <p:cTn id="29" dur="500"/>
                                        <p:tgtEl>
                                          <p:spTgt spid="27"/>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left)">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70">
                                            <p:txEl>
                                              <p:pRg st="2" end="2"/>
                                            </p:txEl>
                                          </p:spTgt>
                                        </p:tgtEl>
                                        <p:attrNameLst>
                                          <p:attrName>style.visibility</p:attrName>
                                        </p:attrNameLst>
                                      </p:cBhvr>
                                      <p:to>
                                        <p:strVal val="visible"/>
                                      </p:to>
                                    </p:set>
                                    <p:animEffect transition="in" filter="barn(inVertical)">
                                      <p:cBhvr>
                                        <p:cTn id="38" dur="500"/>
                                        <p:tgtEl>
                                          <p:spTgt spid="170">
                                            <p:txEl>
                                              <p:pRg st="2" end="2"/>
                                            </p:txEl>
                                          </p:spTgt>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172"/>
                                        </p:tgtEl>
                                        <p:attrNameLst>
                                          <p:attrName>style.visibility</p:attrName>
                                        </p:attrNameLst>
                                      </p:cBhvr>
                                      <p:to>
                                        <p:strVal val="visible"/>
                                      </p:to>
                                    </p:set>
                                    <p:animEffect transition="in" filter="wipe(left)">
                                      <p:cBhvr>
                                        <p:cTn id="42" dur="500"/>
                                        <p:tgtEl>
                                          <p:spTgt spid="172"/>
                                        </p:tgtEl>
                                      </p:cBhvr>
                                    </p:animEffect>
                                  </p:childTnLst>
                                </p:cTn>
                              </p:par>
                            </p:childTnLst>
                          </p:cTn>
                        </p:par>
                        <p:par>
                          <p:cTn id="43" fill="hold">
                            <p:stCondLst>
                              <p:cond delay="1000"/>
                            </p:stCondLst>
                            <p:childTnLst>
                              <p:par>
                                <p:cTn id="44" presetID="22" presetClass="entr" presetSubtype="8" fill="hold" nodeType="afterEffect">
                                  <p:stCondLst>
                                    <p:cond delay="0"/>
                                  </p:stCondLst>
                                  <p:childTnLst>
                                    <p:set>
                                      <p:cBhvr>
                                        <p:cTn id="45" dur="1" fill="hold">
                                          <p:stCondLst>
                                            <p:cond delay="0"/>
                                          </p:stCondLst>
                                        </p:cTn>
                                        <p:tgtEl>
                                          <p:spTgt spid="173"/>
                                        </p:tgtEl>
                                        <p:attrNameLst>
                                          <p:attrName>style.visibility</p:attrName>
                                        </p:attrNameLst>
                                      </p:cBhvr>
                                      <p:to>
                                        <p:strVal val="visible"/>
                                      </p:to>
                                    </p:set>
                                    <p:animEffect transition="in" filter="wipe(left)">
                                      <p:cBhvr>
                                        <p:cTn id="46"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autoUpdateAnimBg="0"/>
      <p:bldP spid="170" grpId="0" uiExpand="1" build="p"/>
      <p:bldP spid="14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nvSpPr>
        <p:spPr bwMode="auto">
          <a:xfrm>
            <a:off x="514350" y="2781300"/>
            <a:ext cx="3990975" cy="1085850"/>
          </a:xfrm>
          <a:custGeom>
            <a:avLst/>
            <a:gdLst>
              <a:gd name="connsiteX0" fmla="*/ 0 w 3990975"/>
              <a:gd name="connsiteY0" fmla="*/ 0 h 1085850"/>
              <a:gd name="connsiteX1" fmla="*/ 3990975 w 3990975"/>
              <a:gd name="connsiteY1" fmla="*/ 0 h 1085850"/>
              <a:gd name="connsiteX2" fmla="*/ 2019300 w 3990975"/>
              <a:gd name="connsiteY2" fmla="*/ 1085850 h 1085850"/>
              <a:gd name="connsiteX3" fmla="*/ 66675 w 3990975"/>
              <a:gd name="connsiteY3" fmla="*/ 9525 h 1085850"/>
              <a:gd name="connsiteX4" fmla="*/ 66675 w 3990975"/>
              <a:gd name="connsiteY4" fmla="*/ 9525 h 108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0975" h="1085850">
                <a:moveTo>
                  <a:pt x="0" y="0"/>
                </a:moveTo>
                <a:lnTo>
                  <a:pt x="3990975" y="0"/>
                </a:lnTo>
                <a:lnTo>
                  <a:pt x="2019300" y="1085850"/>
                </a:lnTo>
                <a:lnTo>
                  <a:pt x="66675" y="9525"/>
                </a:lnTo>
                <a:lnTo>
                  <a:pt x="66675" y="9525"/>
                </a:lnTo>
              </a:path>
            </a:pathLst>
          </a:cu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39</a:t>
            </a:fld>
            <a:endParaRPr lang="zh-CN" altLang="en-US" dirty="0">
              <a:solidFill>
                <a:srgbClr val="C00000"/>
              </a:solidFill>
            </a:endParaRPr>
          </a:p>
        </p:txBody>
      </p:sp>
      <p:sp>
        <p:nvSpPr>
          <p:cNvPr id="159" name="Text Box 2"/>
          <p:cNvSpPr txBox="1">
            <a:spLocks noChangeArrowheads="1"/>
          </p:cNvSpPr>
          <p:nvPr/>
        </p:nvSpPr>
        <p:spPr bwMode="auto">
          <a:xfrm>
            <a:off x="2495809" y="5596396"/>
            <a:ext cx="51091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普朗德尔</a:t>
            </a:r>
            <a:r>
              <a:rPr kumimoji="1" lang="en-US" altLang="zh-CN" sz="4000" b="1" dirty="0">
                <a:solidFill>
                  <a:srgbClr val="000066"/>
                </a:solidFill>
                <a:latin typeface="黑体" pitchFamily="2" charset="-122"/>
                <a:ea typeface="黑体" pitchFamily="2" charset="-122"/>
              </a:rPr>
              <a:t>-</a:t>
            </a:r>
            <a:r>
              <a:rPr kumimoji="1" lang="zh-CN" altLang="en-US" sz="4000" b="1" dirty="0">
                <a:solidFill>
                  <a:srgbClr val="000066"/>
                </a:solidFill>
                <a:latin typeface="黑体" pitchFamily="2" charset="-122"/>
                <a:ea typeface="黑体" pitchFamily="2" charset="-122"/>
              </a:rPr>
              <a:t>瑞斯纳公式</a:t>
            </a:r>
          </a:p>
        </p:txBody>
      </p:sp>
      <p:sp>
        <p:nvSpPr>
          <p:cNvPr id="166" name="Text Box 3"/>
          <p:cNvSpPr txBox="1">
            <a:spLocks noChangeArrowheads="1"/>
          </p:cNvSpPr>
          <p:nvPr/>
        </p:nvSpPr>
        <p:spPr bwMode="auto">
          <a:xfrm>
            <a:off x="1118554" y="1328892"/>
            <a:ext cx="3247209"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eaLnBrk="1" hangingPunct="1">
              <a:buClr>
                <a:srgbClr val="C00000"/>
              </a:buClr>
              <a:buSzPct val="135000"/>
              <a:buFont typeface="Wingdings" panose="05000000000000000000" pitchFamily="2" charset="2"/>
              <a:buChar char="F"/>
            </a:pPr>
            <a:r>
              <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III</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区朗肯被动区：</a:t>
            </a:r>
          </a:p>
        </p:txBody>
      </p:sp>
      <p:grpSp>
        <p:nvGrpSpPr>
          <p:cNvPr id="3" name="组合 2"/>
          <p:cNvGrpSpPr/>
          <p:nvPr/>
        </p:nvGrpSpPr>
        <p:grpSpPr>
          <a:xfrm>
            <a:off x="2889443" y="3595837"/>
            <a:ext cx="2103955" cy="1704243"/>
            <a:chOff x="2889443" y="3595837"/>
            <a:chExt cx="2103955" cy="1704243"/>
          </a:xfrm>
        </p:grpSpPr>
        <p:sp>
          <p:nvSpPr>
            <p:cNvPr id="134" name="Rectangle 9"/>
            <p:cNvSpPr>
              <a:spLocks noChangeArrowheads="1"/>
            </p:cNvSpPr>
            <p:nvPr/>
          </p:nvSpPr>
          <p:spPr bwMode="auto">
            <a:xfrm>
              <a:off x="3938655" y="4382788"/>
              <a:ext cx="563263" cy="563263"/>
            </a:xfrm>
            <a:prstGeom prst="rect">
              <a:avLst/>
            </a:prstGeom>
            <a:solidFill>
              <a:srgbClr val="FFC000"/>
            </a:solidFill>
            <a:ln w="12700">
              <a:solidFill>
                <a:srgbClr val="C00000"/>
              </a:solidFill>
              <a:miter lim="800000"/>
              <a:headEnd/>
              <a:tailEnd/>
            </a:ln>
          </p:spPr>
          <p:txBody>
            <a:bodyPr wrap="none" anchor="ctr"/>
            <a:lstStyle/>
            <a:p>
              <a:endParaRPr lang="zh-CN" altLang="en-US"/>
            </a:p>
          </p:txBody>
        </p:sp>
        <p:sp>
          <p:nvSpPr>
            <p:cNvPr id="135" name="Line 10"/>
            <p:cNvSpPr>
              <a:spLocks noChangeShapeType="1"/>
            </p:cNvSpPr>
            <p:nvPr/>
          </p:nvSpPr>
          <p:spPr bwMode="auto">
            <a:xfrm>
              <a:off x="3466083" y="4664420"/>
              <a:ext cx="479611"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12"/>
            <p:cNvSpPr>
              <a:spLocks noChangeShapeType="1"/>
            </p:cNvSpPr>
            <p:nvPr/>
          </p:nvSpPr>
          <p:spPr bwMode="auto">
            <a:xfrm rot="16200000">
              <a:off x="4058678" y="5131431"/>
              <a:ext cx="337299"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13"/>
            <p:cNvSpPr>
              <a:spLocks noChangeShapeType="1"/>
            </p:cNvSpPr>
            <p:nvPr/>
          </p:nvSpPr>
          <p:spPr bwMode="auto">
            <a:xfrm rot="5400000">
              <a:off x="4050467" y="4205929"/>
              <a:ext cx="353721"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10"/>
            <p:cNvSpPr>
              <a:spLocks noChangeShapeType="1"/>
            </p:cNvSpPr>
            <p:nvPr/>
          </p:nvSpPr>
          <p:spPr bwMode="auto">
            <a:xfrm rot="10800000">
              <a:off x="4500591" y="4695093"/>
              <a:ext cx="479611"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5" name="Text Box 30"/>
            <p:cNvSpPr txBox="1">
              <a:spLocks noChangeArrowheads="1"/>
            </p:cNvSpPr>
            <p:nvPr/>
          </p:nvSpPr>
          <p:spPr bwMode="auto">
            <a:xfrm>
              <a:off x="3726629" y="3595837"/>
              <a:ext cx="1266769"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a:spcBef>
                  <a:spcPct val="50000"/>
                </a:spcBef>
              </a:pPr>
              <a:r>
                <a:rPr kumimoji="1" lang="en-US" altLang="zh-CN" sz="2000" b="1" dirty="0">
                  <a:solidFill>
                    <a:srgbClr val="CC3300"/>
                  </a:solidFill>
                  <a:latin typeface="Times New Roman" panose="02020603050405020304" pitchFamily="18" charset="0"/>
                  <a:sym typeface="Symbol" panose="05050102010706020507" pitchFamily="18" charset="2"/>
                </a:rPr>
                <a:t></a:t>
              </a:r>
              <a:r>
                <a:rPr kumimoji="1" lang="en-US" altLang="zh-CN" sz="2000" b="1" baseline="-25000" dirty="0">
                  <a:solidFill>
                    <a:srgbClr val="CC3300"/>
                  </a:solidFill>
                  <a:latin typeface="Times New Roman" panose="02020603050405020304" pitchFamily="18" charset="0"/>
                  <a:sym typeface="Symbol" panose="05050102010706020507" pitchFamily="18" charset="2"/>
                </a:rPr>
                <a:t>3</a:t>
              </a:r>
              <a:r>
                <a:rPr kumimoji="1" lang="en-US" altLang="zh-CN" sz="2000" b="1" dirty="0">
                  <a:solidFill>
                    <a:srgbClr val="CC3300"/>
                  </a:solidFill>
                  <a:latin typeface="Times New Roman" panose="02020603050405020304" pitchFamily="18" charset="0"/>
                  <a:sym typeface="Symbol" panose="05050102010706020507" pitchFamily="18" charset="2"/>
                </a:rPr>
                <a:t>=</a:t>
              </a:r>
              <a:r>
                <a:rPr kumimoji="1" lang="en-US" altLang="zh-CN" sz="2000" b="1" i="1" dirty="0">
                  <a:solidFill>
                    <a:srgbClr val="C00000"/>
                  </a:solidFill>
                  <a:latin typeface="Times New Roman" panose="02020603050405020304" pitchFamily="18" charset="0"/>
                  <a:sym typeface="Symbol" panose="05050102010706020507" pitchFamily="18" charset="2"/>
                </a:rPr>
                <a:t></a:t>
              </a:r>
              <a:r>
                <a:rPr kumimoji="1" lang="en-US" altLang="zh-CN" sz="2000" b="1" baseline="-25000" dirty="0">
                  <a:solidFill>
                    <a:srgbClr val="C00000"/>
                  </a:solidFill>
                  <a:latin typeface="Times New Roman" panose="02020603050405020304" pitchFamily="18" charset="0"/>
                  <a:sym typeface="Symbol" panose="05050102010706020507" pitchFamily="18" charset="2"/>
                </a:rPr>
                <a:t>0</a:t>
              </a:r>
              <a:r>
                <a:rPr kumimoji="1" lang="en-US" altLang="zh-CN" sz="2000" b="1" i="1" dirty="0">
                  <a:solidFill>
                    <a:srgbClr val="C00000"/>
                  </a:solidFill>
                  <a:latin typeface="Times New Roman" panose="02020603050405020304" pitchFamily="18" charset="0"/>
                </a:rPr>
                <a:t>d</a:t>
              </a:r>
              <a:endParaRPr kumimoji="1" lang="en-US" altLang="zh-CN" sz="2000" b="1" baseline="-25000" dirty="0">
                <a:solidFill>
                  <a:srgbClr val="C00000"/>
                </a:solidFill>
                <a:latin typeface="Times New Roman" panose="02020603050405020304" pitchFamily="18" charset="0"/>
              </a:endParaRPr>
            </a:p>
          </p:txBody>
        </p:sp>
        <p:sp>
          <p:nvSpPr>
            <p:cNvPr id="156" name="Text Box 36"/>
            <p:cNvSpPr txBox="1">
              <a:spLocks noChangeArrowheads="1"/>
            </p:cNvSpPr>
            <p:nvPr/>
          </p:nvSpPr>
          <p:spPr bwMode="auto">
            <a:xfrm>
              <a:off x="2889443" y="4563421"/>
              <a:ext cx="108113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a:solidFill>
                    <a:srgbClr val="CC3300"/>
                  </a:solidFill>
                  <a:latin typeface="Times New Roman" panose="02020603050405020304" pitchFamily="18" charset="0"/>
                  <a:sym typeface="Symbol" panose="05050102010706020507" pitchFamily="18" charset="2"/>
                </a:rPr>
                <a:t></a:t>
              </a:r>
              <a:r>
                <a:rPr kumimoji="1" lang="en-US" altLang="zh-CN" sz="2000" b="1" baseline="-25000" dirty="0">
                  <a:solidFill>
                    <a:srgbClr val="CC3300"/>
                  </a:solidFill>
                  <a:latin typeface="Times New Roman" panose="02020603050405020304" pitchFamily="18" charset="0"/>
                  <a:sym typeface="Symbol" panose="05050102010706020507" pitchFamily="18" charset="2"/>
                </a:rPr>
                <a:t>1</a:t>
              </a:r>
              <a:r>
                <a:rPr kumimoji="1" lang="en-US" altLang="zh-CN" sz="2000" b="1" dirty="0">
                  <a:solidFill>
                    <a:srgbClr val="CC3300"/>
                  </a:solidFill>
                  <a:latin typeface="Times New Roman" panose="02020603050405020304" pitchFamily="18" charset="0"/>
                  <a:sym typeface="Symbol" panose="05050102010706020507" pitchFamily="18" charset="2"/>
                </a:rPr>
                <a:t> </a:t>
              </a:r>
              <a:r>
                <a:rPr kumimoji="1" lang="en-US" altLang="zh-CN" sz="2000" b="1" i="1" dirty="0">
                  <a:solidFill>
                    <a:srgbClr val="CC3300"/>
                  </a:solidFill>
                  <a:latin typeface="Times New Roman" panose="02020603050405020304" pitchFamily="18" charset="0"/>
                  <a:sym typeface="Symbol" panose="05050102010706020507" pitchFamily="18" charset="2"/>
                </a:rPr>
                <a:t>p</a:t>
              </a:r>
              <a:r>
                <a:rPr kumimoji="1" lang="en-US" altLang="zh-CN" sz="2000" b="1" baseline="-25000" dirty="0">
                  <a:solidFill>
                    <a:srgbClr val="CC3300"/>
                  </a:solidFill>
                  <a:latin typeface="Times New Roman" panose="02020603050405020304" pitchFamily="18" charset="0"/>
                  <a:sym typeface="Symbol" panose="05050102010706020507" pitchFamily="18" charset="2"/>
                </a:rPr>
                <a:t>p</a:t>
              </a:r>
            </a:p>
          </p:txBody>
        </p:sp>
      </p:grpSp>
      <p:sp>
        <p:nvSpPr>
          <p:cNvPr id="170" name="Text Box 110"/>
          <p:cNvSpPr txBox="1">
            <a:spLocks noChangeArrowheads="1"/>
          </p:cNvSpPr>
          <p:nvPr/>
        </p:nvSpPr>
        <p:spPr bwMode="auto">
          <a:xfrm>
            <a:off x="5196856" y="1378234"/>
            <a:ext cx="3773408" cy="1897955"/>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71463" indent="-271463" defTabSz="739775" eaLnBrk="1" hangingPunct="1">
              <a:lnSpc>
                <a:spcPct val="125000"/>
              </a:lnSpc>
              <a:spcBef>
                <a:spcPts val="400"/>
              </a:spcBef>
              <a:spcAft>
                <a:spcPts val="4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朗肯被动区的滑动线与水平面成</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±(45-φ/2)</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的夹角</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a:lnSpc>
                <a:spcPct val="125000"/>
              </a:lnSpc>
              <a:spcBef>
                <a:spcPts val="400"/>
              </a:spcBef>
              <a:spcAft>
                <a:spcPts val="4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竖直向应力</a:t>
            </a:r>
            <a:r>
              <a:rPr kumimoji="1" lang="en-US" altLang="zh-CN" sz="2200" b="1" i="1" dirty="0">
                <a:solidFill>
                  <a:srgbClr val="000066"/>
                </a:solidFill>
                <a:latin typeface="Times New Roman" panose="02020603050405020304" pitchFamily="18" charset="0"/>
                <a:sym typeface="Symbol" panose="05050102010706020507" pitchFamily="18" charset="2"/>
              </a:rPr>
              <a:t></a:t>
            </a:r>
            <a:r>
              <a:rPr kumimoji="1" lang="en-US" altLang="zh-CN" sz="2200" b="1" baseline="-25000" dirty="0">
                <a:solidFill>
                  <a:srgbClr val="000066"/>
                </a:solidFill>
                <a:latin typeface="Times New Roman" panose="02020603050405020304" pitchFamily="18" charset="0"/>
                <a:sym typeface="Symbol" panose="05050102010706020507" pitchFamily="18" charset="2"/>
              </a:rPr>
              <a:t>0</a:t>
            </a:r>
            <a:r>
              <a:rPr kumimoji="1" lang="en-US" altLang="zh-CN" sz="2200" b="1" i="1" dirty="0">
                <a:solidFill>
                  <a:srgbClr val="000066"/>
                </a:solidFill>
                <a:latin typeface="Times New Roman" panose="02020603050405020304" pitchFamily="18" charset="0"/>
              </a:rPr>
              <a:t>d </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为小主应力</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eaLnBrk="1" hangingPunct="1">
              <a:lnSpc>
                <a:spcPct val="125000"/>
              </a:lnSpc>
              <a:spcBef>
                <a:spcPts val="400"/>
              </a:spcBef>
              <a:spcAft>
                <a:spcPts val="400"/>
              </a:spcAft>
              <a:buClr>
                <a:srgbClr val="C00000"/>
              </a:buClr>
              <a:buSzPct val="130000"/>
              <a:buFont typeface="Arial" panose="020B0604020202020204" pitchFamily="34" charset="0"/>
              <a:buChar char="•"/>
              <a:tabLst>
                <a:tab pos="3411538" algn="l"/>
              </a:tabLst>
            </a:pP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EG</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上朗肯被动土压力：</a:t>
            </a:r>
          </a:p>
        </p:txBody>
      </p:sp>
      <p:graphicFrame>
        <p:nvGraphicFramePr>
          <p:cNvPr id="172" name="Object 40"/>
          <p:cNvGraphicFramePr>
            <a:graphicFrameLocks noChangeAspect="1"/>
          </p:cNvGraphicFramePr>
          <p:nvPr>
            <p:extLst>
              <p:ext uri="{D42A27DB-BD31-4B8C-83A1-F6EECF244321}">
                <p14:modId xmlns:p14="http://schemas.microsoft.com/office/powerpoint/2010/main" val="2331978600"/>
              </p:ext>
            </p:extLst>
          </p:nvPr>
        </p:nvGraphicFramePr>
        <p:xfrm>
          <a:off x="5657596" y="3536950"/>
          <a:ext cx="2328863" cy="481013"/>
        </p:xfrm>
        <a:graphic>
          <a:graphicData uri="http://schemas.openxmlformats.org/presentationml/2006/ole">
            <mc:AlternateContent xmlns:mc="http://schemas.openxmlformats.org/markup-compatibility/2006">
              <mc:Choice xmlns:v="urn:schemas-microsoft-com:vml" Requires="v">
                <p:oleObj spid="_x0000_s1813812" name="Equation" r:id="rId4" imgW="1295280" imgH="266400" progId="Equation.DSMT4">
                  <p:embed/>
                </p:oleObj>
              </mc:Choice>
              <mc:Fallback>
                <p:oleObj name="Equation" r:id="rId4" imgW="1295280" imgH="266400" progId="Equation.DSMT4">
                  <p:embed/>
                  <p:pic>
                    <p:nvPicPr>
                      <p:cNvPr id="172" name="Object 40"/>
                      <p:cNvPicPr>
                        <a:picLocks noChangeAspect="1" noChangeArrowheads="1"/>
                      </p:cNvPicPr>
                      <p:nvPr/>
                    </p:nvPicPr>
                    <p:blipFill>
                      <a:blip r:embed="rId5"/>
                      <a:srcRect/>
                      <a:stretch>
                        <a:fillRect/>
                      </a:stretch>
                    </p:blipFill>
                    <p:spPr bwMode="auto">
                      <a:xfrm>
                        <a:off x="5657596" y="3536950"/>
                        <a:ext cx="2328863"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3" name="Object 41"/>
          <p:cNvGraphicFramePr>
            <a:graphicFrameLocks noChangeAspect="1"/>
          </p:cNvGraphicFramePr>
          <p:nvPr>
            <p:extLst>
              <p:ext uri="{D42A27DB-BD31-4B8C-83A1-F6EECF244321}">
                <p14:modId xmlns:p14="http://schemas.microsoft.com/office/powerpoint/2010/main" val="3264706903"/>
              </p:ext>
            </p:extLst>
          </p:nvPr>
        </p:nvGraphicFramePr>
        <p:xfrm>
          <a:off x="5650992" y="4144962"/>
          <a:ext cx="2033588" cy="661988"/>
        </p:xfrm>
        <a:graphic>
          <a:graphicData uri="http://schemas.openxmlformats.org/presentationml/2006/ole">
            <mc:AlternateContent xmlns:mc="http://schemas.openxmlformats.org/markup-compatibility/2006">
              <mc:Choice xmlns:v="urn:schemas-microsoft-com:vml" Requires="v">
                <p:oleObj spid="_x0000_s1813813" name="Equation" r:id="rId6" imgW="1130040" imgH="368280" progId="Equation.DSMT4">
                  <p:embed/>
                </p:oleObj>
              </mc:Choice>
              <mc:Fallback>
                <p:oleObj name="Equation" r:id="rId6" imgW="1130040" imgH="368280" progId="Equation.DSMT4">
                  <p:embed/>
                  <p:pic>
                    <p:nvPicPr>
                      <p:cNvPr id="173" name="Object 41"/>
                      <p:cNvPicPr>
                        <a:picLocks noChangeAspect="1" noChangeArrowheads="1"/>
                      </p:cNvPicPr>
                      <p:nvPr/>
                    </p:nvPicPr>
                    <p:blipFill>
                      <a:blip r:embed="rId7"/>
                      <a:srcRect/>
                      <a:stretch>
                        <a:fillRect/>
                      </a:stretch>
                    </p:blipFill>
                    <p:spPr bwMode="auto">
                      <a:xfrm>
                        <a:off x="5650992" y="4144962"/>
                        <a:ext cx="2033588" cy="66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00" name="直接连接符 99"/>
          <p:cNvCxnSpPr/>
          <p:nvPr/>
        </p:nvCxnSpPr>
        <p:spPr bwMode="auto">
          <a:xfrm flipH="1">
            <a:off x="392431" y="2763153"/>
            <a:ext cx="416966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4" name="组合 103"/>
          <p:cNvGrpSpPr/>
          <p:nvPr/>
        </p:nvGrpSpPr>
        <p:grpSpPr>
          <a:xfrm>
            <a:off x="494901" y="2438078"/>
            <a:ext cx="4209533" cy="330659"/>
            <a:chOff x="5257555" y="3519695"/>
            <a:chExt cx="2927595" cy="288718"/>
          </a:xfrm>
        </p:grpSpPr>
        <p:sp>
          <p:nvSpPr>
            <p:cNvPr id="105" name="Line 25"/>
            <p:cNvSpPr>
              <a:spLocks noChangeShapeType="1"/>
            </p:cNvSpPr>
            <p:nvPr/>
          </p:nvSpPr>
          <p:spPr bwMode="auto">
            <a:xfrm>
              <a:off x="5540447" y="3532573"/>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07" name="直接连接符 106"/>
            <p:cNvCxnSpPr/>
            <p:nvPr/>
          </p:nvCxnSpPr>
          <p:spPr bwMode="auto">
            <a:xfrm flipH="1">
              <a:off x="5257555" y="3519695"/>
              <a:ext cx="292759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Line 25"/>
            <p:cNvSpPr>
              <a:spLocks noChangeShapeType="1"/>
            </p:cNvSpPr>
            <p:nvPr/>
          </p:nvSpPr>
          <p:spPr bwMode="auto">
            <a:xfrm>
              <a:off x="5819847" y="3525556"/>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 name="Line 25"/>
            <p:cNvSpPr>
              <a:spLocks noChangeShapeType="1"/>
            </p:cNvSpPr>
            <p:nvPr/>
          </p:nvSpPr>
          <p:spPr bwMode="auto">
            <a:xfrm>
              <a:off x="6099247" y="3525556"/>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Line 25"/>
            <p:cNvSpPr>
              <a:spLocks noChangeShapeType="1"/>
            </p:cNvSpPr>
            <p:nvPr/>
          </p:nvSpPr>
          <p:spPr bwMode="auto">
            <a:xfrm>
              <a:off x="63786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 name="Line 25"/>
            <p:cNvSpPr>
              <a:spLocks noChangeShapeType="1"/>
            </p:cNvSpPr>
            <p:nvPr/>
          </p:nvSpPr>
          <p:spPr bwMode="auto">
            <a:xfrm>
              <a:off x="66580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25"/>
            <p:cNvSpPr>
              <a:spLocks noChangeShapeType="1"/>
            </p:cNvSpPr>
            <p:nvPr/>
          </p:nvSpPr>
          <p:spPr bwMode="auto">
            <a:xfrm>
              <a:off x="69374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Line 25"/>
            <p:cNvSpPr>
              <a:spLocks noChangeShapeType="1"/>
            </p:cNvSpPr>
            <p:nvPr/>
          </p:nvSpPr>
          <p:spPr bwMode="auto">
            <a:xfrm>
              <a:off x="72168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 name="Line 25"/>
            <p:cNvSpPr>
              <a:spLocks noChangeShapeType="1"/>
            </p:cNvSpPr>
            <p:nvPr/>
          </p:nvSpPr>
          <p:spPr bwMode="auto">
            <a:xfrm>
              <a:off x="749624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25"/>
            <p:cNvSpPr>
              <a:spLocks noChangeShapeType="1"/>
            </p:cNvSpPr>
            <p:nvPr/>
          </p:nvSpPr>
          <p:spPr bwMode="auto">
            <a:xfrm>
              <a:off x="7769297" y="352789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25"/>
            <p:cNvSpPr>
              <a:spLocks noChangeShapeType="1"/>
            </p:cNvSpPr>
            <p:nvPr/>
          </p:nvSpPr>
          <p:spPr bwMode="auto">
            <a:xfrm>
              <a:off x="8042347" y="3532573"/>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3" name="Line 25"/>
            <p:cNvSpPr>
              <a:spLocks noChangeShapeType="1"/>
            </p:cNvSpPr>
            <p:nvPr/>
          </p:nvSpPr>
          <p:spPr bwMode="auto">
            <a:xfrm>
              <a:off x="5261879" y="3531425"/>
              <a:ext cx="0" cy="275840"/>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81" name="直接连接符 180"/>
          <p:cNvCxnSpPr/>
          <p:nvPr/>
        </p:nvCxnSpPr>
        <p:spPr bwMode="auto">
          <a:xfrm>
            <a:off x="515928" y="2768737"/>
            <a:ext cx="1988249" cy="110691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8" name="Text Box 21"/>
          <p:cNvSpPr txBox="1">
            <a:spLocks noChangeArrowheads="1"/>
          </p:cNvSpPr>
          <p:nvPr/>
        </p:nvSpPr>
        <p:spPr bwMode="auto">
          <a:xfrm>
            <a:off x="304308" y="2766767"/>
            <a:ext cx="37061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42" name="Text Box 21"/>
          <p:cNvSpPr txBox="1">
            <a:spLocks noChangeArrowheads="1"/>
          </p:cNvSpPr>
          <p:nvPr/>
        </p:nvSpPr>
        <p:spPr bwMode="auto">
          <a:xfrm>
            <a:off x="2078497" y="3740151"/>
            <a:ext cx="3561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43" name="Text Box 21"/>
          <p:cNvSpPr txBox="1">
            <a:spLocks noChangeArrowheads="1"/>
          </p:cNvSpPr>
          <p:nvPr/>
        </p:nvSpPr>
        <p:spPr bwMode="auto">
          <a:xfrm>
            <a:off x="4556094" y="2474025"/>
            <a:ext cx="34176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258" name="直接连接符 257"/>
          <p:cNvCxnSpPr/>
          <p:nvPr/>
        </p:nvCxnSpPr>
        <p:spPr bwMode="auto">
          <a:xfrm>
            <a:off x="1298060" y="2769022"/>
            <a:ext cx="1615494" cy="87506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3" name="直接连接符 262"/>
          <p:cNvCxnSpPr/>
          <p:nvPr/>
        </p:nvCxnSpPr>
        <p:spPr bwMode="auto">
          <a:xfrm flipH="1">
            <a:off x="2103288" y="2767138"/>
            <a:ext cx="1596755" cy="871765"/>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4" name="直接连接符 263"/>
          <p:cNvCxnSpPr/>
          <p:nvPr/>
        </p:nvCxnSpPr>
        <p:spPr bwMode="auto">
          <a:xfrm flipH="1">
            <a:off x="1710406" y="2776553"/>
            <a:ext cx="1185654" cy="64732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直接连接符 264"/>
          <p:cNvCxnSpPr/>
          <p:nvPr/>
        </p:nvCxnSpPr>
        <p:spPr bwMode="auto">
          <a:xfrm flipH="1">
            <a:off x="1303709" y="2785967"/>
            <a:ext cx="788371" cy="43042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 name="直接连接符 265"/>
          <p:cNvCxnSpPr/>
          <p:nvPr/>
        </p:nvCxnSpPr>
        <p:spPr bwMode="auto">
          <a:xfrm flipH="1">
            <a:off x="880064" y="2767135"/>
            <a:ext cx="408034" cy="22277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7" name="直接连接符 266"/>
          <p:cNvCxnSpPr/>
          <p:nvPr/>
        </p:nvCxnSpPr>
        <p:spPr bwMode="auto">
          <a:xfrm>
            <a:off x="2070033" y="2761490"/>
            <a:ext cx="1227625" cy="664964"/>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8" name="直接连接符 267"/>
          <p:cNvCxnSpPr>
            <a:stCxn id="114" idx="1"/>
          </p:cNvCxnSpPr>
          <p:nvPr/>
        </p:nvCxnSpPr>
        <p:spPr bwMode="auto">
          <a:xfrm>
            <a:off x="2910387" y="2763379"/>
            <a:ext cx="798738" cy="429289"/>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 name="直接连接符 268"/>
          <p:cNvCxnSpPr/>
          <p:nvPr/>
        </p:nvCxnSpPr>
        <p:spPr bwMode="auto">
          <a:xfrm>
            <a:off x="3715655" y="2763375"/>
            <a:ext cx="396268" cy="214645"/>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 name="直接连接符 269"/>
          <p:cNvCxnSpPr/>
          <p:nvPr/>
        </p:nvCxnSpPr>
        <p:spPr bwMode="auto">
          <a:xfrm flipH="1">
            <a:off x="2512729" y="2766853"/>
            <a:ext cx="1988249" cy="110691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1" name="Text Box 21"/>
          <p:cNvSpPr txBox="1">
            <a:spLocks noChangeArrowheads="1"/>
          </p:cNvSpPr>
          <p:nvPr/>
        </p:nvSpPr>
        <p:spPr bwMode="auto">
          <a:xfrm>
            <a:off x="887461" y="1973584"/>
            <a:ext cx="77777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q=</a:t>
            </a: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sym typeface="Symbol" panose="05050102010706020507" pitchFamily="18" charset="2"/>
              </a:rPr>
              <a:t>0</a:t>
            </a:r>
            <a:r>
              <a:rPr kumimoji="1" lang="en-US" altLang="zh-CN" sz="2000" b="1" i="1" dirty="0">
                <a:solidFill>
                  <a:srgbClr val="000066"/>
                </a:solidFill>
                <a:latin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ndParaRPr>
          </a:p>
        </p:txBody>
      </p:sp>
      <p:sp>
        <p:nvSpPr>
          <p:cNvPr id="80" name="Text Box 21"/>
          <p:cNvSpPr txBox="1">
            <a:spLocks noChangeArrowheads="1"/>
          </p:cNvSpPr>
          <p:nvPr/>
        </p:nvSpPr>
        <p:spPr bwMode="auto">
          <a:xfrm>
            <a:off x="2496388" y="2388680"/>
            <a:ext cx="38343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G</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2" name="Text Box 7"/>
          <p:cNvSpPr txBox="1">
            <a:spLocks noChangeArrowheads="1"/>
          </p:cNvSpPr>
          <p:nvPr/>
        </p:nvSpPr>
        <p:spPr bwMode="auto">
          <a:xfrm>
            <a:off x="0" y="0"/>
            <a:ext cx="56344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普朗德尔</a:t>
            </a:r>
            <a:r>
              <a:rPr lang="en-US" altLang="zh-CN" sz="1800" b="1" kern="900" spc="130" dirty="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瑞斯纳公式</a:t>
            </a:r>
          </a:p>
        </p:txBody>
      </p:sp>
      <p:sp>
        <p:nvSpPr>
          <p:cNvPr id="53" name="Text Box 3"/>
          <p:cNvSpPr txBox="1">
            <a:spLocks noChangeArrowheads="1"/>
          </p:cNvSpPr>
          <p:nvPr/>
        </p:nvSpPr>
        <p:spPr bwMode="auto">
          <a:xfrm>
            <a:off x="737558" y="585476"/>
            <a:ext cx="2789867"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Font typeface="Wingdings" pitchFamily="2" charset="2"/>
              <a:buChar char="n"/>
              <a:defRPr/>
            </a:pPr>
            <a:r>
              <a:rPr kumimoji="0" lang="zh-CN" altLang="en-US" b="1" dirty="0">
                <a:solidFill>
                  <a:srgbClr val="A50021"/>
                </a:solidFill>
                <a:latin typeface="微软雅黑" panose="020B0503020204020204" pitchFamily="34" charset="-122"/>
                <a:ea typeface="微软雅黑" panose="020B0503020204020204" pitchFamily="34" charset="-122"/>
                <a:cs typeface="Times New Roman" panose="02020603050405020304" pitchFamily="18" charset="0"/>
              </a:rPr>
              <a:t>特征线法解答</a:t>
            </a:r>
          </a:p>
        </p:txBody>
      </p:sp>
      <p:cxnSp>
        <p:nvCxnSpPr>
          <p:cNvPr id="254" name="直接连接符 253"/>
          <p:cNvCxnSpPr/>
          <p:nvPr/>
        </p:nvCxnSpPr>
        <p:spPr bwMode="auto">
          <a:xfrm>
            <a:off x="2506081" y="2097405"/>
            <a:ext cx="0" cy="2187068"/>
          </a:xfrm>
          <a:prstGeom prst="line">
            <a:avLst/>
          </a:prstGeom>
          <a:noFill/>
          <a:ln w="1905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 name="组合 4"/>
          <p:cNvGrpSpPr/>
          <p:nvPr/>
        </p:nvGrpSpPr>
        <p:grpSpPr>
          <a:xfrm>
            <a:off x="2505256" y="3168022"/>
            <a:ext cx="1264722" cy="1166803"/>
            <a:chOff x="2505256" y="3168022"/>
            <a:chExt cx="1264722" cy="1166803"/>
          </a:xfrm>
        </p:grpSpPr>
        <p:cxnSp>
          <p:nvCxnSpPr>
            <p:cNvPr id="78" name="直接箭头连接符 77"/>
            <p:cNvCxnSpPr/>
            <p:nvPr/>
          </p:nvCxnSpPr>
          <p:spPr bwMode="auto">
            <a:xfrm>
              <a:off x="2622001" y="3316599"/>
              <a:ext cx="1147977" cy="1018226"/>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 name="Rectangle 9"/>
            <p:cNvSpPr>
              <a:spLocks noChangeArrowheads="1"/>
            </p:cNvSpPr>
            <p:nvPr/>
          </p:nvSpPr>
          <p:spPr bwMode="auto">
            <a:xfrm>
              <a:off x="2505256" y="3168022"/>
              <a:ext cx="128413" cy="128413"/>
            </a:xfrm>
            <a:prstGeom prst="rect">
              <a:avLst/>
            </a:prstGeom>
            <a:solidFill>
              <a:srgbClr val="FFC000"/>
            </a:solidFill>
            <a:ln w="12700">
              <a:solidFill>
                <a:srgbClr val="C00000"/>
              </a:solidFill>
              <a:miter lim="800000"/>
              <a:headEnd/>
              <a:tailEnd/>
            </a:ln>
          </p:spPr>
          <p:txBody>
            <a:bodyPr wrap="none" anchor="ctr"/>
            <a:lstStyle/>
            <a:p>
              <a:endParaRPr lang="zh-CN" altLang="en-US"/>
            </a:p>
          </p:txBody>
        </p:sp>
      </p:grpSp>
      <p:grpSp>
        <p:nvGrpSpPr>
          <p:cNvPr id="4" name="组合 3"/>
          <p:cNvGrpSpPr/>
          <p:nvPr/>
        </p:nvGrpSpPr>
        <p:grpSpPr>
          <a:xfrm>
            <a:off x="3985028" y="2778323"/>
            <a:ext cx="1123930" cy="563650"/>
            <a:chOff x="3985028" y="2778323"/>
            <a:chExt cx="1123930" cy="563650"/>
          </a:xfrm>
        </p:grpSpPr>
        <p:sp>
          <p:nvSpPr>
            <p:cNvPr id="256" name="Rectangle 152"/>
            <p:cNvSpPr>
              <a:spLocks noChangeArrowheads="1"/>
            </p:cNvSpPr>
            <p:nvPr/>
          </p:nvSpPr>
          <p:spPr bwMode="auto">
            <a:xfrm>
              <a:off x="4044568" y="2895697"/>
              <a:ext cx="106439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000066"/>
                  </a:solidFill>
                  <a:latin typeface="Times New Roman" panose="02020603050405020304" pitchFamily="18" charset="0"/>
                  <a:ea typeface="楷体_GB2312" pitchFamily="49" charset="-122"/>
                </a:rPr>
                <a:t>45</a:t>
              </a:r>
              <a:r>
                <a:rPr kumimoji="1" lang="en-US" altLang="zh-CN" sz="2000" b="1" baseline="30000" dirty="0">
                  <a:solidFill>
                    <a:srgbClr val="000066"/>
                  </a:solidFill>
                  <a:latin typeface="Times New Roman" panose="02020603050405020304" pitchFamily="18" charset="0"/>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a:t>
              </a:r>
              <a:r>
                <a:rPr kumimoji="1" lang="en-US" altLang="zh-CN" sz="2000" b="1" i="1" dirty="0">
                  <a:solidFill>
                    <a:srgbClr val="000066"/>
                  </a:solidFill>
                  <a:latin typeface="Symbol" panose="05050102010706020507" pitchFamily="18" charset="2"/>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/2</a:t>
              </a:r>
            </a:p>
          </p:txBody>
        </p:sp>
        <p:sp>
          <p:nvSpPr>
            <p:cNvPr id="255" name="任意多边形 254"/>
            <p:cNvSpPr/>
            <p:nvPr/>
          </p:nvSpPr>
          <p:spPr bwMode="auto">
            <a:xfrm rot="11347515">
              <a:off x="3985028" y="2778323"/>
              <a:ext cx="141304" cy="209052"/>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4333"/>
                <a:gd name="connsiteY0" fmla="*/ 177679 h 177679"/>
                <a:gd name="connsiteX1" fmla="*/ 73672 w 84333"/>
                <a:gd name="connsiteY1" fmla="*/ 82340 h 177679"/>
                <a:gd name="connsiteX2" fmla="*/ 0 w 84333"/>
                <a:gd name="connsiteY2" fmla="*/ 0 h 177679"/>
                <a:gd name="connsiteX0" fmla="*/ 82339 w 83024"/>
                <a:gd name="connsiteY0" fmla="*/ 177679 h 177679"/>
                <a:gd name="connsiteX1" fmla="*/ 73672 w 83024"/>
                <a:gd name="connsiteY1" fmla="*/ 82340 h 177679"/>
                <a:gd name="connsiteX2" fmla="*/ 0 w 83024"/>
                <a:gd name="connsiteY2" fmla="*/ 0 h 177679"/>
              </a:gdLst>
              <a:ahLst/>
              <a:cxnLst>
                <a:cxn ang="0">
                  <a:pos x="connsiteX0" y="connsiteY0"/>
                </a:cxn>
                <a:cxn ang="0">
                  <a:pos x="connsiteX1" y="connsiteY1"/>
                </a:cxn>
                <a:cxn ang="0">
                  <a:pos x="connsiteX2" y="connsiteY2"/>
                </a:cxn>
              </a:cxnLst>
              <a:rect l="l" t="t" r="r" b="b"/>
              <a:pathLst>
                <a:path w="83024" h="177679">
                  <a:moveTo>
                    <a:pt x="82339" y="177679"/>
                  </a:moveTo>
                  <a:cubicBezTo>
                    <a:pt x="84867" y="144815"/>
                    <a:pt x="80049" y="111548"/>
                    <a:pt x="73672" y="82340"/>
                  </a:cubicBezTo>
                  <a:cubicBezTo>
                    <a:pt x="59949" y="52727"/>
                    <a:pt x="29974" y="26363"/>
                    <a:pt x="0" y="0"/>
                  </a:cubicBezTo>
                </a:path>
              </a:pathLst>
            </a:custGeom>
            <a:noFill/>
            <a:ln w="127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Tree>
    <p:extLst>
      <p:ext uri="{BB962C8B-B14F-4D97-AF65-F5344CB8AC3E}">
        <p14:creationId xmlns:p14="http://schemas.microsoft.com/office/powerpoint/2010/main" val="325199824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wipe(left)">
                                      <p:cBhvr>
                                        <p:cTn id="7" dur="500"/>
                                        <p:tgtEl>
                                          <p:spTgt spid="1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0">
                                            <p:txEl>
                                              <p:pRg st="0" end="0"/>
                                            </p:txEl>
                                          </p:spTgt>
                                        </p:tgtEl>
                                        <p:attrNameLst>
                                          <p:attrName>style.visibility</p:attrName>
                                        </p:attrNameLst>
                                      </p:cBhvr>
                                      <p:to>
                                        <p:strVal val="visible"/>
                                      </p:to>
                                    </p:set>
                                    <p:animEffect transition="in" filter="wipe(left)">
                                      <p:cBhvr>
                                        <p:cTn id="12" dur="500"/>
                                        <p:tgtEl>
                                          <p:spTgt spid="170">
                                            <p:txEl>
                                              <p:pRg st="0" end="0"/>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0">
                                            <p:txEl>
                                              <p:pRg st="1" end="1"/>
                                            </p:txEl>
                                          </p:spTgt>
                                        </p:tgtEl>
                                        <p:attrNameLst>
                                          <p:attrName>style.visibility</p:attrName>
                                        </p:attrNameLst>
                                      </p:cBhvr>
                                      <p:to>
                                        <p:strVal val="visible"/>
                                      </p:to>
                                    </p:set>
                                    <p:animEffect transition="in" filter="wipe(left)">
                                      <p:cBhvr>
                                        <p:cTn id="21" dur="500"/>
                                        <p:tgtEl>
                                          <p:spTgt spid="170">
                                            <p:txEl>
                                              <p:pRg st="1" end="1"/>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0">
                                            <p:txEl>
                                              <p:pRg st="2" end="2"/>
                                            </p:txEl>
                                          </p:spTgt>
                                        </p:tgtEl>
                                        <p:attrNameLst>
                                          <p:attrName>style.visibility</p:attrName>
                                        </p:attrNameLst>
                                      </p:cBhvr>
                                      <p:to>
                                        <p:strVal val="visible"/>
                                      </p:to>
                                    </p:set>
                                    <p:animEffect transition="in" filter="wipe(left)">
                                      <p:cBhvr>
                                        <p:cTn id="34" dur="500"/>
                                        <p:tgtEl>
                                          <p:spTgt spid="170">
                                            <p:txEl>
                                              <p:pRg st="2" end="2"/>
                                            </p:txEl>
                                          </p:spTgt>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72"/>
                                        </p:tgtEl>
                                        <p:attrNameLst>
                                          <p:attrName>style.visibility</p:attrName>
                                        </p:attrNameLst>
                                      </p:cBhvr>
                                      <p:to>
                                        <p:strVal val="visible"/>
                                      </p:to>
                                    </p:set>
                                    <p:animEffect transition="in" filter="wipe(left)">
                                      <p:cBhvr>
                                        <p:cTn id="38" dur="500"/>
                                        <p:tgtEl>
                                          <p:spTgt spid="172"/>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173"/>
                                        </p:tgtEl>
                                        <p:attrNameLst>
                                          <p:attrName>style.visibility</p:attrName>
                                        </p:attrNameLst>
                                      </p:cBhvr>
                                      <p:to>
                                        <p:strVal val="visible"/>
                                      </p:to>
                                    </p:set>
                                    <p:animEffect transition="in" filter="wipe(left)">
                                      <p:cBhvr>
                                        <p:cTn id="42"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autoUpdateAnimBg="0"/>
      <p:bldP spid="170"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bwMode="auto">
          <a:xfrm>
            <a:off x="1222989" y="3873500"/>
            <a:ext cx="2983733" cy="1001486"/>
          </a:xfrm>
          <a:custGeom>
            <a:avLst/>
            <a:gdLst>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2209800 w 2982686"/>
              <a:gd name="connsiteY4" fmla="*/ 789214 h 1028700"/>
              <a:gd name="connsiteX5" fmla="*/ 2982686 w 2982686"/>
              <a:gd name="connsiteY5" fmla="*/ 239486 h 1028700"/>
              <a:gd name="connsiteX6" fmla="*/ 2770415 w 2982686"/>
              <a:gd name="connsiteY6" fmla="*/ 0 h 1028700"/>
              <a:gd name="connsiteX7" fmla="*/ 0 w 2982686"/>
              <a:gd name="connsiteY7" fmla="*/ 228600 h 1028700"/>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2209800 w 2982686"/>
              <a:gd name="connsiteY4" fmla="*/ 789214 h 1028700"/>
              <a:gd name="connsiteX5" fmla="*/ 2596243 w 2982686"/>
              <a:gd name="connsiteY5" fmla="*/ 533400 h 1028700"/>
              <a:gd name="connsiteX6" fmla="*/ 2982686 w 2982686"/>
              <a:gd name="connsiteY6" fmla="*/ 239486 h 1028700"/>
              <a:gd name="connsiteX7" fmla="*/ 2770415 w 2982686"/>
              <a:gd name="connsiteY7" fmla="*/ 0 h 1028700"/>
              <a:gd name="connsiteX8" fmla="*/ 0 w 2982686"/>
              <a:gd name="connsiteY8" fmla="*/ 228600 h 1028700"/>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2182586 w 2982686"/>
              <a:gd name="connsiteY4" fmla="*/ 745672 h 1028700"/>
              <a:gd name="connsiteX5" fmla="*/ 2596243 w 2982686"/>
              <a:gd name="connsiteY5" fmla="*/ 533400 h 1028700"/>
              <a:gd name="connsiteX6" fmla="*/ 2982686 w 2982686"/>
              <a:gd name="connsiteY6" fmla="*/ 239486 h 1028700"/>
              <a:gd name="connsiteX7" fmla="*/ 2770415 w 2982686"/>
              <a:gd name="connsiteY7" fmla="*/ 0 h 1028700"/>
              <a:gd name="connsiteX8" fmla="*/ 0 w 2982686"/>
              <a:gd name="connsiteY8" fmla="*/ 228600 h 1028700"/>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1681843 w 2982686"/>
              <a:gd name="connsiteY4" fmla="*/ 903514 h 1028700"/>
              <a:gd name="connsiteX5" fmla="*/ 2182586 w 2982686"/>
              <a:gd name="connsiteY5" fmla="*/ 745672 h 1028700"/>
              <a:gd name="connsiteX6" fmla="*/ 2596243 w 2982686"/>
              <a:gd name="connsiteY6" fmla="*/ 533400 h 1028700"/>
              <a:gd name="connsiteX7" fmla="*/ 2982686 w 2982686"/>
              <a:gd name="connsiteY7" fmla="*/ 239486 h 1028700"/>
              <a:gd name="connsiteX8" fmla="*/ 2770415 w 2982686"/>
              <a:gd name="connsiteY8" fmla="*/ 0 h 1028700"/>
              <a:gd name="connsiteX9" fmla="*/ 0 w 2982686"/>
              <a:gd name="connsiteY9" fmla="*/ 228600 h 1028700"/>
              <a:gd name="connsiteX0" fmla="*/ 0 w 2982686"/>
              <a:gd name="connsiteY0" fmla="*/ 228600 h 1001486"/>
              <a:gd name="connsiteX1" fmla="*/ 21772 w 2982686"/>
              <a:gd name="connsiteY1" fmla="*/ 473529 h 1001486"/>
              <a:gd name="connsiteX2" fmla="*/ 462643 w 2982686"/>
              <a:gd name="connsiteY2" fmla="*/ 870857 h 1001486"/>
              <a:gd name="connsiteX3" fmla="*/ 1208315 w 2982686"/>
              <a:gd name="connsiteY3" fmla="*/ 1001486 h 1001486"/>
              <a:gd name="connsiteX4" fmla="*/ 1681843 w 2982686"/>
              <a:gd name="connsiteY4" fmla="*/ 903514 h 1001486"/>
              <a:gd name="connsiteX5" fmla="*/ 2182586 w 2982686"/>
              <a:gd name="connsiteY5" fmla="*/ 745672 h 1001486"/>
              <a:gd name="connsiteX6" fmla="*/ 2596243 w 2982686"/>
              <a:gd name="connsiteY6" fmla="*/ 533400 h 1001486"/>
              <a:gd name="connsiteX7" fmla="*/ 2982686 w 2982686"/>
              <a:gd name="connsiteY7" fmla="*/ 239486 h 1001486"/>
              <a:gd name="connsiteX8" fmla="*/ 2770415 w 2982686"/>
              <a:gd name="connsiteY8" fmla="*/ 0 h 1001486"/>
              <a:gd name="connsiteX9" fmla="*/ 0 w 2982686"/>
              <a:gd name="connsiteY9" fmla="*/ 228600 h 1001486"/>
              <a:gd name="connsiteX0" fmla="*/ 0 w 2982686"/>
              <a:gd name="connsiteY0" fmla="*/ 228600 h 1001486"/>
              <a:gd name="connsiteX1" fmla="*/ 21772 w 2982686"/>
              <a:gd name="connsiteY1" fmla="*/ 473529 h 1001486"/>
              <a:gd name="connsiteX2" fmla="*/ 457201 w 2982686"/>
              <a:gd name="connsiteY2" fmla="*/ 827315 h 1001486"/>
              <a:gd name="connsiteX3" fmla="*/ 1208315 w 2982686"/>
              <a:gd name="connsiteY3" fmla="*/ 1001486 h 1001486"/>
              <a:gd name="connsiteX4" fmla="*/ 1681843 w 2982686"/>
              <a:gd name="connsiteY4" fmla="*/ 903514 h 1001486"/>
              <a:gd name="connsiteX5" fmla="*/ 2182586 w 2982686"/>
              <a:gd name="connsiteY5" fmla="*/ 745672 h 1001486"/>
              <a:gd name="connsiteX6" fmla="*/ 2596243 w 2982686"/>
              <a:gd name="connsiteY6" fmla="*/ 533400 h 1001486"/>
              <a:gd name="connsiteX7" fmla="*/ 2982686 w 2982686"/>
              <a:gd name="connsiteY7" fmla="*/ 239486 h 1001486"/>
              <a:gd name="connsiteX8" fmla="*/ 2770415 w 2982686"/>
              <a:gd name="connsiteY8" fmla="*/ 0 h 1001486"/>
              <a:gd name="connsiteX9" fmla="*/ 0 w 2982686"/>
              <a:gd name="connsiteY9" fmla="*/ 228600 h 1001486"/>
              <a:gd name="connsiteX0" fmla="*/ 1047 w 2983733"/>
              <a:gd name="connsiteY0" fmla="*/ 228600 h 1001486"/>
              <a:gd name="connsiteX1" fmla="*/ 1047 w 2983733"/>
              <a:gd name="connsiteY1" fmla="*/ 348343 h 1001486"/>
              <a:gd name="connsiteX2" fmla="*/ 22819 w 2983733"/>
              <a:gd name="connsiteY2" fmla="*/ 473529 h 1001486"/>
              <a:gd name="connsiteX3" fmla="*/ 458248 w 2983733"/>
              <a:gd name="connsiteY3" fmla="*/ 827315 h 1001486"/>
              <a:gd name="connsiteX4" fmla="*/ 1209362 w 2983733"/>
              <a:gd name="connsiteY4" fmla="*/ 1001486 h 1001486"/>
              <a:gd name="connsiteX5" fmla="*/ 1682890 w 2983733"/>
              <a:gd name="connsiteY5" fmla="*/ 903514 h 1001486"/>
              <a:gd name="connsiteX6" fmla="*/ 2183633 w 2983733"/>
              <a:gd name="connsiteY6" fmla="*/ 745672 h 1001486"/>
              <a:gd name="connsiteX7" fmla="*/ 2597290 w 2983733"/>
              <a:gd name="connsiteY7" fmla="*/ 533400 h 1001486"/>
              <a:gd name="connsiteX8" fmla="*/ 2983733 w 2983733"/>
              <a:gd name="connsiteY8" fmla="*/ 239486 h 1001486"/>
              <a:gd name="connsiteX9" fmla="*/ 2771462 w 2983733"/>
              <a:gd name="connsiteY9" fmla="*/ 0 h 1001486"/>
              <a:gd name="connsiteX10" fmla="*/ 1047 w 2983733"/>
              <a:gd name="connsiteY10"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458248 w 2983733"/>
              <a:gd name="connsiteY3" fmla="*/ 827315 h 1001486"/>
              <a:gd name="connsiteX4" fmla="*/ 1209362 w 2983733"/>
              <a:gd name="connsiteY4" fmla="*/ 1001486 h 1001486"/>
              <a:gd name="connsiteX5" fmla="*/ 1682890 w 2983733"/>
              <a:gd name="connsiteY5" fmla="*/ 903514 h 1001486"/>
              <a:gd name="connsiteX6" fmla="*/ 2183633 w 2983733"/>
              <a:gd name="connsiteY6" fmla="*/ 745672 h 1001486"/>
              <a:gd name="connsiteX7" fmla="*/ 2597290 w 2983733"/>
              <a:gd name="connsiteY7" fmla="*/ 533400 h 1001486"/>
              <a:gd name="connsiteX8" fmla="*/ 2983733 w 2983733"/>
              <a:gd name="connsiteY8" fmla="*/ 239486 h 1001486"/>
              <a:gd name="connsiteX9" fmla="*/ 2771462 w 2983733"/>
              <a:gd name="connsiteY9" fmla="*/ 0 h 1001486"/>
              <a:gd name="connsiteX10" fmla="*/ 1047 w 2983733"/>
              <a:gd name="connsiteY10"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273191 w 2983733"/>
              <a:gd name="connsiteY3" fmla="*/ 707571 h 1001486"/>
              <a:gd name="connsiteX4" fmla="*/ 458248 w 2983733"/>
              <a:gd name="connsiteY4" fmla="*/ 827315 h 1001486"/>
              <a:gd name="connsiteX5" fmla="*/ 1209362 w 2983733"/>
              <a:gd name="connsiteY5" fmla="*/ 1001486 h 1001486"/>
              <a:gd name="connsiteX6" fmla="*/ 1682890 w 2983733"/>
              <a:gd name="connsiteY6" fmla="*/ 903514 h 1001486"/>
              <a:gd name="connsiteX7" fmla="*/ 2183633 w 2983733"/>
              <a:gd name="connsiteY7" fmla="*/ 745672 h 1001486"/>
              <a:gd name="connsiteX8" fmla="*/ 2597290 w 2983733"/>
              <a:gd name="connsiteY8" fmla="*/ 533400 h 1001486"/>
              <a:gd name="connsiteX9" fmla="*/ 2983733 w 2983733"/>
              <a:gd name="connsiteY9" fmla="*/ 239486 h 1001486"/>
              <a:gd name="connsiteX10" fmla="*/ 2771462 w 2983733"/>
              <a:gd name="connsiteY10" fmla="*/ 0 h 1001486"/>
              <a:gd name="connsiteX11" fmla="*/ 1047 w 2983733"/>
              <a:gd name="connsiteY11"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273191 w 2983733"/>
              <a:gd name="connsiteY3" fmla="*/ 707571 h 1001486"/>
              <a:gd name="connsiteX4" fmla="*/ 458248 w 2983733"/>
              <a:gd name="connsiteY4" fmla="*/ 827315 h 1001486"/>
              <a:gd name="connsiteX5" fmla="*/ 1209362 w 2983733"/>
              <a:gd name="connsiteY5" fmla="*/ 1001486 h 1001486"/>
              <a:gd name="connsiteX6" fmla="*/ 1682890 w 2983733"/>
              <a:gd name="connsiteY6" fmla="*/ 903514 h 1001486"/>
              <a:gd name="connsiteX7" fmla="*/ 2183633 w 2983733"/>
              <a:gd name="connsiteY7" fmla="*/ 745672 h 1001486"/>
              <a:gd name="connsiteX8" fmla="*/ 2597290 w 2983733"/>
              <a:gd name="connsiteY8" fmla="*/ 533400 h 1001486"/>
              <a:gd name="connsiteX9" fmla="*/ 2983733 w 2983733"/>
              <a:gd name="connsiteY9" fmla="*/ 239486 h 1001486"/>
              <a:gd name="connsiteX10" fmla="*/ 2771462 w 2983733"/>
              <a:gd name="connsiteY10" fmla="*/ 0 h 1001486"/>
              <a:gd name="connsiteX11" fmla="*/ 1047 w 2983733"/>
              <a:gd name="connsiteY11"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273191 w 2983733"/>
              <a:gd name="connsiteY3" fmla="*/ 707571 h 1001486"/>
              <a:gd name="connsiteX4" fmla="*/ 458248 w 2983733"/>
              <a:gd name="connsiteY4" fmla="*/ 827315 h 1001486"/>
              <a:gd name="connsiteX5" fmla="*/ 801148 w 2983733"/>
              <a:gd name="connsiteY5" fmla="*/ 936171 h 1001486"/>
              <a:gd name="connsiteX6" fmla="*/ 1209362 w 2983733"/>
              <a:gd name="connsiteY6" fmla="*/ 1001486 h 1001486"/>
              <a:gd name="connsiteX7" fmla="*/ 1682890 w 2983733"/>
              <a:gd name="connsiteY7" fmla="*/ 903514 h 1001486"/>
              <a:gd name="connsiteX8" fmla="*/ 2183633 w 2983733"/>
              <a:gd name="connsiteY8" fmla="*/ 745672 h 1001486"/>
              <a:gd name="connsiteX9" fmla="*/ 2597290 w 2983733"/>
              <a:gd name="connsiteY9" fmla="*/ 533400 h 1001486"/>
              <a:gd name="connsiteX10" fmla="*/ 2983733 w 2983733"/>
              <a:gd name="connsiteY10" fmla="*/ 239486 h 1001486"/>
              <a:gd name="connsiteX11" fmla="*/ 2771462 w 2983733"/>
              <a:gd name="connsiteY11" fmla="*/ 0 h 1001486"/>
              <a:gd name="connsiteX12" fmla="*/ 1047 w 2983733"/>
              <a:gd name="connsiteY12" fmla="*/ 228600 h 10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83733" h="1001486">
                <a:moveTo>
                  <a:pt x="1047" y="228600"/>
                </a:moveTo>
                <a:cubicBezTo>
                  <a:pt x="4676" y="268514"/>
                  <a:pt x="-2582" y="308429"/>
                  <a:pt x="1047" y="348343"/>
                </a:cubicBezTo>
                <a:lnTo>
                  <a:pt x="99019" y="538843"/>
                </a:lnTo>
                <a:cubicBezTo>
                  <a:pt x="164334" y="586014"/>
                  <a:pt x="207876" y="660400"/>
                  <a:pt x="273191" y="707571"/>
                </a:cubicBezTo>
                <a:lnTo>
                  <a:pt x="458248" y="827315"/>
                </a:lnTo>
                <a:cubicBezTo>
                  <a:pt x="576177" y="849086"/>
                  <a:pt x="683219" y="914400"/>
                  <a:pt x="801148" y="936171"/>
                </a:cubicBezTo>
                <a:lnTo>
                  <a:pt x="1209362" y="1001486"/>
                </a:lnTo>
                <a:cubicBezTo>
                  <a:pt x="1376276" y="950686"/>
                  <a:pt x="1515976" y="954314"/>
                  <a:pt x="1682890" y="903514"/>
                </a:cubicBezTo>
                <a:lnTo>
                  <a:pt x="2183633" y="745672"/>
                </a:lnTo>
                <a:cubicBezTo>
                  <a:pt x="2292490" y="667658"/>
                  <a:pt x="2488433" y="611414"/>
                  <a:pt x="2597290" y="533400"/>
                </a:cubicBezTo>
                <a:lnTo>
                  <a:pt x="2983733" y="239486"/>
                </a:lnTo>
                <a:lnTo>
                  <a:pt x="2771462" y="0"/>
                </a:lnTo>
                <a:lnTo>
                  <a:pt x="1047" y="228600"/>
                </a:lnTo>
                <a:close/>
              </a:path>
            </a:pathLst>
          </a:custGeom>
          <a:solidFill>
            <a:schemeClr val="accent6">
              <a:lumMod val="20000"/>
              <a:lumOff val="8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0" name="任意多边形 89"/>
          <p:cNvSpPr/>
          <p:nvPr/>
        </p:nvSpPr>
        <p:spPr bwMode="auto">
          <a:xfrm>
            <a:off x="641652" y="2935743"/>
            <a:ext cx="3370489" cy="1570957"/>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2621432"/>
              <a:gd name="connsiteY0" fmla="*/ 538984 h 823569"/>
              <a:gd name="connsiteX1" fmla="*/ 236220 w 2621432"/>
              <a:gd name="connsiteY1" fmla="*/ 690114 h 823569"/>
              <a:gd name="connsiteX2" fmla="*/ 464820 w 2621432"/>
              <a:gd name="connsiteY2" fmla="*/ 784094 h 823569"/>
              <a:gd name="connsiteX3" fmla="*/ 711200 w 2621432"/>
              <a:gd name="connsiteY3" fmla="*/ 823464 h 823569"/>
              <a:gd name="connsiteX4" fmla="*/ 1073150 w 2621432"/>
              <a:gd name="connsiteY4" fmla="*/ 773934 h 823569"/>
              <a:gd name="connsiteX5" fmla="*/ 1479550 w 2621432"/>
              <a:gd name="connsiteY5" fmla="*/ 615184 h 823569"/>
              <a:gd name="connsiteX6" fmla="*/ 1928892 w 2621432"/>
              <a:gd name="connsiteY6" fmla="*/ 391203 h 823569"/>
              <a:gd name="connsiteX7" fmla="*/ 2252786 w 2621432"/>
              <a:gd name="connsiteY7" fmla="*/ 207599 h 823569"/>
              <a:gd name="connsiteX8" fmla="*/ 2621432 w 2621432"/>
              <a:gd name="connsiteY8" fmla="*/ 0 h 823569"/>
              <a:gd name="connsiteX0" fmla="*/ 0 w 2252786"/>
              <a:gd name="connsiteY0" fmla="*/ 331385 h 615970"/>
              <a:gd name="connsiteX1" fmla="*/ 236220 w 2252786"/>
              <a:gd name="connsiteY1" fmla="*/ 482515 h 615970"/>
              <a:gd name="connsiteX2" fmla="*/ 464820 w 2252786"/>
              <a:gd name="connsiteY2" fmla="*/ 576495 h 615970"/>
              <a:gd name="connsiteX3" fmla="*/ 711200 w 2252786"/>
              <a:gd name="connsiteY3" fmla="*/ 615865 h 615970"/>
              <a:gd name="connsiteX4" fmla="*/ 1073150 w 2252786"/>
              <a:gd name="connsiteY4" fmla="*/ 566335 h 615970"/>
              <a:gd name="connsiteX5" fmla="*/ 1479550 w 2252786"/>
              <a:gd name="connsiteY5" fmla="*/ 407585 h 615970"/>
              <a:gd name="connsiteX6" fmla="*/ 1928892 w 2252786"/>
              <a:gd name="connsiteY6" fmla="*/ 183604 h 615970"/>
              <a:gd name="connsiteX7" fmla="*/ 2252786 w 2252786"/>
              <a:gd name="connsiteY7" fmla="*/ 0 h 615970"/>
              <a:gd name="connsiteX0" fmla="*/ 0 w 1928892"/>
              <a:gd name="connsiteY0" fmla="*/ 147781 h 432366"/>
              <a:gd name="connsiteX1" fmla="*/ 236220 w 1928892"/>
              <a:gd name="connsiteY1" fmla="*/ 298911 h 432366"/>
              <a:gd name="connsiteX2" fmla="*/ 464820 w 1928892"/>
              <a:gd name="connsiteY2" fmla="*/ 392891 h 432366"/>
              <a:gd name="connsiteX3" fmla="*/ 711200 w 1928892"/>
              <a:gd name="connsiteY3" fmla="*/ 432261 h 432366"/>
              <a:gd name="connsiteX4" fmla="*/ 1073150 w 1928892"/>
              <a:gd name="connsiteY4" fmla="*/ 382731 h 432366"/>
              <a:gd name="connsiteX5" fmla="*/ 1479550 w 1928892"/>
              <a:gd name="connsiteY5" fmla="*/ 223981 h 432366"/>
              <a:gd name="connsiteX6" fmla="*/ 1928892 w 1928892"/>
              <a:gd name="connsiteY6" fmla="*/ 0 h 432366"/>
              <a:gd name="connsiteX0" fmla="*/ 0 w 1510115"/>
              <a:gd name="connsiteY0" fmla="*/ 780861 h 1065446"/>
              <a:gd name="connsiteX1" fmla="*/ 236220 w 1510115"/>
              <a:gd name="connsiteY1" fmla="*/ 931991 h 1065446"/>
              <a:gd name="connsiteX2" fmla="*/ 464820 w 1510115"/>
              <a:gd name="connsiteY2" fmla="*/ 1025971 h 1065446"/>
              <a:gd name="connsiteX3" fmla="*/ 711200 w 1510115"/>
              <a:gd name="connsiteY3" fmla="*/ 1065341 h 1065446"/>
              <a:gd name="connsiteX4" fmla="*/ 1073150 w 1510115"/>
              <a:gd name="connsiteY4" fmla="*/ 1015811 h 1065446"/>
              <a:gd name="connsiteX5" fmla="*/ 1479550 w 1510115"/>
              <a:gd name="connsiteY5" fmla="*/ 857061 h 1065446"/>
              <a:gd name="connsiteX6" fmla="*/ 1341032 w 1510115"/>
              <a:gd name="connsiteY6" fmla="*/ 0 h 1065446"/>
              <a:gd name="connsiteX0" fmla="*/ 0 w 1894317"/>
              <a:gd name="connsiteY0" fmla="*/ 780861 h 1065446"/>
              <a:gd name="connsiteX1" fmla="*/ 236220 w 1894317"/>
              <a:gd name="connsiteY1" fmla="*/ 931991 h 1065446"/>
              <a:gd name="connsiteX2" fmla="*/ 464820 w 1894317"/>
              <a:gd name="connsiteY2" fmla="*/ 1025971 h 1065446"/>
              <a:gd name="connsiteX3" fmla="*/ 711200 w 1894317"/>
              <a:gd name="connsiteY3" fmla="*/ 1065341 h 1065446"/>
              <a:gd name="connsiteX4" fmla="*/ 1073150 w 1894317"/>
              <a:gd name="connsiteY4" fmla="*/ 1015811 h 1065446"/>
              <a:gd name="connsiteX5" fmla="*/ 1479550 w 1894317"/>
              <a:gd name="connsiteY5" fmla="*/ 857061 h 1065446"/>
              <a:gd name="connsiteX6" fmla="*/ 1893316 w 1894317"/>
              <a:gd name="connsiteY6" fmla="*/ 648920 h 1065446"/>
              <a:gd name="connsiteX7" fmla="*/ 1341032 w 1894317"/>
              <a:gd name="connsiteY7" fmla="*/ 0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479550 w 1893316"/>
              <a:gd name="connsiteY5" fmla="*/ 857061 h 1065446"/>
              <a:gd name="connsiteX6" fmla="*/ 1893316 w 1893316"/>
              <a:gd name="connsiteY6" fmla="*/ 648920 h 1065446"/>
              <a:gd name="connsiteX7" fmla="*/ 1341032 w 1893316"/>
              <a:gd name="connsiteY7" fmla="*/ 0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479550 w 1893316"/>
              <a:gd name="connsiteY5" fmla="*/ 857061 h 1065446"/>
              <a:gd name="connsiteX6" fmla="*/ 1893316 w 1893316"/>
              <a:gd name="connsiteY6" fmla="*/ 648920 h 1065446"/>
              <a:gd name="connsiteX7" fmla="*/ 1341032 w 1893316"/>
              <a:gd name="connsiteY7" fmla="*/ 0 h 1065446"/>
              <a:gd name="connsiteX8" fmla="*/ 0 w 1893316"/>
              <a:gd name="connsiteY8" fmla="*/ 780861 h 1065446"/>
              <a:gd name="connsiteX0" fmla="*/ 0 w 1893316"/>
              <a:gd name="connsiteY0" fmla="*/ 804582 h 1089167"/>
              <a:gd name="connsiteX1" fmla="*/ 236220 w 1893316"/>
              <a:gd name="connsiteY1" fmla="*/ 955712 h 1089167"/>
              <a:gd name="connsiteX2" fmla="*/ 464820 w 1893316"/>
              <a:gd name="connsiteY2" fmla="*/ 1049692 h 1089167"/>
              <a:gd name="connsiteX3" fmla="*/ 711200 w 1893316"/>
              <a:gd name="connsiteY3" fmla="*/ 1089062 h 1089167"/>
              <a:gd name="connsiteX4" fmla="*/ 1073150 w 1893316"/>
              <a:gd name="connsiteY4" fmla="*/ 1039532 h 1089167"/>
              <a:gd name="connsiteX5" fmla="*/ 1479550 w 1893316"/>
              <a:gd name="connsiteY5" fmla="*/ 880782 h 1089167"/>
              <a:gd name="connsiteX6" fmla="*/ 1893316 w 1893316"/>
              <a:gd name="connsiteY6" fmla="*/ 672641 h 1089167"/>
              <a:gd name="connsiteX7" fmla="*/ 1341032 w 1893316"/>
              <a:gd name="connsiteY7" fmla="*/ 23721 h 1089167"/>
              <a:gd name="connsiteX8" fmla="*/ 401056 w 1893316"/>
              <a:gd name="connsiteY8" fmla="*/ 33102 h 1089167"/>
              <a:gd name="connsiteX9" fmla="*/ 0 w 1893316"/>
              <a:gd name="connsiteY9" fmla="*/ 804582 h 1089167"/>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479550 w 1893316"/>
              <a:gd name="connsiteY5" fmla="*/ 857061 h 1065446"/>
              <a:gd name="connsiteX6" fmla="*/ 1893316 w 1893316"/>
              <a:gd name="connsiteY6" fmla="*/ 648920 h 1065446"/>
              <a:gd name="connsiteX7" fmla="*/ 1341032 w 1893316"/>
              <a:gd name="connsiteY7" fmla="*/ 0 h 1065446"/>
              <a:gd name="connsiteX8" fmla="*/ 401056 w 1893316"/>
              <a:gd name="connsiteY8" fmla="*/ 9381 h 1065446"/>
              <a:gd name="connsiteX9" fmla="*/ 0 w 1893316"/>
              <a:gd name="connsiteY9" fmla="*/ 780861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479550 w 1893316"/>
              <a:gd name="connsiteY5" fmla="*/ 857061 h 1065446"/>
              <a:gd name="connsiteX6" fmla="*/ 1893316 w 1893316"/>
              <a:gd name="connsiteY6" fmla="*/ 648920 h 1065446"/>
              <a:gd name="connsiteX7" fmla="*/ 1341032 w 1893316"/>
              <a:gd name="connsiteY7" fmla="*/ 0 h 1065446"/>
              <a:gd name="connsiteX8" fmla="*/ 401056 w 1893316"/>
              <a:gd name="connsiteY8" fmla="*/ 9381 h 1065446"/>
              <a:gd name="connsiteX9" fmla="*/ 0 w 1893316"/>
              <a:gd name="connsiteY9" fmla="*/ 780861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564453 w 1893316"/>
              <a:gd name="connsiteY5" fmla="*/ 820147 h 1065446"/>
              <a:gd name="connsiteX6" fmla="*/ 1893316 w 1893316"/>
              <a:gd name="connsiteY6" fmla="*/ 648920 h 1065446"/>
              <a:gd name="connsiteX7" fmla="*/ 1341032 w 1893316"/>
              <a:gd name="connsiteY7" fmla="*/ 0 h 1065446"/>
              <a:gd name="connsiteX8" fmla="*/ 401056 w 1893316"/>
              <a:gd name="connsiteY8" fmla="*/ 9381 h 1065446"/>
              <a:gd name="connsiteX9" fmla="*/ 0 w 1893316"/>
              <a:gd name="connsiteY9" fmla="*/ 780861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564453 w 1893316"/>
              <a:gd name="connsiteY5" fmla="*/ 820147 h 1065446"/>
              <a:gd name="connsiteX6" fmla="*/ 1893316 w 1893316"/>
              <a:gd name="connsiteY6" fmla="*/ 648920 h 1065446"/>
              <a:gd name="connsiteX7" fmla="*/ 1341032 w 1893316"/>
              <a:gd name="connsiteY7" fmla="*/ 0 h 1065446"/>
              <a:gd name="connsiteX8" fmla="*/ 401056 w 1893316"/>
              <a:gd name="connsiteY8" fmla="*/ 9381 h 1065446"/>
              <a:gd name="connsiteX9" fmla="*/ 0 w 1893316"/>
              <a:gd name="connsiteY9" fmla="*/ 780861 h 1065446"/>
              <a:gd name="connsiteX0" fmla="*/ 392601 w 2285917"/>
              <a:gd name="connsiteY0" fmla="*/ 809318 h 1093903"/>
              <a:gd name="connsiteX1" fmla="*/ 628821 w 2285917"/>
              <a:gd name="connsiteY1" fmla="*/ 960448 h 1093903"/>
              <a:gd name="connsiteX2" fmla="*/ 857421 w 2285917"/>
              <a:gd name="connsiteY2" fmla="*/ 1054428 h 1093903"/>
              <a:gd name="connsiteX3" fmla="*/ 1103801 w 2285917"/>
              <a:gd name="connsiteY3" fmla="*/ 1093798 h 1093903"/>
              <a:gd name="connsiteX4" fmla="*/ 1465751 w 2285917"/>
              <a:gd name="connsiteY4" fmla="*/ 1044268 h 1093903"/>
              <a:gd name="connsiteX5" fmla="*/ 1957054 w 2285917"/>
              <a:gd name="connsiteY5" fmla="*/ 848604 h 1093903"/>
              <a:gd name="connsiteX6" fmla="*/ 2285917 w 2285917"/>
              <a:gd name="connsiteY6" fmla="*/ 677377 h 1093903"/>
              <a:gd name="connsiteX7" fmla="*/ 1733633 w 2285917"/>
              <a:gd name="connsiteY7" fmla="*/ 28457 h 1093903"/>
              <a:gd name="connsiteX8" fmla="*/ 793657 w 2285917"/>
              <a:gd name="connsiteY8" fmla="*/ 37838 h 1093903"/>
              <a:gd name="connsiteX9" fmla="*/ 0 w 2285917"/>
              <a:gd name="connsiteY9" fmla="*/ 29533 h 1093903"/>
              <a:gd name="connsiteX10" fmla="*/ 392601 w 2285917"/>
              <a:gd name="connsiteY10" fmla="*/ 809318 h 1093903"/>
              <a:gd name="connsiteX0" fmla="*/ 392601 w 2285917"/>
              <a:gd name="connsiteY0" fmla="*/ 780861 h 1065446"/>
              <a:gd name="connsiteX1" fmla="*/ 628821 w 2285917"/>
              <a:gd name="connsiteY1" fmla="*/ 931991 h 1065446"/>
              <a:gd name="connsiteX2" fmla="*/ 857421 w 2285917"/>
              <a:gd name="connsiteY2" fmla="*/ 1025971 h 1065446"/>
              <a:gd name="connsiteX3" fmla="*/ 1103801 w 2285917"/>
              <a:gd name="connsiteY3" fmla="*/ 1065341 h 1065446"/>
              <a:gd name="connsiteX4" fmla="*/ 1465751 w 2285917"/>
              <a:gd name="connsiteY4" fmla="*/ 1015811 h 1065446"/>
              <a:gd name="connsiteX5" fmla="*/ 1957054 w 2285917"/>
              <a:gd name="connsiteY5" fmla="*/ 820147 h 1065446"/>
              <a:gd name="connsiteX6" fmla="*/ 2285917 w 2285917"/>
              <a:gd name="connsiteY6" fmla="*/ 648920 h 1065446"/>
              <a:gd name="connsiteX7" fmla="*/ 1733633 w 2285917"/>
              <a:gd name="connsiteY7" fmla="*/ 0 h 1065446"/>
              <a:gd name="connsiteX8" fmla="*/ 793657 w 2285917"/>
              <a:gd name="connsiteY8" fmla="*/ 9381 h 1065446"/>
              <a:gd name="connsiteX9" fmla="*/ 0 w 2285917"/>
              <a:gd name="connsiteY9" fmla="*/ 1076 h 1065446"/>
              <a:gd name="connsiteX10" fmla="*/ 392601 w 2285917"/>
              <a:gd name="connsiteY10" fmla="*/ 780861 h 1065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5917" h="1065446">
                <a:moveTo>
                  <a:pt x="392601" y="780861"/>
                </a:moveTo>
                <a:cubicBezTo>
                  <a:pt x="486263" y="848065"/>
                  <a:pt x="551351" y="891139"/>
                  <a:pt x="628821" y="931991"/>
                </a:cubicBezTo>
                <a:cubicBezTo>
                  <a:pt x="706291" y="972843"/>
                  <a:pt x="778258" y="1003746"/>
                  <a:pt x="857421" y="1025971"/>
                </a:cubicBezTo>
                <a:cubicBezTo>
                  <a:pt x="936584" y="1048196"/>
                  <a:pt x="1002413" y="1067034"/>
                  <a:pt x="1103801" y="1065341"/>
                </a:cubicBezTo>
                <a:cubicBezTo>
                  <a:pt x="1205189" y="1063648"/>
                  <a:pt x="1323542" y="1056677"/>
                  <a:pt x="1465751" y="1015811"/>
                </a:cubicBezTo>
                <a:lnTo>
                  <a:pt x="1957054" y="820147"/>
                </a:lnTo>
                <a:lnTo>
                  <a:pt x="2285917" y="648920"/>
                </a:lnTo>
                <a:lnTo>
                  <a:pt x="1733633" y="0"/>
                </a:lnTo>
                <a:lnTo>
                  <a:pt x="793657" y="9381"/>
                </a:lnTo>
                <a:lnTo>
                  <a:pt x="0" y="1076"/>
                </a:lnTo>
                <a:lnTo>
                  <a:pt x="392601" y="780861"/>
                </a:lnTo>
                <a:close/>
              </a:path>
            </a:pathLst>
          </a:custGeom>
          <a:solidFill>
            <a:schemeClr val="accent5">
              <a:lumMod val="90000"/>
            </a:schemeClr>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40</a:t>
            </a:fld>
            <a:endParaRPr lang="zh-CN" altLang="en-US" dirty="0">
              <a:solidFill>
                <a:srgbClr val="C00000"/>
              </a:solidFill>
            </a:endParaRPr>
          </a:p>
        </p:txBody>
      </p:sp>
      <p:sp>
        <p:nvSpPr>
          <p:cNvPr id="159" name="Text Box 2"/>
          <p:cNvSpPr txBox="1">
            <a:spLocks noChangeArrowheads="1"/>
          </p:cNvSpPr>
          <p:nvPr/>
        </p:nvSpPr>
        <p:spPr bwMode="auto">
          <a:xfrm>
            <a:off x="2495809" y="5596396"/>
            <a:ext cx="51091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普朗德尔</a:t>
            </a:r>
            <a:r>
              <a:rPr kumimoji="1" lang="en-US" altLang="zh-CN" sz="4000" b="1" dirty="0">
                <a:solidFill>
                  <a:srgbClr val="000066"/>
                </a:solidFill>
                <a:latin typeface="黑体" pitchFamily="2" charset="-122"/>
                <a:ea typeface="黑体" pitchFamily="2" charset="-122"/>
              </a:rPr>
              <a:t>-</a:t>
            </a:r>
            <a:r>
              <a:rPr kumimoji="1" lang="zh-CN" altLang="en-US" sz="4000" b="1" dirty="0">
                <a:solidFill>
                  <a:srgbClr val="000066"/>
                </a:solidFill>
                <a:latin typeface="黑体" pitchFamily="2" charset="-122"/>
                <a:ea typeface="黑体" pitchFamily="2" charset="-122"/>
              </a:rPr>
              <a:t>瑞斯纳公式</a:t>
            </a:r>
          </a:p>
        </p:txBody>
      </p:sp>
      <p:sp>
        <p:nvSpPr>
          <p:cNvPr id="166" name="Text Box 3"/>
          <p:cNvSpPr txBox="1">
            <a:spLocks noChangeArrowheads="1"/>
          </p:cNvSpPr>
          <p:nvPr/>
        </p:nvSpPr>
        <p:spPr bwMode="auto">
          <a:xfrm>
            <a:off x="1118554" y="1328892"/>
            <a:ext cx="3247209"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eaLnBrk="1" hangingPunct="1">
              <a:buClr>
                <a:srgbClr val="C00000"/>
              </a:buClr>
              <a:buSzPct val="135000"/>
              <a:buFont typeface="Wingdings" panose="05000000000000000000" pitchFamily="2" charset="2"/>
              <a:buChar char="F"/>
            </a:pPr>
            <a:r>
              <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II</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区过渡区：</a:t>
            </a:r>
          </a:p>
        </p:txBody>
      </p:sp>
      <p:sp>
        <p:nvSpPr>
          <p:cNvPr id="170" name="Text Box 110"/>
          <p:cNvSpPr txBox="1">
            <a:spLocks noChangeArrowheads="1"/>
          </p:cNvSpPr>
          <p:nvPr/>
        </p:nvSpPr>
        <p:spPr bwMode="auto">
          <a:xfrm>
            <a:off x="4396908" y="1315589"/>
            <a:ext cx="2329597" cy="355482"/>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71463" indent="-271463" defTabSz="739775" eaLnBrk="1" hangingPunct="1">
              <a:lnSpc>
                <a:spcPct val="105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两组滑动线：</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56" name="Rectangle 152"/>
          <p:cNvSpPr>
            <a:spLocks noChangeArrowheads="1"/>
          </p:cNvSpPr>
          <p:nvPr/>
        </p:nvSpPr>
        <p:spPr bwMode="auto">
          <a:xfrm>
            <a:off x="1501806" y="4007458"/>
            <a:ext cx="809883"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90</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r>
              <a:rPr kumimoji="1" lang="en-US" altLang="zh-CN" sz="1800" b="1" dirty="0">
                <a:solidFill>
                  <a:srgbClr val="000066"/>
                </a:solidFill>
                <a:latin typeface="Times New Roman" panose="02020603050405020304" pitchFamily="18" charset="0"/>
                <a:sym typeface="Symbol" panose="05050102010706020507" pitchFamily="18" charset="2"/>
              </a:rPr>
              <a:t>-</a:t>
            </a:r>
            <a:r>
              <a:rPr kumimoji="1" lang="en-US" altLang="zh-CN" sz="1800" b="1" i="1" dirty="0">
                <a:solidFill>
                  <a:srgbClr val="000066"/>
                </a:solidFill>
                <a:latin typeface="Symbol" panose="05050102010706020507" pitchFamily="18" charset="2"/>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271" name="Text Box 21"/>
          <p:cNvSpPr txBox="1">
            <a:spLocks noChangeArrowheads="1"/>
          </p:cNvSpPr>
          <p:nvPr/>
        </p:nvSpPr>
        <p:spPr bwMode="auto">
          <a:xfrm>
            <a:off x="2103309" y="2015614"/>
            <a:ext cx="77777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q=</a:t>
            </a: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sym typeface="Symbol" panose="05050102010706020507" pitchFamily="18" charset="2"/>
              </a:rPr>
              <a:t>0</a:t>
            </a:r>
            <a:r>
              <a:rPr kumimoji="1" lang="en-US" altLang="zh-CN" sz="2000" b="1" i="1" dirty="0">
                <a:solidFill>
                  <a:srgbClr val="000066"/>
                </a:solidFill>
                <a:latin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ndParaRPr>
          </a:p>
        </p:txBody>
      </p:sp>
      <p:grpSp>
        <p:nvGrpSpPr>
          <p:cNvPr id="51" name="组合 50"/>
          <p:cNvGrpSpPr/>
          <p:nvPr/>
        </p:nvGrpSpPr>
        <p:grpSpPr>
          <a:xfrm>
            <a:off x="657391" y="2136598"/>
            <a:ext cx="1161637" cy="783567"/>
            <a:chOff x="4443756" y="2848235"/>
            <a:chExt cx="817863" cy="531427"/>
          </a:xfrm>
        </p:grpSpPr>
        <p:sp>
          <p:nvSpPr>
            <p:cNvPr id="52" name="Line 25"/>
            <p:cNvSpPr>
              <a:spLocks noChangeShapeType="1"/>
            </p:cNvSpPr>
            <p:nvPr/>
          </p:nvSpPr>
          <p:spPr bwMode="auto">
            <a:xfrm>
              <a:off x="5057153"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25"/>
            <p:cNvSpPr>
              <a:spLocks noChangeShapeType="1"/>
            </p:cNvSpPr>
            <p:nvPr/>
          </p:nvSpPr>
          <p:spPr bwMode="auto">
            <a:xfrm>
              <a:off x="4443756"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25"/>
            <p:cNvSpPr>
              <a:spLocks noChangeShapeType="1"/>
            </p:cNvSpPr>
            <p:nvPr/>
          </p:nvSpPr>
          <p:spPr bwMode="auto">
            <a:xfrm>
              <a:off x="4648222"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5"/>
            <p:cNvSpPr>
              <a:spLocks noChangeShapeType="1"/>
            </p:cNvSpPr>
            <p:nvPr/>
          </p:nvSpPr>
          <p:spPr bwMode="auto">
            <a:xfrm>
              <a:off x="4852687"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25"/>
            <p:cNvSpPr>
              <a:spLocks noChangeShapeType="1"/>
            </p:cNvSpPr>
            <p:nvPr/>
          </p:nvSpPr>
          <p:spPr bwMode="auto">
            <a:xfrm>
              <a:off x="5261619"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57" name="直接连接符 56"/>
          <p:cNvCxnSpPr/>
          <p:nvPr/>
        </p:nvCxnSpPr>
        <p:spPr bwMode="auto">
          <a:xfrm flipH="1">
            <a:off x="504589" y="2930240"/>
            <a:ext cx="2701067"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Line 25"/>
          <p:cNvSpPr>
            <a:spLocks noChangeShapeType="1"/>
          </p:cNvSpPr>
          <p:nvPr/>
        </p:nvSpPr>
        <p:spPr bwMode="auto">
          <a:xfrm>
            <a:off x="2230149" y="2527680"/>
            <a:ext cx="0" cy="406715"/>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63" name="直接连接符 62"/>
          <p:cNvCxnSpPr/>
          <p:nvPr/>
        </p:nvCxnSpPr>
        <p:spPr bwMode="auto">
          <a:xfrm flipH="1">
            <a:off x="1813039" y="2508692"/>
            <a:ext cx="1392617"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Line 25"/>
          <p:cNvSpPr>
            <a:spLocks noChangeShapeType="1"/>
          </p:cNvSpPr>
          <p:nvPr/>
        </p:nvSpPr>
        <p:spPr bwMode="auto">
          <a:xfrm>
            <a:off x="2642112" y="2517334"/>
            <a:ext cx="0" cy="406715"/>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25"/>
          <p:cNvSpPr>
            <a:spLocks noChangeShapeType="1"/>
          </p:cNvSpPr>
          <p:nvPr/>
        </p:nvSpPr>
        <p:spPr bwMode="auto">
          <a:xfrm>
            <a:off x="3054076" y="2517334"/>
            <a:ext cx="0" cy="406715"/>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任意多边形 88"/>
          <p:cNvSpPr/>
          <p:nvPr/>
        </p:nvSpPr>
        <p:spPr bwMode="auto">
          <a:xfrm>
            <a:off x="641174" y="2927372"/>
            <a:ext cx="1176905" cy="1167338"/>
          </a:xfrm>
          <a:custGeom>
            <a:avLst/>
            <a:gdLst>
              <a:gd name="connsiteX0" fmla="*/ 0 w 800100"/>
              <a:gd name="connsiteY0" fmla="*/ 0 h 781050"/>
              <a:gd name="connsiteX1" fmla="*/ 406400 w 800100"/>
              <a:gd name="connsiteY1" fmla="*/ 781050 h 781050"/>
              <a:gd name="connsiteX2" fmla="*/ 800100 w 800100"/>
              <a:gd name="connsiteY2" fmla="*/ 12700 h 781050"/>
              <a:gd name="connsiteX0" fmla="*/ 0 w 788670"/>
              <a:gd name="connsiteY0" fmla="*/ 0 h 773430"/>
              <a:gd name="connsiteX1" fmla="*/ 394970 w 788670"/>
              <a:gd name="connsiteY1" fmla="*/ 773430 h 773430"/>
              <a:gd name="connsiteX2" fmla="*/ 788670 w 788670"/>
              <a:gd name="connsiteY2" fmla="*/ 5080 h 773430"/>
              <a:gd name="connsiteX0" fmla="*/ 0 w 798195"/>
              <a:gd name="connsiteY0" fmla="*/ 13970 h 787400"/>
              <a:gd name="connsiteX1" fmla="*/ 394970 w 798195"/>
              <a:gd name="connsiteY1" fmla="*/ 787400 h 787400"/>
              <a:gd name="connsiteX2" fmla="*/ 798195 w 798195"/>
              <a:gd name="connsiteY2" fmla="*/ 0 h 787400"/>
              <a:gd name="connsiteX0" fmla="*/ 0 w 809625"/>
              <a:gd name="connsiteY0" fmla="*/ 2540 h 787400"/>
              <a:gd name="connsiteX1" fmla="*/ 406400 w 809625"/>
              <a:gd name="connsiteY1" fmla="*/ 787400 h 787400"/>
              <a:gd name="connsiteX2" fmla="*/ 809625 w 809625"/>
              <a:gd name="connsiteY2" fmla="*/ 0 h 787400"/>
              <a:gd name="connsiteX0" fmla="*/ 0 w 798195"/>
              <a:gd name="connsiteY0" fmla="*/ 4445 h 787400"/>
              <a:gd name="connsiteX1" fmla="*/ 394970 w 798195"/>
              <a:gd name="connsiteY1" fmla="*/ 787400 h 787400"/>
              <a:gd name="connsiteX2" fmla="*/ 798195 w 798195"/>
              <a:gd name="connsiteY2" fmla="*/ 0 h 787400"/>
              <a:gd name="connsiteX0" fmla="*/ 0 w 798195"/>
              <a:gd name="connsiteY0" fmla="*/ 4445 h 791707"/>
              <a:gd name="connsiteX1" fmla="*/ 399277 w 798195"/>
              <a:gd name="connsiteY1" fmla="*/ 791707 h 791707"/>
              <a:gd name="connsiteX2" fmla="*/ 798195 w 798195"/>
              <a:gd name="connsiteY2" fmla="*/ 0 h 791707"/>
            </a:gdLst>
            <a:ahLst/>
            <a:cxnLst>
              <a:cxn ang="0">
                <a:pos x="connsiteX0" y="connsiteY0"/>
              </a:cxn>
              <a:cxn ang="0">
                <a:pos x="connsiteX1" y="connsiteY1"/>
              </a:cxn>
              <a:cxn ang="0">
                <a:pos x="connsiteX2" y="connsiteY2"/>
              </a:cxn>
            </a:cxnLst>
            <a:rect l="l" t="t" r="r" b="b"/>
            <a:pathLst>
              <a:path w="798195" h="791707">
                <a:moveTo>
                  <a:pt x="0" y="4445"/>
                </a:moveTo>
                <a:lnTo>
                  <a:pt x="399277" y="791707"/>
                </a:lnTo>
                <a:cubicBezTo>
                  <a:pt x="533685" y="529240"/>
                  <a:pt x="663787" y="262467"/>
                  <a:pt x="798195" y="0"/>
                </a:cubicBez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91" name="直接连接符 90"/>
          <p:cNvCxnSpPr/>
          <p:nvPr/>
        </p:nvCxnSpPr>
        <p:spPr bwMode="auto">
          <a:xfrm>
            <a:off x="1844929" y="2934395"/>
            <a:ext cx="1944958" cy="1082808"/>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 name="组合 1"/>
          <p:cNvGrpSpPr/>
          <p:nvPr/>
        </p:nvGrpSpPr>
        <p:grpSpPr>
          <a:xfrm>
            <a:off x="1818664" y="2925499"/>
            <a:ext cx="1258712" cy="1575761"/>
            <a:chOff x="1818664" y="2925499"/>
            <a:chExt cx="1258712" cy="1575761"/>
          </a:xfrm>
        </p:grpSpPr>
        <p:cxnSp>
          <p:nvCxnSpPr>
            <p:cNvPr id="102" name="直接连接符 101"/>
            <p:cNvCxnSpPr/>
            <p:nvPr/>
          </p:nvCxnSpPr>
          <p:spPr bwMode="auto">
            <a:xfrm>
              <a:off x="1818664" y="2927372"/>
              <a:ext cx="550884" cy="157388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直接连接符 102"/>
            <p:cNvCxnSpPr/>
            <p:nvPr/>
          </p:nvCxnSpPr>
          <p:spPr bwMode="auto">
            <a:xfrm>
              <a:off x="1819015" y="2927782"/>
              <a:ext cx="1258361" cy="1407757"/>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直接连接符 118"/>
            <p:cNvCxnSpPr/>
            <p:nvPr/>
          </p:nvCxnSpPr>
          <p:spPr bwMode="auto">
            <a:xfrm>
              <a:off x="1819029" y="2925499"/>
              <a:ext cx="0" cy="1496857"/>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21" name="直接连接符 120"/>
          <p:cNvCxnSpPr/>
          <p:nvPr/>
        </p:nvCxnSpPr>
        <p:spPr bwMode="auto">
          <a:xfrm>
            <a:off x="652908" y="2136598"/>
            <a:ext cx="1168061"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Text Box 21"/>
          <p:cNvSpPr txBox="1">
            <a:spLocks noChangeArrowheads="1"/>
          </p:cNvSpPr>
          <p:nvPr/>
        </p:nvSpPr>
        <p:spPr bwMode="auto">
          <a:xfrm>
            <a:off x="1788785" y="2529691"/>
            <a:ext cx="37061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8" name="Text Box 21"/>
          <p:cNvSpPr txBox="1">
            <a:spLocks noChangeArrowheads="1"/>
          </p:cNvSpPr>
          <p:nvPr/>
        </p:nvSpPr>
        <p:spPr bwMode="auto">
          <a:xfrm>
            <a:off x="230455" y="2587779"/>
            <a:ext cx="3561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9" name="Text Box 21"/>
          <p:cNvSpPr txBox="1">
            <a:spLocks noChangeArrowheads="1"/>
          </p:cNvSpPr>
          <p:nvPr/>
        </p:nvSpPr>
        <p:spPr bwMode="auto">
          <a:xfrm>
            <a:off x="778399" y="3854789"/>
            <a:ext cx="37061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1" name="Text Box 21"/>
          <p:cNvSpPr txBox="1">
            <a:spLocks noChangeArrowheads="1"/>
          </p:cNvSpPr>
          <p:nvPr/>
        </p:nvSpPr>
        <p:spPr bwMode="auto">
          <a:xfrm>
            <a:off x="3639404" y="3520305"/>
            <a:ext cx="3561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11" name="直接连接符 10"/>
          <p:cNvCxnSpPr/>
          <p:nvPr/>
        </p:nvCxnSpPr>
        <p:spPr bwMode="auto">
          <a:xfrm flipV="1">
            <a:off x="1982444" y="4500987"/>
            <a:ext cx="721337" cy="4277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直接连接符 151"/>
          <p:cNvCxnSpPr/>
          <p:nvPr/>
        </p:nvCxnSpPr>
        <p:spPr bwMode="auto">
          <a:xfrm>
            <a:off x="2368138" y="4503133"/>
            <a:ext cx="14765" cy="248989"/>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任意多边形 21"/>
          <p:cNvSpPr/>
          <p:nvPr/>
        </p:nvSpPr>
        <p:spPr bwMode="auto">
          <a:xfrm rot="18542522" flipV="1">
            <a:off x="2383037" y="4662349"/>
            <a:ext cx="44123" cy="41001"/>
          </a:xfrm>
          <a:custGeom>
            <a:avLst/>
            <a:gdLst>
              <a:gd name="connsiteX0" fmla="*/ 0 w 76200"/>
              <a:gd name="connsiteY0" fmla="*/ 24384 h 24384"/>
              <a:gd name="connsiteX1" fmla="*/ 76200 w 76200"/>
              <a:gd name="connsiteY1" fmla="*/ 0 h 24384"/>
              <a:gd name="connsiteX0" fmla="*/ 0 w 76200"/>
              <a:gd name="connsiteY0" fmla="*/ 24384 h 24384"/>
              <a:gd name="connsiteX1" fmla="*/ 37733 w 76200"/>
              <a:gd name="connsiteY1" fmla="*/ 11312 h 24384"/>
              <a:gd name="connsiteX2" fmla="*/ 76200 w 76200"/>
              <a:gd name="connsiteY2" fmla="*/ 0 h 24384"/>
              <a:gd name="connsiteX0" fmla="*/ 0 w 68098"/>
              <a:gd name="connsiteY0" fmla="*/ 24086 h 24086"/>
              <a:gd name="connsiteX1" fmla="*/ 29631 w 68098"/>
              <a:gd name="connsiteY1" fmla="*/ 11312 h 24086"/>
              <a:gd name="connsiteX2" fmla="*/ 68098 w 68098"/>
              <a:gd name="connsiteY2" fmla="*/ 0 h 24086"/>
              <a:gd name="connsiteX0" fmla="*/ 0 w 66709"/>
              <a:gd name="connsiteY0" fmla="*/ 21868 h 21868"/>
              <a:gd name="connsiteX1" fmla="*/ 29631 w 66709"/>
              <a:gd name="connsiteY1" fmla="*/ 9094 h 21868"/>
              <a:gd name="connsiteX2" fmla="*/ 66708 w 66709"/>
              <a:gd name="connsiteY2" fmla="*/ 0 h 21868"/>
            </a:gdLst>
            <a:ahLst/>
            <a:cxnLst>
              <a:cxn ang="0">
                <a:pos x="connsiteX0" y="connsiteY0"/>
              </a:cxn>
              <a:cxn ang="0">
                <a:pos x="connsiteX1" y="connsiteY1"/>
              </a:cxn>
              <a:cxn ang="0">
                <a:pos x="connsiteX2" y="connsiteY2"/>
              </a:cxn>
            </a:cxnLst>
            <a:rect l="l" t="t" r="r" b="b"/>
            <a:pathLst>
              <a:path w="66709" h="21868">
                <a:moveTo>
                  <a:pt x="0" y="21868"/>
                </a:moveTo>
                <a:cubicBezTo>
                  <a:pt x="14815" y="18151"/>
                  <a:pt x="14816" y="12811"/>
                  <a:pt x="29631" y="9094"/>
                </a:cubicBezTo>
                <a:lnTo>
                  <a:pt x="66708" y="0"/>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3" name="Rectangle 152"/>
          <p:cNvSpPr>
            <a:spLocks noChangeArrowheads="1"/>
          </p:cNvSpPr>
          <p:nvPr/>
        </p:nvSpPr>
        <p:spPr bwMode="auto">
          <a:xfrm>
            <a:off x="2056301" y="4741482"/>
            <a:ext cx="340335"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i="1" dirty="0">
                <a:solidFill>
                  <a:srgbClr val="000066"/>
                </a:solidFill>
                <a:latin typeface="Symbol" panose="05050102010706020507" pitchFamily="18" charset="2"/>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255" name="任意多边形 254"/>
          <p:cNvSpPr/>
          <p:nvPr/>
        </p:nvSpPr>
        <p:spPr bwMode="auto">
          <a:xfrm rot="15187764">
            <a:off x="2054288" y="4241195"/>
            <a:ext cx="242931" cy="269964"/>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24" name="直接连接符 23"/>
          <p:cNvCxnSpPr/>
          <p:nvPr/>
        </p:nvCxnSpPr>
        <p:spPr bwMode="auto">
          <a:xfrm flipH="1">
            <a:off x="2316519" y="4737434"/>
            <a:ext cx="103237" cy="178418"/>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1" name="Rectangle 39"/>
          <p:cNvSpPr>
            <a:spLocks noChangeArrowheads="1"/>
          </p:cNvSpPr>
          <p:nvPr/>
        </p:nvSpPr>
        <p:spPr bwMode="auto">
          <a:xfrm>
            <a:off x="1124812" y="3147995"/>
            <a:ext cx="423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nSpc>
                <a:spcPct val="100000"/>
              </a:lnSpc>
              <a:spcBef>
                <a:spcPct val="0"/>
              </a:spcBef>
              <a:spcAft>
                <a:spcPct val="0"/>
              </a:spcAft>
            </a:pPr>
            <a:r>
              <a:rPr kumimoji="1" lang="en-US" altLang="zh-CN" sz="2400" b="1" dirty="0">
                <a:solidFill>
                  <a:srgbClr val="000066"/>
                </a:solidFill>
                <a:latin typeface="Times New Roman" panose="02020603050405020304" pitchFamily="18" charset="0"/>
                <a:sym typeface="Symbol" panose="05050102010706020507" pitchFamily="18" charset="2"/>
              </a:rPr>
              <a:t>r</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p>
        </p:txBody>
      </p:sp>
      <p:sp>
        <p:nvSpPr>
          <p:cNvPr id="163" name="Rectangle 41"/>
          <p:cNvSpPr>
            <a:spLocks noChangeArrowheads="1"/>
          </p:cNvSpPr>
          <p:nvPr/>
        </p:nvSpPr>
        <p:spPr bwMode="auto">
          <a:xfrm>
            <a:off x="2088366" y="3621905"/>
            <a:ext cx="3209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nSpc>
                <a:spcPct val="100000"/>
              </a:lnSpc>
              <a:spcBef>
                <a:spcPct val="0"/>
              </a:spcBef>
              <a:spcAft>
                <a:spcPct val="0"/>
              </a:spcAft>
            </a:pPr>
            <a:r>
              <a:rPr kumimoji="1" lang="en-US" altLang="zh-CN" sz="2400" b="1" dirty="0">
                <a:solidFill>
                  <a:srgbClr val="000066"/>
                </a:solidFill>
                <a:latin typeface="Times New Roman" panose="02020603050405020304" pitchFamily="18" charset="0"/>
                <a:sym typeface="Symbol" panose="05050102010706020507" pitchFamily="18" charset="2"/>
              </a:rPr>
              <a:t>r</a:t>
            </a:r>
          </a:p>
        </p:txBody>
      </p:sp>
      <p:sp>
        <p:nvSpPr>
          <p:cNvPr id="29" name="任意多边形 28"/>
          <p:cNvSpPr/>
          <p:nvPr/>
        </p:nvSpPr>
        <p:spPr bwMode="auto">
          <a:xfrm rot="7070691">
            <a:off x="1783866" y="2942414"/>
            <a:ext cx="114300" cy="106680"/>
          </a:xfrm>
          <a:custGeom>
            <a:avLst/>
            <a:gdLst>
              <a:gd name="connsiteX0" fmla="*/ 0 w 114300"/>
              <a:gd name="connsiteY0" fmla="*/ 0 h 106680"/>
              <a:gd name="connsiteX1" fmla="*/ 114300 w 114300"/>
              <a:gd name="connsiteY1" fmla="*/ 0 h 106680"/>
              <a:gd name="connsiteX2" fmla="*/ 114300 w 114300"/>
              <a:gd name="connsiteY2" fmla="*/ 106680 h 106680"/>
            </a:gdLst>
            <a:ahLst/>
            <a:cxnLst>
              <a:cxn ang="0">
                <a:pos x="connsiteX0" y="connsiteY0"/>
              </a:cxn>
              <a:cxn ang="0">
                <a:pos x="connsiteX1" y="connsiteY1"/>
              </a:cxn>
              <a:cxn ang="0">
                <a:pos x="connsiteX2" y="connsiteY2"/>
              </a:cxn>
            </a:cxnLst>
            <a:rect l="l" t="t" r="r" b="b"/>
            <a:pathLst>
              <a:path w="114300" h="106680">
                <a:moveTo>
                  <a:pt x="0" y="0"/>
                </a:moveTo>
                <a:lnTo>
                  <a:pt x="114300" y="0"/>
                </a:lnTo>
                <a:lnTo>
                  <a:pt x="114300" y="10668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69" name="直接连接符 168"/>
          <p:cNvCxnSpPr/>
          <p:nvPr/>
        </p:nvCxnSpPr>
        <p:spPr bwMode="auto">
          <a:xfrm flipH="1">
            <a:off x="1087512" y="4094710"/>
            <a:ext cx="141051" cy="266529"/>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Text Box 45"/>
          <p:cNvSpPr txBox="1">
            <a:spLocks noChangeArrowheads="1"/>
          </p:cNvSpPr>
          <p:nvPr/>
        </p:nvSpPr>
        <p:spPr bwMode="auto">
          <a:xfrm>
            <a:off x="5035832" y="2817970"/>
            <a:ext cx="2210935" cy="58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i="1" dirty="0">
                <a:solidFill>
                  <a:srgbClr val="000066"/>
                </a:solidFill>
                <a:latin typeface="Times New Roman" panose="02020603050405020304" pitchFamily="18" charset="0"/>
                <a:sym typeface="Symbol" panose="05050102010706020507" pitchFamily="18" charset="2"/>
              </a:rPr>
              <a:t>r</a:t>
            </a:r>
            <a:r>
              <a:rPr kumimoji="1" lang="en-US" altLang="zh-CN" sz="2800" b="1" dirty="0">
                <a:solidFill>
                  <a:srgbClr val="000066"/>
                </a:solidFill>
                <a:latin typeface="Times New Roman" panose="02020603050405020304" pitchFamily="18" charset="0"/>
                <a:sym typeface="Symbol" panose="05050102010706020507" pitchFamily="18" charset="2"/>
              </a:rPr>
              <a:t>=</a:t>
            </a:r>
            <a:r>
              <a:rPr kumimoji="1" lang="en-US" altLang="zh-CN" sz="2800" b="1" i="1" dirty="0">
                <a:solidFill>
                  <a:srgbClr val="000066"/>
                </a:solidFill>
                <a:latin typeface="Times New Roman" panose="02020603050405020304" pitchFamily="18" charset="0"/>
                <a:sym typeface="Symbol" panose="05050102010706020507" pitchFamily="18" charset="2"/>
              </a:rPr>
              <a:t>r</a:t>
            </a:r>
            <a:r>
              <a:rPr kumimoji="1" lang="en-US" altLang="zh-CN" sz="2800" b="1" baseline="-25000" dirty="0">
                <a:solidFill>
                  <a:srgbClr val="000066"/>
                </a:solidFill>
                <a:latin typeface="Times New Roman" panose="02020603050405020304" pitchFamily="18" charset="0"/>
                <a:sym typeface="Symbol" panose="05050102010706020507" pitchFamily="18" charset="2"/>
              </a:rPr>
              <a:t>0</a:t>
            </a:r>
            <a:r>
              <a:rPr kumimoji="1" lang="en-US" altLang="zh-CN" sz="2800" b="1" dirty="0">
                <a:solidFill>
                  <a:srgbClr val="000066"/>
                </a:solidFill>
                <a:latin typeface="Times New Roman" panose="02020603050405020304" pitchFamily="18" charset="0"/>
                <a:sym typeface="Symbol" panose="05050102010706020507" pitchFamily="18" charset="2"/>
              </a:rPr>
              <a:t>e</a:t>
            </a:r>
            <a:r>
              <a:rPr kumimoji="1" lang="en-US" altLang="zh-CN" sz="2800" b="1" i="1" baseline="30000" dirty="0">
                <a:solidFill>
                  <a:srgbClr val="000066"/>
                </a:solidFill>
                <a:latin typeface="Times New Roman" panose="02020603050405020304" pitchFamily="18" charset="0"/>
                <a:sym typeface="Symbol" panose="05050102010706020507" pitchFamily="18" charset="2"/>
              </a:rPr>
              <a:t> </a:t>
            </a:r>
            <a:r>
              <a:rPr kumimoji="1" lang="en-US" altLang="zh-CN" sz="2800" b="1" baseline="30000" dirty="0">
                <a:solidFill>
                  <a:srgbClr val="000066"/>
                </a:solidFill>
                <a:latin typeface="Times New Roman" panose="02020603050405020304" pitchFamily="18" charset="0"/>
                <a:sym typeface="Symbol" panose="05050102010706020507" pitchFamily="18" charset="2"/>
              </a:rPr>
              <a:t>tan</a:t>
            </a:r>
            <a:r>
              <a:rPr kumimoji="1" lang="en-US" altLang="zh-CN" sz="2800" b="1" i="1" baseline="30000" dirty="0">
                <a:solidFill>
                  <a:srgbClr val="000066"/>
                </a:solidFill>
                <a:latin typeface="Times New Roman" panose="02020603050405020304" pitchFamily="18" charset="0"/>
                <a:sym typeface="Symbol" panose="05050102010706020507" pitchFamily="18" charset="2"/>
              </a:rPr>
              <a:t></a:t>
            </a:r>
            <a:endParaRPr kumimoji="1" lang="en-US" altLang="zh-CN" sz="2800" b="1" i="1" dirty="0">
              <a:solidFill>
                <a:srgbClr val="000066"/>
              </a:solidFill>
              <a:latin typeface="Times New Roman" panose="02020603050405020304" pitchFamily="18" charset="0"/>
            </a:endParaRPr>
          </a:p>
        </p:txBody>
      </p:sp>
      <p:sp>
        <p:nvSpPr>
          <p:cNvPr id="175" name="任意多边形 174"/>
          <p:cNvSpPr/>
          <p:nvPr/>
        </p:nvSpPr>
        <p:spPr bwMode="auto">
          <a:xfrm rot="8311059">
            <a:off x="1703627" y="3130917"/>
            <a:ext cx="185127" cy="205728"/>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6" name="Rectangle 152"/>
          <p:cNvSpPr>
            <a:spLocks noChangeArrowheads="1"/>
          </p:cNvSpPr>
          <p:nvPr/>
        </p:nvSpPr>
        <p:spPr bwMode="auto">
          <a:xfrm>
            <a:off x="1599845" y="3204490"/>
            <a:ext cx="408116"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i="1" dirty="0">
                <a:solidFill>
                  <a:srgbClr val="000066"/>
                </a:solidFill>
                <a:latin typeface="Symbol" panose="05050102010706020507" pitchFamily="18" charset="2"/>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grpSp>
        <p:nvGrpSpPr>
          <p:cNvPr id="7" name="组合 6"/>
          <p:cNvGrpSpPr/>
          <p:nvPr/>
        </p:nvGrpSpPr>
        <p:grpSpPr>
          <a:xfrm>
            <a:off x="1289832" y="4079830"/>
            <a:ext cx="2445736" cy="738726"/>
            <a:chOff x="1289832" y="4079830"/>
            <a:chExt cx="2445736" cy="738726"/>
          </a:xfrm>
        </p:grpSpPr>
        <p:sp>
          <p:nvSpPr>
            <p:cNvPr id="198" name="Text Box 21"/>
            <p:cNvSpPr txBox="1">
              <a:spLocks noChangeArrowheads="1"/>
            </p:cNvSpPr>
            <p:nvPr/>
          </p:nvSpPr>
          <p:spPr bwMode="auto">
            <a:xfrm>
              <a:off x="2712137" y="4335539"/>
              <a:ext cx="32092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4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177" name="直接连接符 176"/>
            <p:cNvCxnSpPr/>
            <p:nvPr/>
          </p:nvCxnSpPr>
          <p:spPr bwMode="auto">
            <a:xfrm flipV="1">
              <a:off x="3553343" y="4079830"/>
              <a:ext cx="182225" cy="100479"/>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直接连接符 179"/>
            <p:cNvCxnSpPr/>
            <p:nvPr/>
          </p:nvCxnSpPr>
          <p:spPr bwMode="auto">
            <a:xfrm flipV="1">
              <a:off x="3250440" y="4219166"/>
              <a:ext cx="204945" cy="100387"/>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直接连接符 181"/>
            <p:cNvCxnSpPr/>
            <p:nvPr/>
          </p:nvCxnSpPr>
          <p:spPr bwMode="auto">
            <a:xfrm flipV="1">
              <a:off x="2791774" y="4403433"/>
              <a:ext cx="224206" cy="84321"/>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6" name="直接连接符 185"/>
            <p:cNvCxnSpPr/>
            <p:nvPr/>
          </p:nvCxnSpPr>
          <p:spPr bwMode="auto">
            <a:xfrm flipV="1">
              <a:off x="2486402" y="4509172"/>
              <a:ext cx="232164" cy="45431"/>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8" name="直接连接符 187"/>
            <p:cNvCxnSpPr/>
            <p:nvPr/>
          </p:nvCxnSpPr>
          <p:spPr bwMode="auto">
            <a:xfrm>
              <a:off x="2050316" y="4560623"/>
              <a:ext cx="255704" cy="19919"/>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直接连接符 189"/>
            <p:cNvCxnSpPr/>
            <p:nvPr/>
          </p:nvCxnSpPr>
          <p:spPr bwMode="auto">
            <a:xfrm>
              <a:off x="1539638" y="4361239"/>
              <a:ext cx="196133" cy="84120"/>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2" name="直接连接符 191"/>
            <p:cNvCxnSpPr/>
            <p:nvPr/>
          </p:nvCxnSpPr>
          <p:spPr bwMode="auto">
            <a:xfrm>
              <a:off x="1289832" y="4217090"/>
              <a:ext cx="183694" cy="104325"/>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5" name="Text Box 110"/>
          <p:cNvSpPr txBox="1">
            <a:spLocks noChangeArrowheads="1"/>
          </p:cNvSpPr>
          <p:nvPr/>
        </p:nvSpPr>
        <p:spPr bwMode="auto">
          <a:xfrm>
            <a:off x="4396790" y="3493124"/>
            <a:ext cx="4546233" cy="355482"/>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71463" indent="-271463" defTabSz="739775" eaLnBrk="1" hangingPunct="1">
              <a:lnSpc>
                <a:spcPct val="105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在滑裂面</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CE</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上， 作用有两种力：</a:t>
            </a:r>
          </a:p>
        </p:txBody>
      </p:sp>
      <p:grpSp>
        <p:nvGrpSpPr>
          <p:cNvPr id="8" name="组合 7"/>
          <p:cNvGrpSpPr/>
          <p:nvPr/>
        </p:nvGrpSpPr>
        <p:grpSpPr>
          <a:xfrm>
            <a:off x="1821345" y="4017203"/>
            <a:ext cx="2303077" cy="1145761"/>
            <a:chOff x="1821345" y="4017203"/>
            <a:chExt cx="2303077" cy="1145761"/>
          </a:xfrm>
        </p:grpSpPr>
        <p:cxnSp>
          <p:nvCxnSpPr>
            <p:cNvPr id="151" name="直接连接符 150"/>
            <p:cNvCxnSpPr/>
            <p:nvPr/>
          </p:nvCxnSpPr>
          <p:spPr bwMode="auto">
            <a:xfrm>
              <a:off x="2373999" y="4496779"/>
              <a:ext cx="118198" cy="337695"/>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直接连接符 163"/>
            <p:cNvCxnSpPr/>
            <p:nvPr/>
          </p:nvCxnSpPr>
          <p:spPr bwMode="auto">
            <a:xfrm>
              <a:off x="3080769" y="4340286"/>
              <a:ext cx="244530" cy="266290"/>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直接连接符 164"/>
            <p:cNvCxnSpPr/>
            <p:nvPr/>
          </p:nvCxnSpPr>
          <p:spPr bwMode="auto">
            <a:xfrm>
              <a:off x="3787356" y="4017203"/>
              <a:ext cx="337066" cy="182350"/>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直接连接符 166"/>
            <p:cNvCxnSpPr/>
            <p:nvPr/>
          </p:nvCxnSpPr>
          <p:spPr bwMode="auto">
            <a:xfrm flipH="1">
              <a:off x="1821345" y="4428308"/>
              <a:ext cx="595" cy="323814"/>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Text Box 21"/>
            <p:cNvSpPr txBox="1">
              <a:spLocks noChangeArrowheads="1"/>
            </p:cNvSpPr>
            <p:nvPr/>
          </p:nvSpPr>
          <p:spPr bwMode="auto">
            <a:xfrm>
              <a:off x="2413464" y="4716688"/>
              <a:ext cx="3561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sz="20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197" name="Text Box 110"/>
          <p:cNvSpPr txBox="1">
            <a:spLocks noChangeArrowheads="1"/>
          </p:cNvSpPr>
          <p:nvPr/>
        </p:nvSpPr>
        <p:spPr bwMode="auto">
          <a:xfrm>
            <a:off x="4702820" y="4005471"/>
            <a:ext cx="3873782" cy="1117742"/>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7675" indent="-447675" defTabSz="739775" eaLnBrk="1" hangingPunct="1">
              <a:lnSpc>
                <a:spcPct val="105000"/>
              </a:lnSpc>
              <a:spcBef>
                <a:spcPts val="200"/>
              </a:spcBef>
              <a:spcAft>
                <a:spcPts val="200"/>
              </a:spcAft>
              <a:buClr>
                <a:srgbClr val="C00000"/>
              </a:buClr>
              <a:buSzPct val="130000"/>
              <a:tabLst>
                <a:tab pos="3411538" algn="l"/>
              </a:tabLst>
            </a:pPr>
            <a:r>
              <a:rPr lang="en-US" altLang="zh-CN" sz="22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2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黏聚力</a:t>
            </a:r>
            <a:r>
              <a:rPr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，沿</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CE</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面均匀分布</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7675" indent="-447675" defTabSz="739775" eaLnBrk="1" hangingPunct="1">
              <a:lnSpc>
                <a:spcPct val="105000"/>
              </a:lnSpc>
              <a:spcBef>
                <a:spcPts val="200"/>
              </a:spcBef>
              <a:spcAft>
                <a:spcPts val="200"/>
              </a:spcAft>
              <a:buClr>
                <a:srgbClr val="C00000"/>
              </a:buClr>
              <a:buSzPct val="130000"/>
              <a:tabLst>
                <a:tab pos="3411538" algn="l"/>
              </a:tabLst>
            </a:pPr>
            <a:r>
              <a:rPr lang="en-US" altLang="zh-CN" sz="22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2</a:t>
            </a:r>
            <a:r>
              <a:rPr lang="zh-CN" altLang="en-US" sz="22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正压力与摩擦力的合力</a:t>
            </a:r>
            <a:r>
              <a:rPr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R</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R</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指向</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点</a:t>
            </a:r>
          </a:p>
        </p:txBody>
      </p:sp>
      <p:grpSp>
        <p:nvGrpSpPr>
          <p:cNvPr id="4" name="组合 3"/>
          <p:cNvGrpSpPr/>
          <p:nvPr/>
        </p:nvGrpSpPr>
        <p:grpSpPr>
          <a:xfrm>
            <a:off x="1222573" y="3088412"/>
            <a:ext cx="2784198" cy="1423275"/>
            <a:chOff x="1222573" y="3088412"/>
            <a:chExt cx="2784198" cy="1423275"/>
          </a:xfrm>
        </p:grpSpPr>
        <p:sp>
          <p:nvSpPr>
            <p:cNvPr id="98" name="任意多边形 97"/>
            <p:cNvSpPr/>
            <p:nvPr/>
          </p:nvSpPr>
          <p:spPr bwMode="auto">
            <a:xfrm>
              <a:off x="1695426" y="3088412"/>
              <a:ext cx="932536" cy="236143"/>
            </a:xfrm>
            <a:custGeom>
              <a:avLst/>
              <a:gdLst>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9525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10668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8650 w 826770"/>
                <a:gd name="connsiteY4" fmla="*/ 11811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32460 w 826770"/>
                <a:gd name="connsiteY4" fmla="*/ 10287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32460 w 826770"/>
                <a:gd name="connsiteY4" fmla="*/ 102870 h 263026"/>
                <a:gd name="connsiteX5" fmla="*/ 826770 w 826770"/>
                <a:gd name="connsiteY5" fmla="*/ 0 h 263026"/>
                <a:gd name="connsiteX0" fmla="*/ 0 w 632460"/>
                <a:gd name="connsiteY0" fmla="*/ 53340 h 160156"/>
                <a:gd name="connsiteX1" fmla="*/ 76200 w 632460"/>
                <a:gd name="connsiteY1" fmla="*/ 125730 h 160156"/>
                <a:gd name="connsiteX2" fmla="*/ 213360 w 632460"/>
                <a:gd name="connsiteY2" fmla="*/ 160020 h 160156"/>
                <a:gd name="connsiteX3" fmla="*/ 388620 w 632460"/>
                <a:gd name="connsiteY3" fmla="*/ 114300 h 160156"/>
                <a:gd name="connsiteX4" fmla="*/ 632460 w 632460"/>
                <a:gd name="connsiteY4" fmla="*/ 0 h 160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460" h="160156">
                  <a:moveTo>
                    <a:pt x="0" y="53340"/>
                  </a:moveTo>
                  <a:cubicBezTo>
                    <a:pt x="20320" y="80645"/>
                    <a:pt x="40640" y="107950"/>
                    <a:pt x="76200" y="125730"/>
                  </a:cubicBezTo>
                  <a:cubicBezTo>
                    <a:pt x="111760" y="143510"/>
                    <a:pt x="161290" y="161925"/>
                    <a:pt x="213360" y="160020"/>
                  </a:cubicBezTo>
                  <a:cubicBezTo>
                    <a:pt x="265430" y="158115"/>
                    <a:pt x="318770" y="140970"/>
                    <a:pt x="388620" y="114300"/>
                  </a:cubicBezTo>
                  <a:cubicBezTo>
                    <a:pt x="458470" y="87630"/>
                    <a:pt x="559435" y="36195"/>
                    <a:pt x="632460" y="0"/>
                  </a:cubicBezTo>
                </a:path>
              </a:pathLst>
            </a:cu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9" name="任意多边形 98"/>
            <p:cNvSpPr/>
            <p:nvPr/>
          </p:nvSpPr>
          <p:spPr bwMode="auto">
            <a:xfrm>
              <a:off x="1566220" y="3352443"/>
              <a:ext cx="1561716" cy="374677"/>
            </a:xfrm>
            <a:custGeom>
              <a:avLst/>
              <a:gdLst>
                <a:gd name="connsiteX0" fmla="*/ 0 w 1558290"/>
                <a:gd name="connsiteY0" fmla="*/ 335280 h 536052"/>
                <a:gd name="connsiteX1" fmla="*/ 110490 w 1558290"/>
                <a:gd name="connsiteY1" fmla="*/ 453390 h 536052"/>
                <a:gd name="connsiteX2" fmla="*/ 285750 w 1558290"/>
                <a:gd name="connsiteY2" fmla="*/ 533400 h 536052"/>
                <a:gd name="connsiteX3" fmla="*/ 510540 w 1558290"/>
                <a:gd name="connsiteY3" fmla="*/ 506730 h 536052"/>
                <a:gd name="connsiteX4" fmla="*/ 811530 w 1558290"/>
                <a:gd name="connsiteY4" fmla="*/ 407670 h 536052"/>
                <a:gd name="connsiteX5" fmla="*/ 1055370 w 1558290"/>
                <a:gd name="connsiteY5" fmla="*/ 281940 h 536052"/>
                <a:gd name="connsiteX6" fmla="*/ 1299210 w 1558290"/>
                <a:gd name="connsiteY6" fmla="*/ 156210 h 536052"/>
                <a:gd name="connsiteX7" fmla="*/ 1558290 w 1558290"/>
                <a:gd name="connsiteY7" fmla="*/ 0 h 536052"/>
                <a:gd name="connsiteX0" fmla="*/ 0 w 1562100"/>
                <a:gd name="connsiteY0" fmla="*/ 337185 h 536052"/>
                <a:gd name="connsiteX1" fmla="*/ 114300 w 1562100"/>
                <a:gd name="connsiteY1" fmla="*/ 453390 h 536052"/>
                <a:gd name="connsiteX2" fmla="*/ 289560 w 1562100"/>
                <a:gd name="connsiteY2" fmla="*/ 533400 h 536052"/>
                <a:gd name="connsiteX3" fmla="*/ 514350 w 1562100"/>
                <a:gd name="connsiteY3" fmla="*/ 506730 h 536052"/>
                <a:gd name="connsiteX4" fmla="*/ 815340 w 1562100"/>
                <a:gd name="connsiteY4" fmla="*/ 407670 h 536052"/>
                <a:gd name="connsiteX5" fmla="*/ 1059180 w 1562100"/>
                <a:gd name="connsiteY5" fmla="*/ 281940 h 536052"/>
                <a:gd name="connsiteX6" fmla="*/ 1303020 w 1562100"/>
                <a:gd name="connsiteY6" fmla="*/ 156210 h 536052"/>
                <a:gd name="connsiteX7" fmla="*/ 1562100 w 1562100"/>
                <a:gd name="connsiteY7" fmla="*/ 0 h 536052"/>
                <a:gd name="connsiteX0" fmla="*/ 0 w 1303020"/>
                <a:gd name="connsiteY0" fmla="*/ 180975 h 379842"/>
                <a:gd name="connsiteX1" fmla="*/ 114300 w 1303020"/>
                <a:gd name="connsiteY1" fmla="*/ 297180 h 379842"/>
                <a:gd name="connsiteX2" fmla="*/ 289560 w 1303020"/>
                <a:gd name="connsiteY2" fmla="*/ 377190 h 379842"/>
                <a:gd name="connsiteX3" fmla="*/ 514350 w 1303020"/>
                <a:gd name="connsiteY3" fmla="*/ 350520 h 379842"/>
                <a:gd name="connsiteX4" fmla="*/ 815340 w 1303020"/>
                <a:gd name="connsiteY4" fmla="*/ 251460 h 379842"/>
                <a:gd name="connsiteX5" fmla="*/ 1059180 w 1303020"/>
                <a:gd name="connsiteY5" fmla="*/ 125730 h 379842"/>
                <a:gd name="connsiteX6" fmla="*/ 1303020 w 1303020"/>
                <a:gd name="connsiteY6" fmla="*/ 0 h 379842"/>
                <a:gd name="connsiteX0" fmla="*/ 0 w 1059180"/>
                <a:gd name="connsiteY0" fmla="*/ 55245 h 254112"/>
                <a:gd name="connsiteX1" fmla="*/ 114300 w 1059180"/>
                <a:gd name="connsiteY1" fmla="*/ 171450 h 254112"/>
                <a:gd name="connsiteX2" fmla="*/ 289560 w 1059180"/>
                <a:gd name="connsiteY2" fmla="*/ 251460 h 254112"/>
                <a:gd name="connsiteX3" fmla="*/ 514350 w 1059180"/>
                <a:gd name="connsiteY3" fmla="*/ 224790 h 254112"/>
                <a:gd name="connsiteX4" fmla="*/ 815340 w 1059180"/>
                <a:gd name="connsiteY4" fmla="*/ 125730 h 254112"/>
                <a:gd name="connsiteX5" fmla="*/ 1059180 w 1059180"/>
                <a:gd name="connsiteY5" fmla="*/ 0 h 254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9180" h="254112">
                  <a:moveTo>
                    <a:pt x="0" y="55245"/>
                  </a:moveTo>
                  <a:cubicBezTo>
                    <a:pt x="31432" y="97790"/>
                    <a:pt x="66040" y="138748"/>
                    <a:pt x="114300" y="171450"/>
                  </a:cubicBezTo>
                  <a:cubicBezTo>
                    <a:pt x="162560" y="204152"/>
                    <a:pt x="222885" y="242570"/>
                    <a:pt x="289560" y="251460"/>
                  </a:cubicBezTo>
                  <a:cubicBezTo>
                    <a:pt x="356235" y="260350"/>
                    <a:pt x="426720" y="245745"/>
                    <a:pt x="514350" y="224790"/>
                  </a:cubicBezTo>
                  <a:cubicBezTo>
                    <a:pt x="601980" y="203835"/>
                    <a:pt x="724535" y="163195"/>
                    <a:pt x="815340" y="125730"/>
                  </a:cubicBezTo>
                  <a:cubicBezTo>
                    <a:pt x="906145" y="88265"/>
                    <a:pt x="1059180" y="0"/>
                    <a:pt x="1059180" y="0"/>
                  </a:cubicBezTo>
                </a:path>
              </a:pathLst>
            </a:cu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01" name="任意多边形 100"/>
            <p:cNvSpPr/>
            <p:nvPr/>
          </p:nvSpPr>
          <p:spPr bwMode="auto">
            <a:xfrm>
              <a:off x="1407460" y="3610858"/>
              <a:ext cx="2242921" cy="504451"/>
            </a:xfrm>
            <a:custGeom>
              <a:avLst/>
              <a:gdLst>
                <a:gd name="connsiteX0" fmla="*/ 0 w 2381250"/>
                <a:gd name="connsiteY0" fmla="*/ 525780 h 783784"/>
                <a:gd name="connsiteX1" fmla="*/ 140970 w 2381250"/>
                <a:gd name="connsiteY1" fmla="*/ 693420 h 783784"/>
                <a:gd name="connsiteX2" fmla="*/ 369570 w 2381250"/>
                <a:gd name="connsiteY2" fmla="*/ 777240 h 783784"/>
                <a:gd name="connsiteX3" fmla="*/ 735330 w 2381250"/>
                <a:gd name="connsiteY3" fmla="*/ 765810 h 783784"/>
                <a:gd name="connsiteX4" fmla="*/ 1093470 w 2381250"/>
                <a:gd name="connsiteY4" fmla="*/ 666750 h 783784"/>
                <a:gd name="connsiteX5" fmla="*/ 1512570 w 2381250"/>
                <a:gd name="connsiteY5" fmla="*/ 461010 h 783784"/>
                <a:gd name="connsiteX6" fmla="*/ 1905000 w 2381250"/>
                <a:gd name="connsiteY6" fmla="*/ 247650 h 783784"/>
                <a:gd name="connsiteX7" fmla="*/ 2381250 w 2381250"/>
                <a:gd name="connsiteY7" fmla="*/ 0 h 783784"/>
                <a:gd name="connsiteX0" fmla="*/ 0 w 2381250"/>
                <a:gd name="connsiteY0" fmla="*/ 525780 h 783784"/>
                <a:gd name="connsiteX1" fmla="*/ 140970 w 2381250"/>
                <a:gd name="connsiteY1" fmla="*/ 693420 h 783784"/>
                <a:gd name="connsiteX2" fmla="*/ 369570 w 2381250"/>
                <a:gd name="connsiteY2" fmla="*/ 777240 h 783784"/>
                <a:gd name="connsiteX3" fmla="*/ 735330 w 2381250"/>
                <a:gd name="connsiteY3" fmla="*/ 765810 h 783784"/>
                <a:gd name="connsiteX4" fmla="*/ 1093470 w 2381250"/>
                <a:gd name="connsiteY4" fmla="*/ 666750 h 783784"/>
                <a:gd name="connsiteX5" fmla="*/ 1512570 w 2381250"/>
                <a:gd name="connsiteY5" fmla="*/ 461010 h 783784"/>
                <a:gd name="connsiteX6" fmla="*/ 1905000 w 2381250"/>
                <a:gd name="connsiteY6" fmla="*/ 247650 h 783784"/>
                <a:gd name="connsiteX7" fmla="*/ 2381250 w 2381250"/>
                <a:gd name="connsiteY7" fmla="*/ 0 h 783784"/>
                <a:gd name="connsiteX0" fmla="*/ 0 w 1905000"/>
                <a:gd name="connsiteY0" fmla="*/ 278130 h 536134"/>
                <a:gd name="connsiteX1" fmla="*/ 140970 w 1905000"/>
                <a:gd name="connsiteY1" fmla="*/ 445770 h 536134"/>
                <a:gd name="connsiteX2" fmla="*/ 369570 w 1905000"/>
                <a:gd name="connsiteY2" fmla="*/ 529590 h 536134"/>
                <a:gd name="connsiteX3" fmla="*/ 735330 w 1905000"/>
                <a:gd name="connsiteY3" fmla="*/ 518160 h 536134"/>
                <a:gd name="connsiteX4" fmla="*/ 1093470 w 1905000"/>
                <a:gd name="connsiteY4" fmla="*/ 419100 h 536134"/>
                <a:gd name="connsiteX5" fmla="*/ 1512570 w 1905000"/>
                <a:gd name="connsiteY5" fmla="*/ 213360 h 536134"/>
                <a:gd name="connsiteX6" fmla="*/ 1905000 w 1905000"/>
                <a:gd name="connsiteY6" fmla="*/ 0 h 536134"/>
                <a:gd name="connsiteX0" fmla="*/ 0 w 1512570"/>
                <a:gd name="connsiteY0" fmla="*/ 64770 h 322774"/>
                <a:gd name="connsiteX1" fmla="*/ 140970 w 1512570"/>
                <a:gd name="connsiteY1" fmla="*/ 232410 h 322774"/>
                <a:gd name="connsiteX2" fmla="*/ 369570 w 1512570"/>
                <a:gd name="connsiteY2" fmla="*/ 316230 h 322774"/>
                <a:gd name="connsiteX3" fmla="*/ 735330 w 1512570"/>
                <a:gd name="connsiteY3" fmla="*/ 304800 h 322774"/>
                <a:gd name="connsiteX4" fmla="*/ 1093470 w 1512570"/>
                <a:gd name="connsiteY4" fmla="*/ 205740 h 322774"/>
                <a:gd name="connsiteX5" fmla="*/ 1512570 w 1512570"/>
                <a:gd name="connsiteY5" fmla="*/ 0 h 322774"/>
                <a:gd name="connsiteX0" fmla="*/ 0 w 1516877"/>
                <a:gd name="connsiteY0" fmla="*/ 86304 h 322774"/>
                <a:gd name="connsiteX1" fmla="*/ 145277 w 1516877"/>
                <a:gd name="connsiteY1" fmla="*/ 232410 h 322774"/>
                <a:gd name="connsiteX2" fmla="*/ 373877 w 1516877"/>
                <a:gd name="connsiteY2" fmla="*/ 316230 h 322774"/>
                <a:gd name="connsiteX3" fmla="*/ 739637 w 1516877"/>
                <a:gd name="connsiteY3" fmla="*/ 304800 h 322774"/>
                <a:gd name="connsiteX4" fmla="*/ 1097777 w 1516877"/>
                <a:gd name="connsiteY4" fmla="*/ 205740 h 322774"/>
                <a:gd name="connsiteX5" fmla="*/ 1516877 w 1516877"/>
                <a:gd name="connsiteY5" fmla="*/ 0 h 322774"/>
                <a:gd name="connsiteX0" fmla="*/ 0 w 1516877"/>
                <a:gd name="connsiteY0" fmla="*/ 86304 h 323091"/>
                <a:gd name="connsiteX1" fmla="*/ 149584 w 1516877"/>
                <a:gd name="connsiteY1" fmla="*/ 228103 h 323091"/>
                <a:gd name="connsiteX2" fmla="*/ 373877 w 1516877"/>
                <a:gd name="connsiteY2" fmla="*/ 316230 h 323091"/>
                <a:gd name="connsiteX3" fmla="*/ 739637 w 1516877"/>
                <a:gd name="connsiteY3" fmla="*/ 304800 h 323091"/>
                <a:gd name="connsiteX4" fmla="*/ 1097777 w 1516877"/>
                <a:gd name="connsiteY4" fmla="*/ 205740 h 323091"/>
                <a:gd name="connsiteX5" fmla="*/ 1516877 w 1516877"/>
                <a:gd name="connsiteY5" fmla="*/ 0 h 323091"/>
                <a:gd name="connsiteX0" fmla="*/ 0 w 1516877"/>
                <a:gd name="connsiteY0" fmla="*/ 86304 h 324359"/>
                <a:gd name="connsiteX1" fmla="*/ 136664 w 1516877"/>
                <a:gd name="connsiteY1" fmla="*/ 210876 h 324359"/>
                <a:gd name="connsiteX2" fmla="*/ 373877 w 1516877"/>
                <a:gd name="connsiteY2" fmla="*/ 316230 h 324359"/>
                <a:gd name="connsiteX3" fmla="*/ 739637 w 1516877"/>
                <a:gd name="connsiteY3" fmla="*/ 304800 h 324359"/>
                <a:gd name="connsiteX4" fmla="*/ 1097777 w 1516877"/>
                <a:gd name="connsiteY4" fmla="*/ 205740 h 324359"/>
                <a:gd name="connsiteX5" fmla="*/ 1516877 w 1516877"/>
                <a:gd name="connsiteY5" fmla="*/ 0 h 324359"/>
                <a:gd name="connsiteX0" fmla="*/ 0 w 1516877"/>
                <a:gd name="connsiteY0" fmla="*/ 86304 h 342126"/>
                <a:gd name="connsiteX1" fmla="*/ 136664 w 1516877"/>
                <a:gd name="connsiteY1" fmla="*/ 210876 h 342126"/>
                <a:gd name="connsiteX2" fmla="*/ 373877 w 1516877"/>
                <a:gd name="connsiteY2" fmla="*/ 316230 h 342126"/>
                <a:gd name="connsiteX3" fmla="*/ 554208 w 1516877"/>
                <a:gd name="connsiteY3" fmla="*/ 341781 h 342126"/>
                <a:gd name="connsiteX4" fmla="*/ 739637 w 1516877"/>
                <a:gd name="connsiteY4" fmla="*/ 304800 h 342126"/>
                <a:gd name="connsiteX5" fmla="*/ 1097777 w 1516877"/>
                <a:gd name="connsiteY5" fmla="*/ 205740 h 342126"/>
                <a:gd name="connsiteX6" fmla="*/ 1516877 w 1516877"/>
                <a:gd name="connsiteY6" fmla="*/ 0 h 342126"/>
                <a:gd name="connsiteX0" fmla="*/ 0 w 1516877"/>
                <a:gd name="connsiteY0" fmla="*/ 86304 h 342126"/>
                <a:gd name="connsiteX1" fmla="*/ 136664 w 1516877"/>
                <a:gd name="connsiteY1" fmla="*/ 210876 h 342126"/>
                <a:gd name="connsiteX2" fmla="*/ 373877 w 1516877"/>
                <a:gd name="connsiteY2" fmla="*/ 316230 h 342126"/>
                <a:gd name="connsiteX3" fmla="*/ 554208 w 1516877"/>
                <a:gd name="connsiteY3" fmla="*/ 341781 h 342126"/>
                <a:gd name="connsiteX4" fmla="*/ 774091 w 1516877"/>
                <a:gd name="connsiteY4" fmla="*/ 317720 h 342126"/>
                <a:gd name="connsiteX5" fmla="*/ 1097777 w 1516877"/>
                <a:gd name="connsiteY5" fmla="*/ 205740 h 342126"/>
                <a:gd name="connsiteX6" fmla="*/ 1516877 w 1516877"/>
                <a:gd name="connsiteY6" fmla="*/ 0 h 342126"/>
                <a:gd name="connsiteX0" fmla="*/ 0 w 1521184"/>
                <a:gd name="connsiteY0" fmla="*/ 94917 h 342126"/>
                <a:gd name="connsiteX1" fmla="*/ 140971 w 1521184"/>
                <a:gd name="connsiteY1" fmla="*/ 210876 h 342126"/>
                <a:gd name="connsiteX2" fmla="*/ 378184 w 1521184"/>
                <a:gd name="connsiteY2" fmla="*/ 316230 h 342126"/>
                <a:gd name="connsiteX3" fmla="*/ 558515 w 1521184"/>
                <a:gd name="connsiteY3" fmla="*/ 341781 h 342126"/>
                <a:gd name="connsiteX4" fmla="*/ 778398 w 1521184"/>
                <a:gd name="connsiteY4" fmla="*/ 317720 h 342126"/>
                <a:gd name="connsiteX5" fmla="*/ 1102084 w 1521184"/>
                <a:gd name="connsiteY5" fmla="*/ 205740 h 342126"/>
                <a:gd name="connsiteX6" fmla="*/ 1521184 w 1521184"/>
                <a:gd name="connsiteY6" fmla="*/ 0 h 342126"/>
                <a:gd name="connsiteX0" fmla="*/ 0 w 1521184"/>
                <a:gd name="connsiteY0" fmla="*/ 94917 h 342126"/>
                <a:gd name="connsiteX1" fmla="*/ 140971 w 1521184"/>
                <a:gd name="connsiteY1" fmla="*/ 210876 h 342126"/>
                <a:gd name="connsiteX2" fmla="*/ 378184 w 1521184"/>
                <a:gd name="connsiteY2" fmla="*/ 316230 h 342126"/>
                <a:gd name="connsiteX3" fmla="*/ 558515 w 1521184"/>
                <a:gd name="connsiteY3" fmla="*/ 341781 h 342126"/>
                <a:gd name="connsiteX4" fmla="*/ 778398 w 1521184"/>
                <a:gd name="connsiteY4" fmla="*/ 317720 h 342126"/>
                <a:gd name="connsiteX5" fmla="*/ 1102084 w 1521184"/>
                <a:gd name="connsiteY5" fmla="*/ 205740 h 342126"/>
                <a:gd name="connsiteX6" fmla="*/ 1521184 w 1521184"/>
                <a:gd name="connsiteY6" fmla="*/ 0 h 342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184" h="342126">
                  <a:moveTo>
                    <a:pt x="0" y="94917"/>
                  </a:moveTo>
                  <a:cubicBezTo>
                    <a:pt x="56914" y="157782"/>
                    <a:pt x="77940" y="173991"/>
                    <a:pt x="140971" y="210876"/>
                  </a:cubicBezTo>
                  <a:cubicBezTo>
                    <a:pt x="204002" y="247761"/>
                    <a:pt x="308593" y="294413"/>
                    <a:pt x="378184" y="316230"/>
                  </a:cubicBezTo>
                  <a:cubicBezTo>
                    <a:pt x="447775" y="338047"/>
                    <a:pt x="497555" y="343686"/>
                    <a:pt x="558515" y="341781"/>
                  </a:cubicBezTo>
                  <a:cubicBezTo>
                    <a:pt x="619475" y="339876"/>
                    <a:pt x="687803" y="340394"/>
                    <a:pt x="778398" y="317720"/>
                  </a:cubicBezTo>
                  <a:cubicBezTo>
                    <a:pt x="868993" y="295046"/>
                    <a:pt x="978286" y="258693"/>
                    <a:pt x="1102084" y="205740"/>
                  </a:cubicBezTo>
                  <a:cubicBezTo>
                    <a:pt x="1225882" y="152787"/>
                    <a:pt x="1385929" y="69850"/>
                    <a:pt x="1521184" y="0"/>
                  </a:cubicBezTo>
                </a:path>
              </a:pathLst>
            </a:cu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4" name="任意多边形 63"/>
            <p:cNvSpPr/>
            <p:nvPr/>
          </p:nvSpPr>
          <p:spPr bwMode="auto">
            <a:xfrm>
              <a:off x="1222573" y="3895953"/>
              <a:ext cx="2784198" cy="615734"/>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2621432"/>
                <a:gd name="connsiteY0" fmla="*/ 538984 h 823569"/>
                <a:gd name="connsiteX1" fmla="*/ 236220 w 2621432"/>
                <a:gd name="connsiteY1" fmla="*/ 690114 h 823569"/>
                <a:gd name="connsiteX2" fmla="*/ 464820 w 2621432"/>
                <a:gd name="connsiteY2" fmla="*/ 784094 h 823569"/>
                <a:gd name="connsiteX3" fmla="*/ 711200 w 2621432"/>
                <a:gd name="connsiteY3" fmla="*/ 823464 h 823569"/>
                <a:gd name="connsiteX4" fmla="*/ 1073150 w 2621432"/>
                <a:gd name="connsiteY4" fmla="*/ 773934 h 823569"/>
                <a:gd name="connsiteX5" fmla="*/ 1479550 w 2621432"/>
                <a:gd name="connsiteY5" fmla="*/ 615184 h 823569"/>
                <a:gd name="connsiteX6" fmla="*/ 1928892 w 2621432"/>
                <a:gd name="connsiteY6" fmla="*/ 391203 h 823569"/>
                <a:gd name="connsiteX7" fmla="*/ 2252786 w 2621432"/>
                <a:gd name="connsiteY7" fmla="*/ 207599 h 823569"/>
                <a:gd name="connsiteX8" fmla="*/ 2621432 w 2621432"/>
                <a:gd name="connsiteY8" fmla="*/ 0 h 823569"/>
                <a:gd name="connsiteX0" fmla="*/ 0 w 2252786"/>
                <a:gd name="connsiteY0" fmla="*/ 331385 h 615970"/>
                <a:gd name="connsiteX1" fmla="*/ 236220 w 2252786"/>
                <a:gd name="connsiteY1" fmla="*/ 482515 h 615970"/>
                <a:gd name="connsiteX2" fmla="*/ 464820 w 2252786"/>
                <a:gd name="connsiteY2" fmla="*/ 576495 h 615970"/>
                <a:gd name="connsiteX3" fmla="*/ 711200 w 2252786"/>
                <a:gd name="connsiteY3" fmla="*/ 615865 h 615970"/>
                <a:gd name="connsiteX4" fmla="*/ 1073150 w 2252786"/>
                <a:gd name="connsiteY4" fmla="*/ 566335 h 615970"/>
                <a:gd name="connsiteX5" fmla="*/ 1479550 w 2252786"/>
                <a:gd name="connsiteY5" fmla="*/ 407585 h 615970"/>
                <a:gd name="connsiteX6" fmla="*/ 1928892 w 2252786"/>
                <a:gd name="connsiteY6" fmla="*/ 183604 h 615970"/>
                <a:gd name="connsiteX7" fmla="*/ 2252786 w 2252786"/>
                <a:gd name="connsiteY7" fmla="*/ 0 h 615970"/>
                <a:gd name="connsiteX0" fmla="*/ 0 w 1928892"/>
                <a:gd name="connsiteY0" fmla="*/ 147781 h 432366"/>
                <a:gd name="connsiteX1" fmla="*/ 236220 w 1928892"/>
                <a:gd name="connsiteY1" fmla="*/ 298911 h 432366"/>
                <a:gd name="connsiteX2" fmla="*/ 464820 w 1928892"/>
                <a:gd name="connsiteY2" fmla="*/ 392891 h 432366"/>
                <a:gd name="connsiteX3" fmla="*/ 711200 w 1928892"/>
                <a:gd name="connsiteY3" fmla="*/ 432261 h 432366"/>
                <a:gd name="connsiteX4" fmla="*/ 1073150 w 1928892"/>
                <a:gd name="connsiteY4" fmla="*/ 382731 h 432366"/>
                <a:gd name="connsiteX5" fmla="*/ 1479550 w 1928892"/>
                <a:gd name="connsiteY5" fmla="*/ 223981 h 432366"/>
                <a:gd name="connsiteX6" fmla="*/ 1928892 w 1928892"/>
                <a:gd name="connsiteY6" fmla="*/ 0 h 432366"/>
                <a:gd name="connsiteX0" fmla="*/ 0 w 1888286"/>
                <a:gd name="connsiteY0" fmla="*/ 133015 h 417600"/>
                <a:gd name="connsiteX1" fmla="*/ 236220 w 1888286"/>
                <a:gd name="connsiteY1" fmla="*/ 284145 h 417600"/>
                <a:gd name="connsiteX2" fmla="*/ 464820 w 1888286"/>
                <a:gd name="connsiteY2" fmla="*/ 378125 h 417600"/>
                <a:gd name="connsiteX3" fmla="*/ 711200 w 1888286"/>
                <a:gd name="connsiteY3" fmla="*/ 417495 h 417600"/>
                <a:gd name="connsiteX4" fmla="*/ 1073150 w 1888286"/>
                <a:gd name="connsiteY4" fmla="*/ 367965 h 417600"/>
                <a:gd name="connsiteX5" fmla="*/ 1479550 w 1888286"/>
                <a:gd name="connsiteY5" fmla="*/ 209215 h 417600"/>
                <a:gd name="connsiteX6" fmla="*/ 1888286 w 1888286"/>
                <a:gd name="connsiteY6" fmla="*/ 0 h 41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8286" h="417600">
                  <a:moveTo>
                    <a:pt x="0" y="133015"/>
                  </a:moveTo>
                  <a:cubicBezTo>
                    <a:pt x="93662" y="200219"/>
                    <a:pt x="158750" y="243293"/>
                    <a:pt x="236220" y="284145"/>
                  </a:cubicBezTo>
                  <a:cubicBezTo>
                    <a:pt x="313690" y="324997"/>
                    <a:pt x="385657" y="355900"/>
                    <a:pt x="464820" y="378125"/>
                  </a:cubicBezTo>
                  <a:cubicBezTo>
                    <a:pt x="543983" y="400350"/>
                    <a:pt x="609812" y="419188"/>
                    <a:pt x="711200" y="417495"/>
                  </a:cubicBezTo>
                  <a:cubicBezTo>
                    <a:pt x="812588" y="415802"/>
                    <a:pt x="945092" y="402678"/>
                    <a:pt x="1073150" y="367965"/>
                  </a:cubicBezTo>
                  <a:cubicBezTo>
                    <a:pt x="1201208" y="333252"/>
                    <a:pt x="1336926" y="273003"/>
                    <a:pt x="1479550" y="209215"/>
                  </a:cubicBezTo>
                  <a:cubicBezTo>
                    <a:pt x="1622174" y="145427"/>
                    <a:pt x="1759413" y="67931"/>
                    <a:pt x="1888286" y="0"/>
                  </a:cubicBez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67" name="Text Box 7"/>
          <p:cNvSpPr txBox="1">
            <a:spLocks noChangeArrowheads="1"/>
          </p:cNvSpPr>
          <p:nvPr/>
        </p:nvSpPr>
        <p:spPr bwMode="auto">
          <a:xfrm>
            <a:off x="0" y="0"/>
            <a:ext cx="56344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普朗德尔</a:t>
            </a:r>
            <a:r>
              <a:rPr lang="en-US" altLang="zh-CN" sz="1800" b="1" kern="900" spc="130" dirty="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瑞斯纳公式</a:t>
            </a:r>
          </a:p>
        </p:txBody>
      </p:sp>
      <p:sp>
        <p:nvSpPr>
          <p:cNvPr id="68" name="Text Box 3"/>
          <p:cNvSpPr txBox="1">
            <a:spLocks noChangeArrowheads="1"/>
          </p:cNvSpPr>
          <p:nvPr/>
        </p:nvSpPr>
        <p:spPr bwMode="auto">
          <a:xfrm>
            <a:off x="737558" y="585476"/>
            <a:ext cx="2789867"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Font typeface="Wingdings" pitchFamily="2" charset="2"/>
              <a:buChar char="n"/>
              <a:defRPr/>
            </a:pPr>
            <a:r>
              <a:rPr kumimoji="0" lang="zh-CN" altLang="en-US" b="1" dirty="0">
                <a:solidFill>
                  <a:srgbClr val="A50021"/>
                </a:solidFill>
                <a:latin typeface="微软雅黑" panose="020B0503020204020204" pitchFamily="34" charset="-122"/>
                <a:ea typeface="微软雅黑" panose="020B0503020204020204" pitchFamily="34" charset="-122"/>
                <a:cs typeface="Times New Roman" panose="02020603050405020304" pitchFamily="18" charset="0"/>
              </a:rPr>
              <a:t>特征线法解答</a:t>
            </a:r>
          </a:p>
        </p:txBody>
      </p:sp>
      <p:sp>
        <p:nvSpPr>
          <p:cNvPr id="69" name="Text Box 110"/>
          <p:cNvSpPr txBox="1">
            <a:spLocks noChangeArrowheads="1"/>
          </p:cNvSpPr>
          <p:nvPr/>
        </p:nvSpPr>
        <p:spPr bwMode="auto">
          <a:xfrm>
            <a:off x="4404356" y="1723170"/>
            <a:ext cx="4367503" cy="1117742"/>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712788" lvl="1" indent="-447675" defTabSz="739775">
              <a:lnSpc>
                <a:spcPct val="105000"/>
              </a:lnSpc>
              <a:spcBef>
                <a:spcPts val="200"/>
              </a:spcBef>
              <a:spcAft>
                <a:spcPts val="200"/>
              </a:spcAft>
              <a:buClr>
                <a:srgbClr val="C00000"/>
              </a:buClr>
              <a:buSzPct val="110000"/>
              <a:tabLst>
                <a:tab pos="3411538" algn="l"/>
              </a:tabLst>
            </a:pPr>
            <a:r>
              <a:rPr lang="en-US" altLang="zh-CN" sz="22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2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自</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点引出的射线</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712788" lvl="1" indent="-447675" defTabSz="739775">
              <a:lnSpc>
                <a:spcPct val="105000"/>
              </a:lnSpc>
              <a:spcBef>
                <a:spcPts val="200"/>
              </a:spcBef>
              <a:spcAft>
                <a:spcPts val="200"/>
              </a:spcAft>
              <a:buClr>
                <a:srgbClr val="C00000"/>
              </a:buClr>
              <a:buSzPct val="110000"/>
              <a:tabLst>
                <a:tab pos="3411538" algn="l"/>
              </a:tabLst>
            </a:pPr>
            <a:r>
              <a:rPr lang="en-US" altLang="zh-CN" sz="22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2</a:t>
            </a:r>
            <a:r>
              <a:rPr lang="zh-CN" altLang="en-US" sz="2200" b="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连接</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Ⅰ</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Ⅲ</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区滑动线的对数螺旋线：</a:t>
            </a:r>
          </a:p>
        </p:txBody>
      </p:sp>
    </p:spTree>
    <p:extLst>
      <p:ext uri="{BB962C8B-B14F-4D97-AF65-F5344CB8AC3E}">
        <p14:creationId xmlns:p14="http://schemas.microsoft.com/office/powerpoint/2010/main" val="282869229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wipe(left)">
                                      <p:cBhvr>
                                        <p:cTn id="7" dur="500"/>
                                        <p:tgtEl>
                                          <p:spTgt spid="16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70"/>
                                        </p:tgtEl>
                                        <p:attrNameLst>
                                          <p:attrName>style.visibility</p:attrName>
                                        </p:attrNameLst>
                                      </p:cBhvr>
                                      <p:to>
                                        <p:strVal val="visible"/>
                                      </p:to>
                                    </p:set>
                                    <p:animEffect transition="in" filter="wipe(down)">
                                      <p:cBhvr>
                                        <p:cTn id="11" dur="500"/>
                                        <p:tgtEl>
                                          <p:spTgt spid="17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wipe(left)">
                                      <p:cBhvr>
                                        <p:cTn id="16" dur="500"/>
                                        <p:tgtEl>
                                          <p:spTgt spid="69">
                                            <p:txEl>
                                              <p:pRg st="0" end="0"/>
                                            </p:txEl>
                                          </p:spTgt>
                                        </p:tgtEl>
                                      </p:cBhvr>
                                    </p:animEffect>
                                  </p:childTnLst>
                                </p:cTn>
                              </p:par>
                            </p:childTnLst>
                          </p:cTn>
                        </p:par>
                        <p:par>
                          <p:cTn id="17" fill="hold">
                            <p:stCondLst>
                              <p:cond delay="500"/>
                            </p:stCondLst>
                            <p:childTnLst>
                              <p:par>
                                <p:cTn id="18" presetID="35" presetClass="emph" presetSubtype="0" repeatCount="4000" fill="hold" nodeType="afterEffect">
                                  <p:stCondLst>
                                    <p:cond delay="0"/>
                                  </p:stCondLst>
                                  <p:childTnLst>
                                    <p:anim calcmode="discrete" valueType="str">
                                      <p:cBhvr>
                                        <p:cTn id="19"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9">
                                            <p:txEl>
                                              <p:pRg st="1" end="1"/>
                                            </p:txEl>
                                          </p:spTgt>
                                        </p:tgtEl>
                                        <p:attrNameLst>
                                          <p:attrName>style.visibility</p:attrName>
                                        </p:attrNameLst>
                                      </p:cBhvr>
                                      <p:to>
                                        <p:strVal val="visible"/>
                                      </p:to>
                                    </p:set>
                                    <p:animEffect transition="in" filter="wipe(left)">
                                      <p:cBhvr>
                                        <p:cTn id="24" dur="500"/>
                                        <p:tgtEl>
                                          <p:spTgt spid="69">
                                            <p:txEl>
                                              <p:pRg st="1" end="1"/>
                                            </p:txEl>
                                          </p:spTgt>
                                        </p:tgtEl>
                                      </p:cBhvr>
                                    </p:animEffect>
                                  </p:childTnLst>
                                </p:cTn>
                              </p:par>
                            </p:childTnLst>
                          </p:cTn>
                        </p:par>
                        <p:par>
                          <p:cTn id="25" fill="hold">
                            <p:stCondLst>
                              <p:cond delay="500"/>
                            </p:stCondLst>
                            <p:childTnLst>
                              <p:par>
                                <p:cTn id="26" presetID="35" presetClass="emph" presetSubtype="0" repeatCount="4000" fill="hold" nodeType="afterEffect">
                                  <p:stCondLst>
                                    <p:cond delay="0"/>
                                  </p:stCondLst>
                                  <p:childTnLst>
                                    <p:anim calcmode="discrete" valueType="str">
                                      <p:cBhvr>
                                        <p:cTn id="27" dur="1000" fill="hold"/>
                                        <p:tgtEl>
                                          <p:spTgt spid="4"/>
                                        </p:tgtEl>
                                        <p:attrNameLst>
                                          <p:attrName>style.visibility</p:attrName>
                                        </p:attrNameLst>
                                      </p:cBhvr>
                                      <p:tavLst>
                                        <p:tav tm="0">
                                          <p:val>
                                            <p:strVal val="hidden"/>
                                          </p:val>
                                        </p:tav>
                                        <p:tav tm="50000">
                                          <p:val>
                                            <p:strVal val="visible"/>
                                          </p:val>
                                        </p:tav>
                                      </p:tavLst>
                                    </p:anim>
                                  </p:childTnLst>
                                </p:cTn>
                              </p:par>
                              <p:par>
                                <p:cTn id="28" presetID="9" presetClass="entr" presetSubtype="0" fill="hold" grpId="0" nodeType="withEffect">
                                  <p:stCondLst>
                                    <p:cond delay="0"/>
                                  </p:stCondLst>
                                  <p:childTnLst>
                                    <p:set>
                                      <p:cBhvr>
                                        <p:cTn id="29" dur="1" fill="hold">
                                          <p:stCondLst>
                                            <p:cond delay="0"/>
                                          </p:stCondLst>
                                        </p:cTn>
                                        <p:tgtEl>
                                          <p:spTgt spid="174">
                                            <p:txEl>
                                              <p:pRg st="0" end="0"/>
                                            </p:txEl>
                                          </p:spTgt>
                                        </p:tgtEl>
                                        <p:attrNameLst>
                                          <p:attrName>style.visibility</p:attrName>
                                        </p:attrNameLst>
                                      </p:cBhvr>
                                      <p:to>
                                        <p:strVal val="visible"/>
                                      </p:to>
                                    </p:set>
                                    <p:animEffect transition="in" filter="dissolve">
                                      <p:cBhvr>
                                        <p:cTn id="30" dur="500"/>
                                        <p:tgtEl>
                                          <p:spTgt spid="174">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95"/>
                                        </p:tgtEl>
                                        <p:attrNameLst>
                                          <p:attrName>style.visibility</p:attrName>
                                        </p:attrNameLst>
                                      </p:cBhvr>
                                      <p:to>
                                        <p:strVal val="visible"/>
                                      </p:to>
                                    </p:set>
                                    <p:animEffect transition="in" filter="wipe(down)">
                                      <p:cBhvr>
                                        <p:cTn id="35" dur="500"/>
                                        <p:tgtEl>
                                          <p:spTgt spid="195"/>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97">
                                            <p:txEl>
                                              <p:pRg st="0" end="0"/>
                                            </p:txEl>
                                          </p:spTgt>
                                        </p:tgtEl>
                                        <p:attrNameLst>
                                          <p:attrName>style.visibility</p:attrName>
                                        </p:attrNameLst>
                                      </p:cBhvr>
                                      <p:to>
                                        <p:strVal val="visible"/>
                                      </p:to>
                                    </p:set>
                                    <p:animEffect transition="in" filter="wipe(left)">
                                      <p:cBhvr>
                                        <p:cTn id="39" dur="500"/>
                                        <p:tgtEl>
                                          <p:spTgt spid="197">
                                            <p:txEl>
                                              <p:pRg st="0" end="0"/>
                                            </p:txEl>
                                          </p:spTgt>
                                        </p:tgtEl>
                                      </p:cBhvr>
                                    </p:animEffect>
                                  </p:childTnLst>
                                </p:cTn>
                              </p:par>
                            </p:childTnLst>
                          </p:cTn>
                        </p:par>
                        <p:par>
                          <p:cTn id="40" fill="hold">
                            <p:stCondLst>
                              <p:cond delay="1000"/>
                            </p:stCondLst>
                            <p:childTnLst>
                              <p:par>
                                <p:cTn id="41" presetID="35" presetClass="emph" presetSubtype="0" repeatCount="4000" fill="hold" nodeType="afterEffect">
                                  <p:stCondLst>
                                    <p:cond delay="0"/>
                                  </p:stCondLst>
                                  <p:childTnLst>
                                    <p:anim calcmode="discrete" valueType="str">
                                      <p:cBhvr>
                                        <p:cTn id="42"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7">
                                            <p:txEl>
                                              <p:pRg st="1" end="1"/>
                                            </p:txEl>
                                          </p:spTgt>
                                        </p:tgtEl>
                                        <p:attrNameLst>
                                          <p:attrName>style.visibility</p:attrName>
                                        </p:attrNameLst>
                                      </p:cBhvr>
                                      <p:to>
                                        <p:strVal val="visible"/>
                                      </p:to>
                                    </p:set>
                                    <p:animEffect transition="in" filter="wipe(left)">
                                      <p:cBhvr>
                                        <p:cTn id="47" dur="500"/>
                                        <p:tgtEl>
                                          <p:spTgt spid="197">
                                            <p:txEl>
                                              <p:pRg st="1" end="1"/>
                                            </p:txEl>
                                          </p:spTgt>
                                        </p:tgtEl>
                                      </p:cBhvr>
                                    </p:animEffect>
                                  </p:childTnLst>
                                </p:cTn>
                              </p:par>
                            </p:childTnLst>
                          </p:cTn>
                        </p:par>
                        <p:par>
                          <p:cTn id="48" fill="hold">
                            <p:stCondLst>
                              <p:cond delay="500"/>
                            </p:stCondLst>
                            <p:childTnLst>
                              <p:par>
                                <p:cTn id="49" presetID="35" presetClass="emph" presetSubtype="0" repeatCount="4000" fill="hold" nodeType="afterEffect">
                                  <p:stCondLst>
                                    <p:cond delay="0"/>
                                  </p:stCondLst>
                                  <p:childTnLst>
                                    <p:anim calcmode="discrete" valueType="str">
                                      <p:cBhvr>
                                        <p:cTn id="50"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autoUpdateAnimBg="0"/>
      <p:bldP spid="170" grpId="0"/>
      <p:bldP spid="174" grpId="0" build="p" autoUpdateAnimBg="0"/>
      <p:bldP spid="195" grpId="0"/>
      <p:bldP spid="197" grpId="0" uiExpand="1" build="p"/>
      <p:bldP spid="69"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矩形 87"/>
          <p:cNvSpPr/>
          <p:nvPr/>
        </p:nvSpPr>
        <p:spPr bwMode="auto">
          <a:xfrm>
            <a:off x="5389931" y="2362231"/>
            <a:ext cx="3340602" cy="3076462"/>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5" name="任意多边形 84"/>
          <p:cNvSpPr/>
          <p:nvPr/>
        </p:nvSpPr>
        <p:spPr bwMode="auto">
          <a:xfrm>
            <a:off x="1399161" y="4666876"/>
            <a:ext cx="3063797" cy="893910"/>
          </a:xfrm>
          <a:custGeom>
            <a:avLst/>
            <a:gdLst>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2209800 w 2982686"/>
              <a:gd name="connsiteY4" fmla="*/ 789214 h 1028700"/>
              <a:gd name="connsiteX5" fmla="*/ 2982686 w 2982686"/>
              <a:gd name="connsiteY5" fmla="*/ 239486 h 1028700"/>
              <a:gd name="connsiteX6" fmla="*/ 2770415 w 2982686"/>
              <a:gd name="connsiteY6" fmla="*/ 0 h 1028700"/>
              <a:gd name="connsiteX7" fmla="*/ 0 w 2982686"/>
              <a:gd name="connsiteY7" fmla="*/ 228600 h 1028700"/>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2209800 w 2982686"/>
              <a:gd name="connsiteY4" fmla="*/ 789214 h 1028700"/>
              <a:gd name="connsiteX5" fmla="*/ 2596243 w 2982686"/>
              <a:gd name="connsiteY5" fmla="*/ 533400 h 1028700"/>
              <a:gd name="connsiteX6" fmla="*/ 2982686 w 2982686"/>
              <a:gd name="connsiteY6" fmla="*/ 239486 h 1028700"/>
              <a:gd name="connsiteX7" fmla="*/ 2770415 w 2982686"/>
              <a:gd name="connsiteY7" fmla="*/ 0 h 1028700"/>
              <a:gd name="connsiteX8" fmla="*/ 0 w 2982686"/>
              <a:gd name="connsiteY8" fmla="*/ 228600 h 1028700"/>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2182586 w 2982686"/>
              <a:gd name="connsiteY4" fmla="*/ 745672 h 1028700"/>
              <a:gd name="connsiteX5" fmla="*/ 2596243 w 2982686"/>
              <a:gd name="connsiteY5" fmla="*/ 533400 h 1028700"/>
              <a:gd name="connsiteX6" fmla="*/ 2982686 w 2982686"/>
              <a:gd name="connsiteY6" fmla="*/ 239486 h 1028700"/>
              <a:gd name="connsiteX7" fmla="*/ 2770415 w 2982686"/>
              <a:gd name="connsiteY7" fmla="*/ 0 h 1028700"/>
              <a:gd name="connsiteX8" fmla="*/ 0 w 2982686"/>
              <a:gd name="connsiteY8" fmla="*/ 228600 h 1028700"/>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1681843 w 2982686"/>
              <a:gd name="connsiteY4" fmla="*/ 903514 h 1028700"/>
              <a:gd name="connsiteX5" fmla="*/ 2182586 w 2982686"/>
              <a:gd name="connsiteY5" fmla="*/ 745672 h 1028700"/>
              <a:gd name="connsiteX6" fmla="*/ 2596243 w 2982686"/>
              <a:gd name="connsiteY6" fmla="*/ 533400 h 1028700"/>
              <a:gd name="connsiteX7" fmla="*/ 2982686 w 2982686"/>
              <a:gd name="connsiteY7" fmla="*/ 239486 h 1028700"/>
              <a:gd name="connsiteX8" fmla="*/ 2770415 w 2982686"/>
              <a:gd name="connsiteY8" fmla="*/ 0 h 1028700"/>
              <a:gd name="connsiteX9" fmla="*/ 0 w 2982686"/>
              <a:gd name="connsiteY9" fmla="*/ 228600 h 1028700"/>
              <a:gd name="connsiteX0" fmla="*/ 0 w 2982686"/>
              <a:gd name="connsiteY0" fmla="*/ 228600 h 1001486"/>
              <a:gd name="connsiteX1" fmla="*/ 21772 w 2982686"/>
              <a:gd name="connsiteY1" fmla="*/ 473529 h 1001486"/>
              <a:gd name="connsiteX2" fmla="*/ 462643 w 2982686"/>
              <a:gd name="connsiteY2" fmla="*/ 870857 h 1001486"/>
              <a:gd name="connsiteX3" fmla="*/ 1208315 w 2982686"/>
              <a:gd name="connsiteY3" fmla="*/ 1001486 h 1001486"/>
              <a:gd name="connsiteX4" fmla="*/ 1681843 w 2982686"/>
              <a:gd name="connsiteY4" fmla="*/ 903514 h 1001486"/>
              <a:gd name="connsiteX5" fmla="*/ 2182586 w 2982686"/>
              <a:gd name="connsiteY5" fmla="*/ 745672 h 1001486"/>
              <a:gd name="connsiteX6" fmla="*/ 2596243 w 2982686"/>
              <a:gd name="connsiteY6" fmla="*/ 533400 h 1001486"/>
              <a:gd name="connsiteX7" fmla="*/ 2982686 w 2982686"/>
              <a:gd name="connsiteY7" fmla="*/ 239486 h 1001486"/>
              <a:gd name="connsiteX8" fmla="*/ 2770415 w 2982686"/>
              <a:gd name="connsiteY8" fmla="*/ 0 h 1001486"/>
              <a:gd name="connsiteX9" fmla="*/ 0 w 2982686"/>
              <a:gd name="connsiteY9" fmla="*/ 228600 h 1001486"/>
              <a:gd name="connsiteX0" fmla="*/ 0 w 2982686"/>
              <a:gd name="connsiteY0" fmla="*/ 228600 h 1001486"/>
              <a:gd name="connsiteX1" fmla="*/ 21772 w 2982686"/>
              <a:gd name="connsiteY1" fmla="*/ 473529 h 1001486"/>
              <a:gd name="connsiteX2" fmla="*/ 457201 w 2982686"/>
              <a:gd name="connsiteY2" fmla="*/ 827315 h 1001486"/>
              <a:gd name="connsiteX3" fmla="*/ 1208315 w 2982686"/>
              <a:gd name="connsiteY3" fmla="*/ 1001486 h 1001486"/>
              <a:gd name="connsiteX4" fmla="*/ 1681843 w 2982686"/>
              <a:gd name="connsiteY4" fmla="*/ 903514 h 1001486"/>
              <a:gd name="connsiteX5" fmla="*/ 2182586 w 2982686"/>
              <a:gd name="connsiteY5" fmla="*/ 745672 h 1001486"/>
              <a:gd name="connsiteX6" fmla="*/ 2596243 w 2982686"/>
              <a:gd name="connsiteY6" fmla="*/ 533400 h 1001486"/>
              <a:gd name="connsiteX7" fmla="*/ 2982686 w 2982686"/>
              <a:gd name="connsiteY7" fmla="*/ 239486 h 1001486"/>
              <a:gd name="connsiteX8" fmla="*/ 2770415 w 2982686"/>
              <a:gd name="connsiteY8" fmla="*/ 0 h 1001486"/>
              <a:gd name="connsiteX9" fmla="*/ 0 w 2982686"/>
              <a:gd name="connsiteY9" fmla="*/ 228600 h 1001486"/>
              <a:gd name="connsiteX0" fmla="*/ 1047 w 2983733"/>
              <a:gd name="connsiteY0" fmla="*/ 228600 h 1001486"/>
              <a:gd name="connsiteX1" fmla="*/ 1047 w 2983733"/>
              <a:gd name="connsiteY1" fmla="*/ 348343 h 1001486"/>
              <a:gd name="connsiteX2" fmla="*/ 22819 w 2983733"/>
              <a:gd name="connsiteY2" fmla="*/ 473529 h 1001486"/>
              <a:gd name="connsiteX3" fmla="*/ 458248 w 2983733"/>
              <a:gd name="connsiteY3" fmla="*/ 827315 h 1001486"/>
              <a:gd name="connsiteX4" fmla="*/ 1209362 w 2983733"/>
              <a:gd name="connsiteY4" fmla="*/ 1001486 h 1001486"/>
              <a:gd name="connsiteX5" fmla="*/ 1682890 w 2983733"/>
              <a:gd name="connsiteY5" fmla="*/ 903514 h 1001486"/>
              <a:gd name="connsiteX6" fmla="*/ 2183633 w 2983733"/>
              <a:gd name="connsiteY6" fmla="*/ 745672 h 1001486"/>
              <a:gd name="connsiteX7" fmla="*/ 2597290 w 2983733"/>
              <a:gd name="connsiteY7" fmla="*/ 533400 h 1001486"/>
              <a:gd name="connsiteX8" fmla="*/ 2983733 w 2983733"/>
              <a:gd name="connsiteY8" fmla="*/ 239486 h 1001486"/>
              <a:gd name="connsiteX9" fmla="*/ 2771462 w 2983733"/>
              <a:gd name="connsiteY9" fmla="*/ 0 h 1001486"/>
              <a:gd name="connsiteX10" fmla="*/ 1047 w 2983733"/>
              <a:gd name="connsiteY10"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458248 w 2983733"/>
              <a:gd name="connsiteY3" fmla="*/ 827315 h 1001486"/>
              <a:gd name="connsiteX4" fmla="*/ 1209362 w 2983733"/>
              <a:gd name="connsiteY4" fmla="*/ 1001486 h 1001486"/>
              <a:gd name="connsiteX5" fmla="*/ 1682890 w 2983733"/>
              <a:gd name="connsiteY5" fmla="*/ 903514 h 1001486"/>
              <a:gd name="connsiteX6" fmla="*/ 2183633 w 2983733"/>
              <a:gd name="connsiteY6" fmla="*/ 745672 h 1001486"/>
              <a:gd name="connsiteX7" fmla="*/ 2597290 w 2983733"/>
              <a:gd name="connsiteY7" fmla="*/ 533400 h 1001486"/>
              <a:gd name="connsiteX8" fmla="*/ 2983733 w 2983733"/>
              <a:gd name="connsiteY8" fmla="*/ 239486 h 1001486"/>
              <a:gd name="connsiteX9" fmla="*/ 2771462 w 2983733"/>
              <a:gd name="connsiteY9" fmla="*/ 0 h 1001486"/>
              <a:gd name="connsiteX10" fmla="*/ 1047 w 2983733"/>
              <a:gd name="connsiteY10"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273191 w 2983733"/>
              <a:gd name="connsiteY3" fmla="*/ 707571 h 1001486"/>
              <a:gd name="connsiteX4" fmla="*/ 458248 w 2983733"/>
              <a:gd name="connsiteY4" fmla="*/ 827315 h 1001486"/>
              <a:gd name="connsiteX5" fmla="*/ 1209362 w 2983733"/>
              <a:gd name="connsiteY5" fmla="*/ 1001486 h 1001486"/>
              <a:gd name="connsiteX6" fmla="*/ 1682890 w 2983733"/>
              <a:gd name="connsiteY6" fmla="*/ 903514 h 1001486"/>
              <a:gd name="connsiteX7" fmla="*/ 2183633 w 2983733"/>
              <a:gd name="connsiteY7" fmla="*/ 745672 h 1001486"/>
              <a:gd name="connsiteX8" fmla="*/ 2597290 w 2983733"/>
              <a:gd name="connsiteY8" fmla="*/ 533400 h 1001486"/>
              <a:gd name="connsiteX9" fmla="*/ 2983733 w 2983733"/>
              <a:gd name="connsiteY9" fmla="*/ 239486 h 1001486"/>
              <a:gd name="connsiteX10" fmla="*/ 2771462 w 2983733"/>
              <a:gd name="connsiteY10" fmla="*/ 0 h 1001486"/>
              <a:gd name="connsiteX11" fmla="*/ 1047 w 2983733"/>
              <a:gd name="connsiteY11"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273191 w 2983733"/>
              <a:gd name="connsiteY3" fmla="*/ 707571 h 1001486"/>
              <a:gd name="connsiteX4" fmla="*/ 458248 w 2983733"/>
              <a:gd name="connsiteY4" fmla="*/ 827315 h 1001486"/>
              <a:gd name="connsiteX5" fmla="*/ 1209362 w 2983733"/>
              <a:gd name="connsiteY5" fmla="*/ 1001486 h 1001486"/>
              <a:gd name="connsiteX6" fmla="*/ 1682890 w 2983733"/>
              <a:gd name="connsiteY6" fmla="*/ 903514 h 1001486"/>
              <a:gd name="connsiteX7" fmla="*/ 2183633 w 2983733"/>
              <a:gd name="connsiteY7" fmla="*/ 745672 h 1001486"/>
              <a:gd name="connsiteX8" fmla="*/ 2597290 w 2983733"/>
              <a:gd name="connsiteY8" fmla="*/ 533400 h 1001486"/>
              <a:gd name="connsiteX9" fmla="*/ 2983733 w 2983733"/>
              <a:gd name="connsiteY9" fmla="*/ 239486 h 1001486"/>
              <a:gd name="connsiteX10" fmla="*/ 2771462 w 2983733"/>
              <a:gd name="connsiteY10" fmla="*/ 0 h 1001486"/>
              <a:gd name="connsiteX11" fmla="*/ 1047 w 2983733"/>
              <a:gd name="connsiteY11"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273191 w 2983733"/>
              <a:gd name="connsiteY3" fmla="*/ 707571 h 1001486"/>
              <a:gd name="connsiteX4" fmla="*/ 458248 w 2983733"/>
              <a:gd name="connsiteY4" fmla="*/ 827315 h 1001486"/>
              <a:gd name="connsiteX5" fmla="*/ 801148 w 2983733"/>
              <a:gd name="connsiteY5" fmla="*/ 936171 h 1001486"/>
              <a:gd name="connsiteX6" fmla="*/ 1209362 w 2983733"/>
              <a:gd name="connsiteY6" fmla="*/ 1001486 h 1001486"/>
              <a:gd name="connsiteX7" fmla="*/ 1682890 w 2983733"/>
              <a:gd name="connsiteY7" fmla="*/ 903514 h 1001486"/>
              <a:gd name="connsiteX8" fmla="*/ 2183633 w 2983733"/>
              <a:gd name="connsiteY8" fmla="*/ 745672 h 1001486"/>
              <a:gd name="connsiteX9" fmla="*/ 2597290 w 2983733"/>
              <a:gd name="connsiteY9" fmla="*/ 533400 h 1001486"/>
              <a:gd name="connsiteX10" fmla="*/ 2983733 w 2983733"/>
              <a:gd name="connsiteY10" fmla="*/ 239486 h 1001486"/>
              <a:gd name="connsiteX11" fmla="*/ 2771462 w 2983733"/>
              <a:gd name="connsiteY11" fmla="*/ 0 h 1001486"/>
              <a:gd name="connsiteX12" fmla="*/ 1047 w 2983733"/>
              <a:gd name="connsiteY12" fmla="*/ 228600 h 1001486"/>
              <a:gd name="connsiteX0" fmla="*/ 1047 w 2983733"/>
              <a:gd name="connsiteY0" fmla="*/ 121024 h 893910"/>
              <a:gd name="connsiteX1" fmla="*/ 1047 w 2983733"/>
              <a:gd name="connsiteY1" fmla="*/ 240767 h 893910"/>
              <a:gd name="connsiteX2" fmla="*/ 99019 w 2983733"/>
              <a:gd name="connsiteY2" fmla="*/ 431267 h 893910"/>
              <a:gd name="connsiteX3" fmla="*/ 273191 w 2983733"/>
              <a:gd name="connsiteY3" fmla="*/ 599995 h 893910"/>
              <a:gd name="connsiteX4" fmla="*/ 458248 w 2983733"/>
              <a:gd name="connsiteY4" fmla="*/ 719739 h 893910"/>
              <a:gd name="connsiteX5" fmla="*/ 801148 w 2983733"/>
              <a:gd name="connsiteY5" fmla="*/ 828595 h 893910"/>
              <a:gd name="connsiteX6" fmla="*/ 1209362 w 2983733"/>
              <a:gd name="connsiteY6" fmla="*/ 893910 h 893910"/>
              <a:gd name="connsiteX7" fmla="*/ 1682890 w 2983733"/>
              <a:gd name="connsiteY7" fmla="*/ 795938 h 893910"/>
              <a:gd name="connsiteX8" fmla="*/ 2183633 w 2983733"/>
              <a:gd name="connsiteY8" fmla="*/ 638096 h 893910"/>
              <a:gd name="connsiteX9" fmla="*/ 2597290 w 2983733"/>
              <a:gd name="connsiteY9" fmla="*/ 425824 h 893910"/>
              <a:gd name="connsiteX10" fmla="*/ 2983733 w 2983733"/>
              <a:gd name="connsiteY10" fmla="*/ 131910 h 893910"/>
              <a:gd name="connsiteX11" fmla="*/ 2923862 w 2983733"/>
              <a:gd name="connsiteY11" fmla="*/ 0 h 893910"/>
              <a:gd name="connsiteX12" fmla="*/ 1047 w 2983733"/>
              <a:gd name="connsiteY12" fmla="*/ 121024 h 893910"/>
              <a:gd name="connsiteX0" fmla="*/ 1047 w 3046486"/>
              <a:gd name="connsiteY0" fmla="*/ 121024 h 893910"/>
              <a:gd name="connsiteX1" fmla="*/ 1047 w 3046486"/>
              <a:gd name="connsiteY1" fmla="*/ 240767 h 893910"/>
              <a:gd name="connsiteX2" fmla="*/ 99019 w 3046486"/>
              <a:gd name="connsiteY2" fmla="*/ 431267 h 893910"/>
              <a:gd name="connsiteX3" fmla="*/ 273191 w 3046486"/>
              <a:gd name="connsiteY3" fmla="*/ 599995 h 893910"/>
              <a:gd name="connsiteX4" fmla="*/ 458248 w 3046486"/>
              <a:gd name="connsiteY4" fmla="*/ 719739 h 893910"/>
              <a:gd name="connsiteX5" fmla="*/ 801148 w 3046486"/>
              <a:gd name="connsiteY5" fmla="*/ 828595 h 893910"/>
              <a:gd name="connsiteX6" fmla="*/ 1209362 w 3046486"/>
              <a:gd name="connsiteY6" fmla="*/ 893910 h 893910"/>
              <a:gd name="connsiteX7" fmla="*/ 1682890 w 3046486"/>
              <a:gd name="connsiteY7" fmla="*/ 795938 h 893910"/>
              <a:gd name="connsiteX8" fmla="*/ 2183633 w 3046486"/>
              <a:gd name="connsiteY8" fmla="*/ 638096 h 893910"/>
              <a:gd name="connsiteX9" fmla="*/ 2597290 w 3046486"/>
              <a:gd name="connsiteY9" fmla="*/ 425824 h 893910"/>
              <a:gd name="connsiteX10" fmla="*/ 3046486 w 3046486"/>
              <a:gd name="connsiteY10" fmla="*/ 105016 h 893910"/>
              <a:gd name="connsiteX11" fmla="*/ 2923862 w 3046486"/>
              <a:gd name="connsiteY11" fmla="*/ 0 h 893910"/>
              <a:gd name="connsiteX12" fmla="*/ 1047 w 3046486"/>
              <a:gd name="connsiteY12" fmla="*/ 121024 h 893910"/>
              <a:gd name="connsiteX0" fmla="*/ 0 w 3049922"/>
              <a:gd name="connsiteY0" fmla="*/ 94130 h 893910"/>
              <a:gd name="connsiteX1" fmla="*/ 4483 w 3049922"/>
              <a:gd name="connsiteY1" fmla="*/ 240767 h 893910"/>
              <a:gd name="connsiteX2" fmla="*/ 102455 w 3049922"/>
              <a:gd name="connsiteY2" fmla="*/ 431267 h 893910"/>
              <a:gd name="connsiteX3" fmla="*/ 276627 w 3049922"/>
              <a:gd name="connsiteY3" fmla="*/ 599995 h 893910"/>
              <a:gd name="connsiteX4" fmla="*/ 461684 w 3049922"/>
              <a:gd name="connsiteY4" fmla="*/ 719739 h 893910"/>
              <a:gd name="connsiteX5" fmla="*/ 804584 w 3049922"/>
              <a:gd name="connsiteY5" fmla="*/ 828595 h 893910"/>
              <a:gd name="connsiteX6" fmla="*/ 1212798 w 3049922"/>
              <a:gd name="connsiteY6" fmla="*/ 893910 h 893910"/>
              <a:gd name="connsiteX7" fmla="*/ 1686326 w 3049922"/>
              <a:gd name="connsiteY7" fmla="*/ 795938 h 893910"/>
              <a:gd name="connsiteX8" fmla="*/ 2187069 w 3049922"/>
              <a:gd name="connsiteY8" fmla="*/ 638096 h 893910"/>
              <a:gd name="connsiteX9" fmla="*/ 2600726 w 3049922"/>
              <a:gd name="connsiteY9" fmla="*/ 425824 h 893910"/>
              <a:gd name="connsiteX10" fmla="*/ 3049922 w 3049922"/>
              <a:gd name="connsiteY10" fmla="*/ 105016 h 893910"/>
              <a:gd name="connsiteX11" fmla="*/ 2927298 w 3049922"/>
              <a:gd name="connsiteY11" fmla="*/ 0 h 893910"/>
              <a:gd name="connsiteX12" fmla="*/ 0 w 3049922"/>
              <a:gd name="connsiteY12" fmla="*/ 94130 h 893910"/>
              <a:gd name="connsiteX0" fmla="*/ 13875 w 3063797"/>
              <a:gd name="connsiteY0" fmla="*/ 94130 h 893910"/>
              <a:gd name="connsiteX1" fmla="*/ 428 w 3063797"/>
              <a:gd name="connsiteY1" fmla="*/ 236285 h 893910"/>
              <a:gd name="connsiteX2" fmla="*/ 116330 w 3063797"/>
              <a:gd name="connsiteY2" fmla="*/ 431267 h 893910"/>
              <a:gd name="connsiteX3" fmla="*/ 290502 w 3063797"/>
              <a:gd name="connsiteY3" fmla="*/ 599995 h 893910"/>
              <a:gd name="connsiteX4" fmla="*/ 475559 w 3063797"/>
              <a:gd name="connsiteY4" fmla="*/ 719739 h 893910"/>
              <a:gd name="connsiteX5" fmla="*/ 818459 w 3063797"/>
              <a:gd name="connsiteY5" fmla="*/ 828595 h 893910"/>
              <a:gd name="connsiteX6" fmla="*/ 1226673 w 3063797"/>
              <a:gd name="connsiteY6" fmla="*/ 893910 h 893910"/>
              <a:gd name="connsiteX7" fmla="*/ 1700201 w 3063797"/>
              <a:gd name="connsiteY7" fmla="*/ 795938 h 893910"/>
              <a:gd name="connsiteX8" fmla="*/ 2200944 w 3063797"/>
              <a:gd name="connsiteY8" fmla="*/ 638096 h 893910"/>
              <a:gd name="connsiteX9" fmla="*/ 2614601 w 3063797"/>
              <a:gd name="connsiteY9" fmla="*/ 425824 h 893910"/>
              <a:gd name="connsiteX10" fmla="*/ 3063797 w 3063797"/>
              <a:gd name="connsiteY10" fmla="*/ 105016 h 893910"/>
              <a:gd name="connsiteX11" fmla="*/ 2941173 w 3063797"/>
              <a:gd name="connsiteY11" fmla="*/ 0 h 893910"/>
              <a:gd name="connsiteX12" fmla="*/ 13875 w 3063797"/>
              <a:gd name="connsiteY12" fmla="*/ 94130 h 89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63797" h="893910">
                <a:moveTo>
                  <a:pt x="13875" y="94130"/>
                </a:moveTo>
                <a:cubicBezTo>
                  <a:pt x="17504" y="134044"/>
                  <a:pt x="-3201" y="196371"/>
                  <a:pt x="428" y="236285"/>
                </a:cubicBezTo>
                <a:lnTo>
                  <a:pt x="116330" y="431267"/>
                </a:lnTo>
                <a:cubicBezTo>
                  <a:pt x="181645" y="478438"/>
                  <a:pt x="225187" y="552824"/>
                  <a:pt x="290502" y="599995"/>
                </a:cubicBezTo>
                <a:lnTo>
                  <a:pt x="475559" y="719739"/>
                </a:lnTo>
                <a:cubicBezTo>
                  <a:pt x="593488" y="741510"/>
                  <a:pt x="700530" y="806824"/>
                  <a:pt x="818459" y="828595"/>
                </a:cubicBezTo>
                <a:lnTo>
                  <a:pt x="1226673" y="893910"/>
                </a:lnTo>
                <a:cubicBezTo>
                  <a:pt x="1393587" y="843110"/>
                  <a:pt x="1533287" y="846738"/>
                  <a:pt x="1700201" y="795938"/>
                </a:cubicBezTo>
                <a:lnTo>
                  <a:pt x="2200944" y="638096"/>
                </a:lnTo>
                <a:cubicBezTo>
                  <a:pt x="2309801" y="560082"/>
                  <a:pt x="2505744" y="503838"/>
                  <a:pt x="2614601" y="425824"/>
                </a:cubicBezTo>
                <a:lnTo>
                  <a:pt x="3063797" y="105016"/>
                </a:lnTo>
                <a:lnTo>
                  <a:pt x="2941173" y="0"/>
                </a:lnTo>
                <a:lnTo>
                  <a:pt x="13875" y="94130"/>
                </a:lnTo>
                <a:close/>
              </a:path>
            </a:pathLst>
          </a:custGeom>
          <a:solidFill>
            <a:schemeClr val="accent6">
              <a:lumMod val="20000"/>
              <a:lumOff val="8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6" name="任意多边形 85"/>
          <p:cNvSpPr/>
          <p:nvPr/>
        </p:nvSpPr>
        <p:spPr bwMode="auto">
          <a:xfrm>
            <a:off x="1399292" y="3414751"/>
            <a:ext cx="2962321" cy="1823391"/>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2621432"/>
              <a:gd name="connsiteY0" fmla="*/ 538984 h 823569"/>
              <a:gd name="connsiteX1" fmla="*/ 236220 w 2621432"/>
              <a:gd name="connsiteY1" fmla="*/ 690114 h 823569"/>
              <a:gd name="connsiteX2" fmla="*/ 464820 w 2621432"/>
              <a:gd name="connsiteY2" fmla="*/ 784094 h 823569"/>
              <a:gd name="connsiteX3" fmla="*/ 711200 w 2621432"/>
              <a:gd name="connsiteY3" fmla="*/ 823464 h 823569"/>
              <a:gd name="connsiteX4" fmla="*/ 1073150 w 2621432"/>
              <a:gd name="connsiteY4" fmla="*/ 773934 h 823569"/>
              <a:gd name="connsiteX5" fmla="*/ 1479550 w 2621432"/>
              <a:gd name="connsiteY5" fmla="*/ 615184 h 823569"/>
              <a:gd name="connsiteX6" fmla="*/ 1928892 w 2621432"/>
              <a:gd name="connsiteY6" fmla="*/ 391203 h 823569"/>
              <a:gd name="connsiteX7" fmla="*/ 2252786 w 2621432"/>
              <a:gd name="connsiteY7" fmla="*/ 207599 h 823569"/>
              <a:gd name="connsiteX8" fmla="*/ 2621432 w 2621432"/>
              <a:gd name="connsiteY8" fmla="*/ 0 h 823569"/>
              <a:gd name="connsiteX0" fmla="*/ 0 w 2252786"/>
              <a:gd name="connsiteY0" fmla="*/ 331385 h 615970"/>
              <a:gd name="connsiteX1" fmla="*/ 236220 w 2252786"/>
              <a:gd name="connsiteY1" fmla="*/ 482515 h 615970"/>
              <a:gd name="connsiteX2" fmla="*/ 464820 w 2252786"/>
              <a:gd name="connsiteY2" fmla="*/ 576495 h 615970"/>
              <a:gd name="connsiteX3" fmla="*/ 711200 w 2252786"/>
              <a:gd name="connsiteY3" fmla="*/ 615865 h 615970"/>
              <a:gd name="connsiteX4" fmla="*/ 1073150 w 2252786"/>
              <a:gd name="connsiteY4" fmla="*/ 566335 h 615970"/>
              <a:gd name="connsiteX5" fmla="*/ 1479550 w 2252786"/>
              <a:gd name="connsiteY5" fmla="*/ 407585 h 615970"/>
              <a:gd name="connsiteX6" fmla="*/ 1928892 w 2252786"/>
              <a:gd name="connsiteY6" fmla="*/ 183604 h 615970"/>
              <a:gd name="connsiteX7" fmla="*/ 2252786 w 2252786"/>
              <a:gd name="connsiteY7" fmla="*/ 0 h 615970"/>
              <a:gd name="connsiteX0" fmla="*/ 0 w 1928892"/>
              <a:gd name="connsiteY0" fmla="*/ 147781 h 432366"/>
              <a:gd name="connsiteX1" fmla="*/ 236220 w 1928892"/>
              <a:gd name="connsiteY1" fmla="*/ 298911 h 432366"/>
              <a:gd name="connsiteX2" fmla="*/ 464820 w 1928892"/>
              <a:gd name="connsiteY2" fmla="*/ 392891 h 432366"/>
              <a:gd name="connsiteX3" fmla="*/ 711200 w 1928892"/>
              <a:gd name="connsiteY3" fmla="*/ 432261 h 432366"/>
              <a:gd name="connsiteX4" fmla="*/ 1073150 w 1928892"/>
              <a:gd name="connsiteY4" fmla="*/ 382731 h 432366"/>
              <a:gd name="connsiteX5" fmla="*/ 1479550 w 1928892"/>
              <a:gd name="connsiteY5" fmla="*/ 223981 h 432366"/>
              <a:gd name="connsiteX6" fmla="*/ 1928892 w 1928892"/>
              <a:gd name="connsiteY6" fmla="*/ 0 h 432366"/>
              <a:gd name="connsiteX0" fmla="*/ 0 w 1510115"/>
              <a:gd name="connsiteY0" fmla="*/ 780861 h 1065446"/>
              <a:gd name="connsiteX1" fmla="*/ 236220 w 1510115"/>
              <a:gd name="connsiteY1" fmla="*/ 931991 h 1065446"/>
              <a:gd name="connsiteX2" fmla="*/ 464820 w 1510115"/>
              <a:gd name="connsiteY2" fmla="*/ 1025971 h 1065446"/>
              <a:gd name="connsiteX3" fmla="*/ 711200 w 1510115"/>
              <a:gd name="connsiteY3" fmla="*/ 1065341 h 1065446"/>
              <a:gd name="connsiteX4" fmla="*/ 1073150 w 1510115"/>
              <a:gd name="connsiteY4" fmla="*/ 1015811 h 1065446"/>
              <a:gd name="connsiteX5" fmla="*/ 1479550 w 1510115"/>
              <a:gd name="connsiteY5" fmla="*/ 857061 h 1065446"/>
              <a:gd name="connsiteX6" fmla="*/ 1341032 w 1510115"/>
              <a:gd name="connsiteY6" fmla="*/ 0 h 1065446"/>
              <a:gd name="connsiteX0" fmla="*/ 0 w 1894317"/>
              <a:gd name="connsiteY0" fmla="*/ 780861 h 1065446"/>
              <a:gd name="connsiteX1" fmla="*/ 236220 w 1894317"/>
              <a:gd name="connsiteY1" fmla="*/ 931991 h 1065446"/>
              <a:gd name="connsiteX2" fmla="*/ 464820 w 1894317"/>
              <a:gd name="connsiteY2" fmla="*/ 1025971 h 1065446"/>
              <a:gd name="connsiteX3" fmla="*/ 711200 w 1894317"/>
              <a:gd name="connsiteY3" fmla="*/ 1065341 h 1065446"/>
              <a:gd name="connsiteX4" fmla="*/ 1073150 w 1894317"/>
              <a:gd name="connsiteY4" fmla="*/ 1015811 h 1065446"/>
              <a:gd name="connsiteX5" fmla="*/ 1479550 w 1894317"/>
              <a:gd name="connsiteY5" fmla="*/ 857061 h 1065446"/>
              <a:gd name="connsiteX6" fmla="*/ 1893316 w 1894317"/>
              <a:gd name="connsiteY6" fmla="*/ 648920 h 1065446"/>
              <a:gd name="connsiteX7" fmla="*/ 1341032 w 1894317"/>
              <a:gd name="connsiteY7" fmla="*/ 0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479550 w 1893316"/>
              <a:gd name="connsiteY5" fmla="*/ 857061 h 1065446"/>
              <a:gd name="connsiteX6" fmla="*/ 1893316 w 1893316"/>
              <a:gd name="connsiteY6" fmla="*/ 648920 h 1065446"/>
              <a:gd name="connsiteX7" fmla="*/ 1341032 w 1893316"/>
              <a:gd name="connsiteY7" fmla="*/ 0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479550 w 1893316"/>
              <a:gd name="connsiteY5" fmla="*/ 857061 h 1065446"/>
              <a:gd name="connsiteX6" fmla="*/ 1893316 w 1893316"/>
              <a:gd name="connsiteY6" fmla="*/ 648920 h 1065446"/>
              <a:gd name="connsiteX7" fmla="*/ 1341032 w 1893316"/>
              <a:gd name="connsiteY7" fmla="*/ 0 h 1065446"/>
              <a:gd name="connsiteX8" fmla="*/ 0 w 1893316"/>
              <a:gd name="connsiteY8" fmla="*/ 780861 h 1065446"/>
              <a:gd name="connsiteX0" fmla="*/ 0 w 1893316"/>
              <a:gd name="connsiteY0" fmla="*/ 804582 h 1089167"/>
              <a:gd name="connsiteX1" fmla="*/ 236220 w 1893316"/>
              <a:gd name="connsiteY1" fmla="*/ 955712 h 1089167"/>
              <a:gd name="connsiteX2" fmla="*/ 464820 w 1893316"/>
              <a:gd name="connsiteY2" fmla="*/ 1049692 h 1089167"/>
              <a:gd name="connsiteX3" fmla="*/ 711200 w 1893316"/>
              <a:gd name="connsiteY3" fmla="*/ 1089062 h 1089167"/>
              <a:gd name="connsiteX4" fmla="*/ 1073150 w 1893316"/>
              <a:gd name="connsiteY4" fmla="*/ 1039532 h 1089167"/>
              <a:gd name="connsiteX5" fmla="*/ 1479550 w 1893316"/>
              <a:gd name="connsiteY5" fmla="*/ 880782 h 1089167"/>
              <a:gd name="connsiteX6" fmla="*/ 1893316 w 1893316"/>
              <a:gd name="connsiteY6" fmla="*/ 672641 h 1089167"/>
              <a:gd name="connsiteX7" fmla="*/ 1341032 w 1893316"/>
              <a:gd name="connsiteY7" fmla="*/ 23721 h 1089167"/>
              <a:gd name="connsiteX8" fmla="*/ 401056 w 1893316"/>
              <a:gd name="connsiteY8" fmla="*/ 33102 h 1089167"/>
              <a:gd name="connsiteX9" fmla="*/ 0 w 1893316"/>
              <a:gd name="connsiteY9" fmla="*/ 804582 h 1089167"/>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479550 w 1893316"/>
              <a:gd name="connsiteY5" fmla="*/ 857061 h 1065446"/>
              <a:gd name="connsiteX6" fmla="*/ 1893316 w 1893316"/>
              <a:gd name="connsiteY6" fmla="*/ 648920 h 1065446"/>
              <a:gd name="connsiteX7" fmla="*/ 1341032 w 1893316"/>
              <a:gd name="connsiteY7" fmla="*/ 0 h 1065446"/>
              <a:gd name="connsiteX8" fmla="*/ 401056 w 1893316"/>
              <a:gd name="connsiteY8" fmla="*/ 9381 h 1065446"/>
              <a:gd name="connsiteX9" fmla="*/ 0 w 1893316"/>
              <a:gd name="connsiteY9" fmla="*/ 780861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479550 w 1893316"/>
              <a:gd name="connsiteY5" fmla="*/ 857061 h 1065446"/>
              <a:gd name="connsiteX6" fmla="*/ 1893316 w 1893316"/>
              <a:gd name="connsiteY6" fmla="*/ 648920 h 1065446"/>
              <a:gd name="connsiteX7" fmla="*/ 1341032 w 1893316"/>
              <a:gd name="connsiteY7" fmla="*/ 0 h 1065446"/>
              <a:gd name="connsiteX8" fmla="*/ 401056 w 1893316"/>
              <a:gd name="connsiteY8" fmla="*/ 9381 h 1065446"/>
              <a:gd name="connsiteX9" fmla="*/ 0 w 1893316"/>
              <a:gd name="connsiteY9" fmla="*/ 780861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564453 w 1893316"/>
              <a:gd name="connsiteY5" fmla="*/ 820147 h 1065446"/>
              <a:gd name="connsiteX6" fmla="*/ 1893316 w 1893316"/>
              <a:gd name="connsiteY6" fmla="*/ 648920 h 1065446"/>
              <a:gd name="connsiteX7" fmla="*/ 1341032 w 1893316"/>
              <a:gd name="connsiteY7" fmla="*/ 0 h 1065446"/>
              <a:gd name="connsiteX8" fmla="*/ 401056 w 1893316"/>
              <a:gd name="connsiteY8" fmla="*/ 9381 h 1065446"/>
              <a:gd name="connsiteX9" fmla="*/ 0 w 1893316"/>
              <a:gd name="connsiteY9" fmla="*/ 780861 h 1065446"/>
              <a:gd name="connsiteX0" fmla="*/ 0 w 1893316"/>
              <a:gd name="connsiteY0" fmla="*/ 780861 h 1065446"/>
              <a:gd name="connsiteX1" fmla="*/ 236220 w 1893316"/>
              <a:gd name="connsiteY1" fmla="*/ 931991 h 1065446"/>
              <a:gd name="connsiteX2" fmla="*/ 464820 w 1893316"/>
              <a:gd name="connsiteY2" fmla="*/ 1025971 h 1065446"/>
              <a:gd name="connsiteX3" fmla="*/ 711200 w 1893316"/>
              <a:gd name="connsiteY3" fmla="*/ 1065341 h 1065446"/>
              <a:gd name="connsiteX4" fmla="*/ 1073150 w 1893316"/>
              <a:gd name="connsiteY4" fmla="*/ 1015811 h 1065446"/>
              <a:gd name="connsiteX5" fmla="*/ 1564453 w 1893316"/>
              <a:gd name="connsiteY5" fmla="*/ 820147 h 1065446"/>
              <a:gd name="connsiteX6" fmla="*/ 1893316 w 1893316"/>
              <a:gd name="connsiteY6" fmla="*/ 648920 h 1065446"/>
              <a:gd name="connsiteX7" fmla="*/ 1341032 w 1893316"/>
              <a:gd name="connsiteY7" fmla="*/ 0 h 1065446"/>
              <a:gd name="connsiteX8" fmla="*/ 401056 w 1893316"/>
              <a:gd name="connsiteY8" fmla="*/ 9381 h 1065446"/>
              <a:gd name="connsiteX9" fmla="*/ 0 w 1893316"/>
              <a:gd name="connsiteY9" fmla="*/ 780861 h 1065446"/>
              <a:gd name="connsiteX0" fmla="*/ 392601 w 2285917"/>
              <a:gd name="connsiteY0" fmla="*/ 809318 h 1093903"/>
              <a:gd name="connsiteX1" fmla="*/ 628821 w 2285917"/>
              <a:gd name="connsiteY1" fmla="*/ 960448 h 1093903"/>
              <a:gd name="connsiteX2" fmla="*/ 857421 w 2285917"/>
              <a:gd name="connsiteY2" fmla="*/ 1054428 h 1093903"/>
              <a:gd name="connsiteX3" fmla="*/ 1103801 w 2285917"/>
              <a:gd name="connsiteY3" fmla="*/ 1093798 h 1093903"/>
              <a:gd name="connsiteX4" fmla="*/ 1465751 w 2285917"/>
              <a:gd name="connsiteY4" fmla="*/ 1044268 h 1093903"/>
              <a:gd name="connsiteX5" fmla="*/ 1957054 w 2285917"/>
              <a:gd name="connsiteY5" fmla="*/ 848604 h 1093903"/>
              <a:gd name="connsiteX6" fmla="*/ 2285917 w 2285917"/>
              <a:gd name="connsiteY6" fmla="*/ 677377 h 1093903"/>
              <a:gd name="connsiteX7" fmla="*/ 1733633 w 2285917"/>
              <a:gd name="connsiteY7" fmla="*/ 28457 h 1093903"/>
              <a:gd name="connsiteX8" fmla="*/ 793657 w 2285917"/>
              <a:gd name="connsiteY8" fmla="*/ 37838 h 1093903"/>
              <a:gd name="connsiteX9" fmla="*/ 0 w 2285917"/>
              <a:gd name="connsiteY9" fmla="*/ 29533 h 1093903"/>
              <a:gd name="connsiteX10" fmla="*/ 392601 w 2285917"/>
              <a:gd name="connsiteY10" fmla="*/ 809318 h 1093903"/>
              <a:gd name="connsiteX0" fmla="*/ 392601 w 2285917"/>
              <a:gd name="connsiteY0" fmla="*/ 780861 h 1065446"/>
              <a:gd name="connsiteX1" fmla="*/ 628821 w 2285917"/>
              <a:gd name="connsiteY1" fmla="*/ 931991 h 1065446"/>
              <a:gd name="connsiteX2" fmla="*/ 857421 w 2285917"/>
              <a:gd name="connsiteY2" fmla="*/ 1025971 h 1065446"/>
              <a:gd name="connsiteX3" fmla="*/ 1103801 w 2285917"/>
              <a:gd name="connsiteY3" fmla="*/ 1065341 h 1065446"/>
              <a:gd name="connsiteX4" fmla="*/ 1465751 w 2285917"/>
              <a:gd name="connsiteY4" fmla="*/ 1015811 h 1065446"/>
              <a:gd name="connsiteX5" fmla="*/ 1957054 w 2285917"/>
              <a:gd name="connsiteY5" fmla="*/ 820147 h 1065446"/>
              <a:gd name="connsiteX6" fmla="*/ 2285917 w 2285917"/>
              <a:gd name="connsiteY6" fmla="*/ 648920 h 1065446"/>
              <a:gd name="connsiteX7" fmla="*/ 1733633 w 2285917"/>
              <a:gd name="connsiteY7" fmla="*/ 0 h 1065446"/>
              <a:gd name="connsiteX8" fmla="*/ 793657 w 2285917"/>
              <a:gd name="connsiteY8" fmla="*/ 9381 h 1065446"/>
              <a:gd name="connsiteX9" fmla="*/ 0 w 2285917"/>
              <a:gd name="connsiteY9" fmla="*/ 1076 h 1065446"/>
              <a:gd name="connsiteX10" fmla="*/ 392601 w 2285917"/>
              <a:gd name="connsiteY10" fmla="*/ 780861 h 1065446"/>
              <a:gd name="connsiteX0" fmla="*/ 392601 w 2285917"/>
              <a:gd name="connsiteY0" fmla="*/ 779785 h 1064370"/>
              <a:gd name="connsiteX1" fmla="*/ 628821 w 2285917"/>
              <a:gd name="connsiteY1" fmla="*/ 930915 h 1064370"/>
              <a:gd name="connsiteX2" fmla="*/ 857421 w 2285917"/>
              <a:gd name="connsiteY2" fmla="*/ 1024895 h 1064370"/>
              <a:gd name="connsiteX3" fmla="*/ 1103801 w 2285917"/>
              <a:gd name="connsiteY3" fmla="*/ 1064265 h 1064370"/>
              <a:gd name="connsiteX4" fmla="*/ 1465751 w 2285917"/>
              <a:gd name="connsiteY4" fmla="*/ 1014735 h 1064370"/>
              <a:gd name="connsiteX5" fmla="*/ 1957054 w 2285917"/>
              <a:gd name="connsiteY5" fmla="*/ 819071 h 1064370"/>
              <a:gd name="connsiteX6" fmla="*/ 2285917 w 2285917"/>
              <a:gd name="connsiteY6" fmla="*/ 647844 h 1064370"/>
              <a:gd name="connsiteX7" fmla="*/ 2105639 w 2285917"/>
              <a:gd name="connsiteY7" fmla="*/ 19591 h 1064370"/>
              <a:gd name="connsiteX8" fmla="*/ 793657 w 2285917"/>
              <a:gd name="connsiteY8" fmla="*/ 8305 h 1064370"/>
              <a:gd name="connsiteX9" fmla="*/ 0 w 2285917"/>
              <a:gd name="connsiteY9" fmla="*/ 0 h 1064370"/>
              <a:gd name="connsiteX10" fmla="*/ 392601 w 2285917"/>
              <a:gd name="connsiteY10" fmla="*/ 779785 h 1064370"/>
              <a:gd name="connsiteX0" fmla="*/ 392601 w 2110248"/>
              <a:gd name="connsiteY0" fmla="*/ 779785 h 1064370"/>
              <a:gd name="connsiteX1" fmla="*/ 628821 w 2110248"/>
              <a:gd name="connsiteY1" fmla="*/ 930915 h 1064370"/>
              <a:gd name="connsiteX2" fmla="*/ 857421 w 2110248"/>
              <a:gd name="connsiteY2" fmla="*/ 1024895 h 1064370"/>
              <a:gd name="connsiteX3" fmla="*/ 1103801 w 2110248"/>
              <a:gd name="connsiteY3" fmla="*/ 1064265 h 1064370"/>
              <a:gd name="connsiteX4" fmla="*/ 1465751 w 2110248"/>
              <a:gd name="connsiteY4" fmla="*/ 1014735 h 1064370"/>
              <a:gd name="connsiteX5" fmla="*/ 1957054 w 2110248"/>
              <a:gd name="connsiteY5" fmla="*/ 819071 h 1064370"/>
              <a:gd name="connsiteX6" fmla="*/ 2110248 w 2110248"/>
              <a:gd name="connsiteY6" fmla="*/ 733096 h 1064370"/>
              <a:gd name="connsiteX7" fmla="*/ 2105639 w 2110248"/>
              <a:gd name="connsiteY7" fmla="*/ 19591 h 1064370"/>
              <a:gd name="connsiteX8" fmla="*/ 793657 w 2110248"/>
              <a:gd name="connsiteY8" fmla="*/ 8305 h 1064370"/>
              <a:gd name="connsiteX9" fmla="*/ 0 w 2110248"/>
              <a:gd name="connsiteY9" fmla="*/ 0 h 1064370"/>
              <a:gd name="connsiteX10" fmla="*/ 392601 w 2110248"/>
              <a:gd name="connsiteY10" fmla="*/ 779785 h 1064370"/>
              <a:gd name="connsiteX0" fmla="*/ 0 w 1717647"/>
              <a:gd name="connsiteY0" fmla="*/ 771480 h 1056065"/>
              <a:gd name="connsiteX1" fmla="*/ 236220 w 1717647"/>
              <a:gd name="connsiteY1" fmla="*/ 922610 h 1056065"/>
              <a:gd name="connsiteX2" fmla="*/ 464820 w 1717647"/>
              <a:gd name="connsiteY2" fmla="*/ 1016590 h 1056065"/>
              <a:gd name="connsiteX3" fmla="*/ 711200 w 1717647"/>
              <a:gd name="connsiteY3" fmla="*/ 1055960 h 1056065"/>
              <a:gd name="connsiteX4" fmla="*/ 1073150 w 1717647"/>
              <a:gd name="connsiteY4" fmla="*/ 1006430 h 1056065"/>
              <a:gd name="connsiteX5" fmla="*/ 1564453 w 1717647"/>
              <a:gd name="connsiteY5" fmla="*/ 810766 h 1056065"/>
              <a:gd name="connsiteX6" fmla="*/ 1717647 w 1717647"/>
              <a:gd name="connsiteY6" fmla="*/ 724791 h 1056065"/>
              <a:gd name="connsiteX7" fmla="*/ 1713038 w 1717647"/>
              <a:gd name="connsiteY7" fmla="*/ 11286 h 1056065"/>
              <a:gd name="connsiteX8" fmla="*/ 401056 w 1717647"/>
              <a:gd name="connsiteY8" fmla="*/ 0 h 1056065"/>
              <a:gd name="connsiteX9" fmla="*/ 20739 w 1717647"/>
              <a:gd name="connsiteY9" fmla="*/ 25278 h 1056065"/>
              <a:gd name="connsiteX10" fmla="*/ 0 w 1717647"/>
              <a:gd name="connsiteY10" fmla="*/ 771480 h 1056065"/>
              <a:gd name="connsiteX0" fmla="*/ 0 w 1707314"/>
              <a:gd name="connsiteY0" fmla="*/ 786980 h 1056065"/>
              <a:gd name="connsiteX1" fmla="*/ 225887 w 1707314"/>
              <a:gd name="connsiteY1" fmla="*/ 922610 h 1056065"/>
              <a:gd name="connsiteX2" fmla="*/ 454487 w 1707314"/>
              <a:gd name="connsiteY2" fmla="*/ 1016590 h 1056065"/>
              <a:gd name="connsiteX3" fmla="*/ 700867 w 1707314"/>
              <a:gd name="connsiteY3" fmla="*/ 1055960 h 1056065"/>
              <a:gd name="connsiteX4" fmla="*/ 1062817 w 1707314"/>
              <a:gd name="connsiteY4" fmla="*/ 1006430 h 1056065"/>
              <a:gd name="connsiteX5" fmla="*/ 1554120 w 1707314"/>
              <a:gd name="connsiteY5" fmla="*/ 810766 h 1056065"/>
              <a:gd name="connsiteX6" fmla="*/ 1707314 w 1707314"/>
              <a:gd name="connsiteY6" fmla="*/ 724791 h 1056065"/>
              <a:gd name="connsiteX7" fmla="*/ 1702705 w 1707314"/>
              <a:gd name="connsiteY7" fmla="*/ 11286 h 1056065"/>
              <a:gd name="connsiteX8" fmla="*/ 390723 w 1707314"/>
              <a:gd name="connsiteY8" fmla="*/ 0 h 1056065"/>
              <a:gd name="connsiteX9" fmla="*/ 10406 w 1707314"/>
              <a:gd name="connsiteY9" fmla="*/ 25278 h 1056065"/>
              <a:gd name="connsiteX10" fmla="*/ 0 w 1707314"/>
              <a:gd name="connsiteY10" fmla="*/ 786980 h 1056065"/>
              <a:gd name="connsiteX0" fmla="*/ 0 w 1707314"/>
              <a:gd name="connsiteY0" fmla="*/ 786980 h 1056065"/>
              <a:gd name="connsiteX1" fmla="*/ 225887 w 1707314"/>
              <a:gd name="connsiteY1" fmla="*/ 922610 h 1056065"/>
              <a:gd name="connsiteX2" fmla="*/ 454487 w 1707314"/>
              <a:gd name="connsiteY2" fmla="*/ 1016590 h 1056065"/>
              <a:gd name="connsiteX3" fmla="*/ 700867 w 1707314"/>
              <a:gd name="connsiteY3" fmla="*/ 1055960 h 1056065"/>
              <a:gd name="connsiteX4" fmla="*/ 1062817 w 1707314"/>
              <a:gd name="connsiteY4" fmla="*/ 1006430 h 1056065"/>
              <a:gd name="connsiteX5" fmla="*/ 1554120 w 1707314"/>
              <a:gd name="connsiteY5" fmla="*/ 810766 h 1056065"/>
              <a:gd name="connsiteX6" fmla="*/ 1707314 w 1707314"/>
              <a:gd name="connsiteY6" fmla="*/ 724791 h 1056065"/>
              <a:gd name="connsiteX7" fmla="*/ 1702705 w 1707314"/>
              <a:gd name="connsiteY7" fmla="*/ 11286 h 1056065"/>
              <a:gd name="connsiteX8" fmla="*/ 390723 w 1707314"/>
              <a:gd name="connsiteY8" fmla="*/ 0 h 1056065"/>
              <a:gd name="connsiteX9" fmla="*/ 7823 w 1707314"/>
              <a:gd name="connsiteY9" fmla="*/ 14944 h 1056065"/>
              <a:gd name="connsiteX10" fmla="*/ 0 w 1707314"/>
              <a:gd name="connsiteY10" fmla="*/ 786980 h 1056065"/>
              <a:gd name="connsiteX0" fmla="*/ 0 w 1707314"/>
              <a:gd name="connsiteY0" fmla="*/ 781813 h 1050898"/>
              <a:gd name="connsiteX1" fmla="*/ 225887 w 1707314"/>
              <a:gd name="connsiteY1" fmla="*/ 917443 h 1050898"/>
              <a:gd name="connsiteX2" fmla="*/ 454487 w 1707314"/>
              <a:gd name="connsiteY2" fmla="*/ 1011423 h 1050898"/>
              <a:gd name="connsiteX3" fmla="*/ 700867 w 1707314"/>
              <a:gd name="connsiteY3" fmla="*/ 1050793 h 1050898"/>
              <a:gd name="connsiteX4" fmla="*/ 1062817 w 1707314"/>
              <a:gd name="connsiteY4" fmla="*/ 1001263 h 1050898"/>
              <a:gd name="connsiteX5" fmla="*/ 1554120 w 1707314"/>
              <a:gd name="connsiteY5" fmla="*/ 805599 h 1050898"/>
              <a:gd name="connsiteX6" fmla="*/ 1707314 w 1707314"/>
              <a:gd name="connsiteY6" fmla="*/ 719624 h 1050898"/>
              <a:gd name="connsiteX7" fmla="*/ 1702705 w 1707314"/>
              <a:gd name="connsiteY7" fmla="*/ 6119 h 1050898"/>
              <a:gd name="connsiteX8" fmla="*/ 393306 w 1707314"/>
              <a:gd name="connsiteY8" fmla="*/ 0 h 1050898"/>
              <a:gd name="connsiteX9" fmla="*/ 7823 w 1707314"/>
              <a:gd name="connsiteY9" fmla="*/ 9777 h 1050898"/>
              <a:gd name="connsiteX10" fmla="*/ 0 w 1707314"/>
              <a:gd name="connsiteY10" fmla="*/ 781813 h 1050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07314" h="1050898">
                <a:moveTo>
                  <a:pt x="0" y="781813"/>
                </a:moveTo>
                <a:cubicBezTo>
                  <a:pt x="93662" y="849017"/>
                  <a:pt x="150139" y="879175"/>
                  <a:pt x="225887" y="917443"/>
                </a:cubicBezTo>
                <a:cubicBezTo>
                  <a:pt x="301635" y="955711"/>
                  <a:pt x="375324" y="989198"/>
                  <a:pt x="454487" y="1011423"/>
                </a:cubicBezTo>
                <a:cubicBezTo>
                  <a:pt x="533650" y="1033648"/>
                  <a:pt x="599479" y="1052486"/>
                  <a:pt x="700867" y="1050793"/>
                </a:cubicBezTo>
                <a:cubicBezTo>
                  <a:pt x="802255" y="1049100"/>
                  <a:pt x="920608" y="1042129"/>
                  <a:pt x="1062817" y="1001263"/>
                </a:cubicBezTo>
                <a:lnTo>
                  <a:pt x="1554120" y="805599"/>
                </a:lnTo>
                <a:lnTo>
                  <a:pt x="1707314" y="719624"/>
                </a:lnTo>
                <a:cubicBezTo>
                  <a:pt x="1705778" y="481789"/>
                  <a:pt x="1704241" y="243954"/>
                  <a:pt x="1702705" y="6119"/>
                </a:cubicBezTo>
                <a:lnTo>
                  <a:pt x="393306" y="0"/>
                </a:lnTo>
                <a:lnTo>
                  <a:pt x="7823" y="9777"/>
                </a:lnTo>
                <a:cubicBezTo>
                  <a:pt x="5215" y="267122"/>
                  <a:pt x="2608" y="524468"/>
                  <a:pt x="0" y="781813"/>
                </a:cubicBezTo>
                <a:close/>
              </a:path>
            </a:pathLst>
          </a:custGeom>
          <a:solidFill>
            <a:schemeClr val="accent5">
              <a:lumMod val="90000"/>
            </a:schemeClr>
          </a:solidFill>
          <a:ln w="1905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238" name="直接连接符 237"/>
          <p:cNvCxnSpPr/>
          <p:nvPr/>
        </p:nvCxnSpPr>
        <p:spPr bwMode="auto">
          <a:xfrm>
            <a:off x="2104095" y="3426216"/>
            <a:ext cx="1358909" cy="1631558"/>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2" name="直接连接符 231"/>
          <p:cNvCxnSpPr/>
          <p:nvPr/>
        </p:nvCxnSpPr>
        <p:spPr bwMode="auto">
          <a:xfrm flipH="1">
            <a:off x="2072451" y="3370823"/>
            <a:ext cx="16568" cy="1768182"/>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41</a:t>
            </a:fld>
            <a:endParaRPr lang="zh-CN" altLang="en-US" dirty="0">
              <a:solidFill>
                <a:srgbClr val="C00000"/>
              </a:solidFill>
            </a:endParaRPr>
          </a:p>
        </p:txBody>
      </p:sp>
      <p:sp>
        <p:nvSpPr>
          <p:cNvPr id="159" name="Text Box 2"/>
          <p:cNvSpPr txBox="1">
            <a:spLocks noChangeArrowheads="1"/>
          </p:cNvSpPr>
          <p:nvPr/>
        </p:nvSpPr>
        <p:spPr bwMode="auto">
          <a:xfrm>
            <a:off x="2495809" y="5596396"/>
            <a:ext cx="51091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普朗德尔</a:t>
            </a:r>
            <a:r>
              <a:rPr kumimoji="1" lang="en-US" altLang="zh-CN" sz="4000" b="1" dirty="0">
                <a:solidFill>
                  <a:srgbClr val="000066"/>
                </a:solidFill>
                <a:latin typeface="黑体" pitchFamily="2" charset="-122"/>
                <a:ea typeface="黑体" pitchFamily="2" charset="-122"/>
              </a:rPr>
              <a:t>-</a:t>
            </a:r>
            <a:r>
              <a:rPr kumimoji="1" lang="zh-CN" altLang="en-US" sz="4000" b="1" dirty="0">
                <a:solidFill>
                  <a:srgbClr val="000066"/>
                </a:solidFill>
                <a:latin typeface="黑体" pitchFamily="2" charset="-122"/>
                <a:ea typeface="黑体" pitchFamily="2" charset="-122"/>
              </a:rPr>
              <a:t>瑞斯纳公式</a:t>
            </a:r>
          </a:p>
        </p:txBody>
      </p:sp>
      <p:sp>
        <p:nvSpPr>
          <p:cNvPr id="162" name="Text Box 3"/>
          <p:cNvSpPr txBox="1">
            <a:spLocks noChangeArrowheads="1"/>
          </p:cNvSpPr>
          <p:nvPr/>
        </p:nvSpPr>
        <p:spPr bwMode="auto">
          <a:xfrm>
            <a:off x="737559" y="585476"/>
            <a:ext cx="294137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Font typeface="Wingdings" pitchFamily="2" charset="2"/>
              <a:buChar char="n"/>
              <a:defRPr/>
            </a:pPr>
            <a:r>
              <a:rPr kumimoji="0" lang="zh-CN" altLang="en-US" b="1" dirty="0">
                <a:solidFill>
                  <a:srgbClr val="A50021"/>
                </a:solidFill>
                <a:latin typeface="微软雅黑" panose="020B0503020204020204" pitchFamily="34" charset="-122"/>
                <a:ea typeface="微软雅黑" panose="020B0503020204020204" pitchFamily="34" charset="-122"/>
                <a:cs typeface="Times New Roman" panose="02020603050405020304" pitchFamily="18" charset="0"/>
              </a:rPr>
              <a:t>刚体平衡法解答</a:t>
            </a:r>
          </a:p>
        </p:txBody>
      </p:sp>
      <p:sp>
        <p:nvSpPr>
          <p:cNvPr id="166" name="Text Box 3"/>
          <p:cNvSpPr txBox="1">
            <a:spLocks noChangeArrowheads="1"/>
          </p:cNvSpPr>
          <p:nvPr/>
        </p:nvSpPr>
        <p:spPr bwMode="auto">
          <a:xfrm>
            <a:off x="1125698" y="1300257"/>
            <a:ext cx="7288846" cy="84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eaLnBrk="1" hangingPunct="1">
              <a:buClr>
                <a:srgbClr val="C00000"/>
              </a:buClr>
              <a:buSzPct val="135000"/>
              <a:buFont typeface="Wingdings" panose="05000000000000000000" pitchFamily="2" charset="2"/>
              <a:buChar char="F"/>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在确定地基滑动面形状的情况下，采用刚体平衡法，可求出极限承载力</a:t>
            </a:r>
            <a:r>
              <a:rPr lang="en-US" altLang="zh-CN" sz="24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4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同样的表达式</a:t>
            </a:r>
          </a:p>
        </p:txBody>
      </p:sp>
      <p:cxnSp>
        <p:nvCxnSpPr>
          <p:cNvPr id="72" name="直接连接符 71"/>
          <p:cNvCxnSpPr/>
          <p:nvPr/>
        </p:nvCxnSpPr>
        <p:spPr bwMode="auto">
          <a:xfrm flipH="1">
            <a:off x="1393543" y="3421962"/>
            <a:ext cx="2970519"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 Box 21"/>
          <p:cNvSpPr txBox="1">
            <a:spLocks noChangeArrowheads="1"/>
          </p:cNvSpPr>
          <p:nvPr/>
        </p:nvSpPr>
        <p:spPr bwMode="auto">
          <a:xfrm>
            <a:off x="2878802" y="2482203"/>
            <a:ext cx="1088320" cy="517065"/>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sp>
        <p:nvSpPr>
          <p:cNvPr id="110" name="任意多边形 109"/>
          <p:cNvSpPr/>
          <p:nvPr/>
        </p:nvSpPr>
        <p:spPr bwMode="auto">
          <a:xfrm>
            <a:off x="1407456" y="3420162"/>
            <a:ext cx="682555" cy="1346257"/>
          </a:xfrm>
          <a:custGeom>
            <a:avLst/>
            <a:gdLst>
              <a:gd name="connsiteX0" fmla="*/ 0 w 800100"/>
              <a:gd name="connsiteY0" fmla="*/ 0 h 781050"/>
              <a:gd name="connsiteX1" fmla="*/ 406400 w 800100"/>
              <a:gd name="connsiteY1" fmla="*/ 781050 h 781050"/>
              <a:gd name="connsiteX2" fmla="*/ 800100 w 800100"/>
              <a:gd name="connsiteY2" fmla="*/ 12700 h 781050"/>
              <a:gd name="connsiteX0" fmla="*/ 0 w 788670"/>
              <a:gd name="connsiteY0" fmla="*/ 0 h 773430"/>
              <a:gd name="connsiteX1" fmla="*/ 394970 w 788670"/>
              <a:gd name="connsiteY1" fmla="*/ 773430 h 773430"/>
              <a:gd name="connsiteX2" fmla="*/ 788670 w 788670"/>
              <a:gd name="connsiteY2" fmla="*/ 5080 h 773430"/>
              <a:gd name="connsiteX0" fmla="*/ 0 w 798195"/>
              <a:gd name="connsiteY0" fmla="*/ 13970 h 787400"/>
              <a:gd name="connsiteX1" fmla="*/ 394970 w 798195"/>
              <a:gd name="connsiteY1" fmla="*/ 787400 h 787400"/>
              <a:gd name="connsiteX2" fmla="*/ 798195 w 798195"/>
              <a:gd name="connsiteY2" fmla="*/ 0 h 787400"/>
              <a:gd name="connsiteX0" fmla="*/ 0 w 809625"/>
              <a:gd name="connsiteY0" fmla="*/ 2540 h 787400"/>
              <a:gd name="connsiteX1" fmla="*/ 406400 w 809625"/>
              <a:gd name="connsiteY1" fmla="*/ 787400 h 787400"/>
              <a:gd name="connsiteX2" fmla="*/ 809625 w 809625"/>
              <a:gd name="connsiteY2" fmla="*/ 0 h 787400"/>
              <a:gd name="connsiteX0" fmla="*/ 0 w 798195"/>
              <a:gd name="connsiteY0" fmla="*/ 4445 h 787400"/>
              <a:gd name="connsiteX1" fmla="*/ 394970 w 798195"/>
              <a:gd name="connsiteY1" fmla="*/ 787400 h 787400"/>
              <a:gd name="connsiteX2" fmla="*/ 798195 w 798195"/>
              <a:gd name="connsiteY2" fmla="*/ 0 h 787400"/>
              <a:gd name="connsiteX0" fmla="*/ 0 w 403225"/>
              <a:gd name="connsiteY0" fmla="*/ 787400 h 787400"/>
              <a:gd name="connsiteX1" fmla="*/ 403225 w 403225"/>
              <a:gd name="connsiteY1" fmla="*/ 0 h 787400"/>
            </a:gdLst>
            <a:ahLst/>
            <a:cxnLst>
              <a:cxn ang="0">
                <a:pos x="connsiteX0" y="connsiteY0"/>
              </a:cxn>
              <a:cxn ang="0">
                <a:pos x="connsiteX1" y="connsiteY1"/>
              </a:cxn>
            </a:cxnLst>
            <a:rect l="l" t="t" r="r" b="b"/>
            <a:pathLst>
              <a:path w="403225" h="787400">
                <a:moveTo>
                  <a:pt x="0" y="787400"/>
                </a:moveTo>
                <a:lnTo>
                  <a:pt x="403225" y="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11" name="任意多边形 110"/>
          <p:cNvSpPr/>
          <p:nvPr/>
        </p:nvSpPr>
        <p:spPr bwMode="auto">
          <a:xfrm>
            <a:off x="1393543" y="4674410"/>
            <a:ext cx="2956075" cy="568627"/>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738392 w 3079471"/>
              <a:gd name="connsiteY6" fmla="*/ 740590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2621432"/>
              <a:gd name="connsiteY0" fmla="*/ 538984 h 823569"/>
              <a:gd name="connsiteX1" fmla="*/ 236220 w 2621432"/>
              <a:gd name="connsiteY1" fmla="*/ 690114 h 823569"/>
              <a:gd name="connsiteX2" fmla="*/ 464820 w 2621432"/>
              <a:gd name="connsiteY2" fmla="*/ 784094 h 823569"/>
              <a:gd name="connsiteX3" fmla="*/ 711200 w 2621432"/>
              <a:gd name="connsiteY3" fmla="*/ 823464 h 823569"/>
              <a:gd name="connsiteX4" fmla="*/ 1073150 w 2621432"/>
              <a:gd name="connsiteY4" fmla="*/ 773934 h 823569"/>
              <a:gd name="connsiteX5" fmla="*/ 1479550 w 2621432"/>
              <a:gd name="connsiteY5" fmla="*/ 615184 h 823569"/>
              <a:gd name="connsiteX6" fmla="*/ 1738392 w 2621432"/>
              <a:gd name="connsiteY6" fmla="*/ 489174 h 823569"/>
              <a:gd name="connsiteX7" fmla="*/ 2252786 w 2621432"/>
              <a:gd name="connsiteY7" fmla="*/ 207599 h 823569"/>
              <a:gd name="connsiteX8" fmla="*/ 2621432 w 2621432"/>
              <a:gd name="connsiteY8" fmla="*/ 0 h 823569"/>
              <a:gd name="connsiteX0" fmla="*/ 0 w 2252786"/>
              <a:gd name="connsiteY0" fmla="*/ 331385 h 615970"/>
              <a:gd name="connsiteX1" fmla="*/ 236220 w 2252786"/>
              <a:gd name="connsiteY1" fmla="*/ 482515 h 615970"/>
              <a:gd name="connsiteX2" fmla="*/ 464820 w 2252786"/>
              <a:gd name="connsiteY2" fmla="*/ 576495 h 615970"/>
              <a:gd name="connsiteX3" fmla="*/ 711200 w 2252786"/>
              <a:gd name="connsiteY3" fmla="*/ 615865 h 615970"/>
              <a:gd name="connsiteX4" fmla="*/ 1073150 w 2252786"/>
              <a:gd name="connsiteY4" fmla="*/ 566335 h 615970"/>
              <a:gd name="connsiteX5" fmla="*/ 1479550 w 2252786"/>
              <a:gd name="connsiteY5" fmla="*/ 407585 h 615970"/>
              <a:gd name="connsiteX6" fmla="*/ 1738392 w 2252786"/>
              <a:gd name="connsiteY6" fmla="*/ 281575 h 615970"/>
              <a:gd name="connsiteX7" fmla="*/ 2252786 w 2252786"/>
              <a:gd name="connsiteY7" fmla="*/ 0 h 615970"/>
              <a:gd name="connsiteX0" fmla="*/ 0 w 1738392"/>
              <a:gd name="connsiteY0" fmla="*/ 49810 h 334395"/>
              <a:gd name="connsiteX1" fmla="*/ 236220 w 1738392"/>
              <a:gd name="connsiteY1" fmla="*/ 200940 h 334395"/>
              <a:gd name="connsiteX2" fmla="*/ 464820 w 1738392"/>
              <a:gd name="connsiteY2" fmla="*/ 294920 h 334395"/>
              <a:gd name="connsiteX3" fmla="*/ 711200 w 1738392"/>
              <a:gd name="connsiteY3" fmla="*/ 334290 h 334395"/>
              <a:gd name="connsiteX4" fmla="*/ 1073150 w 1738392"/>
              <a:gd name="connsiteY4" fmla="*/ 284760 h 334395"/>
              <a:gd name="connsiteX5" fmla="*/ 1479550 w 1738392"/>
              <a:gd name="connsiteY5" fmla="*/ 126010 h 334395"/>
              <a:gd name="connsiteX6" fmla="*/ 1738392 w 1738392"/>
              <a:gd name="connsiteY6" fmla="*/ 0 h 334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8392" h="334395">
                <a:moveTo>
                  <a:pt x="0" y="49810"/>
                </a:moveTo>
                <a:cubicBezTo>
                  <a:pt x="93662" y="117014"/>
                  <a:pt x="158750" y="160088"/>
                  <a:pt x="236220" y="200940"/>
                </a:cubicBezTo>
                <a:cubicBezTo>
                  <a:pt x="313690" y="241792"/>
                  <a:pt x="385657" y="272695"/>
                  <a:pt x="464820" y="294920"/>
                </a:cubicBezTo>
                <a:cubicBezTo>
                  <a:pt x="543983" y="317145"/>
                  <a:pt x="609812" y="335983"/>
                  <a:pt x="711200" y="334290"/>
                </a:cubicBezTo>
                <a:cubicBezTo>
                  <a:pt x="812588" y="332597"/>
                  <a:pt x="945092" y="319473"/>
                  <a:pt x="1073150" y="284760"/>
                </a:cubicBezTo>
                <a:cubicBezTo>
                  <a:pt x="1201208" y="250047"/>
                  <a:pt x="1368676" y="173470"/>
                  <a:pt x="1479550" y="126010"/>
                </a:cubicBezTo>
                <a:cubicBezTo>
                  <a:pt x="1590424" y="78550"/>
                  <a:pt x="1609519" y="67931"/>
                  <a:pt x="1738392" y="0"/>
                </a:cubicBez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12" name="直接连接符 111"/>
          <p:cNvCxnSpPr/>
          <p:nvPr/>
        </p:nvCxnSpPr>
        <p:spPr bwMode="auto">
          <a:xfrm>
            <a:off x="2084472" y="3412841"/>
            <a:ext cx="2267397" cy="1258108"/>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直接连接符 123"/>
          <p:cNvCxnSpPr/>
          <p:nvPr/>
        </p:nvCxnSpPr>
        <p:spPr bwMode="auto">
          <a:xfrm>
            <a:off x="2090688" y="3420163"/>
            <a:ext cx="635324" cy="1815136"/>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组合 13"/>
          <p:cNvGrpSpPr/>
          <p:nvPr/>
        </p:nvGrpSpPr>
        <p:grpSpPr>
          <a:xfrm>
            <a:off x="1412988" y="2812343"/>
            <a:ext cx="2941167" cy="610846"/>
            <a:chOff x="2458693" y="2838014"/>
            <a:chExt cx="2951073" cy="915011"/>
          </a:xfrm>
        </p:grpSpPr>
        <p:sp>
          <p:nvSpPr>
            <p:cNvPr id="67" name="Line 25"/>
            <p:cNvSpPr>
              <a:spLocks noChangeShapeType="1"/>
            </p:cNvSpPr>
            <p:nvPr/>
          </p:nvSpPr>
          <p:spPr bwMode="auto">
            <a:xfrm>
              <a:off x="2797753" y="2838014"/>
              <a:ext cx="0" cy="903673"/>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25"/>
            <p:cNvSpPr>
              <a:spLocks noChangeShapeType="1"/>
            </p:cNvSpPr>
            <p:nvPr/>
          </p:nvSpPr>
          <p:spPr bwMode="auto">
            <a:xfrm>
              <a:off x="2458693" y="2838014"/>
              <a:ext cx="0" cy="903673"/>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25"/>
            <p:cNvSpPr>
              <a:spLocks noChangeShapeType="1"/>
            </p:cNvSpPr>
            <p:nvPr/>
          </p:nvSpPr>
          <p:spPr bwMode="auto">
            <a:xfrm>
              <a:off x="3136813" y="2838014"/>
              <a:ext cx="0" cy="903673"/>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25"/>
            <p:cNvSpPr>
              <a:spLocks noChangeShapeType="1"/>
            </p:cNvSpPr>
            <p:nvPr/>
          </p:nvSpPr>
          <p:spPr bwMode="auto">
            <a:xfrm>
              <a:off x="3520058" y="3283969"/>
              <a:ext cx="0" cy="469056"/>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78" name="直接连接符 77"/>
            <p:cNvCxnSpPr/>
            <p:nvPr/>
          </p:nvCxnSpPr>
          <p:spPr bwMode="auto">
            <a:xfrm flipH="1">
              <a:off x="3135719" y="3262070"/>
              <a:ext cx="2274047"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Line 25"/>
            <p:cNvSpPr>
              <a:spLocks noChangeShapeType="1"/>
            </p:cNvSpPr>
            <p:nvPr/>
          </p:nvSpPr>
          <p:spPr bwMode="auto">
            <a:xfrm>
              <a:off x="3899655" y="3272037"/>
              <a:ext cx="0" cy="469056"/>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25"/>
            <p:cNvSpPr>
              <a:spLocks noChangeShapeType="1"/>
            </p:cNvSpPr>
            <p:nvPr/>
          </p:nvSpPr>
          <p:spPr bwMode="auto">
            <a:xfrm>
              <a:off x="4279251" y="3272037"/>
              <a:ext cx="0" cy="469056"/>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25"/>
            <p:cNvSpPr>
              <a:spLocks noChangeShapeType="1"/>
            </p:cNvSpPr>
            <p:nvPr/>
          </p:nvSpPr>
          <p:spPr bwMode="auto">
            <a:xfrm>
              <a:off x="4658848" y="3276014"/>
              <a:ext cx="0" cy="469056"/>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25"/>
            <p:cNvSpPr>
              <a:spLocks noChangeShapeType="1"/>
            </p:cNvSpPr>
            <p:nvPr/>
          </p:nvSpPr>
          <p:spPr bwMode="auto">
            <a:xfrm>
              <a:off x="5038444" y="3276014"/>
              <a:ext cx="0" cy="469056"/>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25"/>
            <p:cNvSpPr>
              <a:spLocks noChangeShapeType="1"/>
            </p:cNvSpPr>
            <p:nvPr/>
          </p:nvSpPr>
          <p:spPr bwMode="auto">
            <a:xfrm>
              <a:off x="5399530" y="3276014"/>
              <a:ext cx="0" cy="469056"/>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35" name="直接连接符 134"/>
            <p:cNvCxnSpPr/>
            <p:nvPr/>
          </p:nvCxnSpPr>
          <p:spPr bwMode="auto">
            <a:xfrm>
              <a:off x="2466339" y="2838014"/>
              <a:ext cx="66082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6" name="Text Box 21"/>
          <p:cNvSpPr txBox="1">
            <a:spLocks noChangeArrowheads="1"/>
          </p:cNvSpPr>
          <p:nvPr/>
        </p:nvSpPr>
        <p:spPr bwMode="auto">
          <a:xfrm>
            <a:off x="960375" y="2504055"/>
            <a:ext cx="486949" cy="517065"/>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u</a:t>
            </a:r>
            <a:endParaRPr kumimoji="1" lang="en-US" altLang="zh-CN" sz="2400" b="1" baseline="-25000" dirty="0">
              <a:solidFill>
                <a:srgbClr val="000066"/>
              </a:solidFill>
              <a:latin typeface="Times New Roman" panose="02020603050405020304" pitchFamily="18" charset="0"/>
            </a:endParaRPr>
          </a:p>
        </p:txBody>
      </p:sp>
      <p:sp>
        <p:nvSpPr>
          <p:cNvPr id="141" name="Text Box 21"/>
          <p:cNvSpPr txBox="1">
            <a:spLocks noChangeArrowheads="1"/>
          </p:cNvSpPr>
          <p:nvPr/>
        </p:nvSpPr>
        <p:spPr bwMode="auto">
          <a:xfrm>
            <a:off x="1700352" y="2959980"/>
            <a:ext cx="423973"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2" name="Text Box 21"/>
          <p:cNvSpPr txBox="1">
            <a:spLocks noChangeArrowheads="1"/>
          </p:cNvSpPr>
          <p:nvPr/>
        </p:nvSpPr>
        <p:spPr bwMode="auto">
          <a:xfrm>
            <a:off x="990065" y="2989558"/>
            <a:ext cx="411676"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O</a:t>
            </a:r>
            <a:endParaRPr kumimoji="1"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3" name="Text Box 21"/>
          <p:cNvSpPr txBox="1">
            <a:spLocks noChangeArrowheads="1"/>
          </p:cNvSpPr>
          <p:nvPr/>
        </p:nvSpPr>
        <p:spPr bwMode="auto">
          <a:xfrm flipH="1">
            <a:off x="820505" y="4694556"/>
            <a:ext cx="608221"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5" name="Text Box 21"/>
          <p:cNvSpPr txBox="1">
            <a:spLocks noChangeArrowheads="1"/>
          </p:cNvSpPr>
          <p:nvPr/>
        </p:nvSpPr>
        <p:spPr bwMode="auto">
          <a:xfrm>
            <a:off x="3968694" y="4193536"/>
            <a:ext cx="473686"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endParaRPr kumimoji="1"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6" name="Text Box 21"/>
          <p:cNvSpPr txBox="1">
            <a:spLocks noChangeArrowheads="1"/>
          </p:cNvSpPr>
          <p:nvPr/>
        </p:nvSpPr>
        <p:spPr bwMode="auto">
          <a:xfrm>
            <a:off x="3947444" y="3330618"/>
            <a:ext cx="412196"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G</a:t>
            </a:r>
            <a:endParaRPr kumimoji="1" lang="en-US" altLang="zh-CN" sz="24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149" name="组合 148"/>
          <p:cNvGrpSpPr/>
          <p:nvPr/>
        </p:nvGrpSpPr>
        <p:grpSpPr>
          <a:xfrm>
            <a:off x="1379099" y="2502323"/>
            <a:ext cx="710913" cy="263903"/>
            <a:chOff x="4457514" y="2897257"/>
            <a:chExt cx="1362333" cy="109926"/>
          </a:xfrm>
        </p:grpSpPr>
        <p:cxnSp>
          <p:nvCxnSpPr>
            <p:cNvPr id="150" name="直接连接符 149"/>
            <p:cNvCxnSpPr/>
            <p:nvPr/>
          </p:nvCxnSpPr>
          <p:spPr bwMode="auto">
            <a:xfrm>
              <a:off x="4457514" y="2902252"/>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接连接符 153"/>
            <p:cNvCxnSpPr/>
            <p:nvPr/>
          </p:nvCxnSpPr>
          <p:spPr bwMode="auto">
            <a:xfrm>
              <a:off x="5805900" y="2897257"/>
              <a:ext cx="0" cy="1049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直接连接符 154"/>
            <p:cNvCxnSpPr/>
            <p:nvPr/>
          </p:nvCxnSpPr>
          <p:spPr bwMode="auto">
            <a:xfrm>
              <a:off x="4457515" y="2954718"/>
              <a:ext cx="1362332" cy="0"/>
            </a:xfrm>
            <a:prstGeom prst="line">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6" name="Text Box 21"/>
          <p:cNvSpPr txBox="1">
            <a:spLocks noChangeArrowheads="1"/>
          </p:cNvSpPr>
          <p:nvPr/>
        </p:nvSpPr>
        <p:spPr bwMode="auto">
          <a:xfrm>
            <a:off x="1350762" y="2215751"/>
            <a:ext cx="802571"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r>
              <a:rPr kumimoji="1" lang="en-US" altLang="zh-CN" sz="2400" b="1" dirty="0">
                <a:solidFill>
                  <a:srgbClr val="000066"/>
                </a:solidFill>
                <a:latin typeface="Times New Roman" panose="02020603050405020304" pitchFamily="18" charset="0"/>
              </a:rPr>
              <a:t>/2</a:t>
            </a:r>
            <a:endParaRPr kumimoji="1" lang="en-US" altLang="zh-CN" sz="2400" b="1" baseline="-25000" dirty="0">
              <a:solidFill>
                <a:srgbClr val="000066"/>
              </a:solidFill>
              <a:latin typeface="Times New Roman" panose="02020603050405020304" pitchFamily="18" charset="0"/>
            </a:endParaRPr>
          </a:p>
        </p:txBody>
      </p:sp>
      <p:grpSp>
        <p:nvGrpSpPr>
          <p:cNvPr id="30" name="组合 29"/>
          <p:cNvGrpSpPr/>
          <p:nvPr/>
        </p:nvGrpSpPr>
        <p:grpSpPr>
          <a:xfrm>
            <a:off x="1081246" y="3417121"/>
            <a:ext cx="322442" cy="1341678"/>
            <a:chOff x="7609532" y="2477042"/>
            <a:chExt cx="322442" cy="1510112"/>
          </a:xfrm>
        </p:grpSpPr>
        <p:cxnSp>
          <p:nvCxnSpPr>
            <p:cNvPr id="181" name="直接连接符 180"/>
            <p:cNvCxnSpPr>
              <a:endCxn id="183" idx="0"/>
            </p:cNvCxnSpPr>
            <p:nvPr/>
          </p:nvCxnSpPr>
          <p:spPr bwMode="auto">
            <a:xfrm>
              <a:off x="7609532" y="2477042"/>
              <a:ext cx="6653" cy="1510112"/>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Line 25"/>
            <p:cNvSpPr>
              <a:spLocks noChangeShapeType="1"/>
            </p:cNvSpPr>
            <p:nvPr/>
          </p:nvSpPr>
          <p:spPr bwMode="auto">
            <a:xfrm rot="16200000">
              <a:off x="7772752" y="3830587"/>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 name="Line 25"/>
            <p:cNvSpPr>
              <a:spLocks noChangeShapeType="1"/>
            </p:cNvSpPr>
            <p:nvPr/>
          </p:nvSpPr>
          <p:spPr bwMode="auto">
            <a:xfrm rot="16200000">
              <a:off x="7772752" y="3450991"/>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 name="Line 25"/>
            <p:cNvSpPr>
              <a:spLocks noChangeShapeType="1"/>
            </p:cNvSpPr>
            <p:nvPr/>
          </p:nvSpPr>
          <p:spPr bwMode="auto">
            <a:xfrm rot="16200000">
              <a:off x="7775407" y="3071394"/>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7" name="Line 25"/>
            <p:cNvSpPr>
              <a:spLocks noChangeShapeType="1"/>
            </p:cNvSpPr>
            <p:nvPr/>
          </p:nvSpPr>
          <p:spPr bwMode="auto">
            <a:xfrm rot="16200000">
              <a:off x="7775407" y="2691798"/>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9" name="Line 25"/>
            <p:cNvSpPr>
              <a:spLocks noChangeShapeType="1"/>
            </p:cNvSpPr>
            <p:nvPr/>
          </p:nvSpPr>
          <p:spPr bwMode="auto">
            <a:xfrm rot="16200000">
              <a:off x="7775407" y="2330712"/>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8" name="直接连接符 17"/>
          <p:cNvCxnSpPr/>
          <p:nvPr/>
        </p:nvCxnSpPr>
        <p:spPr bwMode="auto">
          <a:xfrm flipV="1">
            <a:off x="1403068" y="3409770"/>
            <a:ext cx="0" cy="1363127"/>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直接连接符 193"/>
          <p:cNvCxnSpPr/>
          <p:nvPr/>
        </p:nvCxnSpPr>
        <p:spPr bwMode="auto">
          <a:xfrm flipV="1">
            <a:off x="4354155" y="3421963"/>
            <a:ext cx="0" cy="1252447"/>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98" name="组合 197"/>
          <p:cNvGrpSpPr/>
          <p:nvPr/>
        </p:nvGrpSpPr>
        <p:grpSpPr>
          <a:xfrm flipH="1">
            <a:off x="4365124" y="3413445"/>
            <a:ext cx="434615" cy="1257504"/>
            <a:chOff x="7609532" y="2477042"/>
            <a:chExt cx="322442" cy="1510112"/>
          </a:xfrm>
        </p:grpSpPr>
        <p:cxnSp>
          <p:nvCxnSpPr>
            <p:cNvPr id="199" name="直接连接符 198"/>
            <p:cNvCxnSpPr>
              <a:endCxn id="200" idx="0"/>
            </p:cNvCxnSpPr>
            <p:nvPr/>
          </p:nvCxnSpPr>
          <p:spPr bwMode="auto">
            <a:xfrm>
              <a:off x="7609532" y="2477042"/>
              <a:ext cx="6653" cy="1510112"/>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0" name="Line 25"/>
            <p:cNvSpPr>
              <a:spLocks noChangeShapeType="1"/>
            </p:cNvSpPr>
            <p:nvPr/>
          </p:nvSpPr>
          <p:spPr bwMode="auto">
            <a:xfrm rot="16200000">
              <a:off x="7772752" y="3830587"/>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1" name="Line 25"/>
            <p:cNvSpPr>
              <a:spLocks noChangeShapeType="1"/>
            </p:cNvSpPr>
            <p:nvPr/>
          </p:nvSpPr>
          <p:spPr bwMode="auto">
            <a:xfrm rot="16200000">
              <a:off x="7772752" y="3450991"/>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2" name="Line 25"/>
            <p:cNvSpPr>
              <a:spLocks noChangeShapeType="1"/>
            </p:cNvSpPr>
            <p:nvPr/>
          </p:nvSpPr>
          <p:spPr bwMode="auto">
            <a:xfrm rot="16200000">
              <a:off x="7775407" y="3071394"/>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3" name="Line 25"/>
            <p:cNvSpPr>
              <a:spLocks noChangeShapeType="1"/>
            </p:cNvSpPr>
            <p:nvPr/>
          </p:nvSpPr>
          <p:spPr bwMode="auto">
            <a:xfrm rot="16200000">
              <a:off x="7775407" y="2691798"/>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 name="Line 25"/>
            <p:cNvSpPr>
              <a:spLocks noChangeShapeType="1"/>
            </p:cNvSpPr>
            <p:nvPr/>
          </p:nvSpPr>
          <p:spPr bwMode="auto">
            <a:xfrm rot="16200000">
              <a:off x="7775407" y="2330712"/>
              <a:ext cx="0" cy="313134"/>
            </a:xfrm>
            <a:prstGeom prst="line">
              <a:avLst/>
            </a:prstGeom>
            <a:noFill/>
            <a:ln w="127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205" name="直接连接符 204"/>
          <p:cNvCxnSpPr/>
          <p:nvPr/>
        </p:nvCxnSpPr>
        <p:spPr bwMode="auto">
          <a:xfrm>
            <a:off x="2733357" y="5243037"/>
            <a:ext cx="65240" cy="192564"/>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直接连接符 205"/>
          <p:cNvCxnSpPr/>
          <p:nvPr/>
        </p:nvCxnSpPr>
        <p:spPr bwMode="auto">
          <a:xfrm>
            <a:off x="3478186" y="5070048"/>
            <a:ext cx="164648" cy="198166"/>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直接连接符 206"/>
          <p:cNvCxnSpPr/>
          <p:nvPr/>
        </p:nvCxnSpPr>
        <p:spPr bwMode="auto">
          <a:xfrm>
            <a:off x="3102843" y="5181767"/>
            <a:ext cx="110231" cy="189117"/>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直接连接符 207"/>
          <p:cNvCxnSpPr/>
          <p:nvPr/>
        </p:nvCxnSpPr>
        <p:spPr bwMode="auto">
          <a:xfrm flipH="1">
            <a:off x="2062512" y="5147114"/>
            <a:ext cx="7252" cy="237056"/>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直接连接符 208"/>
          <p:cNvCxnSpPr/>
          <p:nvPr/>
        </p:nvCxnSpPr>
        <p:spPr bwMode="auto">
          <a:xfrm flipH="1">
            <a:off x="1302036" y="4764104"/>
            <a:ext cx="105063" cy="205097"/>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0" name="直接连接符 209"/>
          <p:cNvCxnSpPr/>
          <p:nvPr/>
        </p:nvCxnSpPr>
        <p:spPr bwMode="auto">
          <a:xfrm flipV="1">
            <a:off x="4039910" y="4663934"/>
            <a:ext cx="206097" cy="117404"/>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直接连接符 218"/>
          <p:cNvCxnSpPr/>
          <p:nvPr/>
        </p:nvCxnSpPr>
        <p:spPr bwMode="auto">
          <a:xfrm flipV="1">
            <a:off x="3808489" y="4794218"/>
            <a:ext cx="194521" cy="97308"/>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 name="直接连接符 219"/>
          <p:cNvCxnSpPr/>
          <p:nvPr/>
        </p:nvCxnSpPr>
        <p:spPr bwMode="auto">
          <a:xfrm flipV="1">
            <a:off x="3567613" y="4889992"/>
            <a:ext cx="220333" cy="104038"/>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1" name="直接连接符 220"/>
          <p:cNvCxnSpPr/>
          <p:nvPr/>
        </p:nvCxnSpPr>
        <p:spPr bwMode="auto">
          <a:xfrm flipV="1">
            <a:off x="3320404" y="4994333"/>
            <a:ext cx="224279" cy="92527"/>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2" name="直接连接符 221"/>
          <p:cNvCxnSpPr/>
          <p:nvPr/>
        </p:nvCxnSpPr>
        <p:spPr bwMode="auto">
          <a:xfrm flipV="1">
            <a:off x="3093682" y="5089087"/>
            <a:ext cx="204920" cy="60718"/>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3" name="直接连接符 222"/>
          <p:cNvCxnSpPr/>
          <p:nvPr/>
        </p:nvCxnSpPr>
        <p:spPr bwMode="auto">
          <a:xfrm flipV="1">
            <a:off x="2831340" y="5152073"/>
            <a:ext cx="219208" cy="38918"/>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4" name="直接连接符 223"/>
          <p:cNvCxnSpPr/>
          <p:nvPr/>
        </p:nvCxnSpPr>
        <p:spPr bwMode="auto">
          <a:xfrm flipV="1">
            <a:off x="2525744" y="5195666"/>
            <a:ext cx="235041" cy="7290"/>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 name="直接连接符 224"/>
          <p:cNvCxnSpPr/>
          <p:nvPr/>
        </p:nvCxnSpPr>
        <p:spPr bwMode="auto">
          <a:xfrm>
            <a:off x="2256325" y="5159829"/>
            <a:ext cx="228239" cy="41699"/>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直接连接符 225"/>
          <p:cNvCxnSpPr/>
          <p:nvPr/>
        </p:nvCxnSpPr>
        <p:spPr bwMode="auto">
          <a:xfrm>
            <a:off x="2000069" y="5064573"/>
            <a:ext cx="228376" cy="78705"/>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7" name="直接连接符 226"/>
          <p:cNvCxnSpPr/>
          <p:nvPr/>
        </p:nvCxnSpPr>
        <p:spPr bwMode="auto">
          <a:xfrm>
            <a:off x="1744278" y="4939714"/>
            <a:ext cx="219947" cy="113492"/>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直接连接符 227"/>
          <p:cNvCxnSpPr/>
          <p:nvPr/>
        </p:nvCxnSpPr>
        <p:spPr bwMode="auto">
          <a:xfrm>
            <a:off x="1490737" y="4770611"/>
            <a:ext cx="198999" cy="131986"/>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直接连接符 229"/>
          <p:cNvCxnSpPr/>
          <p:nvPr/>
        </p:nvCxnSpPr>
        <p:spPr bwMode="auto">
          <a:xfrm flipH="1">
            <a:off x="1701390" y="3402469"/>
            <a:ext cx="393682" cy="1560945"/>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 name="直接连接符 233"/>
          <p:cNvCxnSpPr/>
          <p:nvPr/>
        </p:nvCxnSpPr>
        <p:spPr bwMode="auto">
          <a:xfrm>
            <a:off x="2092167" y="3370823"/>
            <a:ext cx="304962" cy="1851008"/>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接连接符 235"/>
          <p:cNvCxnSpPr/>
          <p:nvPr/>
        </p:nvCxnSpPr>
        <p:spPr bwMode="auto">
          <a:xfrm>
            <a:off x="2078988" y="3388247"/>
            <a:ext cx="1023820" cy="1790514"/>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1" name="直接连接符 240"/>
          <p:cNvCxnSpPr/>
          <p:nvPr/>
        </p:nvCxnSpPr>
        <p:spPr bwMode="auto">
          <a:xfrm>
            <a:off x="2112165" y="3426216"/>
            <a:ext cx="1782460" cy="1470937"/>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直接连接符 243"/>
          <p:cNvCxnSpPr/>
          <p:nvPr/>
        </p:nvCxnSpPr>
        <p:spPr bwMode="auto">
          <a:xfrm flipH="1">
            <a:off x="1647207" y="4968325"/>
            <a:ext cx="53906" cy="222572"/>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直接连接符 244"/>
          <p:cNvCxnSpPr/>
          <p:nvPr/>
        </p:nvCxnSpPr>
        <p:spPr bwMode="auto">
          <a:xfrm>
            <a:off x="2393439" y="5225904"/>
            <a:ext cx="40134" cy="227840"/>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连接符 250"/>
          <p:cNvCxnSpPr/>
          <p:nvPr/>
        </p:nvCxnSpPr>
        <p:spPr bwMode="auto">
          <a:xfrm>
            <a:off x="3891776" y="4898860"/>
            <a:ext cx="228136" cy="187136"/>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3" name="直接连接符 252"/>
          <p:cNvCxnSpPr/>
          <p:nvPr/>
        </p:nvCxnSpPr>
        <p:spPr bwMode="auto">
          <a:xfrm>
            <a:off x="4340831" y="4674713"/>
            <a:ext cx="272488" cy="154520"/>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 name="Text Box 21"/>
          <p:cNvSpPr txBox="1">
            <a:spLocks noChangeArrowheads="1"/>
          </p:cNvSpPr>
          <p:nvPr/>
        </p:nvSpPr>
        <p:spPr bwMode="auto">
          <a:xfrm>
            <a:off x="4052963" y="4933345"/>
            <a:ext cx="389850"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sz="24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67" name="Text Box 21"/>
          <p:cNvSpPr txBox="1">
            <a:spLocks noChangeArrowheads="1"/>
          </p:cNvSpPr>
          <p:nvPr/>
        </p:nvSpPr>
        <p:spPr bwMode="auto">
          <a:xfrm>
            <a:off x="3422960" y="4538396"/>
            <a:ext cx="32092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4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70" name="Text Box 21"/>
          <p:cNvSpPr txBox="1">
            <a:spLocks noChangeArrowheads="1"/>
          </p:cNvSpPr>
          <p:nvPr/>
        </p:nvSpPr>
        <p:spPr bwMode="auto">
          <a:xfrm>
            <a:off x="557853" y="3806677"/>
            <a:ext cx="486949" cy="483017"/>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r>
              <a:rPr kumimoji="1" lang="en-US" altLang="zh-CN" sz="2400" b="1" baseline="-25000" dirty="0">
                <a:solidFill>
                  <a:srgbClr val="000066"/>
                </a:solidFill>
                <a:latin typeface="Times New Roman" panose="02020603050405020304" pitchFamily="18" charset="0"/>
              </a:rPr>
              <a:t>a</a:t>
            </a:r>
          </a:p>
        </p:txBody>
      </p:sp>
      <p:sp>
        <p:nvSpPr>
          <p:cNvPr id="272" name="Text Box 21"/>
          <p:cNvSpPr txBox="1">
            <a:spLocks noChangeArrowheads="1"/>
          </p:cNvSpPr>
          <p:nvPr/>
        </p:nvSpPr>
        <p:spPr bwMode="auto">
          <a:xfrm>
            <a:off x="4805942" y="3739158"/>
            <a:ext cx="486949" cy="483017"/>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r>
              <a:rPr kumimoji="1" lang="en-US" altLang="zh-CN" sz="2400" b="1" baseline="-25000" dirty="0">
                <a:solidFill>
                  <a:srgbClr val="000066"/>
                </a:solidFill>
                <a:latin typeface="Times New Roman" panose="02020603050405020304" pitchFamily="18" charset="0"/>
              </a:rPr>
              <a:t>p</a:t>
            </a:r>
          </a:p>
        </p:txBody>
      </p:sp>
      <p:sp>
        <p:nvSpPr>
          <p:cNvPr id="273" name="Text Box 110"/>
          <p:cNvSpPr txBox="1">
            <a:spLocks noChangeArrowheads="1"/>
          </p:cNvSpPr>
          <p:nvPr/>
        </p:nvSpPr>
        <p:spPr bwMode="auto">
          <a:xfrm>
            <a:off x="5501031" y="2436820"/>
            <a:ext cx="3197696" cy="2909514"/>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71463" indent="-271463" defTabSz="739775" eaLnBrk="1" hangingPunct="1">
              <a:lnSpc>
                <a:spcPct val="114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将滑动土体沿</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I</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区和</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III</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区的中线切开。取土体</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OCEGAO</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作为隔离体</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eaLnBrk="1" hangingPunct="1">
              <a:lnSpc>
                <a:spcPct val="114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该隔离体周边的作用力如图中所示</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eaLnBrk="1" hangingPunct="1">
              <a:lnSpc>
                <a:spcPct val="114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隔离体处于静力平衡状态，各边界面上的作用力对极点</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取矩</a:t>
            </a:r>
          </a:p>
        </p:txBody>
      </p:sp>
      <p:sp>
        <p:nvSpPr>
          <p:cNvPr id="274" name="Rectangle 39"/>
          <p:cNvSpPr>
            <a:spLocks noChangeArrowheads="1"/>
          </p:cNvSpPr>
          <p:nvPr/>
        </p:nvSpPr>
        <p:spPr bwMode="auto">
          <a:xfrm>
            <a:off x="1453042" y="3558286"/>
            <a:ext cx="423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nSpc>
                <a:spcPct val="100000"/>
              </a:lnSpc>
              <a:spcBef>
                <a:spcPct val="0"/>
              </a:spcBef>
              <a:spcAft>
                <a:spcPct val="0"/>
              </a:spcAft>
            </a:pPr>
            <a:r>
              <a:rPr kumimoji="1" lang="en-US" altLang="zh-CN" sz="2400" b="1" dirty="0">
                <a:solidFill>
                  <a:srgbClr val="000066"/>
                </a:solidFill>
                <a:latin typeface="Times New Roman" panose="02020603050405020304" pitchFamily="18" charset="0"/>
                <a:sym typeface="Symbol" panose="05050102010706020507" pitchFamily="18" charset="2"/>
              </a:rPr>
              <a:t>r</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p>
        </p:txBody>
      </p:sp>
      <p:sp>
        <p:nvSpPr>
          <p:cNvPr id="276" name="Rectangle 39"/>
          <p:cNvSpPr>
            <a:spLocks noChangeArrowheads="1"/>
          </p:cNvSpPr>
          <p:nvPr/>
        </p:nvSpPr>
        <p:spPr bwMode="auto">
          <a:xfrm>
            <a:off x="3118409" y="3656410"/>
            <a:ext cx="423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nSpc>
                <a:spcPct val="100000"/>
              </a:lnSpc>
              <a:spcBef>
                <a:spcPct val="0"/>
              </a:spcBef>
              <a:spcAft>
                <a:spcPct val="0"/>
              </a:spcAft>
            </a:pPr>
            <a:r>
              <a:rPr kumimoji="1" lang="en-US" altLang="zh-CN" sz="2400" b="1" dirty="0">
                <a:solidFill>
                  <a:srgbClr val="000066"/>
                </a:solidFill>
                <a:latin typeface="Times New Roman" panose="02020603050405020304" pitchFamily="18" charset="0"/>
                <a:sym typeface="Symbol" panose="05050102010706020507" pitchFamily="18" charset="2"/>
              </a:rPr>
              <a:t>r</a:t>
            </a:r>
            <a:r>
              <a:rPr kumimoji="1" lang="en-US" altLang="zh-CN" sz="2400" b="1" baseline="-25000" dirty="0">
                <a:solidFill>
                  <a:srgbClr val="000066"/>
                </a:solidFill>
                <a:latin typeface="Times New Roman" panose="02020603050405020304" pitchFamily="18" charset="0"/>
                <a:sym typeface="Symbol" panose="05050102010706020507" pitchFamily="18" charset="2"/>
              </a:rPr>
              <a:t>1</a:t>
            </a:r>
          </a:p>
        </p:txBody>
      </p:sp>
      <p:sp>
        <p:nvSpPr>
          <p:cNvPr id="87" name="Text Box 7"/>
          <p:cNvSpPr txBox="1">
            <a:spLocks noChangeArrowheads="1"/>
          </p:cNvSpPr>
          <p:nvPr/>
        </p:nvSpPr>
        <p:spPr bwMode="auto">
          <a:xfrm>
            <a:off x="0" y="0"/>
            <a:ext cx="56344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普朗德尔</a:t>
            </a:r>
            <a:r>
              <a:rPr lang="en-US" altLang="zh-CN" sz="1800" b="1" kern="900" spc="130" dirty="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瑞斯纳公式</a:t>
            </a:r>
          </a:p>
        </p:txBody>
      </p:sp>
    </p:spTree>
    <p:extLst>
      <p:ext uri="{BB962C8B-B14F-4D97-AF65-F5344CB8AC3E}">
        <p14:creationId xmlns:p14="http://schemas.microsoft.com/office/powerpoint/2010/main" val="196672168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wipe(left)">
                                      <p:cBhvr>
                                        <p:cTn id="7" dur="500"/>
                                        <p:tgtEl>
                                          <p:spTgt spid="16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childTnLst>
                          </p:cTn>
                        </p:par>
                        <p:par>
                          <p:cTn id="11" fill="hold">
                            <p:stCondLst>
                              <p:cond delay="500"/>
                            </p:stCondLst>
                            <p:childTnLst>
                              <p:par>
                                <p:cTn id="12" presetID="16" presetClass="entr" presetSubtype="21" fill="hold" grpId="0" nodeType="afterEffect">
                                  <p:stCondLst>
                                    <p:cond delay="0"/>
                                  </p:stCondLst>
                                  <p:childTnLst>
                                    <p:set>
                                      <p:cBhvr>
                                        <p:cTn id="13" dur="1" fill="hold">
                                          <p:stCondLst>
                                            <p:cond delay="0"/>
                                          </p:stCondLst>
                                        </p:cTn>
                                        <p:tgtEl>
                                          <p:spTgt spid="273">
                                            <p:txEl>
                                              <p:pRg st="0" end="0"/>
                                            </p:txEl>
                                          </p:spTgt>
                                        </p:tgtEl>
                                        <p:attrNameLst>
                                          <p:attrName>style.visibility</p:attrName>
                                        </p:attrNameLst>
                                      </p:cBhvr>
                                      <p:to>
                                        <p:strVal val="visible"/>
                                      </p:to>
                                    </p:set>
                                    <p:animEffect transition="in" filter="barn(inVertical)">
                                      <p:cBhvr>
                                        <p:cTn id="14" dur="500"/>
                                        <p:tgtEl>
                                          <p:spTgt spid="27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73">
                                            <p:txEl>
                                              <p:pRg st="1" end="1"/>
                                            </p:txEl>
                                          </p:spTgt>
                                        </p:tgtEl>
                                        <p:attrNameLst>
                                          <p:attrName>style.visibility</p:attrName>
                                        </p:attrNameLst>
                                      </p:cBhvr>
                                      <p:to>
                                        <p:strVal val="visible"/>
                                      </p:to>
                                    </p:set>
                                    <p:animEffect transition="in" filter="barn(inVertical)">
                                      <p:cBhvr>
                                        <p:cTn id="19" dur="500"/>
                                        <p:tgtEl>
                                          <p:spTgt spid="27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73">
                                            <p:txEl>
                                              <p:pRg st="2" end="2"/>
                                            </p:txEl>
                                          </p:spTgt>
                                        </p:tgtEl>
                                        <p:attrNameLst>
                                          <p:attrName>style.visibility</p:attrName>
                                        </p:attrNameLst>
                                      </p:cBhvr>
                                      <p:to>
                                        <p:strVal val="visible"/>
                                      </p:to>
                                    </p:set>
                                    <p:animEffect transition="in" filter="barn(inVertical)">
                                      <p:cBhvr>
                                        <p:cTn id="24" dur="500"/>
                                        <p:tgtEl>
                                          <p:spTgt spid="27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166" grpId="0" autoUpdateAnimBg="0"/>
      <p:bldP spid="27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bwMode="auto">
          <a:xfrm>
            <a:off x="1253556" y="3478279"/>
            <a:ext cx="7297778" cy="1987161"/>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37" name="矩形 36"/>
          <p:cNvSpPr/>
          <p:nvPr/>
        </p:nvSpPr>
        <p:spPr bwMode="auto">
          <a:xfrm>
            <a:off x="4990161" y="1663167"/>
            <a:ext cx="3906308" cy="1208583"/>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 name="弧形 6"/>
          <p:cNvSpPr/>
          <p:nvPr/>
        </p:nvSpPr>
        <p:spPr bwMode="auto">
          <a:xfrm rot="8100000">
            <a:off x="5623111" y="758430"/>
            <a:ext cx="1769750" cy="1769750"/>
          </a:xfrm>
          <a:prstGeom prst="arc">
            <a:avLst/>
          </a:pr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 name="任意多边形 4"/>
          <p:cNvSpPr/>
          <p:nvPr/>
        </p:nvSpPr>
        <p:spPr bwMode="auto">
          <a:xfrm rot="8100000">
            <a:off x="5442456" y="1198092"/>
            <a:ext cx="896556" cy="888622"/>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085" h="1219200">
                <a:moveTo>
                  <a:pt x="0" y="0"/>
                </a:moveTo>
                <a:lnTo>
                  <a:pt x="1230085" y="0"/>
                </a:lnTo>
                <a:lnTo>
                  <a:pt x="1230085" y="1219200"/>
                </a:lnTo>
                <a:lnTo>
                  <a:pt x="43542" y="32657"/>
                </a:lnTo>
                <a:lnTo>
                  <a:pt x="0" y="0"/>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0" name="任意多边形 189"/>
          <p:cNvSpPr/>
          <p:nvPr/>
        </p:nvSpPr>
        <p:spPr bwMode="auto">
          <a:xfrm rot="8100000">
            <a:off x="6685277" y="1197108"/>
            <a:ext cx="896556" cy="888622"/>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085" h="1219200">
                <a:moveTo>
                  <a:pt x="0" y="0"/>
                </a:moveTo>
                <a:lnTo>
                  <a:pt x="1230085" y="0"/>
                </a:lnTo>
                <a:lnTo>
                  <a:pt x="1230085" y="1219200"/>
                </a:lnTo>
                <a:lnTo>
                  <a:pt x="43542" y="32657"/>
                </a:lnTo>
                <a:lnTo>
                  <a:pt x="0" y="0"/>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42</a:t>
            </a:fld>
            <a:endParaRPr lang="zh-CN" altLang="en-US" dirty="0">
              <a:solidFill>
                <a:srgbClr val="C00000"/>
              </a:solidFill>
            </a:endParaRPr>
          </a:p>
        </p:txBody>
      </p:sp>
      <p:sp>
        <p:nvSpPr>
          <p:cNvPr id="159" name="Text Box 2"/>
          <p:cNvSpPr txBox="1">
            <a:spLocks noChangeArrowheads="1"/>
          </p:cNvSpPr>
          <p:nvPr/>
        </p:nvSpPr>
        <p:spPr bwMode="auto">
          <a:xfrm>
            <a:off x="2495809" y="5596396"/>
            <a:ext cx="51091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普朗德尔</a:t>
            </a:r>
            <a:r>
              <a:rPr kumimoji="1" lang="en-US" altLang="zh-CN" sz="4000" b="1" dirty="0">
                <a:solidFill>
                  <a:srgbClr val="000066"/>
                </a:solidFill>
                <a:latin typeface="黑体" pitchFamily="2" charset="-122"/>
                <a:ea typeface="黑体" pitchFamily="2" charset="-122"/>
              </a:rPr>
              <a:t>-</a:t>
            </a:r>
            <a:r>
              <a:rPr kumimoji="1" lang="zh-CN" altLang="en-US" sz="4000" b="1" dirty="0">
                <a:solidFill>
                  <a:srgbClr val="000066"/>
                </a:solidFill>
                <a:latin typeface="黑体" pitchFamily="2" charset="-122"/>
                <a:ea typeface="黑体" pitchFamily="2" charset="-122"/>
              </a:rPr>
              <a:t>瑞斯纳公式</a:t>
            </a:r>
          </a:p>
        </p:txBody>
      </p:sp>
      <p:sp>
        <p:nvSpPr>
          <p:cNvPr id="162" name="Text Box 3"/>
          <p:cNvSpPr txBox="1">
            <a:spLocks noChangeArrowheads="1"/>
          </p:cNvSpPr>
          <p:nvPr/>
        </p:nvSpPr>
        <p:spPr bwMode="auto">
          <a:xfrm>
            <a:off x="850523" y="637790"/>
            <a:ext cx="3105099"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Font typeface="Wingdings" pitchFamily="2" charset="2"/>
              <a:buChar char="n"/>
              <a:defRPr/>
            </a:pPr>
            <a:r>
              <a:rPr lang="zh-CN" altLang="en-US"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zh-CN" altLang="en-US" b="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b="1" dirty="0">
                <a:solidFill>
                  <a:srgbClr val="000066"/>
                </a:solidFill>
                <a:ea typeface="幼圆" panose="02010509060101010101" pitchFamily="49" charset="-122"/>
                <a:cs typeface="Times New Roman" panose="02020603050405020304" pitchFamily="18" charset="0"/>
                <a:sym typeface="Symbol" panose="05050102010706020507" pitchFamily="18" charset="2"/>
              </a:rPr>
              <a:t>0</a:t>
            </a:r>
            <a:r>
              <a:rPr kumimoji="0" lang="zh-CN" altLang="en-US" b="1" dirty="0">
                <a:solidFill>
                  <a:srgbClr val="000066"/>
                </a:solidFill>
                <a:ea typeface="幼圆" panose="02010509060101010101" pitchFamily="49" charset="-122"/>
                <a:cs typeface="Times New Roman" panose="02020603050405020304" pitchFamily="18" charset="0"/>
                <a:sym typeface="Symbol" panose="05050102010706020507" pitchFamily="18" charset="2"/>
              </a:rPr>
              <a:t>时</a:t>
            </a:r>
            <a:r>
              <a:rPr kumimoji="0" lang="zh-CN" altLang="en-US" b="1" dirty="0">
                <a:solidFill>
                  <a:srgbClr val="000066"/>
                </a:solidFill>
                <a:ea typeface="幼圆" panose="02010509060101010101" pitchFamily="49" charset="-122"/>
                <a:cs typeface="Times New Roman" panose="02020603050405020304" pitchFamily="18" charset="0"/>
              </a:rPr>
              <a:t>的特例</a:t>
            </a:r>
          </a:p>
        </p:txBody>
      </p:sp>
      <p:sp>
        <p:nvSpPr>
          <p:cNvPr id="86" name="Rectangle 18"/>
          <p:cNvSpPr>
            <a:spLocks noChangeArrowheads="1"/>
          </p:cNvSpPr>
          <p:nvPr/>
        </p:nvSpPr>
        <p:spPr bwMode="auto">
          <a:xfrm>
            <a:off x="1253556" y="1156453"/>
            <a:ext cx="2754280" cy="587853"/>
          </a:xfrm>
          <a:prstGeom prst="rect">
            <a:avLst/>
          </a:prstGeom>
          <a:noFill/>
          <a:ln w="9525">
            <a:noFill/>
            <a:miter lim="800000"/>
            <a:headEnd/>
            <a:tailEnd/>
          </a:ln>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8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p</a:t>
            </a:r>
            <a:r>
              <a:rPr lang="en-US" altLang="zh-CN" sz="28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u</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sz="28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0</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d+ </a:t>
            </a:r>
            <a:r>
              <a:rPr lang="en-US" altLang="zh-CN" sz="2800" b="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sz="2800" b="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2)</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c</a:t>
            </a:r>
          </a:p>
        </p:txBody>
      </p:sp>
      <p:sp>
        <p:nvSpPr>
          <p:cNvPr id="2" name="矩形 1"/>
          <p:cNvSpPr/>
          <p:nvPr/>
        </p:nvSpPr>
        <p:spPr>
          <a:xfrm>
            <a:off x="1172840" y="1803638"/>
            <a:ext cx="3772022" cy="800219"/>
          </a:xfrm>
          <a:prstGeom prst="rect">
            <a:avLst/>
          </a:prstGeom>
        </p:spPr>
        <p:txBody>
          <a:bodyPr wrap="square">
            <a:spAutoFit/>
          </a:bodyPr>
          <a:lstStyle/>
          <a:p>
            <a:pPr marL="342900" indent="-342900">
              <a:buClr>
                <a:srgbClr val="C00000"/>
              </a:buClr>
              <a:buFont typeface="Wingdings" panose="05000000000000000000" pitchFamily="2" charset="2"/>
              <a:buChar char="Ø"/>
            </a:pPr>
            <a:r>
              <a:rPr lang="zh-CN" altLang="en-US" sz="2000" b="1" dirty="0">
                <a:solidFill>
                  <a:srgbClr val="000066"/>
                </a:solidFill>
                <a:latin typeface="幼圆" panose="02010509060101010101" pitchFamily="49" charset="-122"/>
                <a:ea typeface="幼圆" panose="02010509060101010101" pitchFamily="49" charset="-122"/>
                <a:cs typeface="宋体" panose="02010600030101010101" pitchFamily="2" charset="-122"/>
              </a:rPr>
              <a:t>适用于</a:t>
            </a:r>
            <a:r>
              <a:rPr lang="zh-CN" altLang="zh-CN" sz="2000" b="1" dirty="0">
                <a:solidFill>
                  <a:srgbClr val="000066"/>
                </a:solidFill>
                <a:latin typeface="幼圆" panose="02010509060101010101" pitchFamily="49" charset="-122"/>
                <a:ea typeface="幼圆" panose="02010509060101010101" pitchFamily="49" charset="-122"/>
                <a:cs typeface="宋体" panose="02010600030101010101" pitchFamily="2" charset="-122"/>
              </a:rPr>
              <a:t>黏性大、排水条件差的饱和黏土地基</a:t>
            </a:r>
            <a:endParaRPr lang="zh-CN" altLang="en-US" sz="2000" b="1" dirty="0">
              <a:solidFill>
                <a:srgbClr val="000066"/>
              </a:solidFill>
              <a:latin typeface="幼圆" panose="02010509060101010101" pitchFamily="49" charset="-122"/>
              <a:ea typeface="幼圆" panose="02010509060101010101" pitchFamily="49" charset="-122"/>
            </a:endParaRPr>
          </a:p>
        </p:txBody>
      </p:sp>
      <p:cxnSp>
        <p:nvCxnSpPr>
          <p:cNvPr id="94" name="直接连接符 93"/>
          <p:cNvCxnSpPr/>
          <p:nvPr/>
        </p:nvCxnSpPr>
        <p:spPr bwMode="auto">
          <a:xfrm flipH="1">
            <a:off x="4990161" y="1644798"/>
            <a:ext cx="3906307"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Text Box 21"/>
          <p:cNvSpPr txBox="1">
            <a:spLocks noChangeArrowheads="1"/>
          </p:cNvSpPr>
          <p:nvPr/>
        </p:nvSpPr>
        <p:spPr bwMode="auto">
          <a:xfrm>
            <a:off x="7241443" y="857119"/>
            <a:ext cx="1046535" cy="517065"/>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q=</a:t>
            </a:r>
            <a:r>
              <a:rPr kumimoji="1" lang="en-US" altLang="zh-CN" sz="2400" b="1" i="1" dirty="0">
                <a:solidFill>
                  <a:srgbClr val="000066"/>
                </a:solidFill>
                <a:latin typeface="Times New Roman" panose="02020603050405020304" pitchFamily="18" charset="0"/>
                <a:sym typeface="Symbol" panose="05050102010706020507" pitchFamily="18" charset="2"/>
              </a:rPr>
              <a:t></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i="1" dirty="0">
                <a:solidFill>
                  <a:srgbClr val="000066"/>
                </a:solidFill>
                <a:latin typeface="Times New Roman" panose="02020603050405020304" pitchFamily="18" charset="0"/>
              </a:rPr>
              <a:t>d</a:t>
            </a:r>
            <a:endParaRPr kumimoji="1" lang="en-US" altLang="zh-CN" sz="2400" b="1" baseline="-25000" dirty="0">
              <a:solidFill>
                <a:srgbClr val="000066"/>
              </a:solidFill>
              <a:latin typeface="Times New Roman" panose="02020603050405020304" pitchFamily="18" charset="0"/>
            </a:endParaRPr>
          </a:p>
        </p:txBody>
      </p:sp>
      <p:grpSp>
        <p:nvGrpSpPr>
          <p:cNvPr id="88" name="组合 87"/>
          <p:cNvGrpSpPr/>
          <p:nvPr/>
        </p:nvGrpSpPr>
        <p:grpSpPr>
          <a:xfrm>
            <a:off x="5272298" y="1178390"/>
            <a:ext cx="1232587" cy="463712"/>
            <a:chOff x="4443756" y="2848235"/>
            <a:chExt cx="817863" cy="531427"/>
          </a:xfrm>
        </p:grpSpPr>
        <p:sp>
          <p:nvSpPr>
            <p:cNvPr id="89" name="Line 25"/>
            <p:cNvSpPr>
              <a:spLocks noChangeShapeType="1"/>
            </p:cNvSpPr>
            <p:nvPr/>
          </p:nvSpPr>
          <p:spPr bwMode="auto">
            <a:xfrm>
              <a:off x="5057153"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25"/>
            <p:cNvSpPr>
              <a:spLocks noChangeShapeType="1"/>
            </p:cNvSpPr>
            <p:nvPr/>
          </p:nvSpPr>
          <p:spPr bwMode="auto">
            <a:xfrm>
              <a:off x="4443756"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Line 25"/>
            <p:cNvSpPr>
              <a:spLocks noChangeShapeType="1"/>
            </p:cNvSpPr>
            <p:nvPr/>
          </p:nvSpPr>
          <p:spPr bwMode="auto">
            <a:xfrm>
              <a:off x="4648222"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25"/>
            <p:cNvSpPr>
              <a:spLocks noChangeShapeType="1"/>
            </p:cNvSpPr>
            <p:nvPr/>
          </p:nvSpPr>
          <p:spPr bwMode="auto">
            <a:xfrm>
              <a:off x="4852687"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25"/>
            <p:cNvSpPr>
              <a:spLocks noChangeShapeType="1"/>
            </p:cNvSpPr>
            <p:nvPr/>
          </p:nvSpPr>
          <p:spPr bwMode="auto">
            <a:xfrm>
              <a:off x="5261619"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00" name="直接连接符 99"/>
          <p:cNvCxnSpPr/>
          <p:nvPr/>
        </p:nvCxnSpPr>
        <p:spPr bwMode="auto">
          <a:xfrm flipH="1">
            <a:off x="6498607" y="1398594"/>
            <a:ext cx="2397861"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 name="组合 14"/>
          <p:cNvGrpSpPr/>
          <p:nvPr/>
        </p:nvGrpSpPr>
        <p:grpSpPr>
          <a:xfrm>
            <a:off x="6935795" y="1403708"/>
            <a:ext cx="1750869" cy="243787"/>
            <a:chOff x="5473060" y="3700042"/>
            <a:chExt cx="2158965" cy="246815"/>
          </a:xfrm>
        </p:grpSpPr>
        <p:sp>
          <p:nvSpPr>
            <p:cNvPr id="99" name="Line 25"/>
            <p:cNvSpPr>
              <a:spLocks noChangeShapeType="1"/>
            </p:cNvSpPr>
            <p:nvPr/>
          </p:nvSpPr>
          <p:spPr bwMode="auto">
            <a:xfrm>
              <a:off x="5473060" y="3706165"/>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25"/>
            <p:cNvSpPr>
              <a:spLocks noChangeShapeType="1"/>
            </p:cNvSpPr>
            <p:nvPr/>
          </p:nvSpPr>
          <p:spPr bwMode="auto">
            <a:xfrm>
              <a:off x="5904853"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25"/>
            <p:cNvSpPr>
              <a:spLocks noChangeShapeType="1"/>
            </p:cNvSpPr>
            <p:nvPr/>
          </p:nvSpPr>
          <p:spPr bwMode="auto">
            <a:xfrm>
              <a:off x="6336646"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25"/>
            <p:cNvSpPr>
              <a:spLocks noChangeShapeType="1"/>
            </p:cNvSpPr>
            <p:nvPr/>
          </p:nvSpPr>
          <p:spPr bwMode="auto">
            <a:xfrm>
              <a:off x="6768439"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25"/>
            <p:cNvSpPr>
              <a:spLocks noChangeShapeType="1"/>
            </p:cNvSpPr>
            <p:nvPr/>
          </p:nvSpPr>
          <p:spPr bwMode="auto">
            <a:xfrm>
              <a:off x="7200232"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25"/>
            <p:cNvSpPr>
              <a:spLocks noChangeShapeType="1"/>
            </p:cNvSpPr>
            <p:nvPr/>
          </p:nvSpPr>
          <p:spPr bwMode="auto">
            <a:xfrm>
              <a:off x="7632025"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61" name="直接连接符 160"/>
          <p:cNvCxnSpPr/>
          <p:nvPr/>
        </p:nvCxnSpPr>
        <p:spPr bwMode="auto">
          <a:xfrm>
            <a:off x="5264885" y="1178390"/>
            <a:ext cx="122428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 name="Text Box 21"/>
          <p:cNvSpPr txBox="1">
            <a:spLocks noChangeArrowheads="1"/>
          </p:cNvSpPr>
          <p:nvPr/>
        </p:nvSpPr>
        <p:spPr bwMode="auto">
          <a:xfrm>
            <a:off x="5641223" y="603803"/>
            <a:ext cx="533956" cy="517065"/>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u</a:t>
            </a:r>
            <a:endParaRPr kumimoji="1" lang="en-US" altLang="zh-CN" sz="2400" b="1" baseline="-25000" dirty="0">
              <a:solidFill>
                <a:srgbClr val="000066"/>
              </a:solidFill>
              <a:latin typeface="Times New Roman" panose="02020603050405020304" pitchFamily="18" charset="0"/>
            </a:endParaRPr>
          </a:p>
        </p:txBody>
      </p:sp>
      <p:sp>
        <p:nvSpPr>
          <p:cNvPr id="191" name="Rectangle 152"/>
          <p:cNvSpPr>
            <a:spLocks noChangeArrowheads="1"/>
          </p:cNvSpPr>
          <p:nvPr/>
        </p:nvSpPr>
        <p:spPr bwMode="auto">
          <a:xfrm>
            <a:off x="6843914" y="1630473"/>
            <a:ext cx="50387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45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92" name="任意多边形 191"/>
          <p:cNvSpPr/>
          <p:nvPr/>
        </p:nvSpPr>
        <p:spPr bwMode="auto">
          <a:xfrm rot="3495134">
            <a:off x="6714843" y="1672886"/>
            <a:ext cx="185127" cy="205728"/>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3" name="任意多边形 192"/>
          <p:cNvSpPr/>
          <p:nvPr/>
        </p:nvSpPr>
        <p:spPr bwMode="auto">
          <a:xfrm rot="12047453">
            <a:off x="6125910" y="1676704"/>
            <a:ext cx="185127" cy="205728"/>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5" name="Rectangle 152"/>
          <p:cNvSpPr>
            <a:spLocks noChangeArrowheads="1"/>
          </p:cNvSpPr>
          <p:nvPr/>
        </p:nvSpPr>
        <p:spPr bwMode="auto">
          <a:xfrm>
            <a:off x="5710275" y="1630473"/>
            <a:ext cx="50387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45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cxnSp>
        <p:nvCxnSpPr>
          <p:cNvPr id="196" name="直接连接符 195"/>
          <p:cNvCxnSpPr/>
          <p:nvPr/>
        </p:nvCxnSpPr>
        <p:spPr bwMode="auto">
          <a:xfrm>
            <a:off x="6925481" y="2475496"/>
            <a:ext cx="360488" cy="9669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 name="Text Box 21"/>
          <p:cNvSpPr txBox="1">
            <a:spLocks noChangeArrowheads="1"/>
          </p:cNvSpPr>
          <p:nvPr/>
        </p:nvSpPr>
        <p:spPr bwMode="auto">
          <a:xfrm>
            <a:off x="7322850" y="2372796"/>
            <a:ext cx="700833" cy="40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dirty="0">
                <a:solidFill>
                  <a:srgbClr val="000066"/>
                </a:solidFill>
                <a:latin typeface="幼圆" panose="02010509060101010101" pitchFamily="49" charset="-122"/>
                <a:ea typeface="幼圆" panose="02010509060101010101" pitchFamily="49" charset="-122"/>
              </a:rPr>
              <a:t>圆弧</a:t>
            </a:r>
            <a:endParaRPr kumimoji="1" lang="en-US" altLang="zh-CN" sz="2000" b="1" baseline="-25000" dirty="0">
              <a:solidFill>
                <a:srgbClr val="000066"/>
              </a:solidFill>
              <a:latin typeface="幼圆" panose="02010509060101010101" pitchFamily="49" charset="-122"/>
              <a:ea typeface="幼圆" panose="02010509060101010101" pitchFamily="49" charset="-122"/>
            </a:endParaRPr>
          </a:p>
        </p:txBody>
      </p:sp>
      <p:sp>
        <p:nvSpPr>
          <p:cNvPr id="211" name="Text Box 3"/>
          <p:cNvSpPr txBox="1">
            <a:spLocks noChangeArrowheads="1"/>
          </p:cNvSpPr>
          <p:nvPr/>
        </p:nvSpPr>
        <p:spPr bwMode="auto">
          <a:xfrm>
            <a:off x="943260" y="2866238"/>
            <a:ext cx="1478208"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Font typeface="Wingdings" pitchFamily="2" charset="2"/>
              <a:buChar char="n"/>
              <a:defRPr/>
            </a:pPr>
            <a:r>
              <a:rPr kumimoji="0" lang="zh-CN" altLang="en-US" b="1" dirty="0">
                <a:solidFill>
                  <a:srgbClr val="000066"/>
                </a:solidFill>
                <a:ea typeface="幼圆" panose="02010509060101010101" pitchFamily="49" charset="-122"/>
                <a:cs typeface="Times New Roman" panose="02020603050405020304" pitchFamily="18" charset="0"/>
              </a:rPr>
              <a:t>讨论</a:t>
            </a:r>
          </a:p>
        </p:txBody>
      </p:sp>
      <p:sp>
        <p:nvSpPr>
          <p:cNvPr id="212" name="Text Box 110"/>
          <p:cNvSpPr txBox="1">
            <a:spLocks noChangeArrowheads="1"/>
          </p:cNvSpPr>
          <p:nvPr/>
        </p:nvSpPr>
        <p:spPr bwMode="auto">
          <a:xfrm>
            <a:off x="1427374" y="3547576"/>
            <a:ext cx="6909116" cy="1856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a:lnSpc>
                <a:spcPct val="114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将地基土截然分为弹性和塑性区，不完全符合实际</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14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由于基底与土的摩擦作用，实际在基础底面下存在着压密的弹性区域</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14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假设无重介质地基，内摩擦角大时误差较大。对于砂土地基埋深</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d</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=0</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，则</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=0</a:t>
            </a:r>
            <a:endPar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9" name="Text Box 7"/>
          <p:cNvSpPr txBox="1">
            <a:spLocks noChangeArrowheads="1"/>
          </p:cNvSpPr>
          <p:nvPr/>
        </p:nvSpPr>
        <p:spPr bwMode="auto">
          <a:xfrm>
            <a:off x="0" y="0"/>
            <a:ext cx="56344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普朗德尔</a:t>
            </a:r>
            <a:r>
              <a:rPr lang="en-US" altLang="zh-CN" sz="1800" b="1" kern="900" spc="130" dirty="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瑞斯纳公式</a:t>
            </a:r>
          </a:p>
        </p:txBody>
      </p:sp>
    </p:spTree>
    <p:extLst>
      <p:ext uri="{BB962C8B-B14F-4D97-AF65-F5344CB8AC3E}">
        <p14:creationId xmlns:p14="http://schemas.microsoft.com/office/powerpoint/2010/main" val="402095121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left)">
                                      <p:cBhvr>
                                        <p:cTn id="7" dur="500"/>
                                        <p:tgtEl>
                                          <p:spTgt spid="8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211"/>
                                        </p:tgtEl>
                                        <p:attrNameLst>
                                          <p:attrName>style.visibility</p:attrName>
                                        </p:attrNameLst>
                                      </p:cBhvr>
                                      <p:to>
                                        <p:strVal val="visible"/>
                                      </p:to>
                                    </p:set>
                                    <p:animEffect transition="in" filter="fade">
                                      <p:cBhvr>
                                        <p:cTn id="16" dur="1000"/>
                                        <p:tgtEl>
                                          <p:spTgt spid="211"/>
                                        </p:tgtEl>
                                      </p:cBhvr>
                                    </p:animEffect>
                                    <p:anim calcmode="lin" valueType="num">
                                      <p:cBhvr>
                                        <p:cTn id="17" dur="1000" fill="hold"/>
                                        <p:tgtEl>
                                          <p:spTgt spid="211"/>
                                        </p:tgtEl>
                                        <p:attrNameLst>
                                          <p:attrName>ppt_x</p:attrName>
                                        </p:attrNameLst>
                                      </p:cBhvr>
                                      <p:tavLst>
                                        <p:tav tm="0">
                                          <p:val>
                                            <p:strVal val="#ppt_x"/>
                                          </p:val>
                                        </p:tav>
                                        <p:tav tm="100000">
                                          <p:val>
                                            <p:strVal val="#ppt_x"/>
                                          </p:val>
                                        </p:tav>
                                      </p:tavLst>
                                    </p:anim>
                                    <p:anim calcmode="lin" valueType="num">
                                      <p:cBhvr>
                                        <p:cTn id="18" dur="1000" fill="hold"/>
                                        <p:tgtEl>
                                          <p:spTgt spid="211"/>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500"/>
                                        <p:tgtEl>
                                          <p:spTgt spid="38"/>
                                        </p:tgtEl>
                                      </p:cBhvr>
                                    </p:animEffect>
                                  </p:childTnLst>
                                </p:cTn>
                              </p:par>
                            </p:childTnLst>
                          </p:cTn>
                        </p:par>
                        <p:par>
                          <p:cTn id="23" fill="hold">
                            <p:stCondLst>
                              <p:cond delay="1500"/>
                            </p:stCondLst>
                            <p:childTnLst>
                              <p:par>
                                <p:cTn id="24" presetID="22" presetClass="entr" presetSubtype="8" fill="hold" grpId="0" nodeType="afterEffect">
                                  <p:stCondLst>
                                    <p:cond delay="0"/>
                                  </p:stCondLst>
                                  <p:childTnLst>
                                    <p:set>
                                      <p:cBhvr>
                                        <p:cTn id="25" dur="1" fill="hold">
                                          <p:stCondLst>
                                            <p:cond delay="0"/>
                                          </p:stCondLst>
                                        </p:cTn>
                                        <p:tgtEl>
                                          <p:spTgt spid="212">
                                            <p:txEl>
                                              <p:pRg st="0" end="0"/>
                                            </p:txEl>
                                          </p:spTgt>
                                        </p:tgtEl>
                                        <p:attrNameLst>
                                          <p:attrName>style.visibility</p:attrName>
                                        </p:attrNameLst>
                                      </p:cBhvr>
                                      <p:to>
                                        <p:strVal val="visible"/>
                                      </p:to>
                                    </p:set>
                                    <p:animEffect transition="in" filter="wipe(left)">
                                      <p:cBhvr>
                                        <p:cTn id="26" dur="500"/>
                                        <p:tgtEl>
                                          <p:spTgt spid="212">
                                            <p:txEl>
                                              <p:pRg st="0" end="0"/>
                                            </p:txEl>
                                          </p:spTgt>
                                        </p:tgtEl>
                                      </p:cBhvr>
                                    </p:animEffect>
                                  </p:childTnLst>
                                </p:cTn>
                              </p:par>
                            </p:childTnLst>
                          </p:cTn>
                        </p:par>
                        <p:par>
                          <p:cTn id="27" fill="hold">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212">
                                            <p:txEl>
                                              <p:pRg st="1" end="1"/>
                                            </p:txEl>
                                          </p:spTgt>
                                        </p:tgtEl>
                                        <p:attrNameLst>
                                          <p:attrName>style.visibility</p:attrName>
                                        </p:attrNameLst>
                                      </p:cBhvr>
                                      <p:to>
                                        <p:strVal val="visible"/>
                                      </p:to>
                                    </p:set>
                                    <p:animEffect transition="in" filter="wipe(left)">
                                      <p:cBhvr>
                                        <p:cTn id="30" dur="500"/>
                                        <p:tgtEl>
                                          <p:spTgt spid="212">
                                            <p:txEl>
                                              <p:pRg st="1" end="1"/>
                                            </p:txEl>
                                          </p:spTgt>
                                        </p:tgtEl>
                                      </p:cBhvr>
                                    </p:animEffect>
                                  </p:childTnLst>
                                </p:cTn>
                              </p:par>
                            </p:childTnLst>
                          </p:cTn>
                        </p:par>
                        <p:par>
                          <p:cTn id="31" fill="hold">
                            <p:stCondLst>
                              <p:cond delay="2500"/>
                            </p:stCondLst>
                            <p:childTnLst>
                              <p:par>
                                <p:cTn id="32" presetID="22" presetClass="entr" presetSubtype="8" fill="hold" grpId="0" nodeType="afterEffect">
                                  <p:stCondLst>
                                    <p:cond delay="0"/>
                                  </p:stCondLst>
                                  <p:childTnLst>
                                    <p:set>
                                      <p:cBhvr>
                                        <p:cTn id="33" dur="1" fill="hold">
                                          <p:stCondLst>
                                            <p:cond delay="0"/>
                                          </p:stCondLst>
                                        </p:cTn>
                                        <p:tgtEl>
                                          <p:spTgt spid="212">
                                            <p:txEl>
                                              <p:pRg st="2" end="2"/>
                                            </p:txEl>
                                          </p:spTgt>
                                        </p:tgtEl>
                                        <p:attrNameLst>
                                          <p:attrName>style.visibility</p:attrName>
                                        </p:attrNameLst>
                                      </p:cBhvr>
                                      <p:to>
                                        <p:strVal val="visible"/>
                                      </p:to>
                                    </p:set>
                                    <p:animEffect transition="in" filter="wipe(left)">
                                      <p:cBhvr>
                                        <p:cTn id="34" dur="500"/>
                                        <p:tgtEl>
                                          <p:spTgt spid="2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86" grpId="0"/>
      <p:bldP spid="2" grpId="0"/>
      <p:bldP spid="211" grpId="0"/>
      <p:bldP spid="212"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43</a:t>
            </a:fld>
            <a:endParaRPr lang="zh-CN" altLang="en-US" dirty="0">
              <a:solidFill>
                <a:srgbClr val="C00000"/>
              </a:solidFill>
            </a:endParaRPr>
          </a:p>
        </p:txBody>
      </p:sp>
      <p:sp>
        <p:nvSpPr>
          <p:cNvPr id="222" name="Text Box 46"/>
          <p:cNvSpPr txBox="1">
            <a:spLocks noChangeArrowheads="1"/>
          </p:cNvSpPr>
          <p:nvPr/>
        </p:nvSpPr>
        <p:spPr bwMode="auto">
          <a:xfrm>
            <a:off x="416649" y="745020"/>
            <a:ext cx="52029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粗糙基底地基土的破坏形式</a:t>
            </a:r>
          </a:p>
        </p:txBody>
      </p:sp>
      <p:sp>
        <p:nvSpPr>
          <p:cNvPr id="62"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太沙基 </a:t>
            </a:r>
            <a:r>
              <a:rPr kumimoji="1" lang="en-US" altLang="zh-CN" sz="4000" b="1" dirty="0">
                <a:solidFill>
                  <a:srgbClr val="000066"/>
                </a:solidFill>
                <a:ea typeface="黑体" pitchFamily="2" charset="-122"/>
                <a:cs typeface="Times New Roman" panose="02020603050405020304" pitchFamily="18" charset="0"/>
              </a:rPr>
              <a:t>(Terzaghi) </a:t>
            </a:r>
            <a:r>
              <a:rPr kumimoji="1" lang="zh-CN" altLang="en-US" sz="4000" b="1" dirty="0">
                <a:solidFill>
                  <a:srgbClr val="000066"/>
                </a:solidFill>
                <a:ea typeface="黑体" pitchFamily="2" charset="-122"/>
                <a:cs typeface="Times New Roman" panose="02020603050405020304" pitchFamily="18" charset="0"/>
              </a:rPr>
              <a:t>公式</a:t>
            </a:r>
          </a:p>
        </p:txBody>
      </p:sp>
      <p:pic>
        <p:nvPicPr>
          <p:cNvPr id="7" name="图片 6"/>
          <p:cNvPicPr>
            <a:picLocks noChangeAspect="1"/>
          </p:cNvPicPr>
          <p:nvPr/>
        </p:nvPicPr>
        <p:blipFill>
          <a:blip r:embed="rId3"/>
          <a:stretch>
            <a:fillRect/>
          </a:stretch>
        </p:blipFill>
        <p:spPr>
          <a:xfrm>
            <a:off x="6086188" y="1439599"/>
            <a:ext cx="2625886" cy="3909659"/>
          </a:xfrm>
          <a:prstGeom prst="rect">
            <a:avLst/>
          </a:prstGeom>
        </p:spPr>
      </p:pic>
      <p:sp>
        <p:nvSpPr>
          <p:cNvPr id="9" name="矩形 8"/>
          <p:cNvSpPr/>
          <p:nvPr/>
        </p:nvSpPr>
        <p:spPr>
          <a:xfrm>
            <a:off x="6281789" y="4905375"/>
            <a:ext cx="2262158" cy="410882"/>
          </a:xfrm>
          <a:prstGeom prst="rect">
            <a:avLst/>
          </a:prstGeom>
        </p:spPr>
        <p:txBody>
          <a:bodyPr wrap="none">
            <a:spAutoFit/>
          </a:bodyPr>
          <a:lstStyle/>
          <a:p>
            <a:r>
              <a:rPr lang="zh-CN" altLang="zh-CN" sz="1800"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压板下的刚性核形状</a:t>
            </a:r>
            <a:endParaRPr lang="zh-CN" altLang="en-US" sz="1800" dirty="0">
              <a:solidFill>
                <a:srgbClr val="C00000"/>
              </a:solidFill>
              <a:latin typeface="微软雅黑" panose="020B0503020204020204" pitchFamily="34" charset="-122"/>
              <a:ea typeface="微软雅黑" panose="020B0503020204020204" pitchFamily="34" charset="-122"/>
            </a:endParaRPr>
          </a:p>
        </p:txBody>
      </p:sp>
      <p:sp>
        <p:nvSpPr>
          <p:cNvPr id="65" name="Text Box 110"/>
          <p:cNvSpPr txBox="1">
            <a:spLocks noChangeArrowheads="1"/>
          </p:cNvSpPr>
          <p:nvPr/>
        </p:nvSpPr>
        <p:spPr bwMode="auto">
          <a:xfrm>
            <a:off x="853150" y="1675120"/>
            <a:ext cx="4766415" cy="3207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eaLnBrk="1" hangingPunct="1">
              <a:lnSpc>
                <a:spcPct val="114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摩擦力阻碍基底下部分土体的变形，使其不能处于极限平衡状态</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14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会形成一个刚性核（或称弹性核），与基础组成整体，竖直向下移动</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14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下移的刚性核，挤压两侧土体，使地基土破坏，形成滑裂线网</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14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边界条件复杂，难以直接通过极限平衡方程求解</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0"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太沙基公式</a:t>
            </a:r>
          </a:p>
        </p:txBody>
      </p:sp>
    </p:spTree>
    <p:extLst>
      <p:ext uri="{BB962C8B-B14F-4D97-AF65-F5344CB8AC3E}">
        <p14:creationId xmlns:p14="http://schemas.microsoft.com/office/powerpoint/2010/main" val="205646065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arn(inVertical)">
                                      <p:cBhvr>
                                        <p:cTn id="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bwMode="auto">
          <a:xfrm>
            <a:off x="754718" y="3218154"/>
            <a:ext cx="4994149" cy="1870314"/>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44</a:t>
            </a:fld>
            <a:endParaRPr lang="zh-CN" altLang="en-US" dirty="0">
              <a:solidFill>
                <a:srgbClr val="C00000"/>
              </a:solidFill>
            </a:endParaRPr>
          </a:p>
        </p:txBody>
      </p:sp>
      <p:pic>
        <p:nvPicPr>
          <p:cNvPr id="105" name="Picture 407" descr="https://timgsa.baidu.com/timg?image&amp;quality=80&amp;size=b9999_10000&amp;sec=1606818669441&amp;di=ca2f345eaf9b40912ffacfcbf3e77097&amp;imgtype=0&amp;src=http%3A%2F%2Fimgsrc.baidu.com%2Fbaike%2Fpic%2Fitem%2F14ce36d3d539b6009b1d821eeb50352ac75cb74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1271" y="1065321"/>
            <a:ext cx="2430643" cy="3316179"/>
          </a:xfrm>
          <a:prstGeom prst="rect">
            <a:avLst/>
          </a:prstGeom>
          <a:noFill/>
          <a:extLst>
            <a:ext uri="{909E8E84-426E-40DD-AFC4-6F175D3DCCD1}">
              <a14:hiddenFill xmlns:a14="http://schemas.microsoft.com/office/drawing/2010/main">
                <a:solidFill>
                  <a:srgbClr val="FFFFFF"/>
                </a:solidFill>
              </a14:hiddenFill>
            </a:ext>
          </a:extLst>
        </p:spPr>
      </p:pic>
      <p:sp>
        <p:nvSpPr>
          <p:cNvPr id="107" name="Rectangle 10"/>
          <p:cNvSpPr>
            <a:spLocks noChangeArrowheads="1"/>
          </p:cNvSpPr>
          <p:nvPr/>
        </p:nvSpPr>
        <p:spPr bwMode="auto">
          <a:xfrm>
            <a:off x="786158" y="3230028"/>
            <a:ext cx="4824529" cy="179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55600" indent="-355600" eaLnBrk="1" hangingPunct="1">
              <a:lnSpc>
                <a:spcPct val="120000"/>
              </a:lnSpc>
              <a:spcBef>
                <a:spcPts val="200"/>
              </a:spcBef>
              <a:spcAft>
                <a:spcPts val="200"/>
              </a:spcAft>
              <a:buClr>
                <a:srgbClr val="A50021"/>
              </a:buClr>
              <a:buFont typeface="+mj-lt"/>
              <a:buAutoNum type="arabicPeriod"/>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考虑基底以下土的自重</a:t>
            </a:r>
            <a:r>
              <a:rPr lang="zh-CN" altLang="en-US"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0</a:t>
            </a:r>
          </a:p>
          <a:p>
            <a:pPr marL="355600" indent="-355600" eaLnBrk="1" hangingPunct="1">
              <a:lnSpc>
                <a:spcPct val="120000"/>
              </a:lnSpc>
              <a:spcBef>
                <a:spcPts val="200"/>
              </a:spcBef>
              <a:spcAft>
                <a:spcPts val="200"/>
              </a:spcAft>
              <a:buClr>
                <a:srgbClr val="A50021"/>
              </a:buClr>
              <a:buFont typeface="+mj-lt"/>
              <a:buAutoNum type="arabicPeriod"/>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基底完全粗糙</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355600" indent="-355600" eaLnBrk="1" hangingPunct="1">
              <a:lnSpc>
                <a:spcPct val="120000"/>
              </a:lnSpc>
              <a:spcBef>
                <a:spcPts val="200"/>
              </a:spcBef>
              <a:spcAft>
                <a:spcPts val="200"/>
              </a:spcAft>
              <a:buClr>
                <a:srgbClr val="A50021"/>
              </a:buClr>
              <a:buFont typeface="+mj-lt"/>
              <a:buAutoNum type="arabicPeriod"/>
            </a:pP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忽略基底以上土体本身的阻力，简化为上覆均布荷载 </a:t>
            </a:r>
            <a:r>
              <a:rPr kumimoji="1"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q</a:t>
            </a:r>
            <a:r>
              <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0</a:t>
            </a:r>
            <a:r>
              <a:rPr kumimoji="1"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d</a:t>
            </a:r>
            <a:endParaRPr kumimoji="1" lang="zh-CN" altLang="en-US"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119"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太沙基 </a:t>
            </a:r>
            <a:r>
              <a:rPr kumimoji="1" lang="en-US" altLang="zh-CN" sz="4000" b="1" dirty="0">
                <a:solidFill>
                  <a:srgbClr val="000066"/>
                </a:solidFill>
                <a:ea typeface="黑体" pitchFamily="2" charset="-122"/>
                <a:cs typeface="Times New Roman" panose="02020603050405020304" pitchFamily="18" charset="0"/>
              </a:rPr>
              <a:t>(Terzaghi) </a:t>
            </a:r>
            <a:r>
              <a:rPr kumimoji="1" lang="zh-CN" altLang="en-US" sz="4000" b="1" dirty="0">
                <a:solidFill>
                  <a:srgbClr val="000066"/>
                </a:solidFill>
                <a:ea typeface="黑体" pitchFamily="2" charset="-122"/>
                <a:cs typeface="Times New Roman" panose="02020603050405020304" pitchFamily="18" charset="0"/>
              </a:rPr>
              <a:t>公式</a:t>
            </a:r>
          </a:p>
        </p:txBody>
      </p:sp>
      <p:sp>
        <p:nvSpPr>
          <p:cNvPr id="127" name="Text Box 3"/>
          <p:cNvSpPr txBox="1">
            <a:spLocks noChangeArrowheads="1"/>
          </p:cNvSpPr>
          <p:nvPr/>
        </p:nvSpPr>
        <p:spPr bwMode="auto">
          <a:xfrm>
            <a:off x="470819" y="818895"/>
            <a:ext cx="5286515"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Font typeface="Wingdings" pitchFamily="2" charset="2"/>
              <a:buChar char="n"/>
              <a:defRPr/>
            </a:pPr>
            <a:r>
              <a:rPr kumimoji="0" lang="zh-CN" altLang="en-US" sz="2200" b="1" dirty="0">
                <a:solidFill>
                  <a:srgbClr val="000066"/>
                </a:solidFill>
                <a:ea typeface="幼圆" pitchFamily="49" charset="-122"/>
                <a:cs typeface="Times New Roman" panose="02020603050405020304" pitchFamily="18" charset="0"/>
              </a:rPr>
              <a:t>太沙基通过假定刚性核和滑动面的形状，再应用极限平衡概念和隔离体的平衡条件求得了极限承载力的近似解</a:t>
            </a:r>
          </a:p>
        </p:txBody>
      </p:sp>
      <p:sp>
        <p:nvSpPr>
          <p:cNvPr id="128" name="Text Box 3"/>
          <p:cNvSpPr txBox="1">
            <a:spLocks noChangeArrowheads="1"/>
          </p:cNvSpPr>
          <p:nvPr/>
        </p:nvSpPr>
        <p:spPr bwMode="auto">
          <a:xfrm>
            <a:off x="754718" y="2637951"/>
            <a:ext cx="1997507" cy="370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eaLnBrk="1" hangingPunct="1">
              <a:buClr>
                <a:srgbClr val="C00000"/>
              </a:buClr>
              <a:buSzPct val="135000"/>
              <a:buFont typeface="Wingdings" panose="05000000000000000000" pitchFamily="2" charset="2"/>
              <a:buChar char="F"/>
            </a:pPr>
            <a:r>
              <a:rPr lang="zh-CN" altLang="en-US" sz="2400" b="1" dirty="0">
                <a:solidFill>
                  <a:srgbClr val="000066"/>
                </a:solidFill>
                <a:latin typeface="幼圆" panose="02010509060101010101" pitchFamily="49" charset="-122"/>
                <a:ea typeface="幼圆" panose="02010509060101010101" pitchFamily="49" charset="-122"/>
              </a:rPr>
              <a:t>基本条件</a:t>
            </a:r>
          </a:p>
        </p:txBody>
      </p:sp>
      <p:sp>
        <p:nvSpPr>
          <p:cNvPr id="2" name="矩形 1"/>
          <p:cNvSpPr/>
          <p:nvPr/>
        </p:nvSpPr>
        <p:spPr>
          <a:xfrm>
            <a:off x="6724704" y="4571076"/>
            <a:ext cx="1143775" cy="417871"/>
          </a:xfrm>
          <a:prstGeom prst="rect">
            <a:avLst/>
          </a:prstGeom>
        </p:spPr>
        <p:txBody>
          <a:bodyPr wrap="none">
            <a:spAutoFit/>
          </a:bodyPr>
          <a:lstStyle/>
          <a:p>
            <a:r>
              <a:rPr kumimoji="1" lang="en-US" altLang="zh-CN" sz="2000" b="1" dirty="0">
                <a:solidFill>
                  <a:srgbClr val="C00000"/>
                </a:solidFill>
                <a:ea typeface="黑体" pitchFamily="2" charset="-122"/>
                <a:cs typeface="Times New Roman" panose="02020603050405020304" pitchFamily="18" charset="0"/>
              </a:rPr>
              <a:t>Terzaghi</a:t>
            </a:r>
            <a:endParaRPr lang="zh-CN" altLang="en-US" sz="2000" dirty="0">
              <a:solidFill>
                <a:srgbClr val="C00000"/>
              </a:solidFill>
            </a:endParaRPr>
          </a:p>
        </p:txBody>
      </p:sp>
      <p:sp>
        <p:nvSpPr>
          <p:cNvPr id="11"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太沙基公式</a:t>
            </a:r>
          </a:p>
        </p:txBody>
      </p:sp>
    </p:spTree>
    <p:extLst>
      <p:ext uri="{BB962C8B-B14F-4D97-AF65-F5344CB8AC3E}">
        <p14:creationId xmlns:p14="http://schemas.microsoft.com/office/powerpoint/2010/main" val="120976726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anim calcmode="lin" valueType="num">
                                      <p:cBhvr>
                                        <p:cTn id="8" dur="1000" fill="hold"/>
                                        <p:tgtEl>
                                          <p:spTgt spid="127"/>
                                        </p:tgtEl>
                                        <p:attrNameLst>
                                          <p:attrName>ppt_x</p:attrName>
                                        </p:attrNameLst>
                                      </p:cBhvr>
                                      <p:tavLst>
                                        <p:tav tm="0">
                                          <p:val>
                                            <p:strVal val="#ppt_x"/>
                                          </p:val>
                                        </p:tav>
                                        <p:tav tm="100000">
                                          <p:val>
                                            <p:strVal val="#ppt_x"/>
                                          </p:val>
                                        </p:tav>
                                      </p:tavLst>
                                    </p:anim>
                                    <p:anim calcmode="lin" valueType="num">
                                      <p:cBhvr>
                                        <p:cTn id="9" dur="1000" fill="hold"/>
                                        <p:tgtEl>
                                          <p:spTgt spid="1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28"/>
                                        </p:tgtEl>
                                        <p:attrNameLst>
                                          <p:attrName>style.visibility</p:attrName>
                                        </p:attrNameLst>
                                      </p:cBhvr>
                                      <p:to>
                                        <p:strVal val="visible"/>
                                      </p:to>
                                    </p:set>
                                    <p:animEffect transition="in" filter="wipe(left)">
                                      <p:cBhvr>
                                        <p:cTn id="14" dur="500"/>
                                        <p:tgtEl>
                                          <p:spTgt spid="128"/>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par>
                          <p:cTn id="19" fill="hold">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wipe(left)">
                                      <p:cBhvr>
                                        <p:cTn id="22"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7" grpId="0" autoUpdateAnimBg="0"/>
      <p:bldP spid="127" grpId="0"/>
      <p:bldP spid="12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矩形 87"/>
          <p:cNvSpPr/>
          <p:nvPr/>
        </p:nvSpPr>
        <p:spPr bwMode="auto">
          <a:xfrm>
            <a:off x="1162876" y="1839124"/>
            <a:ext cx="7453239" cy="1423537"/>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0" name="任意多边形 89"/>
          <p:cNvSpPr/>
          <p:nvPr/>
        </p:nvSpPr>
        <p:spPr bwMode="auto">
          <a:xfrm flipH="1">
            <a:off x="1360661" y="1825411"/>
            <a:ext cx="3529003" cy="1186870"/>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11" fmla="*/ 7 w 3529003"/>
              <a:gd name="connsiteY11" fmla="*/ 264732 h 1183454"/>
              <a:gd name="connsiteX0" fmla="*/ 7 w 3529003"/>
              <a:gd name="connsiteY0" fmla="*/ 290407 h 1209129"/>
              <a:gd name="connsiteX1" fmla="*/ 42434 w 3529003"/>
              <a:gd name="connsiteY1" fmla="*/ 525636 h 1209129"/>
              <a:gd name="connsiteX2" fmla="*/ 199682 w 3529003"/>
              <a:gd name="connsiteY2" fmla="*/ 798929 h 1209129"/>
              <a:gd name="connsiteX3" fmla="*/ 502370 w 3529003"/>
              <a:gd name="connsiteY3" fmla="*/ 1037738 h 1209129"/>
              <a:gd name="connsiteX4" fmla="*/ 899474 w 3529003"/>
              <a:gd name="connsiteY4" fmla="*/ 1177592 h 1209129"/>
              <a:gd name="connsiteX5" fmla="*/ 1348510 w 3529003"/>
              <a:gd name="connsiteY5" fmla="*/ 1201750 h 1209129"/>
              <a:gd name="connsiteX6" fmla="*/ 1821900 w 3529003"/>
              <a:gd name="connsiteY6" fmla="*/ 1076494 h 1209129"/>
              <a:gd name="connsiteX7" fmla="*/ 2234397 w 3529003"/>
              <a:gd name="connsiteY7" fmla="*/ 859212 h 1209129"/>
              <a:gd name="connsiteX8" fmla="*/ 2625280 w 3529003"/>
              <a:gd name="connsiteY8" fmla="*/ 622017 h 1209129"/>
              <a:gd name="connsiteX9" fmla="*/ 3037098 w 3529003"/>
              <a:gd name="connsiteY9" fmla="*/ 350157 h 1209129"/>
              <a:gd name="connsiteX10" fmla="*/ 3529003 w 3529003"/>
              <a:gd name="connsiteY10" fmla="*/ 25675 h 1209129"/>
              <a:gd name="connsiteX11" fmla="*/ 388784 w 3529003"/>
              <a:gd name="connsiteY11" fmla="*/ 22259 h 1209129"/>
              <a:gd name="connsiteX12" fmla="*/ 7 w 3529003"/>
              <a:gd name="connsiteY12" fmla="*/ 290407 h 1209129"/>
              <a:gd name="connsiteX0" fmla="*/ 7 w 3529003"/>
              <a:gd name="connsiteY0" fmla="*/ 268148 h 1186870"/>
              <a:gd name="connsiteX1" fmla="*/ 42434 w 3529003"/>
              <a:gd name="connsiteY1" fmla="*/ 503377 h 1186870"/>
              <a:gd name="connsiteX2" fmla="*/ 199682 w 3529003"/>
              <a:gd name="connsiteY2" fmla="*/ 776670 h 1186870"/>
              <a:gd name="connsiteX3" fmla="*/ 502370 w 3529003"/>
              <a:gd name="connsiteY3" fmla="*/ 1015479 h 1186870"/>
              <a:gd name="connsiteX4" fmla="*/ 899474 w 3529003"/>
              <a:gd name="connsiteY4" fmla="*/ 1155333 h 1186870"/>
              <a:gd name="connsiteX5" fmla="*/ 1348510 w 3529003"/>
              <a:gd name="connsiteY5" fmla="*/ 1179491 h 1186870"/>
              <a:gd name="connsiteX6" fmla="*/ 1821900 w 3529003"/>
              <a:gd name="connsiteY6" fmla="*/ 1054235 h 1186870"/>
              <a:gd name="connsiteX7" fmla="*/ 2234397 w 3529003"/>
              <a:gd name="connsiteY7" fmla="*/ 836953 h 1186870"/>
              <a:gd name="connsiteX8" fmla="*/ 2625280 w 3529003"/>
              <a:gd name="connsiteY8" fmla="*/ 599758 h 1186870"/>
              <a:gd name="connsiteX9" fmla="*/ 3037098 w 3529003"/>
              <a:gd name="connsiteY9" fmla="*/ 327898 h 1186870"/>
              <a:gd name="connsiteX10" fmla="*/ 3529003 w 3529003"/>
              <a:gd name="connsiteY10" fmla="*/ 3416 h 1186870"/>
              <a:gd name="connsiteX11" fmla="*/ 388784 w 3529003"/>
              <a:gd name="connsiteY11" fmla="*/ 0 h 1186870"/>
              <a:gd name="connsiteX12" fmla="*/ 7 w 3529003"/>
              <a:gd name="connsiteY12" fmla="*/ 268148 h 118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29003" h="1186870">
                <a:moveTo>
                  <a:pt x="7" y="268148"/>
                </a:moveTo>
                <a:cubicBezTo>
                  <a:pt x="-408" y="352359"/>
                  <a:pt x="16775" y="418623"/>
                  <a:pt x="42434" y="503377"/>
                </a:cubicBezTo>
                <a:cubicBezTo>
                  <a:pt x="68093" y="588131"/>
                  <a:pt x="122645" y="684583"/>
                  <a:pt x="199682" y="776670"/>
                </a:cubicBezTo>
                <a:cubicBezTo>
                  <a:pt x="276719" y="873837"/>
                  <a:pt x="385738" y="952369"/>
                  <a:pt x="502370" y="1015479"/>
                </a:cubicBezTo>
                <a:cubicBezTo>
                  <a:pt x="619002" y="1078589"/>
                  <a:pt x="758451" y="1127998"/>
                  <a:pt x="899474" y="1155333"/>
                </a:cubicBezTo>
                <a:cubicBezTo>
                  <a:pt x="1040497" y="1182668"/>
                  <a:pt x="1194772" y="1196341"/>
                  <a:pt x="1348510" y="1179491"/>
                </a:cubicBezTo>
                <a:cubicBezTo>
                  <a:pt x="1502248" y="1162641"/>
                  <a:pt x="1674252" y="1111325"/>
                  <a:pt x="1821900" y="1054235"/>
                </a:cubicBezTo>
                <a:cubicBezTo>
                  <a:pt x="1969548" y="997145"/>
                  <a:pt x="2100500" y="912699"/>
                  <a:pt x="2234397" y="836953"/>
                </a:cubicBezTo>
                <a:cubicBezTo>
                  <a:pt x="2368294" y="761207"/>
                  <a:pt x="2538327" y="648769"/>
                  <a:pt x="2625280" y="599758"/>
                </a:cubicBezTo>
                <a:lnTo>
                  <a:pt x="3037098" y="327898"/>
                </a:lnTo>
                <a:cubicBezTo>
                  <a:pt x="3233143" y="209011"/>
                  <a:pt x="3284005" y="153333"/>
                  <a:pt x="3529003" y="3416"/>
                </a:cubicBezTo>
                <a:lnTo>
                  <a:pt x="388784" y="0"/>
                </a:lnTo>
                <a:lnTo>
                  <a:pt x="7" y="268148"/>
                </a:lnTo>
                <a:close/>
              </a:path>
            </a:pathLst>
          </a:custGeom>
          <a:solidFill>
            <a:schemeClr val="accent5">
              <a:lumMod val="90000"/>
            </a:schemeClr>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1" name="任意多边形 90"/>
          <p:cNvSpPr/>
          <p:nvPr/>
        </p:nvSpPr>
        <p:spPr bwMode="auto">
          <a:xfrm>
            <a:off x="4901356" y="1829500"/>
            <a:ext cx="3529003" cy="1186870"/>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11" fmla="*/ 7 w 3529003"/>
              <a:gd name="connsiteY11" fmla="*/ 264732 h 1183454"/>
              <a:gd name="connsiteX0" fmla="*/ 7 w 3529003"/>
              <a:gd name="connsiteY0" fmla="*/ 290407 h 1209129"/>
              <a:gd name="connsiteX1" fmla="*/ 42434 w 3529003"/>
              <a:gd name="connsiteY1" fmla="*/ 525636 h 1209129"/>
              <a:gd name="connsiteX2" fmla="*/ 199682 w 3529003"/>
              <a:gd name="connsiteY2" fmla="*/ 798929 h 1209129"/>
              <a:gd name="connsiteX3" fmla="*/ 502370 w 3529003"/>
              <a:gd name="connsiteY3" fmla="*/ 1037738 h 1209129"/>
              <a:gd name="connsiteX4" fmla="*/ 899474 w 3529003"/>
              <a:gd name="connsiteY4" fmla="*/ 1177592 h 1209129"/>
              <a:gd name="connsiteX5" fmla="*/ 1348510 w 3529003"/>
              <a:gd name="connsiteY5" fmla="*/ 1201750 h 1209129"/>
              <a:gd name="connsiteX6" fmla="*/ 1821900 w 3529003"/>
              <a:gd name="connsiteY6" fmla="*/ 1076494 h 1209129"/>
              <a:gd name="connsiteX7" fmla="*/ 2234397 w 3529003"/>
              <a:gd name="connsiteY7" fmla="*/ 859212 h 1209129"/>
              <a:gd name="connsiteX8" fmla="*/ 2625280 w 3529003"/>
              <a:gd name="connsiteY8" fmla="*/ 622017 h 1209129"/>
              <a:gd name="connsiteX9" fmla="*/ 3037098 w 3529003"/>
              <a:gd name="connsiteY9" fmla="*/ 350157 h 1209129"/>
              <a:gd name="connsiteX10" fmla="*/ 3529003 w 3529003"/>
              <a:gd name="connsiteY10" fmla="*/ 25675 h 1209129"/>
              <a:gd name="connsiteX11" fmla="*/ 388784 w 3529003"/>
              <a:gd name="connsiteY11" fmla="*/ 22259 h 1209129"/>
              <a:gd name="connsiteX12" fmla="*/ 7 w 3529003"/>
              <a:gd name="connsiteY12" fmla="*/ 290407 h 1209129"/>
              <a:gd name="connsiteX0" fmla="*/ 7 w 3529003"/>
              <a:gd name="connsiteY0" fmla="*/ 268148 h 1186870"/>
              <a:gd name="connsiteX1" fmla="*/ 42434 w 3529003"/>
              <a:gd name="connsiteY1" fmla="*/ 503377 h 1186870"/>
              <a:gd name="connsiteX2" fmla="*/ 199682 w 3529003"/>
              <a:gd name="connsiteY2" fmla="*/ 776670 h 1186870"/>
              <a:gd name="connsiteX3" fmla="*/ 502370 w 3529003"/>
              <a:gd name="connsiteY3" fmla="*/ 1015479 h 1186870"/>
              <a:gd name="connsiteX4" fmla="*/ 899474 w 3529003"/>
              <a:gd name="connsiteY4" fmla="*/ 1155333 h 1186870"/>
              <a:gd name="connsiteX5" fmla="*/ 1348510 w 3529003"/>
              <a:gd name="connsiteY5" fmla="*/ 1179491 h 1186870"/>
              <a:gd name="connsiteX6" fmla="*/ 1821900 w 3529003"/>
              <a:gd name="connsiteY6" fmla="*/ 1054235 h 1186870"/>
              <a:gd name="connsiteX7" fmla="*/ 2234397 w 3529003"/>
              <a:gd name="connsiteY7" fmla="*/ 836953 h 1186870"/>
              <a:gd name="connsiteX8" fmla="*/ 2625280 w 3529003"/>
              <a:gd name="connsiteY8" fmla="*/ 599758 h 1186870"/>
              <a:gd name="connsiteX9" fmla="*/ 3037098 w 3529003"/>
              <a:gd name="connsiteY9" fmla="*/ 327898 h 1186870"/>
              <a:gd name="connsiteX10" fmla="*/ 3529003 w 3529003"/>
              <a:gd name="connsiteY10" fmla="*/ 3416 h 1186870"/>
              <a:gd name="connsiteX11" fmla="*/ 388784 w 3529003"/>
              <a:gd name="connsiteY11" fmla="*/ 0 h 1186870"/>
              <a:gd name="connsiteX12" fmla="*/ 7 w 3529003"/>
              <a:gd name="connsiteY12" fmla="*/ 268148 h 118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29003" h="1186870">
                <a:moveTo>
                  <a:pt x="7" y="268148"/>
                </a:moveTo>
                <a:cubicBezTo>
                  <a:pt x="-408" y="352359"/>
                  <a:pt x="16775" y="418623"/>
                  <a:pt x="42434" y="503377"/>
                </a:cubicBezTo>
                <a:cubicBezTo>
                  <a:pt x="68093" y="588131"/>
                  <a:pt x="122645" y="684583"/>
                  <a:pt x="199682" y="776670"/>
                </a:cubicBezTo>
                <a:cubicBezTo>
                  <a:pt x="276719" y="873837"/>
                  <a:pt x="385738" y="952369"/>
                  <a:pt x="502370" y="1015479"/>
                </a:cubicBezTo>
                <a:cubicBezTo>
                  <a:pt x="619002" y="1078589"/>
                  <a:pt x="758451" y="1127998"/>
                  <a:pt x="899474" y="1155333"/>
                </a:cubicBezTo>
                <a:cubicBezTo>
                  <a:pt x="1040497" y="1182668"/>
                  <a:pt x="1194772" y="1196341"/>
                  <a:pt x="1348510" y="1179491"/>
                </a:cubicBezTo>
                <a:cubicBezTo>
                  <a:pt x="1502248" y="1162641"/>
                  <a:pt x="1674252" y="1111325"/>
                  <a:pt x="1821900" y="1054235"/>
                </a:cubicBezTo>
                <a:cubicBezTo>
                  <a:pt x="1969548" y="997145"/>
                  <a:pt x="2100500" y="912699"/>
                  <a:pt x="2234397" y="836953"/>
                </a:cubicBezTo>
                <a:cubicBezTo>
                  <a:pt x="2368294" y="761207"/>
                  <a:pt x="2538327" y="648769"/>
                  <a:pt x="2625280" y="599758"/>
                </a:cubicBezTo>
                <a:lnTo>
                  <a:pt x="3037098" y="327898"/>
                </a:lnTo>
                <a:cubicBezTo>
                  <a:pt x="3233143" y="209011"/>
                  <a:pt x="3284005" y="153333"/>
                  <a:pt x="3529003" y="3416"/>
                </a:cubicBezTo>
                <a:lnTo>
                  <a:pt x="388784" y="0"/>
                </a:lnTo>
                <a:lnTo>
                  <a:pt x="7" y="268148"/>
                </a:lnTo>
                <a:close/>
              </a:path>
            </a:pathLst>
          </a:custGeom>
          <a:solidFill>
            <a:schemeClr val="accent5">
              <a:lumMod val="90000"/>
            </a:schemeClr>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9" name="矩形 88"/>
          <p:cNvSpPr/>
          <p:nvPr/>
        </p:nvSpPr>
        <p:spPr bwMode="auto">
          <a:xfrm>
            <a:off x="1135980" y="3467461"/>
            <a:ext cx="7544263" cy="2149699"/>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45</a:t>
            </a:fld>
            <a:endParaRPr lang="zh-CN" altLang="en-US" dirty="0">
              <a:solidFill>
                <a:srgbClr val="C00000"/>
              </a:solidFill>
            </a:endParaRPr>
          </a:p>
        </p:txBody>
      </p:sp>
      <p:sp>
        <p:nvSpPr>
          <p:cNvPr id="60" name="Text Box 46"/>
          <p:cNvSpPr txBox="1">
            <a:spLocks noChangeArrowheads="1"/>
          </p:cNvSpPr>
          <p:nvPr/>
        </p:nvSpPr>
        <p:spPr bwMode="auto">
          <a:xfrm>
            <a:off x="430002" y="651885"/>
            <a:ext cx="3786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刚性核和滑动面形状</a:t>
            </a:r>
          </a:p>
        </p:txBody>
      </p:sp>
      <p:sp>
        <p:nvSpPr>
          <p:cNvPr id="61"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太沙基 </a:t>
            </a:r>
            <a:r>
              <a:rPr kumimoji="1" lang="en-US" altLang="zh-CN" sz="4000" b="1" dirty="0">
                <a:solidFill>
                  <a:srgbClr val="000066"/>
                </a:solidFill>
                <a:ea typeface="黑体" pitchFamily="2" charset="-122"/>
                <a:cs typeface="Times New Roman" panose="02020603050405020304" pitchFamily="18" charset="0"/>
              </a:rPr>
              <a:t>(Terzaghi) </a:t>
            </a:r>
            <a:r>
              <a:rPr kumimoji="1" lang="zh-CN" altLang="en-US" sz="4000" b="1" dirty="0">
                <a:solidFill>
                  <a:srgbClr val="000066"/>
                </a:solidFill>
                <a:ea typeface="黑体" pitchFamily="2" charset="-122"/>
                <a:cs typeface="Times New Roman" panose="02020603050405020304" pitchFamily="18" charset="0"/>
              </a:rPr>
              <a:t>公式</a:t>
            </a:r>
          </a:p>
        </p:txBody>
      </p:sp>
      <p:grpSp>
        <p:nvGrpSpPr>
          <p:cNvPr id="63" name="组合 62"/>
          <p:cNvGrpSpPr/>
          <p:nvPr/>
        </p:nvGrpSpPr>
        <p:grpSpPr>
          <a:xfrm>
            <a:off x="4499183" y="1290951"/>
            <a:ext cx="797569" cy="531427"/>
            <a:chOff x="4443756" y="2848235"/>
            <a:chExt cx="817863" cy="531427"/>
          </a:xfrm>
        </p:grpSpPr>
        <p:sp>
          <p:nvSpPr>
            <p:cNvPr id="64" name="Line 25"/>
            <p:cNvSpPr>
              <a:spLocks noChangeShapeType="1"/>
            </p:cNvSpPr>
            <p:nvPr/>
          </p:nvSpPr>
          <p:spPr bwMode="auto">
            <a:xfrm>
              <a:off x="5057153"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25"/>
            <p:cNvSpPr>
              <a:spLocks noChangeShapeType="1"/>
            </p:cNvSpPr>
            <p:nvPr/>
          </p:nvSpPr>
          <p:spPr bwMode="auto">
            <a:xfrm>
              <a:off x="4443756"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25"/>
            <p:cNvSpPr>
              <a:spLocks noChangeShapeType="1"/>
            </p:cNvSpPr>
            <p:nvPr/>
          </p:nvSpPr>
          <p:spPr bwMode="auto">
            <a:xfrm>
              <a:off x="4648222"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25"/>
            <p:cNvSpPr>
              <a:spLocks noChangeShapeType="1"/>
            </p:cNvSpPr>
            <p:nvPr/>
          </p:nvSpPr>
          <p:spPr bwMode="auto">
            <a:xfrm>
              <a:off x="4852687"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25"/>
            <p:cNvSpPr>
              <a:spLocks noChangeShapeType="1"/>
            </p:cNvSpPr>
            <p:nvPr/>
          </p:nvSpPr>
          <p:spPr bwMode="auto">
            <a:xfrm>
              <a:off x="5261619"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69" name="直接连接符 68"/>
          <p:cNvCxnSpPr/>
          <p:nvPr/>
        </p:nvCxnSpPr>
        <p:spPr bwMode="auto">
          <a:xfrm flipH="1">
            <a:off x="1159147" y="1828324"/>
            <a:ext cx="7456969"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Text Box 21"/>
          <p:cNvSpPr txBox="1">
            <a:spLocks noChangeArrowheads="1"/>
          </p:cNvSpPr>
          <p:nvPr/>
        </p:nvSpPr>
        <p:spPr bwMode="auto">
          <a:xfrm>
            <a:off x="7297293" y="1095757"/>
            <a:ext cx="77777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q=</a:t>
            </a: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sym typeface="Symbol" panose="05050102010706020507" pitchFamily="18" charset="2"/>
              </a:rPr>
              <a:t>0</a:t>
            </a:r>
            <a:r>
              <a:rPr kumimoji="1" lang="en-US" altLang="zh-CN" sz="2000" b="1" i="1" dirty="0">
                <a:solidFill>
                  <a:srgbClr val="000066"/>
                </a:solidFill>
                <a:latin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ndParaRPr>
          </a:p>
        </p:txBody>
      </p:sp>
      <p:grpSp>
        <p:nvGrpSpPr>
          <p:cNvPr id="73" name="组合 72"/>
          <p:cNvGrpSpPr/>
          <p:nvPr/>
        </p:nvGrpSpPr>
        <p:grpSpPr>
          <a:xfrm>
            <a:off x="5292688" y="1543311"/>
            <a:ext cx="3309250" cy="288718"/>
            <a:chOff x="5257555" y="3519695"/>
            <a:chExt cx="2927595" cy="288718"/>
          </a:xfrm>
        </p:grpSpPr>
        <p:sp>
          <p:nvSpPr>
            <p:cNvPr id="74" name="Line 25"/>
            <p:cNvSpPr>
              <a:spLocks noChangeShapeType="1"/>
            </p:cNvSpPr>
            <p:nvPr/>
          </p:nvSpPr>
          <p:spPr bwMode="auto">
            <a:xfrm>
              <a:off x="55404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75" name="直接连接符 74"/>
            <p:cNvCxnSpPr/>
            <p:nvPr/>
          </p:nvCxnSpPr>
          <p:spPr bwMode="auto">
            <a:xfrm flipH="1">
              <a:off x="5257555" y="3519695"/>
              <a:ext cx="2927595"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Line 25"/>
            <p:cNvSpPr>
              <a:spLocks noChangeShapeType="1"/>
            </p:cNvSpPr>
            <p:nvPr/>
          </p:nvSpPr>
          <p:spPr bwMode="auto">
            <a:xfrm>
              <a:off x="5819847" y="352555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25"/>
            <p:cNvSpPr>
              <a:spLocks noChangeShapeType="1"/>
            </p:cNvSpPr>
            <p:nvPr/>
          </p:nvSpPr>
          <p:spPr bwMode="auto">
            <a:xfrm>
              <a:off x="6099247" y="352555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25"/>
            <p:cNvSpPr>
              <a:spLocks noChangeShapeType="1"/>
            </p:cNvSpPr>
            <p:nvPr/>
          </p:nvSpPr>
          <p:spPr bwMode="auto">
            <a:xfrm>
              <a:off x="63786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25"/>
            <p:cNvSpPr>
              <a:spLocks noChangeShapeType="1"/>
            </p:cNvSpPr>
            <p:nvPr/>
          </p:nvSpPr>
          <p:spPr bwMode="auto">
            <a:xfrm>
              <a:off x="66580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25"/>
            <p:cNvSpPr>
              <a:spLocks noChangeShapeType="1"/>
            </p:cNvSpPr>
            <p:nvPr/>
          </p:nvSpPr>
          <p:spPr bwMode="auto">
            <a:xfrm>
              <a:off x="69374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25"/>
            <p:cNvSpPr>
              <a:spLocks noChangeShapeType="1"/>
            </p:cNvSpPr>
            <p:nvPr/>
          </p:nvSpPr>
          <p:spPr bwMode="auto">
            <a:xfrm>
              <a:off x="72168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Line 25"/>
            <p:cNvSpPr>
              <a:spLocks noChangeShapeType="1"/>
            </p:cNvSpPr>
            <p:nvPr/>
          </p:nvSpPr>
          <p:spPr bwMode="auto">
            <a:xfrm>
              <a:off x="74962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Line 25"/>
            <p:cNvSpPr>
              <a:spLocks noChangeShapeType="1"/>
            </p:cNvSpPr>
            <p:nvPr/>
          </p:nvSpPr>
          <p:spPr bwMode="auto">
            <a:xfrm>
              <a:off x="776929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25"/>
            <p:cNvSpPr>
              <a:spLocks noChangeShapeType="1"/>
            </p:cNvSpPr>
            <p:nvPr/>
          </p:nvSpPr>
          <p:spPr bwMode="auto">
            <a:xfrm>
              <a:off x="80423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1" name="组合 140"/>
          <p:cNvGrpSpPr/>
          <p:nvPr/>
        </p:nvGrpSpPr>
        <p:grpSpPr>
          <a:xfrm flipH="1">
            <a:off x="1130793" y="1543311"/>
            <a:ext cx="3355811" cy="288718"/>
            <a:chOff x="5257555" y="3519695"/>
            <a:chExt cx="2927595" cy="288718"/>
          </a:xfrm>
        </p:grpSpPr>
        <p:sp>
          <p:nvSpPr>
            <p:cNvPr id="142" name="Line 25"/>
            <p:cNvSpPr>
              <a:spLocks noChangeShapeType="1"/>
            </p:cNvSpPr>
            <p:nvPr/>
          </p:nvSpPr>
          <p:spPr bwMode="auto">
            <a:xfrm>
              <a:off x="55404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43" name="直接连接符 142"/>
            <p:cNvCxnSpPr/>
            <p:nvPr/>
          </p:nvCxnSpPr>
          <p:spPr bwMode="auto">
            <a:xfrm flipH="1">
              <a:off x="5257555" y="3519695"/>
              <a:ext cx="2927595"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 name="Line 25"/>
            <p:cNvSpPr>
              <a:spLocks noChangeShapeType="1"/>
            </p:cNvSpPr>
            <p:nvPr/>
          </p:nvSpPr>
          <p:spPr bwMode="auto">
            <a:xfrm>
              <a:off x="5819847" y="3524461"/>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 name="Line 25"/>
            <p:cNvSpPr>
              <a:spLocks noChangeShapeType="1"/>
            </p:cNvSpPr>
            <p:nvPr/>
          </p:nvSpPr>
          <p:spPr bwMode="auto">
            <a:xfrm>
              <a:off x="6099247" y="3524461"/>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 name="Line 25"/>
            <p:cNvSpPr>
              <a:spLocks noChangeShapeType="1"/>
            </p:cNvSpPr>
            <p:nvPr/>
          </p:nvSpPr>
          <p:spPr bwMode="auto">
            <a:xfrm>
              <a:off x="6378647" y="352388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 name="Line 25"/>
            <p:cNvSpPr>
              <a:spLocks noChangeShapeType="1"/>
            </p:cNvSpPr>
            <p:nvPr/>
          </p:nvSpPr>
          <p:spPr bwMode="auto">
            <a:xfrm>
              <a:off x="66580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 name="Line 25"/>
            <p:cNvSpPr>
              <a:spLocks noChangeShapeType="1"/>
            </p:cNvSpPr>
            <p:nvPr/>
          </p:nvSpPr>
          <p:spPr bwMode="auto">
            <a:xfrm>
              <a:off x="6937447" y="352388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 name="Line 25"/>
            <p:cNvSpPr>
              <a:spLocks noChangeShapeType="1"/>
            </p:cNvSpPr>
            <p:nvPr/>
          </p:nvSpPr>
          <p:spPr bwMode="auto">
            <a:xfrm>
              <a:off x="72168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1" name="Line 25"/>
            <p:cNvSpPr>
              <a:spLocks noChangeShapeType="1"/>
            </p:cNvSpPr>
            <p:nvPr/>
          </p:nvSpPr>
          <p:spPr bwMode="auto">
            <a:xfrm>
              <a:off x="74962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 name="Line 25"/>
            <p:cNvSpPr>
              <a:spLocks noChangeShapeType="1"/>
            </p:cNvSpPr>
            <p:nvPr/>
          </p:nvSpPr>
          <p:spPr bwMode="auto">
            <a:xfrm>
              <a:off x="776929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 name="Line 25"/>
            <p:cNvSpPr>
              <a:spLocks noChangeShapeType="1"/>
            </p:cNvSpPr>
            <p:nvPr/>
          </p:nvSpPr>
          <p:spPr bwMode="auto">
            <a:xfrm>
              <a:off x="80423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 name="任意多边形 153"/>
          <p:cNvSpPr/>
          <p:nvPr/>
        </p:nvSpPr>
        <p:spPr bwMode="auto">
          <a:xfrm>
            <a:off x="4511246" y="1827956"/>
            <a:ext cx="781513" cy="267881"/>
          </a:xfrm>
          <a:custGeom>
            <a:avLst/>
            <a:gdLst>
              <a:gd name="connsiteX0" fmla="*/ 0 w 800100"/>
              <a:gd name="connsiteY0" fmla="*/ 0 h 781050"/>
              <a:gd name="connsiteX1" fmla="*/ 406400 w 800100"/>
              <a:gd name="connsiteY1" fmla="*/ 781050 h 781050"/>
              <a:gd name="connsiteX2" fmla="*/ 800100 w 800100"/>
              <a:gd name="connsiteY2" fmla="*/ 12700 h 781050"/>
              <a:gd name="connsiteX0" fmla="*/ 0 w 788670"/>
              <a:gd name="connsiteY0" fmla="*/ 0 h 773430"/>
              <a:gd name="connsiteX1" fmla="*/ 394970 w 788670"/>
              <a:gd name="connsiteY1" fmla="*/ 773430 h 773430"/>
              <a:gd name="connsiteX2" fmla="*/ 788670 w 788670"/>
              <a:gd name="connsiteY2" fmla="*/ 5080 h 773430"/>
              <a:gd name="connsiteX0" fmla="*/ 0 w 798195"/>
              <a:gd name="connsiteY0" fmla="*/ 13970 h 787400"/>
              <a:gd name="connsiteX1" fmla="*/ 394970 w 798195"/>
              <a:gd name="connsiteY1" fmla="*/ 787400 h 787400"/>
              <a:gd name="connsiteX2" fmla="*/ 798195 w 798195"/>
              <a:gd name="connsiteY2" fmla="*/ 0 h 787400"/>
              <a:gd name="connsiteX0" fmla="*/ 0 w 809625"/>
              <a:gd name="connsiteY0" fmla="*/ 2540 h 787400"/>
              <a:gd name="connsiteX1" fmla="*/ 406400 w 809625"/>
              <a:gd name="connsiteY1" fmla="*/ 787400 h 787400"/>
              <a:gd name="connsiteX2" fmla="*/ 809625 w 809625"/>
              <a:gd name="connsiteY2" fmla="*/ 0 h 787400"/>
              <a:gd name="connsiteX0" fmla="*/ 0 w 798195"/>
              <a:gd name="connsiteY0" fmla="*/ 4445 h 787400"/>
              <a:gd name="connsiteX1" fmla="*/ 394970 w 798195"/>
              <a:gd name="connsiteY1" fmla="*/ 787400 h 787400"/>
              <a:gd name="connsiteX2" fmla="*/ 798195 w 798195"/>
              <a:gd name="connsiteY2" fmla="*/ 0 h 787400"/>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163624"/>
              <a:gd name="connsiteX1" fmla="*/ 380793 w 798195"/>
              <a:gd name="connsiteY1" fmla="*/ 163624 h 163624"/>
              <a:gd name="connsiteX2" fmla="*/ 798195 w 798195"/>
              <a:gd name="connsiteY2" fmla="*/ 0 h 163624"/>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258205"/>
              <a:gd name="connsiteX1" fmla="*/ 399489 w 798195"/>
              <a:gd name="connsiteY1" fmla="*/ 258205 h 258205"/>
              <a:gd name="connsiteX2" fmla="*/ 798195 w 798195"/>
              <a:gd name="connsiteY2" fmla="*/ 0 h 258205"/>
            </a:gdLst>
            <a:ahLst/>
            <a:cxnLst>
              <a:cxn ang="0">
                <a:pos x="connsiteX0" y="connsiteY0"/>
              </a:cxn>
              <a:cxn ang="0">
                <a:pos x="connsiteX1" y="connsiteY1"/>
              </a:cxn>
              <a:cxn ang="0">
                <a:pos x="connsiteX2" y="connsiteY2"/>
              </a:cxn>
            </a:cxnLst>
            <a:rect l="l" t="t" r="r" b="b"/>
            <a:pathLst>
              <a:path w="798195" h="258205">
                <a:moveTo>
                  <a:pt x="0" y="4445"/>
                </a:moveTo>
                <a:lnTo>
                  <a:pt x="399489" y="258205"/>
                </a:lnTo>
                <a:lnTo>
                  <a:pt x="798195" y="0"/>
                </a:lnTo>
              </a:path>
            </a:pathLst>
          </a:custGeom>
          <a:solidFill>
            <a:srgbClr val="FFC000"/>
          </a:solid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5" name="任意多边形 154"/>
          <p:cNvSpPr/>
          <p:nvPr/>
        </p:nvSpPr>
        <p:spPr bwMode="auto">
          <a:xfrm>
            <a:off x="4902572" y="1820917"/>
            <a:ext cx="3529003" cy="1183454"/>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9003" h="1183454">
                <a:moveTo>
                  <a:pt x="7" y="264732"/>
                </a:moveTo>
                <a:cubicBezTo>
                  <a:pt x="-408" y="348943"/>
                  <a:pt x="16775" y="415207"/>
                  <a:pt x="42434" y="499961"/>
                </a:cubicBezTo>
                <a:cubicBezTo>
                  <a:pt x="68093" y="584715"/>
                  <a:pt x="122645" y="681167"/>
                  <a:pt x="199682" y="773254"/>
                </a:cubicBezTo>
                <a:cubicBezTo>
                  <a:pt x="276719" y="870421"/>
                  <a:pt x="385738" y="948953"/>
                  <a:pt x="502370" y="1012063"/>
                </a:cubicBezTo>
                <a:cubicBezTo>
                  <a:pt x="619002" y="1075173"/>
                  <a:pt x="758451" y="1124582"/>
                  <a:pt x="899474" y="1151917"/>
                </a:cubicBezTo>
                <a:cubicBezTo>
                  <a:pt x="1040497" y="1179252"/>
                  <a:pt x="1194772" y="1192925"/>
                  <a:pt x="1348510" y="1176075"/>
                </a:cubicBezTo>
                <a:cubicBezTo>
                  <a:pt x="1502248" y="1159225"/>
                  <a:pt x="1674252" y="1107909"/>
                  <a:pt x="1821900" y="1050819"/>
                </a:cubicBezTo>
                <a:cubicBezTo>
                  <a:pt x="1969548" y="993729"/>
                  <a:pt x="2100500" y="909283"/>
                  <a:pt x="2234397" y="833537"/>
                </a:cubicBezTo>
                <a:cubicBezTo>
                  <a:pt x="2368294" y="757791"/>
                  <a:pt x="2538327" y="645353"/>
                  <a:pt x="2625280" y="596342"/>
                </a:cubicBezTo>
                <a:lnTo>
                  <a:pt x="3037098" y="324482"/>
                </a:lnTo>
                <a:cubicBezTo>
                  <a:pt x="3233143" y="205595"/>
                  <a:pt x="3284005" y="149917"/>
                  <a:pt x="3529003" y="0"/>
                </a:cubicBez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56" name="直接连接符 155"/>
          <p:cNvCxnSpPr/>
          <p:nvPr/>
        </p:nvCxnSpPr>
        <p:spPr bwMode="auto">
          <a:xfrm>
            <a:off x="5314318" y="1832029"/>
            <a:ext cx="1631979" cy="933773"/>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 name="任意多边形 162"/>
          <p:cNvSpPr/>
          <p:nvPr/>
        </p:nvSpPr>
        <p:spPr bwMode="auto">
          <a:xfrm>
            <a:off x="5189477" y="1830265"/>
            <a:ext cx="940652" cy="254618"/>
          </a:xfrm>
          <a:custGeom>
            <a:avLst/>
            <a:gdLst>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9525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10668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8650 w 826770"/>
              <a:gd name="connsiteY4" fmla="*/ 11811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32460 w 826770"/>
              <a:gd name="connsiteY4" fmla="*/ 102870 h 263026"/>
              <a:gd name="connsiteX5" fmla="*/ 826770 w 826770"/>
              <a:gd name="connsiteY5" fmla="*/ 0 h 263026"/>
              <a:gd name="connsiteX0" fmla="*/ 0 w 850216"/>
              <a:gd name="connsiteY0" fmla="*/ 52377 h 263448"/>
              <a:gd name="connsiteX1" fmla="*/ 99646 w 850216"/>
              <a:gd name="connsiteY1" fmla="*/ 228600 h 263448"/>
              <a:gd name="connsiteX2" fmla="*/ 236806 w 850216"/>
              <a:gd name="connsiteY2" fmla="*/ 262890 h 263448"/>
              <a:gd name="connsiteX3" fmla="*/ 412066 w 850216"/>
              <a:gd name="connsiteY3" fmla="*/ 217170 h 263448"/>
              <a:gd name="connsiteX4" fmla="*/ 655906 w 850216"/>
              <a:gd name="connsiteY4" fmla="*/ 102870 h 263448"/>
              <a:gd name="connsiteX5" fmla="*/ 850216 w 850216"/>
              <a:gd name="connsiteY5" fmla="*/ 0 h 263448"/>
              <a:gd name="connsiteX0" fmla="*/ 0 w 850216"/>
              <a:gd name="connsiteY0" fmla="*/ 52377 h 263281"/>
              <a:gd name="connsiteX1" fmla="*/ 126441 w 850216"/>
              <a:gd name="connsiteY1" fmla="*/ 195105 h 263281"/>
              <a:gd name="connsiteX2" fmla="*/ 236806 w 850216"/>
              <a:gd name="connsiteY2" fmla="*/ 262890 h 263281"/>
              <a:gd name="connsiteX3" fmla="*/ 412066 w 850216"/>
              <a:gd name="connsiteY3" fmla="*/ 217170 h 263281"/>
              <a:gd name="connsiteX4" fmla="*/ 655906 w 850216"/>
              <a:gd name="connsiteY4" fmla="*/ 102870 h 263281"/>
              <a:gd name="connsiteX5" fmla="*/ 850216 w 850216"/>
              <a:gd name="connsiteY5" fmla="*/ 0 h 263281"/>
              <a:gd name="connsiteX0" fmla="*/ 0 w 850216"/>
              <a:gd name="connsiteY0" fmla="*/ 52377 h 250161"/>
              <a:gd name="connsiteX1" fmla="*/ 126441 w 850216"/>
              <a:gd name="connsiteY1" fmla="*/ 195105 h 250161"/>
              <a:gd name="connsiteX2" fmla="*/ 256902 w 850216"/>
              <a:gd name="connsiteY2" fmla="*/ 249492 h 250161"/>
              <a:gd name="connsiteX3" fmla="*/ 412066 w 850216"/>
              <a:gd name="connsiteY3" fmla="*/ 217170 h 250161"/>
              <a:gd name="connsiteX4" fmla="*/ 655906 w 850216"/>
              <a:gd name="connsiteY4" fmla="*/ 102870 h 250161"/>
              <a:gd name="connsiteX5" fmla="*/ 850216 w 850216"/>
              <a:gd name="connsiteY5" fmla="*/ 0 h 250161"/>
              <a:gd name="connsiteX0" fmla="*/ 0 w 850216"/>
              <a:gd name="connsiteY0" fmla="*/ 52377 h 251711"/>
              <a:gd name="connsiteX1" fmla="*/ 126441 w 850216"/>
              <a:gd name="connsiteY1" fmla="*/ 195105 h 251711"/>
              <a:gd name="connsiteX2" fmla="*/ 256902 w 850216"/>
              <a:gd name="connsiteY2" fmla="*/ 249492 h 251711"/>
              <a:gd name="connsiteX3" fmla="*/ 475705 w 850216"/>
              <a:gd name="connsiteY3" fmla="*/ 227219 h 251711"/>
              <a:gd name="connsiteX4" fmla="*/ 655906 w 850216"/>
              <a:gd name="connsiteY4" fmla="*/ 102870 h 251711"/>
              <a:gd name="connsiteX5" fmla="*/ 850216 w 850216"/>
              <a:gd name="connsiteY5" fmla="*/ 0 h 251711"/>
              <a:gd name="connsiteX0" fmla="*/ 0 w 850216"/>
              <a:gd name="connsiteY0" fmla="*/ 52377 h 251402"/>
              <a:gd name="connsiteX1" fmla="*/ 126441 w 850216"/>
              <a:gd name="connsiteY1" fmla="*/ 195105 h 251402"/>
              <a:gd name="connsiteX2" fmla="*/ 256902 w 850216"/>
              <a:gd name="connsiteY2" fmla="*/ 249492 h 251402"/>
              <a:gd name="connsiteX3" fmla="*/ 475705 w 850216"/>
              <a:gd name="connsiteY3" fmla="*/ 227219 h 251402"/>
              <a:gd name="connsiteX4" fmla="*/ 682702 w 850216"/>
              <a:gd name="connsiteY4" fmla="*/ 116268 h 251402"/>
              <a:gd name="connsiteX5" fmla="*/ 850216 w 850216"/>
              <a:gd name="connsiteY5" fmla="*/ 0 h 251402"/>
              <a:gd name="connsiteX0" fmla="*/ 0 w 940652"/>
              <a:gd name="connsiteY0" fmla="*/ 55726 h 254751"/>
              <a:gd name="connsiteX1" fmla="*/ 126441 w 940652"/>
              <a:gd name="connsiteY1" fmla="*/ 198454 h 254751"/>
              <a:gd name="connsiteX2" fmla="*/ 256902 w 940652"/>
              <a:gd name="connsiteY2" fmla="*/ 252841 h 254751"/>
              <a:gd name="connsiteX3" fmla="*/ 475705 w 940652"/>
              <a:gd name="connsiteY3" fmla="*/ 230568 h 254751"/>
              <a:gd name="connsiteX4" fmla="*/ 682702 w 940652"/>
              <a:gd name="connsiteY4" fmla="*/ 119617 h 254751"/>
              <a:gd name="connsiteX5" fmla="*/ 940652 w 940652"/>
              <a:gd name="connsiteY5" fmla="*/ 0 h 254751"/>
              <a:gd name="connsiteX0" fmla="*/ 0 w 940652"/>
              <a:gd name="connsiteY0" fmla="*/ 55726 h 254618"/>
              <a:gd name="connsiteX1" fmla="*/ 126441 w 940652"/>
              <a:gd name="connsiteY1" fmla="*/ 198454 h 254618"/>
              <a:gd name="connsiteX2" fmla="*/ 256902 w 940652"/>
              <a:gd name="connsiteY2" fmla="*/ 252841 h 254618"/>
              <a:gd name="connsiteX3" fmla="*/ 475705 w 940652"/>
              <a:gd name="connsiteY3" fmla="*/ 230568 h 254618"/>
              <a:gd name="connsiteX4" fmla="*/ 682702 w 940652"/>
              <a:gd name="connsiteY4" fmla="*/ 126316 h 254618"/>
              <a:gd name="connsiteX5" fmla="*/ 940652 w 940652"/>
              <a:gd name="connsiteY5" fmla="*/ 0 h 25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652" h="254618">
                <a:moveTo>
                  <a:pt x="0" y="55726"/>
                </a:moveTo>
                <a:cubicBezTo>
                  <a:pt x="20320" y="83031"/>
                  <a:pt x="83624" y="165602"/>
                  <a:pt x="126441" y="198454"/>
                </a:cubicBezTo>
                <a:cubicBezTo>
                  <a:pt x="169258" y="231306"/>
                  <a:pt x="198691" y="247489"/>
                  <a:pt x="256902" y="252841"/>
                </a:cubicBezTo>
                <a:cubicBezTo>
                  <a:pt x="315113" y="258193"/>
                  <a:pt x="404738" y="251655"/>
                  <a:pt x="475705" y="230568"/>
                </a:cubicBezTo>
                <a:cubicBezTo>
                  <a:pt x="546672" y="209481"/>
                  <a:pt x="609677" y="162511"/>
                  <a:pt x="682702" y="126316"/>
                </a:cubicBezTo>
                <a:cubicBezTo>
                  <a:pt x="755727" y="90121"/>
                  <a:pt x="874294" y="29527"/>
                  <a:pt x="940652" y="0"/>
                </a:cubicBez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4" name="任意多边形 163"/>
          <p:cNvSpPr/>
          <p:nvPr/>
        </p:nvSpPr>
        <p:spPr bwMode="auto">
          <a:xfrm>
            <a:off x="5090291" y="1826917"/>
            <a:ext cx="1888505" cy="560738"/>
          </a:xfrm>
          <a:custGeom>
            <a:avLst/>
            <a:gdLst>
              <a:gd name="connsiteX0" fmla="*/ 0 w 1558290"/>
              <a:gd name="connsiteY0" fmla="*/ 335280 h 536052"/>
              <a:gd name="connsiteX1" fmla="*/ 110490 w 1558290"/>
              <a:gd name="connsiteY1" fmla="*/ 453390 h 536052"/>
              <a:gd name="connsiteX2" fmla="*/ 285750 w 1558290"/>
              <a:gd name="connsiteY2" fmla="*/ 533400 h 536052"/>
              <a:gd name="connsiteX3" fmla="*/ 510540 w 1558290"/>
              <a:gd name="connsiteY3" fmla="*/ 506730 h 536052"/>
              <a:gd name="connsiteX4" fmla="*/ 811530 w 1558290"/>
              <a:gd name="connsiteY4" fmla="*/ 407670 h 536052"/>
              <a:gd name="connsiteX5" fmla="*/ 1055370 w 1558290"/>
              <a:gd name="connsiteY5" fmla="*/ 281940 h 536052"/>
              <a:gd name="connsiteX6" fmla="*/ 1299210 w 1558290"/>
              <a:gd name="connsiteY6" fmla="*/ 156210 h 536052"/>
              <a:gd name="connsiteX7" fmla="*/ 1558290 w 1558290"/>
              <a:gd name="connsiteY7" fmla="*/ 0 h 536052"/>
              <a:gd name="connsiteX0" fmla="*/ 0 w 1562100"/>
              <a:gd name="connsiteY0" fmla="*/ 337185 h 536052"/>
              <a:gd name="connsiteX1" fmla="*/ 114300 w 1562100"/>
              <a:gd name="connsiteY1" fmla="*/ 453390 h 536052"/>
              <a:gd name="connsiteX2" fmla="*/ 289560 w 1562100"/>
              <a:gd name="connsiteY2" fmla="*/ 533400 h 536052"/>
              <a:gd name="connsiteX3" fmla="*/ 514350 w 1562100"/>
              <a:gd name="connsiteY3" fmla="*/ 506730 h 536052"/>
              <a:gd name="connsiteX4" fmla="*/ 815340 w 1562100"/>
              <a:gd name="connsiteY4" fmla="*/ 407670 h 536052"/>
              <a:gd name="connsiteX5" fmla="*/ 1059180 w 1562100"/>
              <a:gd name="connsiteY5" fmla="*/ 281940 h 536052"/>
              <a:gd name="connsiteX6" fmla="*/ 1303020 w 1562100"/>
              <a:gd name="connsiteY6" fmla="*/ 156210 h 536052"/>
              <a:gd name="connsiteX7" fmla="*/ 1562100 w 1562100"/>
              <a:gd name="connsiteY7" fmla="*/ 0 h 536052"/>
              <a:gd name="connsiteX0" fmla="*/ 0 w 1612342"/>
              <a:gd name="connsiteY0" fmla="*/ 112772 h 536052"/>
              <a:gd name="connsiteX1" fmla="*/ 164542 w 1612342"/>
              <a:gd name="connsiteY1" fmla="*/ 453390 h 536052"/>
              <a:gd name="connsiteX2" fmla="*/ 339802 w 1612342"/>
              <a:gd name="connsiteY2" fmla="*/ 533400 h 536052"/>
              <a:gd name="connsiteX3" fmla="*/ 564592 w 1612342"/>
              <a:gd name="connsiteY3" fmla="*/ 506730 h 536052"/>
              <a:gd name="connsiteX4" fmla="*/ 865582 w 1612342"/>
              <a:gd name="connsiteY4" fmla="*/ 407670 h 536052"/>
              <a:gd name="connsiteX5" fmla="*/ 1109422 w 1612342"/>
              <a:gd name="connsiteY5" fmla="*/ 281940 h 536052"/>
              <a:gd name="connsiteX6" fmla="*/ 1353262 w 1612342"/>
              <a:gd name="connsiteY6" fmla="*/ 156210 h 536052"/>
              <a:gd name="connsiteX7" fmla="*/ 1612342 w 1612342"/>
              <a:gd name="connsiteY7" fmla="*/ 0 h 536052"/>
              <a:gd name="connsiteX0" fmla="*/ 0 w 1612342"/>
              <a:gd name="connsiteY0" fmla="*/ 112772 h 544475"/>
              <a:gd name="connsiteX1" fmla="*/ 141096 w 1612342"/>
              <a:gd name="connsiteY1" fmla="*/ 332810 h 544475"/>
              <a:gd name="connsiteX2" fmla="*/ 339802 w 1612342"/>
              <a:gd name="connsiteY2" fmla="*/ 533400 h 544475"/>
              <a:gd name="connsiteX3" fmla="*/ 564592 w 1612342"/>
              <a:gd name="connsiteY3" fmla="*/ 506730 h 544475"/>
              <a:gd name="connsiteX4" fmla="*/ 865582 w 1612342"/>
              <a:gd name="connsiteY4" fmla="*/ 407670 h 544475"/>
              <a:gd name="connsiteX5" fmla="*/ 1109422 w 1612342"/>
              <a:gd name="connsiteY5" fmla="*/ 281940 h 544475"/>
              <a:gd name="connsiteX6" fmla="*/ 1353262 w 1612342"/>
              <a:gd name="connsiteY6" fmla="*/ 156210 h 544475"/>
              <a:gd name="connsiteX7" fmla="*/ 1612342 w 1612342"/>
              <a:gd name="connsiteY7" fmla="*/ 0 h 544475"/>
              <a:gd name="connsiteX0" fmla="*/ 0 w 1612342"/>
              <a:gd name="connsiteY0" fmla="*/ 112772 h 519953"/>
              <a:gd name="connsiteX1" fmla="*/ 141096 w 1612342"/>
              <a:gd name="connsiteY1" fmla="*/ 332810 h 519953"/>
              <a:gd name="connsiteX2" fmla="*/ 349850 w 1612342"/>
              <a:gd name="connsiteY2" fmla="*/ 499906 h 519953"/>
              <a:gd name="connsiteX3" fmla="*/ 564592 w 1612342"/>
              <a:gd name="connsiteY3" fmla="*/ 506730 h 519953"/>
              <a:gd name="connsiteX4" fmla="*/ 865582 w 1612342"/>
              <a:gd name="connsiteY4" fmla="*/ 407670 h 519953"/>
              <a:gd name="connsiteX5" fmla="*/ 1109422 w 1612342"/>
              <a:gd name="connsiteY5" fmla="*/ 281940 h 519953"/>
              <a:gd name="connsiteX6" fmla="*/ 1353262 w 1612342"/>
              <a:gd name="connsiteY6" fmla="*/ 156210 h 519953"/>
              <a:gd name="connsiteX7" fmla="*/ 1612342 w 1612342"/>
              <a:gd name="connsiteY7" fmla="*/ 0 h 519953"/>
              <a:gd name="connsiteX0" fmla="*/ 0 w 1612342"/>
              <a:gd name="connsiteY0" fmla="*/ 112772 h 557546"/>
              <a:gd name="connsiteX1" fmla="*/ 141096 w 1612342"/>
              <a:gd name="connsiteY1" fmla="*/ 332810 h 557546"/>
              <a:gd name="connsiteX2" fmla="*/ 349850 w 1612342"/>
              <a:gd name="connsiteY2" fmla="*/ 499906 h 557546"/>
              <a:gd name="connsiteX3" fmla="*/ 608135 w 1612342"/>
              <a:gd name="connsiteY3" fmla="*/ 553623 h 557546"/>
              <a:gd name="connsiteX4" fmla="*/ 865582 w 1612342"/>
              <a:gd name="connsiteY4" fmla="*/ 407670 h 557546"/>
              <a:gd name="connsiteX5" fmla="*/ 1109422 w 1612342"/>
              <a:gd name="connsiteY5" fmla="*/ 281940 h 557546"/>
              <a:gd name="connsiteX6" fmla="*/ 1353262 w 1612342"/>
              <a:gd name="connsiteY6" fmla="*/ 156210 h 557546"/>
              <a:gd name="connsiteX7" fmla="*/ 1612342 w 1612342"/>
              <a:gd name="connsiteY7" fmla="*/ 0 h 557546"/>
              <a:gd name="connsiteX0" fmla="*/ 0 w 1612342"/>
              <a:gd name="connsiteY0" fmla="*/ 112772 h 554039"/>
              <a:gd name="connsiteX1" fmla="*/ 141096 w 1612342"/>
              <a:gd name="connsiteY1" fmla="*/ 332810 h 554039"/>
              <a:gd name="connsiteX2" fmla="*/ 349850 w 1612342"/>
              <a:gd name="connsiteY2" fmla="*/ 499906 h 554039"/>
              <a:gd name="connsiteX3" fmla="*/ 608135 w 1612342"/>
              <a:gd name="connsiteY3" fmla="*/ 553623 h 554039"/>
              <a:gd name="connsiteX4" fmla="*/ 992861 w 1612342"/>
              <a:gd name="connsiteY4" fmla="*/ 478008 h 554039"/>
              <a:gd name="connsiteX5" fmla="*/ 1109422 w 1612342"/>
              <a:gd name="connsiteY5" fmla="*/ 281940 h 554039"/>
              <a:gd name="connsiteX6" fmla="*/ 1353262 w 1612342"/>
              <a:gd name="connsiteY6" fmla="*/ 156210 h 554039"/>
              <a:gd name="connsiteX7" fmla="*/ 1612342 w 1612342"/>
              <a:gd name="connsiteY7" fmla="*/ 0 h 554039"/>
              <a:gd name="connsiteX0" fmla="*/ 0 w 1612342"/>
              <a:gd name="connsiteY0" fmla="*/ 112772 h 554039"/>
              <a:gd name="connsiteX1" fmla="*/ 141096 w 1612342"/>
              <a:gd name="connsiteY1" fmla="*/ 332810 h 554039"/>
              <a:gd name="connsiteX2" fmla="*/ 349850 w 1612342"/>
              <a:gd name="connsiteY2" fmla="*/ 499906 h 554039"/>
              <a:gd name="connsiteX3" fmla="*/ 608135 w 1612342"/>
              <a:gd name="connsiteY3" fmla="*/ 553623 h 554039"/>
              <a:gd name="connsiteX4" fmla="*/ 992861 w 1612342"/>
              <a:gd name="connsiteY4" fmla="*/ 478008 h 554039"/>
              <a:gd name="connsiteX5" fmla="*/ 1276895 w 1612342"/>
              <a:gd name="connsiteY5" fmla="*/ 325483 h 554039"/>
              <a:gd name="connsiteX6" fmla="*/ 1353262 w 1612342"/>
              <a:gd name="connsiteY6" fmla="*/ 156210 h 554039"/>
              <a:gd name="connsiteX7" fmla="*/ 1612342 w 1612342"/>
              <a:gd name="connsiteY7" fmla="*/ 0 h 554039"/>
              <a:gd name="connsiteX0" fmla="*/ 0 w 1612342"/>
              <a:gd name="connsiteY0" fmla="*/ 112772 h 554039"/>
              <a:gd name="connsiteX1" fmla="*/ 141096 w 1612342"/>
              <a:gd name="connsiteY1" fmla="*/ 332810 h 554039"/>
              <a:gd name="connsiteX2" fmla="*/ 349850 w 1612342"/>
              <a:gd name="connsiteY2" fmla="*/ 499906 h 554039"/>
              <a:gd name="connsiteX3" fmla="*/ 608135 w 1612342"/>
              <a:gd name="connsiteY3" fmla="*/ 553623 h 554039"/>
              <a:gd name="connsiteX4" fmla="*/ 992861 w 1612342"/>
              <a:gd name="connsiteY4" fmla="*/ 478008 h 554039"/>
              <a:gd name="connsiteX5" fmla="*/ 1276895 w 1612342"/>
              <a:gd name="connsiteY5" fmla="*/ 325483 h 554039"/>
              <a:gd name="connsiteX6" fmla="*/ 1534132 w 1612342"/>
              <a:gd name="connsiteY6" fmla="*/ 183005 h 554039"/>
              <a:gd name="connsiteX7" fmla="*/ 1612342 w 1612342"/>
              <a:gd name="connsiteY7" fmla="*/ 0 h 554039"/>
              <a:gd name="connsiteX0" fmla="*/ 0 w 1903745"/>
              <a:gd name="connsiteY0" fmla="*/ 119471 h 560738"/>
              <a:gd name="connsiteX1" fmla="*/ 141096 w 1903745"/>
              <a:gd name="connsiteY1" fmla="*/ 339509 h 560738"/>
              <a:gd name="connsiteX2" fmla="*/ 349850 w 1903745"/>
              <a:gd name="connsiteY2" fmla="*/ 506605 h 560738"/>
              <a:gd name="connsiteX3" fmla="*/ 608135 w 1903745"/>
              <a:gd name="connsiteY3" fmla="*/ 560322 h 560738"/>
              <a:gd name="connsiteX4" fmla="*/ 992861 w 1903745"/>
              <a:gd name="connsiteY4" fmla="*/ 484707 h 560738"/>
              <a:gd name="connsiteX5" fmla="*/ 1276895 w 1903745"/>
              <a:gd name="connsiteY5" fmla="*/ 332182 h 560738"/>
              <a:gd name="connsiteX6" fmla="*/ 1534132 w 1903745"/>
              <a:gd name="connsiteY6" fmla="*/ 189704 h 560738"/>
              <a:gd name="connsiteX7" fmla="*/ 1903745 w 1903745"/>
              <a:gd name="connsiteY7" fmla="*/ 0 h 560738"/>
              <a:gd name="connsiteX0" fmla="*/ 0 w 1903745"/>
              <a:gd name="connsiteY0" fmla="*/ 119471 h 560738"/>
              <a:gd name="connsiteX1" fmla="*/ 141096 w 1903745"/>
              <a:gd name="connsiteY1" fmla="*/ 339509 h 560738"/>
              <a:gd name="connsiteX2" fmla="*/ 349850 w 1903745"/>
              <a:gd name="connsiteY2" fmla="*/ 506605 h 560738"/>
              <a:gd name="connsiteX3" fmla="*/ 608135 w 1903745"/>
              <a:gd name="connsiteY3" fmla="*/ 560322 h 560738"/>
              <a:gd name="connsiteX4" fmla="*/ 992861 w 1903745"/>
              <a:gd name="connsiteY4" fmla="*/ 484707 h 560738"/>
              <a:gd name="connsiteX5" fmla="*/ 1276895 w 1903745"/>
              <a:gd name="connsiteY5" fmla="*/ 332182 h 560738"/>
              <a:gd name="connsiteX6" fmla="*/ 1534132 w 1903745"/>
              <a:gd name="connsiteY6" fmla="*/ 189704 h 560738"/>
              <a:gd name="connsiteX7" fmla="*/ 1903745 w 1903745"/>
              <a:gd name="connsiteY7" fmla="*/ 0 h 560738"/>
              <a:gd name="connsiteX0" fmla="*/ 0 w 1888505"/>
              <a:gd name="connsiteY0" fmla="*/ 137251 h 560738"/>
              <a:gd name="connsiteX1" fmla="*/ 125856 w 1888505"/>
              <a:gd name="connsiteY1" fmla="*/ 339509 h 560738"/>
              <a:gd name="connsiteX2" fmla="*/ 334610 w 1888505"/>
              <a:gd name="connsiteY2" fmla="*/ 506605 h 560738"/>
              <a:gd name="connsiteX3" fmla="*/ 592895 w 1888505"/>
              <a:gd name="connsiteY3" fmla="*/ 560322 h 560738"/>
              <a:gd name="connsiteX4" fmla="*/ 977621 w 1888505"/>
              <a:gd name="connsiteY4" fmla="*/ 484707 h 560738"/>
              <a:gd name="connsiteX5" fmla="*/ 1261655 w 1888505"/>
              <a:gd name="connsiteY5" fmla="*/ 332182 h 560738"/>
              <a:gd name="connsiteX6" fmla="*/ 1518892 w 1888505"/>
              <a:gd name="connsiteY6" fmla="*/ 189704 h 560738"/>
              <a:gd name="connsiteX7" fmla="*/ 1888505 w 1888505"/>
              <a:gd name="connsiteY7" fmla="*/ 0 h 560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8505" h="560738">
                <a:moveTo>
                  <a:pt x="0" y="137251"/>
                </a:moveTo>
                <a:cubicBezTo>
                  <a:pt x="31432" y="179796"/>
                  <a:pt x="70088" y="277950"/>
                  <a:pt x="125856" y="339509"/>
                </a:cubicBezTo>
                <a:cubicBezTo>
                  <a:pt x="181624" y="401068"/>
                  <a:pt x="256770" y="469803"/>
                  <a:pt x="334610" y="506605"/>
                </a:cubicBezTo>
                <a:cubicBezTo>
                  <a:pt x="412450" y="543407"/>
                  <a:pt x="485727" y="563972"/>
                  <a:pt x="592895" y="560322"/>
                </a:cubicBezTo>
                <a:cubicBezTo>
                  <a:pt x="700063" y="556672"/>
                  <a:pt x="866161" y="522730"/>
                  <a:pt x="977621" y="484707"/>
                </a:cubicBezTo>
                <a:cubicBezTo>
                  <a:pt x="1089081" y="446684"/>
                  <a:pt x="1171443" y="381349"/>
                  <a:pt x="1261655" y="332182"/>
                </a:cubicBezTo>
                <a:lnTo>
                  <a:pt x="1518892" y="189704"/>
                </a:lnTo>
                <a:cubicBezTo>
                  <a:pt x="1602712" y="142714"/>
                  <a:pt x="1800875" y="54610"/>
                  <a:pt x="1888505" y="0"/>
                </a:cubicBez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65" name="任意多边形 164"/>
          <p:cNvSpPr/>
          <p:nvPr/>
        </p:nvSpPr>
        <p:spPr bwMode="auto">
          <a:xfrm>
            <a:off x="4984644" y="1823107"/>
            <a:ext cx="2824772" cy="886412"/>
          </a:xfrm>
          <a:custGeom>
            <a:avLst/>
            <a:gdLst>
              <a:gd name="connsiteX0" fmla="*/ 0 w 2381250"/>
              <a:gd name="connsiteY0" fmla="*/ 525780 h 783784"/>
              <a:gd name="connsiteX1" fmla="*/ 140970 w 2381250"/>
              <a:gd name="connsiteY1" fmla="*/ 693420 h 783784"/>
              <a:gd name="connsiteX2" fmla="*/ 369570 w 2381250"/>
              <a:gd name="connsiteY2" fmla="*/ 777240 h 783784"/>
              <a:gd name="connsiteX3" fmla="*/ 735330 w 2381250"/>
              <a:gd name="connsiteY3" fmla="*/ 765810 h 783784"/>
              <a:gd name="connsiteX4" fmla="*/ 1093470 w 2381250"/>
              <a:gd name="connsiteY4" fmla="*/ 666750 h 783784"/>
              <a:gd name="connsiteX5" fmla="*/ 1512570 w 2381250"/>
              <a:gd name="connsiteY5" fmla="*/ 461010 h 783784"/>
              <a:gd name="connsiteX6" fmla="*/ 1905000 w 2381250"/>
              <a:gd name="connsiteY6" fmla="*/ 247650 h 783784"/>
              <a:gd name="connsiteX7" fmla="*/ 2381250 w 2381250"/>
              <a:gd name="connsiteY7" fmla="*/ 0 h 783784"/>
              <a:gd name="connsiteX0" fmla="*/ 0 w 2421443"/>
              <a:gd name="connsiteY0" fmla="*/ 220980 h 783784"/>
              <a:gd name="connsiteX1" fmla="*/ 181163 w 2421443"/>
              <a:gd name="connsiteY1" fmla="*/ 693420 h 783784"/>
              <a:gd name="connsiteX2" fmla="*/ 409763 w 2421443"/>
              <a:gd name="connsiteY2" fmla="*/ 777240 h 783784"/>
              <a:gd name="connsiteX3" fmla="*/ 775523 w 2421443"/>
              <a:gd name="connsiteY3" fmla="*/ 765810 h 783784"/>
              <a:gd name="connsiteX4" fmla="*/ 1133663 w 2421443"/>
              <a:gd name="connsiteY4" fmla="*/ 666750 h 783784"/>
              <a:gd name="connsiteX5" fmla="*/ 1552763 w 2421443"/>
              <a:gd name="connsiteY5" fmla="*/ 461010 h 783784"/>
              <a:gd name="connsiteX6" fmla="*/ 1945193 w 2421443"/>
              <a:gd name="connsiteY6" fmla="*/ 247650 h 783784"/>
              <a:gd name="connsiteX7" fmla="*/ 2421443 w 2421443"/>
              <a:gd name="connsiteY7" fmla="*/ 0 h 783784"/>
              <a:gd name="connsiteX0" fmla="*/ 0 w 2448238"/>
              <a:gd name="connsiteY0" fmla="*/ 150642 h 783784"/>
              <a:gd name="connsiteX1" fmla="*/ 207958 w 2448238"/>
              <a:gd name="connsiteY1" fmla="*/ 693420 h 783784"/>
              <a:gd name="connsiteX2" fmla="*/ 436558 w 2448238"/>
              <a:gd name="connsiteY2" fmla="*/ 777240 h 783784"/>
              <a:gd name="connsiteX3" fmla="*/ 802318 w 2448238"/>
              <a:gd name="connsiteY3" fmla="*/ 765810 h 783784"/>
              <a:gd name="connsiteX4" fmla="*/ 1160458 w 2448238"/>
              <a:gd name="connsiteY4" fmla="*/ 666750 h 783784"/>
              <a:gd name="connsiteX5" fmla="*/ 1579558 w 2448238"/>
              <a:gd name="connsiteY5" fmla="*/ 461010 h 783784"/>
              <a:gd name="connsiteX6" fmla="*/ 1971988 w 2448238"/>
              <a:gd name="connsiteY6" fmla="*/ 247650 h 783784"/>
              <a:gd name="connsiteX7" fmla="*/ 2448238 w 2448238"/>
              <a:gd name="connsiteY7" fmla="*/ 0 h 783784"/>
              <a:gd name="connsiteX0" fmla="*/ 0 w 2448238"/>
              <a:gd name="connsiteY0" fmla="*/ 150642 h 794173"/>
              <a:gd name="connsiteX1" fmla="*/ 204609 w 2448238"/>
              <a:gd name="connsiteY1" fmla="*/ 552743 h 794173"/>
              <a:gd name="connsiteX2" fmla="*/ 436558 w 2448238"/>
              <a:gd name="connsiteY2" fmla="*/ 777240 h 794173"/>
              <a:gd name="connsiteX3" fmla="*/ 802318 w 2448238"/>
              <a:gd name="connsiteY3" fmla="*/ 765810 h 794173"/>
              <a:gd name="connsiteX4" fmla="*/ 1160458 w 2448238"/>
              <a:gd name="connsiteY4" fmla="*/ 666750 h 794173"/>
              <a:gd name="connsiteX5" fmla="*/ 1579558 w 2448238"/>
              <a:gd name="connsiteY5" fmla="*/ 461010 h 794173"/>
              <a:gd name="connsiteX6" fmla="*/ 1971988 w 2448238"/>
              <a:gd name="connsiteY6" fmla="*/ 247650 h 794173"/>
              <a:gd name="connsiteX7" fmla="*/ 2448238 w 2448238"/>
              <a:gd name="connsiteY7" fmla="*/ 0 h 794173"/>
              <a:gd name="connsiteX0" fmla="*/ 0 w 2448238"/>
              <a:gd name="connsiteY0" fmla="*/ 150642 h 796757"/>
              <a:gd name="connsiteX1" fmla="*/ 204609 w 2448238"/>
              <a:gd name="connsiteY1" fmla="*/ 552743 h 796757"/>
              <a:gd name="connsiteX2" fmla="*/ 470052 w 2448238"/>
              <a:gd name="connsiteY2" fmla="*/ 780589 h 796757"/>
              <a:gd name="connsiteX3" fmla="*/ 802318 w 2448238"/>
              <a:gd name="connsiteY3" fmla="*/ 765810 h 796757"/>
              <a:gd name="connsiteX4" fmla="*/ 1160458 w 2448238"/>
              <a:gd name="connsiteY4" fmla="*/ 666750 h 796757"/>
              <a:gd name="connsiteX5" fmla="*/ 1579558 w 2448238"/>
              <a:gd name="connsiteY5" fmla="*/ 461010 h 796757"/>
              <a:gd name="connsiteX6" fmla="*/ 1971988 w 2448238"/>
              <a:gd name="connsiteY6" fmla="*/ 247650 h 796757"/>
              <a:gd name="connsiteX7" fmla="*/ 2448238 w 2448238"/>
              <a:gd name="connsiteY7" fmla="*/ 0 h 796757"/>
              <a:gd name="connsiteX0" fmla="*/ 0 w 2448238"/>
              <a:gd name="connsiteY0" fmla="*/ 150642 h 883116"/>
              <a:gd name="connsiteX1" fmla="*/ 204609 w 2448238"/>
              <a:gd name="connsiteY1" fmla="*/ 552743 h 883116"/>
              <a:gd name="connsiteX2" fmla="*/ 470052 w 2448238"/>
              <a:gd name="connsiteY2" fmla="*/ 780589 h 883116"/>
              <a:gd name="connsiteX3" fmla="*/ 909500 w 2448238"/>
              <a:gd name="connsiteY3" fmla="*/ 879692 h 883116"/>
              <a:gd name="connsiteX4" fmla="*/ 1160458 w 2448238"/>
              <a:gd name="connsiteY4" fmla="*/ 666750 h 883116"/>
              <a:gd name="connsiteX5" fmla="*/ 1579558 w 2448238"/>
              <a:gd name="connsiteY5" fmla="*/ 461010 h 883116"/>
              <a:gd name="connsiteX6" fmla="*/ 1971988 w 2448238"/>
              <a:gd name="connsiteY6" fmla="*/ 247650 h 883116"/>
              <a:gd name="connsiteX7" fmla="*/ 2448238 w 2448238"/>
              <a:gd name="connsiteY7" fmla="*/ 0 h 883116"/>
              <a:gd name="connsiteX0" fmla="*/ 0 w 2448238"/>
              <a:gd name="connsiteY0" fmla="*/ 150642 h 879729"/>
              <a:gd name="connsiteX1" fmla="*/ 204609 w 2448238"/>
              <a:gd name="connsiteY1" fmla="*/ 552743 h 879729"/>
              <a:gd name="connsiteX2" fmla="*/ 470052 w 2448238"/>
              <a:gd name="connsiteY2" fmla="*/ 780589 h 879729"/>
              <a:gd name="connsiteX3" fmla="*/ 909500 w 2448238"/>
              <a:gd name="connsiteY3" fmla="*/ 879692 h 879729"/>
              <a:gd name="connsiteX4" fmla="*/ 1368124 w 2448238"/>
              <a:gd name="connsiteY4" fmla="*/ 787331 h 879729"/>
              <a:gd name="connsiteX5" fmla="*/ 1579558 w 2448238"/>
              <a:gd name="connsiteY5" fmla="*/ 461010 h 879729"/>
              <a:gd name="connsiteX6" fmla="*/ 1971988 w 2448238"/>
              <a:gd name="connsiteY6" fmla="*/ 247650 h 879729"/>
              <a:gd name="connsiteX7" fmla="*/ 2448238 w 2448238"/>
              <a:gd name="connsiteY7" fmla="*/ 0 h 879729"/>
              <a:gd name="connsiteX0" fmla="*/ 0 w 2448238"/>
              <a:gd name="connsiteY0" fmla="*/ 150642 h 879713"/>
              <a:gd name="connsiteX1" fmla="*/ 204609 w 2448238"/>
              <a:gd name="connsiteY1" fmla="*/ 552743 h 879713"/>
              <a:gd name="connsiteX2" fmla="*/ 470052 w 2448238"/>
              <a:gd name="connsiteY2" fmla="*/ 780589 h 879713"/>
              <a:gd name="connsiteX3" fmla="*/ 909500 w 2448238"/>
              <a:gd name="connsiteY3" fmla="*/ 879692 h 879713"/>
              <a:gd name="connsiteX4" fmla="*/ 1368124 w 2448238"/>
              <a:gd name="connsiteY4" fmla="*/ 787331 h 879713"/>
              <a:gd name="connsiteX5" fmla="*/ 1770477 w 2448238"/>
              <a:gd name="connsiteY5" fmla="*/ 581590 h 879713"/>
              <a:gd name="connsiteX6" fmla="*/ 1971988 w 2448238"/>
              <a:gd name="connsiteY6" fmla="*/ 247650 h 879713"/>
              <a:gd name="connsiteX7" fmla="*/ 2448238 w 2448238"/>
              <a:gd name="connsiteY7" fmla="*/ 0 h 879713"/>
              <a:gd name="connsiteX0" fmla="*/ 0 w 2448238"/>
              <a:gd name="connsiteY0" fmla="*/ 150642 h 879713"/>
              <a:gd name="connsiteX1" fmla="*/ 204609 w 2448238"/>
              <a:gd name="connsiteY1" fmla="*/ 552743 h 879713"/>
              <a:gd name="connsiteX2" fmla="*/ 470052 w 2448238"/>
              <a:gd name="connsiteY2" fmla="*/ 780589 h 879713"/>
              <a:gd name="connsiteX3" fmla="*/ 909500 w 2448238"/>
              <a:gd name="connsiteY3" fmla="*/ 879692 h 879713"/>
              <a:gd name="connsiteX4" fmla="*/ 1368124 w 2448238"/>
              <a:gd name="connsiteY4" fmla="*/ 787331 h 879713"/>
              <a:gd name="connsiteX5" fmla="*/ 1770477 w 2448238"/>
              <a:gd name="connsiteY5" fmla="*/ 581590 h 879713"/>
              <a:gd name="connsiteX6" fmla="*/ 2166256 w 2448238"/>
              <a:gd name="connsiteY6" fmla="*/ 358182 h 879713"/>
              <a:gd name="connsiteX7" fmla="*/ 2448238 w 2448238"/>
              <a:gd name="connsiteY7" fmla="*/ 0 h 879713"/>
              <a:gd name="connsiteX0" fmla="*/ 0 w 2850172"/>
              <a:gd name="connsiteY0" fmla="*/ 157341 h 886412"/>
              <a:gd name="connsiteX1" fmla="*/ 204609 w 2850172"/>
              <a:gd name="connsiteY1" fmla="*/ 559442 h 886412"/>
              <a:gd name="connsiteX2" fmla="*/ 470052 w 2850172"/>
              <a:gd name="connsiteY2" fmla="*/ 787288 h 886412"/>
              <a:gd name="connsiteX3" fmla="*/ 909500 w 2850172"/>
              <a:gd name="connsiteY3" fmla="*/ 886391 h 886412"/>
              <a:gd name="connsiteX4" fmla="*/ 1368124 w 2850172"/>
              <a:gd name="connsiteY4" fmla="*/ 794030 h 886412"/>
              <a:gd name="connsiteX5" fmla="*/ 1770477 w 2850172"/>
              <a:gd name="connsiteY5" fmla="*/ 588289 h 886412"/>
              <a:gd name="connsiteX6" fmla="*/ 2166256 w 2850172"/>
              <a:gd name="connsiteY6" fmla="*/ 364881 h 886412"/>
              <a:gd name="connsiteX7" fmla="*/ 2850172 w 2850172"/>
              <a:gd name="connsiteY7" fmla="*/ 0 h 886412"/>
              <a:gd name="connsiteX0" fmla="*/ 0 w 2824772"/>
              <a:gd name="connsiteY0" fmla="*/ 208141 h 886412"/>
              <a:gd name="connsiteX1" fmla="*/ 179209 w 2824772"/>
              <a:gd name="connsiteY1" fmla="*/ 559442 h 886412"/>
              <a:gd name="connsiteX2" fmla="*/ 444652 w 2824772"/>
              <a:gd name="connsiteY2" fmla="*/ 787288 h 886412"/>
              <a:gd name="connsiteX3" fmla="*/ 884100 w 2824772"/>
              <a:gd name="connsiteY3" fmla="*/ 886391 h 886412"/>
              <a:gd name="connsiteX4" fmla="*/ 1342724 w 2824772"/>
              <a:gd name="connsiteY4" fmla="*/ 794030 h 886412"/>
              <a:gd name="connsiteX5" fmla="*/ 1745077 w 2824772"/>
              <a:gd name="connsiteY5" fmla="*/ 588289 h 886412"/>
              <a:gd name="connsiteX6" fmla="*/ 2140856 w 2824772"/>
              <a:gd name="connsiteY6" fmla="*/ 364881 h 886412"/>
              <a:gd name="connsiteX7" fmla="*/ 2824772 w 2824772"/>
              <a:gd name="connsiteY7" fmla="*/ 0 h 88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4772" h="886412">
                <a:moveTo>
                  <a:pt x="0" y="208141"/>
                </a:moveTo>
                <a:cubicBezTo>
                  <a:pt x="39687" y="271006"/>
                  <a:pt x="105100" y="462918"/>
                  <a:pt x="179209" y="559442"/>
                </a:cubicBezTo>
                <a:cubicBezTo>
                  <a:pt x="253318" y="655966"/>
                  <a:pt x="327170" y="732797"/>
                  <a:pt x="444652" y="787288"/>
                </a:cubicBezTo>
                <a:cubicBezTo>
                  <a:pt x="562134" y="841780"/>
                  <a:pt x="734421" y="885267"/>
                  <a:pt x="884100" y="886391"/>
                </a:cubicBezTo>
                <a:cubicBezTo>
                  <a:pt x="1033779" y="887515"/>
                  <a:pt x="1199228" y="843714"/>
                  <a:pt x="1342724" y="794030"/>
                </a:cubicBezTo>
                <a:cubicBezTo>
                  <a:pt x="1486220" y="744346"/>
                  <a:pt x="1612055" y="659814"/>
                  <a:pt x="1745077" y="588289"/>
                </a:cubicBezTo>
                <a:cubicBezTo>
                  <a:pt x="1878099" y="516764"/>
                  <a:pt x="1996076" y="441716"/>
                  <a:pt x="2140856" y="364881"/>
                </a:cubicBezTo>
                <a:lnTo>
                  <a:pt x="2824772" y="0"/>
                </a:ln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66" name="直接连接符 165"/>
          <p:cNvCxnSpPr/>
          <p:nvPr/>
        </p:nvCxnSpPr>
        <p:spPr bwMode="auto">
          <a:xfrm flipH="1">
            <a:off x="5281620" y="1827266"/>
            <a:ext cx="14885" cy="921789"/>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直接连接符 166"/>
          <p:cNvCxnSpPr/>
          <p:nvPr/>
        </p:nvCxnSpPr>
        <p:spPr bwMode="auto">
          <a:xfrm>
            <a:off x="5296743" y="1827544"/>
            <a:ext cx="768648" cy="1176069"/>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直接连接符 167"/>
          <p:cNvCxnSpPr/>
          <p:nvPr/>
        </p:nvCxnSpPr>
        <p:spPr bwMode="auto">
          <a:xfrm>
            <a:off x="6152477" y="1824607"/>
            <a:ext cx="1179006" cy="689987"/>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直接连接符 168"/>
          <p:cNvCxnSpPr/>
          <p:nvPr/>
        </p:nvCxnSpPr>
        <p:spPr bwMode="auto">
          <a:xfrm>
            <a:off x="6951748" y="1842444"/>
            <a:ext cx="758223" cy="434339"/>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0" name="直接连接符 169"/>
          <p:cNvCxnSpPr/>
          <p:nvPr/>
        </p:nvCxnSpPr>
        <p:spPr bwMode="auto">
          <a:xfrm>
            <a:off x="7696676" y="1811932"/>
            <a:ext cx="415229" cy="213642"/>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直接连接符 170"/>
          <p:cNvCxnSpPr/>
          <p:nvPr/>
        </p:nvCxnSpPr>
        <p:spPr bwMode="auto">
          <a:xfrm flipH="1">
            <a:off x="5023712" y="1825996"/>
            <a:ext cx="273040" cy="588114"/>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直接连接符 171"/>
          <p:cNvCxnSpPr/>
          <p:nvPr/>
        </p:nvCxnSpPr>
        <p:spPr bwMode="auto">
          <a:xfrm>
            <a:off x="4897967" y="1157796"/>
            <a:ext cx="0" cy="1574901"/>
          </a:xfrm>
          <a:prstGeom prst="line">
            <a:avLst/>
          </a:prstGeom>
          <a:noFill/>
          <a:ln w="19050" cap="flat" cmpd="sng" algn="ctr">
            <a:solidFill>
              <a:srgbClr val="000066"/>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直接连接符 172"/>
          <p:cNvCxnSpPr/>
          <p:nvPr/>
        </p:nvCxnSpPr>
        <p:spPr bwMode="auto">
          <a:xfrm>
            <a:off x="4494386" y="1290951"/>
            <a:ext cx="792197"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Text Box 21"/>
          <p:cNvSpPr txBox="1">
            <a:spLocks noChangeArrowheads="1"/>
          </p:cNvSpPr>
          <p:nvPr/>
        </p:nvSpPr>
        <p:spPr bwMode="auto">
          <a:xfrm>
            <a:off x="4056339" y="1034489"/>
            <a:ext cx="493768"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err="1">
                <a:solidFill>
                  <a:srgbClr val="000066"/>
                </a:solidFill>
                <a:latin typeface="Times New Roman" panose="02020603050405020304" pitchFamily="18" charset="0"/>
              </a:rPr>
              <a:t>p</a:t>
            </a:r>
            <a:r>
              <a:rPr kumimoji="1" lang="en-US" altLang="zh-CN" sz="2000" b="1" baseline="-25000" dirty="0" err="1">
                <a:solidFill>
                  <a:srgbClr val="000066"/>
                </a:solidFill>
                <a:latin typeface="Times New Roman" panose="02020603050405020304" pitchFamily="18" charset="0"/>
              </a:rPr>
              <a:t>u</a:t>
            </a:r>
            <a:endParaRPr kumimoji="1" lang="en-US" altLang="zh-CN" sz="2000" b="1" baseline="-25000" dirty="0">
              <a:solidFill>
                <a:srgbClr val="000066"/>
              </a:solidFill>
              <a:latin typeface="Times New Roman" panose="02020603050405020304" pitchFamily="18" charset="0"/>
            </a:endParaRPr>
          </a:p>
        </p:txBody>
      </p:sp>
      <p:sp>
        <p:nvSpPr>
          <p:cNvPr id="176" name="Text Box 21"/>
          <p:cNvSpPr txBox="1">
            <a:spLocks noChangeArrowheads="1"/>
          </p:cNvSpPr>
          <p:nvPr/>
        </p:nvSpPr>
        <p:spPr bwMode="auto">
          <a:xfrm>
            <a:off x="5801095" y="983343"/>
            <a:ext cx="1380506" cy="41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I</a:t>
            </a: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刚性核区</a:t>
            </a:r>
          </a:p>
        </p:txBody>
      </p:sp>
      <p:sp>
        <p:nvSpPr>
          <p:cNvPr id="177" name="Text Box 21"/>
          <p:cNvSpPr txBox="1">
            <a:spLocks noChangeArrowheads="1"/>
          </p:cNvSpPr>
          <p:nvPr/>
        </p:nvSpPr>
        <p:spPr bwMode="auto">
          <a:xfrm>
            <a:off x="5171524" y="2344775"/>
            <a:ext cx="1221808" cy="41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II </a:t>
            </a: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过渡区</a:t>
            </a:r>
          </a:p>
        </p:txBody>
      </p:sp>
      <p:sp>
        <p:nvSpPr>
          <p:cNvPr id="178" name="Text Box 21"/>
          <p:cNvSpPr txBox="1">
            <a:spLocks noChangeArrowheads="1"/>
          </p:cNvSpPr>
          <p:nvPr/>
        </p:nvSpPr>
        <p:spPr bwMode="auto">
          <a:xfrm>
            <a:off x="6364986" y="1989332"/>
            <a:ext cx="1321196"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III </a:t>
            </a: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被动区</a:t>
            </a:r>
          </a:p>
        </p:txBody>
      </p:sp>
      <p:sp>
        <p:nvSpPr>
          <p:cNvPr id="179" name="Text Box 21"/>
          <p:cNvSpPr txBox="1">
            <a:spLocks noChangeArrowheads="1"/>
          </p:cNvSpPr>
          <p:nvPr/>
        </p:nvSpPr>
        <p:spPr bwMode="auto">
          <a:xfrm>
            <a:off x="5230924" y="1454988"/>
            <a:ext cx="37061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80" name="Text Box 21"/>
          <p:cNvSpPr txBox="1">
            <a:spLocks noChangeArrowheads="1"/>
          </p:cNvSpPr>
          <p:nvPr/>
        </p:nvSpPr>
        <p:spPr bwMode="auto">
          <a:xfrm>
            <a:off x="4175441" y="1478986"/>
            <a:ext cx="35618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81" name="Text Box 21"/>
          <p:cNvSpPr txBox="1">
            <a:spLocks noChangeArrowheads="1"/>
          </p:cNvSpPr>
          <p:nvPr/>
        </p:nvSpPr>
        <p:spPr bwMode="auto">
          <a:xfrm>
            <a:off x="4574846" y="2006609"/>
            <a:ext cx="37061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82" name="Text Box 21"/>
          <p:cNvSpPr txBox="1">
            <a:spLocks noChangeArrowheads="1"/>
          </p:cNvSpPr>
          <p:nvPr/>
        </p:nvSpPr>
        <p:spPr bwMode="auto">
          <a:xfrm>
            <a:off x="7004128" y="2694097"/>
            <a:ext cx="37061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83" name="Text Box 21"/>
          <p:cNvSpPr txBox="1">
            <a:spLocks noChangeArrowheads="1"/>
          </p:cNvSpPr>
          <p:nvPr/>
        </p:nvSpPr>
        <p:spPr bwMode="auto">
          <a:xfrm>
            <a:off x="2574436" y="2721834"/>
            <a:ext cx="35618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84" name="Text Box 21"/>
          <p:cNvSpPr txBox="1">
            <a:spLocks noChangeArrowheads="1"/>
          </p:cNvSpPr>
          <p:nvPr/>
        </p:nvSpPr>
        <p:spPr bwMode="auto">
          <a:xfrm>
            <a:off x="938234" y="1462282"/>
            <a:ext cx="383438"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G</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187" name="组合 186"/>
          <p:cNvGrpSpPr/>
          <p:nvPr/>
        </p:nvGrpSpPr>
        <p:grpSpPr>
          <a:xfrm>
            <a:off x="4500268" y="1134582"/>
            <a:ext cx="786315" cy="110612"/>
            <a:chOff x="4457514" y="2897257"/>
            <a:chExt cx="1362333" cy="109926"/>
          </a:xfrm>
        </p:grpSpPr>
        <p:cxnSp>
          <p:nvCxnSpPr>
            <p:cNvPr id="188" name="直接连接符 187"/>
            <p:cNvCxnSpPr/>
            <p:nvPr/>
          </p:nvCxnSpPr>
          <p:spPr bwMode="auto">
            <a:xfrm>
              <a:off x="4457514" y="2902252"/>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直接连接符 188"/>
            <p:cNvCxnSpPr/>
            <p:nvPr/>
          </p:nvCxnSpPr>
          <p:spPr bwMode="auto">
            <a:xfrm>
              <a:off x="5805900" y="2897257"/>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直接连接符 189"/>
            <p:cNvCxnSpPr/>
            <p:nvPr/>
          </p:nvCxnSpPr>
          <p:spPr bwMode="auto">
            <a:xfrm>
              <a:off x="4457515" y="2954718"/>
              <a:ext cx="1362332" cy="0"/>
            </a:xfrm>
            <a:prstGeom prst="line">
              <a:avLst/>
            </a:pr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1" name="Text Box 21"/>
          <p:cNvSpPr txBox="1">
            <a:spLocks noChangeArrowheads="1"/>
          </p:cNvSpPr>
          <p:nvPr/>
        </p:nvSpPr>
        <p:spPr bwMode="auto">
          <a:xfrm>
            <a:off x="4731405" y="821247"/>
            <a:ext cx="312906"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ndParaRPr>
          </a:p>
        </p:txBody>
      </p:sp>
      <p:sp>
        <p:nvSpPr>
          <p:cNvPr id="196" name="Text Box 21"/>
          <p:cNvSpPr txBox="1">
            <a:spLocks noChangeArrowheads="1"/>
          </p:cNvSpPr>
          <p:nvPr/>
        </p:nvSpPr>
        <p:spPr bwMode="auto">
          <a:xfrm>
            <a:off x="8527003" y="1452934"/>
            <a:ext cx="341760"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17" name="直接箭头连接符 16"/>
          <p:cNvCxnSpPr/>
          <p:nvPr/>
        </p:nvCxnSpPr>
        <p:spPr bwMode="auto">
          <a:xfrm flipV="1">
            <a:off x="4981256" y="1210617"/>
            <a:ext cx="864782" cy="723015"/>
          </a:xfrm>
          <a:prstGeom prst="straightConnector1">
            <a:avLst/>
          </a:prstGeom>
          <a:noFill/>
          <a:ln w="127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 name="Text Box 110"/>
          <p:cNvSpPr txBox="1">
            <a:spLocks noChangeArrowheads="1"/>
          </p:cNvSpPr>
          <p:nvPr/>
        </p:nvSpPr>
        <p:spPr bwMode="auto">
          <a:xfrm>
            <a:off x="1228928" y="3528408"/>
            <a:ext cx="7277120" cy="2041585"/>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defTabSz="739775" eaLnBrk="1" hangingPunct="1">
              <a:lnSpc>
                <a:spcPct val="10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刚性核与基础成为一个整体沿竖直方向下沉，在刚性核尖端</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点，左右两侧的曲线滑动面与铅垂线</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CM</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相切</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42900" indent="-342900" defTabSz="739775" eaLnBrk="1" hangingPunct="1">
              <a:lnSpc>
                <a:spcPct val="10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基础完全粗糙时，如果刚性核的侧面</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也是滑动面，可由极限平衡理论解得</a:t>
            </a:r>
            <a:r>
              <a:rPr lang="zh-CN" altLang="en-US"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φ</a:t>
            </a:r>
          </a:p>
          <a:p>
            <a:pPr marL="342900" indent="-342900" defTabSz="739775">
              <a:lnSpc>
                <a:spcPct val="10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基础不完全粗糙时，基底摩擦力不足以完全限制土体</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ABC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的侧向变形，有</a:t>
            </a:r>
            <a:r>
              <a:rPr lang="zh-CN" altLang="en-US"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φ</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zh-CN" altLang="en-US"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45</a:t>
            </a:r>
            <a:r>
              <a:rPr kumimoji="1" lang="en-US" altLang="zh-CN" sz="2000" b="1" baseline="30000" dirty="0">
                <a:solidFill>
                  <a:srgbClr val="000066"/>
                </a:solidFill>
                <a:latin typeface="Times New Roman" panose="02020603050405020304" pitchFamily="18" charset="0"/>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a:t>
            </a:r>
            <a:r>
              <a:rPr kumimoji="1" lang="en-US" altLang="zh-CN" sz="2000" b="1" i="1" dirty="0">
                <a:solidFill>
                  <a:srgbClr val="000066"/>
                </a:solidFill>
                <a:latin typeface="Symbol" panose="05050102010706020507" pitchFamily="18" charset="2"/>
                <a:sym typeface="Symbol" panose="05050102010706020507" pitchFamily="18" charset="2"/>
              </a:rPr>
              <a:t></a:t>
            </a:r>
            <a:r>
              <a:rPr kumimoji="1" lang="en-US" altLang="zh-CN" sz="2000" b="1" dirty="0">
                <a:solidFill>
                  <a:srgbClr val="000066"/>
                </a:solidFill>
                <a:latin typeface="Symbol" panose="05050102010706020507" pitchFamily="18" charset="2"/>
                <a:sym typeface="Symbol" panose="05050102010706020507" pitchFamily="18" charset="2"/>
              </a:rPr>
              <a:t>/2</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nvGrpSpPr>
          <p:cNvPr id="2" name="组合 1"/>
          <p:cNvGrpSpPr/>
          <p:nvPr/>
        </p:nvGrpSpPr>
        <p:grpSpPr>
          <a:xfrm>
            <a:off x="4265896" y="1744369"/>
            <a:ext cx="493424" cy="477118"/>
            <a:chOff x="4265896" y="1744369"/>
            <a:chExt cx="493424" cy="477118"/>
          </a:xfrm>
        </p:grpSpPr>
        <p:sp>
          <p:nvSpPr>
            <p:cNvPr id="198" name="任意多边形 197"/>
            <p:cNvSpPr/>
            <p:nvPr/>
          </p:nvSpPr>
          <p:spPr bwMode="auto">
            <a:xfrm rot="3495134">
              <a:off x="4662540" y="1831391"/>
              <a:ext cx="81521" cy="112038"/>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9525" cap="flat" cmpd="sng" algn="ctr">
              <a:solidFill>
                <a:srgbClr val="000066"/>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6" name="Text Box 21"/>
            <p:cNvSpPr txBox="1">
              <a:spLocks noChangeArrowheads="1"/>
            </p:cNvSpPr>
            <p:nvPr/>
          </p:nvSpPr>
          <p:spPr bwMode="auto">
            <a:xfrm>
              <a:off x="4265896" y="1744369"/>
              <a:ext cx="396262" cy="47711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en-US" altLang="zh-CN" sz="2400" b="1" i="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83" name="任意多边形 82"/>
          <p:cNvSpPr/>
          <p:nvPr/>
        </p:nvSpPr>
        <p:spPr bwMode="auto">
          <a:xfrm flipH="1">
            <a:off x="1361014" y="1825666"/>
            <a:ext cx="3529003" cy="1183454"/>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9003" h="1183454">
                <a:moveTo>
                  <a:pt x="7" y="264732"/>
                </a:moveTo>
                <a:cubicBezTo>
                  <a:pt x="-408" y="348943"/>
                  <a:pt x="16775" y="415207"/>
                  <a:pt x="42434" y="499961"/>
                </a:cubicBezTo>
                <a:cubicBezTo>
                  <a:pt x="68093" y="584715"/>
                  <a:pt x="122645" y="681167"/>
                  <a:pt x="199682" y="773254"/>
                </a:cubicBezTo>
                <a:cubicBezTo>
                  <a:pt x="276719" y="870421"/>
                  <a:pt x="385738" y="948953"/>
                  <a:pt x="502370" y="1012063"/>
                </a:cubicBezTo>
                <a:cubicBezTo>
                  <a:pt x="619002" y="1075173"/>
                  <a:pt x="758451" y="1124582"/>
                  <a:pt x="899474" y="1151917"/>
                </a:cubicBezTo>
                <a:cubicBezTo>
                  <a:pt x="1040497" y="1179252"/>
                  <a:pt x="1194772" y="1192925"/>
                  <a:pt x="1348510" y="1176075"/>
                </a:cubicBezTo>
                <a:cubicBezTo>
                  <a:pt x="1502248" y="1159225"/>
                  <a:pt x="1674252" y="1107909"/>
                  <a:pt x="1821900" y="1050819"/>
                </a:cubicBezTo>
                <a:cubicBezTo>
                  <a:pt x="1969548" y="993729"/>
                  <a:pt x="2100500" y="909283"/>
                  <a:pt x="2234397" y="833537"/>
                </a:cubicBezTo>
                <a:cubicBezTo>
                  <a:pt x="2368294" y="757791"/>
                  <a:pt x="2538327" y="645353"/>
                  <a:pt x="2625280" y="596342"/>
                </a:cubicBezTo>
                <a:lnTo>
                  <a:pt x="3037098" y="324482"/>
                </a:lnTo>
                <a:cubicBezTo>
                  <a:pt x="3233143" y="205595"/>
                  <a:pt x="3284005" y="149917"/>
                  <a:pt x="3529003" y="0"/>
                </a:cubicBez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84" name="直接连接符 83"/>
          <p:cNvCxnSpPr/>
          <p:nvPr/>
        </p:nvCxnSpPr>
        <p:spPr bwMode="auto">
          <a:xfrm flipH="1">
            <a:off x="2854243" y="1828827"/>
            <a:ext cx="1631979" cy="933773"/>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Rectangle 152"/>
          <p:cNvSpPr>
            <a:spLocks noChangeArrowheads="1"/>
          </p:cNvSpPr>
          <p:nvPr/>
        </p:nvSpPr>
        <p:spPr bwMode="auto">
          <a:xfrm>
            <a:off x="8000745" y="1911040"/>
            <a:ext cx="95485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000066"/>
                </a:solidFill>
                <a:latin typeface="Times New Roman" panose="02020603050405020304" pitchFamily="18" charset="0"/>
                <a:ea typeface="楷体_GB2312" pitchFamily="49" charset="-122"/>
              </a:rPr>
              <a:t>45</a:t>
            </a:r>
            <a:r>
              <a:rPr kumimoji="1" lang="en-US" altLang="zh-CN" sz="2000" b="1" baseline="30000" dirty="0">
                <a:solidFill>
                  <a:srgbClr val="000066"/>
                </a:solidFill>
                <a:latin typeface="Times New Roman" panose="02020603050405020304" pitchFamily="18" charset="0"/>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a:t>
            </a:r>
            <a:r>
              <a:rPr kumimoji="1" lang="en-US" altLang="zh-CN" sz="2000" b="1" i="1" dirty="0">
                <a:solidFill>
                  <a:srgbClr val="000066"/>
                </a:solidFill>
                <a:latin typeface="Symbol" panose="05050102010706020507" pitchFamily="18" charset="2"/>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/2</a:t>
            </a:r>
          </a:p>
        </p:txBody>
      </p:sp>
      <p:sp>
        <p:nvSpPr>
          <p:cNvPr id="86" name="任意多边形 85"/>
          <p:cNvSpPr/>
          <p:nvPr/>
        </p:nvSpPr>
        <p:spPr bwMode="auto">
          <a:xfrm rot="11347515">
            <a:off x="8048463" y="1839335"/>
            <a:ext cx="129066" cy="156493"/>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4333"/>
              <a:gd name="connsiteY0" fmla="*/ 177679 h 177679"/>
              <a:gd name="connsiteX1" fmla="*/ 73672 w 84333"/>
              <a:gd name="connsiteY1" fmla="*/ 82340 h 177679"/>
              <a:gd name="connsiteX2" fmla="*/ 0 w 84333"/>
              <a:gd name="connsiteY2" fmla="*/ 0 h 177679"/>
              <a:gd name="connsiteX0" fmla="*/ 82339 w 83024"/>
              <a:gd name="connsiteY0" fmla="*/ 177679 h 177679"/>
              <a:gd name="connsiteX1" fmla="*/ 73672 w 83024"/>
              <a:gd name="connsiteY1" fmla="*/ 82340 h 177679"/>
              <a:gd name="connsiteX2" fmla="*/ 0 w 83024"/>
              <a:gd name="connsiteY2" fmla="*/ 0 h 177679"/>
            </a:gdLst>
            <a:ahLst/>
            <a:cxnLst>
              <a:cxn ang="0">
                <a:pos x="connsiteX0" y="connsiteY0"/>
              </a:cxn>
              <a:cxn ang="0">
                <a:pos x="connsiteX1" y="connsiteY1"/>
              </a:cxn>
              <a:cxn ang="0">
                <a:pos x="connsiteX2" y="connsiteY2"/>
              </a:cxn>
            </a:cxnLst>
            <a:rect l="l" t="t" r="r" b="b"/>
            <a:pathLst>
              <a:path w="83024" h="177679">
                <a:moveTo>
                  <a:pt x="82339" y="177679"/>
                </a:moveTo>
                <a:cubicBezTo>
                  <a:pt x="84867" y="144815"/>
                  <a:pt x="80049" y="111548"/>
                  <a:pt x="73672" y="82340"/>
                </a:cubicBezTo>
                <a:cubicBezTo>
                  <a:pt x="59949" y="52727"/>
                  <a:pt x="29974" y="26363"/>
                  <a:pt x="0" y="0"/>
                </a:cubicBezTo>
              </a:path>
            </a:pathLst>
          </a:custGeom>
          <a:noFill/>
          <a:ln w="127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87"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太沙基公式</a:t>
            </a:r>
          </a:p>
        </p:txBody>
      </p:sp>
      <p:sp>
        <p:nvSpPr>
          <p:cNvPr id="92" name="Text Box 21"/>
          <p:cNvSpPr txBox="1">
            <a:spLocks noChangeArrowheads="1"/>
          </p:cNvSpPr>
          <p:nvPr/>
        </p:nvSpPr>
        <p:spPr bwMode="auto">
          <a:xfrm>
            <a:off x="4719847" y="2674657"/>
            <a:ext cx="426719" cy="417871"/>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M</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296537195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barn(inVertical)">
                                      <p:cBhvr>
                                        <p:cTn id="7" dur="500"/>
                                        <p:tgtEl>
                                          <p:spTgt spid="8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97">
                                            <p:txEl>
                                              <p:pRg st="0" end="0"/>
                                            </p:txEl>
                                          </p:spTgt>
                                        </p:tgtEl>
                                        <p:attrNameLst>
                                          <p:attrName>style.visibility</p:attrName>
                                        </p:attrNameLst>
                                      </p:cBhvr>
                                      <p:to>
                                        <p:strVal val="visible"/>
                                      </p:to>
                                    </p:set>
                                    <p:animEffect transition="in" filter="wipe(left)">
                                      <p:cBhvr>
                                        <p:cTn id="11" dur="500"/>
                                        <p:tgtEl>
                                          <p:spTgt spid="19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7">
                                            <p:txEl>
                                              <p:pRg st="1" end="1"/>
                                            </p:txEl>
                                          </p:spTgt>
                                        </p:tgtEl>
                                        <p:attrNameLst>
                                          <p:attrName>style.visibility</p:attrName>
                                        </p:attrNameLst>
                                      </p:cBhvr>
                                      <p:to>
                                        <p:strVal val="visible"/>
                                      </p:to>
                                    </p:set>
                                    <p:animEffect transition="in" filter="wipe(left)">
                                      <p:cBhvr>
                                        <p:cTn id="16" dur="500"/>
                                        <p:tgtEl>
                                          <p:spTgt spid="197">
                                            <p:txEl>
                                              <p:pRg st="1" end="1"/>
                                            </p:txEl>
                                          </p:spTgt>
                                        </p:tgtEl>
                                      </p:cBhvr>
                                    </p:animEffect>
                                  </p:childTnLst>
                                </p:cTn>
                              </p:par>
                            </p:childTnLst>
                          </p:cTn>
                        </p:par>
                        <p:par>
                          <p:cTn id="17" fill="hold">
                            <p:stCondLst>
                              <p:cond delay="500"/>
                            </p:stCondLst>
                            <p:childTnLst>
                              <p:par>
                                <p:cTn id="18" presetID="35" presetClass="emph" presetSubtype="0" repeatCount="3000" fill="hold" nodeType="afterEffect">
                                  <p:stCondLst>
                                    <p:cond delay="0"/>
                                  </p:stCondLst>
                                  <p:childTnLst>
                                    <p:anim calcmode="discrete" valueType="str">
                                      <p:cBhvr>
                                        <p:cTn id="19"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97">
                                            <p:txEl>
                                              <p:pRg st="2" end="2"/>
                                            </p:txEl>
                                          </p:spTgt>
                                        </p:tgtEl>
                                        <p:attrNameLst>
                                          <p:attrName>style.visibility</p:attrName>
                                        </p:attrNameLst>
                                      </p:cBhvr>
                                      <p:to>
                                        <p:strVal val="visible"/>
                                      </p:to>
                                    </p:set>
                                    <p:animEffect transition="in" filter="wipe(left)">
                                      <p:cBhvr>
                                        <p:cTn id="24" dur="500"/>
                                        <p:tgtEl>
                                          <p:spTgt spid="1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197"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bwMode="auto">
          <a:xfrm>
            <a:off x="753532" y="1309845"/>
            <a:ext cx="4369433" cy="2733419"/>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4" name="任意多边形 153"/>
          <p:cNvSpPr/>
          <p:nvPr/>
        </p:nvSpPr>
        <p:spPr bwMode="auto">
          <a:xfrm>
            <a:off x="5547672" y="2247378"/>
            <a:ext cx="3070578" cy="1051464"/>
          </a:xfrm>
          <a:custGeom>
            <a:avLst/>
            <a:gdLst>
              <a:gd name="connsiteX0" fmla="*/ 0 w 800100"/>
              <a:gd name="connsiteY0" fmla="*/ 0 h 781050"/>
              <a:gd name="connsiteX1" fmla="*/ 406400 w 800100"/>
              <a:gd name="connsiteY1" fmla="*/ 781050 h 781050"/>
              <a:gd name="connsiteX2" fmla="*/ 800100 w 800100"/>
              <a:gd name="connsiteY2" fmla="*/ 12700 h 781050"/>
              <a:gd name="connsiteX0" fmla="*/ 0 w 788670"/>
              <a:gd name="connsiteY0" fmla="*/ 0 h 773430"/>
              <a:gd name="connsiteX1" fmla="*/ 394970 w 788670"/>
              <a:gd name="connsiteY1" fmla="*/ 773430 h 773430"/>
              <a:gd name="connsiteX2" fmla="*/ 788670 w 788670"/>
              <a:gd name="connsiteY2" fmla="*/ 5080 h 773430"/>
              <a:gd name="connsiteX0" fmla="*/ 0 w 798195"/>
              <a:gd name="connsiteY0" fmla="*/ 13970 h 787400"/>
              <a:gd name="connsiteX1" fmla="*/ 394970 w 798195"/>
              <a:gd name="connsiteY1" fmla="*/ 787400 h 787400"/>
              <a:gd name="connsiteX2" fmla="*/ 798195 w 798195"/>
              <a:gd name="connsiteY2" fmla="*/ 0 h 787400"/>
              <a:gd name="connsiteX0" fmla="*/ 0 w 809625"/>
              <a:gd name="connsiteY0" fmla="*/ 2540 h 787400"/>
              <a:gd name="connsiteX1" fmla="*/ 406400 w 809625"/>
              <a:gd name="connsiteY1" fmla="*/ 787400 h 787400"/>
              <a:gd name="connsiteX2" fmla="*/ 809625 w 809625"/>
              <a:gd name="connsiteY2" fmla="*/ 0 h 787400"/>
              <a:gd name="connsiteX0" fmla="*/ 0 w 798195"/>
              <a:gd name="connsiteY0" fmla="*/ 4445 h 787400"/>
              <a:gd name="connsiteX1" fmla="*/ 394970 w 798195"/>
              <a:gd name="connsiteY1" fmla="*/ 787400 h 787400"/>
              <a:gd name="connsiteX2" fmla="*/ 798195 w 798195"/>
              <a:gd name="connsiteY2" fmla="*/ 0 h 787400"/>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163624"/>
              <a:gd name="connsiteX1" fmla="*/ 380793 w 798195"/>
              <a:gd name="connsiteY1" fmla="*/ 163624 h 163624"/>
              <a:gd name="connsiteX2" fmla="*/ 798195 w 798195"/>
              <a:gd name="connsiteY2" fmla="*/ 0 h 163624"/>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258205"/>
              <a:gd name="connsiteX1" fmla="*/ 399489 w 798195"/>
              <a:gd name="connsiteY1" fmla="*/ 258205 h 258205"/>
              <a:gd name="connsiteX2" fmla="*/ 798195 w 798195"/>
              <a:gd name="connsiteY2" fmla="*/ 0 h 258205"/>
              <a:gd name="connsiteX0" fmla="*/ 0 w 798988"/>
              <a:gd name="connsiteY0" fmla="*/ 703 h 258205"/>
              <a:gd name="connsiteX1" fmla="*/ 400282 w 798988"/>
              <a:gd name="connsiteY1" fmla="*/ 258205 h 258205"/>
              <a:gd name="connsiteX2" fmla="*/ 798988 w 798988"/>
              <a:gd name="connsiteY2" fmla="*/ 0 h 258205"/>
            </a:gdLst>
            <a:ahLst/>
            <a:cxnLst>
              <a:cxn ang="0">
                <a:pos x="connsiteX0" y="connsiteY0"/>
              </a:cxn>
              <a:cxn ang="0">
                <a:pos x="connsiteX1" y="connsiteY1"/>
              </a:cxn>
              <a:cxn ang="0">
                <a:pos x="connsiteX2" y="connsiteY2"/>
              </a:cxn>
            </a:cxnLst>
            <a:rect l="l" t="t" r="r" b="b"/>
            <a:pathLst>
              <a:path w="798988" h="258205">
                <a:moveTo>
                  <a:pt x="0" y="703"/>
                </a:moveTo>
                <a:lnTo>
                  <a:pt x="400282" y="258205"/>
                </a:lnTo>
                <a:lnTo>
                  <a:pt x="798988" y="0"/>
                </a:lnTo>
              </a:path>
            </a:pathLst>
          </a:custGeom>
          <a:solidFill>
            <a:srgbClr val="FFC000"/>
          </a:solid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5" name="Text Box 21"/>
          <p:cNvSpPr txBox="1">
            <a:spLocks noChangeArrowheads="1"/>
          </p:cNvSpPr>
          <p:nvPr/>
        </p:nvSpPr>
        <p:spPr bwMode="auto">
          <a:xfrm>
            <a:off x="5509383" y="3045196"/>
            <a:ext cx="576854" cy="417871"/>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A50021"/>
                </a:solidFill>
                <a:latin typeface="Times New Roman" panose="02020603050405020304" pitchFamily="18" charset="0"/>
              </a:rPr>
              <a:t>E</a:t>
            </a:r>
            <a:r>
              <a:rPr kumimoji="1" lang="en-US" altLang="zh-CN" sz="2000" b="1" baseline="-25000" dirty="0">
                <a:solidFill>
                  <a:srgbClr val="A50021"/>
                </a:solidFill>
                <a:latin typeface="Times New Roman" panose="02020603050405020304" pitchFamily="18" charset="0"/>
              </a:rPr>
              <a:t>p</a:t>
            </a:r>
          </a:p>
        </p:txBody>
      </p:sp>
      <p:sp>
        <p:nvSpPr>
          <p:cNvPr id="92" name="Text Box 21"/>
          <p:cNvSpPr txBox="1">
            <a:spLocks noChangeArrowheads="1"/>
          </p:cNvSpPr>
          <p:nvPr/>
        </p:nvSpPr>
        <p:spPr bwMode="auto">
          <a:xfrm>
            <a:off x="7961678" y="3037395"/>
            <a:ext cx="576854" cy="417871"/>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A50021"/>
                </a:solidFill>
                <a:latin typeface="Times New Roman" panose="02020603050405020304" pitchFamily="18" charset="0"/>
              </a:rPr>
              <a:t>E</a:t>
            </a:r>
            <a:r>
              <a:rPr kumimoji="1" lang="en-US" altLang="zh-CN" sz="2000" b="1" baseline="-25000" dirty="0">
                <a:solidFill>
                  <a:srgbClr val="A50021"/>
                </a:solidFill>
                <a:latin typeface="Times New Roman" panose="02020603050405020304" pitchFamily="18" charset="0"/>
              </a:rPr>
              <a:t>p</a:t>
            </a: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46</a:t>
            </a:fld>
            <a:endParaRPr lang="zh-CN" altLang="en-US" dirty="0">
              <a:solidFill>
                <a:srgbClr val="C00000"/>
              </a:solidFill>
            </a:endParaRPr>
          </a:p>
        </p:txBody>
      </p:sp>
      <p:sp>
        <p:nvSpPr>
          <p:cNvPr id="60" name="Text Box 46"/>
          <p:cNvSpPr txBox="1">
            <a:spLocks noChangeArrowheads="1"/>
          </p:cNvSpPr>
          <p:nvPr/>
        </p:nvSpPr>
        <p:spPr bwMode="auto">
          <a:xfrm>
            <a:off x="430002" y="685751"/>
            <a:ext cx="3786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刚性核分析</a:t>
            </a:r>
          </a:p>
        </p:txBody>
      </p:sp>
      <p:sp>
        <p:nvSpPr>
          <p:cNvPr id="61"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太沙基 </a:t>
            </a:r>
            <a:r>
              <a:rPr kumimoji="1" lang="en-US" altLang="zh-CN" sz="4000" b="1" dirty="0">
                <a:solidFill>
                  <a:srgbClr val="000066"/>
                </a:solidFill>
                <a:ea typeface="黑体" pitchFamily="2" charset="-122"/>
                <a:cs typeface="Times New Roman" panose="02020603050405020304" pitchFamily="18" charset="0"/>
              </a:rPr>
              <a:t>(Terzaghi) </a:t>
            </a:r>
            <a:r>
              <a:rPr kumimoji="1" lang="zh-CN" altLang="en-US" sz="4000" b="1" dirty="0">
                <a:solidFill>
                  <a:srgbClr val="000066"/>
                </a:solidFill>
                <a:ea typeface="黑体" pitchFamily="2" charset="-122"/>
                <a:cs typeface="Times New Roman" panose="02020603050405020304" pitchFamily="18" charset="0"/>
              </a:rPr>
              <a:t>公式</a:t>
            </a:r>
          </a:p>
        </p:txBody>
      </p:sp>
      <p:sp>
        <p:nvSpPr>
          <p:cNvPr id="174" name="Text Box 21"/>
          <p:cNvSpPr txBox="1">
            <a:spLocks noChangeArrowheads="1"/>
          </p:cNvSpPr>
          <p:nvPr/>
        </p:nvSpPr>
        <p:spPr bwMode="auto">
          <a:xfrm>
            <a:off x="7175807" y="1684835"/>
            <a:ext cx="493768"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err="1">
                <a:solidFill>
                  <a:srgbClr val="000066"/>
                </a:solidFill>
                <a:latin typeface="Times New Roman" panose="02020603050405020304" pitchFamily="18" charset="0"/>
              </a:rPr>
              <a:t>p</a:t>
            </a:r>
            <a:r>
              <a:rPr kumimoji="1" lang="en-US" altLang="zh-CN" sz="2000" b="1" baseline="-25000" dirty="0" err="1">
                <a:solidFill>
                  <a:srgbClr val="000066"/>
                </a:solidFill>
                <a:latin typeface="Times New Roman" panose="02020603050405020304" pitchFamily="18" charset="0"/>
              </a:rPr>
              <a:t>u</a:t>
            </a:r>
            <a:endParaRPr kumimoji="1" lang="en-US" altLang="zh-CN" sz="2000" b="1" baseline="-25000" dirty="0">
              <a:solidFill>
                <a:srgbClr val="000066"/>
              </a:solidFill>
              <a:latin typeface="Times New Roman" panose="02020603050405020304" pitchFamily="18" charset="0"/>
            </a:endParaRPr>
          </a:p>
        </p:txBody>
      </p:sp>
      <p:sp>
        <p:nvSpPr>
          <p:cNvPr id="191" name="Text Box 21"/>
          <p:cNvSpPr txBox="1">
            <a:spLocks noChangeArrowheads="1"/>
          </p:cNvSpPr>
          <p:nvPr/>
        </p:nvSpPr>
        <p:spPr bwMode="auto">
          <a:xfrm>
            <a:off x="6942579" y="1108496"/>
            <a:ext cx="312906"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ndParaRPr>
          </a:p>
        </p:txBody>
      </p:sp>
      <p:sp>
        <p:nvSpPr>
          <p:cNvPr id="89" name="Line 25"/>
          <p:cNvSpPr>
            <a:spLocks noChangeShapeType="1"/>
          </p:cNvSpPr>
          <p:nvPr/>
        </p:nvSpPr>
        <p:spPr bwMode="auto">
          <a:xfrm flipV="1">
            <a:off x="7653067" y="2632618"/>
            <a:ext cx="538004" cy="370808"/>
          </a:xfrm>
          <a:prstGeom prst="line">
            <a:avLst/>
          </a:prstGeom>
          <a:noFill/>
          <a:ln w="19050" cap="sq">
            <a:solidFill>
              <a:srgbClr val="000066"/>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69" name="直接连接符 68"/>
          <p:cNvCxnSpPr/>
          <p:nvPr/>
        </p:nvCxnSpPr>
        <p:spPr bwMode="auto">
          <a:xfrm flipH="1">
            <a:off x="5550615" y="2248822"/>
            <a:ext cx="3063033"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7" name="组合 186"/>
          <p:cNvGrpSpPr/>
          <p:nvPr/>
        </p:nvGrpSpPr>
        <p:grpSpPr>
          <a:xfrm>
            <a:off x="5547672" y="1436846"/>
            <a:ext cx="3070578" cy="260056"/>
            <a:chOff x="4457514" y="2897257"/>
            <a:chExt cx="1348386" cy="109926"/>
          </a:xfrm>
        </p:grpSpPr>
        <p:cxnSp>
          <p:nvCxnSpPr>
            <p:cNvPr id="188" name="直接连接符 187"/>
            <p:cNvCxnSpPr/>
            <p:nvPr/>
          </p:nvCxnSpPr>
          <p:spPr bwMode="auto">
            <a:xfrm>
              <a:off x="4457514" y="2902252"/>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直接连接符 188"/>
            <p:cNvCxnSpPr/>
            <p:nvPr/>
          </p:nvCxnSpPr>
          <p:spPr bwMode="auto">
            <a:xfrm>
              <a:off x="5805900" y="2897257"/>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直接连接符 189"/>
            <p:cNvCxnSpPr/>
            <p:nvPr/>
          </p:nvCxnSpPr>
          <p:spPr bwMode="auto">
            <a:xfrm>
              <a:off x="4457515" y="2954718"/>
              <a:ext cx="1348385" cy="0"/>
            </a:xfrm>
            <a:prstGeom prst="line">
              <a:avLst/>
            </a:pr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5" name="Rectangle 152"/>
          <p:cNvSpPr>
            <a:spLocks noChangeArrowheads="1"/>
          </p:cNvSpPr>
          <p:nvPr/>
        </p:nvSpPr>
        <p:spPr bwMode="auto">
          <a:xfrm>
            <a:off x="5921758" y="2164140"/>
            <a:ext cx="420531"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a:solidFill>
                  <a:srgbClr val="000066"/>
                </a:solidFill>
                <a:latin typeface="Symbol" panose="05050102010706020507" pitchFamily="18" charset="2"/>
                <a:sym typeface="Symbol" panose="05050102010706020507" pitchFamily="18" charset="2"/>
              </a:rPr>
              <a:t></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88" name="任意多边形 87"/>
          <p:cNvSpPr/>
          <p:nvPr/>
        </p:nvSpPr>
        <p:spPr bwMode="auto">
          <a:xfrm rot="3495134">
            <a:off x="5847356" y="2270394"/>
            <a:ext cx="133982" cy="184138"/>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9525" cap="flat" cmpd="sng" algn="ctr">
            <a:solidFill>
              <a:srgbClr val="000066"/>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0" name="Text Box 21"/>
          <p:cNvSpPr txBox="1">
            <a:spLocks noChangeArrowheads="1"/>
          </p:cNvSpPr>
          <p:nvPr/>
        </p:nvSpPr>
        <p:spPr bwMode="auto">
          <a:xfrm>
            <a:off x="8141969" y="2383155"/>
            <a:ext cx="427179" cy="517065"/>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rPr>
              <a:t>c</a:t>
            </a:r>
          </a:p>
        </p:txBody>
      </p:sp>
      <p:sp>
        <p:nvSpPr>
          <p:cNvPr id="91" name="Line 25"/>
          <p:cNvSpPr>
            <a:spLocks noChangeShapeType="1"/>
          </p:cNvSpPr>
          <p:nvPr/>
        </p:nvSpPr>
        <p:spPr bwMode="auto">
          <a:xfrm flipV="1">
            <a:off x="7961679" y="2922302"/>
            <a:ext cx="0" cy="510517"/>
          </a:xfrm>
          <a:prstGeom prst="line">
            <a:avLst/>
          </a:prstGeom>
          <a:noFill/>
          <a:ln w="28575" cap="sq">
            <a:solidFill>
              <a:srgbClr val="A5002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25"/>
          <p:cNvSpPr>
            <a:spLocks noChangeShapeType="1"/>
          </p:cNvSpPr>
          <p:nvPr/>
        </p:nvSpPr>
        <p:spPr bwMode="auto">
          <a:xfrm flipH="1" flipV="1">
            <a:off x="5936562" y="2639744"/>
            <a:ext cx="538004" cy="370808"/>
          </a:xfrm>
          <a:prstGeom prst="line">
            <a:avLst/>
          </a:prstGeom>
          <a:noFill/>
          <a:ln w="19050" cap="sq">
            <a:solidFill>
              <a:srgbClr val="000066"/>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25"/>
          <p:cNvSpPr>
            <a:spLocks noChangeShapeType="1"/>
          </p:cNvSpPr>
          <p:nvPr/>
        </p:nvSpPr>
        <p:spPr bwMode="auto">
          <a:xfrm flipV="1">
            <a:off x="6086392" y="2920592"/>
            <a:ext cx="0" cy="510517"/>
          </a:xfrm>
          <a:prstGeom prst="line">
            <a:avLst/>
          </a:prstGeom>
          <a:noFill/>
          <a:ln w="28575" cap="sq">
            <a:solidFill>
              <a:srgbClr val="A5002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Rectangle 152"/>
          <p:cNvSpPr>
            <a:spLocks noChangeArrowheads="1"/>
          </p:cNvSpPr>
          <p:nvPr/>
        </p:nvSpPr>
        <p:spPr bwMode="auto">
          <a:xfrm>
            <a:off x="7873128" y="2162868"/>
            <a:ext cx="420531"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a:solidFill>
                  <a:srgbClr val="000066"/>
                </a:solidFill>
                <a:latin typeface="Symbol" panose="05050102010706020507" pitchFamily="18" charset="2"/>
                <a:sym typeface="Symbol" panose="05050102010706020507" pitchFamily="18" charset="2"/>
              </a:rPr>
              <a:t></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97" name="任意多边形 96"/>
          <p:cNvSpPr/>
          <p:nvPr/>
        </p:nvSpPr>
        <p:spPr bwMode="auto">
          <a:xfrm rot="18104866" flipH="1">
            <a:off x="8220331" y="2262055"/>
            <a:ext cx="133982" cy="184138"/>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9525" cap="flat" cmpd="sng" algn="ctr">
            <a:solidFill>
              <a:srgbClr val="000066"/>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9" name="Line 25"/>
          <p:cNvSpPr>
            <a:spLocks noChangeShapeType="1"/>
          </p:cNvSpPr>
          <p:nvPr/>
        </p:nvSpPr>
        <p:spPr bwMode="auto">
          <a:xfrm>
            <a:off x="7081354" y="2609144"/>
            <a:ext cx="0" cy="571631"/>
          </a:xfrm>
          <a:prstGeom prst="line">
            <a:avLst/>
          </a:prstGeom>
          <a:noFill/>
          <a:ln w="28575" cap="sq">
            <a:solidFill>
              <a:srgbClr val="000066"/>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Text Box 21"/>
          <p:cNvSpPr txBox="1">
            <a:spLocks noChangeArrowheads="1"/>
          </p:cNvSpPr>
          <p:nvPr/>
        </p:nvSpPr>
        <p:spPr bwMode="auto">
          <a:xfrm>
            <a:off x="7017179" y="2548727"/>
            <a:ext cx="57685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W</a:t>
            </a:r>
            <a:endParaRPr kumimoji="1" lang="en-US" altLang="zh-CN" sz="2000" b="1" baseline="-25000" dirty="0">
              <a:solidFill>
                <a:srgbClr val="000066"/>
              </a:solidFill>
              <a:latin typeface="Times New Roman" panose="02020603050405020304" pitchFamily="18" charset="0"/>
            </a:endParaRPr>
          </a:p>
        </p:txBody>
      </p:sp>
      <p:sp>
        <p:nvSpPr>
          <p:cNvPr id="102" name="Text Box 110"/>
          <p:cNvSpPr txBox="1">
            <a:spLocks noChangeArrowheads="1"/>
          </p:cNvSpPr>
          <p:nvPr/>
        </p:nvSpPr>
        <p:spPr bwMode="auto">
          <a:xfrm>
            <a:off x="839689" y="1347063"/>
            <a:ext cx="4044956" cy="2687915"/>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defTabSz="739775" eaLnBrk="1" hangingPunct="1">
              <a:lnSpc>
                <a:spcPct val="10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将刚性核的两个侧面</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当成挡土墙的墙背。基底压应力促使刚性核向下移动</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42900" indent="-342900" defTabSz="739775" eaLnBrk="1" hangingPunct="1">
              <a:lnSpc>
                <a:spcPct val="105000"/>
              </a:lnSpc>
              <a:spcBef>
                <a:spcPts val="200"/>
              </a:spcBef>
              <a:spcAft>
                <a:spcPts val="200"/>
              </a:spcAft>
              <a:buClr>
                <a:srgbClr val="C00000"/>
              </a:buClr>
              <a:buSzPct val="130000"/>
              <a:buFont typeface="Wingdings" panose="05000000000000000000" pitchFamily="2" charset="2"/>
              <a:buChar char="F"/>
              <a:tabLst>
                <a:tab pos="3411538" algn="l"/>
              </a:tabLst>
            </a:pP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面挤压两侧土体，直至土体破坏，这时基底的压应力就是极限承载力</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a:t>
            </a:r>
            <a:endPar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42900" indent="-342900" defTabSz="739775" eaLnBrk="1" hangingPunct="1">
              <a:lnSpc>
                <a:spcPct val="105000"/>
              </a:lnSpc>
              <a:spcBef>
                <a:spcPts val="200"/>
              </a:spcBef>
              <a:spcAft>
                <a:spcPts val="200"/>
              </a:spcAft>
              <a:buClr>
                <a:srgbClr val="C00000"/>
              </a:buClr>
              <a:buSzPct val="130000"/>
              <a:buFont typeface="Wingdings" panose="05000000000000000000" pitchFamily="2" charset="2"/>
              <a:buChar char="F"/>
              <a:tabLst>
                <a:tab pos="3411538" algn="l"/>
              </a:tabLst>
            </a:pP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当</a:t>
            </a:r>
            <a:r>
              <a:rPr kumimoji="1"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ψ</a:t>
            </a: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φ</a:t>
            </a: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时，被动土压力</a:t>
            </a:r>
            <a:r>
              <a:rPr kumimoji="1"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E</a:t>
            </a:r>
            <a:r>
              <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的方向是竖直向</a:t>
            </a:r>
            <a:endPar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103" name="Text Box 21"/>
          <p:cNvSpPr txBox="1">
            <a:spLocks noChangeArrowheads="1"/>
          </p:cNvSpPr>
          <p:nvPr/>
        </p:nvSpPr>
        <p:spPr bwMode="auto">
          <a:xfrm>
            <a:off x="8579071" y="2139324"/>
            <a:ext cx="37061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04" name="Text Box 21"/>
          <p:cNvSpPr txBox="1">
            <a:spLocks noChangeArrowheads="1"/>
          </p:cNvSpPr>
          <p:nvPr/>
        </p:nvSpPr>
        <p:spPr bwMode="auto">
          <a:xfrm>
            <a:off x="5205474" y="2154791"/>
            <a:ext cx="35618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05" name="Text Box 21"/>
          <p:cNvSpPr txBox="1">
            <a:spLocks noChangeArrowheads="1"/>
          </p:cNvSpPr>
          <p:nvPr/>
        </p:nvSpPr>
        <p:spPr bwMode="auto">
          <a:xfrm>
            <a:off x="7037467" y="3173747"/>
            <a:ext cx="37061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18" name="组合 17"/>
          <p:cNvGrpSpPr/>
          <p:nvPr/>
        </p:nvGrpSpPr>
        <p:grpSpPr>
          <a:xfrm>
            <a:off x="5555825" y="1838392"/>
            <a:ext cx="3056094" cy="425189"/>
            <a:chOff x="5411890" y="1421293"/>
            <a:chExt cx="3056094" cy="715288"/>
          </a:xfrm>
        </p:grpSpPr>
        <p:cxnSp>
          <p:nvCxnSpPr>
            <p:cNvPr id="173" name="直接连接符 172"/>
            <p:cNvCxnSpPr/>
            <p:nvPr/>
          </p:nvCxnSpPr>
          <p:spPr bwMode="auto">
            <a:xfrm>
              <a:off x="5411890" y="1421293"/>
              <a:ext cx="3056094"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Line 25"/>
            <p:cNvSpPr>
              <a:spLocks noChangeShapeType="1"/>
            </p:cNvSpPr>
            <p:nvPr/>
          </p:nvSpPr>
          <p:spPr bwMode="auto">
            <a:xfrm>
              <a:off x="5423719" y="1432030"/>
              <a:ext cx="0" cy="704551"/>
            </a:xfrm>
            <a:prstGeom prst="line">
              <a:avLst/>
            </a:prstGeom>
            <a:noFill/>
            <a:ln w="19050" cap="sq">
              <a:solidFill>
                <a:srgbClr val="000066"/>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25"/>
            <p:cNvSpPr>
              <a:spLocks noChangeShapeType="1"/>
            </p:cNvSpPr>
            <p:nvPr/>
          </p:nvSpPr>
          <p:spPr bwMode="auto">
            <a:xfrm>
              <a:off x="6184542" y="1432030"/>
              <a:ext cx="0" cy="704551"/>
            </a:xfrm>
            <a:prstGeom prst="line">
              <a:avLst/>
            </a:prstGeom>
            <a:noFill/>
            <a:ln w="19050" cap="sq">
              <a:solidFill>
                <a:srgbClr val="000066"/>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25"/>
            <p:cNvSpPr>
              <a:spLocks noChangeShapeType="1"/>
            </p:cNvSpPr>
            <p:nvPr/>
          </p:nvSpPr>
          <p:spPr bwMode="auto">
            <a:xfrm>
              <a:off x="7706186" y="1432030"/>
              <a:ext cx="0" cy="704551"/>
            </a:xfrm>
            <a:prstGeom prst="line">
              <a:avLst/>
            </a:prstGeom>
            <a:noFill/>
            <a:ln w="19050" cap="sq">
              <a:solidFill>
                <a:srgbClr val="000066"/>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25"/>
            <p:cNvSpPr>
              <a:spLocks noChangeShapeType="1"/>
            </p:cNvSpPr>
            <p:nvPr/>
          </p:nvSpPr>
          <p:spPr bwMode="auto">
            <a:xfrm>
              <a:off x="6945362" y="1432030"/>
              <a:ext cx="0" cy="704551"/>
            </a:xfrm>
            <a:prstGeom prst="line">
              <a:avLst/>
            </a:prstGeom>
            <a:noFill/>
            <a:ln w="19050" cap="sq">
              <a:solidFill>
                <a:srgbClr val="000066"/>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25"/>
            <p:cNvSpPr>
              <a:spLocks noChangeShapeType="1"/>
            </p:cNvSpPr>
            <p:nvPr/>
          </p:nvSpPr>
          <p:spPr bwMode="auto">
            <a:xfrm>
              <a:off x="8467009" y="1432030"/>
              <a:ext cx="0" cy="704551"/>
            </a:xfrm>
            <a:prstGeom prst="line">
              <a:avLst/>
            </a:prstGeom>
            <a:noFill/>
            <a:ln w="19050" cap="sq">
              <a:solidFill>
                <a:srgbClr val="000066"/>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08" name="Object 0"/>
          <p:cNvGraphicFramePr>
            <a:graphicFrameLocks noChangeAspect="1"/>
          </p:cNvGraphicFramePr>
          <p:nvPr>
            <p:extLst>
              <p:ext uri="{D42A27DB-BD31-4B8C-83A1-F6EECF244321}">
                <p14:modId xmlns:p14="http://schemas.microsoft.com/office/powerpoint/2010/main" val="48965830"/>
              </p:ext>
            </p:extLst>
          </p:nvPr>
        </p:nvGraphicFramePr>
        <p:xfrm>
          <a:off x="3648661" y="4014876"/>
          <a:ext cx="3428568" cy="708264"/>
        </p:xfrm>
        <a:graphic>
          <a:graphicData uri="http://schemas.openxmlformats.org/presentationml/2006/ole">
            <mc:AlternateContent xmlns:mc="http://schemas.openxmlformats.org/markup-compatibility/2006">
              <mc:Choice xmlns:v="urn:schemas-microsoft-com:vml" Requires="v">
                <p:oleObj spid="_x0000_s1816706" name="Equation" r:id="rId4" imgW="1904760" imgH="393480" progId="Equation.DSMT4">
                  <p:embed/>
                </p:oleObj>
              </mc:Choice>
              <mc:Fallback>
                <p:oleObj name="Equation" r:id="rId4" imgW="1904760" imgH="393480" progId="Equation.DSMT4">
                  <p:embed/>
                  <p:pic>
                    <p:nvPicPr>
                      <p:cNvPr id="599040" name="Object 0"/>
                      <p:cNvPicPr>
                        <a:picLocks noChangeAspect="1" noChangeArrowheads="1"/>
                      </p:cNvPicPr>
                      <p:nvPr/>
                    </p:nvPicPr>
                    <p:blipFill>
                      <a:blip r:embed="rId5"/>
                      <a:srcRect/>
                      <a:stretch>
                        <a:fillRect/>
                      </a:stretch>
                    </p:blipFill>
                    <p:spPr bwMode="auto">
                      <a:xfrm>
                        <a:off x="3648661" y="4014876"/>
                        <a:ext cx="3428568" cy="708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9" name="AutoShape 5"/>
          <p:cNvSpPr>
            <a:spLocks noChangeArrowheads="1"/>
          </p:cNvSpPr>
          <p:nvPr/>
        </p:nvSpPr>
        <p:spPr bwMode="auto">
          <a:xfrm>
            <a:off x="1554976" y="4881745"/>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20" name="矩形 19"/>
          <p:cNvSpPr/>
          <p:nvPr/>
        </p:nvSpPr>
        <p:spPr>
          <a:xfrm>
            <a:off x="2136727" y="4795921"/>
            <a:ext cx="5330305" cy="800219"/>
          </a:xfrm>
          <a:prstGeom prst="rect">
            <a:avLst/>
          </a:prstGeom>
        </p:spPr>
        <p:txBody>
          <a:bodyPr wrap="square">
            <a:spAutoFit/>
          </a:bodyPr>
          <a:lstStyle/>
          <a:p>
            <a:r>
              <a:rPr lang="zh-CN" altLang="zh-CN" sz="2000" b="1" dirty="0">
                <a:solidFill>
                  <a:srgbClr val="000066"/>
                </a:solidFill>
                <a:latin typeface="幼圆" panose="02010509060101010101" pitchFamily="49" charset="-122"/>
                <a:ea typeface="幼圆" panose="02010509060101010101" pitchFamily="49" charset="-122"/>
                <a:cs typeface="宋体" panose="02010600030101010101" pitchFamily="2" charset="-122"/>
              </a:rPr>
              <a:t>求极限承载力</a:t>
            </a:r>
            <a:r>
              <a:rPr lang="en-US" altLang="zh-CN" sz="2000" b="1" i="1" dirty="0" err="1">
                <a:solidFill>
                  <a:srgbClr val="000066"/>
                </a:solidFill>
                <a:ea typeface="幼圆" panose="02010509060101010101" pitchFamily="49" charset="-122"/>
                <a:cs typeface="Times New Roman" panose="02020603050405020304" pitchFamily="18" charset="0"/>
              </a:rPr>
              <a:t>p</a:t>
            </a:r>
            <a:r>
              <a:rPr lang="en-US" altLang="zh-CN" sz="2000" b="1" baseline="-25000" dirty="0" err="1">
                <a:solidFill>
                  <a:srgbClr val="000066"/>
                </a:solidFill>
                <a:ea typeface="幼圆" panose="02010509060101010101" pitchFamily="49" charset="-122"/>
                <a:cs typeface="Times New Roman" panose="02020603050405020304" pitchFamily="18" charset="0"/>
              </a:rPr>
              <a:t>u</a:t>
            </a:r>
            <a:r>
              <a:rPr lang="zh-CN" altLang="zh-CN" sz="2000" b="1" dirty="0">
                <a:solidFill>
                  <a:srgbClr val="000066"/>
                </a:solidFill>
                <a:latin typeface="幼圆" panose="02010509060101010101" pitchFamily="49" charset="-122"/>
                <a:ea typeface="幼圆" panose="02010509060101010101" pitchFamily="49" charset="-122"/>
                <a:cs typeface="宋体" panose="02010600030101010101" pitchFamily="2" charset="-122"/>
              </a:rPr>
              <a:t>的关键在于计算刚性核两个侧面上的被动土压力</a:t>
            </a:r>
            <a:r>
              <a:rPr kumimoji="1" lang="en-US" altLang="zh-CN"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E</a:t>
            </a:r>
            <a:r>
              <a:rPr kumimoji="1" lang="en-US" altLang="zh-CN" sz="2000" b="1" baseline="-25000" dirty="0">
                <a:solidFill>
                  <a:srgbClr val="000066"/>
                </a:solidFill>
                <a:ea typeface="幼圆" panose="02010509060101010101" pitchFamily="49" charset="-122"/>
                <a:cs typeface="Times New Roman" panose="02020603050405020304" pitchFamily="18" charset="0"/>
                <a:sym typeface="Symbol" panose="05050102010706020507" pitchFamily="18" charset="2"/>
              </a:rPr>
              <a:t>p</a:t>
            </a:r>
            <a:endParaRPr lang="zh-CN" altLang="en-US" sz="2000" b="1" dirty="0">
              <a:solidFill>
                <a:srgbClr val="000066"/>
              </a:solidFill>
              <a:latin typeface="幼圆" panose="02010509060101010101" pitchFamily="49" charset="-122"/>
              <a:ea typeface="幼圆" panose="02010509060101010101" pitchFamily="49" charset="-122"/>
            </a:endParaRPr>
          </a:p>
        </p:txBody>
      </p:sp>
      <p:sp>
        <p:nvSpPr>
          <p:cNvPr id="112" name="矩形 111"/>
          <p:cNvSpPr/>
          <p:nvPr/>
        </p:nvSpPr>
        <p:spPr>
          <a:xfrm>
            <a:off x="1063902" y="4182666"/>
            <a:ext cx="2584759" cy="401072"/>
          </a:xfrm>
          <a:prstGeom prst="rect">
            <a:avLst/>
          </a:prstGeom>
        </p:spPr>
        <p:txBody>
          <a:bodyPr wrap="square">
            <a:spAutoFit/>
          </a:bodyPr>
          <a:lstStyle/>
          <a:p>
            <a:pPr marL="342900" indent="-342900">
              <a:buClr>
                <a:srgbClr val="C00000"/>
              </a:buClr>
              <a:buFont typeface="Wingdings" panose="05000000000000000000" pitchFamily="2" charset="2"/>
              <a:buChar char="Ø"/>
            </a:pPr>
            <a:r>
              <a:rPr lang="zh-CN" altLang="en-US" sz="2000" b="1" dirty="0">
                <a:solidFill>
                  <a:srgbClr val="A50021"/>
                </a:solidFill>
                <a:latin typeface="幼圆" panose="02010509060101010101" pitchFamily="49" charset="-122"/>
                <a:ea typeface="幼圆" panose="02010509060101010101" pitchFamily="49" charset="-122"/>
              </a:rPr>
              <a:t>根据竖向力平衡：</a:t>
            </a:r>
          </a:p>
        </p:txBody>
      </p:sp>
      <p:sp>
        <p:nvSpPr>
          <p:cNvPr id="43"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太沙基公式</a:t>
            </a:r>
          </a:p>
        </p:txBody>
      </p:sp>
      <p:cxnSp>
        <p:nvCxnSpPr>
          <p:cNvPr id="172" name="直接连接符 171"/>
          <p:cNvCxnSpPr/>
          <p:nvPr/>
        </p:nvCxnSpPr>
        <p:spPr bwMode="auto">
          <a:xfrm>
            <a:off x="7082974" y="1712672"/>
            <a:ext cx="0" cy="1953672"/>
          </a:xfrm>
          <a:prstGeom prst="line">
            <a:avLst/>
          </a:prstGeom>
          <a:noFill/>
          <a:ln w="19050" cap="flat" cmpd="sng" algn="ctr">
            <a:solidFill>
              <a:srgbClr val="000066"/>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5993449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barn(inVertical)">
                                      <p:cBhvr>
                                        <p:cTn id="7" dur="500"/>
                                        <p:tgtEl>
                                          <p:spTgt spid="4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2">
                                            <p:txEl>
                                              <p:pRg st="0" end="0"/>
                                            </p:txEl>
                                          </p:spTgt>
                                        </p:tgtEl>
                                        <p:attrNameLst>
                                          <p:attrName>style.visibility</p:attrName>
                                        </p:attrNameLst>
                                      </p:cBhvr>
                                      <p:to>
                                        <p:strVal val="visible"/>
                                      </p:to>
                                    </p:set>
                                    <p:animEffect transition="in" filter="wipe(down)">
                                      <p:cBhvr>
                                        <p:cTn id="11" dur="500"/>
                                        <p:tgtEl>
                                          <p:spTgt spid="102">
                                            <p:txEl>
                                              <p:pRg st="0" end="0"/>
                                            </p:tx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02">
                                            <p:txEl>
                                              <p:pRg st="1" end="1"/>
                                            </p:txEl>
                                          </p:spTgt>
                                        </p:tgtEl>
                                        <p:attrNameLst>
                                          <p:attrName>style.visibility</p:attrName>
                                        </p:attrNameLst>
                                      </p:cBhvr>
                                      <p:to>
                                        <p:strVal val="visible"/>
                                      </p:to>
                                    </p:set>
                                    <p:animEffect transition="in" filter="wipe(down)">
                                      <p:cBhvr>
                                        <p:cTn id="15" dur="500"/>
                                        <p:tgtEl>
                                          <p:spTgt spid="102">
                                            <p:txEl>
                                              <p:pRg st="1" end="1"/>
                                            </p:tx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02">
                                            <p:txEl>
                                              <p:pRg st="2" end="2"/>
                                            </p:txEl>
                                          </p:spTgt>
                                        </p:tgtEl>
                                        <p:attrNameLst>
                                          <p:attrName>style.visibility</p:attrName>
                                        </p:attrNameLst>
                                      </p:cBhvr>
                                      <p:to>
                                        <p:strVal val="visible"/>
                                      </p:to>
                                    </p:set>
                                    <p:animEffect transition="in" filter="wipe(down)">
                                      <p:cBhvr>
                                        <p:cTn id="19" dur="500"/>
                                        <p:tgtEl>
                                          <p:spTgt spid="10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12"/>
                                        </p:tgtEl>
                                        <p:attrNameLst>
                                          <p:attrName>style.visibility</p:attrName>
                                        </p:attrNameLst>
                                      </p:cBhvr>
                                      <p:to>
                                        <p:strVal val="visible"/>
                                      </p:to>
                                    </p:set>
                                    <p:animEffect transition="in" filter="barn(inVertical)">
                                      <p:cBhvr>
                                        <p:cTn id="24" dur="500"/>
                                        <p:tgtEl>
                                          <p:spTgt spid="112"/>
                                        </p:tgtEl>
                                      </p:cBhvr>
                                    </p:animEffect>
                                  </p:childTnLst>
                                </p:cTn>
                              </p:par>
                            </p:childTnLst>
                          </p:cTn>
                        </p:par>
                        <p:par>
                          <p:cTn id="25" fill="hold">
                            <p:stCondLst>
                              <p:cond delay="500"/>
                            </p:stCondLst>
                            <p:childTnLst>
                              <p:par>
                                <p:cTn id="26" presetID="23" presetClass="entr" presetSubtype="16" fill="hold" nodeType="afterEffect">
                                  <p:stCondLst>
                                    <p:cond delay="0"/>
                                  </p:stCondLst>
                                  <p:childTnLst>
                                    <p:set>
                                      <p:cBhvr>
                                        <p:cTn id="27" dur="1" fill="hold">
                                          <p:stCondLst>
                                            <p:cond delay="0"/>
                                          </p:stCondLst>
                                        </p:cTn>
                                        <p:tgtEl>
                                          <p:spTgt spid="108"/>
                                        </p:tgtEl>
                                        <p:attrNameLst>
                                          <p:attrName>style.visibility</p:attrName>
                                        </p:attrNameLst>
                                      </p:cBhvr>
                                      <p:to>
                                        <p:strVal val="visible"/>
                                      </p:to>
                                    </p:set>
                                    <p:anim calcmode="lin" valueType="num">
                                      <p:cBhvr>
                                        <p:cTn id="28" dur="500" fill="hold"/>
                                        <p:tgtEl>
                                          <p:spTgt spid="108"/>
                                        </p:tgtEl>
                                        <p:attrNameLst>
                                          <p:attrName>ppt_w</p:attrName>
                                        </p:attrNameLst>
                                      </p:cBhvr>
                                      <p:tavLst>
                                        <p:tav tm="0">
                                          <p:val>
                                            <p:fltVal val="0"/>
                                          </p:val>
                                        </p:tav>
                                        <p:tav tm="100000">
                                          <p:val>
                                            <p:strVal val="#ppt_w"/>
                                          </p:val>
                                        </p:tav>
                                      </p:tavLst>
                                    </p:anim>
                                    <p:anim calcmode="lin" valueType="num">
                                      <p:cBhvr>
                                        <p:cTn id="29" dur="500" fill="hold"/>
                                        <p:tgtEl>
                                          <p:spTgt spid="108"/>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9"/>
                                        </p:tgtEl>
                                        <p:attrNameLst>
                                          <p:attrName>style.visibility</p:attrName>
                                        </p:attrNameLst>
                                      </p:cBhvr>
                                      <p:to>
                                        <p:strVal val="visible"/>
                                      </p:to>
                                    </p:set>
                                    <p:animEffect transition="in" filter="wipe(left)">
                                      <p:cBhvr>
                                        <p:cTn id="34" dur="1000"/>
                                        <p:tgtEl>
                                          <p:spTgt spid="109"/>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left)">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102" grpId="0" uiExpand="1" build="p"/>
      <p:bldP spid="109" grpId="0" animBg="1"/>
      <p:bldP spid="20" grpId="0"/>
      <p:bldP spid="11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63"/>
          <p:cNvSpPr/>
          <p:nvPr/>
        </p:nvSpPr>
        <p:spPr bwMode="auto">
          <a:xfrm>
            <a:off x="754868" y="1480861"/>
            <a:ext cx="3714158" cy="1687534"/>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3" name="任意多边形 62"/>
          <p:cNvSpPr/>
          <p:nvPr/>
        </p:nvSpPr>
        <p:spPr bwMode="auto">
          <a:xfrm>
            <a:off x="4783578" y="1923722"/>
            <a:ext cx="3853856" cy="1502136"/>
          </a:xfrm>
          <a:custGeom>
            <a:avLst/>
            <a:gdLst>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2209800 w 2982686"/>
              <a:gd name="connsiteY4" fmla="*/ 789214 h 1028700"/>
              <a:gd name="connsiteX5" fmla="*/ 2982686 w 2982686"/>
              <a:gd name="connsiteY5" fmla="*/ 239486 h 1028700"/>
              <a:gd name="connsiteX6" fmla="*/ 2770415 w 2982686"/>
              <a:gd name="connsiteY6" fmla="*/ 0 h 1028700"/>
              <a:gd name="connsiteX7" fmla="*/ 0 w 2982686"/>
              <a:gd name="connsiteY7" fmla="*/ 228600 h 1028700"/>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2209800 w 2982686"/>
              <a:gd name="connsiteY4" fmla="*/ 789214 h 1028700"/>
              <a:gd name="connsiteX5" fmla="*/ 2596243 w 2982686"/>
              <a:gd name="connsiteY5" fmla="*/ 533400 h 1028700"/>
              <a:gd name="connsiteX6" fmla="*/ 2982686 w 2982686"/>
              <a:gd name="connsiteY6" fmla="*/ 239486 h 1028700"/>
              <a:gd name="connsiteX7" fmla="*/ 2770415 w 2982686"/>
              <a:gd name="connsiteY7" fmla="*/ 0 h 1028700"/>
              <a:gd name="connsiteX8" fmla="*/ 0 w 2982686"/>
              <a:gd name="connsiteY8" fmla="*/ 228600 h 1028700"/>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2182586 w 2982686"/>
              <a:gd name="connsiteY4" fmla="*/ 745672 h 1028700"/>
              <a:gd name="connsiteX5" fmla="*/ 2596243 w 2982686"/>
              <a:gd name="connsiteY5" fmla="*/ 533400 h 1028700"/>
              <a:gd name="connsiteX6" fmla="*/ 2982686 w 2982686"/>
              <a:gd name="connsiteY6" fmla="*/ 239486 h 1028700"/>
              <a:gd name="connsiteX7" fmla="*/ 2770415 w 2982686"/>
              <a:gd name="connsiteY7" fmla="*/ 0 h 1028700"/>
              <a:gd name="connsiteX8" fmla="*/ 0 w 2982686"/>
              <a:gd name="connsiteY8" fmla="*/ 228600 h 1028700"/>
              <a:gd name="connsiteX0" fmla="*/ 0 w 2982686"/>
              <a:gd name="connsiteY0" fmla="*/ 228600 h 1028700"/>
              <a:gd name="connsiteX1" fmla="*/ 21772 w 2982686"/>
              <a:gd name="connsiteY1" fmla="*/ 473529 h 1028700"/>
              <a:gd name="connsiteX2" fmla="*/ 462643 w 2982686"/>
              <a:gd name="connsiteY2" fmla="*/ 870857 h 1028700"/>
              <a:gd name="connsiteX3" fmla="*/ 1191986 w 2982686"/>
              <a:gd name="connsiteY3" fmla="*/ 1028700 h 1028700"/>
              <a:gd name="connsiteX4" fmla="*/ 1681843 w 2982686"/>
              <a:gd name="connsiteY4" fmla="*/ 903514 h 1028700"/>
              <a:gd name="connsiteX5" fmla="*/ 2182586 w 2982686"/>
              <a:gd name="connsiteY5" fmla="*/ 745672 h 1028700"/>
              <a:gd name="connsiteX6" fmla="*/ 2596243 w 2982686"/>
              <a:gd name="connsiteY6" fmla="*/ 533400 h 1028700"/>
              <a:gd name="connsiteX7" fmla="*/ 2982686 w 2982686"/>
              <a:gd name="connsiteY7" fmla="*/ 239486 h 1028700"/>
              <a:gd name="connsiteX8" fmla="*/ 2770415 w 2982686"/>
              <a:gd name="connsiteY8" fmla="*/ 0 h 1028700"/>
              <a:gd name="connsiteX9" fmla="*/ 0 w 2982686"/>
              <a:gd name="connsiteY9" fmla="*/ 228600 h 1028700"/>
              <a:gd name="connsiteX0" fmla="*/ 0 w 2982686"/>
              <a:gd name="connsiteY0" fmla="*/ 228600 h 1001486"/>
              <a:gd name="connsiteX1" fmla="*/ 21772 w 2982686"/>
              <a:gd name="connsiteY1" fmla="*/ 473529 h 1001486"/>
              <a:gd name="connsiteX2" fmla="*/ 462643 w 2982686"/>
              <a:gd name="connsiteY2" fmla="*/ 870857 h 1001486"/>
              <a:gd name="connsiteX3" fmla="*/ 1208315 w 2982686"/>
              <a:gd name="connsiteY3" fmla="*/ 1001486 h 1001486"/>
              <a:gd name="connsiteX4" fmla="*/ 1681843 w 2982686"/>
              <a:gd name="connsiteY4" fmla="*/ 903514 h 1001486"/>
              <a:gd name="connsiteX5" fmla="*/ 2182586 w 2982686"/>
              <a:gd name="connsiteY5" fmla="*/ 745672 h 1001486"/>
              <a:gd name="connsiteX6" fmla="*/ 2596243 w 2982686"/>
              <a:gd name="connsiteY6" fmla="*/ 533400 h 1001486"/>
              <a:gd name="connsiteX7" fmla="*/ 2982686 w 2982686"/>
              <a:gd name="connsiteY7" fmla="*/ 239486 h 1001486"/>
              <a:gd name="connsiteX8" fmla="*/ 2770415 w 2982686"/>
              <a:gd name="connsiteY8" fmla="*/ 0 h 1001486"/>
              <a:gd name="connsiteX9" fmla="*/ 0 w 2982686"/>
              <a:gd name="connsiteY9" fmla="*/ 228600 h 1001486"/>
              <a:gd name="connsiteX0" fmla="*/ 0 w 2982686"/>
              <a:gd name="connsiteY0" fmla="*/ 228600 h 1001486"/>
              <a:gd name="connsiteX1" fmla="*/ 21772 w 2982686"/>
              <a:gd name="connsiteY1" fmla="*/ 473529 h 1001486"/>
              <a:gd name="connsiteX2" fmla="*/ 457201 w 2982686"/>
              <a:gd name="connsiteY2" fmla="*/ 827315 h 1001486"/>
              <a:gd name="connsiteX3" fmla="*/ 1208315 w 2982686"/>
              <a:gd name="connsiteY3" fmla="*/ 1001486 h 1001486"/>
              <a:gd name="connsiteX4" fmla="*/ 1681843 w 2982686"/>
              <a:gd name="connsiteY4" fmla="*/ 903514 h 1001486"/>
              <a:gd name="connsiteX5" fmla="*/ 2182586 w 2982686"/>
              <a:gd name="connsiteY5" fmla="*/ 745672 h 1001486"/>
              <a:gd name="connsiteX6" fmla="*/ 2596243 w 2982686"/>
              <a:gd name="connsiteY6" fmla="*/ 533400 h 1001486"/>
              <a:gd name="connsiteX7" fmla="*/ 2982686 w 2982686"/>
              <a:gd name="connsiteY7" fmla="*/ 239486 h 1001486"/>
              <a:gd name="connsiteX8" fmla="*/ 2770415 w 2982686"/>
              <a:gd name="connsiteY8" fmla="*/ 0 h 1001486"/>
              <a:gd name="connsiteX9" fmla="*/ 0 w 2982686"/>
              <a:gd name="connsiteY9" fmla="*/ 228600 h 1001486"/>
              <a:gd name="connsiteX0" fmla="*/ 1047 w 2983733"/>
              <a:gd name="connsiteY0" fmla="*/ 228600 h 1001486"/>
              <a:gd name="connsiteX1" fmla="*/ 1047 w 2983733"/>
              <a:gd name="connsiteY1" fmla="*/ 348343 h 1001486"/>
              <a:gd name="connsiteX2" fmla="*/ 22819 w 2983733"/>
              <a:gd name="connsiteY2" fmla="*/ 473529 h 1001486"/>
              <a:gd name="connsiteX3" fmla="*/ 458248 w 2983733"/>
              <a:gd name="connsiteY3" fmla="*/ 827315 h 1001486"/>
              <a:gd name="connsiteX4" fmla="*/ 1209362 w 2983733"/>
              <a:gd name="connsiteY4" fmla="*/ 1001486 h 1001486"/>
              <a:gd name="connsiteX5" fmla="*/ 1682890 w 2983733"/>
              <a:gd name="connsiteY5" fmla="*/ 903514 h 1001486"/>
              <a:gd name="connsiteX6" fmla="*/ 2183633 w 2983733"/>
              <a:gd name="connsiteY6" fmla="*/ 745672 h 1001486"/>
              <a:gd name="connsiteX7" fmla="*/ 2597290 w 2983733"/>
              <a:gd name="connsiteY7" fmla="*/ 533400 h 1001486"/>
              <a:gd name="connsiteX8" fmla="*/ 2983733 w 2983733"/>
              <a:gd name="connsiteY8" fmla="*/ 239486 h 1001486"/>
              <a:gd name="connsiteX9" fmla="*/ 2771462 w 2983733"/>
              <a:gd name="connsiteY9" fmla="*/ 0 h 1001486"/>
              <a:gd name="connsiteX10" fmla="*/ 1047 w 2983733"/>
              <a:gd name="connsiteY10"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458248 w 2983733"/>
              <a:gd name="connsiteY3" fmla="*/ 827315 h 1001486"/>
              <a:gd name="connsiteX4" fmla="*/ 1209362 w 2983733"/>
              <a:gd name="connsiteY4" fmla="*/ 1001486 h 1001486"/>
              <a:gd name="connsiteX5" fmla="*/ 1682890 w 2983733"/>
              <a:gd name="connsiteY5" fmla="*/ 903514 h 1001486"/>
              <a:gd name="connsiteX6" fmla="*/ 2183633 w 2983733"/>
              <a:gd name="connsiteY6" fmla="*/ 745672 h 1001486"/>
              <a:gd name="connsiteX7" fmla="*/ 2597290 w 2983733"/>
              <a:gd name="connsiteY7" fmla="*/ 533400 h 1001486"/>
              <a:gd name="connsiteX8" fmla="*/ 2983733 w 2983733"/>
              <a:gd name="connsiteY8" fmla="*/ 239486 h 1001486"/>
              <a:gd name="connsiteX9" fmla="*/ 2771462 w 2983733"/>
              <a:gd name="connsiteY9" fmla="*/ 0 h 1001486"/>
              <a:gd name="connsiteX10" fmla="*/ 1047 w 2983733"/>
              <a:gd name="connsiteY10"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273191 w 2983733"/>
              <a:gd name="connsiteY3" fmla="*/ 707571 h 1001486"/>
              <a:gd name="connsiteX4" fmla="*/ 458248 w 2983733"/>
              <a:gd name="connsiteY4" fmla="*/ 827315 h 1001486"/>
              <a:gd name="connsiteX5" fmla="*/ 1209362 w 2983733"/>
              <a:gd name="connsiteY5" fmla="*/ 1001486 h 1001486"/>
              <a:gd name="connsiteX6" fmla="*/ 1682890 w 2983733"/>
              <a:gd name="connsiteY6" fmla="*/ 903514 h 1001486"/>
              <a:gd name="connsiteX7" fmla="*/ 2183633 w 2983733"/>
              <a:gd name="connsiteY7" fmla="*/ 745672 h 1001486"/>
              <a:gd name="connsiteX8" fmla="*/ 2597290 w 2983733"/>
              <a:gd name="connsiteY8" fmla="*/ 533400 h 1001486"/>
              <a:gd name="connsiteX9" fmla="*/ 2983733 w 2983733"/>
              <a:gd name="connsiteY9" fmla="*/ 239486 h 1001486"/>
              <a:gd name="connsiteX10" fmla="*/ 2771462 w 2983733"/>
              <a:gd name="connsiteY10" fmla="*/ 0 h 1001486"/>
              <a:gd name="connsiteX11" fmla="*/ 1047 w 2983733"/>
              <a:gd name="connsiteY11"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273191 w 2983733"/>
              <a:gd name="connsiteY3" fmla="*/ 707571 h 1001486"/>
              <a:gd name="connsiteX4" fmla="*/ 458248 w 2983733"/>
              <a:gd name="connsiteY4" fmla="*/ 827315 h 1001486"/>
              <a:gd name="connsiteX5" fmla="*/ 1209362 w 2983733"/>
              <a:gd name="connsiteY5" fmla="*/ 1001486 h 1001486"/>
              <a:gd name="connsiteX6" fmla="*/ 1682890 w 2983733"/>
              <a:gd name="connsiteY6" fmla="*/ 903514 h 1001486"/>
              <a:gd name="connsiteX7" fmla="*/ 2183633 w 2983733"/>
              <a:gd name="connsiteY7" fmla="*/ 745672 h 1001486"/>
              <a:gd name="connsiteX8" fmla="*/ 2597290 w 2983733"/>
              <a:gd name="connsiteY8" fmla="*/ 533400 h 1001486"/>
              <a:gd name="connsiteX9" fmla="*/ 2983733 w 2983733"/>
              <a:gd name="connsiteY9" fmla="*/ 239486 h 1001486"/>
              <a:gd name="connsiteX10" fmla="*/ 2771462 w 2983733"/>
              <a:gd name="connsiteY10" fmla="*/ 0 h 1001486"/>
              <a:gd name="connsiteX11" fmla="*/ 1047 w 2983733"/>
              <a:gd name="connsiteY11" fmla="*/ 228600 h 1001486"/>
              <a:gd name="connsiteX0" fmla="*/ 1047 w 2983733"/>
              <a:gd name="connsiteY0" fmla="*/ 228600 h 1001486"/>
              <a:gd name="connsiteX1" fmla="*/ 1047 w 2983733"/>
              <a:gd name="connsiteY1" fmla="*/ 348343 h 1001486"/>
              <a:gd name="connsiteX2" fmla="*/ 99019 w 2983733"/>
              <a:gd name="connsiteY2" fmla="*/ 538843 h 1001486"/>
              <a:gd name="connsiteX3" fmla="*/ 273191 w 2983733"/>
              <a:gd name="connsiteY3" fmla="*/ 707571 h 1001486"/>
              <a:gd name="connsiteX4" fmla="*/ 458248 w 2983733"/>
              <a:gd name="connsiteY4" fmla="*/ 827315 h 1001486"/>
              <a:gd name="connsiteX5" fmla="*/ 801148 w 2983733"/>
              <a:gd name="connsiteY5" fmla="*/ 936171 h 1001486"/>
              <a:gd name="connsiteX6" fmla="*/ 1209362 w 2983733"/>
              <a:gd name="connsiteY6" fmla="*/ 1001486 h 1001486"/>
              <a:gd name="connsiteX7" fmla="*/ 1682890 w 2983733"/>
              <a:gd name="connsiteY7" fmla="*/ 903514 h 1001486"/>
              <a:gd name="connsiteX8" fmla="*/ 2183633 w 2983733"/>
              <a:gd name="connsiteY8" fmla="*/ 745672 h 1001486"/>
              <a:gd name="connsiteX9" fmla="*/ 2597290 w 2983733"/>
              <a:gd name="connsiteY9" fmla="*/ 533400 h 1001486"/>
              <a:gd name="connsiteX10" fmla="*/ 2983733 w 2983733"/>
              <a:gd name="connsiteY10" fmla="*/ 239486 h 1001486"/>
              <a:gd name="connsiteX11" fmla="*/ 2771462 w 2983733"/>
              <a:gd name="connsiteY11" fmla="*/ 0 h 1001486"/>
              <a:gd name="connsiteX12" fmla="*/ 1047 w 2983733"/>
              <a:gd name="connsiteY12" fmla="*/ 228600 h 1001486"/>
              <a:gd name="connsiteX0" fmla="*/ 1047 w 2983733"/>
              <a:gd name="connsiteY0" fmla="*/ 121024 h 893910"/>
              <a:gd name="connsiteX1" fmla="*/ 1047 w 2983733"/>
              <a:gd name="connsiteY1" fmla="*/ 240767 h 893910"/>
              <a:gd name="connsiteX2" fmla="*/ 99019 w 2983733"/>
              <a:gd name="connsiteY2" fmla="*/ 431267 h 893910"/>
              <a:gd name="connsiteX3" fmla="*/ 273191 w 2983733"/>
              <a:gd name="connsiteY3" fmla="*/ 599995 h 893910"/>
              <a:gd name="connsiteX4" fmla="*/ 458248 w 2983733"/>
              <a:gd name="connsiteY4" fmla="*/ 719739 h 893910"/>
              <a:gd name="connsiteX5" fmla="*/ 801148 w 2983733"/>
              <a:gd name="connsiteY5" fmla="*/ 828595 h 893910"/>
              <a:gd name="connsiteX6" fmla="*/ 1209362 w 2983733"/>
              <a:gd name="connsiteY6" fmla="*/ 893910 h 893910"/>
              <a:gd name="connsiteX7" fmla="*/ 1682890 w 2983733"/>
              <a:gd name="connsiteY7" fmla="*/ 795938 h 893910"/>
              <a:gd name="connsiteX8" fmla="*/ 2183633 w 2983733"/>
              <a:gd name="connsiteY8" fmla="*/ 638096 h 893910"/>
              <a:gd name="connsiteX9" fmla="*/ 2597290 w 2983733"/>
              <a:gd name="connsiteY9" fmla="*/ 425824 h 893910"/>
              <a:gd name="connsiteX10" fmla="*/ 2983733 w 2983733"/>
              <a:gd name="connsiteY10" fmla="*/ 131910 h 893910"/>
              <a:gd name="connsiteX11" fmla="*/ 2923862 w 2983733"/>
              <a:gd name="connsiteY11" fmla="*/ 0 h 893910"/>
              <a:gd name="connsiteX12" fmla="*/ 1047 w 2983733"/>
              <a:gd name="connsiteY12" fmla="*/ 121024 h 893910"/>
              <a:gd name="connsiteX0" fmla="*/ 1047 w 3046486"/>
              <a:gd name="connsiteY0" fmla="*/ 121024 h 893910"/>
              <a:gd name="connsiteX1" fmla="*/ 1047 w 3046486"/>
              <a:gd name="connsiteY1" fmla="*/ 240767 h 893910"/>
              <a:gd name="connsiteX2" fmla="*/ 99019 w 3046486"/>
              <a:gd name="connsiteY2" fmla="*/ 431267 h 893910"/>
              <a:gd name="connsiteX3" fmla="*/ 273191 w 3046486"/>
              <a:gd name="connsiteY3" fmla="*/ 599995 h 893910"/>
              <a:gd name="connsiteX4" fmla="*/ 458248 w 3046486"/>
              <a:gd name="connsiteY4" fmla="*/ 719739 h 893910"/>
              <a:gd name="connsiteX5" fmla="*/ 801148 w 3046486"/>
              <a:gd name="connsiteY5" fmla="*/ 828595 h 893910"/>
              <a:gd name="connsiteX6" fmla="*/ 1209362 w 3046486"/>
              <a:gd name="connsiteY6" fmla="*/ 893910 h 893910"/>
              <a:gd name="connsiteX7" fmla="*/ 1682890 w 3046486"/>
              <a:gd name="connsiteY7" fmla="*/ 795938 h 893910"/>
              <a:gd name="connsiteX8" fmla="*/ 2183633 w 3046486"/>
              <a:gd name="connsiteY8" fmla="*/ 638096 h 893910"/>
              <a:gd name="connsiteX9" fmla="*/ 2597290 w 3046486"/>
              <a:gd name="connsiteY9" fmla="*/ 425824 h 893910"/>
              <a:gd name="connsiteX10" fmla="*/ 3046486 w 3046486"/>
              <a:gd name="connsiteY10" fmla="*/ 105016 h 893910"/>
              <a:gd name="connsiteX11" fmla="*/ 2923862 w 3046486"/>
              <a:gd name="connsiteY11" fmla="*/ 0 h 893910"/>
              <a:gd name="connsiteX12" fmla="*/ 1047 w 3046486"/>
              <a:gd name="connsiteY12" fmla="*/ 121024 h 893910"/>
              <a:gd name="connsiteX0" fmla="*/ 0 w 3049922"/>
              <a:gd name="connsiteY0" fmla="*/ 94130 h 893910"/>
              <a:gd name="connsiteX1" fmla="*/ 4483 w 3049922"/>
              <a:gd name="connsiteY1" fmla="*/ 240767 h 893910"/>
              <a:gd name="connsiteX2" fmla="*/ 102455 w 3049922"/>
              <a:gd name="connsiteY2" fmla="*/ 431267 h 893910"/>
              <a:gd name="connsiteX3" fmla="*/ 276627 w 3049922"/>
              <a:gd name="connsiteY3" fmla="*/ 599995 h 893910"/>
              <a:gd name="connsiteX4" fmla="*/ 461684 w 3049922"/>
              <a:gd name="connsiteY4" fmla="*/ 719739 h 893910"/>
              <a:gd name="connsiteX5" fmla="*/ 804584 w 3049922"/>
              <a:gd name="connsiteY5" fmla="*/ 828595 h 893910"/>
              <a:gd name="connsiteX6" fmla="*/ 1212798 w 3049922"/>
              <a:gd name="connsiteY6" fmla="*/ 893910 h 893910"/>
              <a:gd name="connsiteX7" fmla="*/ 1686326 w 3049922"/>
              <a:gd name="connsiteY7" fmla="*/ 795938 h 893910"/>
              <a:gd name="connsiteX8" fmla="*/ 2187069 w 3049922"/>
              <a:gd name="connsiteY8" fmla="*/ 638096 h 893910"/>
              <a:gd name="connsiteX9" fmla="*/ 2600726 w 3049922"/>
              <a:gd name="connsiteY9" fmla="*/ 425824 h 893910"/>
              <a:gd name="connsiteX10" fmla="*/ 3049922 w 3049922"/>
              <a:gd name="connsiteY10" fmla="*/ 105016 h 893910"/>
              <a:gd name="connsiteX11" fmla="*/ 2927298 w 3049922"/>
              <a:gd name="connsiteY11" fmla="*/ 0 h 893910"/>
              <a:gd name="connsiteX12" fmla="*/ 0 w 3049922"/>
              <a:gd name="connsiteY12" fmla="*/ 94130 h 893910"/>
              <a:gd name="connsiteX0" fmla="*/ 13875 w 3063797"/>
              <a:gd name="connsiteY0" fmla="*/ 94130 h 893910"/>
              <a:gd name="connsiteX1" fmla="*/ 428 w 3063797"/>
              <a:gd name="connsiteY1" fmla="*/ 236285 h 893910"/>
              <a:gd name="connsiteX2" fmla="*/ 116330 w 3063797"/>
              <a:gd name="connsiteY2" fmla="*/ 431267 h 893910"/>
              <a:gd name="connsiteX3" fmla="*/ 290502 w 3063797"/>
              <a:gd name="connsiteY3" fmla="*/ 599995 h 893910"/>
              <a:gd name="connsiteX4" fmla="*/ 475559 w 3063797"/>
              <a:gd name="connsiteY4" fmla="*/ 719739 h 893910"/>
              <a:gd name="connsiteX5" fmla="*/ 818459 w 3063797"/>
              <a:gd name="connsiteY5" fmla="*/ 828595 h 893910"/>
              <a:gd name="connsiteX6" fmla="*/ 1226673 w 3063797"/>
              <a:gd name="connsiteY6" fmla="*/ 893910 h 893910"/>
              <a:gd name="connsiteX7" fmla="*/ 1700201 w 3063797"/>
              <a:gd name="connsiteY7" fmla="*/ 795938 h 893910"/>
              <a:gd name="connsiteX8" fmla="*/ 2200944 w 3063797"/>
              <a:gd name="connsiteY8" fmla="*/ 638096 h 893910"/>
              <a:gd name="connsiteX9" fmla="*/ 2614601 w 3063797"/>
              <a:gd name="connsiteY9" fmla="*/ 425824 h 893910"/>
              <a:gd name="connsiteX10" fmla="*/ 3063797 w 3063797"/>
              <a:gd name="connsiteY10" fmla="*/ 105016 h 893910"/>
              <a:gd name="connsiteX11" fmla="*/ 2941173 w 3063797"/>
              <a:gd name="connsiteY11" fmla="*/ 0 h 893910"/>
              <a:gd name="connsiteX12" fmla="*/ 13875 w 3063797"/>
              <a:gd name="connsiteY12" fmla="*/ 94130 h 893910"/>
              <a:gd name="connsiteX0" fmla="*/ 13875 w 3063797"/>
              <a:gd name="connsiteY0" fmla="*/ 233615 h 1033395"/>
              <a:gd name="connsiteX1" fmla="*/ 428 w 3063797"/>
              <a:gd name="connsiteY1" fmla="*/ 375770 h 1033395"/>
              <a:gd name="connsiteX2" fmla="*/ 116330 w 3063797"/>
              <a:gd name="connsiteY2" fmla="*/ 570752 h 1033395"/>
              <a:gd name="connsiteX3" fmla="*/ 290502 w 3063797"/>
              <a:gd name="connsiteY3" fmla="*/ 739480 h 1033395"/>
              <a:gd name="connsiteX4" fmla="*/ 475559 w 3063797"/>
              <a:gd name="connsiteY4" fmla="*/ 859224 h 1033395"/>
              <a:gd name="connsiteX5" fmla="*/ 818459 w 3063797"/>
              <a:gd name="connsiteY5" fmla="*/ 968080 h 1033395"/>
              <a:gd name="connsiteX6" fmla="*/ 1226673 w 3063797"/>
              <a:gd name="connsiteY6" fmla="*/ 1033395 h 1033395"/>
              <a:gd name="connsiteX7" fmla="*/ 1700201 w 3063797"/>
              <a:gd name="connsiteY7" fmla="*/ 935423 h 1033395"/>
              <a:gd name="connsiteX8" fmla="*/ 2200944 w 3063797"/>
              <a:gd name="connsiteY8" fmla="*/ 777581 h 1033395"/>
              <a:gd name="connsiteX9" fmla="*/ 2614601 w 3063797"/>
              <a:gd name="connsiteY9" fmla="*/ 565309 h 1033395"/>
              <a:gd name="connsiteX10" fmla="*/ 3063797 w 3063797"/>
              <a:gd name="connsiteY10" fmla="*/ 244501 h 1033395"/>
              <a:gd name="connsiteX11" fmla="*/ 2906554 w 3063797"/>
              <a:gd name="connsiteY11" fmla="*/ 0 h 1033395"/>
              <a:gd name="connsiteX12" fmla="*/ 13875 w 3063797"/>
              <a:gd name="connsiteY12" fmla="*/ 233615 h 1033395"/>
              <a:gd name="connsiteX0" fmla="*/ 13875 w 3069137"/>
              <a:gd name="connsiteY0" fmla="*/ 233615 h 1033395"/>
              <a:gd name="connsiteX1" fmla="*/ 428 w 3069137"/>
              <a:gd name="connsiteY1" fmla="*/ 375770 h 1033395"/>
              <a:gd name="connsiteX2" fmla="*/ 116330 w 3069137"/>
              <a:gd name="connsiteY2" fmla="*/ 570752 h 1033395"/>
              <a:gd name="connsiteX3" fmla="*/ 290502 w 3069137"/>
              <a:gd name="connsiteY3" fmla="*/ 739480 h 1033395"/>
              <a:gd name="connsiteX4" fmla="*/ 475559 w 3069137"/>
              <a:gd name="connsiteY4" fmla="*/ 859224 h 1033395"/>
              <a:gd name="connsiteX5" fmla="*/ 818459 w 3069137"/>
              <a:gd name="connsiteY5" fmla="*/ 968080 h 1033395"/>
              <a:gd name="connsiteX6" fmla="*/ 1226673 w 3069137"/>
              <a:gd name="connsiteY6" fmla="*/ 1033395 h 1033395"/>
              <a:gd name="connsiteX7" fmla="*/ 1700201 w 3069137"/>
              <a:gd name="connsiteY7" fmla="*/ 935423 h 1033395"/>
              <a:gd name="connsiteX8" fmla="*/ 2200944 w 3069137"/>
              <a:gd name="connsiteY8" fmla="*/ 777581 h 1033395"/>
              <a:gd name="connsiteX9" fmla="*/ 2614601 w 3069137"/>
              <a:gd name="connsiteY9" fmla="*/ 565309 h 1033395"/>
              <a:gd name="connsiteX10" fmla="*/ 3063797 w 3069137"/>
              <a:gd name="connsiteY10" fmla="*/ 244501 h 1033395"/>
              <a:gd name="connsiteX11" fmla="*/ 3062963 w 3069137"/>
              <a:gd name="connsiteY11" fmla="*/ 16914 h 1033395"/>
              <a:gd name="connsiteX12" fmla="*/ 2906554 w 3069137"/>
              <a:gd name="connsiteY12" fmla="*/ 0 h 1033395"/>
              <a:gd name="connsiteX13" fmla="*/ 13875 w 3069137"/>
              <a:gd name="connsiteY13" fmla="*/ 233615 h 1033395"/>
              <a:gd name="connsiteX0" fmla="*/ 13875 w 3065257"/>
              <a:gd name="connsiteY0" fmla="*/ 233615 h 1033395"/>
              <a:gd name="connsiteX1" fmla="*/ 428 w 3065257"/>
              <a:gd name="connsiteY1" fmla="*/ 375770 h 1033395"/>
              <a:gd name="connsiteX2" fmla="*/ 116330 w 3065257"/>
              <a:gd name="connsiteY2" fmla="*/ 570752 h 1033395"/>
              <a:gd name="connsiteX3" fmla="*/ 290502 w 3065257"/>
              <a:gd name="connsiteY3" fmla="*/ 739480 h 1033395"/>
              <a:gd name="connsiteX4" fmla="*/ 475559 w 3065257"/>
              <a:gd name="connsiteY4" fmla="*/ 859224 h 1033395"/>
              <a:gd name="connsiteX5" fmla="*/ 818459 w 3065257"/>
              <a:gd name="connsiteY5" fmla="*/ 968080 h 1033395"/>
              <a:gd name="connsiteX6" fmla="*/ 1226673 w 3065257"/>
              <a:gd name="connsiteY6" fmla="*/ 1033395 h 1033395"/>
              <a:gd name="connsiteX7" fmla="*/ 1700201 w 3065257"/>
              <a:gd name="connsiteY7" fmla="*/ 935423 h 1033395"/>
              <a:gd name="connsiteX8" fmla="*/ 2200944 w 3065257"/>
              <a:gd name="connsiteY8" fmla="*/ 777581 h 1033395"/>
              <a:gd name="connsiteX9" fmla="*/ 2614601 w 3065257"/>
              <a:gd name="connsiteY9" fmla="*/ 565309 h 1033395"/>
              <a:gd name="connsiteX10" fmla="*/ 2973784 w 3065257"/>
              <a:gd name="connsiteY10" fmla="*/ 226307 h 1033395"/>
              <a:gd name="connsiteX11" fmla="*/ 3062963 w 3065257"/>
              <a:gd name="connsiteY11" fmla="*/ 16914 h 1033395"/>
              <a:gd name="connsiteX12" fmla="*/ 2906554 w 3065257"/>
              <a:gd name="connsiteY12" fmla="*/ 0 h 1033395"/>
              <a:gd name="connsiteX13" fmla="*/ 13875 w 3065257"/>
              <a:gd name="connsiteY13" fmla="*/ 233615 h 1033395"/>
              <a:gd name="connsiteX0" fmla="*/ 13875 w 3065257"/>
              <a:gd name="connsiteY0" fmla="*/ 233615 h 1033395"/>
              <a:gd name="connsiteX1" fmla="*/ 428 w 3065257"/>
              <a:gd name="connsiteY1" fmla="*/ 375770 h 1033395"/>
              <a:gd name="connsiteX2" fmla="*/ 116330 w 3065257"/>
              <a:gd name="connsiteY2" fmla="*/ 570752 h 1033395"/>
              <a:gd name="connsiteX3" fmla="*/ 290502 w 3065257"/>
              <a:gd name="connsiteY3" fmla="*/ 739480 h 1033395"/>
              <a:gd name="connsiteX4" fmla="*/ 475559 w 3065257"/>
              <a:gd name="connsiteY4" fmla="*/ 859224 h 1033395"/>
              <a:gd name="connsiteX5" fmla="*/ 818459 w 3065257"/>
              <a:gd name="connsiteY5" fmla="*/ 968080 h 1033395"/>
              <a:gd name="connsiteX6" fmla="*/ 1226673 w 3065257"/>
              <a:gd name="connsiteY6" fmla="*/ 1033395 h 1033395"/>
              <a:gd name="connsiteX7" fmla="*/ 1700201 w 3065257"/>
              <a:gd name="connsiteY7" fmla="*/ 935423 h 1033395"/>
              <a:gd name="connsiteX8" fmla="*/ 2200944 w 3065257"/>
              <a:gd name="connsiteY8" fmla="*/ 777581 h 1033395"/>
              <a:gd name="connsiteX9" fmla="*/ 2503817 w 3065257"/>
              <a:gd name="connsiteY9" fmla="*/ 492534 h 1033395"/>
              <a:gd name="connsiteX10" fmla="*/ 2973784 w 3065257"/>
              <a:gd name="connsiteY10" fmla="*/ 226307 h 1033395"/>
              <a:gd name="connsiteX11" fmla="*/ 3062963 w 3065257"/>
              <a:gd name="connsiteY11" fmla="*/ 16914 h 1033395"/>
              <a:gd name="connsiteX12" fmla="*/ 2906554 w 3065257"/>
              <a:gd name="connsiteY12" fmla="*/ 0 h 1033395"/>
              <a:gd name="connsiteX13" fmla="*/ 13875 w 3065257"/>
              <a:gd name="connsiteY13" fmla="*/ 233615 h 1033395"/>
              <a:gd name="connsiteX0" fmla="*/ 13875 w 3065257"/>
              <a:gd name="connsiteY0" fmla="*/ 233615 h 1033395"/>
              <a:gd name="connsiteX1" fmla="*/ 428 w 3065257"/>
              <a:gd name="connsiteY1" fmla="*/ 375770 h 1033395"/>
              <a:gd name="connsiteX2" fmla="*/ 116330 w 3065257"/>
              <a:gd name="connsiteY2" fmla="*/ 570752 h 1033395"/>
              <a:gd name="connsiteX3" fmla="*/ 290502 w 3065257"/>
              <a:gd name="connsiteY3" fmla="*/ 739480 h 1033395"/>
              <a:gd name="connsiteX4" fmla="*/ 475559 w 3065257"/>
              <a:gd name="connsiteY4" fmla="*/ 859224 h 1033395"/>
              <a:gd name="connsiteX5" fmla="*/ 818459 w 3065257"/>
              <a:gd name="connsiteY5" fmla="*/ 968080 h 1033395"/>
              <a:gd name="connsiteX6" fmla="*/ 1226673 w 3065257"/>
              <a:gd name="connsiteY6" fmla="*/ 1033395 h 1033395"/>
              <a:gd name="connsiteX7" fmla="*/ 1700201 w 3065257"/>
              <a:gd name="connsiteY7" fmla="*/ 935423 h 1033395"/>
              <a:gd name="connsiteX8" fmla="*/ 2138628 w 3065257"/>
              <a:gd name="connsiteY8" fmla="*/ 710871 h 1033395"/>
              <a:gd name="connsiteX9" fmla="*/ 2503817 w 3065257"/>
              <a:gd name="connsiteY9" fmla="*/ 492534 h 1033395"/>
              <a:gd name="connsiteX10" fmla="*/ 2973784 w 3065257"/>
              <a:gd name="connsiteY10" fmla="*/ 226307 h 1033395"/>
              <a:gd name="connsiteX11" fmla="*/ 3062963 w 3065257"/>
              <a:gd name="connsiteY11" fmla="*/ 16914 h 1033395"/>
              <a:gd name="connsiteX12" fmla="*/ 2906554 w 3065257"/>
              <a:gd name="connsiteY12" fmla="*/ 0 h 1033395"/>
              <a:gd name="connsiteX13" fmla="*/ 13875 w 3065257"/>
              <a:gd name="connsiteY13" fmla="*/ 233615 h 1033395"/>
              <a:gd name="connsiteX0" fmla="*/ 13875 w 3065257"/>
              <a:gd name="connsiteY0" fmla="*/ 233615 h 1033395"/>
              <a:gd name="connsiteX1" fmla="*/ 428 w 3065257"/>
              <a:gd name="connsiteY1" fmla="*/ 375770 h 1033395"/>
              <a:gd name="connsiteX2" fmla="*/ 116330 w 3065257"/>
              <a:gd name="connsiteY2" fmla="*/ 570752 h 1033395"/>
              <a:gd name="connsiteX3" fmla="*/ 290502 w 3065257"/>
              <a:gd name="connsiteY3" fmla="*/ 739480 h 1033395"/>
              <a:gd name="connsiteX4" fmla="*/ 475559 w 3065257"/>
              <a:gd name="connsiteY4" fmla="*/ 859224 h 1033395"/>
              <a:gd name="connsiteX5" fmla="*/ 818459 w 3065257"/>
              <a:gd name="connsiteY5" fmla="*/ 968080 h 1033395"/>
              <a:gd name="connsiteX6" fmla="*/ 1226673 w 3065257"/>
              <a:gd name="connsiteY6" fmla="*/ 1033395 h 1033395"/>
              <a:gd name="connsiteX7" fmla="*/ 1755593 w 3065257"/>
              <a:gd name="connsiteY7" fmla="*/ 905100 h 1033395"/>
              <a:gd name="connsiteX8" fmla="*/ 2138628 w 3065257"/>
              <a:gd name="connsiteY8" fmla="*/ 710871 h 1033395"/>
              <a:gd name="connsiteX9" fmla="*/ 2503817 w 3065257"/>
              <a:gd name="connsiteY9" fmla="*/ 492534 h 1033395"/>
              <a:gd name="connsiteX10" fmla="*/ 2973784 w 3065257"/>
              <a:gd name="connsiteY10" fmla="*/ 226307 h 1033395"/>
              <a:gd name="connsiteX11" fmla="*/ 3062963 w 3065257"/>
              <a:gd name="connsiteY11" fmla="*/ 16914 h 1033395"/>
              <a:gd name="connsiteX12" fmla="*/ 2906554 w 3065257"/>
              <a:gd name="connsiteY12" fmla="*/ 0 h 1033395"/>
              <a:gd name="connsiteX13" fmla="*/ 13875 w 3065257"/>
              <a:gd name="connsiteY13" fmla="*/ 233615 h 1033395"/>
              <a:gd name="connsiteX0" fmla="*/ 48238 w 3099620"/>
              <a:gd name="connsiteY0" fmla="*/ 233615 h 1033395"/>
              <a:gd name="connsiteX1" fmla="*/ 171 w 3099620"/>
              <a:gd name="connsiteY1" fmla="*/ 387899 h 1033395"/>
              <a:gd name="connsiteX2" fmla="*/ 150693 w 3099620"/>
              <a:gd name="connsiteY2" fmla="*/ 570752 h 1033395"/>
              <a:gd name="connsiteX3" fmla="*/ 324865 w 3099620"/>
              <a:gd name="connsiteY3" fmla="*/ 739480 h 1033395"/>
              <a:gd name="connsiteX4" fmla="*/ 509922 w 3099620"/>
              <a:gd name="connsiteY4" fmla="*/ 859224 h 1033395"/>
              <a:gd name="connsiteX5" fmla="*/ 852822 w 3099620"/>
              <a:gd name="connsiteY5" fmla="*/ 968080 h 1033395"/>
              <a:gd name="connsiteX6" fmla="*/ 1261036 w 3099620"/>
              <a:gd name="connsiteY6" fmla="*/ 1033395 h 1033395"/>
              <a:gd name="connsiteX7" fmla="*/ 1789956 w 3099620"/>
              <a:gd name="connsiteY7" fmla="*/ 905100 h 1033395"/>
              <a:gd name="connsiteX8" fmla="*/ 2172991 w 3099620"/>
              <a:gd name="connsiteY8" fmla="*/ 710871 h 1033395"/>
              <a:gd name="connsiteX9" fmla="*/ 2538180 w 3099620"/>
              <a:gd name="connsiteY9" fmla="*/ 492534 h 1033395"/>
              <a:gd name="connsiteX10" fmla="*/ 3008147 w 3099620"/>
              <a:gd name="connsiteY10" fmla="*/ 226307 h 1033395"/>
              <a:gd name="connsiteX11" fmla="*/ 3097326 w 3099620"/>
              <a:gd name="connsiteY11" fmla="*/ 16914 h 1033395"/>
              <a:gd name="connsiteX12" fmla="*/ 2940917 w 3099620"/>
              <a:gd name="connsiteY12" fmla="*/ 0 h 1033395"/>
              <a:gd name="connsiteX13" fmla="*/ 48238 w 3099620"/>
              <a:gd name="connsiteY13" fmla="*/ 233615 h 1033395"/>
              <a:gd name="connsiteX0" fmla="*/ 48238 w 3099620"/>
              <a:gd name="connsiteY0" fmla="*/ 233615 h 1033395"/>
              <a:gd name="connsiteX1" fmla="*/ 171 w 3099620"/>
              <a:gd name="connsiteY1" fmla="*/ 387899 h 1033395"/>
              <a:gd name="connsiteX2" fmla="*/ 102224 w 3099620"/>
              <a:gd name="connsiteY2" fmla="*/ 601075 h 1033395"/>
              <a:gd name="connsiteX3" fmla="*/ 324865 w 3099620"/>
              <a:gd name="connsiteY3" fmla="*/ 739480 h 1033395"/>
              <a:gd name="connsiteX4" fmla="*/ 509922 w 3099620"/>
              <a:gd name="connsiteY4" fmla="*/ 859224 h 1033395"/>
              <a:gd name="connsiteX5" fmla="*/ 852822 w 3099620"/>
              <a:gd name="connsiteY5" fmla="*/ 968080 h 1033395"/>
              <a:gd name="connsiteX6" fmla="*/ 1261036 w 3099620"/>
              <a:gd name="connsiteY6" fmla="*/ 1033395 h 1033395"/>
              <a:gd name="connsiteX7" fmla="*/ 1789956 w 3099620"/>
              <a:gd name="connsiteY7" fmla="*/ 905100 h 1033395"/>
              <a:gd name="connsiteX8" fmla="*/ 2172991 w 3099620"/>
              <a:gd name="connsiteY8" fmla="*/ 710871 h 1033395"/>
              <a:gd name="connsiteX9" fmla="*/ 2538180 w 3099620"/>
              <a:gd name="connsiteY9" fmla="*/ 492534 h 1033395"/>
              <a:gd name="connsiteX10" fmla="*/ 3008147 w 3099620"/>
              <a:gd name="connsiteY10" fmla="*/ 226307 h 1033395"/>
              <a:gd name="connsiteX11" fmla="*/ 3097326 w 3099620"/>
              <a:gd name="connsiteY11" fmla="*/ 16914 h 1033395"/>
              <a:gd name="connsiteX12" fmla="*/ 2940917 w 3099620"/>
              <a:gd name="connsiteY12" fmla="*/ 0 h 1033395"/>
              <a:gd name="connsiteX13" fmla="*/ 48238 w 3099620"/>
              <a:gd name="connsiteY13" fmla="*/ 233615 h 1033395"/>
              <a:gd name="connsiteX0" fmla="*/ 48238 w 3099620"/>
              <a:gd name="connsiteY0" fmla="*/ 233615 h 1033395"/>
              <a:gd name="connsiteX1" fmla="*/ 171 w 3099620"/>
              <a:gd name="connsiteY1" fmla="*/ 387899 h 1033395"/>
              <a:gd name="connsiteX2" fmla="*/ 102224 w 3099620"/>
              <a:gd name="connsiteY2" fmla="*/ 601075 h 1033395"/>
              <a:gd name="connsiteX3" fmla="*/ 290245 w 3099620"/>
              <a:gd name="connsiteY3" fmla="*/ 781932 h 1033395"/>
              <a:gd name="connsiteX4" fmla="*/ 509922 w 3099620"/>
              <a:gd name="connsiteY4" fmla="*/ 859224 h 1033395"/>
              <a:gd name="connsiteX5" fmla="*/ 852822 w 3099620"/>
              <a:gd name="connsiteY5" fmla="*/ 968080 h 1033395"/>
              <a:gd name="connsiteX6" fmla="*/ 1261036 w 3099620"/>
              <a:gd name="connsiteY6" fmla="*/ 1033395 h 1033395"/>
              <a:gd name="connsiteX7" fmla="*/ 1789956 w 3099620"/>
              <a:gd name="connsiteY7" fmla="*/ 905100 h 1033395"/>
              <a:gd name="connsiteX8" fmla="*/ 2172991 w 3099620"/>
              <a:gd name="connsiteY8" fmla="*/ 710871 h 1033395"/>
              <a:gd name="connsiteX9" fmla="*/ 2538180 w 3099620"/>
              <a:gd name="connsiteY9" fmla="*/ 492534 h 1033395"/>
              <a:gd name="connsiteX10" fmla="*/ 3008147 w 3099620"/>
              <a:gd name="connsiteY10" fmla="*/ 226307 h 1033395"/>
              <a:gd name="connsiteX11" fmla="*/ 3097326 w 3099620"/>
              <a:gd name="connsiteY11" fmla="*/ 16914 h 1033395"/>
              <a:gd name="connsiteX12" fmla="*/ 2940917 w 3099620"/>
              <a:gd name="connsiteY12" fmla="*/ 0 h 1033395"/>
              <a:gd name="connsiteX13" fmla="*/ 48238 w 3099620"/>
              <a:gd name="connsiteY13" fmla="*/ 233615 h 1033395"/>
              <a:gd name="connsiteX0" fmla="*/ 48238 w 3099620"/>
              <a:gd name="connsiteY0" fmla="*/ 233615 h 1033395"/>
              <a:gd name="connsiteX1" fmla="*/ 171 w 3099620"/>
              <a:gd name="connsiteY1" fmla="*/ 387899 h 1033395"/>
              <a:gd name="connsiteX2" fmla="*/ 102224 w 3099620"/>
              <a:gd name="connsiteY2" fmla="*/ 601075 h 1033395"/>
              <a:gd name="connsiteX3" fmla="*/ 290245 w 3099620"/>
              <a:gd name="connsiteY3" fmla="*/ 781932 h 1033395"/>
              <a:gd name="connsiteX4" fmla="*/ 496074 w 3099620"/>
              <a:gd name="connsiteY4" fmla="*/ 907741 h 1033395"/>
              <a:gd name="connsiteX5" fmla="*/ 852822 w 3099620"/>
              <a:gd name="connsiteY5" fmla="*/ 968080 h 1033395"/>
              <a:gd name="connsiteX6" fmla="*/ 1261036 w 3099620"/>
              <a:gd name="connsiteY6" fmla="*/ 1033395 h 1033395"/>
              <a:gd name="connsiteX7" fmla="*/ 1789956 w 3099620"/>
              <a:gd name="connsiteY7" fmla="*/ 905100 h 1033395"/>
              <a:gd name="connsiteX8" fmla="*/ 2172991 w 3099620"/>
              <a:gd name="connsiteY8" fmla="*/ 710871 h 1033395"/>
              <a:gd name="connsiteX9" fmla="*/ 2538180 w 3099620"/>
              <a:gd name="connsiteY9" fmla="*/ 492534 h 1033395"/>
              <a:gd name="connsiteX10" fmla="*/ 3008147 w 3099620"/>
              <a:gd name="connsiteY10" fmla="*/ 226307 h 1033395"/>
              <a:gd name="connsiteX11" fmla="*/ 3097326 w 3099620"/>
              <a:gd name="connsiteY11" fmla="*/ 16914 h 1033395"/>
              <a:gd name="connsiteX12" fmla="*/ 2940917 w 3099620"/>
              <a:gd name="connsiteY12" fmla="*/ 0 h 1033395"/>
              <a:gd name="connsiteX13" fmla="*/ 48238 w 3099620"/>
              <a:gd name="connsiteY13" fmla="*/ 233615 h 1033395"/>
              <a:gd name="connsiteX0" fmla="*/ 48238 w 3099620"/>
              <a:gd name="connsiteY0" fmla="*/ 233615 h 1033395"/>
              <a:gd name="connsiteX1" fmla="*/ 171 w 3099620"/>
              <a:gd name="connsiteY1" fmla="*/ 387899 h 1033395"/>
              <a:gd name="connsiteX2" fmla="*/ 102224 w 3099620"/>
              <a:gd name="connsiteY2" fmla="*/ 601075 h 1033395"/>
              <a:gd name="connsiteX3" fmla="*/ 290245 w 3099620"/>
              <a:gd name="connsiteY3" fmla="*/ 781932 h 1033395"/>
              <a:gd name="connsiteX4" fmla="*/ 496074 w 3099620"/>
              <a:gd name="connsiteY4" fmla="*/ 907741 h 1033395"/>
              <a:gd name="connsiteX5" fmla="*/ 873594 w 3099620"/>
              <a:gd name="connsiteY5" fmla="*/ 1010532 h 1033395"/>
              <a:gd name="connsiteX6" fmla="*/ 1261036 w 3099620"/>
              <a:gd name="connsiteY6" fmla="*/ 1033395 h 1033395"/>
              <a:gd name="connsiteX7" fmla="*/ 1789956 w 3099620"/>
              <a:gd name="connsiteY7" fmla="*/ 905100 h 1033395"/>
              <a:gd name="connsiteX8" fmla="*/ 2172991 w 3099620"/>
              <a:gd name="connsiteY8" fmla="*/ 710871 h 1033395"/>
              <a:gd name="connsiteX9" fmla="*/ 2538180 w 3099620"/>
              <a:gd name="connsiteY9" fmla="*/ 492534 h 1033395"/>
              <a:gd name="connsiteX10" fmla="*/ 3008147 w 3099620"/>
              <a:gd name="connsiteY10" fmla="*/ 226307 h 1033395"/>
              <a:gd name="connsiteX11" fmla="*/ 3097326 w 3099620"/>
              <a:gd name="connsiteY11" fmla="*/ 16914 h 1033395"/>
              <a:gd name="connsiteX12" fmla="*/ 2940917 w 3099620"/>
              <a:gd name="connsiteY12" fmla="*/ 0 h 1033395"/>
              <a:gd name="connsiteX13" fmla="*/ 48238 w 3099620"/>
              <a:gd name="connsiteY13" fmla="*/ 233615 h 1033395"/>
              <a:gd name="connsiteX0" fmla="*/ 48238 w 3099620"/>
              <a:gd name="connsiteY0" fmla="*/ 233615 h 1033395"/>
              <a:gd name="connsiteX1" fmla="*/ 171 w 3099620"/>
              <a:gd name="connsiteY1" fmla="*/ 387899 h 1033395"/>
              <a:gd name="connsiteX2" fmla="*/ 102224 w 3099620"/>
              <a:gd name="connsiteY2" fmla="*/ 601075 h 1033395"/>
              <a:gd name="connsiteX3" fmla="*/ 290245 w 3099620"/>
              <a:gd name="connsiteY3" fmla="*/ 781932 h 1033395"/>
              <a:gd name="connsiteX4" fmla="*/ 496074 w 3099620"/>
              <a:gd name="connsiteY4" fmla="*/ 907741 h 1033395"/>
              <a:gd name="connsiteX5" fmla="*/ 873594 w 3099620"/>
              <a:gd name="connsiteY5" fmla="*/ 1010532 h 1033395"/>
              <a:gd name="connsiteX6" fmla="*/ 1261036 w 3099620"/>
              <a:gd name="connsiteY6" fmla="*/ 1033395 h 1033395"/>
              <a:gd name="connsiteX7" fmla="*/ 1803804 w 3099620"/>
              <a:gd name="connsiteY7" fmla="*/ 856583 h 1033395"/>
              <a:gd name="connsiteX8" fmla="*/ 2172991 w 3099620"/>
              <a:gd name="connsiteY8" fmla="*/ 710871 h 1033395"/>
              <a:gd name="connsiteX9" fmla="*/ 2538180 w 3099620"/>
              <a:gd name="connsiteY9" fmla="*/ 492534 h 1033395"/>
              <a:gd name="connsiteX10" fmla="*/ 3008147 w 3099620"/>
              <a:gd name="connsiteY10" fmla="*/ 226307 h 1033395"/>
              <a:gd name="connsiteX11" fmla="*/ 3097326 w 3099620"/>
              <a:gd name="connsiteY11" fmla="*/ 16914 h 1033395"/>
              <a:gd name="connsiteX12" fmla="*/ 2940917 w 3099620"/>
              <a:gd name="connsiteY12" fmla="*/ 0 h 1033395"/>
              <a:gd name="connsiteX13" fmla="*/ 48238 w 3099620"/>
              <a:gd name="connsiteY13" fmla="*/ 233615 h 1033395"/>
              <a:gd name="connsiteX0" fmla="*/ 48238 w 3099620"/>
              <a:gd name="connsiteY0" fmla="*/ 233615 h 1033395"/>
              <a:gd name="connsiteX1" fmla="*/ 171 w 3099620"/>
              <a:gd name="connsiteY1" fmla="*/ 387899 h 1033395"/>
              <a:gd name="connsiteX2" fmla="*/ 102224 w 3099620"/>
              <a:gd name="connsiteY2" fmla="*/ 601075 h 1033395"/>
              <a:gd name="connsiteX3" fmla="*/ 290245 w 3099620"/>
              <a:gd name="connsiteY3" fmla="*/ 781932 h 1033395"/>
              <a:gd name="connsiteX4" fmla="*/ 496074 w 3099620"/>
              <a:gd name="connsiteY4" fmla="*/ 907741 h 1033395"/>
              <a:gd name="connsiteX5" fmla="*/ 873594 w 3099620"/>
              <a:gd name="connsiteY5" fmla="*/ 1010532 h 1033395"/>
              <a:gd name="connsiteX6" fmla="*/ 1261036 w 3099620"/>
              <a:gd name="connsiteY6" fmla="*/ 1033395 h 1033395"/>
              <a:gd name="connsiteX7" fmla="*/ 1803804 w 3099620"/>
              <a:gd name="connsiteY7" fmla="*/ 856583 h 1033395"/>
              <a:gd name="connsiteX8" fmla="*/ 2172991 w 3099620"/>
              <a:gd name="connsiteY8" fmla="*/ 686612 h 1033395"/>
              <a:gd name="connsiteX9" fmla="*/ 2538180 w 3099620"/>
              <a:gd name="connsiteY9" fmla="*/ 492534 h 1033395"/>
              <a:gd name="connsiteX10" fmla="*/ 3008147 w 3099620"/>
              <a:gd name="connsiteY10" fmla="*/ 226307 h 1033395"/>
              <a:gd name="connsiteX11" fmla="*/ 3097326 w 3099620"/>
              <a:gd name="connsiteY11" fmla="*/ 16914 h 1033395"/>
              <a:gd name="connsiteX12" fmla="*/ 2940917 w 3099620"/>
              <a:gd name="connsiteY12" fmla="*/ 0 h 1033395"/>
              <a:gd name="connsiteX13" fmla="*/ 48238 w 3099620"/>
              <a:gd name="connsiteY13" fmla="*/ 233615 h 1033395"/>
              <a:gd name="connsiteX0" fmla="*/ 48238 w 3099620"/>
              <a:gd name="connsiteY0" fmla="*/ 233615 h 1033395"/>
              <a:gd name="connsiteX1" fmla="*/ 171 w 3099620"/>
              <a:gd name="connsiteY1" fmla="*/ 387899 h 1033395"/>
              <a:gd name="connsiteX2" fmla="*/ 102224 w 3099620"/>
              <a:gd name="connsiteY2" fmla="*/ 601075 h 1033395"/>
              <a:gd name="connsiteX3" fmla="*/ 290245 w 3099620"/>
              <a:gd name="connsiteY3" fmla="*/ 781932 h 1033395"/>
              <a:gd name="connsiteX4" fmla="*/ 496074 w 3099620"/>
              <a:gd name="connsiteY4" fmla="*/ 907741 h 1033395"/>
              <a:gd name="connsiteX5" fmla="*/ 873594 w 3099620"/>
              <a:gd name="connsiteY5" fmla="*/ 1010532 h 1033395"/>
              <a:gd name="connsiteX6" fmla="*/ 1261036 w 3099620"/>
              <a:gd name="connsiteY6" fmla="*/ 1033395 h 1033395"/>
              <a:gd name="connsiteX7" fmla="*/ 1803804 w 3099620"/>
              <a:gd name="connsiteY7" fmla="*/ 856583 h 1033395"/>
              <a:gd name="connsiteX8" fmla="*/ 2172991 w 3099620"/>
              <a:gd name="connsiteY8" fmla="*/ 686612 h 1033395"/>
              <a:gd name="connsiteX9" fmla="*/ 2538180 w 3099620"/>
              <a:gd name="connsiteY9" fmla="*/ 456146 h 1033395"/>
              <a:gd name="connsiteX10" fmla="*/ 3008147 w 3099620"/>
              <a:gd name="connsiteY10" fmla="*/ 226307 h 1033395"/>
              <a:gd name="connsiteX11" fmla="*/ 3097326 w 3099620"/>
              <a:gd name="connsiteY11" fmla="*/ 16914 h 1033395"/>
              <a:gd name="connsiteX12" fmla="*/ 2940917 w 3099620"/>
              <a:gd name="connsiteY12" fmla="*/ 0 h 1033395"/>
              <a:gd name="connsiteX13" fmla="*/ 48238 w 3099620"/>
              <a:gd name="connsiteY13" fmla="*/ 233615 h 1033395"/>
              <a:gd name="connsiteX0" fmla="*/ 48238 w 3098497"/>
              <a:gd name="connsiteY0" fmla="*/ 233615 h 1033395"/>
              <a:gd name="connsiteX1" fmla="*/ 171 w 3098497"/>
              <a:gd name="connsiteY1" fmla="*/ 387899 h 1033395"/>
              <a:gd name="connsiteX2" fmla="*/ 102224 w 3098497"/>
              <a:gd name="connsiteY2" fmla="*/ 601075 h 1033395"/>
              <a:gd name="connsiteX3" fmla="*/ 290245 w 3098497"/>
              <a:gd name="connsiteY3" fmla="*/ 781932 h 1033395"/>
              <a:gd name="connsiteX4" fmla="*/ 496074 w 3098497"/>
              <a:gd name="connsiteY4" fmla="*/ 907741 h 1033395"/>
              <a:gd name="connsiteX5" fmla="*/ 873594 w 3098497"/>
              <a:gd name="connsiteY5" fmla="*/ 1010532 h 1033395"/>
              <a:gd name="connsiteX6" fmla="*/ 1261036 w 3098497"/>
              <a:gd name="connsiteY6" fmla="*/ 1033395 h 1033395"/>
              <a:gd name="connsiteX7" fmla="*/ 1803804 w 3098497"/>
              <a:gd name="connsiteY7" fmla="*/ 856583 h 1033395"/>
              <a:gd name="connsiteX8" fmla="*/ 2172991 w 3098497"/>
              <a:gd name="connsiteY8" fmla="*/ 686612 h 1033395"/>
              <a:gd name="connsiteX9" fmla="*/ 2538180 w 3098497"/>
              <a:gd name="connsiteY9" fmla="*/ 456146 h 1033395"/>
              <a:gd name="connsiteX10" fmla="*/ 2869666 w 3098497"/>
              <a:gd name="connsiteY10" fmla="*/ 280888 h 1033395"/>
              <a:gd name="connsiteX11" fmla="*/ 3097326 w 3098497"/>
              <a:gd name="connsiteY11" fmla="*/ 16914 h 1033395"/>
              <a:gd name="connsiteX12" fmla="*/ 2940917 w 3098497"/>
              <a:gd name="connsiteY12" fmla="*/ 0 h 1033395"/>
              <a:gd name="connsiteX13" fmla="*/ 48238 w 3098497"/>
              <a:gd name="connsiteY13" fmla="*/ 233615 h 1033395"/>
              <a:gd name="connsiteX0" fmla="*/ 62053 w 3098465"/>
              <a:gd name="connsiteY0" fmla="*/ 191163 h 1033395"/>
              <a:gd name="connsiteX1" fmla="*/ 139 w 3098465"/>
              <a:gd name="connsiteY1" fmla="*/ 387899 h 1033395"/>
              <a:gd name="connsiteX2" fmla="*/ 102192 w 3098465"/>
              <a:gd name="connsiteY2" fmla="*/ 601075 h 1033395"/>
              <a:gd name="connsiteX3" fmla="*/ 290213 w 3098465"/>
              <a:gd name="connsiteY3" fmla="*/ 781932 h 1033395"/>
              <a:gd name="connsiteX4" fmla="*/ 496042 w 3098465"/>
              <a:gd name="connsiteY4" fmla="*/ 907741 h 1033395"/>
              <a:gd name="connsiteX5" fmla="*/ 873562 w 3098465"/>
              <a:gd name="connsiteY5" fmla="*/ 1010532 h 1033395"/>
              <a:gd name="connsiteX6" fmla="*/ 1261004 w 3098465"/>
              <a:gd name="connsiteY6" fmla="*/ 1033395 h 1033395"/>
              <a:gd name="connsiteX7" fmla="*/ 1803772 w 3098465"/>
              <a:gd name="connsiteY7" fmla="*/ 856583 h 1033395"/>
              <a:gd name="connsiteX8" fmla="*/ 2172959 w 3098465"/>
              <a:gd name="connsiteY8" fmla="*/ 686612 h 1033395"/>
              <a:gd name="connsiteX9" fmla="*/ 2538148 w 3098465"/>
              <a:gd name="connsiteY9" fmla="*/ 456146 h 1033395"/>
              <a:gd name="connsiteX10" fmla="*/ 2869634 w 3098465"/>
              <a:gd name="connsiteY10" fmla="*/ 280888 h 1033395"/>
              <a:gd name="connsiteX11" fmla="*/ 3097294 w 3098465"/>
              <a:gd name="connsiteY11" fmla="*/ 16914 h 1033395"/>
              <a:gd name="connsiteX12" fmla="*/ 2940885 w 3098465"/>
              <a:gd name="connsiteY12" fmla="*/ 0 h 1033395"/>
              <a:gd name="connsiteX13" fmla="*/ 62053 w 3098465"/>
              <a:gd name="connsiteY13" fmla="*/ 191163 h 10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98465" h="1033395">
                <a:moveTo>
                  <a:pt x="62053" y="191163"/>
                </a:moveTo>
                <a:cubicBezTo>
                  <a:pt x="65682" y="231077"/>
                  <a:pt x="-3490" y="347985"/>
                  <a:pt x="139" y="387899"/>
                </a:cubicBezTo>
                <a:lnTo>
                  <a:pt x="102192" y="601075"/>
                </a:lnTo>
                <a:cubicBezTo>
                  <a:pt x="167507" y="648246"/>
                  <a:pt x="224898" y="734761"/>
                  <a:pt x="290213" y="781932"/>
                </a:cubicBezTo>
                <a:lnTo>
                  <a:pt x="496042" y="907741"/>
                </a:lnTo>
                <a:cubicBezTo>
                  <a:pt x="613971" y="929512"/>
                  <a:pt x="755633" y="988761"/>
                  <a:pt x="873562" y="1010532"/>
                </a:cubicBezTo>
                <a:lnTo>
                  <a:pt x="1261004" y="1033395"/>
                </a:lnTo>
                <a:cubicBezTo>
                  <a:pt x="1427918" y="982595"/>
                  <a:pt x="1636858" y="907383"/>
                  <a:pt x="1803772" y="856583"/>
                </a:cubicBezTo>
                <a:lnTo>
                  <a:pt x="2172959" y="686612"/>
                </a:lnTo>
                <a:cubicBezTo>
                  <a:pt x="2281816" y="608598"/>
                  <a:pt x="2429291" y="534160"/>
                  <a:pt x="2538148" y="456146"/>
                </a:cubicBezTo>
                <a:lnTo>
                  <a:pt x="2869634" y="280888"/>
                </a:lnTo>
                <a:cubicBezTo>
                  <a:pt x="2848584" y="249500"/>
                  <a:pt x="3118344" y="48302"/>
                  <a:pt x="3097294" y="16914"/>
                </a:cubicBezTo>
                <a:lnTo>
                  <a:pt x="2940885" y="0"/>
                </a:lnTo>
                <a:lnTo>
                  <a:pt x="62053" y="191163"/>
                </a:lnTo>
                <a:close/>
              </a:path>
            </a:pathLst>
          </a:custGeom>
          <a:solidFill>
            <a:schemeClr val="accent6">
              <a:lumMod val="20000"/>
              <a:lumOff val="8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2" name="任意多边形 61"/>
          <p:cNvSpPr/>
          <p:nvPr/>
        </p:nvSpPr>
        <p:spPr bwMode="auto">
          <a:xfrm>
            <a:off x="4954404" y="1939442"/>
            <a:ext cx="3529003" cy="1186870"/>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11" fmla="*/ 7 w 3529003"/>
              <a:gd name="connsiteY11" fmla="*/ 264732 h 1183454"/>
              <a:gd name="connsiteX0" fmla="*/ 7 w 3529003"/>
              <a:gd name="connsiteY0" fmla="*/ 290407 h 1209129"/>
              <a:gd name="connsiteX1" fmla="*/ 42434 w 3529003"/>
              <a:gd name="connsiteY1" fmla="*/ 525636 h 1209129"/>
              <a:gd name="connsiteX2" fmla="*/ 199682 w 3529003"/>
              <a:gd name="connsiteY2" fmla="*/ 798929 h 1209129"/>
              <a:gd name="connsiteX3" fmla="*/ 502370 w 3529003"/>
              <a:gd name="connsiteY3" fmla="*/ 1037738 h 1209129"/>
              <a:gd name="connsiteX4" fmla="*/ 899474 w 3529003"/>
              <a:gd name="connsiteY4" fmla="*/ 1177592 h 1209129"/>
              <a:gd name="connsiteX5" fmla="*/ 1348510 w 3529003"/>
              <a:gd name="connsiteY5" fmla="*/ 1201750 h 1209129"/>
              <a:gd name="connsiteX6" fmla="*/ 1821900 w 3529003"/>
              <a:gd name="connsiteY6" fmla="*/ 1076494 h 1209129"/>
              <a:gd name="connsiteX7" fmla="*/ 2234397 w 3529003"/>
              <a:gd name="connsiteY7" fmla="*/ 859212 h 1209129"/>
              <a:gd name="connsiteX8" fmla="*/ 2625280 w 3529003"/>
              <a:gd name="connsiteY8" fmla="*/ 622017 h 1209129"/>
              <a:gd name="connsiteX9" fmla="*/ 3037098 w 3529003"/>
              <a:gd name="connsiteY9" fmla="*/ 350157 h 1209129"/>
              <a:gd name="connsiteX10" fmla="*/ 3529003 w 3529003"/>
              <a:gd name="connsiteY10" fmla="*/ 25675 h 1209129"/>
              <a:gd name="connsiteX11" fmla="*/ 388784 w 3529003"/>
              <a:gd name="connsiteY11" fmla="*/ 22259 h 1209129"/>
              <a:gd name="connsiteX12" fmla="*/ 7 w 3529003"/>
              <a:gd name="connsiteY12" fmla="*/ 290407 h 1209129"/>
              <a:gd name="connsiteX0" fmla="*/ 7 w 3529003"/>
              <a:gd name="connsiteY0" fmla="*/ 268148 h 1186870"/>
              <a:gd name="connsiteX1" fmla="*/ 42434 w 3529003"/>
              <a:gd name="connsiteY1" fmla="*/ 503377 h 1186870"/>
              <a:gd name="connsiteX2" fmla="*/ 199682 w 3529003"/>
              <a:gd name="connsiteY2" fmla="*/ 776670 h 1186870"/>
              <a:gd name="connsiteX3" fmla="*/ 502370 w 3529003"/>
              <a:gd name="connsiteY3" fmla="*/ 1015479 h 1186870"/>
              <a:gd name="connsiteX4" fmla="*/ 899474 w 3529003"/>
              <a:gd name="connsiteY4" fmla="*/ 1155333 h 1186870"/>
              <a:gd name="connsiteX5" fmla="*/ 1348510 w 3529003"/>
              <a:gd name="connsiteY5" fmla="*/ 1179491 h 1186870"/>
              <a:gd name="connsiteX6" fmla="*/ 1821900 w 3529003"/>
              <a:gd name="connsiteY6" fmla="*/ 1054235 h 1186870"/>
              <a:gd name="connsiteX7" fmla="*/ 2234397 w 3529003"/>
              <a:gd name="connsiteY7" fmla="*/ 836953 h 1186870"/>
              <a:gd name="connsiteX8" fmla="*/ 2625280 w 3529003"/>
              <a:gd name="connsiteY8" fmla="*/ 599758 h 1186870"/>
              <a:gd name="connsiteX9" fmla="*/ 3037098 w 3529003"/>
              <a:gd name="connsiteY9" fmla="*/ 327898 h 1186870"/>
              <a:gd name="connsiteX10" fmla="*/ 3529003 w 3529003"/>
              <a:gd name="connsiteY10" fmla="*/ 3416 h 1186870"/>
              <a:gd name="connsiteX11" fmla="*/ 388784 w 3529003"/>
              <a:gd name="connsiteY11" fmla="*/ 0 h 1186870"/>
              <a:gd name="connsiteX12" fmla="*/ 7 w 3529003"/>
              <a:gd name="connsiteY12" fmla="*/ 268148 h 118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29003" h="1186870">
                <a:moveTo>
                  <a:pt x="7" y="268148"/>
                </a:moveTo>
                <a:cubicBezTo>
                  <a:pt x="-408" y="352359"/>
                  <a:pt x="16775" y="418623"/>
                  <a:pt x="42434" y="503377"/>
                </a:cubicBezTo>
                <a:cubicBezTo>
                  <a:pt x="68093" y="588131"/>
                  <a:pt x="122645" y="684583"/>
                  <a:pt x="199682" y="776670"/>
                </a:cubicBezTo>
                <a:cubicBezTo>
                  <a:pt x="276719" y="873837"/>
                  <a:pt x="385738" y="952369"/>
                  <a:pt x="502370" y="1015479"/>
                </a:cubicBezTo>
                <a:cubicBezTo>
                  <a:pt x="619002" y="1078589"/>
                  <a:pt x="758451" y="1127998"/>
                  <a:pt x="899474" y="1155333"/>
                </a:cubicBezTo>
                <a:cubicBezTo>
                  <a:pt x="1040497" y="1182668"/>
                  <a:pt x="1194772" y="1196341"/>
                  <a:pt x="1348510" y="1179491"/>
                </a:cubicBezTo>
                <a:cubicBezTo>
                  <a:pt x="1502248" y="1162641"/>
                  <a:pt x="1674252" y="1111325"/>
                  <a:pt x="1821900" y="1054235"/>
                </a:cubicBezTo>
                <a:cubicBezTo>
                  <a:pt x="1969548" y="997145"/>
                  <a:pt x="2100500" y="912699"/>
                  <a:pt x="2234397" y="836953"/>
                </a:cubicBezTo>
                <a:cubicBezTo>
                  <a:pt x="2368294" y="761207"/>
                  <a:pt x="2538327" y="648769"/>
                  <a:pt x="2625280" y="599758"/>
                </a:cubicBezTo>
                <a:lnTo>
                  <a:pt x="3037098" y="327898"/>
                </a:lnTo>
                <a:cubicBezTo>
                  <a:pt x="3233143" y="209011"/>
                  <a:pt x="3284005" y="153333"/>
                  <a:pt x="3529003" y="3416"/>
                </a:cubicBezTo>
                <a:lnTo>
                  <a:pt x="388784" y="0"/>
                </a:lnTo>
                <a:lnTo>
                  <a:pt x="7" y="268148"/>
                </a:lnTo>
                <a:close/>
              </a:path>
            </a:pathLst>
          </a:custGeom>
          <a:solidFill>
            <a:schemeClr val="accent5">
              <a:lumMod val="90000"/>
            </a:schemeClr>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3" name="任意多边形 202"/>
          <p:cNvSpPr/>
          <p:nvPr/>
        </p:nvSpPr>
        <p:spPr bwMode="auto">
          <a:xfrm rot="16957601">
            <a:off x="4990654" y="1691958"/>
            <a:ext cx="129066" cy="156493"/>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4333"/>
              <a:gd name="connsiteY0" fmla="*/ 177679 h 177679"/>
              <a:gd name="connsiteX1" fmla="*/ 73672 w 84333"/>
              <a:gd name="connsiteY1" fmla="*/ 82340 h 177679"/>
              <a:gd name="connsiteX2" fmla="*/ 0 w 84333"/>
              <a:gd name="connsiteY2" fmla="*/ 0 h 177679"/>
              <a:gd name="connsiteX0" fmla="*/ 82339 w 83024"/>
              <a:gd name="connsiteY0" fmla="*/ 177679 h 177679"/>
              <a:gd name="connsiteX1" fmla="*/ 73672 w 83024"/>
              <a:gd name="connsiteY1" fmla="*/ 82340 h 177679"/>
              <a:gd name="connsiteX2" fmla="*/ 0 w 83024"/>
              <a:gd name="connsiteY2" fmla="*/ 0 h 177679"/>
            </a:gdLst>
            <a:ahLst/>
            <a:cxnLst>
              <a:cxn ang="0">
                <a:pos x="connsiteX0" y="connsiteY0"/>
              </a:cxn>
              <a:cxn ang="0">
                <a:pos x="connsiteX1" y="connsiteY1"/>
              </a:cxn>
              <a:cxn ang="0">
                <a:pos x="connsiteX2" y="connsiteY2"/>
              </a:cxn>
            </a:cxnLst>
            <a:rect l="l" t="t" r="r" b="b"/>
            <a:pathLst>
              <a:path w="83024" h="177679">
                <a:moveTo>
                  <a:pt x="82339" y="177679"/>
                </a:moveTo>
                <a:cubicBezTo>
                  <a:pt x="84867" y="144815"/>
                  <a:pt x="80049" y="111548"/>
                  <a:pt x="73672" y="82340"/>
                </a:cubicBezTo>
                <a:cubicBezTo>
                  <a:pt x="59949" y="52727"/>
                  <a:pt x="29974" y="26363"/>
                  <a:pt x="0" y="0"/>
                </a:cubicBezTo>
              </a:path>
            </a:pathLst>
          </a:custGeom>
          <a:noFill/>
          <a:ln w="1270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47</a:t>
            </a:fld>
            <a:endParaRPr lang="zh-CN" altLang="en-US" dirty="0">
              <a:solidFill>
                <a:srgbClr val="C00000"/>
              </a:solidFill>
            </a:endParaRPr>
          </a:p>
        </p:txBody>
      </p:sp>
      <p:sp>
        <p:nvSpPr>
          <p:cNvPr id="60" name="Text Box 46"/>
          <p:cNvSpPr txBox="1">
            <a:spLocks noChangeArrowheads="1"/>
          </p:cNvSpPr>
          <p:nvPr/>
        </p:nvSpPr>
        <p:spPr bwMode="auto">
          <a:xfrm>
            <a:off x="430002" y="719619"/>
            <a:ext cx="38848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被动土压力</a:t>
            </a:r>
            <a:r>
              <a:rPr lang="en-US" altLang="zh-CN" sz="2800" b="1" i="1" dirty="0">
                <a:solidFill>
                  <a:srgbClr val="A50021"/>
                </a:solidFill>
                <a:latin typeface="微软雅黑" panose="020B0503020204020204" pitchFamily="34" charset="-122"/>
                <a:ea typeface="微软雅黑" panose="020B0503020204020204" pitchFamily="34" charset="-122"/>
              </a:rPr>
              <a:t>E</a:t>
            </a:r>
            <a:r>
              <a:rPr lang="en-US" altLang="zh-CN" sz="2800" b="1" baseline="-25000" dirty="0">
                <a:solidFill>
                  <a:srgbClr val="A50021"/>
                </a:solidFill>
                <a:latin typeface="微软雅黑" panose="020B0503020204020204" pitchFamily="34" charset="-122"/>
                <a:ea typeface="微软雅黑" panose="020B0503020204020204" pitchFamily="34" charset="-122"/>
              </a:rPr>
              <a:t>p</a:t>
            </a:r>
            <a:r>
              <a:rPr lang="zh-CN" altLang="en-US" sz="2800" b="1" dirty="0">
                <a:solidFill>
                  <a:srgbClr val="A50021"/>
                </a:solidFill>
                <a:latin typeface="微软雅黑" panose="020B0503020204020204" pitchFamily="34" charset="-122"/>
                <a:ea typeface="微软雅黑" panose="020B0503020204020204" pitchFamily="34" charset="-122"/>
              </a:rPr>
              <a:t>的确定</a:t>
            </a:r>
          </a:p>
        </p:txBody>
      </p:sp>
      <p:sp>
        <p:nvSpPr>
          <p:cNvPr id="61"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太沙基 </a:t>
            </a:r>
            <a:r>
              <a:rPr kumimoji="1" lang="en-US" altLang="zh-CN" sz="4000" b="1" dirty="0">
                <a:solidFill>
                  <a:srgbClr val="000066"/>
                </a:solidFill>
                <a:ea typeface="黑体" pitchFamily="2" charset="-122"/>
                <a:cs typeface="Times New Roman" panose="02020603050405020304" pitchFamily="18" charset="0"/>
              </a:rPr>
              <a:t>(Terzaghi) </a:t>
            </a:r>
            <a:r>
              <a:rPr kumimoji="1" lang="zh-CN" altLang="en-US" sz="4000" b="1" dirty="0">
                <a:solidFill>
                  <a:srgbClr val="000066"/>
                </a:solidFill>
                <a:ea typeface="黑体" pitchFamily="2" charset="-122"/>
                <a:cs typeface="Times New Roman" panose="02020603050405020304" pitchFamily="18" charset="0"/>
              </a:rPr>
              <a:t>公式</a:t>
            </a:r>
          </a:p>
        </p:txBody>
      </p:sp>
      <p:cxnSp>
        <p:nvCxnSpPr>
          <p:cNvPr id="127" name="直接连接符 126"/>
          <p:cNvCxnSpPr/>
          <p:nvPr/>
        </p:nvCxnSpPr>
        <p:spPr bwMode="auto">
          <a:xfrm flipH="1">
            <a:off x="5327599" y="1933670"/>
            <a:ext cx="3332069"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Text Box 21"/>
          <p:cNvSpPr txBox="1">
            <a:spLocks noChangeArrowheads="1"/>
          </p:cNvSpPr>
          <p:nvPr/>
        </p:nvSpPr>
        <p:spPr bwMode="auto">
          <a:xfrm>
            <a:off x="7282596" y="1180547"/>
            <a:ext cx="77777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q=</a:t>
            </a: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sym typeface="Symbol" panose="05050102010706020507" pitchFamily="18" charset="2"/>
              </a:rPr>
              <a:t>0</a:t>
            </a:r>
            <a:r>
              <a:rPr kumimoji="1" lang="en-US" altLang="zh-CN" sz="2000" b="1" i="1" dirty="0">
                <a:solidFill>
                  <a:srgbClr val="000066"/>
                </a:solidFill>
                <a:latin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ndParaRPr>
          </a:p>
        </p:txBody>
      </p:sp>
      <p:grpSp>
        <p:nvGrpSpPr>
          <p:cNvPr id="129" name="组合 128"/>
          <p:cNvGrpSpPr/>
          <p:nvPr/>
        </p:nvGrpSpPr>
        <p:grpSpPr>
          <a:xfrm>
            <a:off x="5336238" y="1648657"/>
            <a:ext cx="3309250" cy="296338"/>
            <a:chOff x="5257555" y="3519695"/>
            <a:chExt cx="2927595" cy="296338"/>
          </a:xfrm>
        </p:grpSpPr>
        <p:sp>
          <p:nvSpPr>
            <p:cNvPr id="130" name="Line 25"/>
            <p:cNvSpPr>
              <a:spLocks noChangeShapeType="1"/>
            </p:cNvSpPr>
            <p:nvPr/>
          </p:nvSpPr>
          <p:spPr bwMode="auto">
            <a:xfrm>
              <a:off x="55404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31" name="直接连接符 130"/>
            <p:cNvCxnSpPr/>
            <p:nvPr/>
          </p:nvCxnSpPr>
          <p:spPr bwMode="auto">
            <a:xfrm flipH="1">
              <a:off x="5257555" y="3519695"/>
              <a:ext cx="2927595"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Line 25"/>
            <p:cNvSpPr>
              <a:spLocks noChangeShapeType="1"/>
            </p:cNvSpPr>
            <p:nvPr/>
          </p:nvSpPr>
          <p:spPr bwMode="auto">
            <a:xfrm>
              <a:off x="5819847" y="352555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Line 25"/>
            <p:cNvSpPr>
              <a:spLocks noChangeShapeType="1"/>
            </p:cNvSpPr>
            <p:nvPr/>
          </p:nvSpPr>
          <p:spPr bwMode="auto">
            <a:xfrm>
              <a:off x="6099247" y="352555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Line 25"/>
            <p:cNvSpPr>
              <a:spLocks noChangeShapeType="1"/>
            </p:cNvSpPr>
            <p:nvPr/>
          </p:nvSpPr>
          <p:spPr bwMode="auto">
            <a:xfrm>
              <a:off x="63786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 name="Line 25"/>
            <p:cNvSpPr>
              <a:spLocks noChangeShapeType="1"/>
            </p:cNvSpPr>
            <p:nvPr/>
          </p:nvSpPr>
          <p:spPr bwMode="auto">
            <a:xfrm>
              <a:off x="66580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Line 25"/>
            <p:cNvSpPr>
              <a:spLocks noChangeShapeType="1"/>
            </p:cNvSpPr>
            <p:nvPr/>
          </p:nvSpPr>
          <p:spPr bwMode="auto">
            <a:xfrm>
              <a:off x="69374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 name="Line 25"/>
            <p:cNvSpPr>
              <a:spLocks noChangeShapeType="1"/>
            </p:cNvSpPr>
            <p:nvPr/>
          </p:nvSpPr>
          <p:spPr bwMode="auto">
            <a:xfrm>
              <a:off x="72168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Line 25"/>
            <p:cNvSpPr>
              <a:spLocks noChangeShapeType="1"/>
            </p:cNvSpPr>
            <p:nvPr/>
          </p:nvSpPr>
          <p:spPr bwMode="auto">
            <a:xfrm>
              <a:off x="74962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Line 25"/>
            <p:cNvSpPr>
              <a:spLocks noChangeShapeType="1"/>
            </p:cNvSpPr>
            <p:nvPr/>
          </p:nvSpPr>
          <p:spPr bwMode="auto">
            <a:xfrm>
              <a:off x="776929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25"/>
            <p:cNvSpPr>
              <a:spLocks noChangeShapeType="1"/>
            </p:cNvSpPr>
            <p:nvPr/>
          </p:nvSpPr>
          <p:spPr bwMode="auto">
            <a:xfrm>
              <a:off x="80423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9" name="Line 25"/>
            <p:cNvSpPr>
              <a:spLocks noChangeShapeType="1"/>
            </p:cNvSpPr>
            <p:nvPr/>
          </p:nvSpPr>
          <p:spPr bwMode="auto">
            <a:xfrm>
              <a:off x="5270799" y="354019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3" name="任意多边形 152"/>
          <p:cNvSpPr/>
          <p:nvPr/>
        </p:nvSpPr>
        <p:spPr bwMode="auto">
          <a:xfrm>
            <a:off x="4945937" y="1933302"/>
            <a:ext cx="390373" cy="267881"/>
          </a:xfrm>
          <a:custGeom>
            <a:avLst/>
            <a:gdLst>
              <a:gd name="connsiteX0" fmla="*/ 0 w 800100"/>
              <a:gd name="connsiteY0" fmla="*/ 0 h 781050"/>
              <a:gd name="connsiteX1" fmla="*/ 406400 w 800100"/>
              <a:gd name="connsiteY1" fmla="*/ 781050 h 781050"/>
              <a:gd name="connsiteX2" fmla="*/ 800100 w 800100"/>
              <a:gd name="connsiteY2" fmla="*/ 12700 h 781050"/>
              <a:gd name="connsiteX0" fmla="*/ 0 w 788670"/>
              <a:gd name="connsiteY0" fmla="*/ 0 h 773430"/>
              <a:gd name="connsiteX1" fmla="*/ 394970 w 788670"/>
              <a:gd name="connsiteY1" fmla="*/ 773430 h 773430"/>
              <a:gd name="connsiteX2" fmla="*/ 788670 w 788670"/>
              <a:gd name="connsiteY2" fmla="*/ 5080 h 773430"/>
              <a:gd name="connsiteX0" fmla="*/ 0 w 798195"/>
              <a:gd name="connsiteY0" fmla="*/ 13970 h 787400"/>
              <a:gd name="connsiteX1" fmla="*/ 394970 w 798195"/>
              <a:gd name="connsiteY1" fmla="*/ 787400 h 787400"/>
              <a:gd name="connsiteX2" fmla="*/ 798195 w 798195"/>
              <a:gd name="connsiteY2" fmla="*/ 0 h 787400"/>
              <a:gd name="connsiteX0" fmla="*/ 0 w 809625"/>
              <a:gd name="connsiteY0" fmla="*/ 2540 h 787400"/>
              <a:gd name="connsiteX1" fmla="*/ 406400 w 809625"/>
              <a:gd name="connsiteY1" fmla="*/ 787400 h 787400"/>
              <a:gd name="connsiteX2" fmla="*/ 809625 w 809625"/>
              <a:gd name="connsiteY2" fmla="*/ 0 h 787400"/>
              <a:gd name="connsiteX0" fmla="*/ 0 w 798195"/>
              <a:gd name="connsiteY0" fmla="*/ 4445 h 787400"/>
              <a:gd name="connsiteX1" fmla="*/ 394970 w 798195"/>
              <a:gd name="connsiteY1" fmla="*/ 787400 h 787400"/>
              <a:gd name="connsiteX2" fmla="*/ 798195 w 798195"/>
              <a:gd name="connsiteY2" fmla="*/ 0 h 787400"/>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163624"/>
              <a:gd name="connsiteX1" fmla="*/ 380793 w 798195"/>
              <a:gd name="connsiteY1" fmla="*/ 163624 h 163624"/>
              <a:gd name="connsiteX2" fmla="*/ 798195 w 798195"/>
              <a:gd name="connsiteY2" fmla="*/ 0 h 163624"/>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258205"/>
              <a:gd name="connsiteX1" fmla="*/ 399489 w 798195"/>
              <a:gd name="connsiteY1" fmla="*/ 258205 h 258205"/>
              <a:gd name="connsiteX2" fmla="*/ 798195 w 798195"/>
              <a:gd name="connsiteY2" fmla="*/ 0 h 258205"/>
              <a:gd name="connsiteX0" fmla="*/ 0 w 398706"/>
              <a:gd name="connsiteY0" fmla="*/ 258205 h 258205"/>
              <a:gd name="connsiteX1" fmla="*/ 398706 w 398706"/>
              <a:gd name="connsiteY1" fmla="*/ 0 h 258205"/>
            </a:gdLst>
            <a:ahLst/>
            <a:cxnLst>
              <a:cxn ang="0">
                <a:pos x="connsiteX0" y="connsiteY0"/>
              </a:cxn>
              <a:cxn ang="0">
                <a:pos x="connsiteX1" y="connsiteY1"/>
              </a:cxn>
            </a:cxnLst>
            <a:rect l="l" t="t" r="r" b="b"/>
            <a:pathLst>
              <a:path w="398706" h="258205">
                <a:moveTo>
                  <a:pt x="0" y="258205"/>
                </a:moveTo>
                <a:lnTo>
                  <a:pt x="398706"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5" name="任意多边形 154"/>
          <p:cNvSpPr/>
          <p:nvPr/>
        </p:nvSpPr>
        <p:spPr bwMode="auto">
          <a:xfrm>
            <a:off x="4946123" y="1926263"/>
            <a:ext cx="3529003" cy="1183454"/>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9003" h="1183454">
                <a:moveTo>
                  <a:pt x="7" y="264732"/>
                </a:moveTo>
                <a:cubicBezTo>
                  <a:pt x="-408" y="348943"/>
                  <a:pt x="16775" y="415207"/>
                  <a:pt x="42434" y="499961"/>
                </a:cubicBezTo>
                <a:cubicBezTo>
                  <a:pt x="68093" y="584715"/>
                  <a:pt x="122645" y="681167"/>
                  <a:pt x="199682" y="773254"/>
                </a:cubicBezTo>
                <a:cubicBezTo>
                  <a:pt x="276719" y="870421"/>
                  <a:pt x="385738" y="948953"/>
                  <a:pt x="502370" y="1012063"/>
                </a:cubicBezTo>
                <a:cubicBezTo>
                  <a:pt x="619002" y="1075173"/>
                  <a:pt x="758451" y="1124582"/>
                  <a:pt x="899474" y="1151917"/>
                </a:cubicBezTo>
                <a:cubicBezTo>
                  <a:pt x="1040497" y="1179252"/>
                  <a:pt x="1194772" y="1192925"/>
                  <a:pt x="1348510" y="1176075"/>
                </a:cubicBezTo>
                <a:cubicBezTo>
                  <a:pt x="1502248" y="1159225"/>
                  <a:pt x="1674252" y="1107909"/>
                  <a:pt x="1821900" y="1050819"/>
                </a:cubicBezTo>
                <a:cubicBezTo>
                  <a:pt x="1969548" y="993729"/>
                  <a:pt x="2100500" y="909283"/>
                  <a:pt x="2234397" y="833537"/>
                </a:cubicBezTo>
                <a:cubicBezTo>
                  <a:pt x="2368294" y="757791"/>
                  <a:pt x="2538327" y="645353"/>
                  <a:pt x="2625280" y="596342"/>
                </a:cubicBezTo>
                <a:lnTo>
                  <a:pt x="3037098" y="324482"/>
                </a:lnTo>
                <a:cubicBezTo>
                  <a:pt x="3233143" y="205595"/>
                  <a:pt x="3284005" y="149917"/>
                  <a:pt x="3529003" y="0"/>
                </a:cubicBez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56" name="直接连接符 155"/>
          <p:cNvCxnSpPr/>
          <p:nvPr/>
        </p:nvCxnSpPr>
        <p:spPr bwMode="auto">
          <a:xfrm>
            <a:off x="5357869" y="1937375"/>
            <a:ext cx="1631979" cy="933773"/>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 name="任意多边形 156"/>
          <p:cNvSpPr/>
          <p:nvPr/>
        </p:nvSpPr>
        <p:spPr bwMode="auto">
          <a:xfrm>
            <a:off x="5233028" y="1935611"/>
            <a:ext cx="940652" cy="254618"/>
          </a:xfrm>
          <a:custGeom>
            <a:avLst/>
            <a:gdLst>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9525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10668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8650 w 826770"/>
              <a:gd name="connsiteY4" fmla="*/ 11811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32460 w 826770"/>
              <a:gd name="connsiteY4" fmla="*/ 102870 h 263026"/>
              <a:gd name="connsiteX5" fmla="*/ 826770 w 826770"/>
              <a:gd name="connsiteY5" fmla="*/ 0 h 263026"/>
              <a:gd name="connsiteX0" fmla="*/ 0 w 850216"/>
              <a:gd name="connsiteY0" fmla="*/ 52377 h 263448"/>
              <a:gd name="connsiteX1" fmla="*/ 99646 w 850216"/>
              <a:gd name="connsiteY1" fmla="*/ 228600 h 263448"/>
              <a:gd name="connsiteX2" fmla="*/ 236806 w 850216"/>
              <a:gd name="connsiteY2" fmla="*/ 262890 h 263448"/>
              <a:gd name="connsiteX3" fmla="*/ 412066 w 850216"/>
              <a:gd name="connsiteY3" fmla="*/ 217170 h 263448"/>
              <a:gd name="connsiteX4" fmla="*/ 655906 w 850216"/>
              <a:gd name="connsiteY4" fmla="*/ 102870 h 263448"/>
              <a:gd name="connsiteX5" fmla="*/ 850216 w 850216"/>
              <a:gd name="connsiteY5" fmla="*/ 0 h 263448"/>
              <a:gd name="connsiteX0" fmla="*/ 0 w 850216"/>
              <a:gd name="connsiteY0" fmla="*/ 52377 h 263281"/>
              <a:gd name="connsiteX1" fmla="*/ 126441 w 850216"/>
              <a:gd name="connsiteY1" fmla="*/ 195105 h 263281"/>
              <a:gd name="connsiteX2" fmla="*/ 236806 w 850216"/>
              <a:gd name="connsiteY2" fmla="*/ 262890 h 263281"/>
              <a:gd name="connsiteX3" fmla="*/ 412066 w 850216"/>
              <a:gd name="connsiteY3" fmla="*/ 217170 h 263281"/>
              <a:gd name="connsiteX4" fmla="*/ 655906 w 850216"/>
              <a:gd name="connsiteY4" fmla="*/ 102870 h 263281"/>
              <a:gd name="connsiteX5" fmla="*/ 850216 w 850216"/>
              <a:gd name="connsiteY5" fmla="*/ 0 h 263281"/>
              <a:gd name="connsiteX0" fmla="*/ 0 w 850216"/>
              <a:gd name="connsiteY0" fmla="*/ 52377 h 250161"/>
              <a:gd name="connsiteX1" fmla="*/ 126441 w 850216"/>
              <a:gd name="connsiteY1" fmla="*/ 195105 h 250161"/>
              <a:gd name="connsiteX2" fmla="*/ 256902 w 850216"/>
              <a:gd name="connsiteY2" fmla="*/ 249492 h 250161"/>
              <a:gd name="connsiteX3" fmla="*/ 412066 w 850216"/>
              <a:gd name="connsiteY3" fmla="*/ 217170 h 250161"/>
              <a:gd name="connsiteX4" fmla="*/ 655906 w 850216"/>
              <a:gd name="connsiteY4" fmla="*/ 102870 h 250161"/>
              <a:gd name="connsiteX5" fmla="*/ 850216 w 850216"/>
              <a:gd name="connsiteY5" fmla="*/ 0 h 250161"/>
              <a:gd name="connsiteX0" fmla="*/ 0 w 850216"/>
              <a:gd name="connsiteY0" fmla="*/ 52377 h 251711"/>
              <a:gd name="connsiteX1" fmla="*/ 126441 w 850216"/>
              <a:gd name="connsiteY1" fmla="*/ 195105 h 251711"/>
              <a:gd name="connsiteX2" fmla="*/ 256902 w 850216"/>
              <a:gd name="connsiteY2" fmla="*/ 249492 h 251711"/>
              <a:gd name="connsiteX3" fmla="*/ 475705 w 850216"/>
              <a:gd name="connsiteY3" fmla="*/ 227219 h 251711"/>
              <a:gd name="connsiteX4" fmla="*/ 655906 w 850216"/>
              <a:gd name="connsiteY4" fmla="*/ 102870 h 251711"/>
              <a:gd name="connsiteX5" fmla="*/ 850216 w 850216"/>
              <a:gd name="connsiteY5" fmla="*/ 0 h 251711"/>
              <a:gd name="connsiteX0" fmla="*/ 0 w 850216"/>
              <a:gd name="connsiteY0" fmla="*/ 52377 h 251402"/>
              <a:gd name="connsiteX1" fmla="*/ 126441 w 850216"/>
              <a:gd name="connsiteY1" fmla="*/ 195105 h 251402"/>
              <a:gd name="connsiteX2" fmla="*/ 256902 w 850216"/>
              <a:gd name="connsiteY2" fmla="*/ 249492 h 251402"/>
              <a:gd name="connsiteX3" fmla="*/ 475705 w 850216"/>
              <a:gd name="connsiteY3" fmla="*/ 227219 h 251402"/>
              <a:gd name="connsiteX4" fmla="*/ 682702 w 850216"/>
              <a:gd name="connsiteY4" fmla="*/ 116268 h 251402"/>
              <a:gd name="connsiteX5" fmla="*/ 850216 w 850216"/>
              <a:gd name="connsiteY5" fmla="*/ 0 h 251402"/>
              <a:gd name="connsiteX0" fmla="*/ 0 w 940652"/>
              <a:gd name="connsiteY0" fmla="*/ 55726 h 254751"/>
              <a:gd name="connsiteX1" fmla="*/ 126441 w 940652"/>
              <a:gd name="connsiteY1" fmla="*/ 198454 h 254751"/>
              <a:gd name="connsiteX2" fmla="*/ 256902 w 940652"/>
              <a:gd name="connsiteY2" fmla="*/ 252841 h 254751"/>
              <a:gd name="connsiteX3" fmla="*/ 475705 w 940652"/>
              <a:gd name="connsiteY3" fmla="*/ 230568 h 254751"/>
              <a:gd name="connsiteX4" fmla="*/ 682702 w 940652"/>
              <a:gd name="connsiteY4" fmla="*/ 119617 h 254751"/>
              <a:gd name="connsiteX5" fmla="*/ 940652 w 940652"/>
              <a:gd name="connsiteY5" fmla="*/ 0 h 254751"/>
              <a:gd name="connsiteX0" fmla="*/ 0 w 940652"/>
              <a:gd name="connsiteY0" fmla="*/ 55726 h 254618"/>
              <a:gd name="connsiteX1" fmla="*/ 126441 w 940652"/>
              <a:gd name="connsiteY1" fmla="*/ 198454 h 254618"/>
              <a:gd name="connsiteX2" fmla="*/ 256902 w 940652"/>
              <a:gd name="connsiteY2" fmla="*/ 252841 h 254618"/>
              <a:gd name="connsiteX3" fmla="*/ 475705 w 940652"/>
              <a:gd name="connsiteY3" fmla="*/ 230568 h 254618"/>
              <a:gd name="connsiteX4" fmla="*/ 682702 w 940652"/>
              <a:gd name="connsiteY4" fmla="*/ 126316 h 254618"/>
              <a:gd name="connsiteX5" fmla="*/ 940652 w 940652"/>
              <a:gd name="connsiteY5" fmla="*/ 0 h 25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652" h="254618">
                <a:moveTo>
                  <a:pt x="0" y="55726"/>
                </a:moveTo>
                <a:cubicBezTo>
                  <a:pt x="20320" y="83031"/>
                  <a:pt x="83624" y="165602"/>
                  <a:pt x="126441" y="198454"/>
                </a:cubicBezTo>
                <a:cubicBezTo>
                  <a:pt x="169258" y="231306"/>
                  <a:pt x="198691" y="247489"/>
                  <a:pt x="256902" y="252841"/>
                </a:cubicBezTo>
                <a:cubicBezTo>
                  <a:pt x="315113" y="258193"/>
                  <a:pt x="404738" y="251655"/>
                  <a:pt x="475705" y="230568"/>
                </a:cubicBezTo>
                <a:cubicBezTo>
                  <a:pt x="546672" y="209481"/>
                  <a:pt x="609677" y="162511"/>
                  <a:pt x="682702" y="126316"/>
                </a:cubicBezTo>
                <a:cubicBezTo>
                  <a:pt x="755727" y="90121"/>
                  <a:pt x="874294" y="29527"/>
                  <a:pt x="940652" y="0"/>
                </a:cubicBez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8" name="任意多边形 157"/>
          <p:cNvSpPr/>
          <p:nvPr/>
        </p:nvSpPr>
        <p:spPr bwMode="auto">
          <a:xfrm>
            <a:off x="5133842" y="1932263"/>
            <a:ext cx="1888505" cy="560738"/>
          </a:xfrm>
          <a:custGeom>
            <a:avLst/>
            <a:gdLst>
              <a:gd name="connsiteX0" fmla="*/ 0 w 1558290"/>
              <a:gd name="connsiteY0" fmla="*/ 335280 h 536052"/>
              <a:gd name="connsiteX1" fmla="*/ 110490 w 1558290"/>
              <a:gd name="connsiteY1" fmla="*/ 453390 h 536052"/>
              <a:gd name="connsiteX2" fmla="*/ 285750 w 1558290"/>
              <a:gd name="connsiteY2" fmla="*/ 533400 h 536052"/>
              <a:gd name="connsiteX3" fmla="*/ 510540 w 1558290"/>
              <a:gd name="connsiteY3" fmla="*/ 506730 h 536052"/>
              <a:gd name="connsiteX4" fmla="*/ 811530 w 1558290"/>
              <a:gd name="connsiteY4" fmla="*/ 407670 h 536052"/>
              <a:gd name="connsiteX5" fmla="*/ 1055370 w 1558290"/>
              <a:gd name="connsiteY5" fmla="*/ 281940 h 536052"/>
              <a:gd name="connsiteX6" fmla="*/ 1299210 w 1558290"/>
              <a:gd name="connsiteY6" fmla="*/ 156210 h 536052"/>
              <a:gd name="connsiteX7" fmla="*/ 1558290 w 1558290"/>
              <a:gd name="connsiteY7" fmla="*/ 0 h 536052"/>
              <a:gd name="connsiteX0" fmla="*/ 0 w 1562100"/>
              <a:gd name="connsiteY0" fmla="*/ 337185 h 536052"/>
              <a:gd name="connsiteX1" fmla="*/ 114300 w 1562100"/>
              <a:gd name="connsiteY1" fmla="*/ 453390 h 536052"/>
              <a:gd name="connsiteX2" fmla="*/ 289560 w 1562100"/>
              <a:gd name="connsiteY2" fmla="*/ 533400 h 536052"/>
              <a:gd name="connsiteX3" fmla="*/ 514350 w 1562100"/>
              <a:gd name="connsiteY3" fmla="*/ 506730 h 536052"/>
              <a:gd name="connsiteX4" fmla="*/ 815340 w 1562100"/>
              <a:gd name="connsiteY4" fmla="*/ 407670 h 536052"/>
              <a:gd name="connsiteX5" fmla="*/ 1059180 w 1562100"/>
              <a:gd name="connsiteY5" fmla="*/ 281940 h 536052"/>
              <a:gd name="connsiteX6" fmla="*/ 1303020 w 1562100"/>
              <a:gd name="connsiteY6" fmla="*/ 156210 h 536052"/>
              <a:gd name="connsiteX7" fmla="*/ 1562100 w 1562100"/>
              <a:gd name="connsiteY7" fmla="*/ 0 h 536052"/>
              <a:gd name="connsiteX0" fmla="*/ 0 w 1612342"/>
              <a:gd name="connsiteY0" fmla="*/ 112772 h 536052"/>
              <a:gd name="connsiteX1" fmla="*/ 164542 w 1612342"/>
              <a:gd name="connsiteY1" fmla="*/ 453390 h 536052"/>
              <a:gd name="connsiteX2" fmla="*/ 339802 w 1612342"/>
              <a:gd name="connsiteY2" fmla="*/ 533400 h 536052"/>
              <a:gd name="connsiteX3" fmla="*/ 564592 w 1612342"/>
              <a:gd name="connsiteY3" fmla="*/ 506730 h 536052"/>
              <a:gd name="connsiteX4" fmla="*/ 865582 w 1612342"/>
              <a:gd name="connsiteY4" fmla="*/ 407670 h 536052"/>
              <a:gd name="connsiteX5" fmla="*/ 1109422 w 1612342"/>
              <a:gd name="connsiteY5" fmla="*/ 281940 h 536052"/>
              <a:gd name="connsiteX6" fmla="*/ 1353262 w 1612342"/>
              <a:gd name="connsiteY6" fmla="*/ 156210 h 536052"/>
              <a:gd name="connsiteX7" fmla="*/ 1612342 w 1612342"/>
              <a:gd name="connsiteY7" fmla="*/ 0 h 536052"/>
              <a:gd name="connsiteX0" fmla="*/ 0 w 1612342"/>
              <a:gd name="connsiteY0" fmla="*/ 112772 h 544475"/>
              <a:gd name="connsiteX1" fmla="*/ 141096 w 1612342"/>
              <a:gd name="connsiteY1" fmla="*/ 332810 h 544475"/>
              <a:gd name="connsiteX2" fmla="*/ 339802 w 1612342"/>
              <a:gd name="connsiteY2" fmla="*/ 533400 h 544475"/>
              <a:gd name="connsiteX3" fmla="*/ 564592 w 1612342"/>
              <a:gd name="connsiteY3" fmla="*/ 506730 h 544475"/>
              <a:gd name="connsiteX4" fmla="*/ 865582 w 1612342"/>
              <a:gd name="connsiteY4" fmla="*/ 407670 h 544475"/>
              <a:gd name="connsiteX5" fmla="*/ 1109422 w 1612342"/>
              <a:gd name="connsiteY5" fmla="*/ 281940 h 544475"/>
              <a:gd name="connsiteX6" fmla="*/ 1353262 w 1612342"/>
              <a:gd name="connsiteY6" fmla="*/ 156210 h 544475"/>
              <a:gd name="connsiteX7" fmla="*/ 1612342 w 1612342"/>
              <a:gd name="connsiteY7" fmla="*/ 0 h 544475"/>
              <a:gd name="connsiteX0" fmla="*/ 0 w 1612342"/>
              <a:gd name="connsiteY0" fmla="*/ 112772 h 519953"/>
              <a:gd name="connsiteX1" fmla="*/ 141096 w 1612342"/>
              <a:gd name="connsiteY1" fmla="*/ 332810 h 519953"/>
              <a:gd name="connsiteX2" fmla="*/ 349850 w 1612342"/>
              <a:gd name="connsiteY2" fmla="*/ 499906 h 519953"/>
              <a:gd name="connsiteX3" fmla="*/ 564592 w 1612342"/>
              <a:gd name="connsiteY3" fmla="*/ 506730 h 519953"/>
              <a:gd name="connsiteX4" fmla="*/ 865582 w 1612342"/>
              <a:gd name="connsiteY4" fmla="*/ 407670 h 519953"/>
              <a:gd name="connsiteX5" fmla="*/ 1109422 w 1612342"/>
              <a:gd name="connsiteY5" fmla="*/ 281940 h 519953"/>
              <a:gd name="connsiteX6" fmla="*/ 1353262 w 1612342"/>
              <a:gd name="connsiteY6" fmla="*/ 156210 h 519953"/>
              <a:gd name="connsiteX7" fmla="*/ 1612342 w 1612342"/>
              <a:gd name="connsiteY7" fmla="*/ 0 h 519953"/>
              <a:gd name="connsiteX0" fmla="*/ 0 w 1612342"/>
              <a:gd name="connsiteY0" fmla="*/ 112772 h 557546"/>
              <a:gd name="connsiteX1" fmla="*/ 141096 w 1612342"/>
              <a:gd name="connsiteY1" fmla="*/ 332810 h 557546"/>
              <a:gd name="connsiteX2" fmla="*/ 349850 w 1612342"/>
              <a:gd name="connsiteY2" fmla="*/ 499906 h 557546"/>
              <a:gd name="connsiteX3" fmla="*/ 608135 w 1612342"/>
              <a:gd name="connsiteY3" fmla="*/ 553623 h 557546"/>
              <a:gd name="connsiteX4" fmla="*/ 865582 w 1612342"/>
              <a:gd name="connsiteY4" fmla="*/ 407670 h 557546"/>
              <a:gd name="connsiteX5" fmla="*/ 1109422 w 1612342"/>
              <a:gd name="connsiteY5" fmla="*/ 281940 h 557546"/>
              <a:gd name="connsiteX6" fmla="*/ 1353262 w 1612342"/>
              <a:gd name="connsiteY6" fmla="*/ 156210 h 557546"/>
              <a:gd name="connsiteX7" fmla="*/ 1612342 w 1612342"/>
              <a:gd name="connsiteY7" fmla="*/ 0 h 557546"/>
              <a:gd name="connsiteX0" fmla="*/ 0 w 1612342"/>
              <a:gd name="connsiteY0" fmla="*/ 112772 h 554039"/>
              <a:gd name="connsiteX1" fmla="*/ 141096 w 1612342"/>
              <a:gd name="connsiteY1" fmla="*/ 332810 h 554039"/>
              <a:gd name="connsiteX2" fmla="*/ 349850 w 1612342"/>
              <a:gd name="connsiteY2" fmla="*/ 499906 h 554039"/>
              <a:gd name="connsiteX3" fmla="*/ 608135 w 1612342"/>
              <a:gd name="connsiteY3" fmla="*/ 553623 h 554039"/>
              <a:gd name="connsiteX4" fmla="*/ 992861 w 1612342"/>
              <a:gd name="connsiteY4" fmla="*/ 478008 h 554039"/>
              <a:gd name="connsiteX5" fmla="*/ 1109422 w 1612342"/>
              <a:gd name="connsiteY5" fmla="*/ 281940 h 554039"/>
              <a:gd name="connsiteX6" fmla="*/ 1353262 w 1612342"/>
              <a:gd name="connsiteY6" fmla="*/ 156210 h 554039"/>
              <a:gd name="connsiteX7" fmla="*/ 1612342 w 1612342"/>
              <a:gd name="connsiteY7" fmla="*/ 0 h 554039"/>
              <a:gd name="connsiteX0" fmla="*/ 0 w 1612342"/>
              <a:gd name="connsiteY0" fmla="*/ 112772 h 554039"/>
              <a:gd name="connsiteX1" fmla="*/ 141096 w 1612342"/>
              <a:gd name="connsiteY1" fmla="*/ 332810 h 554039"/>
              <a:gd name="connsiteX2" fmla="*/ 349850 w 1612342"/>
              <a:gd name="connsiteY2" fmla="*/ 499906 h 554039"/>
              <a:gd name="connsiteX3" fmla="*/ 608135 w 1612342"/>
              <a:gd name="connsiteY3" fmla="*/ 553623 h 554039"/>
              <a:gd name="connsiteX4" fmla="*/ 992861 w 1612342"/>
              <a:gd name="connsiteY4" fmla="*/ 478008 h 554039"/>
              <a:gd name="connsiteX5" fmla="*/ 1276895 w 1612342"/>
              <a:gd name="connsiteY5" fmla="*/ 325483 h 554039"/>
              <a:gd name="connsiteX6" fmla="*/ 1353262 w 1612342"/>
              <a:gd name="connsiteY6" fmla="*/ 156210 h 554039"/>
              <a:gd name="connsiteX7" fmla="*/ 1612342 w 1612342"/>
              <a:gd name="connsiteY7" fmla="*/ 0 h 554039"/>
              <a:gd name="connsiteX0" fmla="*/ 0 w 1612342"/>
              <a:gd name="connsiteY0" fmla="*/ 112772 h 554039"/>
              <a:gd name="connsiteX1" fmla="*/ 141096 w 1612342"/>
              <a:gd name="connsiteY1" fmla="*/ 332810 h 554039"/>
              <a:gd name="connsiteX2" fmla="*/ 349850 w 1612342"/>
              <a:gd name="connsiteY2" fmla="*/ 499906 h 554039"/>
              <a:gd name="connsiteX3" fmla="*/ 608135 w 1612342"/>
              <a:gd name="connsiteY3" fmla="*/ 553623 h 554039"/>
              <a:gd name="connsiteX4" fmla="*/ 992861 w 1612342"/>
              <a:gd name="connsiteY4" fmla="*/ 478008 h 554039"/>
              <a:gd name="connsiteX5" fmla="*/ 1276895 w 1612342"/>
              <a:gd name="connsiteY5" fmla="*/ 325483 h 554039"/>
              <a:gd name="connsiteX6" fmla="*/ 1534132 w 1612342"/>
              <a:gd name="connsiteY6" fmla="*/ 183005 h 554039"/>
              <a:gd name="connsiteX7" fmla="*/ 1612342 w 1612342"/>
              <a:gd name="connsiteY7" fmla="*/ 0 h 554039"/>
              <a:gd name="connsiteX0" fmla="*/ 0 w 1903745"/>
              <a:gd name="connsiteY0" fmla="*/ 119471 h 560738"/>
              <a:gd name="connsiteX1" fmla="*/ 141096 w 1903745"/>
              <a:gd name="connsiteY1" fmla="*/ 339509 h 560738"/>
              <a:gd name="connsiteX2" fmla="*/ 349850 w 1903745"/>
              <a:gd name="connsiteY2" fmla="*/ 506605 h 560738"/>
              <a:gd name="connsiteX3" fmla="*/ 608135 w 1903745"/>
              <a:gd name="connsiteY3" fmla="*/ 560322 h 560738"/>
              <a:gd name="connsiteX4" fmla="*/ 992861 w 1903745"/>
              <a:gd name="connsiteY4" fmla="*/ 484707 h 560738"/>
              <a:gd name="connsiteX5" fmla="*/ 1276895 w 1903745"/>
              <a:gd name="connsiteY5" fmla="*/ 332182 h 560738"/>
              <a:gd name="connsiteX6" fmla="*/ 1534132 w 1903745"/>
              <a:gd name="connsiteY6" fmla="*/ 189704 h 560738"/>
              <a:gd name="connsiteX7" fmla="*/ 1903745 w 1903745"/>
              <a:gd name="connsiteY7" fmla="*/ 0 h 560738"/>
              <a:gd name="connsiteX0" fmla="*/ 0 w 1903745"/>
              <a:gd name="connsiteY0" fmla="*/ 119471 h 560738"/>
              <a:gd name="connsiteX1" fmla="*/ 141096 w 1903745"/>
              <a:gd name="connsiteY1" fmla="*/ 339509 h 560738"/>
              <a:gd name="connsiteX2" fmla="*/ 349850 w 1903745"/>
              <a:gd name="connsiteY2" fmla="*/ 506605 h 560738"/>
              <a:gd name="connsiteX3" fmla="*/ 608135 w 1903745"/>
              <a:gd name="connsiteY3" fmla="*/ 560322 h 560738"/>
              <a:gd name="connsiteX4" fmla="*/ 992861 w 1903745"/>
              <a:gd name="connsiteY4" fmla="*/ 484707 h 560738"/>
              <a:gd name="connsiteX5" fmla="*/ 1276895 w 1903745"/>
              <a:gd name="connsiteY5" fmla="*/ 332182 h 560738"/>
              <a:gd name="connsiteX6" fmla="*/ 1534132 w 1903745"/>
              <a:gd name="connsiteY6" fmla="*/ 189704 h 560738"/>
              <a:gd name="connsiteX7" fmla="*/ 1903745 w 1903745"/>
              <a:gd name="connsiteY7" fmla="*/ 0 h 560738"/>
              <a:gd name="connsiteX0" fmla="*/ 0 w 1888505"/>
              <a:gd name="connsiteY0" fmla="*/ 137251 h 560738"/>
              <a:gd name="connsiteX1" fmla="*/ 125856 w 1888505"/>
              <a:gd name="connsiteY1" fmla="*/ 339509 h 560738"/>
              <a:gd name="connsiteX2" fmla="*/ 334610 w 1888505"/>
              <a:gd name="connsiteY2" fmla="*/ 506605 h 560738"/>
              <a:gd name="connsiteX3" fmla="*/ 592895 w 1888505"/>
              <a:gd name="connsiteY3" fmla="*/ 560322 h 560738"/>
              <a:gd name="connsiteX4" fmla="*/ 977621 w 1888505"/>
              <a:gd name="connsiteY4" fmla="*/ 484707 h 560738"/>
              <a:gd name="connsiteX5" fmla="*/ 1261655 w 1888505"/>
              <a:gd name="connsiteY5" fmla="*/ 332182 h 560738"/>
              <a:gd name="connsiteX6" fmla="*/ 1518892 w 1888505"/>
              <a:gd name="connsiteY6" fmla="*/ 189704 h 560738"/>
              <a:gd name="connsiteX7" fmla="*/ 1888505 w 1888505"/>
              <a:gd name="connsiteY7" fmla="*/ 0 h 560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8505" h="560738">
                <a:moveTo>
                  <a:pt x="0" y="137251"/>
                </a:moveTo>
                <a:cubicBezTo>
                  <a:pt x="31432" y="179796"/>
                  <a:pt x="70088" y="277950"/>
                  <a:pt x="125856" y="339509"/>
                </a:cubicBezTo>
                <a:cubicBezTo>
                  <a:pt x="181624" y="401068"/>
                  <a:pt x="256770" y="469803"/>
                  <a:pt x="334610" y="506605"/>
                </a:cubicBezTo>
                <a:cubicBezTo>
                  <a:pt x="412450" y="543407"/>
                  <a:pt x="485727" y="563972"/>
                  <a:pt x="592895" y="560322"/>
                </a:cubicBezTo>
                <a:cubicBezTo>
                  <a:pt x="700063" y="556672"/>
                  <a:pt x="866161" y="522730"/>
                  <a:pt x="977621" y="484707"/>
                </a:cubicBezTo>
                <a:cubicBezTo>
                  <a:pt x="1089081" y="446684"/>
                  <a:pt x="1171443" y="381349"/>
                  <a:pt x="1261655" y="332182"/>
                </a:cubicBezTo>
                <a:lnTo>
                  <a:pt x="1518892" y="189704"/>
                </a:lnTo>
                <a:cubicBezTo>
                  <a:pt x="1602712" y="142714"/>
                  <a:pt x="1800875" y="54610"/>
                  <a:pt x="1888505" y="0"/>
                </a:cubicBez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9" name="任意多边形 158"/>
          <p:cNvSpPr/>
          <p:nvPr/>
        </p:nvSpPr>
        <p:spPr bwMode="auto">
          <a:xfrm>
            <a:off x="5028195" y="1928453"/>
            <a:ext cx="2824772" cy="886412"/>
          </a:xfrm>
          <a:custGeom>
            <a:avLst/>
            <a:gdLst>
              <a:gd name="connsiteX0" fmla="*/ 0 w 2381250"/>
              <a:gd name="connsiteY0" fmla="*/ 525780 h 783784"/>
              <a:gd name="connsiteX1" fmla="*/ 140970 w 2381250"/>
              <a:gd name="connsiteY1" fmla="*/ 693420 h 783784"/>
              <a:gd name="connsiteX2" fmla="*/ 369570 w 2381250"/>
              <a:gd name="connsiteY2" fmla="*/ 777240 h 783784"/>
              <a:gd name="connsiteX3" fmla="*/ 735330 w 2381250"/>
              <a:gd name="connsiteY3" fmla="*/ 765810 h 783784"/>
              <a:gd name="connsiteX4" fmla="*/ 1093470 w 2381250"/>
              <a:gd name="connsiteY4" fmla="*/ 666750 h 783784"/>
              <a:gd name="connsiteX5" fmla="*/ 1512570 w 2381250"/>
              <a:gd name="connsiteY5" fmla="*/ 461010 h 783784"/>
              <a:gd name="connsiteX6" fmla="*/ 1905000 w 2381250"/>
              <a:gd name="connsiteY6" fmla="*/ 247650 h 783784"/>
              <a:gd name="connsiteX7" fmla="*/ 2381250 w 2381250"/>
              <a:gd name="connsiteY7" fmla="*/ 0 h 783784"/>
              <a:gd name="connsiteX0" fmla="*/ 0 w 2421443"/>
              <a:gd name="connsiteY0" fmla="*/ 220980 h 783784"/>
              <a:gd name="connsiteX1" fmla="*/ 181163 w 2421443"/>
              <a:gd name="connsiteY1" fmla="*/ 693420 h 783784"/>
              <a:gd name="connsiteX2" fmla="*/ 409763 w 2421443"/>
              <a:gd name="connsiteY2" fmla="*/ 777240 h 783784"/>
              <a:gd name="connsiteX3" fmla="*/ 775523 w 2421443"/>
              <a:gd name="connsiteY3" fmla="*/ 765810 h 783784"/>
              <a:gd name="connsiteX4" fmla="*/ 1133663 w 2421443"/>
              <a:gd name="connsiteY4" fmla="*/ 666750 h 783784"/>
              <a:gd name="connsiteX5" fmla="*/ 1552763 w 2421443"/>
              <a:gd name="connsiteY5" fmla="*/ 461010 h 783784"/>
              <a:gd name="connsiteX6" fmla="*/ 1945193 w 2421443"/>
              <a:gd name="connsiteY6" fmla="*/ 247650 h 783784"/>
              <a:gd name="connsiteX7" fmla="*/ 2421443 w 2421443"/>
              <a:gd name="connsiteY7" fmla="*/ 0 h 783784"/>
              <a:gd name="connsiteX0" fmla="*/ 0 w 2448238"/>
              <a:gd name="connsiteY0" fmla="*/ 150642 h 783784"/>
              <a:gd name="connsiteX1" fmla="*/ 207958 w 2448238"/>
              <a:gd name="connsiteY1" fmla="*/ 693420 h 783784"/>
              <a:gd name="connsiteX2" fmla="*/ 436558 w 2448238"/>
              <a:gd name="connsiteY2" fmla="*/ 777240 h 783784"/>
              <a:gd name="connsiteX3" fmla="*/ 802318 w 2448238"/>
              <a:gd name="connsiteY3" fmla="*/ 765810 h 783784"/>
              <a:gd name="connsiteX4" fmla="*/ 1160458 w 2448238"/>
              <a:gd name="connsiteY4" fmla="*/ 666750 h 783784"/>
              <a:gd name="connsiteX5" fmla="*/ 1579558 w 2448238"/>
              <a:gd name="connsiteY5" fmla="*/ 461010 h 783784"/>
              <a:gd name="connsiteX6" fmla="*/ 1971988 w 2448238"/>
              <a:gd name="connsiteY6" fmla="*/ 247650 h 783784"/>
              <a:gd name="connsiteX7" fmla="*/ 2448238 w 2448238"/>
              <a:gd name="connsiteY7" fmla="*/ 0 h 783784"/>
              <a:gd name="connsiteX0" fmla="*/ 0 w 2448238"/>
              <a:gd name="connsiteY0" fmla="*/ 150642 h 794173"/>
              <a:gd name="connsiteX1" fmla="*/ 204609 w 2448238"/>
              <a:gd name="connsiteY1" fmla="*/ 552743 h 794173"/>
              <a:gd name="connsiteX2" fmla="*/ 436558 w 2448238"/>
              <a:gd name="connsiteY2" fmla="*/ 777240 h 794173"/>
              <a:gd name="connsiteX3" fmla="*/ 802318 w 2448238"/>
              <a:gd name="connsiteY3" fmla="*/ 765810 h 794173"/>
              <a:gd name="connsiteX4" fmla="*/ 1160458 w 2448238"/>
              <a:gd name="connsiteY4" fmla="*/ 666750 h 794173"/>
              <a:gd name="connsiteX5" fmla="*/ 1579558 w 2448238"/>
              <a:gd name="connsiteY5" fmla="*/ 461010 h 794173"/>
              <a:gd name="connsiteX6" fmla="*/ 1971988 w 2448238"/>
              <a:gd name="connsiteY6" fmla="*/ 247650 h 794173"/>
              <a:gd name="connsiteX7" fmla="*/ 2448238 w 2448238"/>
              <a:gd name="connsiteY7" fmla="*/ 0 h 794173"/>
              <a:gd name="connsiteX0" fmla="*/ 0 w 2448238"/>
              <a:gd name="connsiteY0" fmla="*/ 150642 h 796757"/>
              <a:gd name="connsiteX1" fmla="*/ 204609 w 2448238"/>
              <a:gd name="connsiteY1" fmla="*/ 552743 h 796757"/>
              <a:gd name="connsiteX2" fmla="*/ 470052 w 2448238"/>
              <a:gd name="connsiteY2" fmla="*/ 780589 h 796757"/>
              <a:gd name="connsiteX3" fmla="*/ 802318 w 2448238"/>
              <a:gd name="connsiteY3" fmla="*/ 765810 h 796757"/>
              <a:gd name="connsiteX4" fmla="*/ 1160458 w 2448238"/>
              <a:gd name="connsiteY4" fmla="*/ 666750 h 796757"/>
              <a:gd name="connsiteX5" fmla="*/ 1579558 w 2448238"/>
              <a:gd name="connsiteY5" fmla="*/ 461010 h 796757"/>
              <a:gd name="connsiteX6" fmla="*/ 1971988 w 2448238"/>
              <a:gd name="connsiteY6" fmla="*/ 247650 h 796757"/>
              <a:gd name="connsiteX7" fmla="*/ 2448238 w 2448238"/>
              <a:gd name="connsiteY7" fmla="*/ 0 h 796757"/>
              <a:gd name="connsiteX0" fmla="*/ 0 w 2448238"/>
              <a:gd name="connsiteY0" fmla="*/ 150642 h 883116"/>
              <a:gd name="connsiteX1" fmla="*/ 204609 w 2448238"/>
              <a:gd name="connsiteY1" fmla="*/ 552743 h 883116"/>
              <a:gd name="connsiteX2" fmla="*/ 470052 w 2448238"/>
              <a:gd name="connsiteY2" fmla="*/ 780589 h 883116"/>
              <a:gd name="connsiteX3" fmla="*/ 909500 w 2448238"/>
              <a:gd name="connsiteY3" fmla="*/ 879692 h 883116"/>
              <a:gd name="connsiteX4" fmla="*/ 1160458 w 2448238"/>
              <a:gd name="connsiteY4" fmla="*/ 666750 h 883116"/>
              <a:gd name="connsiteX5" fmla="*/ 1579558 w 2448238"/>
              <a:gd name="connsiteY5" fmla="*/ 461010 h 883116"/>
              <a:gd name="connsiteX6" fmla="*/ 1971988 w 2448238"/>
              <a:gd name="connsiteY6" fmla="*/ 247650 h 883116"/>
              <a:gd name="connsiteX7" fmla="*/ 2448238 w 2448238"/>
              <a:gd name="connsiteY7" fmla="*/ 0 h 883116"/>
              <a:gd name="connsiteX0" fmla="*/ 0 w 2448238"/>
              <a:gd name="connsiteY0" fmla="*/ 150642 h 879729"/>
              <a:gd name="connsiteX1" fmla="*/ 204609 w 2448238"/>
              <a:gd name="connsiteY1" fmla="*/ 552743 h 879729"/>
              <a:gd name="connsiteX2" fmla="*/ 470052 w 2448238"/>
              <a:gd name="connsiteY2" fmla="*/ 780589 h 879729"/>
              <a:gd name="connsiteX3" fmla="*/ 909500 w 2448238"/>
              <a:gd name="connsiteY3" fmla="*/ 879692 h 879729"/>
              <a:gd name="connsiteX4" fmla="*/ 1368124 w 2448238"/>
              <a:gd name="connsiteY4" fmla="*/ 787331 h 879729"/>
              <a:gd name="connsiteX5" fmla="*/ 1579558 w 2448238"/>
              <a:gd name="connsiteY5" fmla="*/ 461010 h 879729"/>
              <a:gd name="connsiteX6" fmla="*/ 1971988 w 2448238"/>
              <a:gd name="connsiteY6" fmla="*/ 247650 h 879729"/>
              <a:gd name="connsiteX7" fmla="*/ 2448238 w 2448238"/>
              <a:gd name="connsiteY7" fmla="*/ 0 h 879729"/>
              <a:gd name="connsiteX0" fmla="*/ 0 w 2448238"/>
              <a:gd name="connsiteY0" fmla="*/ 150642 h 879713"/>
              <a:gd name="connsiteX1" fmla="*/ 204609 w 2448238"/>
              <a:gd name="connsiteY1" fmla="*/ 552743 h 879713"/>
              <a:gd name="connsiteX2" fmla="*/ 470052 w 2448238"/>
              <a:gd name="connsiteY2" fmla="*/ 780589 h 879713"/>
              <a:gd name="connsiteX3" fmla="*/ 909500 w 2448238"/>
              <a:gd name="connsiteY3" fmla="*/ 879692 h 879713"/>
              <a:gd name="connsiteX4" fmla="*/ 1368124 w 2448238"/>
              <a:gd name="connsiteY4" fmla="*/ 787331 h 879713"/>
              <a:gd name="connsiteX5" fmla="*/ 1770477 w 2448238"/>
              <a:gd name="connsiteY5" fmla="*/ 581590 h 879713"/>
              <a:gd name="connsiteX6" fmla="*/ 1971988 w 2448238"/>
              <a:gd name="connsiteY6" fmla="*/ 247650 h 879713"/>
              <a:gd name="connsiteX7" fmla="*/ 2448238 w 2448238"/>
              <a:gd name="connsiteY7" fmla="*/ 0 h 879713"/>
              <a:gd name="connsiteX0" fmla="*/ 0 w 2448238"/>
              <a:gd name="connsiteY0" fmla="*/ 150642 h 879713"/>
              <a:gd name="connsiteX1" fmla="*/ 204609 w 2448238"/>
              <a:gd name="connsiteY1" fmla="*/ 552743 h 879713"/>
              <a:gd name="connsiteX2" fmla="*/ 470052 w 2448238"/>
              <a:gd name="connsiteY2" fmla="*/ 780589 h 879713"/>
              <a:gd name="connsiteX3" fmla="*/ 909500 w 2448238"/>
              <a:gd name="connsiteY3" fmla="*/ 879692 h 879713"/>
              <a:gd name="connsiteX4" fmla="*/ 1368124 w 2448238"/>
              <a:gd name="connsiteY4" fmla="*/ 787331 h 879713"/>
              <a:gd name="connsiteX5" fmla="*/ 1770477 w 2448238"/>
              <a:gd name="connsiteY5" fmla="*/ 581590 h 879713"/>
              <a:gd name="connsiteX6" fmla="*/ 2166256 w 2448238"/>
              <a:gd name="connsiteY6" fmla="*/ 358182 h 879713"/>
              <a:gd name="connsiteX7" fmla="*/ 2448238 w 2448238"/>
              <a:gd name="connsiteY7" fmla="*/ 0 h 879713"/>
              <a:gd name="connsiteX0" fmla="*/ 0 w 2850172"/>
              <a:gd name="connsiteY0" fmla="*/ 157341 h 886412"/>
              <a:gd name="connsiteX1" fmla="*/ 204609 w 2850172"/>
              <a:gd name="connsiteY1" fmla="*/ 559442 h 886412"/>
              <a:gd name="connsiteX2" fmla="*/ 470052 w 2850172"/>
              <a:gd name="connsiteY2" fmla="*/ 787288 h 886412"/>
              <a:gd name="connsiteX3" fmla="*/ 909500 w 2850172"/>
              <a:gd name="connsiteY3" fmla="*/ 886391 h 886412"/>
              <a:gd name="connsiteX4" fmla="*/ 1368124 w 2850172"/>
              <a:gd name="connsiteY4" fmla="*/ 794030 h 886412"/>
              <a:gd name="connsiteX5" fmla="*/ 1770477 w 2850172"/>
              <a:gd name="connsiteY5" fmla="*/ 588289 h 886412"/>
              <a:gd name="connsiteX6" fmla="*/ 2166256 w 2850172"/>
              <a:gd name="connsiteY6" fmla="*/ 364881 h 886412"/>
              <a:gd name="connsiteX7" fmla="*/ 2850172 w 2850172"/>
              <a:gd name="connsiteY7" fmla="*/ 0 h 886412"/>
              <a:gd name="connsiteX0" fmla="*/ 0 w 2824772"/>
              <a:gd name="connsiteY0" fmla="*/ 208141 h 886412"/>
              <a:gd name="connsiteX1" fmla="*/ 179209 w 2824772"/>
              <a:gd name="connsiteY1" fmla="*/ 559442 h 886412"/>
              <a:gd name="connsiteX2" fmla="*/ 444652 w 2824772"/>
              <a:gd name="connsiteY2" fmla="*/ 787288 h 886412"/>
              <a:gd name="connsiteX3" fmla="*/ 884100 w 2824772"/>
              <a:gd name="connsiteY3" fmla="*/ 886391 h 886412"/>
              <a:gd name="connsiteX4" fmla="*/ 1342724 w 2824772"/>
              <a:gd name="connsiteY4" fmla="*/ 794030 h 886412"/>
              <a:gd name="connsiteX5" fmla="*/ 1745077 w 2824772"/>
              <a:gd name="connsiteY5" fmla="*/ 588289 h 886412"/>
              <a:gd name="connsiteX6" fmla="*/ 2140856 w 2824772"/>
              <a:gd name="connsiteY6" fmla="*/ 364881 h 886412"/>
              <a:gd name="connsiteX7" fmla="*/ 2824772 w 2824772"/>
              <a:gd name="connsiteY7" fmla="*/ 0 h 88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4772" h="886412">
                <a:moveTo>
                  <a:pt x="0" y="208141"/>
                </a:moveTo>
                <a:cubicBezTo>
                  <a:pt x="39687" y="271006"/>
                  <a:pt x="105100" y="462918"/>
                  <a:pt x="179209" y="559442"/>
                </a:cubicBezTo>
                <a:cubicBezTo>
                  <a:pt x="253318" y="655966"/>
                  <a:pt x="327170" y="732797"/>
                  <a:pt x="444652" y="787288"/>
                </a:cubicBezTo>
                <a:cubicBezTo>
                  <a:pt x="562134" y="841780"/>
                  <a:pt x="734421" y="885267"/>
                  <a:pt x="884100" y="886391"/>
                </a:cubicBezTo>
                <a:cubicBezTo>
                  <a:pt x="1033779" y="887515"/>
                  <a:pt x="1199228" y="843714"/>
                  <a:pt x="1342724" y="794030"/>
                </a:cubicBezTo>
                <a:cubicBezTo>
                  <a:pt x="1486220" y="744346"/>
                  <a:pt x="1612055" y="659814"/>
                  <a:pt x="1745077" y="588289"/>
                </a:cubicBezTo>
                <a:cubicBezTo>
                  <a:pt x="1878099" y="516764"/>
                  <a:pt x="1996076" y="441716"/>
                  <a:pt x="2140856" y="364881"/>
                </a:cubicBezTo>
                <a:lnTo>
                  <a:pt x="2824772" y="0"/>
                </a:ln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60" name="直接连接符 159"/>
          <p:cNvCxnSpPr/>
          <p:nvPr/>
        </p:nvCxnSpPr>
        <p:spPr bwMode="auto">
          <a:xfrm flipH="1">
            <a:off x="5325171" y="1932612"/>
            <a:ext cx="14885" cy="921789"/>
          </a:xfrm>
          <a:prstGeom prst="line">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直接连接符 160"/>
          <p:cNvCxnSpPr/>
          <p:nvPr/>
        </p:nvCxnSpPr>
        <p:spPr bwMode="auto">
          <a:xfrm>
            <a:off x="5340294" y="1932890"/>
            <a:ext cx="768648" cy="1176069"/>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直接连接符 161"/>
          <p:cNvCxnSpPr/>
          <p:nvPr/>
        </p:nvCxnSpPr>
        <p:spPr bwMode="auto">
          <a:xfrm>
            <a:off x="6196028" y="1929953"/>
            <a:ext cx="1179006" cy="689987"/>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直接连接符 162"/>
          <p:cNvCxnSpPr/>
          <p:nvPr/>
        </p:nvCxnSpPr>
        <p:spPr bwMode="auto">
          <a:xfrm>
            <a:off x="6995299" y="1947790"/>
            <a:ext cx="758223" cy="434339"/>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直接连接符 163"/>
          <p:cNvCxnSpPr/>
          <p:nvPr/>
        </p:nvCxnSpPr>
        <p:spPr bwMode="auto">
          <a:xfrm>
            <a:off x="7758614" y="1932697"/>
            <a:ext cx="396842" cy="198223"/>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直接连接符 164"/>
          <p:cNvCxnSpPr/>
          <p:nvPr/>
        </p:nvCxnSpPr>
        <p:spPr bwMode="auto">
          <a:xfrm flipH="1">
            <a:off x="5051506" y="1931342"/>
            <a:ext cx="288797" cy="615580"/>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0" name="Text Box 21"/>
          <p:cNvSpPr txBox="1">
            <a:spLocks noChangeArrowheads="1"/>
          </p:cNvSpPr>
          <p:nvPr/>
        </p:nvSpPr>
        <p:spPr bwMode="auto">
          <a:xfrm>
            <a:off x="5374498" y="2579541"/>
            <a:ext cx="958917" cy="41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过渡区</a:t>
            </a:r>
          </a:p>
        </p:txBody>
      </p:sp>
      <p:sp>
        <p:nvSpPr>
          <p:cNvPr id="171" name="Text Box 21"/>
          <p:cNvSpPr txBox="1">
            <a:spLocks noChangeArrowheads="1"/>
          </p:cNvSpPr>
          <p:nvPr/>
        </p:nvSpPr>
        <p:spPr bwMode="auto">
          <a:xfrm>
            <a:off x="6645389" y="2067215"/>
            <a:ext cx="95891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被动区</a:t>
            </a:r>
          </a:p>
        </p:txBody>
      </p:sp>
      <p:sp>
        <p:nvSpPr>
          <p:cNvPr id="175" name="Text Box 21"/>
          <p:cNvSpPr txBox="1">
            <a:spLocks noChangeArrowheads="1"/>
          </p:cNvSpPr>
          <p:nvPr/>
        </p:nvSpPr>
        <p:spPr bwMode="auto">
          <a:xfrm>
            <a:off x="5319332" y="1539772"/>
            <a:ext cx="37061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77" name="Text Box 21"/>
          <p:cNvSpPr txBox="1">
            <a:spLocks noChangeArrowheads="1"/>
          </p:cNvSpPr>
          <p:nvPr/>
        </p:nvSpPr>
        <p:spPr bwMode="auto">
          <a:xfrm>
            <a:off x="4584529" y="1984952"/>
            <a:ext cx="37061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78" name="Text Box 21"/>
          <p:cNvSpPr txBox="1">
            <a:spLocks noChangeArrowheads="1"/>
          </p:cNvSpPr>
          <p:nvPr/>
        </p:nvSpPr>
        <p:spPr bwMode="auto">
          <a:xfrm>
            <a:off x="6945796" y="2766142"/>
            <a:ext cx="37061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85" name="Text Box 21"/>
          <p:cNvSpPr txBox="1">
            <a:spLocks noChangeArrowheads="1"/>
          </p:cNvSpPr>
          <p:nvPr/>
        </p:nvSpPr>
        <p:spPr bwMode="auto">
          <a:xfrm>
            <a:off x="8511285" y="1558280"/>
            <a:ext cx="341760"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97" name="Rectangle 152"/>
          <p:cNvSpPr>
            <a:spLocks noChangeArrowheads="1"/>
          </p:cNvSpPr>
          <p:nvPr/>
        </p:nvSpPr>
        <p:spPr bwMode="auto">
          <a:xfrm>
            <a:off x="8105698" y="1965410"/>
            <a:ext cx="9472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000066"/>
                </a:solidFill>
                <a:latin typeface="Times New Roman" panose="02020603050405020304" pitchFamily="18" charset="0"/>
                <a:ea typeface="楷体_GB2312" pitchFamily="49" charset="-122"/>
              </a:rPr>
              <a:t>45</a:t>
            </a:r>
            <a:r>
              <a:rPr kumimoji="1" lang="en-US" altLang="zh-CN" sz="2000" b="1" baseline="30000" dirty="0">
                <a:solidFill>
                  <a:srgbClr val="000066"/>
                </a:solidFill>
                <a:latin typeface="Times New Roman" panose="02020603050405020304" pitchFamily="18" charset="0"/>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a:t>
            </a:r>
            <a:r>
              <a:rPr kumimoji="1" lang="en-US" altLang="zh-CN" sz="2000" b="1" i="1" dirty="0">
                <a:solidFill>
                  <a:srgbClr val="000066"/>
                </a:solidFill>
                <a:latin typeface="Symbol" panose="05050102010706020507" pitchFamily="18" charset="2"/>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/2</a:t>
            </a:r>
          </a:p>
        </p:txBody>
      </p:sp>
      <p:sp>
        <p:nvSpPr>
          <p:cNvPr id="198" name="任意多边形 197"/>
          <p:cNvSpPr/>
          <p:nvPr/>
        </p:nvSpPr>
        <p:spPr bwMode="auto">
          <a:xfrm rot="11347515">
            <a:off x="8092014" y="1944681"/>
            <a:ext cx="129066" cy="156493"/>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4333"/>
              <a:gd name="connsiteY0" fmla="*/ 177679 h 177679"/>
              <a:gd name="connsiteX1" fmla="*/ 73672 w 84333"/>
              <a:gd name="connsiteY1" fmla="*/ 82340 h 177679"/>
              <a:gd name="connsiteX2" fmla="*/ 0 w 84333"/>
              <a:gd name="connsiteY2" fmla="*/ 0 h 177679"/>
              <a:gd name="connsiteX0" fmla="*/ 82339 w 83024"/>
              <a:gd name="connsiteY0" fmla="*/ 177679 h 177679"/>
              <a:gd name="connsiteX1" fmla="*/ 73672 w 83024"/>
              <a:gd name="connsiteY1" fmla="*/ 82340 h 177679"/>
              <a:gd name="connsiteX2" fmla="*/ 0 w 83024"/>
              <a:gd name="connsiteY2" fmla="*/ 0 h 177679"/>
            </a:gdLst>
            <a:ahLst/>
            <a:cxnLst>
              <a:cxn ang="0">
                <a:pos x="connsiteX0" y="connsiteY0"/>
              </a:cxn>
              <a:cxn ang="0">
                <a:pos x="connsiteX1" y="connsiteY1"/>
              </a:cxn>
              <a:cxn ang="0">
                <a:pos x="connsiteX2" y="connsiteY2"/>
              </a:cxn>
            </a:cxnLst>
            <a:rect l="l" t="t" r="r" b="b"/>
            <a:pathLst>
              <a:path w="83024" h="177679">
                <a:moveTo>
                  <a:pt x="82339" y="177679"/>
                </a:moveTo>
                <a:cubicBezTo>
                  <a:pt x="84867" y="144815"/>
                  <a:pt x="80049" y="111548"/>
                  <a:pt x="73672" y="82340"/>
                </a:cubicBezTo>
                <a:cubicBezTo>
                  <a:pt x="59949" y="52727"/>
                  <a:pt x="29974" y="26363"/>
                  <a:pt x="0" y="0"/>
                </a:cubicBezTo>
              </a:path>
            </a:pathLst>
          </a:custGeom>
          <a:noFill/>
          <a:ln w="127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0" name="Line 25"/>
          <p:cNvSpPr>
            <a:spLocks noChangeShapeType="1"/>
          </p:cNvSpPr>
          <p:nvPr/>
        </p:nvSpPr>
        <p:spPr bwMode="auto">
          <a:xfrm>
            <a:off x="5132033" y="1560532"/>
            <a:ext cx="0" cy="510517"/>
          </a:xfrm>
          <a:prstGeom prst="line">
            <a:avLst/>
          </a:prstGeom>
          <a:noFill/>
          <a:ln w="28575" cap="sq">
            <a:solidFill>
              <a:srgbClr val="C0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1" name="Text Box 21"/>
          <p:cNvSpPr txBox="1">
            <a:spLocks noChangeArrowheads="1"/>
          </p:cNvSpPr>
          <p:nvPr/>
        </p:nvSpPr>
        <p:spPr bwMode="auto">
          <a:xfrm>
            <a:off x="4972205" y="1111362"/>
            <a:ext cx="576854"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E</a:t>
            </a:r>
            <a:r>
              <a:rPr kumimoji="1" lang="en-US" altLang="zh-CN" sz="2000" b="1" baseline="-25000" dirty="0">
                <a:solidFill>
                  <a:srgbClr val="000066"/>
                </a:solidFill>
                <a:latin typeface="Times New Roman" panose="02020603050405020304" pitchFamily="18" charset="0"/>
              </a:rPr>
              <a:t>p</a:t>
            </a:r>
          </a:p>
        </p:txBody>
      </p:sp>
      <p:cxnSp>
        <p:nvCxnSpPr>
          <p:cNvPr id="4" name="直接连接符 3"/>
          <p:cNvCxnSpPr/>
          <p:nvPr/>
        </p:nvCxnSpPr>
        <p:spPr bwMode="auto">
          <a:xfrm flipH="1" flipV="1">
            <a:off x="4902255" y="1704732"/>
            <a:ext cx="223428" cy="358189"/>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2" name="Rectangle 152"/>
          <p:cNvSpPr>
            <a:spLocks noChangeArrowheads="1"/>
          </p:cNvSpPr>
          <p:nvPr/>
        </p:nvSpPr>
        <p:spPr bwMode="auto">
          <a:xfrm>
            <a:off x="4783577" y="1294564"/>
            <a:ext cx="49253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a:solidFill>
                  <a:srgbClr val="000066"/>
                </a:solidFill>
                <a:latin typeface="Symbol" panose="05050102010706020507" pitchFamily="18" charset="2"/>
                <a:sym typeface="Symbol" panose="05050102010706020507" pitchFamily="18" charset="2"/>
              </a:rPr>
              <a:t></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204" name="Text Box 110"/>
          <p:cNvSpPr txBox="1">
            <a:spLocks noChangeArrowheads="1"/>
          </p:cNvSpPr>
          <p:nvPr/>
        </p:nvSpPr>
        <p:spPr bwMode="auto">
          <a:xfrm>
            <a:off x="823919" y="1653695"/>
            <a:ext cx="3482868" cy="1320874"/>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defTabSz="739775" eaLnBrk="1" hangingPunct="1">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过渡区和被动区特性同前</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42900" indent="-342900" defTabSz="739775" eaLnBrk="1" hangingPunct="1">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可将总被动土压力</a:t>
            </a:r>
            <a:r>
              <a:rPr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r>
              <a:rPr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看成如下</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3</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部分构成：</a:t>
            </a:r>
            <a:endPar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206" name="Text Box 56"/>
          <p:cNvSpPr txBox="1">
            <a:spLocks noChangeArrowheads="1"/>
          </p:cNvSpPr>
          <p:nvPr/>
        </p:nvSpPr>
        <p:spPr bwMode="auto">
          <a:xfrm>
            <a:off x="1231742" y="3278076"/>
            <a:ext cx="3075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2800" b="1" i="1" dirty="0">
                <a:solidFill>
                  <a:srgbClr val="000066"/>
                </a:solidFill>
                <a:latin typeface="Times New Roman" panose="02020603050405020304" pitchFamily="18" charset="0"/>
              </a:rPr>
              <a:t>E</a:t>
            </a:r>
            <a:r>
              <a:rPr kumimoji="1" lang="en-US" altLang="zh-CN" sz="2800" b="1" baseline="-25000" dirty="0">
                <a:solidFill>
                  <a:srgbClr val="000066"/>
                </a:solidFill>
                <a:latin typeface="Times New Roman" panose="02020603050405020304" pitchFamily="18" charset="0"/>
              </a:rPr>
              <a:t>p</a:t>
            </a:r>
            <a:r>
              <a:rPr kumimoji="1" lang="en-US" altLang="zh-CN" sz="2800" b="1" dirty="0">
                <a:solidFill>
                  <a:srgbClr val="000066"/>
                </a:solidFill>
                <a:latin typeface="Times New Roman" panose="02020603050405020304" pitchFamily="18" charset="0"/>
              </a:rPr>
              <a:t>=</a:t>
            </a:r>
            <a:r>
              <a:rPr kumimoji="1" lang="en-US" altLang="zh-CN" sz="2800" b="1" i="1" dirty="0">
                <a:solidFill>
                  <a:srgbClr val="000066"/>
                </a:solidFill>
                <a:latin typeface="Times New Roman" panose="02020603050405020304" pitchFamily="18" charset="0"/>
              </a:rPr>
              <a:t>E</a:t>
            </a:r>
            <a:r>
              <a:rPr kumimoji="1" lang="en-US" altLang="zh-CN" sz="2800" b="1" baseline="-25000" dirty="0">
                <a:solidFill>
                  <a:srgbClr val="000066"/>
                </a:solidFill>
                <a:latin typeface="Times New Roman" panose="02020603050405020304" pitchFamily="18" charset="0"/>
              </a:rPr>
              <a:t>p1</a:t>
            </a:r>
            <a:r>
              <a:rPr kumimoji="1" lang="en-US" altLang="zh-CN" sz="2800" b="1" dirty="0">
                <a:solidFill>
                  <a:srgbClr val="000066"/>
                </a:solidFill>
                <a:latin typeface="Times New Roman" panose="02020603050405020304" pitchFamily="18" charset="0"/>
              </a:rPr>
              <a:t>+</a:t>
            </a:r>
            <a:r>
              <a:rPr kumimoji="1" lang="en-US" altLang="zh-CN" sz="2800" b="1" i="1" dirty="0">
                <a:solidFill>
                  <a:srgbClr val="000066"/>
                </a:solidFill>
                <a:latin typeface="Times New Roman" panose="02020603050405020304" pitchFamily="18" charset="0"/>
              </a:rPr>
              <a:t>E</a:t>
            </a:r>
            <a:r>
              <a:rPr kumimoji="1" lang="en-US" altLang="zh-CN" sz="2800" b="1" baseline="-25000" dirty="0">
                <a:solidFill>
                  <a:srgbClr val="000066"/>
                </a:solidFill>
                <a:latin typeface="Times New Roman" panose="02020603050405020304" pitchFamily="18" charset="0"/>
              </a:rPr>
              <a:t>p2</a:t>
            </a:r>
            <a:r>
              <a:rPr kumimoji="1" lang="en-US" altLang="zh-CN" sz="2800" b="1" dirty="0">
                <a:solidFill>
                  <a:srgbClr val="000066"/>
                </a:solidFill>
                <a:latin typeface="Times New Roman" panose="02020603050405020304" pitchFamily="18" charset="0"/>
              </a:rPr>
              <a:t>+</a:t>
            </a:r>
            <a:r>
              <a:rPr kumimoji="1" lang="en-US" altLang="zh-CN" sz="2800" b="1" i="1" dirty="0">
                <a:solidFill>
                  <a:srgbClr val="000066"/>
                </a:solidFill>
                <a:latin typeface="Times New Roman" panose="02020603050405020304" pitchFamily="18" charset="0"/>
              </a:rPr>
              <a:t>E</a:t>
            </a:r>
            <a:r>
              <a:rPr kumimoji="1" lang="en-US" altLang="zh-CN" sz="2800" b="1" baseline="-25000" dirty="0">
                <a:solidFill>
                  <a:srgbClr val="000066"/>
                </a:solidFill>
                <a:latin typeface="Times New Roman" panose="02020603050405020304" pitchFamily="18" charset="0"/>
              </a:rPr>
              <a:t>p3</a:t>
            </a:r>
            <a:endParaRPr kumimoji="1" lang="en-US" altLang="zh-CN" sz="2800" b="1" dirty="0">
              <a:solidFill>
                <a:srgbClr val="000066"/>
              </a:solidFill>
              <a:latin typeface="Times New Roman" panose="02020603050405020304" pitchFamily="18" charset="0"/>
            </a:endParaRPr>
          </a:p>
        </p:txBody>
      </p:sp>
      <p:sp>
        <p:nvSpPr>
          <p:cNvPr id="207" name="Text Box 45"/>
          <p:cNvSpPr txBox="1">
            <a:spLocks noChangeArrowheads="1"/>
          </p:cNvSpPr>
          <p:nvPr/>
        </p:nvSpPr>
        <p:spPr bwMode="auto">
          <a:xfrm>
            <a:off x="5346715" y="2146961"/>
            <a:ext cx="1594439"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sym typeface="Symbol" panose="05050102010706020507" pitchFamily="18" charset="2"/>
              </a:rPr>
              <a:t>r</a:t>
            </a:r>
            <a:r>
              <a:rPr kumimoji="1" lang="en-US" altLang="zh-CN" sz="2400" b="1" dirty="0">
                <a:solidFill>
                  <a:srgbClr val="000066"/>
                </a:solidFill>
                <a:latin typeface="Times New Roman" panose="02020603050405020304" pitchFamily="18" charset="0"/>
                <a:sym typeface="Symbol" panose="05050102010706020507" pitchFamily="18" charset="2"/>
              </a:rPr>
              <a:t>=</a:t>
            </a:r>
            <a:r>
              <a:rPr kumimoji="1" lang="en-US" altLang="zh-CN" sz="2400" b="1" i="1" dirty="0">
                <a:solidFill>
                  <a:srgbClr val="000066"/>
                </a:solidFill>
                <a:latin typeface="Times New Roman" panose="02020603050405020304" pitchFamily="18" charset="0"/>
                <a:sym typeface="Symbol" panose="05050102010706020507" pitchFamily="18" charset="2"/>
              </a:rPr>
              <a:t>r</a:t>
            </a:r>
            <a:r>
              <a:rPr kumimoji="1" lang="en-US" altLang="zh-CN" sz="2400" b="1" baseline="-25000" dirty="0">
                <a:solidFill>
                  <a:srgbClr val="000066"/>
                </a:solidFill>
                <a:latin typeface="Times New Roman" panose="02020603050405020304" pitchFamily="18" charset="0"/>
                <a:sym typeface="Symbol" panose="05050102010706020507" pitchFamily="18" charset="2"/>
              </a:rPr>
              <a:t>0</a:t>
            </a:r>
            <a:r>
              <a:rPr kumimoji="1" lang="en-US" altLang="zh-CN" sz="2400" b="1" dirty="0">
                <a:solidFill>
                  <a:srgbClr val="000066"/>
                </a:solidFill>
                <a:latin typeface="Times New Roman" panose="02020603050405020304" pitchFamily="18" charset="0"/>
                <a:sym typeface="Symbol" panose="05050102010706020507" pitchFamily="18" charset="2"/>
              </a:rPr>
              <a:t>e</a:t>
            </a:r>
            <a:r>
              <a:rPr kumimoji="1" lang="en-US" altLang="zh-CN" sz="2400" b="1" i="1" baseline="30000" dirty="0">
                <a:solidFill>
                  <a:srgbClr val="000066"/>
                </a:solidFill>
                <a:latin typeface="Times New Roman" panose="02020603050405020304" pitchFamily="18" charset="0"/>
                <a:sym typeface="Symbol" panose="05050102010706020507" pitchFamily="18" charset="2"/>
              </a:rPr>
              <a:t> </a:t>
            </a:r>
            <a:r>
              <a:rPr kumimoji="1" lang="en-US" altLang="zh-CN" sz="2400" b="1" baseline="30000" dirty="0">
                <a:solidFill>
                  <a:srgbClr val="000066"/>
                </a:solidFill>
                <a:latin typeface="Times New Roman" panose="02020603050405020304" pitchFamily="18" charset="0"/>
                <a:sym typeface="Symbol" panose="05050102010706020507" pitchFamily="18" charset="2"/>
              </a:rPr>
              <a:t>tan</a:t>
            </a:r>
            <a:r>
              <a:rPr kumimoji="1" lang="en-US" altLang="zh-CN" sz="2400" b="1" i="1" baseline="30000" dirty="0">
                <a:solidFill>
                  <a:srgbClr val="000066"/>
                </a:solidFill>
                <a:latin typeface="Times New Roman" panose="02020603050405020304" pitchFamily="18" charset="0"/>
                <a:sym typeface="Symbol" panose="05050102010706020507" pitchFamily="18" charset="2"/>
              </a:rPr>
              <a:t></a:t>
            </a:r>
            <a:endParaRPr kumimoji="1" lang="en-US" altLang="zh-CN" sz="2400" b="1" i="1" dirty="0">
              <a:solidFill>
                <a:srgbClr val="000066"/>
              </a:solidFill>
              <a:latin typeface="Times New Roman" panose="02020603050405020304" pitchFamily="18" charset="0"/>
            </a:endParaRPr>
          </a:p>
        </p:txBody>
      </p:sp>
      <p:cxnSp>
        <p:nvCxnSpPr>
          <p:cNvPr id="209" name="直接连接符 208"/>
          <p:cNvCxnSpPr/>
          <p:nvPr/>
        </p:nvCxnSpPr>
        <p:spPr bwMode="auto">
          <a:xfrm>
            <a:off x="6134397" y="3125442"/>
            <a:ext cx="166525" cy="262702"/>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0" name="直接连接符 209"/>
          <p:cNvCxnSpPr/>
          <p:nvPr/>
        </p:nvCxnSpPr>
        <p:spPr bwMode="auto">
          <a:xfrm flipV="1">
            <a:off x="6412584" y="3113501"/>
            <a:ext cx="278187" cy="72991"/>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2" name="Text Box 21"/>
          <p:cNvSpPr txBox="1">
            <a:spLocks noChangeArrowheads="1"/>
          </p:cNvSpPr>
          <p:nvPr/>
        </p:nvSpPr>
        <p:spPr bwMode="auto">
          <a:xfrm>
            <a:off x="6234490" y="3252366"/>
            <a:ext cx="3561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sz="20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13" name="Text Box 21"/>
          <p:cNvSpPr txBox="1">
            <a:spLocks noChangeArrowheads="1"/>
          </p:cNvSpPr>
          <p:nvPr/>
        </p:nvSpPr>
        <p:spPr bwMode="auto">
          <a:xfrm>
            <a:off x="6522336" y="2942841"/>
            <a:ext cx="32092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4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18" name="任意多边形 217"/>
          <p:cNvSpPr/>
          <p:nvPr/>
        </p:nvSpPr>
        <p:spPr bwMode="auto">
          <a:xfrm>
            <a:off x="1996866" y="3836989"/>
            <a:ext cx="251034" cy="1192212"/>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0" name="Text Box 110"/>
          <p:cNvSpPr txBox="1">
            <a:spLocks noChangeArrowheads="1"/>
          </p:cNvSpPr>
          <p:nvPr/>
        </p:nvSpPr>
        <p:spPr bwMode="auto">
          <a:xfrm>
            <a:off x="2341740" y="4873083"/>
            <a:ext cx="4913221" cy="423193"/>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defTabSz="739775" eaLnBrk="1" hangingPunct="1">
              <a:lnSpc>
                <a:spcPct val="125000"/>
              </a:lnSpc>
              <a:spcBef>
                <a:spcPts val="300"/>
              </a:spcBef>
              <a:spcAft>
                <a:spcPts val="300"/>
              </a:spcAft>
              <a:buClr>
                <a:srgbClr val="C00000"/>
              </a:buClr>
              <a:buSzPct val="130000"/>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滑动土体</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CDFAC</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的重量所产生的抗力</a:t>
            </a:r>
          </a:p>
        </p:txBody>
      </p:sp>
      <p:sp>
        <p:nvSpPr>
          <p:cNvPr id="221" name="任意多边形 220"/>
          <p:cNvSpPr/>
          <p:nvPr/>
        </p:nvSpPr>
        <p:spPr bwMode="auto">
          <a:xfrm>
            <a:off x="2741429" y="3849287"/>
            <a:ext cx="251034" cy="792000"/>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22" name="Text Box 110"/>
          <p:cNvSpPr txBox="1">
            <a:spLocks noChangeArrowheads="1"/>
          </p:cNvSpPr>
          <p:nvPr/>
        </p:nvSpPr>
        <p:spPr bwMode="auto">
          <a:xfrm>
            <a:off x="3108469" y="4404934"/>
            <a:ext cx="5521564" cy="423193"/>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defTabSz="739775" eaLnBrk="1" hangingPunct="1">
              <a:lnSpc>
                <a:spcPct val="125000"/>
              </a:lnSpc>
              <a:spcBef>
                <a:spcPts val="300"/>
              </a:spcBef>
              <a:spcAft>
                <a:spcPts val="300"/>
              </a:spcAft>
              <a:buClr>
                <a:srgbClr val="C00000"/>
              </a:buClr>
              <a:buSzPct val="130000"/>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滑动面</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CDF</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AC</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上的黏聚力</a:t>
            </a:r>
            <a:r>
              <a:rPr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所产生的抗力</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23" name="Text Box 110"/>
          <p:cNvSpPr txBox="1">
            <a:spLocks noChangeArrowheads="1"/>
          </p:cNvSpPr>
          <p:nvPr/>
        </p:nvSpPr>
        <p:spPr bwMode="auto">
          <a:xfrm>
            <a:off x="3767022" y="3936664"/>
            <a:ext cx="4589569" cy="423193"/>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defTabSz="739775" eaLnBrk="1" hangingPunct="1">
              <a:lnSpc>
                <a:spcPct val="125000"/>
              </a:lnSpc>
              <a:spcBef>
                <a:spcPts val="300"/>
              </a:spcBef>
              <a:spcAft>
                <a:spcPts val="300"/>
              </a:spcAft>
              <a:buClr>
                <a:srgbClr val="C00000"/>
              </a:buClr>
              <a:buSzPct val="130000"/>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均布侧荷载</a:t>
            </a:r>
            <a:r>
              <a:rPr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q</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所产生的抗力</a:t>
            </a:r>
          </a:p>
        </p:txBody>
      </p:sp>
      <p:sp>
        <p:nvSpPr>
          <p:cNvPr id="224" name="任意多边形 223"/>
          <p:cNvSpPr/>
          <p:nvPr/>
        </p:nvSpPr>
        <p:spPr bwMode="auto">
          <a:xfrm>
            <a:off x="3401908" y="3849287"/>
            <a:ext cx="251034" cy="324000"/>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9"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太沙基公式</a:t>
            </a:r>
          </a:p>
        </p:txBody>
      </p:sp>
    </p:spTree>
    <p:extLst>
      <p:ext uri="{BB962C8B-B14F-4D97-AF65-F5344CB8AC3E}">
        <p14:creationId xmlns:p14="http://schemas.microsoft.com/office/powerpoint/2010/main" val="87509755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barn(inVertical)">
                                      <p:cBhvr>
                                        <p:cTn id="7" dur="500"/>
                                        <p:tgtEl>
                                          <p:spTgt spid="6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4"/>
                                        </p:tgtEl>
                                        <p:attrNameLst>
                                          <p:attrName>style.visibility</p:attrName>
                                        </p:attrNameLst>
                                      </p:cBhvr>
                                      <p:to>
                                        <p:strVal val="visible"/>
                                      </p:to>
                                    </p:set>
                                    <p:animEffect transition="in" filter="wipe(left)">
                                      <p:cBhvr>
                                        <p:cTn id="11" dur="500"/>
                                        <p:tgtEl>
                                          <p:spTgt spid="20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06"/>
                                        </p:tgtEl>
                                        <p:attrNameLst>
                                          <p:attrName>style.visibility</p:attrName>
                                        </p:attrNameLst>
                                      </p:cBhvr>
                                      <p:to>
                                        <p:strVal val="visible"/>
                                      </p:to>
                                    </p:set>
                                    <p:animEffect transition="in" filter="wipe(left)">
                                      <p:cBhvr>
                                        <p:cTn id="15" dur="500"/>
                                        <p:tgtEl>
                                          <p:spTgt spid="20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18"/>
                                        </p:tgtEl>
                                        <p:attrNameLst>
                                          <p:attrName>style.visibility</p:attrName>
                                        </p:attrNameLst>
                                      </p:cBhvr>
                                      <p:to>
                                        <p:strVal val="visible"/>
                                      </p:to>
                                    </p:set>
                                    <p:animEffect transition="in" filter="wipe(left)">
                                      <p:cBhvr>
                                        <p:cTn id="20" dur="500"/>
                                        <p:tgtEl>
                                          <p:spTgt spid="218"/>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20"/>
                                        </p:tgtEl>
                                        <p:attrNameLst>
                                          <p:attrName>style.visibility</p:attrName>
                                        </p:attrNameLst>
                                      </p:cBhvr>
                                      <p:to>
                                        <p:strVal val="visible"/>
                                      </p:to>
                                    </p:set>
                                    <p:animEffect transition="in" filter="wipe(left)">
                                      <p:cBhvr>
                                        <p:cTn id="24" dur="500"/>
                                        <p:tgtEl>
                                          <p:spTgt spid="22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21"/>
                                        </p:tgtEl>
                                        <p:attrNameLst>
                                          <p:attrName>style.visibility</p:attrName>
                                        </p:attrNameLst>
                                      </p:cBhvr>
                                      <p:to>
                                        <p:strVal val="visible"/>
                                      </p:to>
                                    </p:set>
                                    <p:animEffect transition="in" filter="wipe(left)">
                                      <p:cBhvr>
                                        <p:cTn id="29" dur="500"/>
                                        <p:tgtEl>
                                          <p:spTgt spid="221"/>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222"/>
                                        </p:tgtEl>
                                        <p:attrNameLst>
                                          <p:attrName>style.visibility</p:attrName>
                                        </p:attrNameLst>
                                      </p:cBhvr>
                                      <p:to>
                                        <p:strVal val="visible"/>
                                      </p:to>
                                    </p:set>
                                    <p:animEffect transition="in" filter="wipe(left)">
                                      <p:cBhvr>
                                        <p:cTn id="33" dur="500"/>
                                        <p:tgtEl>
                                          <p:spTgt spid="22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24"/>
                                        </p:tgtEl>
                                        <p:attrNameLst>
                                          <p:attrName>style.visibility</p:attrName>
                                        </p:attrNameLst>
                                      </p:cBhvr>
                                      <p:to>
                                        <p:strVal val="visible"/>
                                      </p:to>
                                    </p:set>
                                    <p:animEffect transition="in" filter="wipe(left)">
                                      <p:cBhvr>
                                        <p:cTn id="38" dur="500"/>
                                        <p:tgtEl>
                                          <p:spTgt spid="224"/>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223"/>
                                        </p:tgtEl>
                                        <p:attrNameLst>
                                          <p:attrName>style.visibility</p:attrName>
                                        </p:attrNameLst>
                                      </p:cBhvr>
                                      <p:to>
                                        <p:strVal val="visible"/>
                                      </p:to>
                                    </p:set>
                                    <p:animEffect transition="in" filter="wipe(left)">
                                      <p:cBhvr>
                                        <p:cTn id="42"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204" grpId="0"/>
      <p:bldP spid="206" grpId="0" autoUpdateAnimBg="0"/>
      <p:bldP spid="218" grpId="0" animBg="1"/>
      <p:bldP spid="220" grpId="0"/>
      <p:bldP spid="221" grpId="0" animBg="1"/>
      <p:bldP spid="222" grpId="0"/>
      <p:bldP spid="223" grpId="0"/>
      <p:bldP spid="22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48</a:t>
            </a:fld>
            <a:endParaRPr lang="zh-CN" altLang="en-US" dirty="0">
              <a:solidFill>
                <a:srgbClr val="C00000"/>
              </a:solidFill>
            </a:endParaRPr>
          </a:p>
        </p:txBody>
      </p:sp>
      <p:sp>
        <p:nvSpPr>
          <p:cNvPr id="60" name="Text Box 46"/>
          <p:cNvSpPr txBox="1">
            <a:spLocks noChangeArrowheads="1"/>
          </p:cNvSpPr>
          <p:nvPr/>
        </p:nvSpPr>
        <p:spPr bwMode="auto">
          <a:xfrm>
            <a:off x="430002" y="719619"/>
            <a:ext cx="38848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被动土压力</a:t>
            </a:r>
            <a:r>
              <a:rPr lang="en-US" altLang="zh-CN" sz="2800" b="1" i="1" dirty="0">
                <a:solidFill>
                  <a:srgbClr val="A50021"/>
                </a:solidFill>
                <a:latin typeface="微软雅黑" panose="020B0503020204020204" pitchFamily="34" charset="-122"/>
                <a:ea typeface="微软雅黑" panose="020B0503020204020204" pitchFamily="34" charset="-122"/>
              </a:rPr>
              <a:t>E</a:t>
            </a:r>
            <a:r>
              <a:rPr lang="en-US" altLang="zh-CN" sz="2800" b="1" baseline="-25000" dirty="0">
                <a:solidFill>
                  <a:srgbClr val="A50021"/>
                </a:solidFill>
                <a:latin typeface="微软雅黑" panose="020B0503020204020204" pitchFamily="34" charset="-122"/>
                <a:ea typeface="微软雅黑" panose="020B0503020204020204" pitchFamily="34" charset="-122"/>
              </a:rPr>
              <a:t>p</a:t>
            </a:r>
            <a:r>
              <a:rPr lang="zh-CN" altLang="en-US" sz="2800" b="1" dirty="0">
                <a:solidFill>
                  <a:srgbClr val="A50021"/>
                </a:solidFill>
                <a:latin typeface="微软雅黑" panose="020B0503020204020204" pitchFamily="34" charset="-122"/>
                <a:ea typeface="微软雅黑" panose="020B0503020204020204" pitchFamily="34" charset="-122"/>
              </a:rPr>
              <a:t>的确定</a:t>
            </a:r>
          </a:p>
        </p:txBody>
      </p:sp>
      <p:sp>
        <p:nvSpPr>
          <p:cNvPr id="61"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太沙基 </a:t>
            </a:r>
            <a:r>
              <a:rPr kumimoji="1" lang="en-US" altLang="zh-CN" sz="4000" b="1" dirty="0">
                <a:solidFill>
                  <a:srgbClr val="000066"/>
                </a:solidFill>
                <a:ea typeface="黑体" pitchFamily="2" charset="-122"/>
                <a:cs typeface="Times New Roman" panose="02020603050405020304" pitchFamily="18" charset="0"/>
              </a:rPr>
              <a:t>(Terzaghi) </a:t>
            </a:r>
            <a:r>
              <a:rPr kumimoji="1" lang="zh-CN" altLang="en-US" sz="4000" b="1" dirty="0">
                <a:solidFill>
                  <a:srgbClr val="000066"/>
                </a:solidFill>
                <a:ea typeface="黑体" pitchFamily="2" charset="-122"/>
                <a:cs typeface="Times New Roman" panose="02020603050405020304" pitchFamily="18" charset="0"/>
              </a:rPr>
              <a:t>公式</a:t>
            </a:r>
          </a:p>
        </p:txBody>
      </p:sp>
      <p:sp>
        <p:nvSpPr>
          <p:cNvPr id="204" name="Text Box 110"/>
          <p:cNvSpPr txBox="1">
            <a:spLocks noChangeArrowheads="1"/>
          </p:cNvSpPr>
          <p:nvPr/>
        </p:nvSpPr>
        <p:spPr bwMode="auto">
          <a:xfrm>
            <a:off x="916402" y="1531889"/>
            <a:ext cx="7097298" cy="846386"/>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defTabSz="739775" eaLnBrk="1" hangingPunct="1">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土体中真正滑动面的形状取决于这三种抗力共同作用的结果，很难确切求得。太沙基分别进行简化计算得：</a:t>
            </a:r>
            <a:endPar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aphicFrame>
        <p:nvGraphicFramePr>
          <p:cNvPr id="84" name="Object 0"/>
          <p:cNvGraphicFramePr>
            <a:graphicFrameLocks noChangeAspect="1"/>
          </p:cNvGraphicFramePr>
          <p:nvPr>
            <p:extLst>
              <p:ext uri="{D42A27DB-BD31-4B8C-83A1-F6EECF244321}">
                <p14:modId xmlns:p14="http://schemas.microsoft.com/office/powerpoint/2010/main" val="4146941023"/>
              </p:ext>
            </p:extLst>
          </p:nvPr>
        </p:nvGraphicFramePr>
        <p:xfrm>
          <a:off x="2101968" y="2732262"/>
          <a:ext cx="5444889" cy="876126"/>
        </p:xfrm>
        <a:graphic>
          <a:graphicData uri="http://schemas.openxmlformats.org/presentationml/2006/ole">
            <mc:AlternateContent xmlns:mc="http://schemas.openxmlformats.org/markup-compatibility/2006">
              <mc:Choice xmlns:v="urn:schemas-microsoft-com:vml" Requires="v">
                <p:oleObj spid="_x0000_s1818750" name="Equation" r:id="rId4" imgW="2603160" imgH="419040" progId="Equation.DSMT4">
                  <p:embed/>
                </p:oleObj>
              </mc:Choice>
              <mc:Fallback>
                <p:oleObj name="Equation" r:id="rId4" imgW="2603160" imgH="419040" progId="Equation.DSMT4">
                  <p:embed/>
                  <p:pic>
                    <p:nvPicPr>
                      <p:cNvPr id="108" name="Object 0"/>
                      <p:cNvPicPr>
                        <a:picLocks noChangeAspect="1" noChangeArrowheads="1"/>
                      </p:cNvPicPr>
                      <p:nvPr/>
                    </p:nvPicPr>
                    <p:blipFill>
                      <a:blip r:embed="rId5"/>
                      <a:srcRect/>
                      <a:stretch>
                        <a:fillRect/>
                      </a:stretch>
                    </p:blipFill>
                    <p:spPr bwMode="auto">
                      <a:xfrm>
                        <a:off x="2101968" y="2732262"/>
                        <a:ext cx="5444889" cy="876126"/>
                      </a:xfrm>
                      <a:prstGeom prst="rect">
                        <a:avLst/>
                      </a:prstGeom>
                      <a:noFill/>
                      <a:ln>
                        <a:noFill/>
                      </a:ln>
                      <a:extLst/>
                    </p:spPr>
                  </p:pic>
                </p:oleObj>
              </mc:Fallback>
            </mc:AlternateContent>
          </a:graphicData>
        </a:graphic>
      </p:graphicFrame>
      <p:sp>
        <p:nvSpPr>
          <p:cNvPr id="2" name="矩形 1"/>
          <p:cNvSpPr/>
          <p:nvPr/>
        </p:nvSpPr>
        <p:spPr>
          <a:xfrm>
            <a:off x="1527293" y="3966643"/>
            <a:ext cx="6128970" cy="861774"/>
          </a:xfrm>
          <a:prstGeom prst="rect">
            <a:avLst/>
          </a:prstGeom>
        </p:spPr>
        <p:txBody>
          <a:bodyPr wrap="square">
            <a:spAutoFit/>
          </a:bodyPr>
          <a:lstStyle/>
          <a:p>
            <a:pPr>
              <a:lnSpc>
                <a:spcPct val="125000"/>
              </a:lnSpc>
            </a:pPr>
            <a:r>
              <a:rPr lang="zh-CN" altLang="en-US" sz="2000" b="1" dirty="0">
                <a:solidFill>
                  <a:srgbClr val="000066"/>
                </a:solidFill>
                <a:ea typeface="幼圆" panose="02010509060101010101" pitchFamily="49" charset="-122"/>
                <a:cs typeface="Times New Roman" panose="02020603050405020304" pitchFamily="18" charset="0"/>
              </a:rPr>
              <a:t>式中，</a:t>
            </a:r>
            <a:r>
              <a:rPr lang="en-US" altLang="zh-CN" sz="2000" b="1" i="1" dirty="0">
                <a:solidFill>
                  <a:srgbClr val="000066"/>
                </a:solidFill>
                <a:ea typeface="幼圆" panose="02010509060101010101" pitchFamily="49" charset="-122"/>
                <a:cs typeface="Times New Roman" panose="02020603050405020304" pitchFamily="18" charset="0"/>
              </a:rPr>
              <a:t>K</a:t>
            </a:r>
            <a:r>
              <a:rPr lang="en-US" altLang="zh-CN" sz="2000" b="1" baseline="-25000" dirty="0">
                <a:solidFill>
                  <a:srgbClr val="000066"/>
                </a:solidFill>
                <a:ea typeface="幼圆" panose="02010509060101010101" pitchFamily="49" charset="-122"/>
                <a:cs typeface="Times New Roman" panose="02020603050405020304" pitchFamily="18" charset="0"/>
              </a:rPr>
              <a:t>p1</a:t>
            </a:r>
            <a:r>
              <a:rPr lang="zh-CN"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K</a:t>
            </a:r>
            <a:r>
              <a:rPr lang="en-US" altLang="zh-CN" sz="2000" b="1" baseline="-25000" dirty="0">
                <a:solidFill>
                  <a:srgbClr val="000066"/>
                </a:solidFill>
                <a:ea typeface="幼圆" panose="02010509060101010101" pitchFamily="49" charset="-122"/>
                <a:cs typeface="Times New Roman" panose="02020603050405020304" pitchFamily="18" charset="0"/>
              </a:rPr>
              <a:t>p2</a:t>
            </a:r>
            <a:r>
              <a:rPr lang="zh-CN"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K</a:t>
            </a:r>
            <a:r>
              <a:rPr lang="en-US" altLang="zh-CN" sz="2000" b="1" baseline="-25000" dirty="0">
                <a:solidFill>
                  <a:srgbClr val="000066"/>
                </a:solidFill>
                <a:ea typeface="幼圆" panose="02010509060101010101" pitchFamily="49" charset="-122"/>
                <a:cs typeface="Times New Roman" panose="02020603050405020304" pitchFamily="18" charset="0"/>
              </a:rPr>
              <a:t>p3</a:t>
            </a:r>
            <a:r>
              <a:rPr lang="zh-CN" altLang="en-US" sz="2000" b="1" dirty="0">
                <a:solidFill>
                  <a:srgbClr val="000066"/>
                </a:solidFill>
                <a:ea typeface="幼圆" panose="02010509060101010101" pitchFamily="49" charset="-122"/>
                <a:cs typeface="Times New Roman" panose="02020603050405020304" pitchFamily="18" charset="0"/>
              </a:rPr>
              <a:t>分别为</a:t>
            </a:r>
            <a:r>
              <a:rPr lang="zh-CN" altLang="zh-CN" sz="2000" b="1" dirty="0">
                <a:solidFill>
                  <a:srgbClr val="000066"/>
                </a:solidFill>
                <a:ea typeface="幼圆" panose="02010509060101010101" pitchFamily="49" charset="-122"/>
                <a:cs typeface="Times New Roman" panose="02020603050405020304" pitchFamily="18" charset="0"/>
              </a:rPr>
              <a:t>由于滑动土体重量、滑动面上黏聚力和旁侧荷载所产生的被动土压力系数</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9" name="AutoShape 5"/>
          <p:cNvSpPr>
            <a:spLocks noChangeArrowheads="1"/>
          </p:cNvSpPr>
          <p:nvPr/>
        </p:nvSpPr>
        <p:spPr bwMode="auto">
          <a:xfrm>
            <a:off x="1490968" y="2952361"/>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0"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太沙基公式</a:t>
            </a:r>
          </a:p>
        </p:txBody>
      </p:sp>
    </p:spTree>
    <p:extLst>
      <p:ext uri="{BB962C8B-B14F-4D97-AF65-F5344CB8AC3E}">
        <p14:creationId xmlns:p14="http://schemas.microsoft.com/office/powerpoint/2010/main" val="155724711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
                                        </p:tgtEl>
                                        <p:attrNameLst>
                                          <p:attrName>style.visibility</p:attrName>
                                        </p:attrNameLst>
                                      </p:cBhvr>
                                      <p:to>
                                        <p:strVal val="visible"/>
                                      </p:to>
                                    </p:set>
                                    <p:animEffect transition="in" filter="wipe(left)">
                                      <p:cBhvr>
                                        <p:cTn id="7" dur="500"/>
                                        <p:tgtEl>
                                          <p:spTgt spid="2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1000"/>
                                        <p:tgtEl>
                                          <p:spTgt spid="9"/>
                                        </p:tgtEl>
                                      </p:cBhvr>
                                    </p:animEffect>
                                  </p:childTnLst>
                                </p:cTn>
                              </p:par>
                            </p:childTnLst>
                          </p:cTn>
                        </p:par>
                        <p:par>
                          <p:cTn id="13" fill="hold">
                            <p:stCondLst>
                              <p:cond delay="1000"/>
                            </p:stCondLst>
                            <p:childTnLst>
                              <p:par>
                                <p:cTn id="14" presetID="23" presetClass="entr" presetSubtype="16" fill="hold" nodeType="afterEffect">
                                  <p:stCondLst>
                                    <p:cond delay="0"/>
                                  </p:stCondLst>
                                  <p:childTnLst>
                                    <p:set>
                                      <p:cBhvr>
                                        <p:cTn id="15" dur="1" fill="hold">
                                          <p:stCondLst>
                                            <p:cond delay="0"/>
                                          </p:stCondLst>
                                        </p:cTn>
                                        <p:tgtEl>
                                          <p:spTgt spid="84"/>
                                        </p:tgtEl>
                                        <p:attrNameLst>
                                          <p:attrName>style.visibility</p:attrName>
                                        </p:attrNameLst>
                                      </p:cBhvr>
                                      <p:to>
                                        <p:strVal val="visible"/>
                                      </p:to>
                                    </p:set>
                                    <p:anim calcmode="lin" valueType="num">
                                      <p:cBhvr>
                                        <p:cTn id="16" dur="500" fill="hold"/>
                                        <p:tgtEl>
                                          <p:spTgt spid="84"/>
                                        </p:tgtEl>
                                        <p:attrNameLst>
                                          <p:attrName>ppt_w</p:attrName>
                                        </p:attrNameLst>
                                      </p:cBhvr>
                                      <p:tavLst>
                                        <p:tav tm="0">
                                          <p:val>
                                            <p:fltVal val="0"/>
                                          </p:val>
                                        </p:tav>
                                        <p:tav tm="100000">
                                          <p:val>
                                            <p:strVal val="#ppt_w"/>
                                          </p:val>
                                        </p:tav>
                                      </p:tavLst>
                                    </p:anim>
                                    <p:anim calcmode="lin" valueType="num">
                                      <p:cBhvr>
                                        <p:cTn id="17" dur="500" fill="hold"/>
                                        <p:tgtEl>
                                          <p:spTgt spid="84"/>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16" presetClass="entr" presetSubtype="21"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arn(inVertical)">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 grpId="0"/>
      <p:bldP spid="2" grpId="0"/>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1000238" y="2701900"/>
            <a:ext cx="7720427" cy="2166963"/>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49</a:t>
            </a:fld>
            <a:endParaRPr lang="zh-CN" altLang="en-US" dirty="0">
              <a:solidFill>
                <a:srgbClr val="C00000"/>
              </a:solidFill>
            </a:endParaRPr>
          </a:p>
        </p:txBody>
      </p:sp>
      <p:sp>
        <p:nvSpPr>
          <p:cNvPr id="60" name="Text Box 46"/>
          <p:cNvSpPr txBox="1">
            <a:spLocks noChangeArrowheads="1"/>
          </p:cNvSpPr>
          <p:nvPr/>
        </p:nvSpPr>
        <p:spPr bwMode="auto">
          <a:xfrm>
            <a:off x="430002" y="719619"/>
            <a:ext cx="59072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a:t>
            </a:r>
            <a:r>
              <a:rPr lang="en-US" altLang="zh-CN" sz="2800" b="1" dirty="0">
                <a:solidFill>
                  <a:srgbClr val="A50021"/>
                </a:solidFill>
                <a:latin typeface="微软雅黑" panose="020B0503020204020204" pitchFamily="34" charset="-122"/>
                <a:ea typeface="微软雅黑" panose="020B0503020204020204" pitchFamily="34" charset="-122"/>
              </a:rPr>
              <a:t>Terzaghi</a:t>
            </a:r>
            <a:r>
              <a:rPr lang="zh-CN" altLang="en-US" sz="2800" b="1" dirty="0">
                <a:solidFill>
                  <a:srgbClr val="A50021"/>
                </a:solidFill>
                <a:latin typeface="微软雅黑" panose="020B0503020204020204" pitchFamily="34" charset="-122"/>
                <a:ea typeface="微软雅黑" panose="020B0503020204020204" pitchFamily="34" charset="-122"/>
              </a:rPr>
              <a:t>极限承载力公式</a:t>
            </a:r>
          </a:p>
        </p:txBody>
      </p:sp>
      <p:sp>
        <p:nvSpPr>
          <p:cNvPr id="61"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太沙基 </a:t>
            </a:r>
            <a:r>
              <a:rPr kumimoji="1" lang="en-US" altLang="zh-CN" sz="4000" b="1" dirty="0">
                <a:solidFill>
                  <a:srgbClr val="000066"/>
                </a:solidFill>
                <a:ea typeface="黑体" pitchFamily="2" charset="-122"/>
                <a:cs typeface="Times New Roman" panose="02020603050405020304" pitchFamily="18" charset="0"/>
              </a:rPr>
              <a:t>(Terzaghi) </a:t>
            </a:r>
            <a:r>
              <a:rPr kumimoji="1" lang="zh-CN" altLang="en-US" sz="4000" b="1" dirty="0">
                <a:solidFill>
                  <a:srgbClr val="000066"/>
                </a:solidFill>
                <a:ea typeface="黑体" pitchFamily="2" charset="-122"/>
                <a:cs typeface="Times New Roman" panose="02020603050405020304" pitchFamily="18" charset="0"/>
              </a:rPr>
              <a:t>公式</a:t>
            </a:r>
          </a:p>
        </p:txBody>
      </p:sp>
      <p:sp>
        <p:nvSpPr>
          <p:cNvPr id="204" name="Text Box 110"/>
          <p:cNvSpPr txBox="1">
            <a:spLocks noChangeArrowheads="1"/>
          </p:cNvSpPr>
          <p:nvPr/>
        </p:nvSpPr>
        <p:spPr bwMode="auto">
          <a:xfrm>
            <a:off x="1161770" y="2879703"/>
            <a:ext cx="7355694" cy="1795363"/>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defTabSz="739775">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式中，</a:t>
            </a:r>
            <a:r>
              <a:rPr kumimoji="1"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q</a:t>
            </a:r>
            <a:r>
              <a:rPr kumimoji="1" lang="en-US" altLang="zh-CN" sz="2200" b="1" i="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200" b="1" i="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2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2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为</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承载力系数，它们的大小只取决于内摩擦角</a:t>
            </a:r>
            <a:r>
              <a:rPr kumimoji="1" lang="zh-CN" altLang="en-US"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的大小</a:t>
            </a:r>
            <a:endPar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342900" indent="-342900" defTabSz="739775">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太沙基将其绘制成曲线可供直接查用（教材</a:t>
            </a:r>
            <a:r>
              <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P301</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页图</a:t>
            </a:r>
            <a:r>
              <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8-11</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zh-CN" altLang="en-US"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342900" indent="-342900" defTabSz="739775" eaLnBrk="1" hangingPunct="1">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可近似推广到圆形、方形基础，及局部剪切破坏情况</a:t>
            </a:r>
            <a:endPar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aphicFrame>
        <p:nvGraphicFramePr>
          <p:cNvPr id="9" name="Object 0"/>
          <p:cNvGraphicFramePr>
            <a:graphicFrameLocks noChangeAspect="1"/>
          </p:cNvGraphicFramePr>
          <p:nvPr>
            <p:extLst>
              <p:ext uri="{D42A27DB-BD31-4B8C-83A1-F6EECF244321}">
                <p14:modId xmlns:p14="http://schemas.microsoft.com/office/powerpoint/2010/main" val="3620561983"/>
              </p:ext>
            </p:extLst>
          </p:nvPr>
        </p:nvGraphicFramePr>
        <p:xfrm>
          <a:off x="1600137" y="1509997"/>
          <a:ext cx="4381500" cy="920750"/>
        </p:xfrm>
        <a:graphic>
          <a:graphicData uri="http://schemas.openxmlformats.org/presentationml/2006/ole">
            <mc:AlternateContent xmlns:mc="http://schemas.openxmlformats.org/markup-compatibility/2006">
              <mc:Choice xmlns:v="urn:schemas-microsoft-com:vml" Requires="v">
                <p:oleObj spid="_x0000_s1821818" name="Equation" r:id="rId4" imgW="1752480" imgH="368280" progId="Equation.DSMT4">
                  <p:embed/>
                </p:oleObj>
              </mc:Choice>
              <mc:Fallback>
                <p:oleObj name="Equation" r:id="rId4" imgW="1752480" imgH="368280" progId="Equation.DSMT4">
                  <p:embed/>
                  <p:pic>
                    <p:nvPicPr>
                      <p:cNvPr id="9" name="Object 0"/>
                      <p:cNvPicPr>
                        <a:picLocks noChangeAspect="1" noChangeArrowheads="1"/>
                      </p:cNvPicPr>
                      <p:nvPr/>
                    </p:nvPicPr>
                    <p:blipFill>
                      <a:blip r:embed="rId5"/>
                      <a:srcRect/>
                      <a:stretch>
                        <a:fillRect/>
                      </a:stretch>
                    </p:blipFill>
                    <p:spPr bwMode="auto">
                      <a:xfrm>
                        <a:off x="1600137" y="1509997"/>
                        <a:ext cx="4381500" cy="920750"/>
                      </a:xfrm>
                      <a:prstGeom prst="rect">
                        <a:avLst/>
                      </a:prstGeom>
                      <a:noFill/>
                      <a:ln w="9525">
                        <a:noFill/>
                        <a:miter lim="800000"/>
                        <a:headEnd/>
                        <a:tailEnd/>
                      </a:ln>
                      <a:effectLst/>
                      <a:extLst/>
                    </p:spPr>
                  </p:pic>
                </p:oleObj>
              </mc:Fallback>
            </mc:AlternateContent>
          </a:graphicData>
        </a:graphic>
      </p:graphicFrame>
      <p:sp>
        <p:nvSpPr>
          <p:cNvPr id="8" name="AutoShape 5"/>
          <p:cNvSpPr>
            <a:spLocks noChangeArrowheads="1"/>
          </p:cNvSpPr>
          <p:nvPr/>
        </p:nvSpPr>
        <p:spPr bwMode="auto">
          <a:xfrm>
            <a:off x="1000238" y="1809361"/>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0"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太沙基公式</a:t>
            </a:r>
          </a:p>
        </p:txBody>
      </p:sp>
    </p:spTree>
    <p:extLst>
      <p:ext uri="{BB962C8B-B14F-4D97-AF65-F5344CB8AC3E}">
        <p14:creationId xmlns:p14="http://schemas.microsoft.com/office/powerpoint/2010/main" val="170203594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500"/>
                            </p:stCondLst>
                            <p:childTnLst>
                              <p:par>
                                <p:cTn id="13" presetID="16" presetClass="entr" presetSubtype="21"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204"/>
                                        </p:tgtEl>
                                        <p:attrNameLst>
                                          <p:attrName>style.visibility</p:attrName>
                                        </p:attrNameLst>
                                      </p:cBhvr>
                                      <p:to>
                                        <p:strVal val="visible"/>
                                      </p:to>
                                    </p:set>
                                    <p:animEffect transition="in" filter="wipe(left)">
                                      <p:cBhvr>
                                        <p:cTn id="19"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04" grpId="0"/>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75"/>
          <p:cNvSpPr/>
          <p:nvPr/>
        </p:nvSpPr>
        <p:spPr bwMode="auto">
          <a:xfrm>
            <a:off x="2948555" y="1979181"/>
            <a:ext cx="5598413" cy="1069273"/>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7" name="任意多边形 76"/>
          <p:cNvSpPr/>
          <p:nvPr/>
        </p:nvSpPr>
        <p:spPr bwMode="auto">
          <a:xfrm flipH="1">
            <a:off x="3097119" y="1968881"/>
            <a:ext cx="2650769" cy="891503"/>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11" fmla="*/ 7 w 3529003"/>
              <a:gd name="connsiteY11" fmla="*/ 264732 h 1183454"/>
              <a:gd name="connsiteX0" fmla="*/ 7 w 3529003"/>
              <a:gd name="connsiteY0" fmla="*/ 290407 h 1209129"/>
              <a:gd name="connsiteX1" fmla="*/ 42434 w 3529003"/>
              <a:gd name="connsiteY1" fmla="*/ 525636 h 1209129"/>
              <a:gd name="connsiteX2" fmla="*/ 199682 w 3529003"/>
              <a:gd name="connsiteY2" fmla="*/ 798929 h 1209129"/>
              <a:gd name="connsiteX3" fmla="*/ 502370 w 3529003"/>
              <a:gd name="connsiteY3" fmla="*/ 1037738 h 1209129"/>
              <a:gd name="connsiteX4" fmla="*/ 899474 w 3529003"/>
              <a:gd name="connsiteY4" fmla="*/ 1177592 h 1209129"/>
              <a:gd name="connsiteX5" fmla="*/ 1348510 w 3529003"/>
              <a:gd name="connsiteY5" fmla="*/ 1201750 h 1209129"/>
              <a:gd name="connsiteX6" fmla="*/ 1821900 w 3529003"/>
              <a:gd name="connsiteY6" fmla="*/ 1076494 h 1209129"/>
              <a:gd name="connsiteX7" fmla="*/ 2234397 w 3529003"/>
              <a:gd name="connsiteY7" fmla="*/ 859212 h 1209129"/>
              <a:gd name="connsiteX8" fmla="*/ 2625280 w 3529003"/>
              <a:gd name="connsiteY8" fmla="*/ 622017 h 1209129"/>
              <a:gd name="connsiteX9" fmla="*/ 3037098 w 3529003"/>
              <a:gd name="connsiteY9" fmla="*/ 350157 h 1209129"/>
              <a:gd name="connsiteX10" fmla="*/ 3529003 w 3529003"/>
              <a:gd name="connsiteY10" fmla="*/ 25675 h 1209129"/>
              <a:gd name="connsiteX11" fmla="*/ 388784 w 3529003"/>
              <a:gd name="connsiteY11" fmla="*/ 22259 h 1209129"/>
              <a:gd name="connsiteX12" fmla="*/ 7 w 3529003"/>
              <a:gd name="connsiteY12" fmla="*/ 290407 h 1209129"/>
              <a:gd name="connsiteX0" fmla="*/ 7 w 3529003"/>
              <a:gd name="connsiteY0" fmla="*/ 268148 h 1186870"/>
              <a:gd name="connsiteX1" fmla="*/ 42434 w 3529003"/>
              <a:gd name="connsiteY1" fmla="*/ 503377 h 1186870"/>
              <a:gd name="connsiteX2" fmla="*/ 199682 w 3529003"/>
              <a:gd name="connsiteY2" fmla="*/ 776670 h 1186870"/>
              <a:gd name="connsiteX3" fmla="*/ 502370 w 3529003"/>
              <a:gd name="connsiteY3" fmla="*/ 1015479 h 1186870"/>
              <a:gd name="connsiteX4" fmla="*/ 899474 w 3529003"/>
              <a:gd name="connsiteY4" fmla="*/ 1155333 h 1186870"/>
              <a:gd name="connsiteX5" fmla="*/ 1348510 w 3529003"/>
              <a:gd name="connsiteY5" fmla="*/ 1179491 h 1186870"/>
              <a:gd name="connsiteX6" fmla="*/ 1821900 w 3529003"/>
              <a:gd name="connsiteY6" fmla="*/ 1054235 h 1186870"/>
              <a:gd name="connsiteX7" fmla="*/ 2234397 w 3529003"/>
              <a:gd name="connsiteY7" fmla="*/ 836953 h 1186870"/>
              <a:gd name="connsiteX8" fmla="*/ 2625280 w 3529003"/>
              <a:gd name="connsiteY8" fmla="*/ 599758 h 1186870"/>
              <a:gd name="connsiteX9" fmla="*/ 3037098 w 3529003"/>
              <a:gd name="connsiteY9" fmla="*/ 327898 h 1186870"/>
              <a:gd name="connsiteX10" fmla="*/ 3529003 w 3529003"/>
              <a:gd name="connsiteY10" fmla="*/ 3416 h 1186870"/>
              <a:gd name="connsiteX11" fmla="*/ 388784 w 3529003"/>
              <a:gd name="connsiteY11" fmla="*/ 0 h 1186870"/>
              <a:gd name="connsiteX12" fmla="*/ 7 w 3529003"/>
              <a:gd name="connsiteY12" fmla="*/ 268148 h 118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29003" h="1186870">
                <a:moveTo>
                  <a:pt x="7" y="268148"/>
                </a:moveTo>
                <a:cubicBezTo>
                  <a:pt x="-408" y="352359"/>
                  <a:pt x="16775" y="418623"/>
                  <a:pt x="42434" y="503377"/>
                </a:cubicBezTo>
                <a:cubicBezTo>
                  <a:pt x="68093" y="588131"/>
                  <a:pt x="122645" y="684583"/>
                  <a:pt x="199682" y="776670"/>
                </a:cubicBezTo>
                <a:cubicBezTo>
                  <a:pt x="276719" y="873837"/>
                  <a:pt x="385738" y="952369"/>
                  <a:pt x="502370" y="1015479"/>
                </a:cubicBezTo>
                <a:cubicBezTo>
                  <a:pt x="619002" y="1078589"/>
                  <a:pt x="758451" y="1127998"/>
                  <a:pt x="899474" y="1155333"/>
                </a:cubicBezTo>
                <a:cubicBezTo>
                  <a:pt x="1040497" y="1182668"/>
                  <a:pt x="1194772" y="1196341"/>
                  <a:pt x="1348510" y="1179491"/>
                </a:cubicBezTo>
                <a:cubicBezTo>
                  <a:pt x="1502248" y="1162641"/>
                  <a:pt x="1674252" y="1111325"/>
                  <a:pt x="1821900" y="1054235"/>
                </a:cubicBezTo>
                <a:cubicBezTo>
                  <a:pt x="1969548" y="997145"/>
                  <a:pt x="2100500" y="912699"/>
                  <a:pt x="2234397" y="836953"/>
                </a:cubicBezTo>
                <a:cubicBezTo>
                  <a:pt x="2368294" y="761207"/>
                  <a:pt x="2538327" y="648769"/>
                  <a:pt x="2625280" y="599758"/>
                </a:cubicBezTo>
                <a:lnTo>
                  <a:pt x="3037098" y="327898"/>
                </a:lnTo>
                <a:cubicBezTo>
                  <a:pt x="3233143" y="209011"/>
                  <a:pt x="3284005" y="153333"/>
                  <a:pt x="3529003" y="3416"/>
                </a:cubicBezTo>
                <a:lnTo>
                  <a:pt x="388784" y="0"/>
                </a:lnTo>
                <a:lnTo>
                  <a:pt x="7" y="268148"/>
                </a:lnTo>
                <a:close/>
              </a:path>
            </a:pathLst>
          </a:custGeom>
          <a:solidFill>
            <a:schemeClr val="accent5">
              <a:lumMod val="90000"/>
            </a:schemeClr>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8" name="任意多边形 77"/>
          <p:cNvSpPr/>
          <p:nvPr/>
        </p:nvSpPr>
        <p:spPr bwMode="auto">
          <a:xfrm>
            <a:off x="5756670" y="1971952"/>
            <a:ext cx="2650769" cy="891503"/>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11" fmla="*/ 7 w 3529003"/>
              <a:gd name="connsiteY11" fmla="*/ 264732 h 1183454"/>
              <a:gd name="connsiteX0" fmla="*/ 7 w 3529003"/>
              <a:gd name="connsiteY0" fmla="*/ 290407 h 1209129"/>
              <a:gd name="connsiteX1" fmla="*/ 42434 w 3529003"/>
              <a:gd name="connsiteY1" fmla="*/ 525636 h 1209129"/>
              <a:gd name="connsiteX2" fmla="*/ 199682 w 3529003"/>
              <a:gd name="connsiteY2" fmla="*/ 798929 h 1209129"/>
              <a:gd name="connsiteX3" fmla="*/ 502370 w 3529003"/>
              <a:gd name="connsiteY3" fmla="*/ 1037738 h 1209129"/>
              <a:gd name="connsiteX4" fmla="*/ 899474 w 3529003"/>
              <a:gd name="connsiteY4" fmla="*/ 1177592 h 1209129"/>
              <a:gd name="connsiteX5" fmla="*/ 1348510 w 3529003"/>
              <a:gd name="connsiteY5" fmla="*/ 1201750 h 1209129"/>
              <a:gd name="connsiteX6" fmla="*/ 1821900 w 3529003"/>
              <a:gd name="connsiteY6" fmla="*/ 1076494 h 1209129"/>
              <a:gd name="connsiteX7" fmla="*/ 2234397 w 3529003"/>
              <a:gd name="connsiteY7" fmla="*/ 859212 h 1209129"/>
              <a:gd name="connsiteX8" fmla="*/ 2625280 w 3529003"/>
              <a:gd name="connsiteY8" fmla="*/ 622017 h 1209129"/>
              <a:gd name="connsiteX9" fmla="*/ 3037098 w 3529003"/>
              <a:gd name="connsiteY9" fmla="*/ 350157 h 1209129"/>
              <a:gd name="connsiteX10" fmla="*/ 3529003 w 3529003"/>
              <a:gd name="connsiteY10" fmla="*/ 25675 h 1209129"/>
              <a:gd name="connsiteX11" fmla="*/ 388784 w 3529003"/>
              <a:gd name="connsiteY11" fmla="*/ 22259 h 1209129"/>
              <a:gd name="connsiteX12" fmla="*/ 7 w 3529003"/>
              <a:gd name="connsiteY12" fmla="*/ 290407 h 1209129"/>
              <a:gd name="connsiteX0" fmla="*/ 7 w 3529003"/>
              <a:gd name="connsiteY0" fmla="*/ 268148 h 1186870"/>
              <a:gd name="connsiteX1" fmla="*/ 42434 w 3529003"/>
              <a:gd name="connsiteY1" fmla="*/ 503377 h 1186870"/>
              <a:gd name="connsiteX2" fmla="*/ 199682 w 3529003"/>
              <a:gd name="connsiteY2" fmla="*/ 776670 h 1186870"/>
              <a:gd name="connsiteX3" fmla="*/ 502370 w 3529003"/>
              <a:gd name="connsiteY3" fmla="*/ 1015479 h 1186870"/>
              <a:gd name="connsiteX4" fmla="*/ 899474 w 3529003"/>
              <a:gd name="connsiteY4" fmla="*/ 1155333 h 1186870"/>
              <a:gd name="connsiteX5" fmla="*/ 1348510 w 3529003"/>
              <a:gd name="connsiteY5" fmla="*/ 1179491 h 1186870"/>
              <a:gd name="connsiteX6" fmla="*/ 1821900 w 3529003"/>
              <a:gd name="connsiteY6" fmla="*/ 1054235 h 1186870"/>
              <a:gd name="connsiteX7" fmla="*/ 2234397 w 3529003"/>
              <a:gd name="connsiteY7" fmla="*/ 836953 h 1186870"/>
              <a:gd name="connsiteX8" fmla="*/ 2625280 w 3529003"/>
              <a:gd name="connsiteY8" fmla="*/ 599758 h 1186870"/>
              <a:gd name="connsiteX9" fmla="*/ 3037098 w 3529003"/>
              <a:gd name="connsiteY9" fmla="*/ 327898 h 1186870"/>
              <a:gd name="connsiteX10" fmla="*/ 3529003 w 3529003"/>
              <a:gd name="connsiteY10" fmla="*/ 3416 h 1186870"/>
              <a:gd name="connsiteX11" fmla="*/ 388784 w 3529003"/>
              <a:gd name="connsiteY11" fmla="*/ 0 h 1186870"/>
              <a:gd name="connsiteX12" fmla="*/ 7 w 3529003"/>
              <a:gd name="connsiteY12" fmla="*/ 268148 h 118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29003" h="1186870">
                <a:moveTo>
                  <a:pt x="7" y="268148"/>
                </a:moveTo>
                <a:cubicBezTo>
                  <a:pt x="-408" y="352359"/>
                  <a:pt x="16775" y="418623"/>
                  <a:pt x="42434" y="503377"/>
                </a:cubicBezTo>
                <a:cubicBezTo>
                  <a:pt x="68093" y="588131"/>
                  <a:pt x="122645" y="684583"/>
                  <a:pt x="199682" y="776670"/>
                </a:cubicBezTo>
                <a:cubicBezTo>
                  <a:pt x="276719" y="873837"/>
                  <a:pt x="385738" y="952369"/>
                  <a:pt x="502370" y="1015479"/>
                </a:cubicBezTo>
                <a:cubicBezTo>
                  <a:pt x="619002" y="1078589"/>
                  <a:pt x="758451" y="1127998"/>
                  <a:pt x="899474" y="1155333"/>
                </a:cubicBezTo>
                <a:cubicBezTo>
                  <a:pt x="1040497" y="1182668"/>
                  <a:pt x="1194772" y="1196341"/>
                  <a:pt x="1348510" y="1179491"/>
                </a:cubicBezTo>
                <a:cubicBezTo>
                  <a:pt x="1502248" y="1162641"/>
                  <a:pt x="1674252" y="1111325"/>
                  <a:pt x="1821900" y="1054235"/>
                </a:cubicBezTo>
                <a:cubicBezTo>
                  <a:pt x="1969548" y="997145"/>
                  <a:pt x="2100500" y="912699"/>
                  <a:pt x="2234397" y="836953"/>
                </a:cubicBezTo>
                <a:cubicBezTo>
                  <a:pt x="2368294" y="761207"/>
                  <a:pt x="2538327" y="648769"/>
                  <a:pt x="2625280" y="599758"/>
                </a:cubicBezTo>
                <a:lnTo>
                  <a:pt x="3037098" y="327898"/>
                </a:lnTo>
                <a:cubicBezTo>
                  <a:pt x="3233143" y="209011"/>
                  <a:pt x="3284005" y="153333"/>
                  <a:pt x="3529003" y="3416"/>
                </a:cubicBezTo>
                <a:lnTo>
                  <a:pt x="388784" y="0"/>
                </a:lnTo>
                <a:lnTo>
                  <a:pt x="7" y="268148"/>
                </a:lnTo>
                <a:close/>
              </a:path>
            </a:pathLst>
          </a:custGeom>
          <a:solidFill>
            <a:schemeClr val="accent5">
              <a:lumMod val="90000"/>
            </a:schemeClr>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50</a:t>
            </a:fld>
            <a:endParaRPr lang="zh-CN" altLang="en-US" dirty="0">
              <a:solidFill>
                <a:srgbClr val="C00000"/>
              </a:solidFill>
            </a:endParaRPr>
          </a:p>
        </p:txBody>
      </p:sp>
      <p:sp>
        <p:nvSpPr>
          <p:cNvPr id="60" name="Text Box 46"/>
          <p:cNvSpPr txBox="1">
            <a:spLocks noChangeArrowheads="1"/>
          </p:cNvSpPr>
          <p:nvPr/>
        </p:nvSpPr>
        <p:spPr bwMode="auto">
          <a:xfrm>
            <a:off x="430002" y="719619"/>
            <a:ext cx="39201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极限承载力</a:t>
            </a:r>
            <a:r>
              <a:rPr lang="en-US" altLang="zh-CN" sz="2800" b="1" i="1" dirty="0" err="1">
                <a:solidFill>
                  <a:srgbClr val="A50021"/>
                </a:solidFill>
                <a:latin typeface="微软雅黑" panose="020B0503020204020204" pitchFamily="34" charset="-122"/>
                <a:ea typeface="微软雅黑" panose="020B0503020204020204" pitchFamily="34" charset="-122"/>
              </a:rPr>
              <a:t>p</a:t>
            </a:r>
            <a:r>
              <a:rPr lang="en-US" altLang="zh-CN" sz="2800" b="1" baseline="-25000" dirty="0" err="1">
                <a:solidFill>
                  <a:srgbClr val="A50021"/>
                </a:solidFill>
                <a:latin typeface="微软雅黑" panose="020B0503020204020204" pitchFamily="34" charset="-122"/>
                <a:ea typeface="微软雅黑" panose="020B0503020204020204" pitchFamily="34" charset="-122"/>
              </a:rPr>
              <a:t>u</a:t>
            </a:r>
            <a:r>
              <a:rPr lang="zh-CN" altLang="en-US" sz="2800" b="1" dirty="0">
                <a:solidFill>
                  <a:srgbClr val="A50021"/>
                </a:solidFill>
                <a:latin typeface="微软雅黑" panose="020B0503020204020204" pitchFamily="34" charset="-122"/>
                <a:ea typeface="微软雅黑" panose="020B0503020204020204" pitchFamily="34" charset="-122"/>
              </a:rPr>
              <a:t>的组成</a:t>
            </a:r>
          </a:p>
        </p:txBody>
      </p:sp>
      <p:sp>
        <p:nvSpPr>
          <p:cNvPr id="61"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太沙基 </a:t>
            </a:r>
            <a:r>
              <a:rPr kumimoji="1" lang="en-US" altLang="zh-CN" sz="4000" b="1" dirty="0">
                <a:solidFill>
                  <a:srgbClr val="000066"/>
                </a:solidFill>
                <a:ea typeface="黑体" pitchFamily="2" charset="-122"/>
                <a:cs typeface="Times New Roman" panose="02020603050405020304" pitchFamily="18" charset="0"/>
              </a:rPr>
              <a:t>(Terzaghi) </a:t>
            </a:r>
            <a:r>
              <a:rPr kumimoji="1" lang="zh-CN" altLang="en-US" sz="4000" b="1" dirty="0">
                <a:solidFill>
                  <a:srgbClr val="000066"/>
                </a:solidFill>
                <a:ea typeface="黑体" pitchFamily="2" charset="-122"/>
                <a:cs typeface="Times New Roman" panose="02020603050405020304" pitchFamily="18" charset="0"/>
              </a:rPr>
              <a:t>公式</a:t>
            </a:r>
          </a:p>
        </p:txBody>
      </p:sp>
      <p:graphicFrame>
        <p:nvGraphicFramePr>
          <p:cNvPr id="9" name="Object 0"/>
          <p:cNvGraphicFramePr>
            <a:graphicFrameLocks noChangeAspect="1"/>
          </p:cNvGraphicFramePr>
          <p:nvPr>
            <p:extLst>
              <p:ext uri="{D42A27DB-BD31-4B8C-83A1-F6EECF244321}">
                <p14:modId xmlns:p14="http://schemas.microsoft.com/office/powerpoint/2010/main" val="188941791"/>
              </p:ext>
            </p:extLst>
          </p:nvPr>
        </p:nvGraphicFramePr>
        <p:xfrm>
          <a:off x="1012445" y="3188739"/>
          <a:ext cx="4381500" cy="920750"/>
        </p:xfrm>
        <a:graphic>
          <a:graphicData uri="http://schemas.openxmlformats.org/presentationml/2006/ole">
            <mc:AlternateContent xmlns:mc="http://schemas.openxmlformats.org/markup-compatibility/2006">
              <mc:Choice xmlns:v="urn:schemas-microsoft-com:vml" Requires="v">
                <p:oleObj spid="_x0000_s1819780" name="Equation" r:id="rId4" imgW="1752480" imgH="368280" progId="Equation.DSMT4">
                  <p:embed/>
                </p:oleObj>
              </mc:Choice>
              <mc:Fallback>
                <p:oleObj name="Equation" r:id="rId4" imgW="1752480" imgH="368280" progId="Equation.DSMT4">
                  <p:embed/>
                  <p:pic>
                    <p:nvPicPr>
                      <p:cNvPr id="600064" name="Object 0"/>
                      <p:cNvPicPr>
                        <a:picLocks noChangeAspect="1" noChangeArrowheads="1"/>
                      </p:cNvPicPr>
                      <p:nvPr/>
                    </p:nvPicPr>
                    <p:blipFill>
                      <a:blip r:embed="rId5"/>
                      <a:srcRect/>
                      <a:stretch>
                        <a:fillRect/>
                      </a:stretch>
                    </p:blipFill>
                    <p:spPr bwMode="auto">
                      <a:xfrm>
                        <a:off x="1012445" y="3188739"/>
                        <a:ext cx="4381500" cy="920750"/>
                      </a:xfrm>
                      <a:prstGeom prst="rect">
                        <a:avLst/>
                      </a:prstGeom>
                      <a:noFill/>
                      <a:ln w="9525">
                        <a:noFill/>
                        <a:miter lim="800000"/>
                        <a:headEnd/>
                        <a:tailEnd/>
                      </a:ln>
                      <a:effectLst/>
                      <a:extLst/>
                    </p:spPr>
                  </p:pic>
                </p:oleObj>
              </mc:Fallback>
            </mc:AlternateContent>
          </a:graphicData>
        </a:graphic>
      </p:graphicFrame>
      <p:sp>
        <p:nvSpPr>
          <p:cNvPr id="11" name="矩形 10"/>
          <p:cNvSpPr/>
          <p:nvPr/>
        </p:nvSpPr>
        <p:spPr>
          <a:xfrm>
            <a:off x="4855268" y="4164450"/>
            <a:ext cx="3695240"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滑裂面上的黏聚力</a:t>
            </a:r>
            <a:r>
              <a:rPr lang="en-US" altLang="zh-CN" sz="2000" b="1" i="1" dirty="0">
                <a:solidFill>
                  <a:srgbClr val="000066"/>
                </a:solidFill>
                <a:ea typeface="幼圆" panose="02010509060101010101" pitchFamily="49" charset="-122"/>
                <a:cs typeface="Times New Roman" panose="02020603050405020304" pitchFamily="18" charset="0"/>
              </a:rPr>
              <a:t>c</a:t>
            </a:r>
            <a:r>
              <a:rPr lang="zh-CN" altLang="en-US" sz="2000" b="1" dirty="0">
                <a:solidFill>
                  <a:srgbClr val="000066"/>
                </a:solidFill>
                <a:ea typeface="幼圆" panose="02010509060101010101" pitchFamily="49" charset="-122"/>
                <a:cs typeface="Times New Roman" panose="02020603050405020304" pitchFamily="18" charset="0"/>
              </a:rPr>
              <a:t>产生的抗力</a:t>
            </a:r>
          </a:p>
        </p:txBody>
      </p:sp>
      <p:sp>
        <p:nvSpPr>
          <p:cNvPr id="13" name="矩形 12"/>
          <p:cNvSpPr/>
          <p:nvPr/>
        </p:nvSpPr>
        <p:spPr>
          <a:xfrm>
            <a:off x="2175742" y="4956650"/>
            <a:ext cx="3163615"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滑动土体自重产生的抗力</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18" name="矩形 17"/>
          <p:cNvSpPr/>
          <p:nvPr/>
        </p:nvSpPr>
        <p:spPr>
          <a:xfrm>
            <a:off x="3735946" y="4560932"/>
            <a:ext cx="2718816" cy="430887"/>
          </a:xfrm>
          <a:prstGeom prst="rect">
            <a:avLst/>
          </a:prstGeom>
        </p:spPr>
        <p:txBody>
          <a:bodyPr wrap="square">
            <a:spAutoFit/>
          </a:bodyPr>
          <a:lstStyle/>
          <a:p>
            <a:pPr>
              <a:lnSpc>
                <a:spcPct val="110000"/>
              </a:lnSpc>
              <a:spcBef>
                <a:spcPts val="100"/>
              </a:spcBef>
              <a:spcAft>
                <a:spcPts val="100"/>
              </a:spcAft>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侧荷载 </a:t>
            </a:r>
            <a:r>
              <a:rPr kumimoji="1" lang="zh-CN" altLang="en-US" sz="2000" b="1" i="1" dirty="0">
                <a:solidFill>
                  <a:srgbClr val="000066"/>
                </a:solidFill>
                <a:sym typeface="Symbol" panose="05050102010706020507" pitchFamily="18" charset="2"/>
              </a:rPr>
              <a:t></a:t>
            </a:r>
            <a:r>
              <a:rPr kumimoji="1" lang="en-US" altLang="zh-CN" sz="2000" b="1" baseline="-25000" dirty="0">
                <a:solidFill>
                  <a:srgbClr val="000066"/>
                </a:solidFill>
                <a:sym typeface="Symbol" panose="05050102010706020507" pitchFamily="18" charset="2"/>
              </a:rPr>
              <a:t>0</a:t>
            </a:r>
            <a:r>
              <a:rPr kumimoji="1" lang="en-US" altLang="zh-CN" sz="2000" b="1" i="1" dirty="0">
                <a:solidFill>
                  <a:srgbClr val="000066"/>
                </a:solidFill>
                <a:sym typeface="Symbol" panose="05050102010706020507" pitchFamily="18" charset="2"/>
              </a:rPr>
              <a:t>d</a:t>
            </a:r>
            <a:r>
              <a:rPr lang="en-US" altLang="zh-CN" sz="2000" b="1" dirty="0">
                <a:solidFill>
                  <a:srgbClr val="000066"/>
                </a:solidFill>
                <a:ea typeface="幼圆" panose="02010509060101010101" pitchFamily="49" charset="-122"/>
                <a:cs typeface="Times New Roman" panose="02020603050405020304" pitchFamily="18" charset="0"/>
              </a:rPr>
              <a:t> </a:t>
            </a:r>
            <a:r>
              <a:rPr lang="zh-CN" altLang="en-US" sz="2000" b="1" dirty="0">
                <a:solidFill>
                  <a:srgbClr val="000066"/>
                </a:solidFill>
                <a:ea typeface="幼圆" panose="02010509060101010101" pitchFamily="49" charset="-122"/>
                <a:cs typeface="Times New Roman" panose="02020603050405020304" pitchFamily="18" charset="0"/>
              </a:rPr>
              <a:t>产生的抗力</a:t>
            </a:r>
          </a:p>
        </p:txBody>
      </p:sp>
      <p:grpSp>
        <p:nvGrpSpPr>
          <p:cNvPr id="20" name="组合 19"/>
          <p:cNvGrpSpPr/>
          <p:nvPr/>
        </p:nvGrpSpPr>
        <p:grpSpPr>
          <a:xfrm>
            <a:off x="5460906" y="1582965"/>
            <a:ext cx="599926" cy="399736"/>
            <a:chOff x="4443756" y="2848235"/>
            <a:chExt cx="817863" cy="531427"/>
          </a:xfrm>
        </p:grpSpPr>
        <p:sp>
          <p:nvSpPr>
            <p:cNvPr id="21" name="Line 25"/>
            <p:cNvSpPr>
              <a:spLocks noChangeShapeType="1"/>
            </p:cNvSpPr>
            <p:nvPr/>
          </p:nvSpPr>
          <p:spPr bwMode="auto">
            <a:xfrm>
              <a:off x="5057153"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5"/>
            <p:cNvSpPr>
              <a:spLocks noChangeShapeType="1"/>
            </p:cNvSpPr>
            <p:nvPr/>
          </p:nvSpPr>
          <p:spPr bwMode="auto">
            <a:xfrm>
              <a:off x="4443756"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5"/>
            <p:cNvSpPr>
              <a:spLocks noChangeShapeType="1"/>
            </p:cNvSpPr>
            <p:nvPr/>
          </p:nvSpPr>
          <p:spPr bwMode="auto">
            <a:xfrm>
              <a:off x="4648222"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5"/>
            <p:cNvSpPr>
              <a:spLocks noChangeShapeType="1"/>
            </p:cNvSpPr>
            <p:nvPr/>
          </p:nvSpPr>
          <p:spPr bwMode="auto">
            <a:xfrm>
              <a:off x="4852687"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a:off x="5261619"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26" name="直接连接符 25"/>
          <p:cNvCxnSpPr/>
          <p:nvPr/>
        </p:nvCxnSpPr>
        <p:spPr bwMode="auto">
          <a:xfrm flipH="1">
            <a:off x="2948555" y="1987173"/>
            <a:ext cx="5609078"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 Box 21"/>
          <p:cNvSpPr txBox="1">
            <a:spLocks noChangeArrowheads="1"/>
          </p:cNvSpPr>
          <p:nvPr/>
        </p:nvSpPr>
        <p:spPr bwMode="auto">
          <a:xfrm>
            <a:off x="7641733" y="1300739"/>
            <a:ext cx="77777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q=</a:t>
            </a: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sym typeface="Symbol" panose="05050102010706020507" pitchFamily="18" charset="2"/>
              </a:rPr>
              <a:t>0</a:t>
            </a:r>
            <a:r>
              <a:rPr kumimoji="1" lang="en-US" altLang="zh-CN" sz="2000" b="1" i="1" dirty="0">
                <a:solidFill>
                  <a:srgbClr val="000066"/>
                </a:solidFill>
                <a:latin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ndParaRPr>
          </a:p>
        </p:txBody>
      </p:sp>
      <p:grpSp>
        <p:nvGrpSpPr>
          <p:cNvPr id="28" name="组合 27"/>
          <p:cNvGrpSpPr/>
          <p:nvPr/>
        </p:nvGrpSpPr>
        <p:grpSpPr>
          <a:xfrm>
            <a:off x="6057774" y="1772788"/>
            <a:ext cx="2489194" cy="217172"/>
            <a:chOff x="5257555" y="3519695"/>
            <a:chExt cx="2927595" cy="288718"/>
          </a:xfrm>
        </p:grpSpPr>
        <p:sp>
          <p:nvSpPr>
            <p:cNvPr id="29" name="Line 25"/>
            <p:cNvSpPr>
              <a:spLocks noChangeShapeType="1"/>
            </p:cNvSpPr>
            <p:nvPr/>
          </p:nvSpPr>
          <p:spPr bwMode="auto">
            <a:xfrm>
              <a:off x="55404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30" name="直接连接符 29"/>
            <p:cNvCxnSpPr/>
            <p:nvPr/>
          </p:nvCxnSpPr>
          <p:spPr bwMode="auto">
            <a:xfrm flipH="1">
              <a:off x="5257555" y="3519695"/>
              <a:ext cx="2927595"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Line 25"/>
            <p:cNvSpPr>
              <a:spLocks noChangeShapeType="1"/>
            </p:cNvSpPr>
            <p:nvPr/>
          </p:nvSpPr>
          <p:spPr bwMode="auto">
            <a:xfrm>
              <a:off x="5819847" y="352555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p:cNvSpPr>
              <a:spLocks noChangeShapeType="1"/>
            </p:cNvSpPr>
            <p:nvPr/>
          </p:nvSpPr>
          <p:spPr bwMode="auto">
            <a:xfrm>
              <a:off x="6099247" y="3525556"/>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5"/>
            <p:cNvSpPr>
              <a:spLocks noChangeShapeType="1"/>
            </p:cNvSpPr>
            <p:nvPr/>
          </p:nvSpPr>
          <p:spPr bwMode="auto">
            <a:xfrm>
              <a:off x="63786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5"/>
            <p:cNvSpPr>
              <a:spLocks noChangeShapeType="1"/>
            </p:cNvSpPr>
            <p:nvPr/>
          </p:nvSpPr>
          <p:spPr bwMode="auto">
            <a:xfrm>
              <a:off x="66580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5"/>
            <p:cNvSpPr>
              <a:spLocks noChangeShapeType="1"/>
            </p:cNvSpPr>
            <p:nvPr/>
          </p:nvSpPr>
          <p:spPr bwMode="auto">
            <a:xfrm>
              <a:off x="69374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25"/>
            <p:cNvSpPr>
              <a:spLocks noChangeShapeType="1"/>
            </p:cNvSpPr>
            <p:nvPr/>
          </p:nvSpPr>
          <p:spPr bwMode="auto">
            <a:xfrm>
              <a:off x="72168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25"/>
            <p:cNvSpPr>
              <a:spLocks noChangeShapeType="1"/>
            </p:cNvSpPr>
            <p:nvPr/>
          </p:nvSpPr>
          <p:spPr bwMode="auto">
            <a:xfrm>
              <a:off x="74962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25"/>
            <p:cNvSpPr>
              <a:spLocks noChangeShapeType="1"/>
            </p:cNvSpPr>
            <p:nvPr/>
          </p:nvSpPr>
          <p:spPr bwMode="auto">
            <a:xfrm>
              <a:off x="776929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25"/>
            <p:cNvSpPr>
              <a:spLocks noChangeShapeType="1"/>
            </p:cNvSpPr>
            <p:nvPr/>
          </p:nvSpPr>
          <p:spPr bwMode="auto">
            <a:xfrm>
              <a:off x="80423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0" name="组合 39"/>
          <p:cNvGrpSpPr/>
          <p:nvPr/>
        </p:nvGrpSpPr>
        <p:grpSpPr>
          <a:xfrm flipH="1">
            <a:off x="2927227" y="1772788"/>
            <a:ext cx="2524217" cy="217172"/>
            <a:chOff x="5257555" y="3519695"/>
            <a:chExt cx="2927595" cy="288718"/>
          </a:xfrm>
        </p:grpSpPr>
        <p:sp>
          <p:nvSpPr>
            <p:cNvPr id="41" name="Line 25"/>
            <p:cNvSpPr>
              <a:spLocks noChangeShapeType="1"/>
            </p:cNvSpPr>
            <p:nvPr/>
          </p:nvSpPr>
          <p:spPr bwMode="auto">
            <a:xfrm>
              <a:off x="55404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42" name="直接连接符 41"/>
            <p:cNvCxnSpPr/>
            <p:nvPr/>
          </p:nvCxnSpPr>
          <p:spPr bwMode="auto">
            <a:xfrm flipH="1">
              <a:off x="5257555" y="3519695"/>
              <a:ext cx="2927595"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Line 25"/>
            <p:cNvSpPr>
              <a:spLocks noChangeShapeType="1"/>
            </p:cNvSpPr>
            <p:nvPr/>
          </p:nvSpPr>
          <p:spPr bwMode="auto">
            <a:xfrm>
              <a:off x="5819847" y="3524461"/>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25"/>
            <p:cNvSpPr>
              <a:spLocks noChangeShapeType="1"/>
            </p:cNvSpPr>
            <p:nvPr/>
          </p:nvSpPr>
          <p:spPr bwMode="auto">
            <a:xfrm>
              <a:off x="6099247" y="3524461"/>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25"/>
            <p:cNvSpPr>
              <a:spLocks noChangeShapeType="1"/>
            </p:cNvSpPr>
            <p:nvPr/>
          </p:nvSpPr>
          <p:spPr bwMode="auto">
            <a:xfrm>
              <a:off x="6378647" y="352388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25"/>
            <p:cNvSpPr>
              <a:spLocks noChangeShapeType="1"/>
            </p:cNvSpPr>
            <p:nvPr/>
          </p:nvSpPr>
          <p:spPr bwMode="auto">
            <a:xfrm>
              <a:off x="66580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25"/>
            <p:cNvSpPr>
              <a:spLocks noChangeShapeType="1"/>
            </p:cNvSpPr>
            <p:nvPr/>
          </p:nvSpPr>
          <p:spPr bwMode="auto">
            <a:xfrm>
              <a:off x="6937447" y="3523884"/>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25"/>
            <p:cNvSpPr>
              <a:spLocks noChangeShapeType="1"/>
            </p:cNvSpPr>
            <p:nvPr/>
          </p:nvSpPr>
          <p:spPr bwMode="auto">
            <a:xfrm>
              <a:off x="72168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5"/>
            <p:cNvSpPr>
              <a:spLocks noChangeShapeType="1"/>
            </p:cNvSpPr>
            <p:nvPr/>
          </p:nvSpPr>
          <p:spPr bwMode="auto">
            <a:xfrm>
              <a:off x="749624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25"/>
            <p:cNvSpPr>
              <a:spLocks noChangeShapeType="1"/>
            </p:cNvSpPr>
            <p:nvPr/>
          </p:nvSpPr>
          <p:spPr bwMode="auto">
            <a:xfrm>
              <a:off x="7769297" y="3527895"/>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25"/>
            <p:cNvSpPr>
              <a:spLocks noChangeShapeType="1"/>
            </p:cNvSpPr>
            <p:nvPr/>
          </p:nvSpPr>
          <p:spPr bwMode="auto">
            <a:xfrm>
              <a:off x="8042347" y="3532573"/>
              <a:ext cx="0" cy="275840"/>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 name="任意多边形 51"/>
          <p:cNvSpPr/>
          <p:nvPr/>
        </p:nvSpPr>
        <p:spPr bwMode="auto">
          <a:xfrm>
            <a:off x="5469979" y="1986896"/>
            <a:ext cx="587848" cy="201498"/>
          </a:xfrm>
          <a:custGeom>
            <a:avLst/>
            <a:gdLst>
              <a:gd name="connsiteX0" fmla="*/ 0 w 800100"/>
              <a:gd name="connsiteY0" fmla="*/ 0 h 781050"/>
              <a:gd name="connsiteX1" fmla="*/ 406400 w 800100"/>
              <a:gd name="connsiteY1" fmla="*/ 781050 h 781050"/>
              <a:gd name="connsiteX2" fmla="*/ 800100 w 800100"/>
              <a:gd name="connsiteY2" fmla="*/ 12700 h 781050"/>
              <a:gd name="connsiteX0" fmla="*/ 0 w 788670"/>
              <a:gd name="connsiteY0" fmla="*/ 0 h 773430"/>
              <a:gd name="connsiteX1" fmla="*/ 394970 w 788670"/>
              <a:gd name="connsiteY1" fmla="*/ 773430 h 773430"/>
              <a:gd name="connsiteX2" fmla="*/ 788670 w 788670"/>
              <a:gd name="connsiteY2" fmla="*/ 5080 h 773430"/>
              <a:gd name="connsiteX0" fmla="*/ 0 w 798195"/>
              <a:gd name="connsiteY0" fmla="*/ 13970 h 787400"/>
              <a:gd name="connsiteX1" fmla="*/ 394970 w 798195"/>
              <a:gd name="connsiteY1" fmla="*/ 787400 h 787400"/>
              <a:gd name="connsiteX2" fmla="*/ 798195 w 798195"/>
              <a:gd name="connsiteY2" fmla="*/ 0 h 787400"/>
              <a:gd name="connsiteX0" fmla="*/ 0 w 809625"/>
              <a:gd name="connsiteY0" fmla="*/ 2540 h 787400"/>
              <a:gd name="connsiteX1" fmla="*/ 406400 w 809625"/>
              <a:gd name="connsiteY1" fmla="*/ 787400 h 787400"/>
              <a:gd name="connsiteX2" fmla="*/ 809625 w 809625"/>
              <a:gd name="connsiteY2" fmla="*/ 0 h 787400"/>
              <a:gd name="connsiteX0" fmla="*/ 0 w 798195"/>
              <a:gd name="connsiteY0" fmla="*/ 4445 h 787400"/>
              <a:gd name="connsiteX1" fmla="*/ 394970 w 798195"/>
              <a:gd name="connsiteY1" fmla="*/ 787400 h 787400"/>
              <a:gd name="connsiteX2" fmla="*/ 798195 w 798195"/>
              <a:gd name="connsiteY2" fmla="*/ 0 h 787400"/>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163624"/>
              <a:gd name="connsiteX1" fmla="*/ 380793 w 798195"/>
              <a:gd name="connsiteY1" fmla="*/ 163624 h 163624"/>
              <a:gd name="connsiteX2" fmla="*/ 798195 w 798195"/>
              <a:gd name="connsiteY2" fmla="*/ 0 h 163624"/>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258205"/>
              <a:gd name="connsiteX1" fmla="*/ 399489 w 798195"/>
              <a:gd name="connsiteY1" fmla="*/ 258205 h 258205"/>
              <a:gd name="connsiteX2" fmla="*/ 798195 w 798195"/>
              <a:gd name="connsiteY2" fmla="*/ 0 h 258205"/>
            </a:gdLst>
            <a:ahLst/>
            <a:cxnLst>
              <a:cxn ang="0">
                <a:pos x="connsiteX0" y="connsiteY0"/>
              </a:cxn>
              <a:cxn ang="0">
                <a:pos x="connsiteX1" y="connsiteY1"/>
              </a:cxn>
              <a:cxn ang="0">
                <a:pos x="connsiteX2" y="connsiteY2"/>
              </a:cxn>
            </a:cxnLst>
            <a:rect l="l" t="t" r="r" b="b"/>
            <a:pathLst>
              <a:path w="798195" h="258205">
                <a:moveTo>
                  <a:pt x="0" y="4445"/>
                </a:moveTo>
                <a:lnTo>
                  <a:pt x="399489" y="258205"/>
                </a:lnTo>
                <a:lnTo>
                  <a:pt x="798195" y="0"/>
                </a:lnTo>
              </a:path>
            </a:pathLst>
          </a:custGeom>
          <a:solidFill>
            <a:srgbClr val="FFC000"/>
          </a:solid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3" name="任意多边形 52"/>
          <p:cNvSpPr/>
          <p:nvPr/>
        </p:nvSpPr>
        <p:spPr bwMode="auto">
          <a:xfrm>
            <a:off x="5764332" y="1981602"/>
            <a:ext cx="2654490" cy="890186"/>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9003" h="1183454">
                <a:moveTo>
                  <a:pt x="7" y="264732"/>
                </a:moveTo>
                <a:cubicBezTo>
                  <a:pt x="-408" y="348943"/>
                  <a:pt x="16775" y="415207"/>
                  <a:pt x="42434" y="499961"/>
                </a:cubicBezTo>
                <a:cubicBezTo>
                  <a:pt x="68093" y="584715"/>
                  <a:pt x="122645" y="681167"/>
                  <a:pt x="199682" y="773254"/>
                </a:cubicBezTo>
                <a:cubicBezTo>
                  <a:pt x="276719" y="870421"/>
                  <a:pt x="385738" y="948953"/>
                  <a:pt x="502370" y="1012063"/>
                </a:cubicBezTo>
                <a:cubicBezTo>
                  <a:pt x="619002" y="1075173"/>
                  <a:pt x="758451" y="1124582"/>
                  <a:pt x="899474" y="1151917"/>
                </a:cubicBezTo>
                <a:cubicBezTo>
                  <a:pt x="1040497" y="1179252"/>
                  <a:pt x="1194772" y="1192925"/>
                  <a:pt x="1348510" y="1176075"/>
                </a:cubicBezTo>
                <a:cubicBezTo>
                  <a:pt x="1502248" y="1159225"/>
                  <a:pt x="1674252" y="1107909"/>
                  <a:pt x="1821900" y="1050819"/>
                </a:cubicBezTo>
                <a:cubicBezTo>
                  <a:pt x="1969548" y="993729"/>
                  <a:pt x="2100500" y="909283"/>
                  <a:pt x="2234397" y="833537"/>
                </a:cubicBezTo>
                <a:cubicBezTo>
                  <a:pt x="2368294" y="757791"/>
                  <a:pt x="2538327" y="645353"/>
                  <a:pt x="2625280" y="596342"/>
                </a:cubicBezTo>
                <a:lnTo>
                  <a:pt x="3037098" y="324482"/>
                </a:lnTo>
                <a:cubicBezTo>
                  <a:pt x="3233143" y="205595"/>
                  <a:pt x="3284005" y="149917"/>
                  <a:pt x="3529003" y="0"/>
                </a:cubicBez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54" name="直接连接符 53"/>
          <p:cNvCxnSpPr/>
          <p:nvPr/>
        </p:nvCxnSpPr>
        <p:spPr bwMode="auto">
          <a:xfrm>
            <a:off x="6074044" y="1989960"/>
            <a:ext cx="1227563" cy="702377"/>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任意多边形 54"/>
          <p:cNvSpPr/>
          <p:nvPr/>
        </p:nvSpPr>
        <p:spPr bwMode="auto">
          <a:xfrm>
            <a:off x="5980140" y="1988633"/>
            <a:ext cx="707552" cy="191522"/>
          </a:xfrm>
          <a:custGeom>
            <a:avLst/>
            <a:gdLst>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9525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1030 w 826770"/>
              <a:gd name="connsiteY4" fmla="*/ 10668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28650 w 826770"/>
              <a:gd name="connsiteY4" fmla="*/ 118110 h 263026"/>
              <a:gd name="connsiteX5" fmla="*/ 826770 w 826770"/>
              <a:gd name="connsiteY5" fmla="*/ 0 h 263026"/>
              <a:gd name="connsiteX0" fmla="*/ 0 w 826770"/>
              <a:gd name="connsiteY0" fmla="*/ 156210 h 263026"/>
              <a:gd name="connsiteX1" fmla="*/ 76200 w 826770"/>
              <a:gd name="connsiteY1" fmla="*/ 228600 h 263026"/>
              <a:gd name="connsiteX2" fmla="*/ 213360 w 826770"/>
              <a:gd name="connsiteY2" fmla="*/ 262890 h 263026"/>
              <a:gd name="connsiteX3" fmla="*/ 388620 w 826770"/>
              <a:gd name="connsiteY3" fmla="*/ 217170 h 263026"/>
              <a:gd name="connsiteX4" fmla="*/ 632460 w 826770"/>
              <a:gd name="connsiteY4" fmla="*/ 102870 h 263026"/>
              <a:gd name="connsiteX5" fmla="*/ 826770 w 826770"/>
              <a:gd name="connsiteY5" fmla="*/ 0 h 263026"/>
              <a:gd name="connsiteX0" fmla="*/ 0 w 850216"/>
              <a:gd name="connsiteY0" fmla="*/ 52377 h 263448"/>
              <a:gd name="connsiteX1" fmla="*/ 99646 w 850216"/>
              <a:gd name="connsiteY1" fmla="*/ 228600 h 263448"/>
              <a:gd name="connsiteX2" fmla="*/ 236806 w 850216"/>
              <a:gd name="connsiteY2" fmla="*/ 262890 h 263448"/>
              <a:gd name="connsiteX3" fmla="*/ 412066 w 850216"/>
              <a:gd name="connsiteY3" fmla="*/ 217170 h 263448"/>
              <a:gd name="connsiteX4" fmla="*/ 655906 w 850216"/>
              <a:gd name="connsiteY4" fmla="*/ 102870 h 263448"/>
              <a:gd name="connsiteX5" fmla="*/ 850216 w 850216"/>
              <a:gd name="connsiteY5" fmla="*/ 0 h 263448"/>
              <a:gd name="connsiteX0" fmla="*/ 0 w 850216"/>
              <a:gd name="connsiteY0" fmla="*/ 52377 h 263281"/>
              <a:gd name="connsiteX1" fmla="*/ 126441 w 850216"/>
              <a:gd name="connsiteY1" fmla="*/ 195105 h 263281"/>
              <a:gd name="connsiteX2" fmla="*/ 236806 w 850216"/>
              <a:gd name="connsiteY2" fmla="*/ 262890 h 263281"/>
              <a:gd name="connsiteX3" fmla="*/ 412066 w 850216"/>
              <a:gd name="connsiteY3" fmla="*/ 217170 h 263281"/>
              <a:gd name="connsiteX4" fmla="*/ 655906 w 850216"/>
              <a:gd name="connsiteY4" fmla="*/ 102870 h 263281"/>
              <a:gd name="connsiteX5" fmla="*/ 850216 w 850216"/>
              <a:gd name="connsiteY5" fmla="*/ 0 h 263281"/>
              <a:gd name="connsiteX0" fmla="*/ 0 w 850216"/>
              <a:gd name="connsiteY0" fmla="*/ 52377 h 250161"/>
              <a:gd name="connsiteX1" fmla="*/ 126441 w 850216"/>
              <a:gd name="connsiteY1" fmla="*/ 195105 h 250161"/>
              <a:gd name="connsiteX2" fmla="*/ 256902 w 850216"/>
              <a:gd name="connsiteY2" fmla="*/ 249492 h 250161"/>
              <a:gd name="connsiteX3" fmla="*/ 412066 w 850216"/>
              <a:gd name="connsiteY3" fmla="*/ 217170 h 250161"/>
              <a:gd name="connsiteX4" fmla="*/ 655906 w 850216"/>
              <a:gd name="connsiteY4" fmla="*/ 102870 h 250161"/>
              <a:gd name="connsiteX5" fmla="*/ 850216 w 850216"/>
              <a:gd name="connsiteY5" fmla="*/ 0 h 250161"/>
              <a:gd name="connsiteX0" fmla="*/ 0 w 850216"/>
              <a:gd name="connsiteY0" fmla="*/ 52377 h 251711"/>
              <a:gd name="connsiteX1" fmla="*/ 126441 w 850216"/>
              <a:gd name="connsiteY1" fmla="*/ 195105 h 251711"/>
              <a:gd name="connsiteX2" fmla="*/ 256902 w 850216"/>
              <a:gd name="connsiteY2" fmla="*/ 249492 h 251711"/>
              <a:gd name="connsiteX3" fmla="*/ 475705 w 850216"/>
              <a:gd name="connsiteY3" fmla="*/ 227219 h 251711"/>
              <a:gd name="connsiteX4" fmla="*/ 655906 w 850216"/>
              <a:gd name="connsiteY4" fmla="*/ 102870 h 251711"/>
              <a:gd name="connsiteX5" fmla="*/ 850216 w 850216"/>
              <a:gd name="connsiteY5" fmla="*/ 0 h 251711"/>
              <a:gd name="connsiteX0" fmla="*/ 0 w 850216"/>
              <a:gd name="connsiteY0" fmla="*/ 52377 h 251402"/>
              <a:gd name="connsiteX1" fmla="*/ 126441 w 850216"/>
              <a:gd name="connsiteY1" fmla="*/ 195105 h 251402"/>
              <a:gd name="connsiteX2" fmla="*/ 256902 w 850216"/>
              <a:gd name="connsiteY2" fmla="*/ 249492 h 251402"/>
              <a:gd name="connsiteX3" fmla="*/ 475705 w 850216"/>
              <a:gd name="connsiteY3" fmla="*/ 227219 h 251402"/>
              <a:gd name="connsiteX4" fmla="*/ 682702 w 850216"/>
              <a:gd name="connsiteY4" fmla="*/ 116268 h 251402"/>
              <a:gd name="connsiteX5" fmla="*/ 850216 w 850216"/>
              <a:gd name="connsiteY5" fmla="*/ 0 h 251402"/>
              <a:gd name="connsiteX0" fmla="*/ 0 w 940652"/>
              <a:gd name="connsiteY0" fmla="*/ 55726 h 254751"/>
              <a:gd name="connsiteX1" fmla="*/ 126441 w 940652"/>
              <a:gd name="connsiteY1" fmla="*/ 198454 h 254751"/>
              <a:gd name="connsiteX2" fmla="*/ 256902 w 940652"/>
              <a:gd name="connsiteY2" fmla="*/ 252841 h 254751"/>
              <a:gd name="connsiteX3" fmla="*/ 475705 w 940652"/>
              <a:gd name="connsiteY3" fmla="*/ 230568 h 254751"/>
              <a:gd name="connsiteX4" fmla="*/ 682702 w 940652"/>
              <a:gd name="connsiteY4" fmla="*/ 119617 h 254751"/>
              <a:gd name="connsiteX5" fmla="*/ 940652 w 940652"/>
              <a:gd name="connsiteY5" fmla="*/ 0 h 254751"/>
              <a:gd name="connsiteX0" fmla="*/ 0 w 940652"/>
              <a:gd name="connsiteY0" fmla="*/ 55726 h 254618"/>
              <a:gd name="connsiteX1" fmla="*/ 126441 w 940652"/>
              <a:gd name="connsiteY1" fmla="*/ 198454 h 254618"/>
              <a:gd name="connsiteX2" fmla="*/ 256902 w 940652"/>
              <a:gd name="connsiteY2" fmla="*/ 252841 h 254618"/>
              <a:gd name="connsiteX3" fmla="*/ 475705 w 940652"/>
              <a:gd name="connsiteY3" fmla="*/ 230568 h 254618"/>
              <a:gd name="connsiteX4" fmla="*/ 682702 w 940652"/>
              <a:gd name="connsiteY4" fmla="*/ 126316 h 254618"/>
              <a:gd name="connsiteX5" fmla="*/ 940652 w 940652"/>
              <a:gd name="connsiteY5" fmla="*/ 0 h 25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652" h="254618">
                <a:moveTo>
                  <a:pt x="0" y="55726"/>
                </a:moveTo>
                <a:cubicBezTo>
                  <a:pt x="20320" y="83031"/>
                  <a:pt x="83624" y="165602"/>
                  <a:pt x="126441" y="198454"/>
                </a:cubicBezTo>
                <a:cubicBezTo>
                  <a:pt x="169258" y="231306"/>
                  <a:pt x="198691" y="247489"/>
                  <a:pt x="256902" y="252841"/>
                </a:cubicBezTo>
                <a:cubicBezTo>
                  <a:pt x="315113" y="258193"/>
                  <a:pt x="404738" y="251655"/>
                  <a:pt x="475705" y="230568"/>
                </a:cubicBezTo>
                <a:cubicBezTo>
                  <a:pt x="546672" y="209481"/>
                  <a:pt x="609677" y="162511"/>
                  <a:pt x="682702" y="126316"/>
                </a:cubicBezTo>
                <a:cubicBezTo>
                  <a:pt x="755727" y="90121"/>
                  <a:pt x="874294" y="29527"/>
                  <a:pt x="940652" y="0"/>
                </a:cubicBez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6" name="任意多边形 55"/>
          <p:cNvSpPr/>
          <p:nvPr/>
        </p:nvSpPr>
        <p:spPr bwMode="auto">
          <a:xfrm>
            <a:off x="5905533" y="1986115"/>
            <a:ext cx="1420520" cy="421783"/>
          </a:xfrm>
          <a:custGeom>
            <a:avLst/>
            <a:gdLst>
              <a:gd name="connsiteX0" fmla="*/ 0 w 1558290"/>
              <a:gd name="connsiteY0" fmla="*/ 335280 h 536052"/>
              <a:gd name="connsiteX1" fmla="*/ 110490 w 1558290"/>
              <a:gd name="connsiteY1" fmla="*/ 453390 h 536052"/>
              <a:gd name="connsiteX2" fmla="*/ 285750 w 1558290"/>
              <a:gd name="connsiteY2" fmla="*/ 533400 h 536052"/>
              <a:gd name="connsiteX3" fmla="*/ 510540 w 1558290"/>
              <a:gd name="connsiteY3" fmla="*/ 506730 h 536052"/>
              <a:gd name="connsiteX4" fmla="*/ 811530 w 1558290"/>
              <a:gd name="connsiteY4" fmla="*/ 407670 h 536052"/>
              <a:gd name="connsiteX5" fmla="*/ 1055370 w 1558290"/>
              <a:gd name="connsiteY5" fmla="*/ 281940 h 536052"/>
              <a:gd name="connsiteX6" fmla="*/ 1299210 w 1558290"/>
              <a:gd name="connsiteY6" fmla="*/ 156210 h 536052"/>
              <a:gd name="connsiteX7" fmla="*/ 1558290 w 1558290"/>
              <a:gd name="connsiteY7" fmla="*/ 0 h 536052"/>
              <a:gd name="connsiteX0" fmla="*/ 0 w 1562100"/>
              <a:gd name="connsiteY0" fmla="*/ 337185 h 536052"/>
              <a:gd name="connsiteX1" fmla="*/ 114300 w 1562100"/>
              <a:gd name="connsiteY1" fmla="*/ 453390 h 536052"/>
              <a:gd name="connsiteX2" fmla="*/ 289560 w 1562100"/>
              <a:gd name="connsiteY2" fmla="*/ 533400 h 536052"/>
              <a:gd name="connsiteX3" fmla="*/ 514350 w 1562100"/>
              <a:gd name="connsiteY3" fmla="*/ 506730 h 536052"/>
              <a:gd name="connsiteX4" fmla="*/ 815340 w 1562100"/>
              <a:gd name="connsiteY4" fmla="*/ 407670 h 536052"/>
              <a:gd name="connsiteX5" fmla="*/ 1059180 w 1562100"/>
              <a:gd name="connsiteY5" fmla="*/ 281940 h 536052"/>
              <a:gd name="connsiteX6" fmla="*/ 1303020 w 1562100"/>
              <a:gd name="connsiteY6" fmla="*/ 156210 h 536052"/>
              <a:gd name="connsiteX7" fmla="*/ 1562100 w 1562100"/>
              <a:gd name="connsiteY7" fmla="*/ 0 h 536052"/>
              <a:gd name="connsiteX0" fmla="*/ 0 w 1612342"/>
              <a:gd name="connsiteY0" fmla="*/ 112772 h 536052"/>
              <a:gd name="connsiteX1" fmla="*/ 164542 w 1612342"/>
              <a:gd name="connsiteY1" fmla="*/ 453390 h 536052"/>
              <a:gd name="connsiteX2" fmla="*/ 339802 w 1612342"/>
              <a:gd name="connsiteY2" fmla="*/ 533400 h 536052"/>
              <a:gd name="connsiteX3" fmla="*/ 564592 w 1612342"/>
              <a:gd name="connsiteY3" fmla="*/ 506730 h 536052"/>
              <a:gd name="connsiteX4" fmla="*/ 865582 w 1612342"/>
              <a:gd name="connsiteY4" fmla="*/ 407670 h 536052"/>
              <a:gd name="connsiteX5" fmla="*/ 1109422 w 1612342"/>
              <a:gd name="connsiteY5" fmla="*/ 281940 h 536052"/>
              <a:gd name="connsiteX6" fmla="*/ 1353262 w 1612342"/>
              <a:gd name="connsiteY6" fmla="*/ 156210 h 536052"/>
              <a:gd name="connsiteX7" fmla="*/ 1612342 w 1612342"/>
              <a:gd name="connsiteY7" fmla="*/ 0 h 536052"/>
              <a:gd name="connsiteX0" fmla="*/ 0 w 1612342"/>
              <a:gd name="connsiteY0" fmla="*/ 112772 h 544475"/>
              <a:gd name="connsiteX1" fmla="*/ 141096 w 1612342"/>
              <a:gd name="connsiteY1" fmla="*/ 332810 h 544475"/>
              <a:gd name="connsiteX2" fmla="*/ 339802 w 1612342"/>
              <a:gd name="connsiteY2" fmla="*/ 533400 h 544475"/>
              <a:gd name="connsiteX3" fmla="*/ 564592 w 1612342"/>
              <a:gd name="connsiteY3" fmla="*/ 506730 h 544475"/>
              <a:gd name="connsiteX4" fmla="*/ 865582 w 1612342"/>
              <a:gd name="connsiteY4" fmla="*/ 407670 h 544475"/>
              <a:gd name="connsiteX5" fmla="*/ 1109422 w 1612342"/>
              <a:gd name="connsiteY5" fmla="*/ 281940 h 544475"/>
              <a:gd name="connsiteX6" fmla="*/ 1353262 w 1612342"/>
              <a:gd name="connsiteY6" fmla="*/ 156210 h 544475"/>
              <a:gd name="connsiteX7" fmla="*/ 1612342 w 1612342"/>
              <a:gd name="connsiteY7" fmla="*/ 0 h 544475"/>
              <a:gd name="connsiteX0" fmla="*/ 0 w 1612342"/>
              <a:gd name="connsiteY0" fmla="*/ 112772 h 519953"/>
              <a:gd name="connsiteX1" fmla="*/ 141096 w 1612342"/>
              <a:gd name="connsiteY1" fmla="*/ 332810 h 519953"/>
              <a:gd name="connsiteX2" fmla="*/ 349850 w 1612342"/>
              <a:gd name="connsiteY2" fmla="*/ 499906 h 519953"/>
              <a:gd name="connsiteX3" fmla="*/ 564592 w 1612342"/>
              <a:gd name="connsiteY3" fmla="*/ 506730 h 519953"/>
              <a:gd name="connsiteX4" fmla="*/ 865582 w 1612342"/>
              <a:gd name="connsiteY4" fmla="*/ 407670 h 519953"/>
              <a:gd name="connsiteX5" fmla="*/ 1109422 w 1612342"/>
              <a:gd name="connsiteY5" fmla="*/ 281940 h 519953"/>
              <a:gd name="connsiteX6" fmla="*/ 1353262 w 1612342"/>
              <a:gd name="connsiteY6" fmla="*/ 156210 h 519953"/>
              <a:gd name="connsiteX7" fmla="*/ 1612342 w 1612342"/>
              <a:gd name="connsiteY7" fmla="*/ 0 h 519953"/>
              <a:gd name="connsiteX0" fmla="*/ 0 w 1612342"/>
              <a:gd name="connsiteY0" fmla="*/ 112772 h 557546"/>
              <a:gd name="connsiteX1" fmla="*/ 141096 w 1612342"/>
              <a:gd name="connsiteY1" fmla="*/ 332810 h 557546"/>
              <a:gd name="connsiteX2" fmla="*/ 349850 w 1612342"/>
              <a:gd name="connsiteY2" fmla="*/ 499906 h 557546"/>
              <a:gd name="connsiteX3" fmla="*/ 608135 w 1612342"/>
              <a:gd name="connsiteY3" fmla="*/ 553623 h 557546"/>
              <a:gd name="connsiteX4" fmla="*/ 865582 w 1612342"/>
              <a:gd name="connsiteY4" fmla="*/ 407670 h 557546"/>
              <a:gd name="connsiteX5" fmla="*/ 1109422 w 1612342"/>
              <a:gd name="connsiteY5" fmla="*/ 281940 h 557546"/>
              <a:gd name="connsiteX6" fmla="*/ 1353262 w 1612342"/>
              <a:gd name="connsiteY6" fmla="*/ 156210 h 557546"/>
              <a:gd name="connsiteX7" fmla="*/ 1612342 w 1612342"/>
              <a:gd name="connsiteY7" fmla="*/ 0 h 557546"/>
              <a:gd name="connsiteX0" fmla="*/ 0 w 1612342"/>
              <a:gd name="connsiteY0" fmla="*/ 112772 h 554039"/>
              <a:gd name="connsiteX1" fmla="*/ 141096 w 1612342"/>
              <a:gd name="connsiteY1" fmla="*/ 332810 h 554039"/>
              <a:gd name="connsiteX2" fmla="*/ 349850 w 1612342"/>
              <a:gd name="connsiteY2" fmla="*/ 499906 h 554039"/>
              <a:gd name="connsiteX3" fmla="*/ 608135 w 1612342"/>
              <a:gd name="connsiteY3" fmla="*/ 553623 h 554039"/>
              <a:gd name="connsiteX4" fmla="*/ 992861 w 1612342"/>
              <a:gd name="connsiteY4" fmla="*/ 478008 h 554039"/>
              <a:gd name="connsiteX5" fmla="*/ 1109422 w 1612342"/>
              <a:gd name="connsiteY5" fmla="*/ 281940 h 554039"/>
              <a:gd name="connsiteX6" fmla="*/ 1353262 w 1612342"/>
              <a:gd name="connsiteY6" fmla="*/ 156210 h 554039"/>
              <a:gd name="connsiteX7" fmla="*/ 1612342 w 1612342"/>
              <a:gd name="connsiteY7" fmla="*/ 0 h 554039"/>
              <a:gd name="connsiteX0" fmla="*/ 0 w 1612342"/>
              <a:gd name="connsiteY0" fmla="*/ 112772 h 554039"/>
              <a:gd name="connsiteX1" fmla="*/ 141096 w 1612342"/>
              <a:gd name="connsiteY1" fmla="*/ 332810 h 554039"/>
              <a:gd name="connsiteX2" fmla="*/ 349850 w 1612342"/>
              <a:gd name="connsiteY2" fmla="*/ 499906 h 554039"/>
              <a:gd name="connsiteX3" fmla="*/ 608135 w 1612342"/>
              <a:gd name="connsiteY3" fmla="*/ 553623 h 554039"/>
              <a:gd name="connsiteX4" fmla="*/ 992861 w 1612342"/>
              <a:gd name="connsiteY4" fmla="*/ 478008 h 554039"/>
              <a:gd name="connsiteX5" fmla="*/ 1276895 w 1612342"/>
              <a:gd name="connsiteY5" fmla="*/ 325483 h 554039"/>
              <a:gd name="connsiteX6" fmla="*/ 1353262 w 1612342"/>
              <a:gd name="connsiteY6" fmla="*/ 156210 h 554039"/>
              <a:gd name="connsiteX7" fmla="*/ 1612342 w 1612342"/>
              <a:gd name="connsiteY7" fmla="*/ 0 h 554039"/>
              <a:gd name="connsiteX0" fmla="*/ 0 w 1612342"/>
              <a:gd name="connsiteY0" fmla="*/ 112772 h 554039"/>
              <a:gd name="connsiteX1" fmla="*/ 141096 w 1612342"/>
              <a:gd name="connsiteY1" fmla="*/ 332810 h 554039"/>
              <a:gd name="connsiteX2" fmla="*/ 349850 w 1612342"/>
              <a:gd name="connsiteY2" fmla="*/ 499906 h 554039"/>
              <a:gd name="connsiteX3" fmla="*/ 608135 w 1612342"/>
              <a:gd name="connsiteY3" fmla="*/ 553623 h 554039"/>
              <a:gd name="connsiteX4" fmla="*/ 992861 w 1612342"/>
              <a:gd name="connsiteY4" fmla="*/ 478008 h 554039"/>
              <a:gd name="connsiteX5" fmla="*/ 1276895 w 1612342"/>
              <a:gd name="connsiteY5" fmla="*/ 325483 h 554039"/>
              <a:gd name="connsiteX6" fmla="*/ 1534132 w 1612342"/>
              <a:gd name="connsiteY6" fmla="*/ 183005 h 554039"/>
              <a:gd name="connsiteX7" fmla="*/ 1612342 w 1612342"/>
              <a:gd name="connsiteY7" fmla="*/ 0 h 554039"/>
              <a:gd name="connsiteX0" fmla="*/ 0 w 1903745"/>
              <a:gd name="connsiteY0" fmla="*/ 119471 h 560738"/>
              <a:gd name="connsiteX1" fmla="*/ 141096 w 1903745"/>
              <a:gd name="connsiteY1" fmla="*/ 339509 h 560738"/>
              <a:gd name="connsiteX2" fmla="*/ 349850 w 1903745"/>
              <a:gd name="connsiteY2" fmla="*/ 506605 h 560738"/>
              <a:gd name="connsiteX3" fmla="*/ 608135 w 1903745"/>
              <a:gd name="connsiteY3" fmla="*/ 560322 h 560738"/>
              <a:gd name="connsiteX4" fmla="*/ 992861 w 1903745"/>
              <a:gd name="connsiteY4" fmla="*/ 484707 h 560738"/>
              <a:gd name="connsiteX5" fmla="*/ 1276895 w 1903745"/>
              <a:gd name="connsiteY5" fmla="*/ 332182 h 560738"/>
              <a:gd name="connsiteX6" fmla="*/ 1534132 w 1903745"/>
              <a:gd name="connsiteY6" fmla="*/ 189704 h 560738"/>
              <a:gd name="connsiteX7" fmla="*/ 1903745 w 1903745"/>
              <a:gd name="connsiteY7" fmla="*/ 0 h 560738"/>
              <a:gd name="connsiteX0" fmla="*/ 0 w 1903745"/>
              <a:gd name="connsiteY0" fmla="*/ 119471 h 560738"/>
              <a:gd name="connsiteX1" fmla="*/ 141096 w 1903745"/>
              <a:gd name="connsiteY1" fmla="*/ 339509 h 560738"/>
              <a:gd name="connsiteX2" fmla="*/ 349850 w 1903745"/>
              <a:gd name="connsiteY2" fmla="*/ 506605 h 560738"/>
              <a:gd name="connsiteX3" fmla="*/ 608135 w 1903745"/>
              <a:gd name="connsiteY3" fmla="*/ 560322 h 560738"/>
              <a:gd name="connsiteX4" fmla="*/ 992861 w 1903745"/>
              <a:gd name="connsiteY4" fmla="*/ 484707 h 560738"/>
              <a:gd name="connsiteX5" fmla="*/ 1276895 w 1903745"/>
              <a:gd name="connsiteY5" fmla="*/ 332182 h 560738"/>
              <a:gd name="connsiteX6" fmla="*/ 1534132 w 1903745"/>
              <a:gd name="connsiteY6" fmla="*/ 189704 h 560738"/>
              <a:gd name="connsiteX7" fmla="*/ 1903745 w 1903745"/>
              <a:gd name="connsiteY7" fmla="*/ 0 h 560738"/>
              <a:gd name="connsiteX0" fmla="*/ 0 w 1888505"/>
              <a:gd name="connsiteY0" fmla="*/ 137251 h 560738"/>
              <a:gd name="connsiteX1" fmla="*/ 125856 w 1888505"/>
              <a:gd name="connsiteY1" fmla="*/ 339509 h 560738"/>
              <a:gd name="connsiteX2" fmla="*/ 334610 w 1888505"/>
              <a:gd name="connsiteY2" fmla="*/ 506605 h 560738"/>
              <a:gd name="connsiteX3" fmla="*/ 592895 w 1888505"/>
              <a:gd name="connsiteY3" fmla="*/ 560322 h 560738"/>
              <a:gd name="connsiteX4" fmla="*/ 977621 w 1888505"/>
              <a:gd name="connsiteY4" fmla="*/ 484707 h 560738"/>
              <a:gd name="connsiteX5" fmla="*/ 1261655 w 1888505"/>
              <a:gd name="connsiteY5" fmla="*/ 332182 h 560738"/>
              <a:gd name="connsiteX6" fmla="*/ 1518892 w 1888505"/>
              <a:gd name="connsiteY6" fmla="*/ 189704 h 560738"/>
              <a:gd name="connsiteX7" fmla="*/ 1888505 w 1888505"/>
              <a:gd name="connsiteY7" fmla="*/ 0 h 560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8505" h="560738">
                <a:moveTo>
                  <a:pt x="0" y="137251"/>
                </a:moveTo>
                <a:cubicBezTo>
                  <a:pt x="31432" y="179796"/>
                  <a:pt x="70088" y="277950"/>
                  <a:pt x="125856" y="339509"/>
                </a:cubicBezTo>
                <a:cubicBezTo>
                  <a:pt x="181624" y="401068"/>
                  <a:pt x="256770" y="469803"/>
                  <a:pt x="334610" y="506605"/>
                </a:cubicBezTo>
                <a:cubicBezTo>
                  <a:pt x="412450" y="543407"/>
                  <a:pt x="485727" y="563972"/>
                  <a:pt x="592895" y="560322"/>
                </a:cubicBezTo>
                <a:cubicBezTo>
                  <a:pt x="700063" y="556672"/>
                  <a:pt x="866161" y="522730"/>
                  <a:pt x="977621" y="484707"/>
                </a:cubicBezTo>
                <a:cubicBezTo>
                  <a:pt x="1089081" y="446684"/>
                  <a:pt x="1171443" y="381349"/>
                  <a:pt x="1261655" y="332182"/>
                </a:cubicBezTo>
                <a:lnTo>
                  <a:pt x="1518892" y="189704"/>
                </a:lnTo>
                <a:cubicBezTo>
                  <a:pt x="1602712" y="142714"/>
                  <a:pt x="1800875" y="54610"/>
                  <a:pt x="1888505" y="0"/>
                </a:cubicBez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8" name="任意多边形 57"/>
          <p:cNvSpPr/>
          <p:nvPr/>
        </p:nvSpPr>
        <p:spPr bwMode="auto">
          <a:xfrm>
            <a:off x="5826066" y="1983249"/>
            <a:ext cx="2124773" cy="666753"/>
          </a:xfrm>
          <a:custGeom>
            <a:avLst/>
            <a:gdLst>
              <a:gd name="connsiteX0" fmla="*/ 0 w 2381250"/>
              <a:gd name="connsiteY0" fmla="*/ 525780 h 783784"/>
              <a:gd name="connsiteX1" fmla="*/ 140970 w 2381250"/>
              <a:gd name="connsiteY1" fmla="*/ 693420 h 783784"/>
              <a:gd name="connsiteX2" fmla="*/ 369570 w 2381250"/>
              <a:gd name="connsiteY2" fmla="*/ 777240 h 783784"/>
              <a:gd name="connsiteX3" fmla="*/ 735330 w 2381250"/>
              <a:gd name="connsiteY3" fmla="*/ 765810 h 783784"/>
              <a:gd name="connsiteX4" fmla="*/ 1093470 w 2381250"/>
              <a:gd name="connsiteY4" fmla="*/ 666750 h 783784"/>
              <a:gd name="connsiteX5" fmla="*/ 1512570 w 2381250"/>
              <a:gd name="connsiteY5" fmla="*/ 461010 h 783784"/>
              <a:gd name="connsiteX6" fmla="*/ 1905000 w 2381250"/>
              <a:gd name="connsiteY6" fmla="*/ 247650 h 783784"/>
              <a:gd name="connsiteX7" fmla="*/ 2381250 w 2381250"/>
              <a:gd name="connsiteY7" fmla="*/ 0 h 783784"/>
              <a:gd name="connsiteX0" fmla="*/ 0 w 2421443"/>
              <a:gd name="connsiteY0" fmla="*/ 220980 h 783784"/>
              <a:gd name="connsiteX1" fmla="*/ 181163 w 2421443"/>
              <a:gd name="connsiteY1" fmla="*/ 693420 h 783784"/>
              <a:gd name="connsiteX2" fmla="*/ 409763 w 2421443"/>
              <a:gd name="connsiteY2" fmla="*/ 777240 h 783784"/>
              <a:gd name="connsiteX3" fmla="*/ 775523 w 2421443"/>
              <a:gd name="connsiteY3" fmla="*/ 765810 h 783784"/>
              <a:gd name="connsiteX4" fmla="*/ 1133663 w 2421443"/>
              <a:gd name="connsiteY4" fmla="*/ 666750 h 783784"/>
              <a:gd name="connsiteX5" fmla="*/ 1552763 w 2421443"/>
              <a:gd name="connsiteY5" fmla="*/ 461010 h 783784"/>
              <a:gd name="connsiteX6" fmla="*/ 1945193 w 2421443"/>
              <a:gd name="connsiteY6" fmla="*/ 247650 h 783784"/>
              <a:gd name="connsiteX7" fmla="*/ 2421443 w 2421443"/>
              <a:gd name="connsiteY7" fmla="*/ 0 h 783784"/>
              <a:gd name="connsiteX0" fmla="*/ 0 w 2448238"/>
              <a:gd name="connsiteY0" fmla="*/ 150642 h 783784"/>
              <a:gd name="connsiteX1" fmla="*/ 207958 w 2448238"/>
              <a:gd name="connsiteY1" fmla="*/ 693420 h 783784"/>
              <a:gd name="connsiteX2" fmla="*/ 436558 w 2448238"/>
              <a:gd name="connsiteY2" fmla="*/ 777240 h 783784"/>
              <a:gd name="connsiteX3" fmla="*/ 802318 w 2448238"/>
              <a:gd name="connsiteY3" fmla="*/ 765810 h 783784"/>
              <a:gd name="connsiteX4" fmla="*/ 1160458 w 2448238"/>
              <a:gd name="connsiteY4" fmla="*/ 666750 h 783784"/>
              <a:gd name="connsiteX5" fmla="*/ 1579558 w 2448238"/>
              <a:gd name="connsiteY5" fmla="*/ 461010 h 783784"/>
              <a:gd name="connsiteX6" fmla="*/ 1971988 w 2448238"/>
              <a:gd name="connsiteY6" fmla="*/ 247650 h 783784"/>
              <a:gd name="connsiteX7" fmla="*/ 2448238 w 2448238"/>
              <a:gd name="connsiteY7" fmla="*/ 0 h 783784"/>
              <a:gd name="connsiteX0" fmla="*/ 0 w 2448238"/>
              <a:gd name="connsiteY0" fmla="*/ 150642 h 794173"/>
              <a:gd name="connsiteX1" fmla="*/ 204609 w 2448238"/>
              <a:gd name="connsiteY1" fmla="*/ 552743 h 794173"/>
              <a:gd name="connsiteX2" fmla="*/ 436558 w 2448238"/>
              <a:gd name="connsiteY2" fmla="*/ 777240 h 794173"/>
              <a:gd name="connsiteX3" fmla="*/ 802318 w 2448238"/>
              <a:gd name="connsiteY3" fmla="*/ 765810 h 794173"/>
              <a:gd name="connsiteX4" fmla="*/ 1160458 w 2448238"/>
              <a:gd name="connsiteY4" fmla="*/ 666750 h 794173"/>
              <a:gd name="connsiteX5" fmla="*/ 1579558 w 2448238"/>
              <a:gd name="connsiteY5" fmla="*/ 461010 h 794173"/>
              <a:gd name="connsiteX6" fmla="*/ 1971988 w 2448238"/>
              <a:gd name="connsiteY6" fmla="*/ 247650 h 794173"/>
              <a:gd name="connsiteX7" fmla="*/ 2448238 w 2448238"/>
              <a:gd name="connsiteY7" fmla="*/ 0 h 794173"/>
              <a:gd name="connsiteX0" fmla="*/ 0 w 2448238"/>
              <a:gd name="connsiteY0" fmla="*/ 150642 h 796757"/>
              <a:gd name="connsiteX1" fmla="*/ 204609 w 2448238"/>
              <a:gd name="connsiteY1" fmla="*/ 552743 h 796757"/>
              <a:gd name="connsiteX2" fmla="*/ 470052 w 2448238"/>
              <a:gd name="connsiteY2" fmla="*/ 780589 h 796757"/>
              <a:gd name="connsiteX3" fmla="*/ 802318 w 2448238"/>
              <a:gd name="connsiteY3" fmla="*/ 765810 h 796757"/>
              <a:gd name="connsiteX4" fmla="*/ 1160458 w 2448238"/>
              <a:gd name="connsiteY4" fmla="*/ 666750 h 796757"/>
              <a:gd name="connsiteX5" fmla="*/ 1579558 w 2448238"/>
              <a:gd name="connsiteY5" fmla="*/ 461010 h 796757"/>
              <a:gd name="connsiteX6" fmla="*/ 1971988 w 2448238"/>
              <a:gd name="connsiteY6" fmla="*/ 247650 h 796757"/>
              <a:gd name="connsiteX7" fmla="*/ 2448238 w 2448238"/>
              <a:gd name="connsiteY7" fmla="*/ 0 h 796757"/>
              <a:gd name="connsiteX0" fmla="*/ 0 w 2448238"/>
              <a:gd name="connsiteY0" fmla="*/ 150642 h 883116"/>
              <a:gd name="connsiteX1" fmla="*/ 204609 w 2448238"/>
              <a:gd name="connsiteY1" fmla="*/ 552743 h 883116"/>
              <a:gd name="connsiteX2" fmla="*/ 470052 w 2448238"/>
              <a:gd name="connsiteY2" fmla="*/ 780589 h 883116"/>
              <a:gd name="connsiteX3" fmla="*/ 909500 w 2448238"/>
              <a:gd name="connsiteY3" fmla="*/ 879692 h 883116"/>
              <a:gd name="connsiteX4" fmla="*/ 1160458 w 2448238"/>
              <a:gd name="connsiteY4" fmla="*/ 666750 h 883116"/>
              <a:gd name="connsiteX5" fmla="*/ 1579558 w 2448238"/>
              <a:gd name="connsiteY5" fmla="*/ 461010 h 883116"/>
              <a:gd name="connsiteX6" fmla="*/ 1971988 w 2448238"/>
              <a:gd name="connsiteY6" fmla="*/ 247650 h 883116"/>
              <a:gd name="connsiteX7" fmla="*/ 2448238 w 2448238"/>
              <a:gd name="connsiteY7" fmla="*/ 0 h 883116"/>
              <a:gd name="connsiteX0" fmla="*/ 0 w 2448238"/>
              <a:gd name="connsiteY0" fmla="*/ 150642 h 879729"/>
              <a:gd name="connsiteX1" fmla="*/ 204609 w 2448238"/>
              <a:gd name="connsiteY1" fmla="*/ 552743 h 879729"/>
              <a:gd name="connsiteX2" fmla="*/ 470052 w 2448238"/>
              <a:gd name="connsiteY2" fmla="*/ 780589 h 879729"/>
              <a:gd name="connsiteX3" fmla="*/ 909500 w 2448238"/>
              <a:gd name="connsiteY3" fmla="*/ 879692 h 879729"/>
              <a:gd name="connsiteX4" fmla="*/ 1368124 w 2448238"/>
              <a:gd name="connsiteY4" fmla="*/ 787331 h 879729"/>
              <a:gd name="connsiteX5" fmla="*/ 1579558 w 2448238"/>
              <a:gd name="connsiteY5" fmla="*/ 461010 h 879729"/>
              <a:gd name="connsiteX6" fmla="*/ 1971988 w 2448238"/>
              <a:gd name="connsiteY6" fmla="*/ 247650 h 879729"/>
              <a:gd name="connsiteX7" fmla="*/ 2448238 w 2448238"/>
              <a:gd name="connsiteY7" fmla="*/ 0 h 879729"/>
              <a:gd name="connsiteX0" fmla="*/ 0 w 2448238"/>
              <a:gd name="connsiteY0" fmla="*/ 150642 h 879713"/>
              <a:gd name="connsiteX1" fmla="*/ 204609 w 2448238"/>
              <a:gd name="connsiteY1" fmla="*/ 552743 h 879713"/>
              <a:gd name="connsiteX2" fmla="*/ 470052 w 2448238"/>
              <a:gd name="connsiteY2" fmla="*/ 780589 h 879713"/>
              <a:gd name="connsiteX3" fmla="*/ 909500 w 2448238"/>
              <a:gd name="connsiteY3" fmla="*/ 879692 h 879713"/>
              <a:gd name="connsiteX4" fmla="*/ 1368124 w 2448238"/>
              <a:gd name="connsiteY4" fmla="*/ 787331 h 879713"/>
              <a:gd name="connsiteX5" fmla="*/ 1770477 w 2448238"/>
              <a:gd name="connsiteY5" fmla="*/ 581590 h 879713"/>
              <a:gd name="connsiteX6" fmla="*/ 1971988 w 2448238"/>
              <a:gd name="connsiteY6" fmla="*/ 247650 h 879713"/>
              <a:gd name="connsiteX7" fmla="*/ 2448238 w 2448238"/>
              <a:gd name="connsiteY7" fmla="*/ 0 h 879713"/>
              <a:gd name="connsiteX0" fmla="*/ 0 w 2448238"/>
              <a:gd name="connsiteY0" fmla="*/ 150642 h 879713"/>
              <a:gd name="connsiteX1" fmla="*/ 204609 w 2448238"/>
              <a:gd name="connsiteY1" fmla="*/ 552743 h 879713"/>
              <a:gd name="connsiteX2" fmla="*/ 470052 w 2448238"/>
              <a:gd name="connsiteY2" fmla="*/ 780589 h 879713"/>
              <a:gd name="connsiteX3" fmla="*/ 909500 w 2448238"/>
              <a:gd name="connsiteY3" fmla="*/ 879692 h 879713"/>
              <a:gd name="connsiteX4" fmla="*/ 1368124 w 2448238"/>
              <a:gd name="connsiteY4" fmla="*/ 787331 h 879713"/>
              <a:gd name="connsiteX5" fmla="*/ 1770477 w 2448238"/>
              <a:gd name="connsiteY5" fmla="*/ 581590 h 879713"/>
              <a:gd name="connsiteX6" fmla="*/ 2166256 w 2448238"/>
              <a:gd name="connsiteY6" fmla="*/ 358182 h 879713"/>
              <a:gd name="connsiteX7" fmla="*/ 2448238 w 2448238"/>
              <a:gd name="connsiteY7" fmla="*/ 0 h 879713"/>
              <a:gd name="connsiteX0" fmla="*/ 0 w 2850172"/>
              <a:gd name="connsiteY0" fmla="*/ 157341 h 886412"/>
              <a:gd name="connsiteX1" fmla="*/ 204609 w 2850172"/>
              <a:gd name="connsiteY1" fmla="*/ 559442 h 886412"/>
              <a:gd name="connsiteX2" fmla="*/ 470052 w 2850172"/>
              <a:gd name="connsiteY2" fmla="*/ 787288 h 886412"/>
              <a:gd name="connsiteX3" fmla="*/ 909500 w 2850172"/>
              <a:gd name="connsiteY3" fmla="*/ 886391 h 886412"/>
              <a:gd name="connsiteX4" fmla="*/ 1368124 w 2850172"/>
              <a:gd name="connsiteY4" fmla="*/ 794030 h 886412"/>
              <a:gd name="connsiteX5" fmla="*/ 1770477 w 2850172"/>
              <a:gd name="connsiteY5" fmla="*/ 588289 h 886412"/>
              <a:gd name="connsiteX6" fmla="*/ 2166256 w 2850172"/>
              <a:gd name="connsiteY6" fmla="*/ 364881 h 886412"/>
              <a:gd name="connsiteX7" fmla="*/ 2850172 w 2850172"/>
              <a:gd name="connsiteY7" fmla="*/ 0 h 886412"/>
              <a:gd name="connsiteX0" fmla="*/ 0 w 2824772"/>
              <a:gd name="connsiteY0" fmla="*/ 208141 h 886412"/>
              <a:gd name="connsiteX1" fmla="*/ 179209 w 2824772"/>
              <a:gd name="connsiteY1" fmla="*/ 559442 h 886412"/>
              <a:gd name="connsiteX2" fmla="*/ 444652 w 2824772"/>
              <a:gd name="connsiteY2" fmla="*/ 787288 h 886412"/>
              <a:gd name="connsiteX3" fmla="*/ 884100 w 2824772"/>
              <a:gd name="connsiteY3" fmla="*/ 886391 h 886412"/>
              <a:gd name="connsiteX4" fmla="*/ 1342724 w 2824772"/>
              <a:gd name="connsiteY4" fmla="*/ 794030 h 886412"/>
              <a:gd name="connsiteX5" fmla="*/ 1745077 w 2824772"/>
              <a:gd name="connsiteY5" fmla="*/ 588289 h 886412"/>
              <a:gd name="connsiteX6" fmla="*/ 2140856 w 2824772"/>
              <a:gd name="connsiteY6" fmla="*/ 364881 h 886412"/>
              <a:gd name="connsiteX7" fmla="*/ 2824772 w 2824772"/>
              <a:gd name="connsiteY7" fmla="*/ 0 h 88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4772" h="886412">
                <a:moveTo>
                  <a:pt x="0" y="208141"/>
                </a:moveTo>
                <a:cubicBezTo>
                  <a:pt x="39687" y="271006"/>
                  <a:pt x="105100" y="462918"/>
                  <a:pt x="179209" y="559442"/>
                </a:cubicBezTo>
                <a:cubicBezTo>
                  <a:pt x="253318" y="655966"/>
                  <a:pt x="327170" y="732797"/>
                  <a:pt x="444652" y="787288"/>
                </a:cubicBezTo>
                <a:cubicBezTo>
                  <a:pt x="562134" y="841780"/>
                  <a:pt x="734421" y="885267"/>
                  <a:pt x="884100" y="886391"/>
                </a:cubicBezTo>
                <a:cubicBezTo>
                  <a:pt x="1033779" y="887515"/>
                  <a:pt x="1199228" y="843714"/>
                  <a:pt x="1342724" y="794030"/>
                </a:cubicBezTo>
                <a:cubicBezTo>
                  <a:pt x="1486220" y="744346"/>
                  <a:pt x="1612055" y="659814"/>
                  <a:pt x="1745077" y="588289"/>
                </a:cubicBezTo>
                <a:cubicBezTo>
                  <a:pt x="1878099" y="516764"/>
                  <a:pt x="1996076" y="441716"/>
                  <a:pt x="2140856" y="364881"/>
                </a:cubicBezTo>
                <a:lnTo>
                  <a:pt x="2824772" y="0"/>
                </a:ln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59" name="直接连接符 58"/>
          <p:cNvCxnSpPr/>
          <p:nvPr/>
        </p:nvCxnSpPr>
        <p:spPr bwMode="auto">
          <a:xfrm flipH="1">
            <a:off x="6049449" y="1986377"/>
            <a:ext cx="11196" cy="693363"/>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61"/>
          <p:cNvCxnSpPr/>
          <p:nvPr/>
        </p:nvCxnSpPr>
        <p:spPr bwMode="auto">
          <a:xfrm>
            <a:off x="6060825" y="1986586"/>
            <a:ext cx="578171" cy="884631"/>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62"/>
          <p:cNvCxnSpPr/>
          <p:nvPr/>
        </p:nvCxnSpPr>
        <p:spPr bwMode="auto">
          <a:xfrm>
            <a:off x="6704502" y="1984377"/>
            <a:ext cx="886840" cy="519003"/>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63"/>
          <p:cNvCxnSpPr/>
          <p:nvPr/>
        </p:nvCxnSpPr>
        <p:spPr bwMode="auto">
          <a:xfrm>
            <a:off x="7305707" y="1997794"/>
            <a:ext cx="570330" cy="326707"/>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连接符 64"/>
          <p:cNvCxnSpPr/>
          <p:nvPr/>
        </p:nvCxnSpPr>
        <p:spPr bwMode="auto">
          <a:xfrm>
            <a:off x="7866037" y="1974843"/>
            <a:ext cx="312332" cy="160700"/>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65"/>
          <p:cNvCxnSpPr/>
          <p:nvPr/>
        </p:nvCxnSpPr>
        <p:spPr bwMode="auto">
          <a:xfrm flipH="1">
            <a:off x="5855453" y="1985422"/>
            <a:ext cx="205379" cy="442375"/>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连接符 66"/>
          <p:cNvCxnSpPr/>
          <p:nvPr/>
        </p:nvCxnSpPr>
        <p:spPr bwMode="auto">
          <a:xfrm>
            <a:off x="5760868" y="1525142"/>
            <a:ext cx="0" cy="1184629"/>
          </a:xfrm>
          <a:prstGeom prst="line">
            <a:avLst/>
          </a:prstGeom>
          <a:noFill/>
          <a:ln w="19050" cap="flat" cmpd="sng" algn="ctr">
            <a:solidFill>
              <a:srgbClr val="000066"/>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p:cNvCxnSpPr/>
          <p:nvPr/>
        </p:nvCxnSpPr>
        <p:spPr bwMode="auto">
          <a:xfrm>
            <a:off x="5457297" y="1582965"/>
            <a:ext cx="595885"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Text Box 21"/>
          <p:cNvSpPr txBox="1">
            <a:spLocks noChangeArrowheads="1"/>
          </p:cNvSpPr>
          <p:nvPr/>
        </p:nvSpPr>
        <p:spPr bwMode="auto">
          <a:xfrm>
            <a:off x="4956888" y="1290215"/>
            <a:ext cx="53726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err="1">
                <a:solidFill>
                  <a:srgbClr val="000066"/>
                </a:solidFill>
                <a:latin typeface="Times New Roman" panose="02020603050405020304" pitchFamily="18" charset="0"/>
              </a:rPr>
              <a:t>p</a:t>
            </a:r>
            <a:r>
              <a:rPr kumimoji="1" lang="en-US" altLang="zh-CN" sz="2000" b="1" baseline="-25000" dirty="0" err="1">
                <a:solidFill>
                  <a:srgbClr val="000066"/>
                </a:solidFill>
                <a:latin typeface="Times New Roman" panose="02020603050405020304" pitchFamily="18" charset="0"/>
              </a:rPr>
              <a:t>u</a:t>
            </a:r>
            <a:endParaRPr kumimoji="1" lang="en-US" altLang="zh-CN" sz="2000" b="1" baseline="-25000" dirty="0">
              <a:solidFill>
                <a:srgbClr val="000066"/>
              </a:solidFill>
              <a:latin typeface="Times New Roman" panose="02020603050405020304" pitchFamily="18" charset="0"/>
            </a:endParaRPr>
          </a:p>
        </p:txBody>
      </p:sp>
      <p:sp>
        <p:nvSpPr>
          <p:cNvPr id="70" name="Text Box 21"/>
          <p:cNvSpPr txBox="1">
            <a:spLocks noChangeArrowheads="1"/>
          </p:cNvSpPr>
          <p:nvPr/>
        </p:nvSpPr>
        <p:spPr bwMode="auto">
          <a:xfrm>
            <a:off x="6277692" y="1297537"/>
            <a:ext cx="111440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1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刚性核区</a:t>
            </a:r>
          </a:p>
        </p:txBody>
      </p:sp>
      <p:sp>
        <p:nvSpPr>
          <p:cNvPr id="71" name="Text Box 21"/>
          <p:cNvSpPr txBox="1">
            <a:spLocks noChangeArrowheads="1"/>
          </p:cNvSpPr>
          <p:nvPr/>
        </p:nvSpPr>
        <p:spPr bwMode="auto">
          <a:xfrm>
            <a:off x="5985167" y="2326206"/>
            <a:ext cx="881973"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1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过渡区</a:t>
            </a:r>
          </a:p>
        </p:txBody>
      </p:sp>
      <p:sp>
        <p:nvSpPr>
          <p:cNvPr id="72" name="Text Box 21"/>
          <p:cNvSpPr txBox="1">
            <a:spLocks noChangeArrowheads="1"/>
          </p:cNvSpPr>
          <p:nvPr/>
        </p:nvSpPr>
        <p:spPr bwMode="auto">
          <a:xfrm>
            <a:off x="6920260" y="2070684"/>
            <a:ext cx="881973"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1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被动区</a:t>
            </a:r>
          </a:p>
        </p:txBody>
      </p:sp>
      <p:grpSp>
        <p:nvGrpSpPr>
          <p:cNvPr id="79" name="组合 78"/>
          <p:cNvGrpSpPr/>
          <p:nvPr/>
        </p:nvGrpSpPr>
        <p:grpSpPr>
          <a:xfrm>
            <a:off x="5461722" y="1393143"/>
            <a:ext cx="591460" cy="155404"/>
            <a:chOff x="4457514" y="2897257"/>
            <a:chExt cx="1362333" cy="109926"/>
          </a:xfrm>
        </p:grpSpPr>
        <p:cxnSp>
          <p:nvCxnSpPr>
            <p:cNvPr id="80" name="直接连接符 79"/>
            <p:cNvCxnSpPr/>
            <p:nvPr/>
          </p:nvCxnSpPr>
          <p:spPr bwMode="auto">
            <a:xfrm>
              <a:off x="4457514" y="2902252"/>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连接符 80"/>
            <p:cNvCxnSpPr/>
            <p:nvPr/>
          </p:nvCxnSpPr>
          <p:spPr bwMode="auto">
            <a:xfrm>
              <a:off x="5805900" y="2897257"/>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81"/>
            <p:cNvCxnSpPr/>
            <p:nvPr/>
          </p:nvCxnSpPr>
          <p:spPr bwMode="auto">
            <a:xfrm>
              <a:off x="4457515" y="2954718"/>
              <a:ext cx="1362332" cy="0"/>
            </a:xfrm>
            <a:prstGeom prst="line">
              <a:avLst/>
            </a:pr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3" name="Text Box 21"/>
          <p:cNvSpPr txBox="1">
            <a:spLocks noChangeArrowheads="1"/>
          </p:cNvSpPr>
          <p:nvPr/>
        </p:nvSpPr>
        <p:spPr bwMode="auto">
          <a:xfrm>
            <a:off x="5596811" y="1125437"/>
            <a:ext cx="312907"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ndParaRPr>
          </a:p>
        </p:txBody>
      </p:sp>
      <p:cxnSp>
        <p:nvCxnSpPr>
          <p:cNvPr id="85" name="直接箭头连接符 84"/>
          <p:cNvCxnSpPr/>
          <p:nvPr/>
        </p:nvCxnSpPr>
        <p:spPr bwMode="auto">
          <a:xfrm flipV="1">
            <a:off x="5823518" y="1582965"/>
            <a:ext cx="551881" cy="483422"/>
          </a:xfrm>
          <a:prstGeom prst="straightConnector1">
            <a:avLst/>
          </a:prstGeom>
          <a:noFill/>
          <a:ln w="127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8" name="组合 87"/>
          <p:cNvGrpSpPr/>
          <p:nvPr/>
        </p:nvGrpSpPr>
        <p:grpSpPr>
          <a:xfrm flipH="1">
            <a:off x="3100398" y="1985174"/>
            <a:ext cx="2654490" cy="890186"/>
            <a:chOff x="4944904" y="2152452"/>
            <a:chExt cx="3529003" cy="1183454"/>
          </a:xfrm>
        </p:grpSpPr>
        <p:sp>
          <p:nvSpPr>
            <p:cNvPr id="89" name="任意多边形 88"/>
            <p:cNvSpPr/>
            <p:nvPr/>
          </p:nvSpPr>
          <p:spPr bwMode="auto">
            <a:xfrm>
              <a:off x="4944904" y="2152452"/>
              <a:ext cx="3529003" cy="1183454"/>
            </a:xfrm>
            <a:custGeom>
              <a:avLst/>
              <a:gdLst>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11350 w 3206750"/>
                <a:gd name="connsiteY6" fmla="*/ 654050 h 1086505"/>
                <a:gd name="connsiteX7" fmla="*/ 2520950 w 3206750"/>
                <a:gd name="connsiteY7" fmla="*/ 361950 h 1086505"/>
                <a:gd name="connsiteX8" fmla="*/ 3206750 w 3206750"/>
                <a:gd name="connsiteY8" fmla="*/ 0 h 1086505"/>
                <a:gd name="connsiteX0" fmla="*/ 0 w 3206750"/>
                <a:gd name="connsiteY0" fmla="*/ 793750 h 1086505"/>
                <a:gd name="connsiteX1" fmla="*/ 266700 w 3206750"/>
                <a:gd name="connsiteY1" fmla="*/ 971550 h 1086505"/>
                <a:gd name="connsiteX2" fmla="*/ 476250 w 3206750"/>
                <a:gd name="connsiteY2" fmla="*/ 1054100 h 1086505"/>
                <a:gd name="connsiteX3" fmla="*/ 711200 w 3206750"/>
                <a:gd name="connsiteY3" fmla="*/ 1085850 h 1086505"/>
                <a:gd name="connsiteX4" fmla="*/ 1073150 w 3206750"/>
                <a:gd name="connsiteY4" fmla="*/ 1028700 h 1086505"/>
                <a:gd name="connsiteX5" fmla="*/ 1479550 w 3206750"/>
                <a:gd name="connsiteY5" fmla="*/ 869950 h 1086505"/>
                <a:gd name="connsiteX6" fmla="*/ 1945640 w 3206750"/>
                <a:gd name="connsiteY6" fmla="*/ 642620 h 1086505"/>
                <a:gd name="connsiteX7" fmla="*/ 2520950 w 3206750"/>
                <a:gd name="connsiteY7" fmla="*/ 361950 h 1086505"/>
                <a:gd name="connsiteX8" fmla="*/ 3206750 w 3206750"/>
                <a:gd name="connsiteY8" fmla="*/ 0 h 1086505"/>
                <a:gd name="connsiteX0" fmla="*/ 0 w 3206750"/>
                <a:gd name="connsiteY0" fmla="*/ 793750 h 1085919"/>
                <a:gd name="connsiteX1" fmla="*/ 266700 w 3206750"/>
                <a:gd name="connsiteY1" fmla="*/ 971550 h 1085919"/>
                <a:gd name="connsiteX2" fmla="*/ 464820 w 3206750"/>
                <a:gd name="connsiteY2" fmla="*/ 1038860 h 1085919"/>
                <a:gd name="connsiteX3" fmla="*/ 711200 w 3206750"/>
                <a:gd name="connsiteY3" fmla="*/ 1085850 h 1085919"/>
                <a:gd name="connsiteX4" fmla="*/ 1073150 w 3206750"/>
                <a:gd name="connsiteY4" fmla="*/ 1028700 h 1085919"/>
                <a:gd name="connsiteX5" fmla="*/ 1479550 w 3206750"/>
                <a:gd name="connsiteY5" fmla="*/ 869950 h 1085919"/>
                <a:gd name="connsiteX6" fmla="*/ 1945640 w 3206750"/>
                <a:gd name="connsiteY6" fmla="*/ 642620 h 1085919"/>
                <a:gd name="connsiteX7" fmla="*/ 2520950 w 3206750"/>
                <a:gd name="connsiteY7" fmla="*/ 361950 h 1085919"/>
                <a:gd name="connsiteX8" fmla="*/ 3206750 w 3206750"/>
                <a:gd name="connsiteY8" fmla="*/ 0 h 1085919"/>
                <a:gd name="connsiteX0" fmla="*/ 0 w 3206750"/>
                <a:gd name="connsiteY0" fmla="*/ 793750 h 1078317"/>
                <a:gd name="connsiteX1" fmla="*/ 266700 w 3206750"/>
                <a:gd name="connsiteY1" fmla="*/ 971550 h 1078317"/>
                <a:gd name="connsiteX2" fmla="*/ 464820 w 3206750"/>
                <a:gd name="connsiteY2" fmla="*/ 1038860 h 1078317"/>
                <a:gd name="connsiteX3" fmla="*/ 711200 w 3206750"/>
                <a:gd name="connsiteY3" fmla="*/ 1078230 h 1078317"/>
                <a:gd name="connsiteX4" fmla="*/ 1073150 w 3206750"/>
                <a:gd name="connsiteY4" fmla="*/ 1028700 h 1078317"/>
                <a:gd name="connsiteX5" fmla="*/ 1479550 w 3206750"/>
                <a:gd name="connsiteY5" fmla="*/ 869950 h 1078317"/>
                <a:gd name="connsiteX6" fmla="*/ 1945640 w 3206750"/>
                <a:gd name="connsiteY6" fmla="*/ 642620 h 1078317"/>
                <a:gd name="connsiteX7" fmla="*/ 2520950 w 3206750"/>
                <a:gd name="connsiteY7" fmla="*/ 361950 h 1078317"/>
                <a:gd name="connsiteX8" fmla="*/ 3206750 w 3206750"/>
                <a:gd name="connsiteY8" fmla="*/ 0 h 1078317"/>
                <a:gd name="connsiteX0" fmla="*/ 0 w 3206750"/>
                <a:gd name="connsiteY0" fmla="*/ 793750 h 1078321"/>
                <a:gd name="connsiteX1" fmla="*/ 236220 w 3206750"/>
                <a:gd name="connsiteY1" fmla="*/ 963930 h 1078321"/>
                <a:gd name="connsiteX2" fmla="*/ 464820 w 3206750"/>
                <a:gd name="connsiteY2" fmla="*/ 1038860 h 1078321"/>
                <a:gd name="connsiteX3" fmla="*/ 711200 w 3206750"/>
                <a:gd name="connsiteY3" fmla="*/ 1078230 h 1078321"/>
                <a:gd name="connsiteX4" fmla="*/ 1073150 w 3206750"/>
                <a:gd name="connsiteY4" fmla="*/ 1028700 h 1078321"/>
                <a:gd name="connsiteX5" fmla="*/ 1479550 w 3206750"/>
                <a:gd name="connsiteY5" fmla="*/ 869950 h 1078321"/>
                <a:gd name="connsiteX6" fmla="*/ 1945640 w 3206750"/>
                <a:gd name="connsiteY6" fmla="*/ 642620 h 1078321"/>
                <a:gd name="connsiteX7" fmla="*/ 2520950 w 3206750"/>
                <a:gd name="connsiteY7" fmla="*/ 361950 h 1078321"/>
                <a:gd name="connsiteX8" fmla="*/ 3206750 w 3206750"/>
                <a:gd name="connsiteY8" fmla="*/ 0 h 1078321"/>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20950 w 3206750"/>
                <a:gd name="connsiteY7" fmla="*/ 361950 h 1078335"/>
                <a:gd name="connsiteX8" fmla="*/ 3206750 w 3206750"/>
                <a:gd name="connsiteY8" fmla="*/ 0 h 1078335"/>
                <a:gd name="connsiteX0" fmla="*/ 0 w 3206750"/>
                <a:gd name="connsiteY0" fmla="*/ 793750 h 1078335"/>
                <a:gd name="connsiteX1" fmla="*/ 236220 w 3206750"/>
                <a:gd name="connsiteY1" fmla="*/ 944880 h 1078335"/>
                <a:gd name="connsiteX2" fmla="*/ 464820 w 3206750"/>
                <a:gd name="connsiteY2" fmla="*/ 1038860 h 1078335"/>
                <a:gd name="connsiteX3" fmla="*/ 711200 w 3206750"/>
                <a:gd name="connsiteY3" fmla="*/ 1078230 h 1078335"/>
                <a:gd name="connsiteX4" fmla="*/ 1073150 w 3206750"/>
                <a:gd name="connsiteY4" fmla="*/ 1028700 h 1078335"/>
                <a:gd name="connsiteX5" fmla="*/ 1479550 w 3206750"/>
                <a:gd name="connsiteY5" fmla="*/ 869950 h 1078335"/>
                <a:gd name="connsiteX6" fmla="*/ 1945640 w 3206750"/>
                <a:gd name="connsiteY6" fmla="*/ 642620 h 1078335"/>
                <a:gd name="connsiteX7" fmla="*/ 2510901 w 3206750"/>
                <a:gd name="connsiteY7" fmla="*/ 315057 h 1078335"/>
                <a:gd name="connsiteX8" fmla="*/ 3206750 w 3206750"/>
                <a:gd name="connsiteY8" fmla="*/ 0 h 107833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510901 w 3079471"/>
                <a:gd name="connsiteY7" fmla="*/ 311707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7358 w 3079471"/>
                <a:gd name="connsiteY7" fmla="*/ 331803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3850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45640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39270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60659 w 3079471"/>
                <a:gd name="connsiteY7" fmla="*/ 341852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450610 w 3079471"/>
                <a:gd name="connsiteY7" fmla="*/ 348551 h 1074985"/>
                <a:gd name="connsiteX8" fmla="*/ 3079471 w 3079471"/>
                <a:gd name="connsiteY8"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450610 w 3079471"/>
                <a:gd name="connsiteY8" fmla="*/ 348551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04201 w 3079471"/>
                <a:gd name="connsiteY8" fmla="*/ 328454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159001 w 3079471"/>
                <a:gd name="connsiteY7" fmla="*/ 51595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49437 w 3079471"/>
                <a:gd name="connsiteY7" fmla="*/ 475762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6136 w 3079471"/>
                <a:gd name="connsiteY7" fmla="*/ 45566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527647 w 3079471"/>
                <a:gd name="connsiteY8" fmla="*/ 308357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18083 w 3079471"/>
                <a:gd name="connsiteY8" fmla="*/ 251416 h 1074985"/>
                <a:gd name="connsiteX9" fmla="*/ 3079471 w 3079471"/>
                <a:gd name="connsiteY9" fmla="*/ 0 h 1074985"/>
                <a:gd name="connsiteX0" fmla="*/ 0 w 3079471"/>
                <a:gd name="connsiteY0" fmla="*/ 790400 h 1074985"/>
                <a:gd name="connsiteX1" fmla="*/ 236220 w 3079471"/>
                <a:gd name="connsiteY1" fmla="*/ 941530 h 1074985"/>
                <a:gd name="connsiteX2" fmla="*/ 464820 w 3079471"/>
                <a:gd name="connsiteY2" fmla="*/ 1035510 h 1074985"/>
                <a:gd name="connsiteX3" fmla="*/ 711200 w 3079471"/>
                <a:gd name="connsiteY3" fmla="*/ 1074880 h 1074985"/>
                <a:gd name="connsiteX4" fmla="*/ 1073150 w 3079471"/>
                <a:gd name="connsiteY4" fmla="*/ 1025350 h 1074985"/>
                <a:gd name="connsiteX5" fmla="*/ 1479550 w 3079471"/>
                <a:gd name="connsiteY5" fmla="*/ 866600 h 1074985"/>
                <a:gd name="connsiteX6" fmla="*/ 1928892 w 3079471"/>
                <a:gd name="connsiteY6" fmla="*/ 642619 h 1074985"/>
                <a:gd name="connsiteX7" fmla="*/ 2252786 w 3079471"/>
                <a:gd name="connsiteY7" fmla="*/ 459015 h 1074985"/>
                <a:gd name="connsiteX8" fmla="*/ 2621432 w 3079471"/>
                <a:gd name="connsiteY8" fmla="*/ 251416 h 1074985"/>
                <a:gd name="connsiteX9" fmla="*/ 3079471 w 3079471"/>
                <a:gd name="connsiteY9" fmla="*/ 0 h 1074985"/>
                <a:gd name="connsiteX0" fmla="*/ 0 w 3069423"/>
                <a:gd name="connsiteY0" fmla="*/ 140607 h 1074985"/>
                <a:gd name="connsiteX1" fmla="*/ 226172 w 3069423"/>
                <a:gd name="connsiteY1" fmla="*/ 941530 h 1074985"/>
                <a:gd name="connsiteX2" fmla="*/ 454772 w 3069423"/>
                <a:gd name="connsiteY2" fmla="*/ 1035510 h 1074985"/>
                <a:gd name="connsiteX3" fmla="*/ 701152 w 3069423"/>
                <a:gd name="connsiteY3" fmla="*/ 1074880 h 1074985"/>
                <a:gd name="connsiteX4" fmla="*/ 1063102 w 3069423"/>
                <a:gd name="connsiteY4" fmla="*/ 1025350 h 1074985"/>
                <a:gd name="connsiteX5" fmla="*/ 1469502 w 3069423"/>
                <a:gd name="connsiteY5" fmla="*/ 866600 h 1074985"/>
                <a:gd name="connsiteX6" fmla="*/ 1918844 w 3069423"/>
                <a:gd name="connsiteY6" fmla="*/ 642619 h 1074985"/>
                <a:gd name="connsiteX7" fmla="*/ 2242738 w 3069423"/>
                <a:gd name="connsiteY7" fmla="*/ 459015 h 1074985"/>
                <a:gd name="connsiteX8" fmla="*/ 2611384 w 3069423"/>
                <a:gd name="connsiteY8" fmla="*/ 251416 h 1074985"/>
                <a:gd name="connsiteX9" fmla="*/ 3069423 w 3069423"/>
                <a:gd name="connsiteY9" fmla="*/ 0 h 1074985"/>
                <a:gd name="connsiteX0" fmla="*/ 0 w 3069423"/>
                <a:gd name="connsiteY0" fmla="*/ 140607 h 1095177"/>
                <a:gd name="connsiteX1" fmla="*/ 68748 w 3069423"/>
                <a:gd name="connsiteY1" fmla="*/ 452510 h 1095177"/>
                <a:gd name="connsiteX2" fmla="*/ 454772 w 3069423"/>
                <a:gd name="connsiteY2" fmla="*/ 1035510 h 1095177"/>
                <a:gd name="connsiteX3" fmla="*/ 701152 w 3069423"/>
                <a:gd name="connsiteY3" fmla="*/ 1074880 h 1095177"/>
                <a:gd name="connsiteX4" fmla="*/ 1063102 w 3069423"/>
                <a:gd name="connsiteY4" fmla="*/ 1025350 h 1095177"/>
                <a:gd name="connsiteX5" fmla="*/ 1469502 w 3069423"/>
                <a:gd name="connsiteY5" fmla="*/ 866600 h 1095177"/>
                <a:gd name="connsiteX6" fmla="*/ 1918844 w 3069423"/>
                <a:gd name="connsiteY6" fmla="*/ 642619 h 1095177"/>
                <a:gd name="connsiteX7" fmla="*/ 2242738 w 3069423"/>
                <a:gd name="connsiteY7" fmla="*/ 459015 h 1095177"/>
                <a:gd name="connsiteX8" fmla="*/ 2611384 w 3069423"/>
                <a:gd name="connsiteY8" fmla="*/ 251416 h 1095177"/>
                <a:gd name="connsiteX9" fmla="*/ 3069423 w 3069423"/>
                <a:gd name="connsiteY9" fmla="*/ 0 h 1095177"/>
                <a:gd name="connsiteX0" fmla="*/ 0 w 3069423"/>
                <a:gd name="connsiteY0" fmla="*/ 140607 h 1095177"/>
                <a:gd name="connsiteX1" fmla="*/ 13251 w 3069423"/>
                <a:gd name="connsiteY1" fmla="*/ 251550 h 1095177"/>
                <a:gd name="connsiteX2" fmla="*/ 68748 w 3069423"/>
                <a:gd name="connsiteY2" fmla="*/ 452510 h 1095177"/>
                <a:gd name="connsiteX3" fmla="*/ 454772 w 3069423"/>
                <a:gd name="connsiteY3" fmla="*/ 1035510 h 1095177"/>
                <a:gd name="connsiteX4" fmla="*/ 701152 w 3069423"/>
                <a:gd name="connsiteY4" fmla="*/ 1074880 h 1095177"/>
                <a:gd name="connsiteX5" fmla="*/ 1063102 w 3069423"/>
                <a:gd name="connsiteY5" fmla="*/ 1025350 h 1095177"/>
                <a:gd name="connsiteX6" fmla="*/ 1469502 w 3069423"/>
                <a:gd name="connsiteY6" fmla="*/ 866600 h 1095177"/>
                <a:gd name="connsiteX7" fmla="*/ 1918844 w 3069423"/>
                <a:gd name="connsiteY7" fmla="*/ 642619 h 1095177"/>
                <a:gd name="connsiteX8" fmla="*/ 2242738 w 3069423"/>
                <a:gd name="connsiteY8" fmla="*/ 459015 h 1095177"/>
                <a:gd name="connsiteX9" fmla="*/ 2611384 w 3069423"/>
                <a:gd name="connsiteY9" fmla="*/ 251416 h 1095177"/>
                <a:gd name="connsiteX10" fmla="*/ 3069423 w 3069423"/>
                <a:gd name="connsiteY10" fmla="*/ 0 h 1095177"/>
                <a:gd name="connsiteX0" fmla="*/ 0 w 3069423"/>
                <a:gd name="connsiteY0" fmla="*/ 140607 h 1079754"/>
                <a:gd name="connsiteX1" fmla="*/ 13251 w 3069423"/>
                <a:gd name="connsiteY1" fmla="*/ 251550 h 1079754"/>
                <a:gd name="connsiteX2" fmla="*/ 68748 w 3069423"/>
                <a:gd name="connsiteY2" fmla="*/ 452510 h 1079754"/>
                <a:gd name="connsiteX3" fmla="*/ 177374 w 3069423"/>
                <a:gd name="connsiteY3" fmla="*/ 700376 h 1079754"/>
                <a:gd name="connsiteX4" fmla="*/ 454772 w 3069423"/>
                <a:gd name="connsiteY4" fmla="*/ 1035510 h 1079754"/>
                <a:gd name="connsiteX5" fmla="*/ 701152 w 3069423"/>
                <a:gd name="connsiteY5" fmla="*/ 1074880 h 1079754"/>
                <a:gd name="connsiteX6" fmla="*/ 1063102 w 3069423"/>
                <a:gd name="connsiteY6" fmla="*/ 1025350 h 1079754"/>
                <a:gd name="connsiteX7" fmla="*/ 1469502 w 3069423"/>
                <a:gd name="connsiteY7" fmla="*/ 866600 h 1079754"/>
                <a:gd name="connsiteX8" fmla="*/ 1918844 w 3069423"/>
                <a:gd name="connsiteY8" fmla="*/ 642619 h 1079754"/>
                <a:gd name="connsiteX9" fmla="*/ 2242738 w 3069423"/>
                <a:gd name="connsiteY9" fmla="*/ 459015 h 1079754"/>
                <a:gd name="connsiteX10" fmla="*/ 2611384 w 3069423"/>
                <a:gd name="connsiteY10" fmla="*/ 251416 h 1079754"/>
                <a:gd name="connsiteX11" fmla="*/ 3069423 w 3069423"/>
                <a:gd name="connsiteY11" fmla="*/ 0 h 1079754"/>
                <a:gd name="connsiteX0" fmla="*/ 0 w 3069423"/>
                <a:gd name="connsiteY0" fmla="*/ 140607 h 1076254"/>
                <a:gd name="connsiteX1" fmla="*/ 13251 w 3069423"/>
                <a:gd name="connsiteY1" fmla="*/ 251550 h 1076254"/>
                <a:gd name="connsiteX2" fmla="*/ 68748 w 3069423"/>
                <a:gd name="connsiteY2" fmla="*/ 452510 h 1076254"/>
                <a:gd name="connsiteX3" fmla="*/ 177374 w 3069423"/>
                <a:gd name="connsiteY3" fmla="*/ 700376 h 1076254"/>
                <a:gd name="connsiteX4" fmla="*/ 474869 w 3069423"/>
                <a:gd name="connsiteY4" fmla="*/ 981919 h 1076254"/>
                <a:gd name="connsiteX5" fmla="*/ 701152 w 3069423"/>
                <a:gd name="connsiteY5" fmla="*/ 1074880 h 1076254"/>
                <a:gd name="connsiteX6" fmla="*/ 1063102 w 3069423"/>
                <a:gd name="connsiteY6" fmla="*/ 1025350 h 1076254"/>
                <a:gd name="connsiteX7" fmla="*/ 1469502 w 3069423"/>
                <a:gd name="connsiteY7" fmla="*/ 866600 h 1076254"/>
                <a:gd name="connsiteX8" fmla="*/ 1918844 w 3069423"/>
                <a:gd name="connsiteY8" fmla="*/ 642619 h 1076254"/>
                <a:gd name="connsiteX9" fmla="*/ 2242738 w 3069423"/>
                <a:gd name="connsiteY9" fmla="*/ 459015 h 1076254"/>
                <a:gd name="connsiteX10" fmla="*/ 2611384 w 3069423"/>
                <a:gd name="connsiteY10" fmla="*/ 251416 h 1076254"/>
                <a:gd name="connsiteX11" fmla="*/ 3069423 w 3069423"/>
                <a:gd name="connsiteY11" fmla="*/ 0 h 1076254"/>
                <a:gd name="connsiteX0" fmla="*/ 0 w 3069423"/>
                <a:gd name="connsiteY0" fmla="*/ 140607 h 1102457"/>
                <a:gd name="connsiteX1" fmla="*/ 13251 w 3069423"/>
                <a:gd name="connsiteY1" fmla="*/ 251550 h 1102457"/>
                <a:gd name="connsiteX2" fmla="*/ 68748 w 3069423"/>
                <a:gd name="connsiteY2" fmla="*/ 452510 h 1102457"/>
                <a:gd name="connsiteX3" fmla="*/ 177374 w 3069423"/>
                <a:gd name="connsiteY3" fmla="*/ 700376 h 1102457"/>
                <a:gd name="connsiteX4" fmla="*/ 474869 w 3069423"/>
                <a:gd name="connsiteY4" fmla="*/ 981919 h 1102457"/>
                <a:gd name="connsiteX5" fmla="*/ 734646 w 3069423"/>
                <a:gd name="connsiteY5" fmla="*/ 1101676 h 1102457"/>
                <a:gd name="connsiteX6" fmla="*/ 1063102 w 3069423"/>
                <a:gd name="connsiteY6" fmla="*/ 1025350 h 1102457"/>
                <a:gd name="connsiteX7" fmla="*/ 1469502 w 3069423"/>
                <a:gd name="connsiteY7" fmla="*/ 866600 h 1102457"/>
                <a:gd name="connsiteX8" fmla="*/ 1918844 w 3069423"/>
                <a:gd name="connsiteY8" fmla="*/ 642619 h 1102457"/>
                <a:gd name="connsiteX9" fmla="*/ 2242738 w 3069423"/>
                <a:gd name="connsiteY9" fmla="*/ 459015 h 1102457"/>
                <a:gd name="connsiteX10" fmla="*/ 2611384 w 3069423"/>
                <a:gd name="connsiteY10" fmla="*/ 251416 h 1102457"/>
                <a:gd name="connsiteX11" fmla="*/ 3069423 w 3069423"/>
                <a:gd name="connsiteY11" fmla="*/ 0 h 1102457"/>
                <a:gd name="connsiteX0" fmla="*/ 0 w 3069423"/>
                <a:gd name="connsiteY0" fmla="*/ 140607 h 1186530"/>
                <a:gd name="connsiteX1" fmla="*/ 13251 w 3069423"/>
                <a:gd name="connsiteY1" fmla="*/ 251550 h 1186530"/>
                <a:gd name="connsiteX2" fmla="*/ 68748 w 3069423"/>
                <a:gd name="connsiteY2" fmla="*/ 452510 h 1186530"/>
                <a:gd name="connsiteX3" fmla="*/ 177374 w 3069423"/>
                <a:gd name="connsiteY3" fmla="*/ 700376 h 1186530"/>
                <a:gd name="connsiteX4" fmla="*/ 474869 w 3069423"/>
                <a:gd name="connsiteY4" fmla="*/ 981919 h 1186530"/>
                <a:gd name="connsiteX5" fmla="*/ 734646 w 3069423"/>
                <a:gd name="connsiteY5" fmla="*/ 1101676 h 1186530"/>
                <a:gd name="connsiteX6" fmla="*/ 1227225 w 3069423"/>
                <a:gd name="connsiteY6" fmla="*/ 1176075 h 1186530"/>
                <a:gd name="connsiteX7" fmla="*/ 1469502 w 3069423"/>
                <a:gd name="connsiteY7" fmla="*/ 866600 h 1186530"/>
                <a:gd name="connsiteX8" fmla="*/ 1918844 w 3069423"/>
                <a:gd name="connsiteY8" fmla="*/ 642619 h 1186530"/>
                <a:gd name="connsiteX9" fmla="*/ 2242738 w 3069423"/>
                <a:gd name="connsiteY9" fmla="*/ 459015 h 1186530"/>
                <a:gd name="connsiteX10" fmla="*/ 2611384 w 3069423"/>
                <a:gd name="connsiteY10" fmla="*/ 251416 h 1186530"/>
                <a:gd name="connsiteX11" fmla="*/ 3069423 w 3069423"/>
                <a:gd name="connsiteY11" fmla="*/ 0 h 1186530"/>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1918844 w 3069423"/>
                <a:gd name="connsiteY8" fmla="*/ 64261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242738 w 3069423"/>
                <a:gd name="connsiteY9" fmla="*/ 459015 h 1177362"/>
                <a:gd name="connsiteX10" fmla="*/ 2611384 w 3069423"/>
                <a:gd name="connsiteY10" fmla="*/ 251416 h 1177362"/>
                <a:gd name="connsiteX11" fmla="*/ 3069423 w 3069423"/>
                <a:gd name="connsiteY11" fmla="*/ 0 h 1177362"/>
                <a:gd name="connsiteX0" fmla="*/ 0 w 3069423"/>
                <a:gd name="connsiteY0" fmla="*/ 140607 h 1177362"/>
                <a:gd name="connsiteX1" fmla="*/ 13251 w 3069423"/>
                <a:gd name="connsiteY1" fmla="*/ 251550 h 1177362"/>
                <a:gd name="connsiteX2" fmla="*/ 68748 w 3069423"/>
                <a:gd name="connsiteY2" fmla="*/ 452510 h 1177362"/>
                <a:gd name="connsiteX3" fmla="*/ 177374 w 3069423"/>
                <a:gd name="connsiteY3" fmla="*/ 700376 h 1177362"/>
                <a:gd name="connsiteX4" fmla="*/ 474869 w 3069423"/>
                <a:gd name="connsiteY4" fmla="*/ 981919 h 1177362"/>
                <a:gd name="connsiteX5" fmla="*/ 734646 w 3069423"/>
                <a:gd name="connsiteY5" fmla="*/ 1101676 h 1177362"/>
                <a:gd name="connsiteX6" fmla="*/ 1227225 w 3069423"/>
                <a:gd name="connsiteY6" fmla="*/ 1176075 h 1177362"/>
                <a:gd name="connsiteX7" fmla="*/ 1827893 w 3069423"/>
                <a:gd name="connsiteY7" fmla="*/ 1040771 h 1177362"/>
                <a:gd name="connsiteX8" fmla="*/ 2240391 w 3069423"/>
                <a:gd name="connsiteY8" fmla="*/ 823489 h 1177362"/>
                <a:gd name="connsiteX9" fmla="*/ 2631274 w 3069423"/>
                <a:gd name="connsiteY9" fmla="*/ 592993 h 1177362"/>
                <a:gd name="connsiteX10" fmla="*/ 2611384 w 3069423"/>
                <a:gd name="connsiteY10" fmla="*/ 251416 h 1177362"/>
                <a:gd name="connsiteX11" fmla="*/ 3069423 w 3069423"/>
                <a:gd name="connsiteY11" fmla="*/ 0 h 1177362"/>
                <a:gd name="connsiteX0" fmla="*/ 0 w 3069423"/>
                <a:gd name="connsiteY0" fmla="*/ 140607 h 1177129"/>
                <a:gd name="connsiteX1" fmla="*/ 13251 w 3069423"/>
                <a:gd name="connsiteY1" fmla="*/ 251550 h 1177129"/>
                <a:gd name="connsiteX2" fmla="*/ 68748 w 3069423"/>
                <a:gd name="connsiteY2" fmla="*/ 452510 h 1177129"/>
                <a:gd name="connsiteX3" fmla="*/ 177374 w 3069423"/>
                <a:gd name="connsiteY3" fmla="*/ 700376 h 1177129"/>
                <a:gd name="connsiteX4" fmla="*/ 474869 w 3069423"/>
                <a:gd name="connsiteY4" fmla="*/ 981919 h 1177129"/>
                <a:gd name="connsiteX5" fmla="*/ 734646 w 3069423"/>
                <a:gd name="connsiteY5" fmla="*/ 1101676 h 1177129"/>
                <a:gd name="connsiteX6" fmla="*/ 1227225 w 3069423"/>
                <a:gd name="connsiteY6" fmla="*/ 1176075 h 1177129"/>
                <a:gd name="connsiteX7" fmla="*/ 1817845 w 3069423"/>
                <a:gd name="connsiteY7" fmla="*/ 1047470 h 1177129"/>
                <a:gd name="connsiteX8" fmla="*/ 2240391 w 3069423"/>
                <a:gd name="connsiteY8" fmla="*/ 823489 h 1177129"/>
                <a:gd name="connsiteX9" fmla="*/ 2631274 w 3069423"/>
                <a:gd name="connsiteY9" fmla="*/ 592993 h 1177129"/>
                <a:gd name="connsiteX10" fmla="*/ 2611384 w 3069423"/>
                <a:gd name="connsiteY10" fmla="*/ 251416 h 1177129"/>
                <a:gd name="connsiteX11" fmla="*/ 3069423 w 3069423"/>
                <a:gd name="connsiteY11" fmla="*/ 0 h 1177129"/>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00913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73833"/>
                <a:gd name="connsiteX1" fmla="*/ 13251 w 3069423"/>
                <a:gd name="connsiteY1" fmla="*/ 251550 h 1173833"/>
                <a:gd name="connsiteX2" fmla="*/ 68748 w 3069423"/>
                <a:gd name="connsiteY2" fmla="*/ 452510 h 1173833"/>
                <a:gd name="connsiteX3" fmla="*/ 177374 w 3069423"/>
                <a:gd name="connsiteY3" fmla="*/ 700376 h 1173833"/>
                <a:gd name="connsiteX4" fmla="*/ 474869 w 3069423"/>
                <a:gd name="connsiteY4" fmla="*/ 981919 h 1173833"/>
                <a:gd name="connsiteX5" fmla="*/ 734646 w 3069423"/>
                <a:gd name="connsiteY5" fmla="*/ 1101676 h 1173833"/>
                <a:gd name="connsiteX6" fmla="*/ 1354504 w 3069423"/>
                <a:gd name="connsiteY6" fmla="*/ 1172726 h 1173833"/>
                <a:gd name="connsiteX7" fmla="*/ 1817845 w 3069423"/>
                <a:gd name="connsiteY7" fmla="*/ 1047470 h 1173833"/>
                <a:gd name="connsiteX8" fmla="*/ 2240391 w 3069423"/>
                <a:gd name="connsiteY8" fmla="*/ 823489 h 1173833"/>
                <a:gd name="connsiteX9" fmla="*/ 2631274 w 3069423"/>
                <a:gd name="connsiteY9" fmla="*/ 592993 h 1173833"/>
                <a:gd name="connsiteX10" fmla="*/ 2611384 w 3069423"/>
                <a:gd name="connsiteY10" fmla="*/ 251416 h 1173833"/>
                <a:gd name="connsiteX11" fmla="*/ 3069423 w 3069423"/>
                <a:gd name="connsiteY11" fmla="*/ 0 h 1173833"/>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17845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23489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77374 w 3069423"/>
                <a:gd name="connsiteY3" fmla="*/ 700376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51550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69423"/>
                <a:gd name="connsiteY0" fmla="*/ 140607 h 1181019"/>
                <a:gd name="connsiteX1" fmla="*/ 13251 w 3069423"/>
                <a:gd name="connsiteY1" fmla="*/ 271647 h 1181019"/>
                <a:gd name="connsiteX2" fmla="*/ 68748 w 3069423"/>
                <a:gd name="connsiteY2" fmla="*/ 452510 h 1181019"/>
                <a:gd name="connsiteX3" fmla="*/ 197470 w 3069423"/>
                <a:gd name="connsiteY3" fmla="*/ 743918 h 1181019"/>
                <a:gd name="connsiteX4" fmla="*/ 474869 w 3069423"/>
                <a:gd name="connsiteY4" fmla="*/ 981919 h 1181019"/>
                <a:gd name="connsiteX5" fmla="*/ 905468 w 3069423"/>
                <a:gd name="connsiteY5" fmla="*/ 1148568 h 1181019"/>
                <a:gd name="connsiteX6" fmla="*/ 1354504 w 3069423"/>
                <a:gd name="connsiteY6" fmla="*/ 1172726 h 1181019"/>
                <a:gd name="connsiteX7" fmla="*/ 1827894 w 3069423"/>
                <a:gd name="connsiteY7" fmla="*/ 1047470 h 1181019"/>
                <a:gd name="connsiteX8" fmla="*/ 2240391 w 3069423"/>
                <a:gd name="connsiteY8" fmla="*/ 830188 h 1181019"/>
                <a:gd name="connsiteX9" fmla="*/ 2631274 w 3069423"/>
                <a:gd name="connsiteY9" fmla="*/ 592993 h 1181019"/>
                <a:gd name="connsiteX10" fmla="*/ 2611384 w 3069423"/>
                <a:gd name="connsiteY10" fmla="*/ 251416 h 1181019"/>
                <a:gd name="connsiteX11" fmla="*/ 3069423 w 3069423"/>
                <a:gd name="connsiteY11" fmla="*/ 0 h 1181019"/>
                <a:gd name="connsiteX0" fmla="*/ 0 w 3076122"/>
                <a:gd name="connsiteY0" fmla="*/ 167403 h 1181019"/>
                <a:gd name="connsiteX1" fmla="*/ 19950 w 3076122"/>
                <a:gd name="connsiteY1" fmla="*/ 271647 h 1181019"/>
                <a:gd name="connsiteX2" fmla="*/ 75447 w 3076122"/>
                <a:gd name="connsiteY2" fmla="*/ 452510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04169 w 3076122"/>
                <a:gd name="connsiteY3" fmla="*/ 743918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1019"/>
                <a:gd name="connsiteX1" fmla="*/ 19950 w 3076122"/>
                <a:gd name="connsiteY1" fmla="*/ 271647 h 1181019"/>
                <a:gd name="connsiteX2" fmla="*/ 88845 w 3076122"/>
                <a:gd name="connsiteY2" fmla="*/ 509451 h 1181019"/>
                <a:gd name="connsiteX3" fmla="*/ 217567 w 3076122"/>
                <a:gd name="connsiteY3" fmla="*/ 774063 h 1181019"/>
                <a:gd name="connsiteX4" fmla="*/ 481568 w 3076122"/>
                <a:gd name="connsiteY4" fmla="*/ 981919 h 1181019"/>
                <a:gd name="connsiteX5" fmla="*/ 912167 w 3076122"/>
                <a:gd name="connsiteY5" fmla="*/ 1148568 h 1181019"/>
                <a:gd name="connsiteX6" fmla="*/ 1361203 w 3076122"/>
                <a:gd name="connsiteY6" fmla="*/ 1172726 h 1181019"/>
                <a:gd name="connsiteX7" fmla="*/ 1834593 w 3076122"/>
                <a:gd name="connsiteY7" fmla="*/ 1047470 h 1181019"/>
                <a:gd name="connsiteX8" fmla="*/ 2247090 w 3076122"/>
                <a:gd name="connsiteY8" fmla="*/ 830188 h 1181019"/>
                <a:gd name="connsiteX9" fmla="*/ 2637973 w 3076122"/>
                <a:gd name="connsiteY9" fmla="*/ 592993 h 1181019"/>
                <a:gd name="connsiteX10" fmla="*/ 2618083 w 3076122"/>
                <a:gd name="connsiteY10" fmla="*/ 251416 h 1181019"/>
                <a:gd name="connsiteX11" fmla="*/ 3076122 w 3076122"/>
                <a:gd name="connsiteY11" fmla="*/ 0 h 1181019"/>
                <a:gd name="connsiteX0" fmla="*/ 0 w 3076122"/>
                <a:gd name="connsiteY0" fmla="*/ 167403 h 1180105"/>
                <a:gd name="connsiteX1" fmla="*/ 19950 w 3076122"/>
                <a:gd name="connsiteY1" fmla="*/ 271647 h 1180105"/>
                <a:gd name="connsiteX2" fmla="*/ 88845 w 3076122"/>
                <a:gd name="connsiteY2" fmla="*/ 509451 h 1180105"/>
                <a:gd name="connsiteX3" fmla="*/ 217567 w 3076122"/>
                <a:gd name="connsiteY3" fmla="*/ 774063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88845 w 3076122"/>
                <a:gd name="connsiteY2" fmla="*/ 509451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19950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26649 w 3076122"/>
                <a:gd name="connsiteY1" fmla="*/ 271647 h 1180105"/>
                <a:gd name="connsiteX2" fmla="*/ 95544 w 3076122"/>
                <a:gd name="connsiteY2" fmla="*/ 522849 h 1180105"/>
                <a:gd name="connsiteX3" fmla="*/ 220916 w 3076122"/>
                <a:gd name="connsiteY3" fmla="*/ 770714 h 1180105"/>
                <a:gd name="connsiteX4" fmla="*/ 515063 w 3076122"/>
                <a:gd name="connsiteY4" fmla="*/ 1008714 h 1180105"/>
                <a:gd name="connsiteX5" fmla="*/ 912167 w 3076122"/>
                <a:gd name="connsiteY5" fmla="*/ 1148568 h 1180105"/>
                <a:gd name="connsiteX6" fmla="*/ 1361203 w 3076122"/>
                <a:gd name="connsiteY6" fmla="*/ 1172726 h 1180105"/>
                <a:gd name="connsiteX7" fmla="*/ 1834593 w 3076122"/>
                <a:gd name="connsiteY7" fmla="*/ 1047470 h 1180105"/>
                <a:gd name="connsiteX8" fmla="*/ 2247090 w 3076122"/>
                <a:gd name="connsiteY8" fmla="*/ 830188 h 1180105"/>
                <a:gd name="connsiteX9" fmla="*/ 2637973 w 3076122"/>
                <a:gd name="connsiteY9" fmla="*/ 592993 h 1180105"/>
                <a:gd name="connsiteX10" fmla="*/ 2618083 w 3076122"/>
                <a:gd name="connsiteY10" fmla="*/ 251416 h 1180105"/>
                <a:gd name="connsiteX11" fmla="*/ 3076122 w 3076122"/>
                <a:gd name="connsiteY11" fmla="*/ 0 h 1180105"/>
                <a:gd name="connsiteX0" fmla="*/ 0 w 3076122"/>
                <a:gd name="connsiteY0" fmla="*/ 167403 h 1180105"/>
                <a:gd name="connsiteX1" fmla="*/ 95544 w 3076122"/>
                <a:gd name="connsiteY1" fmla="*/ 522849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0916 w 3076122"/>
                <a:gd name="connsiteY2" fmla="*/ 770714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076122"/>
                <a:gd name="connsiteY0" fmla="*/ 167403 h 1180105"/>
                <a:gd name="connsiteX1" fmla="*/ 75447 w 3076122"/>
                <a:gd name="connsiteY1" fmla="*/ 445812 h 1180105"/>
                <a:gd name="connsiteX2" fmla="*/ 227615 w 3076122"/>
                <a:gd name="connsiteY2" fmla="*/ 767365 h 1180105"/>
                <a:gd name="connsiteX3" fmla="*/ 515063 w 3076122"/>
                <a:gd name="connsiteY3" fmla="*/ 1008714 h 1180105"/>
                <a:gd name="connsiteX4" fmla="*/ 912167 w 3076122"/>
                <a:gd name="connsiteY4" fmla="*/ 1148568 h 1180105"/>
                <a:gd name="connsiteX5" fmla="*/ 1361203 w 3076122"/>
                <a:gd name="connsiteY5" fmla="*/ 1172726 h 1180105"/>
                <a:gd name="connsiteX6" fmla="*/ 1834593 w 3076122"/>
                <a:gd name="connsiteY6" fmla="*/ 1047470 h 1180105"/>
                <a:gd name="connsiteX7" fmla="*/ 2247090 w 3076122"/>
                <a:gd name="connsiteY7" fmla="*/ 830188 h 1180105"/>
                <a:gd name="connsiteX8" fmla="*/ 2637973 w 3076122"/>
                <a:gd name="connsiteY8" fmla="*/ 592993 h 1180105"/>
                <a:gd name="connsiteX9" fmla="*/ 2618083 w 3076122"/>
                <a:gd name="connsiteY9" fmla="*/ 251416 h 1180105"/>
                <a:gd name="connsiteX10" fmla="*/ 3076122 w 3076122"/>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2618083 w 3528298"/>
                <a:gd name="connsiteY9" fmla="*/ 251416 h 1180105"/>
                <a:gd name="connsiteX10" fmla="*/ 3528298 w 3528298"/>
                <a:gd name="connsiteY10" fmla="*/ 0 h 1180105"/>
                <a:gd name="connsiteX0" fmla="*/ 0 w 3528298"/>
                <a:gd name="connsiteY0" fmla="*/ 167403 h 1180105"/>
                <a:gd name="connsiteX1" fmla="*/ 75447 w 3528298"/>
                <a:gd name="connsiteY1" fmla="*/ 445812 h 1180105"/>
                <a:gd name="connsiteX2" fmla="*/ 227615 w 3528298"/>
                <a:gd name="connsiteY2" fmla="*/ 767365 h 1180105"/>
                <a:gd name="connsiteX3" fmla="*/ 515063 w 3528298"/>
                <a:gd name="connsiteY3" fmla="*/ 1008714 h 1180105"/>
                <a:gd name="connsiteX4" fmla="*/ 912167 w 3528298"/>
                <a:gd name="connsiteY4" fmla="*/ 1148568 h 1180105"/>
                <a:gd name="connsiteX5" fmla="*/ 1361203 w 3528298"/>
                <a:gd name="connsiteY5" fmla="*/ 1172726 h 1180105"/>
                <a:gd name="connsiteX6" fmla="*/ 1834593 w 3528298"/>
                <a:gd name="connsiteY6" fmla="*/ 1047470 h 1180105"/>
                <a:gd name="connsiteX7" fmla="*/ 2247090 w 3528298"/>
                <a:gd name="connsiteY7" fmla="*/ 830188 h 1180105"/>
                <a:gd name="connsiteX8" fmla="*/ 2637973 w 3528298"/>
                <a:gd name="connsiteY8" fmla="*/ 592993 h 1180105"/>
                <a:gd name="connsiteX9" fmla="*/ 3063560 w 3528298"/>
                <a:gd name="connsiteY9" fmla="*/ 305007 h 1180105"/>
                <a:gd name="connsiteX10" fmla="*/ 3528298 w 3528298"/>
                <a:gd name="connsiteY10" fmla="*/ 0 h 1180105"/>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63560 w 3541696"/>
                <a:gd name="connsiteY9" fmla="*/ 308356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41696"/>
                <a:gd name="connsiteY0" fmla="*/ 170752 h 1183454"/>
                <a:gd name="connsiteX1" fmla="*/ 75447 w 3541696"/>
                <a:gd name="connsiteY1" fmla="*/ 449161 h 1183454"/>
                <a:gd name="connsiteX2" fmla="*/ 227615 w 3541696"/>
                <a:gd name="connsiteY2" fmla="*/ 770714 h 1183454"/>
                <a:gd name="connsiteX3" fmla="*/ 515063 w 3541696"/>
                <a:gd name="connsiteY3" fmla="*/ 1012063 h 1183454"/>
                <a:gd name="connsiteX4" fmla="*/ 912167 w 3541696"/>
                <a:gd name="connsiteY4" fmla="*/ 1151917 h 1183454"/>
                <a:gd name="connsiteX5" fmla="*/ 1361203 w 3541696"/>
                <a:gd name="connsiteY5" fmla="*/ 1176075 h 1183454"/>
                <a:gd name="connsiteX6" fmla="*/ 1834593 w 3541696"/>
                <a:gd name="connsiteY6" fmla="*/ 1050819 h 1183454"/>
                <a:gd name="connsiteX7" fmla="*/ 2247090 w 3541696"/>
                <a:gd name="connsiteY7" fmla="*/ 833537 h 1183454"/>
                <a:gd name="connsiteX8" fmla="*/ 2637973 w 3541696"/>
                <a:gd name="connsiteY8" fmla="*/ 596342 h 1183454"/>
                <a:gd name="connsiteX9" fmla="*/ 3056861 w 3541696"/>
                <a:gd name="connsiteY9" fmla="*/ 315055 h 1183454"/>
                <a:gd name="connsiteX10" fmla="*/ 3541696 w 3541696"/>
                <a:gd name="connsiteY10" fmla="*/ 0 h 1183454"/>
                <a:gd name="connsiteX0" fmla="*/ 0 w 3534076"/>
                <a:gd name="connsiteY0" fmla="*/ 254572 h 1183454"/>
                <a:gd name="connsiteX1" fmla="*/ 67827 w 3534076"/>
                <a:gd name="connsiteY1" fmla="*/ 449161 h 1183454"/>
                <a:gd name="connsiteX2" fmla="*/ 219995 w 3534076"/>
                <a:gd name="connsiteY2" fmla="*/ 770714 h 1183454"/>
                <a:gd name="connsiteX3" fmla="*/ 507443 w 3534076"/>
                <a:gd name="connsiteY3" fmla="*/ 1012063 h 1183454"/>
                <a:gd name="connsiteX4" fmla="*/ 904547 w 3534076"/>
                <a:gd name="connsiteY4" fmla="*/ 1151917 h 1183454"/>
                <a:gd name="connsiteX5" fmla="*/ 1353583 w 3534076"/>
                <a:gd name="connsiteY5" fmla="*/ 1176075 h 1183454"/>
                <a:gd name="connsiteX6" fmla="*/ 1826973 w 3534076"/>
                <a:gd name="connsiteY6" fmla="*/ 1050819 h 1183454"/>
                <a:gd name="connsiteX7" fmla="*/ 2239470 w 3534076"/>
                <a:gd name="connsiteY7" fmla="*/ 833537 h 1183454"/>
                <a:gd name="connsiteX8" fmla="*/ 2630353 w 3534076"/>
                <a:gd name="connsiteY8" fmla="*/ 596342 h 1183454"/>
                <a:gd name="connsiteX9" fmla="*/ 3049241 w 3534076"/>
                <a:gd name="connsiteY9" fmla="*/ 315055 h 1183454"/>
                <a:gd name="connsiteX10" fmla="*/ 3534076 w 3534076"/>
                <a:gd name="connsiteY10" fmla="*/ 0 h 1183454"/>
                <a:gd name="connsiteX0" fmla="*/ 0 w 3526456"/>
                <a:gd name="connsiteY0" fmla="*/ 264732 h 1183454"/>
                <a:gd name="connsiteX1" fmla="*/ 60207 w 3526456"/>
                <a:gd name="connsiteY1" fmla="*/ 44916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212375 w 3526456"/>
                <a:gd name="connsiteY2" fmla="*/ 77071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6456"/>
                <a:gd name="connsiteY0" fmla="*/ 264732 h 1183454"/>
                <a:gd name="connsiteX1" fmla="*/ 65287 w 3526456"/>
                <a:gd name="connsiteY1" fmla="*/ 492341 h 1183454"/>
                <a:gd name="connsiteX2" fmla="*/ 197135 w 3526456"/>
                <a:gd name="connsiteY2" fmla="*/ 773254 h 1183454"/>
                <a:gd name="connsiteX3" fmla="*/ 499823 w 3526456"/>
                <a:gd name="connsiteY3" fmla="*/ 1012063 h 1183454"/>
                <a:gd name="connsiteX4" fmla="*/ 896927 w 3526456"/>
                <a:gd name="connsiteY4" fmla="*/ 1151917 h 1183454"/>
                <a:gd name="connsiteX5" fmla="*/ 1345963 w 3526456"/>
                <a:gd name="connsiteY5" fmla="*/ 1176075 h 1183454"/>
                <a:gd name="connsiteX6" fmla="*/ 1819353 w 3526456"/>
                <a:gd name="connsiteY6" fmla="*/ 1050819 h 1183454"/>
                <a:gd name="connsiteX7" fmla="*/ 2231850 w 3526456"/>
                <a:gd name="connsiteY7" fmla="*/ 833537 h 1183454"/>
                <a:gd name="connsiteX8" fmla="*/ 2622733 w 3526456"/>
                <a:gd name="connsiteY8" fmla="*/ 596342 h 1183454"/>
                <a:gd name="connsiteX9" fmla="*/ 3041621 w 3526456"/>
                <a:gd name="connsiteY9" fmla="*/ 315055 h 1183454"/>
                <a:gd name="connsiteX10" fmla="*/ 3526456 w 3526456"/>
                <a:gd name="connsiteY10" fmla="*/ 0 h 1183454"/>
                <a:gd name="connsiteX0" fmla="*/ 0 w 3528996"/>
                <a:gd name="connsiteY0" fmla="*/ 264732 h 1183454"/>
                <a:gd name="connsiteX1" fmla="*/ 67827 w 3528996"/>
                <a:gd name="connsiteY1" fmla="*/ 4923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7964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0 w 3528996"/>
                <a:gd name="connsiteY0" fmla="*/ 264732 h 1183454"/>
                <a:gd name="connsiteX1" fmla="*/ 52587 w 3528996"/>
                <a:gd name="connsiteY1" fmla="*/ 494881 h 1183454"/>
                <a:gd name="connsiteX2" fmla="*/ 199675 w 3528996"/>
                <a:gd name="connsiteY2" fmla="*/ 773254 h 1183454"/>
                <a:gd name="connsiteX3" fmla="*/ 502363 w 3528996"/>
                <a:gd name="connsiteY3" fmla="*/ 1012063 h 1183454"/>
                <a:gd name="connsiteX4" fmla="*/ 899467 w 3528996"/>
                <a:gd name="connsiteY4" fmla="*/ 1151917 h 1183454"/>
                <a:gd name="connsiteX5" fmla="*/ 1348503 w 3528996"/>
                <a:gd name="connsiteY5" fmla="*/ 1176075 h 1183454"/>
                <a:gd name="connsiteX6" fmla="*/ 1821893 w 3528996"/>
                <a:gd name="connsiteY6" fmla="*/ 1050819 h 1183454"/>
                <a:gd name="connsiteX7" fmla="*/ 2234390 w 3528996"/>
                <a:gd name="connsiteY7" fmla="*/ 833537 h 1183454"/>
                <a:gd name="connsiteX8" fmla="*/ 2625273 w 3528996"/>
                <a:gd name="connsiteY8" fmla="*/ 596342 h 1183454"/>
                <a:gd name="connsiteX9" fmla="*/ 3044161 w 3528996"/>
                <a:gd name="connsiteY9" fmla="*/ 315055 h 1183454"/>
                <a:gd name="connsiteX10" fmla="*/ 3528996 w 3528996"/>
                <a:gd name="connsiteY10" fmla="*/ 0 h 1183454"/>
                <a:gd name="connsiteX0" fmla="*/ 4 w 3529000"/>
                <a:gd name="connsiteY0" fmla="*/ 264732 h 1183454"/>
                <a:gd name="connsiteX1" fmla="*/ 52591 w 3529000"/>
                <a:gd name="connsiteY1" fmla="*/ 49488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4 w 3529000"/>
                <a:gd name="connsiteY0" fmla="*/ 264732 h 1183454"/>
                <a:gd name="connsiteX1" fmla="*/ 50051 w 3529000"/>
                <a:gd name="connsiteY1" fmla="*/ 497421 h 1183454"/>
                <a:gd name="connsiteX2" fmla="*/ 199679 w 3529000"/>
                <a:gd name="connsiteY2" fmla="*/ 773254 h 1183454"/>
                <a:gd name="connsiteX3" fmla="*/ 502367 w 3529000"/>
                <a:gd name="connsiteY3" fmla="*/ 1012063 h 1183454"/>
                <a:gd name="connsiteX4" fmla="*/ 899471 w 3529000"/>
                <a:gd name="connsiteY4" fmla="*/ 1151917 h 1183454"/>
                <a:gd name="connsiteX5" fmla="*/ 1348507 w 3529000"/>
                <a:gd name="connsiteY5" fmla="*/ 1176075 h 1183454"/>
                <a:gd name="connsiteX6" fmla="*/ 1821897 w 3529000"/>
                <a:gd name="connsiteY6" fmla="*/ 1050819 h 1183454"/>
                <a:gd name="connsiteX7" fmla="*/ 2234394 w 3529000"/>
                <a:gd name="connsiteY7" fmla="*/ 833537 h 1183454"/>
                <a:gd name="connsiteX8" fmla="*/ 2625277 w 3529000"/>
                <a:gd name="connsiteY8" fmla="*/ 596342 h 1183454"/>
                <a:gd name="connsiteX9" fmla="*/ 3044165 w 3529000"/>
                <a:gd name="connsiteY9" fmla="*/ 315055 h 1183454"/>
                <a:gd name="connsiteX10" fmla="*/ 3529000 w 3529000"/>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50054 w 3529003"/>
                <a:gd name="connsiteY1" fmla="*/ 49742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8 w 3529004"/>
                <a:gd name="connsiteY0" fmla="*/ 264732 h 1183454"/>
                <a:gd name="connsiteX1" fmla="*/ 47515 w 3529004"/>
                <a:gd name="connsiteY1" fmla="*/ 497421 h 1183454"/>
                <a:gd name="connsiteX2" fmla="*/ 199683 w 3529004"/>
                <a:gd name="connsiteY2" fmla="*/ 773254 h 1183454"/>
                <a:gd name="connsiteX3" fmla="*/ 502371 w 3529004"/>
                <a:gd name="connsiteY3" fmla="*/ 1012063 h 1183454"/>
                <a:gd name="connsiteX4" fmla="*/ 899475 w 3529004"/>
                <a:gd name="connsiteY4" fmla="*/ 1151917 h 1183454"/>
                <a:gd name="connsiteX5" fmla="*/ 1348511 w 3529004"/>
                <a:gd name="connsiteY5" fmla="*/ 1176075 h 1183454"/>
                <a:gd name="connsiteX6" fmla="*/ 1821901 w 3529004"/>
                <a:gd name="connsiteY6" fmla="*/ 1050819 h 1183454"/>
                <a:gd name="connsiteX7" fmla="*/ 2234398 w 3529004"/>
                <a:gd name="connsiteY7" fmla="*/ 833537 h 1183454"/>
                <a:gd name="connsiteX8" fmla="*/ 2625281 w 3529004"/>
                <a:gd name="connsiteY8" fmla="*/ 596342 h 1183454"/>
                <a:gd name="connsiteX9" fmla="*/ 3044169 w 3529004"/>
                <a:gd name="connsiteY9" fmla="*/ 315055 h 1183454"/>
                <a:gd name="connsiteX10" fmla="*/ 3529004 w 3529004"/>
                <a:gd name="connsiteY10" fmla="*/ 0 h 1183454"/>
                <a:gd name="connsiteX0" fmla="*/ 12 w 3529008"/>
                <a:gd name="connsiteY0" fmla="*/ 264732 h 1183454"/>
                <a:gd name="connsiteX1" fmla="*/ 42439 w 3529008"/>
                <a:gd name="connsiteY1" fmla="*/ 499961 h 1183454"/>
                <a:gd name="connsiteX2" fmla="*/ 199687 w 3529008"/>
                <a:gd name="connsiteY2" fmla="*/ 773254 h 1183454"/>
                <a:gd name="connsiteX3" fmla="*/ 502375 w 3529008"/>
                <a:gd name="connsiteY3" fmla="*/ 1012063 h 1183454"/>
                <a:gd name="connsiteX4" fmla="*/ 899479 w 3529008"/>
                <a:gd name="connsiteY4" fmla="*/ 1151917 h 1183454"/>
                <a:gd name="connsiteX5" fmla="*/ 1348515 w 3529008"/>
                <a:gd name="connsiteY5" fmla="*/ 1176075 h 1183454"/>
                <a:gd name="connsiteX6" fmla="*/ 1821905 w 3529008"/>
                <a:gd name="connsiteY6" fmla="*/ 1050819 h 1183454"/>
                <a:gd name="connsiteX7" fmla="*/ 2234402 w 3529008"/>
                <a:gd name="connsiteY7" fmla="*/ 833537 h 1183454"/>
                <a:gd name="connsiteX8" fmla="*/ 2625285 w 3529008"/>
                <a:gd name="connsiteY8" fmla="*/ 596342 h 1183454"/>
                <a:gd name="connsiteX9" fmla="*/ 3044173 w 3529008"/>
                <a:gd name="connsiteY9" fmla="*/ 315055 h 1183454"/>
                <a:gd name="connsiteX10" fmla="*/ 3529008 w 3529008"/>
                <a:gd name="connsiteY10" fmla="*/ 0 h 1183454"/>
                <a:gd name="connsiteX0" fmla="*/ 6 w 3529002"/>
                <a:gd name="connsiteY0" fmla="*/ 264732 h 1183454"/>
                <a:gd name="connsiteX1" fmla="*/ 42433 w 3529002"/>
                <a:gd name="connsiteY1" fmla="*/ 499961 h 1183454"/>
                <a:gd name="connsiteX2" fmla="*/ 199681 w 3529002"/>
                <a:gd name="connsiteY2" fmla="*/ 773254 h 1183454"/>
                <a:gd name="connsiteX3" fmla="*/ 502369 w 3529002"/>
                <a:gd name="connsiteY3" fmla="*/ 1012063 h 1183454"/>
                <a:gd name="connsiteX4" fmla="*/ 899473 w 3529002"/>
                <a:gd name="connsiteY4" fmla="*/ 1151917 h 1183454"/>
                <a:gd name="connsiteX5" fmla="*/ 1348509 w 3529002"/>
                <a:gd name="connsiteY5" fmla="*/ 1176075 h 1183454"/>
                <a:gd name="connsiteX6" fmla="*/ 1821899 w 3529002"/>
                <a:gd name="connsiteY6" fmla="*/ 1050819 h 1183454"/>
                <a:gd name="connsiteX7" fmla="*/ 2234396 w 3529002"/>
                <a:gd name="connsiteY7" fmla="*/ 833537 h 1183454"/>
                <a:gd name="connsiteX8" fmla="*/ 2625279 w 3529002"/>
                <a:gd name="connsiteY8" fmla="*/ 596342 h 1183454"/>
                <a:gd name="connsiteX9" fmla="*/ 3044167 w 3529002"/>
                <a:gd name="connsiteY9" fmla="*/ 315055 h 1183454"/>
                <a:gd name="connsiteX10" fmla="*/ 3529002 w 3529002"/>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44168 w 3529003"/>
                <a:gd name="connsiteY9" fmla="*/ 315055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 name="connsiteX0" fmla="*/ 7 w 3529003"/>
                <a:gd name="connsiteY0" fmla="*/ 264732 h 1183454"/>
                <a:gd name="connsiteX1" fmla="*/ 42434 w 3529003"/>
                <a:gd name="connsiteY1" fmla="*/ 499961 h 1183454"/>
                <a:gd name="connsiteX2" fmla="*/ 199682 w 3529003"/>
                <a:gd name="connsiteY2" fmla="*/ 773254 h 1183454"/>
                <a:gd name="connsiteX3" fmla="*/ 502370 w 3529003"/>
                <a:gd name="connsiteY3" fmla="*/ 1012063 h 1183454"/>
                <a:gd name="connsiteX4" fmla="*/ 899474 w 3529003"/>
                <a:gd name="connsiteY4" fmla="*/ 1151917 h 1183454"/>
                <a:gd name="connsiteX5" fmla="*/ 1348510 w 3529003"/>
                <a:gd name="connsiteY5" fmla="*/ 1176075 h 1183454"/>
                <a:gd name="connsiteX6" fmla="*/ 1821900 w 3529003"/>
                <a:gd name="connsiteY6" fmla="*/ 1050819 h 1183454"/>
                <a:gd name="connsiteX7" fmla="*/ 2234397 w 3529003"/>
                <a:gd name="connsiteY7" fmla="*/ 833537 h 1183454"/>
                <a:gd name="connsiteX8" fmla="*/ 2625280 w 3529003"/>
                <a:gd name="connsiteY8" fmla="*/ 596342 h 1183454"/>
                <a:gd name="connsiteX9" fmla="*/ 3037098 w 3529003"/>
                <a:gd name="connsiteY9" fmla="*/ 324482 h 1183454"/>
                <a:gd name="connsiteX10" fmla="*/ 3529003 w 3529003"/>
                <a:gd name="connsiteY10" fmla="*/ 0 h 118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9003" h="1183454">
                  <a:moveTo>
                    <a:pt x="7" y="264732"/>
                  </a:moveTo>
                  <a:cubicBezTo>
                    <a:pt x="-408" y="348943"/>
                    <a:pt x="16775" y="415207"/>
                    <a:pt x="42434" y="499961"/>
                  </a:cubicBezTo>
                  <a:cubicBezTo>
                    <a:pt x="68093" y="584715"/>
                    <a:pt x="122645" y="681167"/>
                    <a:pt x="199682" y="773254"/>
                  </a:cubicBezTo>
                  <a:cubicBezTo>
                    <a:pt x="276719" y="870421"/>
                    <a:pt x="385738" y="948953"/>
                    <a:pt x="502370" y="1012063"/>
                  </a:cubicBezTo>
                  <a:cubicBezTo>
                    <a:pt x="619002" y="1075173"/>
                    <a:pt x="758451" y="1124582"/>
                    <a:pt x="899474" y="1151917"/>
                  </a:cubicBezTo>
                  <a:cubicBezTo>
                    <a:pt x="1040497" y="1179252"/>
                    <a:pt x="1194772" y="1192925"/>
                    <a:pt x="1348510" y="1176075"/>
                  </a:cubicBezTo>
                  <a:cubicBezTo>
                    <a:pt x="1502248" y="1159225"/>
                    <a:pt x="1674252" y="1107909"/>
                    <a:pt x="1821900" y="1050819"/>
                  </a:cubicBezTo>
                  <a:cubicBezTo>
                    <a:pt x="1969548" y="993729"/>
                    <a:pt x="2100500" y="909283"/>
                    <a:pt x="2234397" y="833537"/>
                  </a:cubicBezTo>
                  <a:cubicBezTo>
                    <a:pt x="2368294" y="757791"/>
                    <a:pt x="2538327" y="645353"/>
                    <a:pt x="2625280" y="596342"/>
                  </a:cubicBezTo>
                  <a:lnTo>
                    <a:pt x="3037098" y="324482"/>
                  </a:lnTo>
                  <a:cubicBezTo>
                    <a:pt x="3233143" y="205595"/>
                    <a:pt x="3284005" y="149917"/>
                    <a:pt x="3529003" y="0"/>
                  </a:cubicBez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90" name="直接连接符 89"/>
            <p:cNvCxnSpPr/>
            <p:nvPr/>
          </p:nvCxnSpPr>
          <p:spPr bwMode="auto">
            <a:xfrm>
              <a:off x="5348699" y="2155613"/>
              <a:ext cx="1631979" cy="933773"/>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5"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太沙基公式</a:t>
            </a:r>
          </a:p>
        </p:txBody>
      </p:sp>
      <p:grpSp>
        <p:nvGrpSpPr>
          <p:cNvPr id="84" name="组合 83"/>
          <p:cNvGrpSpPr/>
          <p:nvPr/>
        </p:nvGrpSpPr>
        <p:grpSpPr>
          <a:xfrm>
            <a:off x="1834162" y="4092923"/>
            <a:ext cx="950976" cy="1026331"/>
            <a:chOff x="2176272" y="3505571"/>
            <a:chExt cx="950976" cy="676656"/>
          </a:xfrm>
        </p:grpSpPr>
        <p:sp>
          <p:nvSpPr>
            <p:cNvPr id="86" name="任意多边形 85"/>
            <p:cNvSpPr/>
            <p:nvPr/>
          </p:nvSpPr>
          <p:spPr bwMode="auto">
            <a:xfrm>
              <a:off x="2273427" y="3505571"/>
              <a:ext cx="246888" cy="676656"/>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87" name="直接连接符 86"/>
            <p:cNvCxnSpPr/>
            <p:nvPr/>
          </p:nvCxnSpPr>
          <p:spPr bwMode="auto">
            <a:xfrm>
              <a:off x="2176272" y="3511296"/>
              <a:ext cx="950976" cy="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1" name="组合 90"/>
          <p:cNvGrpSpPr/>
          <p:nvPr/>
        </p:nvGrpSpPr>
        <p:grpSpPr>
          <a:xfrm>
            <a:off x="3337565" y="4087064"/>
            <a:ext cx="950976" cy="662146"/>
            <a:chOff x="2176272" y="3496437"/>
            <a:chExt cx="950976" cy="676656"/>
          </a:xfrm>
        </p:grpSpPr>
        <p:sp>
          <p:nvSpPr>
            <p:cNvPr id="92" name="任意多边形 91"/>
            <p:cNvSpPr/>
            <p:nvPr/>
          </p:nvSpPr>
          <p:spPr bwMode="auto">
            <a:xfrm>
              <a:off x="2273427" y="3496437"/>
              <a:ext cx="246888" cy="676656"/>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93" name="直接连接符 92"/>
            <p:cNvCxnSpPr/>
            <p:nvPr/>
          </p:nvCxnSpPr>
          <p:spPr bwMode="auto">
            <a:xfrm>
              <a:off x="2176272" y="3511296"/>
              <a:ext cx="950976" cy="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4" name="组合 93"/>
          <p:cNvGrpSpPr/>
          <p:nvPr/>
        </p:nvGrpSpPr>
        <p:grpSpPr>
          <a:xfrm>
            <a:off x="4540124" y="4093334"/>
            <a:ext cx="950976" cy="348794"/>
            <a:chOff x="2176272" y="3496437"/>
            <a:chExt cx="950976" cy="676656"/>
          </a:xfrm>
        </p:grpSpPr>
        <p:sp>
          <p:nvSpPr>
            <p:cNvPr id="95" name="任意多边形 94"/>
            <p:cNvSpPr/>
            <p:nvPr/>
          </p:nvSpPr>
          <p:spPr bwMode="auto">
            <a:xfrm>
              <a:off x="2273427" y="3496437"/>
              <a:ext cx="246888" cy="676656"/>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96" name="直接连接符 95"/>
            <p:cNvCxnSpPr/>
            <p:nvPr/>
          </p:nvCxnSpPr>
          <p:spPr bwMode="auto">
            <a:xfrm>
              <a:off x="2176272" y="3511296"/>
              <a:ext cx="950976" cy="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37568582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wipe(right)">
                                      <p:cBhvr>
                                        <p:cTn id="12" dur="500"/>
                                        <p:tgtEl>
                                          <p:spTgt spid="8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91"/>
                                        </p:tgtEl>
                                        <p:attrNameLst>
                                          <p:attrName>style.visibility</p:attrName>
                                        </p:attrNameLst>
                                      </p:cBhvr>
                                      <p:to>
                                        <p:strVal val="visible"/>
                                      </p:to>
                                    </p:set>
                                    <p:animEffect transition="in" filter="wipe(right)">
                                      <p:cBhvr>
                                        <p:cTn id="21" dur="500"/>
                                        <p:tgtEl>
                                          <p:spTgt spid="91"/>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94"/>
                                        </p:tgtEl>
                                        <p:attrNameLst>
                                          <p:attrName>style.visibility</p:attrName>
                                        </p:attrNameLst>
                                      </p:cBhvr>
                                      <p:to>
                                        <p:strVal val="visible"/>
                                      </p:to>
                                    </p:set>
                                    <p:animEffect transition="in" filter="wipe(right)">
                                      <p:cBhvr>
                                        <p:cTn id="30" dur="500"/>
                                        <p:tgtEl>
                                          <p:spTgt spid="94"/>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bwMode="auto">
          <a:xfrm>
            <a:off x="943466" y="1480611"/>
            <a:ext cx="7069314" cy="1589704"/>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51</a:t>
            </a:fld>
            <a:endParaRPr lang="zh-CN" altLang="en-US" dirty="0">
              <a:solidFill>
                <a:srgbClr val="C00000"/>
              </a:solidFill>
            </a:endParaRPr>
          </a:p>
        </p:txBody>
      </p:sp>
      <p:sp>
        <p:nvSpPr>
          <p:cNvPr id="60" name="Text Box 46"/>
          <p:cNvSpPr txBox="1">
            <a:spLocks noChangeArrowheads="1"/>
          </p:cNvSpPr>
          <p:nvPr/>
        </p:nvSpPr>
        <p:spPr bwMode="auto">
          <a:xfrm>
            <a:off x="430002" y="719619"/>
            <a:ext cx="59072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a:t>
            </a:r>
            <a:r>
              <a:rPr lang="en-US" altLang="zh-CN" sz="2800" b="1" dirty="0">
                <a:solidFill>
                  <a:srgbClr val="A50021"/>
                </a:solidFill>
                <a:latin typeface="微软雅黑" panose="020B0503020204020204" pitchFamily="34" charset="-122"/>
                <a:ea typeface="微软雅黑" panose="020B0503020204020204" pitchFamily="34" charset="-122"/>
              </a:rPr>
              <a:t>Terzaghi</a:t>
            </a:r>
            <a:r>
              <a:rPr lang="zh-CN" altLang="en-US" sz="2800" b="1" dirty="0">
                <a:solidFill>
                  <a:srgbClr val="A50021"/>
                </a:solidFill>
                <a:latin typeface="微软雅黑" panose="020B0503020204020204" pitchFamily="34" charset="-122"/>
                <a:ea typeface="微软雅黑" panose="020B0503020204020204" pitchFamily="34" charset="-122"/>
              </a:rPr>
              <a:t>极限承载力公式</a:t>
            </a:r>
          </a:p>
        </p:txBody>
      </p:sp>
      <p:sp>
        <p:nvSpPr>
          <p:cNvPr id="61"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太沙基 </a:t>
            </a:r>
            <a:r>
              <a:rPr kumimoji="1" lang="en-US" altLang="zh-CN" sz="4000" b="1" dirty="0">
                <a:solidFill>
                  <a:srgbClr val="000066"/>
                </a:solidFill>
                <a:ea typeface="黑体" pitchFamily="2" charset="-122"/>
                <a:cs typeface="Times New Roman" panose="02020603050405020304" pitchFamily="18" charset="0"/>
              </a:rPr>
              <a:t>(Terzaghi) </a:t>
            </a:r>
            <a:r>
              <a:rPr kumimoji="1" lang="zh-CN" altLang="en-US" sz="4000" b="1" dirty="0">
                <a:solidFill>
                  <a:srgbClr val="000066"/>
                </a:solidFill>
                <a:ea typeface="黑体" pitchFamily="2" charset="-122"/>
                <a:cs typeface="Times New Roman" panose="02020603050405020304" pitchFamily="18" charset="0"/>
              </a:rPr>
              <a:t>公式</a:t>
            </a:r>
          </a:p>
        </p:txBody>
      </p:sp>
      <p:sp>
        <p:nvSpPr>
          <p:cNvPr id="204" name="Text Box 110"/>
          <p:cNvSpPr txBox="1">
            <a:spLocks noChangeArrowheads="1"/>
          </p:cNvSpPr>
          <p:nvPr/>
        </p:nvSpPr>
        <p:spPr bwMode="auto">
          <a:xfrm>
            <a:off x="1043156" y="1559244"/>
            <a:ext cx="7073839" cy="1436291"/>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defTabSz="739775">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前述公式只适用于地基土发生整体剪切破坏情况</a:t>
            </a:r>
            <a:endPar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42900" indent="-342900" defTabSz="739775">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局部剪切破坏时地基变形较大，承载力会有所降低，太沙基建议把抗剪强度指标适当折减</a:t>
            </a:r>
            <a:endParaRPr kumimoji="1"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2" name="矩形 1"/>
          <p:cNvSpPr/>
          <p:nvPr/>
        </p:nvSpPr>
        <p:spPr>
          <a:xfrm>
            <a:off x="5321637" y="730008"/>
            <a:ext cx="2031325" cy="517065"/>
          </a:xfrm>
          <a:prstGeom prst="rect">
            <a:avLst/>
          </a:prstGeom>
          <a:solidFill>
            <a:schemeClr val="accent1">
              <a:lumMod val="90000"/>
            </a:schemeClr>
          </a:solidFill>
        </p:spPr>
        <p:txBody>
          <a:bodyPr wrap="none">
            <a:spAutoFit/>
          </a:bodyPr>
          <a:lstStyle/>
          <a:p>
            <a:r>
              <a:rPr lang="zh-CN" altLang="zh-CN" sz="2400" b="1" dirty="0">
                <a:solidFill>
                  <a:srgbClr val="C00000"/>
                </a:solidFill>
                <a:latin typeface="幼圆" panose="02010509060101010101" pitchFamily="49" charset="-122"/>
                <a:ea typeface="幼圆" panose="02010509060101010101" pitchFamily="49" charset="-122"/>
                <a:cs typeface="宋体" panose="02010600030101010101" pitchFamily="2" charset="-122"/>
              </a:rPr>
              <a:t>局部剪切破坏</a:t>
            </a:r>
            <a:endParaRPr lang="zh-CN" altLang="en-US" sz="2400" b="1" dirty="0">
              <a:solidFill>
                <a:srgbClr val="C00000"/>
              </a:solidFill>
              <a:latin typeface="幼圆" panose="02010509060101010101" pitchFamily="49" charset="-122"/>
              <a:ea typeface="幼圆" panose="02010509060101010101" pitchFamily="49" charset="-122"/>
            </a:endParaRPr>
          </a:p>
        </p:txBody>
      </p:sp>
      <p:graphicFrame>
        <p:nvGraphicFramePr>
          <p:cNvPr id="10" name="Object 11"/>
          <p:cNvGraphicFramePr>
            <a:graphicFrameLocks noChangeAspect="1"/>
          </p:cNvGraphicFramePr>
          <p:nvPr>
            <p:extLst>
              <p:ext uri="{D42A27DB-BD31-4B8C-83A1-F6EECF244321}">
                <p14:modId xmlns:p14="http://schemas.microsoft.com/office/powerpoint/2010/main" val="2118624468"/>
              </p:ext>
            </p:extLst>
          </p:nvPr>
        </p:nvGraphicFramePr>
        <p:xfrm>
          <a:off x="2029105" y="3191125"/>
          <a:ext cx="2996640" cy="736560"/>
        </p:xfrm>
        <a:graphic>
          <a:graphicData uri="http://schemas.openxmlformats.org/presentationml/2006/ole">
            <mc:AlternateContent xmlns:mc="http://schemas.openxmlformats.org/markup-compatibility/2006">
              <mc:Choice xmlns:v="urn:schemas-microsoft-com:vml" Requires="v">
                <p:oleObj spid="_x0000_s1820923" name="Equation" r:id="rId4" imgW="1498320" imgH="368280" progId="Equation.DSMT4">
                  <p:embed/>
                </p:oleObj>
              </mc:Choice>
              <mc:Fallback>
                <p:oleObj name="Equation" r:id="rId4" imgW="1498320" imgH="368280" progId="Equation.DSMT4">
                  <p:embed/>
                  <p:pic>
                    <p:nvPicPr>
                      <p:cNvPr id="590859" name="Object 11"/>
                      <p:cNvPicPr>
                        <a:picLocks noChangeAspect="1" noChangeArrowheads="1"/>
                      </p:cNvPicPr>
                      <p:nvPr/>
                    </p:nvPicPr>
                    <p:blipFill>
                      <a:blip r:embed="rId5"/>
                      <a:srcRect/>
                      <a:stretch>
                        <a:fillRect/>
                      </a:stretch>
                    </p:blipFill>
                    <p:spPr bwMode="auto">
                      <a:xfrm>
                        <a:off x="2029105" y="3191125"/>
                        <a:ext cx="2996640" cy="736560"/>
                      </a:xfrm>
                      <a:prstGeom prst="rect">
                        <a:avLst/>
                      </a:prstGeom>
                      <a:noFill/>
                      <a:ln w="9525">
                        <a:noFill/>
                        <a:miter lim="800000"/>
                        <a:headEnd/>
                        <a:tailEnd/>
                      </a:ln>
                    </p:spPr>
                  </p:pic>
                </p:oleObj>
              </mc:Fallback>
            </mc:AlternateContent>
          </a:graphicData>
        </a:graphic>
      </p:graphicFrame>
      <p:graphicFrame>
        <p:nvGraphicFramePr>
          <p:cNvPr id="11" name="Object 0"/>
          <p:cNvGraphicFramePr>
            <a:graphicFrameLocks noChangeAspect="1"/>
          </p:cNvGraphicFramePr>
          <p:nvPr>
            <p:extLst>
              <p:ext uri="{D42A27DB-BD31-4B8C-83A1-F6EECF244321}">
                <p14:modId xmlns:p14="http://schemas.microsoft.com/office/powerpoint/2010/main" val="1210772077"/>
              </p:ext>
            </p:extLst>
          </p:nvPr>
        </p:nvGraphicFramePr>
        <p:xfrm>
          <a:off x="2133393" y="4116231"/>
          <a:ext cx="3530160" cy="736560"/>
        </p:xfrm>
        <a:graphic>
          <a:graphicData uri="http://schemas.openxmlformats.org/presentationml/2006/ole">
            <mc:AlternateContent xmlns:mc="http://schemas.openxmlformats.org/markup-compatibility/2006">
              <mc:Choice xmlns:v="urn:schemas-microsoft-com:vml" Requires="v">
                <p:oleObj spid="_x0000_s1820924" name="Equation" r:id="rId6" imgW="1765080" imgH="368280" progId="Equation.DSMT4">
                  <p:embed/>
                </p:oleObj>
              </mc:Choice>
              <mc:Fallback>
                <p:oleObj name="Equation" r:id="rId6" imgW="1765080" imgH="368280" progId="Equation.DSMT4">
                  <p:embed/>
                  <p:pic>
                    <p:nvPicPr>
                      <p:cNvPr id="9" name="Object 0"/>
                      <p:cNvPicPr>
                        <a:picLocks noChangeAspect="1" noChangeArrowheads="1"/>
                      </p:cNvPicPr>
                      <p:nvPr/>
                    </p:nvPicPr>
                    <p:blipFill>
                      <a:blip r:embed="rId7"/>
                      <a:srcRect/>
                      <a:stretch>
                        <a:fillRect/>
                      </a:stretch>
                    </p:blipFill>
                    <p:spPr bwMode="auto">
                      <a:xfrm>
                        <a:off x="2133393" y="4116231"/>
                        <a:ext cx="3530160" cy="736560"/>
                      </a:xfrm>
                      <a:prstGeom prst="rect">
                        <a:avLst/>
                      </a:prstGeom>
                      <a:noFill/>
                      <a:ln w="9525">
                        <a:noFill/>
                        <a:miter lim="800000"/>
                        <a:headEnd/>
                        <a:tailEnd/>
                      </a:ln>
                      <a:effectLst/>
                      <a:extLst/>
                    </p:spPr>
                  </p:pic>
                </p:oleObj>
              </mc:Fallback>
            </mc:AlternateContent>
          </a:graphicData>
        </a:graphic>
      </p:graphicFrame>
      <p:sp>
        <p:nvSpPr>
          <p:cNvPr id="12" name="AutoShape 5"/>
          <p:cNvSpPr>
            <a:spLocks noChangeArrowheads="1"/>
          </p:cNvSpPr>
          <p:nvPr/>
        </p:nvSpPr>
        <p:spPr bwMode="auto">
          <a:xfrm>
            <a:off x="1511300" y="4255678"/>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3"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太沙基公式</a:t>
            </a:r>
          </a:p>
        </p:txBody>
      </p:sp>
    </p:spTree>
    <p:extLst>
      <p:ext uri="{BB962C8B-B14F-4D97-AF65-F5344CB8AC3E}">
        <p14:creationId xmlns:p14="http://schemas.microsoft.com/office/powerpoint/2010/main" val="99626162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4"/>
                                        </p:tgtEl>
                                        <p:attrNameLst>
                                          <p:attrName>style.visibility</p:attrName>
                                        </p:attrNameLst>
                                      </p:cBhvr>
                                      <p:to>
                                        <p:strVal val="visible"/>
                                      </p:to>
                                    </p:set>
                                    <p:animEffect transition="in" filter="wipe(left)">
                                      <p:cBhvr>
                                        <p:cTn id="11" dur="500"/>
                                        <p:tgtEl>
                                          <p:spTgt spid="204"/>
                                        </p:tgtEl>
                                      </p:cBhvr>
                                    </p:animEffect>
                                  </p:childTnLst>
                                </p:cTn>
                              </p:par>
                              <p:par>
                                <p:cTn id="12" presetID="35" presetClass="emph" presetSubtype="0" repeatCount="3000" fill="hold" grpId="0" nodeType="withEffect">
                                  <p:stCondLst>
                                    <p:cond delay="0"/>
                                  </p:stCondLst>
                                  <p:childTnLst>
                                    <p:anim calcmode="discrete" valueType="str">
                                      <p:cBhvr>
                                        <p:cTn id="13" dur="1000" fill="hold"/>
                                        <p:tgtEl>
                                          <p:spTgt spid="2"/>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8"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000"/>
                                        <p:tgtEl>
                                          <p:spTgt spid="12"/>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4" grpId="0"/>
      <p:bldP spid="2" grpId="0" animBg="1"/>
      <p:bldP spid="1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52</a:t>
            </a:fld>
            <a:endParaRPr lang="zh-CN" altLang="en-US" dirty="0">
              <a:solidFill>
                <a:srgbClr val="C00000"/>
              </a:solidFill>
            </a:endParaRPr>
          </a:p>
        </p:txBody>
      </p:sp>
      <p:sp>
        <p:nvSpPr>
          <p:cNvPr id="60" name="Text Box 46"/>
          <p:cNvSpPr txBox="1">
            <a:spLocks noChangeArrowheads="1"/>
          </p:cNvSpPr>
          <p:nvPr/>
        </p:nvSpPr>
        <p:spPr bwMode="auto">
          <a:xfrm>
            <a:off x="430002" y="719619"/>
            <a:ext cx="407056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汉森（</a:t>
            </a:r>
            <a:r>
              <a:rPr lang="en-US" altLang="zh-CN" sz="2800" b="1" dirty="0">
                <a:solidFill>
                  <a:srgbClr val="A50021"/>
                </a:solidFill>
                <a:latin typeface="微软雅黑" panose="020B0503020204020204" pitchFamily="34" charset="-122"/>
                <a:ea typeface="微软雅黑" panose="020B0503020204020204" pitchFamily="34" charset="-122"/>
              </a:rPr>
              <a:t>Hansen</a:t>
            </a:r>
            <a:r>
              <a:rPr lang="zh-CN" altLang="en-US" sz="2800" b="1" dirty="0">
                <a:solidFill>
                  <a:srgbClr val="A50021"/>
                </a:solidFill>
                <a:latin typeface="微软雅黑" panose="020B0503020204020204" pitchFamily="34" charset="-122"/>
                <a:ea typeface="微软雅黑" panose="020B0503020204020204" pitchFamily="34" charset="-122"/>
              </a:rPr>
              <a:t>）公式</a:t>
            </a:r>
          </a:p>
        </p:txBody>
      </p:sp>
      <p:sp>
        <p:nvSpPr>
          <p:cNvPr id="61" name="Text Box 2"/>
          <p:cNvSpPr txBox="1">
            <a:spLocks noChangeArrowheads="1"/>
          </p:cNvSpPr>
          <p:nvPr/>
        </p:nvSpPr>
        <p:spPr bwMode="auto">
          <a:xfrm>
            <a:off x="2210540" y="5596396"/>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其它公式</a:t>
            </a:r>
          </a:p>
        </p:txBody>
      </p:sp>
      <p:sp>
        <p:nvSpPr>
          <p:cNvPr id="12" name="AutoShape 5"/>
          <p:cNvSpPr>
            <a:spLocks noChangeArrowheads="1"/>
          </p:cNvSpPr>
          <p:nvPr/>
        </p:nvSpPr>
        <p:spPr bwMode="auto">
          <a:xfrm>
            <a:off x="1274985" y="4766264"/>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3" name="Text Box 3"/>
          <p:cNvSpPr txBox="1">
            <a:spLocks noChangeArrowheads="1"/>
          </p:cNvSpPr>
          <p:nvPr/>
        </p:nvSpPr>
        <p:spPr bwMode="auto">
          <a:xfrm>
            <a:off x="632563" y="1470593"/>
            <a:ext cx="5068582" cy="778675"/>
          </a:xfrm>
          <a:prstGeom prst="rect">
            <a:avLst/>
          </a:prstGeom>
          <a:noFill/>
          <a:ln w="9525" algn="ctr">
            <a:noFill/>
            <a:miter lim="800000"/>
            <a:headEnd/>
            <a:tailEnd/>
          </a:ln>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eaLnBrk="1" hangingPunct="1">
              <a:buClr>
                <a:srgbClr val="C00000"/>
              </a:buClr>
              <a:buSzPct val="135000"/>
              <a:buFont typeface="Wingdings" panose="05000000000000000000" pitchFamily="2" charset="2"/>
              <a:buChar char="F"/>
            </a:pPr>
            <a:r>
              <a:rPr lang="zh-CN" altLang="en-US" sz="2200" b="1" dirty="0">
                <a:solidFill>
                  <a:srgbClr val="000066"/>
                </a:solidFill>
                <a:latin typeface="幼圆" panose="02010509060101010101" pitchFamily="49" charset="-122"/>
                <a:ea typeface="幼圆" panose="02010509060101010101" pitchFamily="49" charset="-122"/>
              </a:rPr>
              <a:t>原</a:t>
            </a:r>
            <a:r>
              <a:rPr lang="en-US" altLang="zh-CN" sz="2200" b="1" i="1"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1" baseline="-2500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u</a:t>
            </a:r>
            <a:r>
              <a:rPr lang="zh-CN" altLang="en-US" sz="2200" b="1" dirty="0">
                <a:solidFill>
                  <a:srgbClr val="000066"/>
                </a:solidFill>
                <a:latin typeface="幼圆" panose="02010509060101010101" pitchFamily="49" charset="-122"/>
                <a:ea typeface="幼圆" panose="02010509060101010101" pitchFamily="49" charset="-122"/>
              </a:rPr>
              <a:t>计算公式针对的是条形竖直均布荷载，汉森进行了数项的修正：</a:t>
            </a:r>
          </a:p>
        </p:txBody>
      </p:sp>
      <p:graphicFrame>
        <p:nvGraphicFramePr>
          <p:cNvPr id="15" name="Object 0"/>
          <p:cNvGraphicFramePr>
            <a:graphicFrameLocks noChangeAspect="1"/>
          </p:cNvGraphicFramePr>
          <p:nvPr>
            <p:extLst>
              <p:ext uri="{D42A27DB-BD31-4B8C-83A1-F6EECF244321}">
                <p14:modId xmlns:p14="http://schemas.microsoft.com/office/powerpoint/2010/main" val="635923658"/>
              </p:ext>
            </p:extLst>
          </p:nvPr>
        </p:nvGraphicFramePr>
        <p:xfrm>
          <a:off x="1855343" y="4605977"/>
          <a:ext cx="6766416" cy="730944"/>
        </p:xfrm>
        <a:graphic>
          <a:graphicData uri="http://schemas.openxmlformats.org/presentationml/2006/ole">
            <mc:AlternateContent xmlns:mc="http://schemas.openxmlformats.org/markup-compatibility/2006">
              <mc:Choice xmlns:v="urn:schemas-microsoft-com:vml" Requires="v">
                <p:oleObj spid="_x0000_s1822847" name="Microsoft 公式 3.0" r:id="rId4" imgW="3759120" imgH="406080" progId="Equation.3">
                  <p:embed/>
                </p:oleObj>
              </mc:Choice>
              <mc:Fallback>
                <p:oleObj name="Microsoft 公式 3.0" r:id="rId4" imgW="3759120" imgH="406080" progId="Equation.3">
                  <p:embed/>
                  <p:pic>
                    <p:nvPicPr>
                      <p:cNvPr id="602112" name="Object 0"/>
                      <p:cNvPicPr>
                        <a:picLocks noChangeAspect="1" noChangeArrowheads="1"/>
                      </p:cNvPicPr>
                      <p:nvPr/>
                    </p:nvPicPr>
                    <p:blipFill>
                      <a:blip r:embed="rId5"/>
                      <a:srcRect/>
                      <a:stretch>
                        <a:fillRect/>
                      </a:stretch>
                    </p:blipFill>
                    <p:spPr bwMode="auto">
                      <a:xfrm>
                        <a:off x="1855343" y="4605977"/>
                        <a:ext cx="6766416" cy="730944"/>
                      </a:xfrm>
                      <a:prstGeom prst="rect">
                        <a:avLst/>
                      </a:prstGeom>
                      <a:noFill/>
                      <a:ln w="9525">
                        <a:noFill/>
                        <a:miter lim="800000"/>
                        <a:headEnd/>
                        <a:tailEnd/>
                      </a:ln>
                      <a:effectLst/>
                      <a:extLst/>
                    </p:spPr>
                  </p:pic>
                </p:oleObj>
              </mc:Fallback>
            </mc:AlternateContent>
          </a:graphicData>
        </a:graphic>
      </p:graphicFrame>
      <p:pic>
        <p:nvPicPr>
          <p:cNvPr id="3" name="图片 2"/>
          <p:cNvPicPr>
            <a:picLocks noChangeAspect="1"/>
          </p:cNvPicPr>
          <p:nvPr/>
        </p:nvPicPr>
        <p:blipFill rotWithShape="1">
          <a:blip r:embed="rId6"/>
          <a:srcRect l="6481" t="4740" r="8154" b="13615"/>
          <a:stretch/>
        </p:blipFill>
        <p:spPr>
          <a:xfrm>
            <a:off x="5915136" y="1406051"/>
            <a:ext cx="2228739" cy="1289172"/>
          </a:xfrm>
          <a:prstGeom prst="rect">
            <a:avLst/>
          </a:prstGeom>
        </p:spPr>
      </p:pic>
      <p:pic>
        <p:nvPicPr>
          <p:cNvPr id="4" name="图片 3"/>
          <p:cNvPicPr>
            <a:picLocks noChangeAspect="1"/>
          </p:cNvPicPr>
          <p:nvPr/>
        </p:nvPicPr>
        <p:blipFill>
          <a:blip r:embed="rId7"/>
          <a:stretch>
            <a:fillRect/>
          </a:stretch>
        </p:blipFill>
        <p:spPr>
          <a:xfrm>
            <a:off x="5170414" y="3190009"/>
            <a:ext cx="2973461" cy="1370879"/>
          </a:xfrm>
          <a:prstGeom prst="rect">
            <a:avLst/>
          </a:prstGeom>
        </p:spPr>
      </p:pic>
      <p:grpSp>
        <p:nvGrpSpPr>
          <p:cNvPr id="5" name="组合 4"/>
          <p:cNvGrpSpPr/>
          <p:nvPr/>
        </p:nvGrpSpPr>
        <p:grpSpPr>
          <a:xfrm>
            <a:off x="1617810" y="2401190"/>
            <a:ext cx="2298589" cy="2084575"/>
            <a:chOff x="1617810" y="2401190"/>
            <a:chExt cx="2298589" cy="2084575"/>
          </a:xfrm>
        </p:grpSpPr>
        <p:sp>
          <p:nvSpPr>
            <p:cNvPr id="17" name="矩形 16"/>
            <p:cNvSpPr/>
            <p:nvPr/>
          </p:nvSpPr>
          <p:spPr bwMode="auto">
            <a:xfrm>
              <a:off x="1617810" y="2401190"/>
              <a:ext cx="2073657" cy="2084575"/>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4" name="Text Box 110"/>
            <p:cNvSpPr txBox="1">
              <a:spLocks noChangeArrowheads="1"/>
            </p:cNvSpPr>
            <p:nvPr/>
          </p:nvSpPr>
          <p:spPr bwMode="auto">
            <a:xfrm>
              <a:off x="2121095" y="2451993"/>
              <a:ext cx="1795304" cy="1982594"/>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71463" indent="-271463" defTabSz="739775" eaLnBrk="1" hangingPunct="1">
                <a:lnSpc>
                  <a:spcPct val="105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基础形状</a:t>
              </a:r>
            </a:p>
            <a:p>
              <a:pPr marL="271463" indent="-271463" defTabSz="739775" eaLnBrk="1" hangingPunct="1">
                <a:lnSpc>
                  <a:spcPct val="105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埋深范围</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eaLnBrk="1" hangingPunct="1">
                <a:lnSpc>
                  <a:spcPct val="105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荷载倾斜</a:t>
              </a:r>
            </a:p>
            <a:p>
              <a:pPr marL="271463" indent="-271463" defTabSz="739775" eaLnBrk="1" hangingPunct="1">
                <a:lnSpc>
                  <a:spcPct val="105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地面倾斜</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defTabSz="739775" eaLnBrk="1" hangingPunct="1">
                <a:lnSpc>
                  <a:spcPct val="105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基底倾斜</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 name="左大括号 1"/>
            <p:cNvSpPr/>
            <p:nvPr/>
          </p:nvSpPr>
          <p:spPr bwMode="auto">
            <a:xfrm>
              <a:off x="1740960" y="2570692"/>
              <a:ext cx="232919" cy="1704975"/>
            </a:xfrm>
            <a:prstGeom prst="leftBrace">
              <a:avLst>
                <a:gd name="adj1" fmla="val 66131"/>
                <a:gd name="adj2" fmla="val 50000"/>
              </a:avLst>
            </a:pr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16"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汉森公式</a:t>
            </a:r>
          </a:p>
        </p:txBody>
      </p:sp>
    </p:spTree>
    <p:extLst>
      <p:ext uri="{BB962C8B-B14F-4D97-AF65-F5344CB8AC3E}">
        <p14:creationId xmlns:p14="http://schemas.microsoft.com/office/powerpoint/2010/main" val="2263404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par>
                          <p:cTn id="8" fill="hold">
                            <p:stCondLst>
                              <p:cond delay="500"/>
                            </p:stCondLst>
                            <p:childTnLst>
                              <p:par>
                                <p:cTn id="9" presetID="6"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circle(in)">
                                      <p:cBhvr>
                                        <p:cTn id="11" dur="2000"/>
                                        <p:tgtEl>
                                          <p:spTgt spid="5"/>
                                        </p:tgtEl>
                                      </p:cBhvr>
                                    </p:animEffect>
                                  </p:childTnLst>
                                </p:cTn>
                              </p:par>
                            </p:childTnLst>
                          </p:cTn>
                        </p:par>
                        <p:par>
                          <p:cTn id="12" fill="hold">
                            <p:stCondLst>
                              <p:cond delay="2500"/>
                            </p:stCondLst>
                            <p:childTnLst>
                              <p:par>
                                <p:cTn id="13" presetID="1"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par>
                          <p:cTn id="15" fill="hold">
                            <p:stCondLst>
                              <p:cond delay="2500"/>
                            </p:stCondLst>
                            <p:childTnLst>
                              <p:par>
                                <p:cTn id="16" presetID="1"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000"/>
                                        <p:tgtEl>
                                          <p:spTgt spid="12"/>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矩形 73"/>
          <p:cNvSpPr/>
          <p:nvPr/>
        </p:nvSpPr>
        <p:spPr bwMode="auto">
          <a:xfrm>
            <a:off x="1296063" y="4765497"/>
            <a:ext cx="7100515" cy="824269"/>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0" name="矩形 69"/>
          <p:cNvSpPr/>
          <p:nvPr/>
        </p:nvSpPr>
        <p:spPr bwMode="auto">
          <a:xfrm>
            <a:off x="1135657" y="1780399"/>
            <a:ext cx="5598413" cy="1392171"/>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1" name="任意多边形 70"/>
          <p:cNvSpPr/>
          <p:nvPr/>
        </p:nvSpPr>
        <p:spPr bwMode="auto">
          <a:xfrm flipH="1">
            <a:off x="1786773" y="1775867"/>
            <a:ext cx="2108185" cy="1298217"/>
          </a:xfrm>
          <a:custGeom>
            <a:avLst/>
            <a:gdLst>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 name="connsiteX13" fmla="*/ 0 w 2778505"/>
              <a:gd name="connsiteY13" fmla="*/ 1429853 h 1710999"/>
              <a:gd name="connsiteX0" fmla="*/ 0 w 2852395"/>
              <a:gd name="connsiteY0" fmla="*/ 1438745 h 1719891"/>
              <a:gd name="connsiteX1" fmla="*/ 158873 w 2852395"/>
              <a:gd name="connsiteY1" fmla="*/ 1558782 h 1719891"/>
              <a:gd name="connsiteX2" fmla="*/ 321276 w 2852395"/>
              <a:gd name="connsiteY2" fmla="*/ 1639984 h 1719891"/>
              <a:gd name="connsiteX3" fmla="*/ 533106 w 2852395"/>
              <a:gd name="connsiteY3" fmla="*/ 1707063 h 1719891"/>
              <a:gd name="connsiteX4" fmla="*/ 797893 w 2852395"/>
              <a:gd name="connsiteY4" fmla="*/ 1717655 h 1719891"/>
              <a:gd name="connsiteX5" fmla="*/ 1034437 w 2852395"/>
              <a:gd name="connsiteY5" fmla="*/ 1678819 h 1719891"/>
              <a:gd name="connsiteX6" fmla="*/ 1253328 w 2852395"/>
              <a:gd name="connsiteY6" fmla="*/ 1604679 h 1719891"/>
              <a:gd name="connsiteX7" fmla="*/ 1549890 w 2852395"/>
              <a:gd name="connsiteY7" fmla="*/ 1452867 h 1719891"/>
              <a:gd name="connsiteX8" fmla="*/ 1849983 w 2852395"/>
              <a:gd name="connsiteY8" fmla="*/ 1219854 h 1719891"/>
              <a:gd name="connsiteX9" fmla="*/ 2082996 w 2852395"/>
              <a:gd name="connsiteY9" fmla="*/ 983310 h 1719891"/>
              <a:gd name="connsiteX10" fmla="*/ 2337192 w 2852395"/>
              <a:gd name="connsiteY10" fmla="*/ 697340 h 1719891"/>
              <a:gd name="connsiteX11" fmla="*/ 2513717 w 2852395"/>
              <a:gd name="connsiteY11" fmla="*/ 460796 h 1719891"/>
              <a:gd name="connsiteX12" fmla="*/ 2778505 w 2852395"/>
              <a:gd name="connsiteY12" fmla="*/ 8892 h 1719891"/>
              <a:gd name="connsiteX13" fmla="*/ 522679 w 2852395"/>
              <a:gd name="connsiteY13" fmla="*/ 918060 h 1719891"/>
              <a:gd name="connsiteX14" fmla="*/ 0 w 2852395"/>
              <a:gd name="connsiteY14" fmla="*/ 1438745 h 1719891"/>
              <a:gd name="connsiteX0" fmla="*/ 0 w 2852395"/>
              <a:gd name="connsiteY0" fmla="*/ 1438745 h 1719891"/>
              <a:gd name="connsiteX1" fmla="*/ 158873 w 2852395"/>
              <a:gd name="connsiteY1" fmla="*/ 1558782 h 1719891"/>
              <a:gd name="connsiteX2" fmla="*/ 321276 w 2852395"/>
              <a:gd name="connsiteY2" fmla="*/ 1639984 h 1719891"/>
              <a:gd name="connsiteX3" fmla="*/ 533106 w 2852395"/>
              <a:gd name="connsiteY3" fmla="*/ 1707063 h 1719891"/>
              <a:gd name="connsiteX4" fmla="*/ 797893 w 2852395"/>
              <a:gd name="connsiteY4" fmla="*/ 1717655 h 1719891"/>
              <a:gd name="connsiteX5" fmla="*/ 1034437 w 2852395"/>
              <a:gd name="connsiteY5" fmla="*/ 1678819 h 1719891"/>
              <a:gd name="connsiteX6" fmla="*/ 1253328 w 2852395"/>
              <a:gd name="connsiteY6" fmla="*/ 1604679 h 1719891"/>
              <a:gd name="connsiteX7" fmla="*/ 1549890 w 2852395"/>
              <a:gd name="connsiteY7" fmla="*/ 1452867 h 1719891"/>
              <a:gd name="connsiteX8" fmla="*/ 1849983 w 2852395"/>
              <a:gd name="connsiteY8" fmla="*/ 1219854 h 1719891"/>
              <a:gd name="connsiteX9" fmla="*/ 2082996 w 2852395"/>
              <a:gd name="connsiteY9" fmla="*/ 983310 h 1719891"/>
              <a:gd name="connsiteX10" fmla="*/ 2337192 w 2852395"/>
              <a:gd name="connsiteY10" fmla="*/ 697340 h 1719891"/>
              <a:gd name="connsiteX11" fmla="*/ 2513717 w 2852395"/>
              <a:gd name="connsiteY11" fmla="*/ 460796 h 1719891"/>
              <a:gd name="connsiteX12" fmla="*/ 2778505 w 2852395"/>
              <a:gd name="connsiteY12" fmla="*/ 8892 h 1719891"/>
              <a:gd name="connsiteX13" fmla="*/ 522679 w 2852395"/>
              <a:gd name="connsiteY13" fmla="*/ 918060 h 1719891"/>
              <a:gd name="connsiteX14" fmla="*/ 0 w 2852395"/>
              <a:gd name="connsiteY14" fmla="*/ 1438745 h 1719891"/>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 name="connsiteX13" fmla="*/ 522679 w 2778505"/>
              <a:gd name="connsiteY13" fmla="*/ 909168 h 1710999"/>
              <a:gd name="connsiteX14" fmla="*/ 0 w 2778505"/>
              <a:gd name="connsiteY14" fmla="*/ 1429853 h 1710999"/>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 name="connsiteX13" fmla="*/ 534670 w 2778505"/>
              <a:gd name="connsiteY13" fmla="*/ 891181 h 1710999"/>
              <a:gd name="connsiteX14" fmla="*/ 0 w 2778505"/>
              <a:gd name="connsiteY14" fmla="*/ 1429853 h 1710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78505" h="1710999">
                <a:moveTo>
                  <a:pt x="0" y="1429853"/>
                </a:moveTo>
                <a:cubicBezTo>
                  <a:pt x="52663" y="1473101"/>
                  <a:pt x="105327" y="1516350"/>
                  <a:pt x="158873" y="1549890"/>
                </a:cubicBezTo>
                <a:cubicBezTo>
                  <a:pt x="212419" y="1583430"/>
                  <a:pt x="258904" y="1606378"/>
                  <a:pt x="321276" y="1631092"/>
                </a:cubicBezTo>
                <a:cubicBezTo>
                  <a:pt x="383648" y="1655806"/>
                  <a:pt x="453670" y="1685226"/>
                  <a:pt x="533106" y="1698171"/>
                </a:cubicBezTo>
                <a:cubicBezTo>
                  <a:pt x="612542" y="1711116"/>
                  <a:pt x="714338" y="1713470"/>
                  <a:pt x="797893" y="1708763"/>
                </a:cubicBezTo>
                <a:cubicBezTo>
                  <a:pt x="881448" y="1704056"/>
                  <a:pt x="958531" y="1688756"/>
                  <a:pt x="1034437" y="1669927"/>
                </a:cubicBezTo>
                <a:cubicBezTo>
                  <a:pt x="1110343" y="1651098"/>
                  <a:pt x="1167419" y="1633446"/>
                  <a:pt x="1253328" y="1595787"/>
                </a:cubicBezTo>
                <a:cubicBezTo>
                  <a:pt x="1339237" y="1558128"/>
                  <a:pt x="1450448" y="1508113"/>
                  <a:pt x="1549890" y="1443975"/>
                </a:cubicBezTo>
                <a:cubicBezTo>
                  <a:pt x="1649333" y="1379837"/>
                  <a:pt x="1761132" y="1289221"/>
                  <a:pt x="1849983" y="1210962"/>
                </a:cubicBezTo>
                <a:cubicBezTo>
                  <a:pt x="1938834" y="1132703"/>
                  <a:pt x="2001795" y="1061504"/>
                  <a:pt x="2082996" y="974418"/>
                </a:cubicBezTo>
                <a:cubicBezTo>
                  <a:pt x="2164198" y="887332"/>
                  <a:pt x="2265405" y="775534"/>
                  <a:pt x="2337192" y="688448"/>
                </a:cubicBezTo>
                <a:cubicBezTo>
                  <a:pt x="2408979" y="601362"/>
                  <a:pt x="2440165" y="566645"/>
                  <a:pt x="2513717" y="451904"/>
                </a:cubicBezTo>
                <a:lnTo>
                  <a:pt x="2778505" y="0"/>
                </a:lnTo>
                <a:lnTo>
                  <a:pt x="534670" y="891181"/>
                </a:lnTo>
                <a:lnTo>
                  <a:pt x="0" y="1429853"/>
                </a:lnTo>
                <a:close/>
              </a:path>
            </a:pathLst>
          </a:cu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3" name="任意多边形 72"/>
          <p:cNvSpPr/>
          <p:nvPr/>
        </p:nvSpPr>
        <p:spPr bwMode="auto">
          <a:xfrm>
            <a:off x="3515840" y="2468038"/>
            <a:ext cx="774367" cy="407294"/>
          </a:xfrm>
          <a:custGeom>
            <a:avLst/>
            <a:gdLst>
              <a:gd name="connsiteX0" fmla="*/ 0 w 800100"/>
              <a:gd name="connsiteY0" fmla="*/ 0 h 781050"/>
              <a:gd name="connsiteX1" fmla="*/ 406400 w 800100"/>
              <a:gd name="connsiteY1" fmla="*/ 781050 h 781050"/>
              <a:gd name="connsiteX2" fmla="*/ 800100 w 800100"/>
              <a:gd name="connsiteY2" fmla="*/ 12700 h 781050"/>
              <a:gd name="connsiteX0" fmla="*/ 0 w 788670"/>
              <a:gd name="connsiteY0" fmla="*/ 0 h 773430"/>
              <a:gd name="connsiteX1" fmla="*/ 394970 w 788670"/>
              <a:gd name="connsiteY1" fmla="*/ 773430 h 773430"/>
              <a:gd name="connsiteX2" fmla="*/ 788670 w 788670"/>
              <a:gd name="connsiteY2" fmla="*/ 5080 h 773430"/>
              <a:gd name="connsiteX0" fmla="*/ 0 w 798195"/>
              <a:gd name="connsiteY0" fmla="*/ 13970 h 787400"/>
              <a:gd name="connsiteX1" fmla="*/ 394970 w 798195"/>
              <a:gd name="connsiteY1" fmla="*/ 787400 h 787400"/>
              <a:gd name="connsiteX2" fmla="*/ 798195 w 798195"/>
              <a:gd name="connsiteY2" fmla="*/ 0 h 787400"/>
              <a:gd name="connsiteX0" fmla="*/ 0 w 809625"/>
              <a:gd name="connsiteY0" fmla="*/ 2540 h 787400"/>
              <a:gd name="connsiteX1" fmla="*/ 406400 w 809625"/>
              <a:gd name="connsiteY1" fmla="*/ 787400 h 787400"/>
              <a:gd name="connsiteX2" fmla="*/ 809625 w 809625"/>
              <a:gd name="connsiteY2" fmla="*/ 0 h 787400"/>
              <a:gd name="connsiteX0" fmla="*/ 0 w 798195"/>
              <a:gd name="connsiteY0" fmla="*/ 4445 h 787400"/>
              <a:gd name="connsiteX1" fmla="*/ 394970 w 798195"/>
              <a:gd name="connsiteY1" fmla="*/ 787400 h 787400"/>
              <a:gd name="connsiteX2" fmla="*/ 798195 w 798195"/>
              <a:gd name="connsiteY2" fmla="*/ 0 h 787400"/>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255773"/>
              <a:gd name="connsiteX1" fmla="*/ 373705 w 798195"/>
              <a:gd name="connsiteY1" fmla="*/ 255773 h 255773"/>
              <a:gd name="connsiteX2" fmla="*/ 798195 w 798195"/>
              <a:gd name="connsiteY2" fmla="*/ 0 h 255773"/>
              <a:gd name="connsiteX0" fmla="*/ 0 w 798195"/>
              <a:gd name="connsiteY0" fmla="*/ 4445 h 163624"/>
              <a:gd name="connsiteX1" fmla="*/ 380793 w 798195"/>
              <a:gd name="connsiteY1" fmla="*/ 163624 h 163624"/>
              <a:gd name="connsiteX2" fmla="*/ 798195 w 798195"/>
              <a:gd name="connsiteY2" fmla="*/ 0 h 163624"/>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160275"/>
              <a:gd name="connsiteX1" fmla="*/ 390842 w 798195"/>
              <a:gd name="connsiteY1" fmla="*/ 160275 h 160275"/>
              <a:gd name="connsiteX2" fmla="*/ 798195 w 798195"/>
              <a:gd name="connsiteY2" fmla="*/ 0 h 160275"/>
              <a:gd name="connsiteX0" fmla="*/ 0 w 798195"/>
              <a:gd name="connsiteY0" fmla="*/ 4445 h 258205"/>
              <a:gd name="connsiteX1" fmla="*/ 399489 w 798195"/>
              <a:gd name="connsiteY1" fmla="*/ 258205 h 258205"/>
              <a:gd name="connsiteX2" fmla="*/ 798195 w 798195"/>
              <a:gd name="connsiteY2" fmla="*/ 0 h 258205"/>
              <a:gd name="connsiteX0" fmla="*/ 0 w 798195"/>
              <a:gd name="connsiteY0" fmla="*/ 4445 h 258205"/>
              <a:gd name="connsiteX1" fmla="*/ 399489 w 798195"/>
              <a:gd name="connsiteY1" fmla="*/ 258205 h 258205"/>
              <a:gd name="connsiteX2" fmla="*/ 798195 w 798195"/>
              <a:gd name="connsiteY2" fmla="*/ 0 h 258205"/>
              <a:gd name="connsiteX3" fmla="*/ 0 w 798195"/>
              <a:gd name="connsiteY3" fmla="*/ 4445 h 258205"/>
              <a:gd name="connsiteX0" fmla="*/ 0 w 798195"/>
              <a:gd name="connsiteY0" fmla="*/ 4445 h 520534"/>
              <a:gd name="connsiteX1" fmla="*/ 541562 w 798195"/>
              <a:gd name="connsiteY1" fmla="*/ 520534 h 520534"/>
              <a:gd name="connsiteX2" fmla="*/ 798195 w 798195"/>
              <a:gd name="connsiteY2" fmla="*/ 0 h 520534"/>
              <a:gd name="connsiteX3" fmla="*/ 0 w 798195"/>
              <a:gd name="connsiteY3" fmla="*/ 4445 h 520534"/>
              <a:gd name="connsiteX0" fmla="*/ 0 w 1051455"/>
              <a:gd name="connsiteY0" fmla="*/ 0 h 516089"/>
              <a:gd name="connsiteX1" fmla="*/ 541562 w 1051455"/>
              <a:gd name="connsiteY1" fmla="*/ 516089 h 516089"/>
              <a:gd name="connsiteX2" fmla="*/ 1051455 w 1051455"/>
              <a:gd name="connsiteY2" fmla="*/ 7215 h 516089"/>
              <a:gd name="connsiteX3" fmla="*/ 0 w 1051455"/>
              <a:gd name="connsiteY3" fmla="*/ 0 h 516089"/>
              <a:gd name="connsiteX0" fmla="*/ 0 w 1051455"/>
              <a:gd name="connsiteY0" fmla="*/ 0 h 521918"/>
              <a:gd name="connsiteX1" fmla="*/ 523032 w 1051455"/>
              <a:gd name="connsiteY1" fmla="*/ 521918 h 521918"/>
              <a:gd name="connsiteX2" fmla="*/ 1051455 w 1051455"/>
              <a:gd name="connsiteY2" fmla="*/ 7215 h 521918"/>
              <a:gd name="connsiteX3" fmla="*/ 0 w 1051455"/>
              <a:gd name="connsiteY3" fmla="*/ 0 h 521918"/>
            </a:gdLst>
            <a:ahLst/>
            <a:cxnLst>
              <a:cxn ang="0">
                <a:pos x="connsiteX0" y="connsiteY0"/>
              </a:cxn>
              <a:cxn ang="0">
                <a:pos x="connsiteX1" y="connsiteY1"/>
              </a:cxn>
              <a:cxn ang="0">
                <a:pos x="connsiteX2" y="connsiteY2"/>
              </a:cxn>
              <a:cxn ang="0">
                <a:pos x="connsiteX3" y="connsiteY3"/>
              </a:cxn>
            </a:cxnLst>
            <a:rect l="l" t="t" r="r" b="b"/>
            <a:pathLst>
              <a:path w="1051455" h="521918">
                <a:moveTo>
                  <a:pt x="0" y="0"/>
                </a:moveTo>
                <a:lnTo>
                  <a:pt x="523032" y="521918"/>
                </a:lnTo>
                <a:lnTo>
                  <a:pt x="1051455" y="7215"/>
                </a:lnTo>
                <a:lnTo>
                  <a:pt x="0" y="0"/>
                </a:lnTo>
                <a:close/>
              </a:path>
            </a:pathLst>
          </a:custGeom>
          <a:solidFill>
            <a:srgbClr val="FFC000"/>
          </a:solidFill>
          <a:ln w="1905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2" name="任意多边形 71"/>
          <p:cNvSpPr/>
          <p:nvPr/>
        </p:nvSpPr>
        <p:spPr bwMode="auto">
          <a:xfrm>
            <a:off x="3899901" y="1791789"/>
            <a:ext cx="2108185" cy="1298217"/>
          </a:xfrm>
          <a:custGeom>
            <a:avLst/>
            <a:gdLst>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 name="connsiteX13" fmla="*/ 0 w 2778505"/>
              <a:gd name="connsiteY13" fmla="*/ 1429853 h 1710999"/>
              <a:gd name="connsiteX0" fmla="*/ 0 w 2852395"/>
              <a:gd name="connsiteY0" fmla="*/ 1438745 h 1719891"/>
              <a:gd name="connsiteX1" fmla="*/ 158873 w 2852395"/>
              <a:gd name="connsiteY1" fmla="*/ 1558782 h 1719891"/>
              <a:gd name="connsiteX2" fmla="*/ 321276 w 2852395"/>
              <a:gd name="connsiteY2" fmla="*/ 1639984 h 1719891"/>
              <a:gd name="connsiteX3" fmla="*/ 533106 w 2852395"/>
              <a:gd name="connsiteY3" fmla="*/ 1707063 h 1719891"/>
              <a:gd name="connsiteX4" fmla="*/ 797893 w 2852395"/>
              <a:gd name="connsiteY4" fmla="*/ 1717655 h 1719891"/>
              <a:gd name="connsiteX5" fmla="*/ 1034437 w 2852395"/>
              <a:gd name="connsiteY5" fmla="*/ 1678819 h 1719891"/>
              <a:gd name="connsiteX6" fmla="*/ 1253328 w 2852395"/>
              <a:gd name="connsiteY6" fmla="*/ 1604679 h 1719891"/>
              <a:gd name="connsiteX7" fmla="*/ 1549890 w 2852395"/>
              <a:gd name="connsiteY7" fmla="*/ 1452867 h 1719891"/>
              <a:gd name="connsiteX8" fmla="*/ 1849983 w 2852395"/>
              <a:gd name="connsiteY8" fmla="*/ 1219854 h 1719891"/>
              <a:gd name="connsiteX9" fmla="*/ 2082996 w 2852395"/>
              <a:gd name="connsiteY9" fmla="*/ 983310 h 1719891"/>
              <a:gd name="connsiteX10" fmla="*/ 2337192 w 2852395"/>
              <a:gd name="connsiteY10" fmla="*/ 697340 h 1719891"/>
              <a:gd name="connsiteX11" fmla="*/ 2513717 w 2852395"/>
              <a:gd name="connsiteY11" fmla="*/ 460796 h 1719891"/>
              <a:gd name="connsiteX12" fmla="*/ 2778505 w 2852395"/>
              <a:gd name="connsiteY12" fmla="*/ 8892 h 1719891"/>
              <a:gd name="connsiteX13" fmla="*/ 522679 w 2852395"/>
              <a:gd name="connsiteY13" fmla="*/ 918060 h 1719891"/>
              <a:gd name="connsiteX14" fmla="*/ 0 w 2852395"/>
              <a:gd name="connsiteY14" fmla="*/ 1438745 h 1719891"/>
              <a:gd name="connsiteX0" fmla="*/ 0 w 2852395"/>
              <a:gd name="connsiteY0" fmla="*/ 1438745 h 1719891"/>
              <a:gd name="connsiteX1" fmla="*/ 158873 w 2852395"/>
              <a:gd name="connsiteY1" fmla="*/ 1558782 h 1719891"/>
              <a:gd name="connsiteX2" fmla="*/ 321276 w 2852395"/>
              <a:gd name="connsiteY2" fmla="*/ 1639984 h 1719891"/>
              <a:gd name="connsiteX3" fmla="*/ 533106 w 2852395"/>
              <a:gd name="connsiteY3" fmla="*/ 1707063 h 1719891"/>
              <a:gd name="connsiteX4" fmla="*/ 797893 w 2852395"/>
              <a:gd name="connsiteY4" fmla="*/ 1717655 h 1719891"/>
              <a:gd name="connsiteX5" fmla="*/ 1034437 w 2852395"/>
              <a:gd name="connsiteY5" fmla="*/ 1678819 h 1719891"/>
              <a:gd name="connsiteX6" fmla="*/ 1253328 w 2852395"/>
              <a:gd name="connsiteY6" fmla="*/ 1604679 h 1719891"/>
              <a:gd name="connsiteX7" fmla="*/ 1549890 w 2852395"/>
              <a:gd name="connsiteY7" fmla="*/ 1452867 h 1719891"/>
              <a:gd name="connsiteX8" fmla="*/ 1849983 w 2852395"/>
              <a:gd name="connsiteY8" fmla="*/ 1219854 h 1719891"/>
              <a:gd name="connsiteX9" fmla="*/ 2082996 w 2852395"/>
              <a:gd name="connsiteY9" fmla="*/ 983310 h 1719891"/>
              <a:gd name="connsiteX10" fmla="*/ 2337192 w 2852395"/>
              <a:gd name="connsiteY10" fmla="*/ 697340 h 1719891"/>
              <a:gd name="connsiteX11" fmla="*/ 2513717 w 2852395"/>
              <a:gd name="connsiteY11" fmla="*/ 460796 h 1719891"/>
              <a:gd name="connsiteX12" fmla="*/ 2778505 w 2852395"/>
              <a:gd name="connsiteY12" fmla="*/ 8892 h 1719891"/>
              <a:gd name="connsiteX13" fmla="*/ 522679 w 2852395"/>
              <a:gd name="connsiteY13" fmla="*/ 918060 h 1719891"/>
              <a:gd name="connsiteX14" fmla="*/ 0 w 2852395"/>
              <a:gd name="connsiteY14" fmla="*/ 1438745 h 1719891"/>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 name="connsiteX13" fmla="*/ 522679 w 2778505"/>
              <a:gd name="connsiteY13" fmla="*/ 909168 h 1710999"/>
              <a:gd name="connsiteX14" fmla="*/ 0 w 2778505"/>
              <a:gd name="connsiteY14" fmla="*/ 1429853 h 1710999"/>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 name="connsiteX13" fmla="*/ 534670 w 2778505"/>
              <a:gd name="connsiteY13" fmla="*/ 891181 h 1710999"/>
              <a:gd name="connsiteX14" fmla="*/ 0 w 2778505"/>
              <a:gd name="connsiteY14" fmla="*/ 1429853 h 1710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78505" h="1710999">
                <a:moveTo>
                  <a:pt x="0" y="1429853"/>
                </a:moveTo>
                <a:cubicBezTo>
                  <a:pt x="52663" y="1473101"/>
                  <a:pt x="105327" y="1516350"/>
                  <a:pt x="158873" y="1549890"/>
                </a:cubicBezTo>
                <a:cubicBezTo>
                  <a:pt x="212419" y="1583430"/>
                  <a:pt x="258904" y="1606378"/>
                  <a:pt x="321276" y="1631092"/>
                </a:cubicBezTo>
                <a:cubicBezTo>
                  <a:pt x="383648" y="1655806"/>
                  <a:pt x="453670" y="1685226"/>
                  <a:pt x="533106" y="1698171"/>
                </a:cubicBezTo>
                <a:cubicBezTo>
                  <a:pt x="612542" y="1711116"/>
                  <a:pt x="714338" y="1713470"/>
                  <a:pt x="797893" y="1708763"/>
                </a:cubicBezTo>
                <a:cubicBezTo>
                  <a:pt x="881448" y="1704056"/>
                  <a:pt x="958531" y="1688756"/>
                  <a:pt x="1034437" y="1669927"/>
                </a:cubicBezTo>
                <a:cubicBezTo>
                  <a:pt x="1110343" y="1651098"/>
                  <a:pt x="1167419" y="1633446"/>
                  <a:pt x="1253328" y="1595787"/>
                </a:cubicBezTo>
                <a:cubicBezTo>
                  <a:pt x="1339237" y="1558128"/>
                  <a:pt x="1450448" y="1508113"/>
                  <a:pt x="1549890" y="1443975"/>
                </a:cubicBezTo>
                <a:cubicBezTo>
                  <a:pt x="1649333" y="1379837"/>
                  <a:pt x="1761132" y="1289221"/>
                  <a:pt x="1849983" y="1210962"/>
                </a:cubicBezTo>
                <a:cubicBezTo>
                  <a:pt x="1938834" y="1132703"/>
                  <a:pt x="2001795" y="1061504"/>
                  <a:pt x="2082996" y="974418"/>
                </a:cubicBezTo>
                <a:cubicBezTo>
                  <a:pt x="2164198" y="887332"/>
                  <a:pt x="2265405" y="775534"/>
                  <a:pt x="2337192" y="688448"/>
                </a:cubicBezTo>
                <a:cubicBezTo>
                  <a:pt x="2408979" y="601362"/>
                  <a:pt x="2440165" y="566645"/>
                  <a:pt x="2513717" y="451904"/>
                </a:cubicBezTo>
                <a:lnTo>
                  <a:pt x="2778505" y="0"/>
                </a:lnTo>
                <a:lnTo>
                  <a:pt x="534670" y="891181"/>
                </a:lnTo>
                <a:lnTo>
                  <a:pt x="0" y="1429853"/>
                </a:lnTo>
                <a:close/>
              </a:path>
            </a:pathLst>
          </a:cu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53</a:t>
            </a:fld>
            <a:endParaRPr lang="zh-CN" altLang="en-US" dirty="0">
              <a:solidFill>
                <a:srgbClr val="C00000"/>
              </a:solidFill>
            </a:endParaRPr>
          </a:p>
        </p:txBody>
      </p:sp>
      <p:sp>
        <p:nvSpPr>
          <p:cNvPr id="60" name="Text Box 46"/>
          <p:cNvSpPr txBox="1">
            <a:spLocks noChangeArrowheads="1"/>
          </p:cNvSpPr>
          <p:nvPr/>
        </p:nvSpPr>
        <p:spPr bwMode="auto">
          <a:xfrm>
            <a:off x="430002" y="719619"/>
            <a:ext cx="53753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梅耶霍夫（</a:t>
            </a:r>
            <a:r>
              <a:rPr lang="en-US" altLang="zh-CN" sz="2800" b="1" dirty="0">
                <a:solidFill>
                  <a:srgbClr val="A50021"/>
                </a:solidFill>
                <a:latin typeface="微软雅黑" panose="020B0503020204020204" pitchFamily="34" charset="-122"/>
                <a:ea typeface="微软雅黑" panose="020B0503020204020204" pitchFamily="34" charset="-122"/>
              </a:rPr>
              <a:t>Meyerhof</a:t>
            </a:r>
            <a:r>
              <a:rPr lang="zh-CN" altLang="en-US" sz="2800" b="1" dirty="0">
                <a:solidFill>
                  <a:srgbClr val="A50021"/>
                </a:solidFill>
                <a:latin typeface="微软雅黑" panose="020B0503020204020204" pitchFamily="34" charset="-122"/>
                <a:ea typeface="微软雅黑" panose="020B0503020204020204" pitchFamily="34" charset="-122"/>
              </a:rPr>
              <a:t>）公式</a:t>
            </a:r>
          </a:p>
        </p:txBody>
      </p:sp>
      <p:sp>
        <p:nvSpPr>
          <p:cNvPr id="61" name="Text Box 2"/>
          <p:cNvSpPr txBox="1">
            <a:spLocks noChangeArrowheads="1"/>
          </p:cNvSpPr>
          <p:nvPr/>
        </p:nvSpPr>
        <p:spPr bwMode="auto">
          <a:xfrm>
            <a:off x="2210540" y="5675909"/>
            <a:ext cx="60456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cs typeface="Times New Roman" panose="02020603050405020304" pitchFamily="18" charset="0"/>
              </a:rPr>
              <a:t>其它公式</a:t>
            </a:r>
          </a:p>
        </p:txBody>
      </p:sp>
      <p:sp>
        <p:nvSpPr>
          <p:cNvPr id="12" name="AutoShape 5"/>
          <p:cNvSpPr>
            <a:spLocks noChangeArrowheads="1"/>
          </p:cNvSpPr>
          <p:nvPr/>
        </p:nvSpPr>
        <p:spPr bwMode="auto">
          <a:xfrm>
            <a:off x="1457863" y="4161965"/>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8" name="任意多边形 7"/>
          <p:cNvSpPr/>
          <p:nvPr/>
        </p:nvSpPr>
        <p:spPr bwMode="auto">
          <a:xfrm>
            <a:off x="3487362" y="1395159"/>
            <a:ext cx="825567" cy="1065282"/>
          </a:xfrm>
          <a:custGeom>
            <a:avLst/>
            <a:gdLst>
              <a:gd name="connsiteX0" fmla="*/ 0 w 1098698"/>
              <a:gd name="connsiteY0" fmla="*/ 0 h 1601972"/>
              <a:gd name="connsiteX1" fmla="*/ 0 w 1098698"/>
              <a:gd name="connsiteY1" fmla="*/ 1601972 h 1601972"/>
              <a:gd name="connsiteX2" fmla="*/ 1098698 w 1098698"/>
              <a:gd name="connsiteY2" fmla="*/ 1601972 h 1601972"/>
              <a:gd name="connsiteX3" fmla="*/ 1098698 w 1098698"/>
              <a:gd name="connsiteY3" fmla="*/ 0 h 1601972"/>
            </a:gdLst>
            <a:ahLst/>
            <a:cxnLst>
              <a:cxn ang="0">
                <a:pos x="connsiteX0" y="connsiteY0"/>
              </a:cxn>
              <a:cxn ang="0">
                <a:pos x="connsiteX1" y="connsiteY1"/>
              </a:cxn>
              <a:cxn ang="0">
                <a:pos x="connsiteX2" y="connsiteY2"/>
              </a:cxn>
              <a:cxn ang="0">
                <a:pos x="connsiteX3" y="connsiteY3"/>
              </a:cxn>
            </a:cxnLst>
            <a:rect l="l" t="t" r="r" b="b"/>
            <a:pathLst>
              <a:path w="1098698" h="1601972">
                <a:moveTo>
                  <a:pt x="0" y="0"/>
                </a:moveTo>
                <a:lnTo>
                  <a:pt x="0" y="1601972"/>
                </a:lnTo>
                <a:lnTo>
                  <a:pt x="1098698" y="1601972"/>
                </a:lnTo>
                <a:lnTo>
                  <a:pt x="1098698" y="0"/>
                </a:lnTo>
              </a:path>
            </a:pathLst>
          </a:custGeom>
          <a:solidFill>
            <a:srgbClr val="CCECFF"/>
          </a:solidFill>
          <a:ln w="19050"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0" name="直接连接符 9"/>
          <p:cNvCxnSpPr/>
          <p:nvPr/>
        </p:nvCxnSpPr>
        <p:spPr bwMode="auto">
          <a:xfrm>
            <a:off x="4314411" y="1787776"/>
            <a:ext cx="2344933"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任意多边形 10"/>
          <p:cNvSpPr/>
          <p:nvPr/>
        </p:nvSpPr>
        <p:spPr bwMode="auto">
          <a:xfrm>
            <a:off x="3484754" y="2457895"/>
            <a:ext cx="828417" cy="410757"/>
          </a:xfrm>
          <a:custGeom>
            <a:avLst/>
            <a:gdLst>
              <a:gd name="connsiteX0" fmla="*/ 0 w 1091821"/>
              <a:gd name="connsiteY0" fmla="*/ 0 h 541361"/>
              <a:gd name="connsiteX1" fmla="*/ 541362 w 1091821"/>
              <a:gd name="connsiteY1" fmla="*/ 541361 h 541361"/>
              <a:gd name="connsiteX2" fmla="*/ 1091821 w 1091821"/>
              <a:gd name="connsiteY2" fmla="*/ 0 h 541361"/>
            </a:gdLst>
            <a:ahLst/>
            <a:cxnLst>
              <a:cxn ang="0">
                <a:pos x="connsiteX0" y="connsiteY0"/>
              </a:cxn>
              <a:cxn ang="0">
                <a:pos x="connsiteX1" y="connsiteY1"/>
              </a:cxn>
              <a:cxn ang="0">
                <a:pos x="connsiteX2" y="connsiteY2"/>
              </a:cxn>
            </a:cxnLst>
            <a:rect l="l" t="t" r="r" b="b"/>
            <a:pathLst>
              <a:path w="1091821" h="541361">
                <a:moveTo>
                  <a:pt x="0" y="0"/>
                </a:moveTo>
                <a:lnTo>
                  <a:pt x="541362" y="541361"/>
                </a:lnTo>
                <a:lnTo>
                  <a:pt x="1091821" y="0"/>
                </a:ln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7" name="直接连接符 16"/>
          <p:cNvCxnSpPr>
            <a:stCxn id="8" idx="2"/>
          </p:cNvCxnSpPr>
          <p:nvPr/>
        </p:nvCxnSpPr>
        <p:spPr bwMode="auto">
          <a:xfrm flipV="1">
            <a:off x="4312929" y="2126529"/>
            <a:ext cx="1493506" cy="333912"/>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任意多边形 17"/>
          <p:cNvSpPr/>
          <p:nvPr/>
        </p:nvSpPr>
        <p:spPr bwMode="auto">
          <a:xfrm>
            <a:off x="3899196" y="1785375"/>
            <a:ext cx="2108185" cy="1298217"/>
          </a:xfrm>
          <a:custGeom>
            <a:avLst/>
            <a:gdLst>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8505" h="1710999">
                <a:moveTo>
                  <a:pt x="0" y="1429853"/>
                </a:moveTo>
                <a:cubicBezTo>
                  <a:pt x="52663" y="1473101"/>
                  <a:pt x="105327" y="1516350"/>
                  <a:pt x="158873" y="1549890"/>
                </a:cubicBezTo>
                <a:cubicBezTo>
                  <a:pt x="212419" y="1583430"/>
                  <a:pt x="258904" y="1606378"/>
                  <a:pt x="321276" y="1631092"/>
                </a:cubicBezTo>
                <a:cubicBezTo>
                  <a:pt x="383648" y="1655806"/>
                  <a:pt x="453670" y="1685226"/>
                  <a:pt x="533106" y="1698171"/>
                </a:cubicBezTo>
                <a:cubicBezTo>
                  <a:pt x="612542" y="1711116"/>
                  <a:pt x="714338" y="1713470"/>
                  <a:pt x="797893" y="1708763"/>
                </a:cubicBezTo>
                <a:cubicBezTo>
                  <a:pt x="881448" y="1704056"/>
                  <a:pt x="958531" y="1688756"/>
                  <a:pt x="1034437" y="1669927"/>
                </a:cubicBezTo>
                <a:cubicBezTo>
                  <a:pt x="1110343" y="1651098"/>
                  <a:pt x="1167419" y="1633446"/>
                  <a:pt x="1253328" y="1595787"/>
                </a:cubicBezTo>
                <a:cubicBezTo>
                  <a:pt x="1339237" y="1558128"/>
                  <a:pt x="1450448" y="1508113"/>
                  <a:pt x="1549890" y="1443975"/>
                </a:cubicBezTo>
                <a:cubicBezTo>
                  <a:pt x="1649333" y="1379837"/>
                  <a:pt x="1761132" y="1289221"/>
                  <a:pt x="1849983" y="1210962"/>
                </a:cubicBezTo>
                <a:cubicBezTo>
                  <a:pt x="1938834" y="1132703"/>
                  <a:pt x="2001795" y="1061504"/>
                  <a:pt x="2082996" y="974418"/>
                </a:cubicBezTo>
                <a:cubicBezTo>
                  <a:pt x="2164198" y="887332"/>
                  <a:pt x="2265405" y="775534"/>
                  <a:pt x="2337192" y="688448"/>
                </a:cubicBezTo>
                <a:cubicBezTo>
                  <a:pt x="2408979" y="601362"/>
                  <a:pt x="2440165" y="566645"/>
                  <a:pt x="2513717" y="451904"/>
                </a:cubicBezTo>
                <a:cubicBezTo>
                  <a:pt x="2587269" y="337163"/>
                  <a:pt x="2682887" y="168581"/>
                  <a:pt x="2778505"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 name="任意多边形 18"/>
          <p:cNvSpPr/>
          <p:nvPr/>
        </p:nvSpPr>
        <p:spPr bwMode="auto">
          <a:xfrm>
            <a:off x="3966144" y="2182676"/>
            <a:ext cx="1569755" cy="772907"/>
          </a:xfrm>
          <a:custGeom>
            <a:avLst/>
            <a:gdLst>
              <a:gd name="connsiteX0" fmla="*/ 0 w 2068875"/>
              <a:gd name="connsiteY0" fmla="*/ 822607 h 1018662"/>
              <a:gd name="connsiteX1" fmla="*/ 190648 w 2068875"/>
              <a:gd name="connsiteY1" fmla="*/ 932052 h 1018662"/>
              <a:gd name="connsiteX2" fmla="*/ 367173 w 2068875"/>
              <a:gd name="connsiteY2" fmla="*/ 995601 h 1018662"/>
              <a:gd name="connsiteX3" fmla="*/ 579003 w 2068875"/>
              <a:gd name="connsiteY3" fmla="*/ 1016784 h 1018662"/>
              <a:gd name="connsiteX4" fmla="*/ 882626 w 2068875"/>
              <a:gd name="connsiteY4" fmla="*/ 953235 h 1018662"/>
              <a:gd name="connsiteX5" fmla="*/ 1140353 w 2068875"/>
              <a:gd name="connsiteY5" fmla="*/ 847320 h 1018662"/>
              <a:gd name="connsiteX6" fmla="*/ 1359244 w 2068875"/>
              <a:gd name="connsiteY6" fmla="*/ 709630 h 1018662"/>
              <a:gd name="connsiteX7" fmla="*/ 1585196 w 2068875"/>
              <a:gd name="connsiteY7" fmla="*/ 550758 h 1018662"/>
              <a:gd name="connsiteX8" fmla="*/ 1775843 w 2068875"/>
              <a:gd name="connsiteY8" fmla="*/ 360111 h 1018662"/>
              <a:gd name="connsiteX9" fmla="*/ 1952368 w 2068875"/>
              <a:gd name="connsiteY9" fmla="*/ 169464 h 1018662"/>
              <a:gd name="connsiteX10" fmla="*/ 2068875 w 2068875"/>
              <a:gd name="connsiteY10" fmla="*/ 0 h 101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8875" h="1018662">
                <a:moveTo>
                  <a:pt x="0" y="822607"/>
                </a:moveTo>
                <a:cubicBezTo>
                  <a:pt x="64726" y="862913"/>
                  <a:pt x="129453" y="903220"/>
                  <a:pt x="190648" y="932052"/>
                </a:cubicBezTo>
                <a:cubicBezTo>
                  <a:pt x="251844" y="960884"/>
                  <a:pt x="302447" y="981479"/>
                  <a:pt x="367173" y="995601"/>
                </a:cubicBezTo>
                <a:cubicBezTo>
                  <a:pt x="431899" y="1009723"/>
                  <a:pt x="493094" y="1023845"/>
                  <a:pt x="579003" y="1016784"/>
                </a:cubicBezTo>
                <a:cubicBezTo>
                  <a:pt x="664912" y="1009723"/>
                  <a:pt x="789068" y="981479"/>
                  <a:pt x="882626" y="953235"/>
                </a:cubicBezTo>
                <a:cubicBezTo>
                  <a:pt x="976184" y="924991"/>
                  <a:pt x="1060917" y="887921"/>
                  <a:pt x="1140353" y="847320"/>
                </a:cubicBezTo>
                <a:cubicBezTo>
                  <a:pt x="1219789" y="806719"/>
                  <a:pt x="1285104" y="759057"/>
                  <a:pt x="1359244" y="709630"/>
                </a:cubicBezTo>
                <a:cubicBezTo>
                  <a:pt x="1433384" y="660203"/>
                  <a:pt x="1515763" y="609011"/>
                  <a:pt x="1585196" y="550758"/>
                </a:cubicBezTo>
                <a:cubicBezTo>
                  <a:pt x="1654629" y="492505"/>
                  <a:pt x="1714648" y="423660"/>
                  <a:pt x="1775843" y="360111"/>
                </a:cubicBezTo>
                <a:cubicBezTo>
                  <a:pt x="1837038" y="296562"/>
                  <a:pt x="1903529" y="229483"/>
                  <a:pt x="1952368" y="169464"/>
                </a:cubicBezTo>
                <a:cubicBezTo>
                  <a:pt x="2001207" y="109445"/>
                  <a:pt x="2035041" y="54722"/>
                  <a:pt x="2068875" y="0"/>
                </a:cubicBez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0" name="任意多边形 19"/>
          <p:cNvSpPr/>
          <p:nvPr/>
        </p:nvSpPr>
        <p:spPr bwMode="auto">
          <a:xfrm>
            <a:off x="4059900" y="2244495"/>
            <a:ext cx="1202555" cy="574762"/>
          </a:xfrm>
          <a:custGeom>
            <a:avLst/>
            <a:gdLst>
              <a:gd name="connsiteX0" fmla="*/ 0 w 1592256"/>
              <a:gd name="connsiteY0" fmla="*/ 614307 h 762595"/>
              <a:gd name="connsiteX1" fmla="*/ 137690 w 1592256"/>
              <a:gd name="connsiteY1" fmla="*/ 702570 h 762595"/>
              <a:gd name="connsiteX2" fmla="*/ 296562 w 1592256"/>
              <a:gd name="connsiteY2" fmla="*/ 755528 h 762595"/>
              <a:gd name="connsiteX3" fmla="*/ 533106 w 1592256"/>
              <a:gd name="connsiteY3" fmla="*/ 755528 h 762595"/>
              <a:gd name="connsiteX4" fmla="*/ 790832 w 1592256"/>
              <a:gd name="connsiteY4" fmla="*/ 695509 h 762595"/>
              <a:gd name="connsiteX5" fmla="*/ 992071 w 1592256"/>
              <a:gd name="connsiteY5" fmla="*/ 586063 h 762595"/>
              <a:gd name="connsiteX6" fmla="*/ 1189779 w 1592256"/>
              <a:gd name="connsiteY6" fmla="*/ 441313 h 762595"/>
              <a:gd name="connsiteX7" fmla="*/ 1383957 w 1592256"/>
              <a:gd name="connsiteY7" fmla="*/ 275379 h 762595"/>
              <a:gd name="connsiteX8" fmla="*/ 1592256 w 1592256"/>
              <a:gd name="connsiteY8" fmla="*/ 0 h 762595"/>
              <a:gd name="connsiteX0" fmla="*/ 0 w 1592256"/>
              <a:gd name="connsiteY0" fmla="*/ 614307 h 762595"/>
              <a:gd name="connsiteX1" fmla="*/ 137690 w 1592256"/>
              <a:gd name="connsiteY1" fmla="*/ 702570 h 762595"/>
              <a:gd name="connsiteX2" fmla="*/ 296562 w 1592256"/>
              <a:gd name="connsiteY2" fmla="*/ 755528 h 762595"/>
              <a:gd name="connsiteX3" fmla="*/ 533106 w 1592256"/>
              <a:gd name="connsiteY3" fmla="*/ 755528 h 762595"/>
              <a:gd name="connsiteX4" fmla="*/ 790832 w 1592256"/>
              <a:gd name="connsiteY4" fmla="*/ 695509 h 762595"/>
              <a:gd name="connsiteX5" fmla="*/ 992071 w 1592256"/>
              <a:gd name="connsiteY5" fmla="*/ 586063 h 762595"/>
              <a:gd name="connsiteX6" fmla="*/ 1189779 w 1592256"/>
              <a:gd name="connsiteY6" fmla="*/ 441313 h 762595"/>
              <a:gd name="connsiteX7" fmla="*/ 1376896 w 1592256"/>
              <a:gd name="connsiteY7" fmla="*/ 275379 h 762595"/>
              <a:gd name="connsiteX8" fmla="*/ 1592256 w 1592256"/>
              <a:gd name="connsiteY8" fmla="*/ 0 h 762595"/>
              <a:gd name="connsiteX0" fmla="*/ 0 w 1592256"/>
              <a:gd name="connsiteY0" fmla="*/ 614307 h 764849"/>
              <a:gd name="connsiteX1" fmla="*/ 137690 w 1592256"/>
              <a:gd name="connsiteY1" fmla="*/ 702570 h 764849"/>
              <a:gd name="connsiteX2" fmla="*/ 296562 w 1592256"/>
              <a:gd name="connsiteY2" fmla="*/ 755528 h 764849"/>
              <a:gd name="connsiteX3" fmla="*/ 522514 w 1592256"/>
              <a:gd name="connsiteY3" fmla="*/ 759059 h 764849"/>
              <a:gd name="connsiteX4" fmla="*/ 790832 w 1592256"/>
              <a:gd name="connsiteY4" fmla="*/ 695509 h 764849"/>
              <a:gd name="connsiteX5" fmla="*/ 992071 w 1592256"/>
              <a:gd name="connsiteY5" fmla="*/ 586063 h 764849"/>
              <a:gd name="connsiteX6" fmla="*/ 1189779 w 1592256"/>
              <a:gd name="connsiteY6" fmla="*/ 441313 h 764849"/>
              <a:gd name="connsiteX7" fmla="*/ 1376896 w 1592256"/>
              <a:gd name="connsiteY7" fmla="*/ 275379 h 764849"/>
              <a:gd name="connsiteX8" fmla="*/ 1592256 w 1592256"/>
              <a:gd name="connsiteY8" fmla="*/ 0 h 764849"/>
              <a:gd name="connsiteX0" fmla="*/ 0 w 1584921"/>
              <a:gd name="connsiteY0" fmla="*/ 606972 h 757514"/>
              <a:gd name="connsiteX1" fmla="*/ 137690 w 1584921"/>
              <a:gd name="connsiteY1" fmla="*/ 695235 h 757514"/>
              <a:gd name="connsiteX2" fmla="*/ 296562 w 1584921"/>
              <a:gd name="connsiteY2" fmla="*/ 748193 h 757514"/>
              <a:gd name="connsiteX3" fmla="*/ 522514 w 1584921"/>
              <a:gd name="connsiteY3" fmla="*/ 751724 h 757514"/>
              <a:gd name="connsiteX4" fmla="*/ 790832 w 1584921"/>
              <a:gd name="connsiteY4" fmla="*/ 688174 h 757514"/>
              <a:gd name="connsiteX5" fmla="*/ 992071 w 1584921"/>
              <a:gd name="connsiteY5" fmla="*/ 578728 h 757514"/>
              <a:gd name="connsiteX6" fmla="*/ 1189779 w 1584921"/>
              <a:gd name="connsiteY6" fmla="*/ 433978 h 757514"/>
              <a:gd name="connsiteX7" fmla="*/ 1376896 w 1584921"/>
              <a:gd name="connsiteY7" fmla="*/ 268044 h 757514"/>
              <a:gd name="connsiteX8" fmla="*/ 1584921 w 1584921"/>
              <a:gd name="connsiteY8" fmla="*/ 0 h 757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4921" h="757514">
                <a:moveTo>
                  <a:pt x="0" y="606972"/>
                </a:moveTo>
                <a:cubicBezTo>
                  <a:pt x="44131" y="639335"/>
                  <a:pt x="88263" y="671698"/>
                  <a:pt x="137690" y="695235"/>
                </a:cubicBezTo>
                <a:cubicBezTo>
                  <a:pt x="187117" y="718772"/>
                  <a:pt x="232425" y="738778"/>
                  <a:pt x="296562" y="748193"/>
                </a:cubicBezTo>
                <a:cubicBezTo>
                  <a:pt x="360699" y="757608"/>
                  <a:pt x="440136" y="761727"/>
                  <a:pt x="522514" y="751724"/>
                </a:cubicBezTo>
                <a:cubicBezTo>
                  <a:pt x="604892" y="741721"/>
                  <a:pt x="712573" y="717007"/>
                  <a:pt x="790832" y="688174"/>
                </a:cubicBezTo>
                <a:cubicBezTo>
                  <a:pt x="869091" y="659341"/>
                  <a:pt x="925580" y="621094"/>
                  <a:pt x="992071" y="578728"/>
                </a:cubicBezTo>
                <a:cubicBezTo>
                  <a:pt x="1058562" y="536362"/>
                  <a:pt x="1125642" y="485759"/>
                  <a:pt x="1189779" y="433978"/>
                </a:cubicBezTo>
                <a:cubicBezTo>
                  <a:pt x="1253917" y="382197"/>
                  <a:pt x="1311039" y="340374"/>
                  <a:pt x="1376896" y="268044"/>
                </a:cubicBezTo>
                <a:cubicBezTo>
                  <a:pt x="1442753" y="195714"/>
                  <a:pt x="1514311" y="100913"/>
                  <a:pt x="1584921" y="0"/>
                </a:cubicBez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1" name="任意多边形 20"/>
          <p:cNvSpPr/>
          <p:nvPr/>
        </p:nvSpPr>
        <p:spPr bwMode="auto">
          <a:xfrm>
            <a:off x="4167051" y="2330423"/>
            <a:ext cx="732534" cy="343095"/>
          </a:xfrm>
          <a:custGeom>
            <a:avLst/>
            <a:gdLst>
              <a:gd name="connsiteX0" fmla="*/ 0 w 985010"/>
              <a:gd name="connsiteY0" fmla="*/ 370703 h 466855"/>
              <a:gd name="connsiteX1" fmla="*/ 112976 w 985010"/>
              <a:gd name="connsiteY1" fmla="*/ 434252 h 466855"/>
              <a:gd name="connsiteX2" fmla="*/ 275379 w 985010"/>
              <a:gd name="connsiteY2" fmla="*/ 466026 h 466855"/>
              <a:gd name="connsiteX3" fmla="*/ 540167 w 985010"/>
              <a:gd name="connsiteY3" fmla="*/ 402477 h 466855"/>
              <a:gd name="connsiteX4" fmla="*/ 766119 w 985010"/>
              <a:gd name="connsiteY4" fmla="*/ 250666 h 466855"/>
              <a:gd name="connsiteX5" fmla="*/ 882626 w 985010"/>
              <a:gd name="connsiteY5" fmla="*/ 141220 h 466855"/>
              <a:gd name="connsiteX6" fmla="*/ 985010 w 985010"/>
              <a:gd name="connsiteY6" fmla="*/ 0 h 466855"/>
              <a:gd name="connsiteX0" fmla="*/ 0 w 965451"/>
              <a:gd name="connsiteY0" fmla="*/ 356034 h 452186"/>
              <a:gd name="connsiteX1" fmla="*/ 112976 w 965451"/>
              <a:gd name="connsiteY1" fmla="*/ 419583 h 452186"/>
              <a:gd name="connsiteX2" fmla="*/ 275379 w 965451"/>
              <a:gd name="connsiteY2" fmla="*/ 451357 h 452186"/>
              <a:gd name="connsiteX3" fmla="*/ 540167 w 965451"/>
              <a:gd name="connsiteY3" fmla="*/ 387808 h 452186"/>
              <a:gd name="connsiteX4" fmla="*/ 766119 w 965451"/>
              <a:gd name="connsiteY4" fmla="*/ 235997 h 452186"/>
              <a:gd name="connsiteX5" fmla="*/ 882626 w 965451"/>
              <a:gd name="connsiteY5" fmla="*/ 126551 h 452186"/>
              <a:gd name="connsiteX6" fmla="*/ 965451 w 965451"/>
              <a:gd name="connsiteY6" fmla="*/ 0 h 45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5451" h="452186">
                <a:moveTo>
                  <a:pt x="0" y="356034"/>
                </a:moveTo>
                <a:cubicBezTo>
                  <a:pt x="33540" y="379865"/>
                  <a:pt x="67080" y="403696"/>
                  <a:pt x="112976" y="419583"/>
                </a:cubicBezTo>
                <a:cubicBezTo>
                  <a:pt x="158872" y="435470"/>
                  <a:pt x="204181" y="456653"/>
                  <a:pt x="275379" y="451357"/>
                </a:cubicBezTo>
                <a:cubicBezTo>
                  <a:pt x="346577" y="446061"/>
                  <a:pt x="458377" y="423701"/>
                  <a:pt x="540167" y="387808"/>
                </a:cubicBezTo>
                <a:cubicBezTo>
                  <a:pt x="621957" y="351915"/>
                  <a:pt x="709043" y="279540"/>
                  <a:pt x="766119" y="235997"/>
                </a:cubicBezTo>
                <a:cubicBezTo>
                  <a:pt x="823196" y="192454"/>
                  <a:pt x="849404" y="165884"/>
                  <a:pt x="882626" y="126551"/>
                </a:cubicBezTo>
                <a:cubicBezTo>
                  <a:pt x="915848" y="87218"/>
                  <a:pt x="932500" y="49721"/>
                  <a:pt x="965451" y="0"/>
                </a:cubicBezTo>
              </a:path>
            </a:pathLst>
          </a:cu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23" name="直接连接符 22"/>
          <p:cNvCxnSpPr/>
          <p:nvPr/>
        </p:nvCxnSpPr>
        <p:spPr bwMode="auto">
          <a:xfrm>
            <a:off x="4936126" y="2463945"/>
            <a:ext cx="598534" cy="0"/>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p:cNvCxnSpPr>
            <a:stCxn id="8" idx="2"/>
          </p:cNvCxnSpPr>
          <p:nvPr/>
        </p:nvCxnSpPr>
        <p:spPr bwMode="auto">
          <a:xfrm>
            <a:off x="4312929" y="2460440"/>
            <a:ext cx="984372" cy="247460"/>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p:cNvCxnSpPr>
            <a:stCxn id="8" idx="2"/>
          </p:cNvCxnSpPr>
          <p:nvPr/>
        </p:nvCxnSpPr>
        <p:spPr bwMode="auto">
          <a:xfrm>
            <a:off x="4312929" y="2460440"/>
            <a:ext cx="713343" cy="447377"/>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p:cNvCxnSpPr>
            <a:stCxn id="11" idx="2"/>
          </p:cNvCxnSpPr>
          <p:nvPr/>
        </p:nvCxnSpPr>
        <p:spPr bwMode="auto">
          <a:xfrm>
            <a:off x="4313170" y="2457895"/>
            <a:ext cx="468557" cy="562409"/>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p:cNvCxnSpPr>
            <a:stCxn id="11" idx="2"/>
          </p:cNvCxnSpPr>
          <p:nvPr/>
        </p:nvCxnSpPr>
        <p:spPr bwMode="auto">
          <a:xfrm>
            <a:off x="4313170" y="2457895"/>
            <a:ext cx="250538" cy="616392"/>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p:cNvCxnSpPr>
            <a:stCxn id="11" idx="2"/>
          </p:cNvCxnSpPr>
          <p:nvPr/>
        </p:nvCxnSpPr>
        <p:spPr bwMode="auto">
          <a:xfrm flipH="1">
            <a:off x="4215270" y="2457895"/>
            <a:ext cx="97901" cy="590229"/>
          </a:xfrm>
          <a:prstGeom prst="line">
            <a:avLst/>
          </a:prstGeom>
          <a:noFill/>
          <a:ln w="63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连接符 38"/>
          <p:cNvCxnSpPr/>
          <p:nvPr/>
        </p:nvCxnSpPr>
        <p:spPr bwMode="auto">
          <a:xfrm>
            <a:off x="1135060" y="1773103"/>
            <a:ext cx="2344933"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任意多边形 39"/>
          <p:cNvSpPr/>
          <p:nvPr/>
        </p:nvSpPr>
        <p:spPr bwMode="auto">
          <a:xfrm flipH="1">
            <a:off x="1793597" y="1778141"/>
            <a:ext cx="2108185" cy="1298217"/>
          </a:xfrm>
          <a:custGeom>
            <a:avLst/>
            <a:gdLst>
              <a:gd name="connsiteX0" fmla="*/ 0 w 2778505"/>
              <a:gd name="connsiteY0" fmla="*/ 1429853 h 1710999"/>
              <a:gd name="connsiteX1" fmla="*/ 158873 w 2778505"/>
              <a:gd name="connsiteY1" fmla="*/ 1549890 h 1710999"/>
              <a:gd name="connsiteX2" fmla="*/ 321276 w 2778505"/>
              <a:gd name="connsiteY2" fmla="*/ 1631092 h 1710999"/>
              <a:gd name="connsiteX3" fmla="*/ 533106 w 2778505"/>
              <a:gd name="connsiteY3" fmla="*/ 1698171 h 1710999"/>
              <a:gd name="connsiteX4" fmla="*/ 797893 w 2778505"/>
              <a:gd name="connsiteY4" fmla="*/ 1708763 h 1710999"/>
              <a:gd name="connsiteX5" fmla="*/ 1034437 w 2778505"/>
              <a:gd name="connsiteY5" fmla="*/ 1669927 h 1710999"/>
              <a:gd name="connsiteX6" fmla="*/ 1253328 w 2778505"/>
              <a:gd name="connsiteY6" fmla="*/ 1595787 h 1710999"/>
              <a:gd name="connsiteX7" fmla="*/ 1549890 w 2778505"/>
              <a:gd name="connsiteY7" fmla="*/ 1443975 h 1710999"/>
              <a:gd name="connsiteX8" fmla="*/ 1849983 w 2778505"/>
              <a:gd name="connsiteY8" fmla="*/ 1210962 h 1710999"/>
              <a:gd name="connsiteX9" fmla="*/ 2082996 w 2778505"/>
              <a:gd name="connsiteY9" fmla="*/ 974418 h 1710999"/>
              <a:gd name="connsiteX10" fmla="*/ 2337192 w 2778505"/>
              <a:gd name="connsiteY10" fmla="*/ 688448 h 1710999"/>
              <a:gd name="connsiteX11" fmla="*/ 2513717 w 2778505"/>
              <a:gd name="connsiteY11" fmla="*/ 451904 h 1710999"/>
              <a:gd name="connsiteX12" fmla="*/ 2778505 w 2778505"/>
              <a:gd name="connsiteY12" fmla="*/ 0 h 1710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8505" h="1710999">
                <a:moveTo>
                  <a:pt x="0" y="1429853"/>
                </a:moveTo>
                <a:cubicBezTo>
                  <a:pt x="52663" y="1473101"/>
                  <a:pt x="105327" y="1516350"/>
                  <a:pt x="158873" y="1549890"/>
                </a:cubicBezTo>
                <a:cubicBezTo>
                  <a:pt x="212419" y="1583430"/>
                  <a:pt x="258904" y="1606378"/>
                  <a:pt x="321276" y="1631092"/>
                </a:cubicBezTo>
                <a:cubicBezTo>
                  <a:pt x="383648" y="1655806"/>
                  <a:pt x="453670" y="1685226"/>
                  <a:pt x="533106" y="1698171"/>
                </a:cubicBezTo>
                <a:cubicBezTo>
                  <a:pt x="612542" y="1711116"/>
                  <a:pt x="714338" y="1713470"/>
                  <a:pt x="797893" y="1708763"/>
                </a:cubicBezTo>
                <a:cubicBezTo>
                  <a:pt x="881448" y="1704056"/>
                  <a:pt x="958531" y="1688756"/>
                  <a:pt x="1034437" y="1669927"/>
                </a:cubicBezTo>
                <a:cubicBezTo>
                  <a:pt x="1110343" y="1651098"/>
                  <a:pt x="1167419" y="1633446"/>
                  <a:pt x="1253328" y="1595787"/>
                </a:cubicBezTo>
                <a:cubicBezTo>
                  <a:pt x="1339237" y="1558128"/>
                  <a:pt x="1450448" y="1508113"/>
                  <a:pt x="1549890" y="1443975"/>
                </a:cubicBezTo>
                <a:cubicBezTo>
                  <a:pt x="1649333" y="1379837"/>
                  <a:pt x="1761132" y="1289221"/>
                  <a:pt x="1849983" y="1210962"/>
                </a:cubicBezTo>
                <a:cubicBezTo>
                  <a:pt x="1938834" y="1132703"/>
                  <a:pt x="2001795" y="1061504"/>
                  <a:pt x="2082996" y="974418"/>
                </a:cubicBezTo>
                <a:cubicBezTo>
                  <a:pt x="2164198" y="887332"/>
                  <a:pt x="2265405" y="775534"/>
                  <a:pt x="2337192" y="688448"/>
                </a:cubicBezTo>
                <a:cubicBezTo>
                  <a:pt x="2408979" y="601362"/>
                  <a:pt x="2440165" y="566645"/>
                  <a:pt x="2513717" y="451904"/>
                </a:cubicBezTo>
                <a:cubicBezTo>
                  <a:pt x="2587269" y="337163"/>
                  <a:pt x="2682887" y="168581"/>
                  <a:pt x="2778505"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41" name="直接连接符 40"/>
          <p:cNvCxnSpPr/>
          <p:nvPr/>
        </p:nvCxnSpPr>
        <p:spPr bwMode="auto">
          <a:xfrm flipH="1" flipV="1">
            <a:off x="2000506" y="2125184"/>
            <a:ext cx="1487699" cy="331366"/>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a:stCxn id="11" idx="2"/>
            <a:endCxn id="18" idx="12"/>
          </p:cNvCxnSpPr>
          <p:nvPr/>
        </p:nvCxnSpPr>
        <p:spPr bwMode="auto">
          <a:xfrm flipV="1">
            <a:off x="4313170" y="1785375"/>
            <a:ext cx="1694210" cy="67252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4" name="组合 43"/>
          <p:cNvGrpSpPr/>
          <p:nvPr/>
        </p:nvGrpSpPr>
        <p:grpSpPr>
          <a:xfrm>
            <a:off x="3605768" y="2155661"/>
            <a:ext cx="588837" cy="303299"/>
            <a:chOff x="4443756" y="2848235"/>
            <a:chExt cx="817863" cy="531427"/>
          </a:xfrm>
        </p:grpSpPr>
        <p:sp>
          <p:nvSpPr>
            <p:cNvPr id="45" name="Line 25"/>
            <p:cNvSpPr>
              <a:spLocks noChangeShapeType="1"/>
            </p:cNvSpPr>
            <p:nvPr/>
          </p:nvSpPr>
          <p:spPr bwMode="auto">
            <a:xfrm>
              <a:off x="5057153"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25"/>
            <p:cNvSpPr>
              <a:spLocks noChangeShapeType="1"/>
            </p:cNvSpPr>
            <p:nvPr/>
          </p:nvSpPr>
          <p:spPr bwMode="auto">
            <a:xfrm>
              <a:off x="4443756"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25"/>
            <p:cNvSpPr>
              <a:spLocks noChangeShapeType="1"/>
            </p:cNvSpPr>
            <p:nvPr/>
          </p:nvSpPr>
          <p:spPr bwMode="auto">
            <a:xfrm>
              <a:off x="4648222"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25"/>
            <p:cNvSpPr>
              <a:spLocks noChangeShapeType="1"/>
            </p:cNvSpPr>
            <p:nvPr/>
          </p:nvSpPr>
          <p:spPr bwMode="auto">
            <a:xfrm>
              <a:off x="4852687"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5"/>
            <p:cNvSpPr>
              <a:spLocks noChangeShapeType="1"/>
            </p:cNvSpPr>
            <p:nvPr/>
          </p:nvSpPr>
          <p:spPr bwMode="auto">
            <a:xfrm>
              <a:off x="5261619" y="2848235"/>
              <a:ext cx="0" cy="531427"/>
            </a:xfrm>
            <a:prstGeom prst="line">
              <a:avLst/>
            </a:prstGeom>
            <a:noFill/>
            <a:ln w="1905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0" name="Text Box 21"/>
          <p:cNvSpPr txBox="1">
            <a:spLocks noChangeArrowheads="1"/>
          </p:cNvSpPr>
          <p:nvPr/>
        </p:nvSpPr>
        <p:spPr bwMode="auto">
          <a:xfrm>
            <a:off x="2675802" y="2620289"/>
            <a:ext cx="961964" cy="354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18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刚性核区</a:t>
            </a:r>
          </a:p>
        </p:txBody>
      </p:sp>
      <p:sp>
        <p:nvSpPr>
          <p:cNvPr id="51" name="Text Box 21"/>
          <p:cNvSpPr txBox="1">
            <a:spLocks noChangeArrowheads="1"/>
          </p:cNvSpPr>
          <p:nvPr/>
        </p:nvSpPr>
        <p:spPr bwMode="auto">
          <a:xfrm>
            <a:off x="5562012" y="2744788"/>
            <a:ext cx="761324" cy="31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18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过渡区</a:t>
            </a:r>
          </a:p>
        </p:txBody>
      </p:sp>
      <p:sp>
        <p:nvSpPr>
          <p:cNvPr id="52" name="Text Box 21"/>
          <p:cNvSpPr txBox="1">
            <a:spLocks noChangeArrowheads="1"/>
          </p:cNvSpPr>
          <p:nvPr/>
        </p:nvSpPr>
        <p:spPr bwMode="auto">
          <a:xfrm>
            <a:off x="6502452" y="2016726"/>
            <a:ext cx="1162604" cy="3546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18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混合剪切区</a:t>
            </a:r>
          </a:p>
        </p:txBody>
      </p:sp>
      <p:cxnSp>
        <p:nvCxnSpPr>
          <p:cNvPr id="56" name="直接连接符 55"/>
          <p:cNvCxnSpPr/>
          <p:nvPr/>
        </p:nvCxnSpPr>
        <p:spPr bwMode="auto">
          <a:xfrm>
            <a:off x="3488110" y="1641200"/>
            <a:ext cx="824821" cy="0"/>
          </a:xfrm>
          <a:prstGeom prst="line">
            <a:avLst/>
          </a:pr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1"/>
          <p:cNvSpPr txBox="1">
            <a:spLocks noChangeArrowheads="1"/>
          </p:cNvSpPr>
          <p:nvPr/>
        </p:nvSpPr>
        <p:spPr bwMode="auto">
          <a:xfrm>
            <a:off x="3748187" y="1367889"/>
            <a:ext cx="193221" cy="275670"/>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b</a:t>
            </a:r>
            <a:endParaRPr kumimoji="1" lang="en-US" altLang="zh-CN" sz="2400" b="1" baseline="-25000" dirty="0">
              <a:solidFill>
                <a:srgbClr val="000066"/>
              </a:solidFill>
              <a:latin typeface="Times New Roman" panose="02020603050405020304" pitchFamily="18" charset="0"/>
            </a:endParaRPr>
          </a:p>
        </p:txBody>
      </p:sp>
      <p:cxnSp>
        <p:nvCxnSpPr>
          <p:cNvPr id="76" name="直接连接符 75"/>
          <p:cNvCxnSpPr/>
          <p:nvPr/>
        </p:nvCxnSpPr>
        <p:spPr bwMode="auto">
          <a:xfrm flipH="1" flipV="1">
            <a:off x="1794937" y="1782697"/>
            <a:ext cx="1694210" cy="67252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连接符 77"/>
          <p:cNvCxnSpPr/>
          <p:nvPr/>
        </p:nvCxnSpPr>
        <p:spPr bwMode="auto">
          <a:xfrm>
            <a:off x="2878627" y="1781259"/>
            <a:ext cx="0" cy="681186"/>
          </a:xfrm>
          <a:prstGeom prst="line">
            <a:avLst/>
          </a:pr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连接符 80"/>
          <p:cNvCxnSpPr/>
          <p:nvPr/>
        </p:nvCxnSpPr>
        <p:spPr bwMode="auto">
          <a:xfrm>
            <a:off x="2794310" y="2462444"/>
            <a:ext cx="163813"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Text Box 21"/>
          <p:cNvSpPr txBox="1">
            <a:spLocks noChangeArrowheads="1"/>
          </p:cNvSpPr>
          <p:nvPr/>
        </p:nvSpPr>
        <p:spPr bwMode="auto">
          <a:xfrm>
            <a:off x="2824805" y="1862367"/>
            <a:ext cx="369730" cy="38522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err="1">
                <a:solidFill>
                  <a:srgbClr val="000066"/>
                </a:solidFill>
                <a:latin typeface="Times New Roman" panose="02020603050405020304" pitchFamily="18" charset="0"/>
              </a:rPr>
              <a:t>D</a:t>
            </a:r>
            <a:r>
              <a:rPr kumimoji="1" lang="en-US" altLang="zh-CN" sz="2000" b="1" baseline="-25000" dirty="0" err="1">
                <a:solidFill>
                  <a:srgbClr val="000066"/>
                </a:solidFill>
                <a:latin typeface="Times New Roman" panose="02020603050405020304" pitchFamily="18" charset="0"/>
              </a:rPr>
              <a:t>f</a:t>
            </a:r>
            <a:endParaRPr kumimoji="1" lang="en-US" altLang="zh-CN" sz="2000" b="1" baseline="-25000" dirty="0">
              <a:solidFill>
                <a:srgbClr val="000066"/>
              </a:solidFill>
              <a:latin typeface="Times New Roman" panose="02020603050405020304" pitchFamily="18" charset="0"/>
            </a:endParaRPr>
          </a:p>
        </p:txBody>
      </p:sp>
      <p:sp>
        <p:nvSpPr>
          <p:cNvPr id="84" name="Text Box 21"/>
          <p:cNvSpPr txBox="1">
            <a:spLocks noChangeArrowheads="1"/>
          </p:cNvSpPr>
          <p:nvPr/>
        </p:nvSpPr>
        <p:spPr bwMode="auto">
          <a:xfrm>
            <a:off x="3721361" y="1791435"/>
            <a:ext cx="343232" cy="36648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u</a:t>
            </a:r>
            <a:endParaRPr kumimoji="1" lang="en-US" altLang="zh-CN" sz="2400" b="1" baseline="-25000" dirty="0">
              <a:solidFill>
                <a:srgbClr val="000066"/>
              </a:solidFill>
              <a:latin typeface="Times New Roman" panose="02020603050405020304" pitchFamily="18" charset="0"/>
            </a:endParaRPr>
          </a:p>
        </p:txBody>
      </p:sp>
      <p:sp>
        <p:nvSpPr>
          <p:cNvPr id="85" name="Rectangle 152"/>
          <p:cNvSpPr>
            <a:spLocks noChangeArrowheads="1"/>
          </p:cNvSpPr>
          <p:nvPr/>
        </p:nvSpPr>
        <p:spPr bwMode="auto">
          <a:xfrm>
            <a:off x="5627962" y="2221733"/>
            <a:ext cx="945853" cy="38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000066"/>
                </a:solidFill>
                <a:latin typeface="Times New Roman" panose="02020603050405020304" pitchFamily="18" charset="0"/>
                <a:ea typeface="楷体_GB2312" pitchFamily="49" charset="-122"/>
              </a:rPr>
              <a:t>45</a:t>
            </a:r>
            <a:r>
              <a:rPr kumimoji="1" lang="en-US" altLang="zh-CN" sz="2000" b="1" baseline="30000" dirty="0">
                <a:solidFill>
                  <a:srgbClr val="000066"/>
                </a:solidFill>
                <a:latin typeface="Times New Roman" panose="02020603050405020304" pitchFamily="18" charset="0"/>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a:t>
            </a:r>
            <a:r>
              <a:rPr kumimoji="1" lang="en-US" altLang="zh-CN" sz="2000" b="1" i="1" dirty="0">
                <a:solidFill>
                  <a:srgbClr val="000066"/>
                </a:solidFill>
                <a:latin typeface="Symbol" panose="05050102010706020507" pitchFamily="18" charset="2"/>
                <a:sym typeface="Symbol" panose="05050102010706020507" pitchFamily="18" charset="2"/>
              </a:rPr>
              <a:t></a:t>
            </a:r>
            <a:r>
              <a:rPr kumimoji="1" lang="en-US" altLang="zh-CN" sz="2000" b="1" dirty="0">
                <a:solidFill>
                  <a:srgbClr val="000066"/>
                </a:solidFill>
                <a:latin typeface="Times New Roman" panose="02020603050405020304" pitchFamily="18" charset="0"/>
                <a:sym typeface="Symbol" panose="05050102010706020507" pitchFamily="18" charset="2"/>
              </a:rPr>
              <a:t>/2</a:t>
            </a:r>
          </a:p>
        </p:txBody>
      </p:sp>
      <p:cxnSp>
        <p:nvCxnSpPr>
          <p:cNvPr id="88" name="直接连接符 87"/>
          <p:cNvCxnSpPr/>
          <p:nvPr/>
        </p:nvCxnSpPr>
        <p:spPr bwMode="auto">
          <a:xfrm flipH="1">
            <a:off x="5035356" y="2038216"/>
            <a:ext cx="201633" cy="80653"/>
          </a:xfrm>
          <a:prstGeom prst="line">
            <a:avLst/>
          </a:prstGeom>
          <a:noFill/>
          <a:ln w="1270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 Box 21"/>
          <p:cNvSpPr txBox="1">
            <a:spLocks noChangeArrowheads="1"/>
          </p:cNvSpPr>
          <p:nvPr/>
        </p:nvSpPr>
        <p:spPr bwMode="auto">
          <a:xfrm>
            <a:off x="5092217" y="1690817"/>
            <a:ext cx="329603" cy="38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0</a:t>
            </a:r>
          </a:p>
        </p:txBody>
      </p:sp>
      <p:cxnSp>
        <p:nvCxnSpPr>
          <p:cNvPr id="96" name="直接连接符 95"/>
          <p:cNvCxnSpPr/>
          <p:nvPr/>
        </p:nvCxnSpPr>
        <p:spPr bwMode="auto">
          <a:xfrm flipH="1">
            <a:off x="4459732" y="2263129"/>
            <a:ext cx="201633" cy="80653"/>
          </a:xfrm>
          <a:prstGeom prst="line">
            <a:avLst/>
          </a:prstGeom>
          <a:noFill/>
          <a:ln w="1270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p:nvPr/>
        </p:nvCxnSpPr>
        <p:spPr bwMode="auto">
          <a:xfrm flipH="1">
            <a:off x="4738015" y="2155118"/>
            <a:ext cx="201633" cy="80653"/>
          </a:xfrm>
          <a:prstGeom prst="line">
            <a:avLst/>
          </a:prstGeom>
          <a:noFill/>
          <a:ln w="1270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rot="5400000" flipH="1">
            <a:off x="4563930" y="2139898"/>
            <a:ext cx="201633" cy="80653"/>
          </a:xfrm>
          <a:prstGeom prst="line">
            <a:avLst/>
          </a:prstGeom>
          <a:noFill/>
          <a:ln w="1270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98"/>
          <p:cNvCxnSpPr/>
          <p:nvPr/>
        </p:nvCxnSpPr>
        <p:spPr bwMode="auto">
          <a:xfrm rot="5400000" flipH="1">
            <a:off x="4303438" y="2246665"/>
            <a:ext cx="201633" cy="80653"/>
          </a:xfrm>
          <a:prstGeom prst="line">
            <a:avLst/>
          </a:prstGeom>
          <a:noFill/>
          <a:ln w="1270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连接符 99"/>
          <p:cNvCxnSpPr/>
          <p:nvPr/>
        </p:nvCxnSpPr>
        <p:spPr bwMode="auto">
          <a:xfrm rot="5400000" flipH="1">
            <a:off x="4856190" y="2039082"/>
            <a:ext cx="201633" cy="80653"/>
          </a:xfrm>
          <a:prstGeom prst="line">
            <a:avLst/>
          </a:prstGeom>
          <a:noFill/>
          <a:ln w="1270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Text Box 21"/>
          <p:cNvSpPr txBox="1">
            <a:spLocks noChangeArrowheads="1"/>
          </p:cNvSpPr>
          <p:nvPr/>
        </p:nvSpPr>
        <p:spPr bwMode="auto">
          <a:xfrm>
            <a:off x="4427978" y="1723882"/>
            <a:ext cx="366963" cy="38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0</a:t>
            </a:r>
          </a:p>
        </p:txBody>
      </p:sp>
      <p:cxnSp>
        <p:nvCxnSpPr>
          <p:cNvPr id="103" name="直接连接符 102"/>
          <p:cNvCxnSpPr/>
          <p:nvPr/>
        </p:nvCxnSpPr>
        <p:spPr bwMode="auto">
          <a:xfrm>
            <a:off x="5739901" y="2002945"/>
            <a:ext cx="652948" cy="15981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直接连接符 103"/>
          <p:cNvCxnSpPr/>
          <p:nvPr/>
        </p:nvCxnSpPr>
        <p:spPr bwMode="auto">
          <a:xfrm flipV="1">
            <a:off x="3591530" y="2606813"/>
            <a:ext cx="325298" cy="17789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21"/>
          <p:cNvSpPr txBox="1">
            <a:spLocks noChangeArrowheads="1"/>
          </p:cNvSpPr>
          <p:nvPr/>
        </p:nvSpPr>
        <p:spPr bwMode="auto">
          <a:xfrm>
            <a:off x="5739901" y="1280822"/>
            <a:ext cx="1669704"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1800" b="1" dirty="0">
                <a:solidFill>
                  <a:srgbClr val="C00000"/>
                </a:solidFill>
                <a:latin typeface="幼圆" panose="02010509060101010101" pitchFamily="49" charset="-122"/>
                <a:ea typeface="幼圆" panose="02010509060101010101" pitchFamily="49" charset="-122"/>
                <a:cs typeface="Times New Roman" panose="02020603050405020304" pitchFamily="18" charset="0"/>
              </a:rPr>
              <a:t>等代自由表面</a:t>
            </a:r>
          </a:p>
        </p:txBody>
      </p:sp>
      <p:cxnSp>
        <p:nvCxnSpPr>
          <p:cNvPr id="113" name="直接连接符 112"/>
          <p:cNvCxnSpPr/>
          <p:nvPr/>
        </p:nvCxnSpPr>
        <p:spPr bwMode="auto">
          <a:xfrm flipV="1">
            <a:off x="5504466" y="1607861"/>
            <a:ext cx="346598" cy="36176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连接符 119"/>
          <p:cNvCxnSpPr/>
          <p:nvPr/>
        </p:nvCxnSpPr>
        <p:spPr bwMode="auto">
          <a:xfrm>
            <a:off x="4319876" y="2464295"/>
            <a:ext cx="67120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任意多边形 122"/>
          <p:cNvSpPr/>
          <p:nvPr/>
        </p:nvSpPr>
        <p:spPr bwMode="auto">
          <a:xfrm rot="18104866" flipH="1">
            <a:off x="5595149" y="2177486"/>
            <a:ext cx="76200" cy="134733"/>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9525" cap="flat" cmpd="sng" algn="ctr">
            <a:solidFill>
              <a:srgbClr val="000066"/>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26" name="任意多边形 125"/>
          <p:cNvSpPr/>
          <p:nvPr/>
        </p:nvSpPr>
        <p:spPr bwMode="auto">
          <a:xfrm rot="8592705" flipH="1">
            <a:off x="4923216" y="2322099"/>
            <a:ext cx="76200" cy="134733"/>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9525" cap="flat" cmpd="sng" algn="ctr">
            <a:solidFill>
              <a:srgbClr val="000066"/>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27" name="Rectangle 152"/>
          <p:cNvSpPr>
            <a:spLocks noChangeArrowheads="1"/>
          </p:cNvSpPr>
          <p:nvPr/>
        </p:nvSpPr>
        <p:spPr bwMode="auto">
          <a:xfrm>
            <a:off x="4967458" y="2197067"/>
            <a:ext cx="285476" cy="354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sym typeface="Symbol" panose="05050102010706020507" pitchFamily="18" charset="2"/>
              </a:rPr>
              <a:t></a:t>
            </a:r>
          </a:p>
        </p:txBody>
      </p:sp>
      <p:sp>
        <p:nvSpPr>
          <p:cNvPr id="131" name="Text Box 21"/>
          <p:cNvSpPr txBox="1">
            <a:spLocks noChangeArrowheads="1"/>
          </p:cNvSpPr>
          <p:nvPr/>
        </p:nvSpPr>
        <p:spPr bwMode="auto">
          <a:xfrm>
            <a:off x="4149280" y="2397234"/>
            <a:ext cx="319916" cy="38522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2" name="Text Box 21"/>
          <p:cNvSpPr txBox="1">
            <a:spLocks noChangeArrowheads="1"/>
          </p:cNvSpPr>
          <p:nvPr/>
        </p:nvSpPr>
        <p:spPr bwMode="auto">
          <a:xfrm>
            <a:off x="3214694" y="2367172"/>
            <a:ext cx="307463" cy="38522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3" name="Text Box 21"/>
          <p:cNvSpPr txBox="1">
            <a:spLocks noChangeArrowheads="1"/>
          </p:cNvSpPr>
          <p:nvPr/>
        </p:nvSpPr>
        <p:spPr bwMode="auto">
          <a:xfrm>
            <a:off x="3720375" y="2852807"/>
            <a:ext cx="319916" cy="38522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7" name="Text Box 21"/>
          <p:cNvSpPr txBox="1">
            <a:spLocks noChangeArrowheads="1"/>
          </p:cNvSpPr>
          <p:nvPr/>
        </p:nvSpPr>
        <p:spPr bwMode="auto">
          <a:xfrm>
            <a:off x="6006580" y="1736702"/>
            <a:ext cx="295009" cy="38522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8" name="Text Box 21"/>
          <p:cNvSpPr txBox="1">
            <a:spLocks noChangeArrowheads="1"/>
          </p:cNvSpPr>
          <p:nvPr/>
        </p:nvSpPr>
        <p:spPr bwMode="auto">
          <a:xfrm>
            <a:off x="1461283" y="1752326"/>
            <a:ext cx="355893" cy="38522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9" name="Text Box 21"/>
          <p:cNvSpPr txBox="1">
            <a:spLocks noChangeArrowheads="1"/>
          </p:cNvSpPr>
          <p:nvPr/>
        </p:nvSpPr>
        <p:spPr bwMode="auto">
          <a:xfrm>
            <a:off x="4298434" y="1430608"/>
            <a:ext cx="380800" cy="38522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0" name="Text Box 21"/>
          <p:cNvSpPr txBox="1">
            <a:spLocks noChangeArrowheads="1"/>
          </p:cNvSpPr>
          <p:nvPr/>
        </p:nvSpPr>
        <p:spPr bwMode="auto">
          <a:xfrm>
            <a:off x="3144214" y="1421137"/>
            <a:ext cx="368347" cy="38522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2" name="Text Box 110"/>
          <p:cNvSpPr txBox="1">
            <a:spLocks noChangeArrowheads="1"/>
          </p:cNvSpPr>
          <p:nvPr/>
        </p:nvSpPr>
        <p:spPr bwMode="auto">
          <a:xfrm>
            <a:off x="963642" y="3230043"/>
            <a:ext cx="7750987" cy="820738"/>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defTabSz="739775">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假定破裂面延伸至地面，考虑基底以上土的抗剪强度</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42900" indent="-342900" defTabSz="739775">
              <a:lnSpc>
                <a:spcPct val="125000"/>
              </a:lnSpc>
              <a:spcBef>
                <a:spcPts val="200"/>
              </a:spcBef>
              <a:spcAft>
                <a:spcPts val="200"/>
              </a:spcAft>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如图中所示的滑裂面，</a:t>
            </a:r>
            <a:r>
              <a:rPr lang="zh-CN"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β</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角</a:t>
            </a:r>
            <a:r>
              <a:rPr lang="zh-CN"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是基础埋深和形状的函数</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，需迭代计算</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aphicFrame>
        <p:nvGraphicFramePr>
          <p:cNvPr id="144" name="Object 0"/>
          <p:cNvGraphicFramePr>
            <a:graphicFrameLocks noChangeAspect="1"/>
          </p:cNvGraphicFramePr>
          <p:nvPr>
            <p:extLst>
              <p:ext uri="{D42A27DB-BD31-4B8C-83A1-F6EECF244321}">
                <p14:modId xmlns:p14="http://schemas.microsoft.com/office/powerpoint/2010/main" val="2683097069"/>
              </p:ext>
            </p:extLst>
          </p:nvPr>
        </p:nvGraphicFramePr>
        <p:xfrm>
          <a:off x="2118982" y="3999440"/>
          <a:ext cx="3154464" cy="662904"/>
        </p:xfrm>
        <a:graphic>
          <a:graphicData uri="http://schemas.openxmlformats.org/presentationml/2006/ole">
            <mc:AlternateContent xmlns:mc="http://schemas.openxmlformats.org/markup-compatibility/2006">
              <mc:Choice xmlns:v="urn:schemas-microsoft-com:vml" Requires="v">
                <p:oleObj spid="_x0000_s1823867" name="Equation" r:id="rId4" imgW="1752480" imgH="368280" progId="Equation.DSMT4">
                  <p:embed/>
                </p:oleObj>
              </mc:Choice>
              <mc:Fallback>
                <p:oleObj name="Equation" r:id="rId4" imgW="1752480" imgH="368280" progId="Equation.DSMT4">
                  <p:embed/>
                  <p:pic>
                    <p:nvPicPr>
                      <p:cNvPr id="9" name="Object 0"/>
                      <p:cNvPicPr>
                        <a:picLocks noChangeAspect="1" noChangeArrowheads="1"/>
                      </p:cNvPicPr>
                      <p:nvPr/>
                    </p:nvPicPr>
                    <p:blipFill>
                      <a:blip r:embed="rId5"/>
                      <a:srcRect/>
                      <a:stretch>
                        <a:fillRect/>
                      </a:stretch>
                    </p:blipFill>
                    <p:spPr bwMode="auto">
                      <a:xfrm>
                        <a:off x="2118982" y="3999440"/>
                        <a:ext cx="3154464" cy="662904"/>
                      </a:xfrm>
                      <a:prstGeom prst="rect">
                        <a:avLst/>
                      </a:prstGeom>
                      <a:noFill/>
                      <a:ln w="9525">
                        <a:noFill/>
                        <a:miter lim="800000"/>
                        <a:headEnd/>
                        <a:tailEnd/>
                      </a:ln>
                      <a:effectLst/>
                      <a:extLst/>
                    </p:spPr>
                  </p:pic>
                </p:oleObj>
              </mc:Fallback>
            </mc:AlternateContent>
          </a:graphicData>
        </a:graphic>
      </p:graphicFrame>
      <p:sp>
        <p:nvSpPr>
          <p:cNvPr id="145" name="矩形 144"/>
          <p:cNvSpPr/>
          <p:nvPr/>
        </p:nvSpPr>
        <p:spPr>
          <a:xfrm>
            <a:off x="1391940" y="4730814"/>
            <a:ext cx="6893782" cy="861774"/>
          </a:xfrm>
          <a:prstGeom prst="rect">
            <a:avLst/>
          </a:prstGeom>
        </p:spPr>
        <p:txBody>
          <a:bodyPr wrap="square">
            <a:spAutoFit/>
          </a:bodyPr>
          <a:lstStyle/>
          <a:p>
            <a:pPr marL="342900" indent="-342900">
              <a:lnSpc>
                <a:spcPct val="125000"/>
              </a:lnSpc>
              <a:buClr>
                <a:srgbClr val="C00000"/>
              </a:buClr>
              <a:buFont typeface="Wingdings" panose="05000000000000000000" pitchFamily="2" charset="2"/>
              <a:buChar char="Ø"/>
            </a:pPr>
            <a:r>
              <a:rPr lang="en-US" altLang="zh-CN" sz="2000" b="1" i="1" dirty="0">
                <a:solidFill>
                  <a:srgbClr val="000066"/>
                </a:solidFill>
                <a:ea typeface="幼圆" panose="02010509060101010101" pitchFamily="49" charset="-122"/>
                <a:cs typeface="Times New Roman" panose="02020603050405020304" pitchFamily="18" charset="0"/>
              </a:rPr>
              <a:t>N</a:t>
            </a:r>
            <a:r>
              <a:rPr lang="zh-CN" altLang="zh-CN" sz="2000" b="1" baseline="-25000" dirty="0">
                <a:solidFill>
                  <a:srgbClr val="000066"/>
                </a:solidFill>
                <a:ea typeface="幼圆" panose="02010509060101010101" pitchFamily="49" charset="-122"/>
                <a:cs typeface="Times New Roman" panose="02020603050405020304" pitchFamily="18" charset="0"/>
              </a:rPr>
              <a:t>γ</a:t>
            </a:r>
            <a:r>
              <a:rPr lang="zh-CN"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err="1">
                <a:solidFill>
                  <a:srgbClr val="000066"/>
                </a:solidFill>
                <a:ea typeface="幼圆" panose="02010509060101010101" pitchFamily="49" charset="-122"/>
                <a:cs typeface="Times New Roman" panose="02020603050405020304" pitchFamily="18" charset="0"/>
              </a:rPr>
              <a:t>N</a:t>
            </a:r>
            <a:r>
              <a:rPr lang="en-US" altLang="zh-CN" sz="2000" b="1" baseline="-25000" dirty="0" err="1">
                <a:solidFill>
                  <a:srgbClr val="000066"/>
                </a:solidFill>
                <a:ea typeface="幼圆" panose="02010509060101010101" pitchFamily="49" charset="-122"/>
                <a:cs typeface="Times New Roman" panose="02020603050405020304" pitchFamily="18" charset="0"/>
              </a:rPr>
              <a:t>c</a:t>
            </a:r>
            <a:r>
              <a:rPr lang="zh-CN"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a:solidFill>
                  <a:srgbClr val="000066"/>
                </a:solidFill>
                <a:ea typeface="幼圆" panose="02010509060101010101" pitchFamily="49" charset="-122"/>
                <a:cs typeface="Times New Roman" panose="02020603050405020304" pitchFamily="18" charset="0"/>
              </a:rPr>
              <a:t>N</a:t>
            </a:r>
            <a:r>
              <a:rPr lang="en-US" altLang="zh-CN" sz="2000" b="1" baseline="-25000" dirty="0">
                <a:solidFill>
                  <a:srgbClr val="000066"/>
                </a:solidFill>
                <a:ea typeface="幼圆" panose="02010509060101010101" pitchFamily="49" charset="-122"/>
                <a:cs typeface="Times New Roman" panose="02020603050405020304" pitchFamily="18" charset="0"/>
              </a:rPr>
              <a:t>q</a:t>
            </a:r>
            <a:r>
              <a:rPr lang="zh-CN" altLang="zh-CN" sz="2000" b="1" dirty="0">
                <a:solidFill>
                  <a:srgbClr val="000066"/>
                </a:solidFill>
                <a:ea typeface="幼圆" panose="02010509060101010101" pitchFamily="49" charset="-122"/>
                <a:cs typeface="Times New Roman" panose="02020603050405020304" pitchFamily="18" charset="0"/>
              </a:rPr>
              <a:t>与极限平衡理论公式或太沙基公式</a:t>
            </a:r>
            <a:r>
              <a:rPr lang="zh-CN" altLang="zh-CN" sz="2000" b="1" dirty="0" smtClean="0">
                <a:solidFill>
                  <a:srgbClr val="000066"/>
                </a:solidFill>
                <a:ea typeface="幼圆" panose="02010509060101010101" pitchFamily="49" charset="-122"/>
                <a:cs typeface="Times New Roman" panose="02020603050405020304" pitchFamily="18" charset="0"/>
              </a:rPr>
              <a:t>均不</a:t>
            </a:r>
            <a:r>
              <a:rPr lang="zh-CN" altLang="en-US" sz="2000" b="1" dirty="0">
                <a:solidFill>
                  <a:srgbClr val="000066"/>
                </a:solidFill>
                <a:ea typeface="幼圆" panose="02010509060101010101" pitchFamily="49" charset="-122"/>
                <a:cs typeface="Times New Roman" panose="02020603050405020304" pitchFamily="18" charset="0"/>
              </a:rPr>
              <a:t>相同</a:t>
            </a:r>
            <a:r>
              <a:rPr lang="zh-CN" altLang="zh-CN" sz="2000" b="1" dirty="0">
                <a:solidFill>
                  <a:srgbClr val="000066"/>
                </a:solidFill>
                <a:ea typeface="幼圆" panose="02010509060101010101" pitchFamily="49" charset="-122"/>
                <a:cs typeface="Times New Roman" panose="02020603050405020304" pitchFamily="18" charset="0"/>
              </a:rPr>
              <a:t>。它们不仅取决于土的内摩擦角</a:t>
            </a:r>
            <a:r>
              <a:rPr lang="zh-CN" altLang="zh-CN" sz="2000" b="1" i="1" dirty="0">
                <a:solidFill>
                  <a:srgbClr val="000066"/>
                </a:solidFill>
                <a:ea typeface="幼圆" panose="02010509060101010101" pitchFamily="49" charset="-122"/>
                <a:cs typeface="Times New Roman" panose="02020603050405020304" pitchFamily="18" charset="0"/>
              </a:rPr>
              <a:t>φ</a:t>
            </a:r>
            <a:r>
              <a:rPr lang="zh-CN" altLang="zh-CN" sz="2000" b="1" dirty="0">
                <a:solidFill>
                  <a:srgbClr val="000066"/>
                </a:solidFill>
                <a:ea typeface="幼圆" panose="02010509060101010101" pitchFamily="49" charset="-122"/>
                <a:cs typeface="Times New Roman" panose="02020603050405020304" pitchFamily="18" charset="0"/>
              </a:rPr>
              <a:t>，而且还与</a:t>
            </a:r>
            <a:r>
              <a:rPr lang="zh-CN" altLang="zh-CN" sz="2000" b="1" i="1" dirty="0">
                <a:solidFill>
                  <a:srgbClr val="000066"/>
                </a:solidFill>
                <a:ea typeface="幼圆" panose="02010509060101010101" pitchFamily="49" charset="-122"/>
                <a:cs typeface="Times New Roman" panose="02020603050405020304" pitchFamily="18" charset="0"/>
              </a:rPr>
              <a:t>β</a:t>
            </a:r>
            <a:r>
              <a:rPr lang="zh-CN" altLang="zh-CN" sz="2000" b="1" dirty="0">
                <a:solidFill>
                  <a:srgbClr val="000066"/>
                </a:solidFill>
                <a:ea typeface="幼圆" panose="02010509060101010101" pitchFamily="49" charset="-122"/>
                <a:cs typeface="Times New Roman" panose="02020603050405020304" pitchFamily="18" charset="0"/>
              </a:rPr>
              <a:t>值有关</a:t>
            </a:r>
            <a:endParaRPr lang="zh-CN" altLang="en-US" sz="2000" b="1" dirty="0">
              <a:solidFill>
                <a:srgbClr val="000066"/>
              </a:solidFill>
              <a:ea typeface="幼圆" panose="02010509060101010101" pitchFamily="49" charset="-122"/>
              <a:cs typeface="Times New Roman" panose="02020603050405020304" pitchFamily="18" charset="0"/>
            </a:endParaRPr>
          </a:p>
        </p:txBody>
      </p:sp>
      <p:cxnSp>
        <p:nvCxnSpPr>
          <p:cNvPr id="148" name="直接连接符 147"/>
          <p:cNvCxnSpPr/>
          <p:nvPr/>
        </p:nvCxnSpPr>
        <p:spPr bwMode="auto">
          <a:xfrm>
            <a:off x="4922241" y="2744788"/>
            <a:ext cx="613191" cy="18366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梅耶霍夫公式</a:t>
            </a:r>
          </a:p>
        </p:txBody>
      </p:sp>
    </p:spTree>
    <p:extLst>
      <p:ext uri="{BB962C8B-B14F-4D97-AF65-F5344CB8AC3E}">
        <p14:creationId xmlns:p14="http://schemas.microsoft.com/office/powerpoint/2010/main" val="248882497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barn(inVertical)">
                                      <p:cBhvr>
                                        <p:cTn id="7" dur="500"/>
                                        <p:tgtEl>
                                          <p:spTgt spid="1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1000"/>
                                        <p:tgtEl>
                                          <p:spTgt spid="12"/>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44"/>
                                        </p:tgtEl>
                                        <p:attrNameLst>
                                          <p:attrName>style.visibility</p:attrName>
                                        </p:attrNameLst>
                                      </p:cBhvr>
                                      <p:to>
                                        <p:strVal val="visible"/>
                                      </p:to>
                                    </p:set>
                                    <p:animEffect transition="in" filter="wipe(left)">
                                      <p:cBhvr>
                                        <p:cTn id="16" dur="500"/>
                                        <p:tgtEl>
                                          <p:spTgt spid="144"/>
                                        </p:tgtEl>
                                      </p:cBhvr>
                                    </p:animEffect>
                                  </p:childTnLst>
                                </p:cTn>
                              </p:par>
                            </p:childTnLst>
                          </p:cTn>
                        </p:par>
                        <p:par>
                          <p:cTn id="17" fill="hold">
                            <p:stCondLst>
                              <p:cond delay="1500"/>
                            </p:stCondLst>
                            <p:childTnLst>
                              <p:par>
                                <p:cTn id="18" presetID="16" presetClass="entr" presetSubtype="21" fill="hold" grpId="0" nodeType="after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barn(inVertical)">
                                      <p:cBhvr>
                                        <p:cTn id="20" dur="500"/>
                                        <p:tgtEl>
                                          <p:spTgt spid="74"/>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145"/>
                                        </p:tgtEl>
                                        <p:attrNameLst>
                                          <p:attrName>style.visibility</p:attrName>
                                        </p:attrNameLst>
                                      </p:cBhvr>
                                      <p:to>
                                        <p:strVal val="visible"/>
                                      </p:to>
                                    </p:set>
                                    <p:animEffect transition="in" filter="wipe(left)">
                                      <p:cBhvr>
                                        <p:cTn id="24"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12" grpId="0" animBg="1"/>
      <p:bldP spid="142" grpId="0"/>
      <p:bldP spid="14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bwMode="auto">
          <a:xfrm>
            <a:off x="1433424" y="3742976"/>
            <a:ext cx="6851594" cy="1540314"/>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54</a:t>
            </a:fld>
            <a:endParaRPr lang="zh-CN" altLang="en-US" dirty="0">
              <a:solidFill>
                <a:srgbClr val="C00000"/>
              </a:solidFill>
            </a:endParaRPr>
          </a:p>
        </p:txBody>
      </p:sp>
      <p:sp>
        <p:nvSpPr>
          <p:cNvPr id="4" name="Text Box 2"/>
          <p:cNvSpPr txBox="1">
            <a:spLocks noChangeArrowheads="1"/>
          </p:cNvSpPr>
          <p:nvPr/>
        </p:nvSpPr>
        <p:spPr bwMode="auto">
          <a:xfrm>
            <a:off x="2482890" y="5738072"/>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极限承载力的影响因素</a:t>
            </a:r>
          </a:p>
        </p:txBody>
      </p:sp>
      <p:sp>
        <p:nvSpPr>
          <p:cNvPr id="6" name="Text Box 46"/>
          <p:cNvSpPr txBox="1">
            <a:spLocks noChangeArrowheads="1"/>
          </p:cNvSpPr>
          <p:nvPr/>
        </p:nvSpPr>
        <p:spPr bwMode="auto">
          <a:xfrm>
            <a:off x="464159" y="720845"/>
            <a:ext cx="41503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极限承载力的一般公式</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graphicFrame>
        <p:nvGraphicFramePr>
          <p:cNvPr id="8" name="Object 15"/>
          <p:cNvGraphicFramePr>
            <a:graphicFrameLocks noChangeAspect="1"/>
          </p:cNvGraphicFramePr>
          <p:nvPr>
            <p:extLst>
              <p:ext uri="{D42A27DB-BD31-4B8C-83A1-F6EECF244321}">
                <p14:modId xmlns:p14="http://schemas.microsoft.com/office/powerpoint/2010/main" val="1419842099"/>
              </p:ext>
            </p:extLst>
          </p:nvPr>
        </p:nvGraphicFramePr>
        <p:xfrm>
          <a:off x="1749222" y="1323687"/>
          <a:ext cx="3373680" cy="835749"/>
        </p:xfrm>
        <a:graphic>
          <a:graphicData uri="http://schemas.openxmlformats.org/presentationml/2006/ole">
            <mc:AlternateContent xmlns:mc="http://schemas.openxmlformats.org/markup-compatibility/2006">
              <mc:Choice xmlns:v="urn:schemas-microsoft-com:vml" Requires="v">
                <p:oleObj spid="_x0000_s1825913" name="Equation" r:id="rId4" imgW="1485720" imgH="368280" progId="Equation.DSMT4">
                  <p:embed/>
                </p:oleObj>
              </mc:Choice>
              <mc:Fallback>
                <p:oleObj name="Equation" r:id="rId4" imgW="1485720" imgH="368280" progId="Equation.DSMT4">
                  <p:embed/>
                  <p:pic>
                    <p:nvPicPr>
                      <p:cNvPr id="8" name="Object 15"/>
                      <p:cNvPicPr>
                        <a:picLocks noChangeAspect="1" noChangeArrowheads="1"/>
                      </p:cNvPicPr>
                      <p:nvPr/>
                    </p:nvPicPr>
                    <p:blipFill>
                      <a:blip r:embed="rId5"/>
                      <a:srcRect/>
                      <a:stretch>
                        <a:fillRect/>
                      </a:stretch>
                    </p:blipFill>
                    <p:spPr bwMode="auto">
                      <a:xfrm>
                        <a:off x="1749222" y="1323687"/>
                        <a:ext cx="3373680" cy="835749"/>
                      </a:xfrm>
                      <a:prstGeom prst="rect">
                        <a:avLst/>
                      </a:prstGeom>
                      <a:noFill/>
                      <a:ln>
                        <a:noFill/>
                      </a:ln>
                      <a:extLst/>
                    </p:spPr>
                  </p:pic>
                </p:oleObj>
              </mc:Fallback>
            </mc:AlternateContent>
          </a:graphicData>
        </a:graphic>
      </p:graphicFrame>
      <p:sp>
        <p:nvSpPr>
          <p:cNvPr id="9" name="Text Box 7"/>
          <p:cNvSpPr txBox="1">
            <a:spLocks noChangeArrowheads="1"/>
          </p:cNvSpPr>
          <p:nvPr/>
        </p:nvSpPr>
        <p:spPr bwMode="auto">
          <a:xfrm>
            <a:off x="2934335" y="4038206"/>
            <a:ext cx="3290738" cy="386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基础埋深</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d</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和宽度</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增大</a:t>
            </a:r>
          </a:p>
        </p:txBody>
      </p:sp>
      <p:sp>
        <p:nvSpPr>
          <p:cNvPr id="11" name="Text Box 8"/>
          <p:cNvSpPr txBox="1">
            <a:spLocks noChangeArrowheads="1"/>
          </p:cNvSpPr>
          <p:nvPr/>
        </p:nvSpPr>
        <p:spPr bwMode="auto">
          <a:xfrm>
            <a:off x="7190509" y="4347141"/>
            <a:ext cx="99752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en-US" altLang="zh-CN" sz="2400" b="1" i="1" dirty="0" err="1">
                <a:solidFill>
                  <a:srgbClr val="8000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400" b="1" baseline="-25000" dirty="0" err="1">
                <a:solidFill>
                  <a:srgbClr val="800000"/>
                </a:solidFill>
                <a:latin typeface="Times New Roman" panose="02020603050405020304" pitchFamily="18" charset="0"/>
                <a:ea typeface="幼圆" panose="02010509060101010101" pitchFamily="49" charset="-122"/>
                <a:cs typeface="Times New Roman" panose="02020603050405020304" pitchFamily="18" charset="0"/>
              </a:rPr>
              <a:t>u</a:t>
            </a:r>
            <a:r>
              <a:rPr lang="zh-CN" altLang="en-US" sz="2400" b="1" dirty="0">
                <a:solidFill>
                  <a:srgbClr val="800000"/>
                </a:solidFill>
                <a:latin typeface="Times New Roman" panose="02020603050405020304" pitchFamily="18" charset="0"/>
                <a:ea typeface="幼圆" panose="02010509060101010101" pitchFamily="49" charset="-122"/>
                <a:cs typeface="Times New Roman" panose="02020603050405020304" pitchFamily="18" charset="0"/>
              </a:rPr>
              <a:t>增大</a:t>
            </a:r>
          </a:p>
        </p:txBody>
      </p:sp>
      <p:sp>
        <p:nvSpPr>
          <p:cNvPr id="12" name="Text Box 9"/>
          <p:cNvSpPr txBox="1">
            <a:spLocks noChangeArrowheads="1"/>
          </p:cNvSpPr>
          <p:nvPr/>
        </p:nvSpPr>
        <p:spPr bwMode="auto">
          <a:xfrm>
            <a:off x="2959735" y="4622406"/>
            <a:ext cx="317044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地基土体</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增大</a:t>
            </a:r>
          </a:p>
        </p:txBody>
      </p:sp>
      <p:sp>
        <p:nvSpPr>
          <p:cNvPr id="13" name="AutoShape 10"/>
          <p:cNvSpPr>
            <a:spLocks/>
          </p:cNvSpPr>
          <p:nvPr/>
        </p:nvSpPr>
        <p:spPr bwMode="auto">
          <a:xfrm>
            <a:off x="6297877" y="4134776"/>
            <a:ext cx="152400" cy="914400"/>
          </a:xfrm>
          <a:prstGeom prst="rightBrace">
            <a:avLst>
              <a:gd name="adj1" fmla="val 50000"/>
              <a:gd name="adj2" fmla="val 50000"/>
            </a:avLst>
          </a:pr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a:p>
        </p:txBody>
      </p:sp>
      <p:sp>
        <p:nvSpPr>
          <p:cNvPr id="14" name="AutoShape 13"/>
          <p:cNvSpPr>
            <a:spLocks noChangeArrowheads="1"/>
          </p:cNvSpPr>
          <p:nvPr/>
        </p:nvSpPr>
        <p:spPr bwMode="auto">
          <a:xfrm>
            <a:off x="1515053" y="4697470"/>
            <a:ext cx="880566" cy="532912"/>
          </a:xfrm>
          <a:prstGeom prst="wedgeRoundRectCallout">
            <a:avLst>
              <a:gd name="adj1" fmla="val 94131"/>
              <a:gd name="adj2" fmla="val -31195"/>
              <a:gd name="adj3" fmla="val 16667"/>
            </a:avLst>
          </a:prstGeom>
          <a:solidFill>
            <a:schemeClr val="accent1"/>
          </a:solidFill>
          <a:ln w="19050" algn="ctr">
            <a:solidFill>
              <a:schemeClr val="folHlink"/>
            </a:solidFill>
            <a:miter lim="800000"/>
            <a:headEnd/>
            <a:tailEnd/>
          </a:ln>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zh-CN" altLang="en-US" sz="2200" b="1"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内因</a:t>
            </a:r>
            <a:endParaRPr lang="zh-CN" altLang="en-US" sz="2200" b="1" baseline="-250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6" name="AutoShape 5"/>
          <p:cNvSpPr>
            <a:spLocks noChangeArrowheads="1"/>
          </p:cNvSpPr>
          <p:nvPr/>
        </p:nvSpPr>
        <p:spPr bwMode="auto">
          <a:xfrm>
            <a:off x="6699051" y="4423220"/>
            <a:ext cx="356430" cy="329679"/>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8" name="AutoShape 13"/>
          <p:cNvSpPr>
            <a:spLocks noChangeArrowheads="1"/>
          </p:cNvSpPr>
          <p:nvPr/>
        </p:nvSpPr>
        <p:spPr bwMode="auto">
          <a:xfrm>
            <a:off x="1515053" y="3803707"/>
            <a:ext cx="880566" cy="532912"/>
          </a:xfrm>
          <a:prstGeom prst="wedgeRoundRectCallout">
            <a:avLst>
              <a:gd name="adj1" fmla="val 83404"/>
              <a:gd name="adj2" fmla="val 26525"/>
              <a:gd name="adj3" fmla="val 16667"/>
            </a:avLst>
          </a:prstGeom>
          <a:solidFill>
            <a:schemeClr val="accent1"/>
          </a:solidFill>
          <a:ln w="19050" algn="ctr">
            <a:solidFill>
              <a:schemeClr val="folHlink"/>
            </a:solidFill>
            <a:miter lim="800000"/>
            <a:headEnd/>
            <a:tailEnd/>
          </a:ln>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zh-CN" altLang="en-US" sz="2200" b="1"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外因</a:t>
            </a:r>
            <a:endParaRPr lang="zh-CN" altLang="en-US" sz="2200" b="1" baseline="-250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9" name="矩形 18"/>
          <p:cNvSpPr/>
          <p:nvPr/>
        </p:nvSpPr>
        <p:spPr>
          <a:xfrm>
            <a:off x="4960386" y="2272799"/>
            <a:ext cx="3800015" cy="430887"/>
          </a:xfrm>
          <a:prstGeom prst="rect">
            <a:avLst/>
          </a:prstGeom>
        </p:spPr>
        <p:txBody>
          <a:bodyPr wrap="square">
            <a:spAutoFit/>
          </a:bodyPr>
          <a:lstStyle/>
          <a:p>
            <a:pPr>
              <a:lnSpc>
                <a:spcPct val="110000"/>
              </a:lnSpc>
              <a:spcBef>
                <a:spcPts val="100"/>
              </a:spcBef>
              <a:spcAft>
                <a:spcPts val="100"/>
              </a:spcAft>
              <a:buClr>
                <a:srgbClr val="C00000"/>
              </a:buClr>
            </a:pPr>
            <a:r>
              <a:rPr lang="en-US" altLang="zh-CN" sz="2000" b="1" i="1" dirty="0" err="1">
                <a:solidFill>
                  <a:srgbClr val="C00000"/>
                </a:solidFill>
                <a:ea typeface="幼圆" panose="02010509060101010101" pitchFamily="49" charset="-122"/>
                <a:cs typeface="Times New Roman" panose="02020603050405020304" pitchFamily="18" charset="0"/>
              </a:rPr>
              <a:t>p</a:t>
            </a:r>
            <a:r>
              <a:rPr lang="en-US" altLang="zh-CN" sz="2000" b="1" baseline="-25000" dirty="0" err="1">
                <a:solidFill>
                  <a:srgbClr val="C00000"/>
                </a:solidFill>
                <a:ea typeface="幼圆" panose="02010509060101010101" pitchFamily="49" charset="-122"/>
                <a:cs typeface="Times New Roman" panose="02020603050405020304" pitchFamily="18" charset="0"/>
              </a:rPr>
              <a:t>u</a:t>
            </a:r>
            <a:r>
              <a:rPr lang="en-US" altLang="zh-CN" sz="2000" b="1" baseline="-25000" dirty="0" err="1">
                <a:solidFill>
                  <a:srgbClr val="C00000"/>
                </a:solidFill>
                <a:ea typeface="幼圆" panose="02010509060101010101" pitchFamily="49" charset="-122"/>
                <a:cs typeface="Times New Roman" panose="02020603050405020304" pitchFamily="18" charset="0"/>
                <a:sym typeface="Symbol" panose="05050102010706020507" pitchFamily="18" charset="2"/>
              </a:rPr>
              <a:t>c</a:t>
            </a:r>
            <a:r>
              <a:rPr lang="en-US" altLang="zh-CN" sz="2000" b="1" dirty="0">
                <a:solidFill>
                  <a:srgbClr val="000066"/>
                </a:solidFill>
                <a:ea typeface="幼圆" panose="02010509060101010101" pitchFamily="49" charset="-122"/>
                <a:cs typeface="Times New Roman" panose="02020603050405020304" pitchFamily="18" charset="0"/>
              </a:rPr>
              <a:t>-</a:t>
            </a:r>
            <a:r>
              <a:rPr lang="zh-CN" altLang="en-US" sz="2000" b="1" dirty="0">
                <a:solidFill>
                  <a:srgbClr val="000066"/>
                </a:solidFill>
                <a:ea typeface="幼圆" panose="02010509060101010101" pitchFamily="49" charset="-122"/>
                <a:cs typeface="Times New Roman" panose="02020603050405020304" pitchFamily="18" charset="0"/>
              </a:rPr>
              <a:t>滑裂面上黏聚力</a:t>
            </a:r>
            <a:r>
              <a:rPr lang="en-US" altLang="zh-CN" sz="2000" b="1" i="1" dirty="0">
                <a:solidFill>
                  <a:srgbClr val="000066"/>
                </a:solidFill>
                <a:ea typeface="幼圆" panose="02010509060101010101" pitchFamily="49" charset="-122"/>
                <a:cs typeface="Times New Roman" panose="02020603050405020304" pitchFamily="18" charset="0"/>
              </a:rPr>
              <a:t>c</a:t>
            </a:r>
            <a:r>
              <a:rPr lang="zh-CN" altLang="en-US" sz="2000" b="1" dirty="0">
                <a:solidFill>
                  <a:srgbClr val="000066"/>
                </a:solidFill>
                <a:ea typeface="幼圆" panose="02010509060101010101" pitchFamily="49" charset="-122"/>
                <a:cs typeface="Times New Roman" panose="02020603050405020304" pitchFamily="18" charset="0"/>
              </a:rPr>
              <a:t>产生的抗力</a:t>
            </a:r>
            <a:endParaRPr lang="en-US" altLang="zh-CN" sz="2000" b="1" dirty="0">
              <a:solidFill>
                <a:srgbClr val="C00000"/>
              </a:solidFill>
              <a:ea typeface="幼圆" panose="02010509060101010101" pitchFamily="49" charset="-122"/>
              <a:cs typeface="Times New Roman" panose="02020603050405020304" pitchFamily="18" charset="0"/>
            </a:endParaRPr>
          </a:p>
        </p:txBody>
      </p:sp>
      <p:sp>
        <p:nvSpPr>
          <p:cNvPr id="20" name="矩形 19"/>
          <p:cNvSpPr/>
          <p:nvPr/>
        </p:nvSpPr>
        <p:spPr>
          <a:xfrm>
            <a:off x="2784497" y="3114853"/>
            <a:ext cx="3401557" cy="430887"/>
          </a:xfrm>
          <a:prstGeom prst="rect">
            <a:avLst/>
          </a:prstGeom>
        </p:spPr>
        <p:txBody>
          <a:bodyPr wrap="square">
            <a:spAutoFit/>
          </a:bodyPr>
          <a:lstStyle/>
          <a:p>
            <a:pPr>
              <a:lnSpc>
                <a:spcPct val="110000"/>
              </a:lnSpc>
              <a:spcBef>
                <a:spcPts val="100"/>
              </a:spcBef>
              <a:spcAft>
                <a:spcPts val="100"/>
              </a:spcAft>
              <a:buClr>
                <a:srgbClr val="C00000"/>
              </a:buClr>
            </a:pPr>
            <a:r>
              <a:rPr lang="en-US" altLang="zh-CN" sz="2000" b="1" i="1" dirty="0" err="1">
                <a:solidFill>
                  <a:srgbClr val="C00000"/>
                </a:solidFill>
                <a:ea typeface="幼圆" panose="02010509060101010101" pitchFamily="49" charset="-122"/>
                <a:cs typeface="Times New Roman" panose="02020603050405020304" pitchFamily="18" charset="0"/>
              </a:rPr>
              <a:t>p</a:t>
            </a:r>
            <a:r>
              <a:rPr lang="en-US" altLang="zh-CN" sz="2000" b="1" baseline="-25000" dirty="0" err="1">
                <a:solidFill>
                  <a:srgbClr val="C00000"/>
                </a:solidFill>
                <a:ea typeface="幼圆" panose="02010509060101010101" pitchFamily="49" charset="-122"/>
                <a:cs typeface="Times New Roman" panose="02020603050405020304" pitchFamily="18" charset="0"/>
              </a:rPr>
              <a:t>u</a:t>
            </a:r>
            <a:r>
              <a:rPr lang="en-US" altLang="zh-CN" sz="2000" b="1" baseline="-25000" dirty="0">
                <a:solidFill>
                  <a:srgbClr val="C00000"/>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dirty="0">
                <a:solidFill>
                  <a:srgbClr val="000066"/>
                </a:solidFill>
                <a:ea typeface="幼圆" panose="02010509060101010101" pitchFamily="49" charset="-122"/>
                <a:cs typeface="Times New Roman" panose="02020603050405020304" pitchFamily="18" charset="0"/>
              </a:rPr>
              <a:t>-</a:t>
            </a:r>
            <a:r>
              <a:rPr lang="zh-CN" altLang="en-US" sz="2000" b="1" dirty="0">
                <a:solidFill>
                  <a:srgbClr val="000066"/>
                </a:solidFill>
                <a:ea typeface="幼圆" panose="02010509060101010101" pitchFamily="49" charset="-122"/>
                <a:cs typeface="Times New Roman" panose="02020603050405020304" pitchFamily="18" charset="0"/>
              </a:rPr>
              <a:t>滑动土体自重产生的抗力</a:t>
            </a:r>
            <a:endParaRPr lang="en-US" altLang="zh-CN" sz="2000" b="1" dirty="0">
              <a:solidFill>
                <a:srgbClr val="C00000"/>
              </a:solidFill>
              <a:ea typeface="幼圆" panose="02010509060101010101" pitchFamily="49" charset="-122"/>
              <a:cs typeface="Times New Roman" panose="02020603050405020304" pitchFamily="18" charset="0"/>
            </a:endParaRPr>
          </a:p>
        </p:txBody>
      </p:sp>
      <p:sp>
        <p:nvSpPr>
          <p:cNvPr id="25" name="矩形 24"/>
          <p:cNvSpPr/>
          <p:nvPr/>
        </p:nvSpPr>
        <p:spPr>
          <a:xfrm>
            <a:off x="4129656" y="2687705"/>
            <a:ext cx="3171147" cy="403252"/>
          </a:xfrm>
          <a:prstGeom prst="rect">
            <a:avLst/>
          </a:prstGeom>
        </p:spPr>
        <p:txBody>
          <a:bodyPr wrap="square">
            <a:spAutoFit/>
          </a:bodyPr>
          <a:lstStyle/>
          <a:p>
            <a:pPr>
              <a:lnSpc>
                <a:spcPct val="110000"/>
              </a:lnSpc>
              <a:spcBef>
                <a:spcPts val="100"/>
              </a:spcBef>
              <a:spcAft>
                <a:spcPts val="100"/>
              </a:spcAft>
              <a:buClr>
                <a:srgbClr val="C00000"/>
              </a:buClr>
            </a:pPr>
            <a:r>
              <a:rPr lang="en-US" altLang="zh-CN" sz="2000" b="1" i="1" dirty="0" err="1">
                <a:solidFill>
                  <a:srgbClr val="C00000"/>
                </a:solidFill>
                <a:ea typeface="幼圆" panose="02010509060101010101" pitchFamily="49" charset="-122"/>
                <a:cs typeface="Times New Roman" panose="02020603050405020304" pitchFamily="18" charset="0"/>
              </a:rPr>
              <a:t>p</a:t>
            </a:r>
            <a:r>
              <a:rPr lang="en-US" altLang="zh-CN" sz="2000" b="1" baseline="-25000" dirty="0" err="1">
                <a:solidFill>
                  <a:srgbClr val="C00000"/>
                </a:solidFill>
                <a:ea typeface="幼圆" panose="02010509060101010101" pitchFamily="49" charset="-122"/>
                <a:cs typeface="Times New Roman" panose="02020603050405020304" pitchFamily="18" charset="0"/>
              </a:rPr>
              <a:t>u</a:t>
            </a:r>
            <a:r>
              <a:rPr lang="en-US" altLang="zh-CN" sz="2000" b="1" baseline="-25000" dirty="0" err="1">
                <a:solidFill>
                  <a:srgbClr val="C00000"/>
                </a:solidFill>
                <a:ea typeface="幼圆" panose="02010509060101010101" pitchFamily="49" charset="-122"/>
                <a:cs typeface="Times New Roman" panose="02020603050405020304" pitchFamily="18" charset="0"/>
                <a:sym typeface="Symbol" panose="05050102010706020507" pitchFamily="18" charset="2"/>
              </a:rPr>
              <a:t>q</a:t>
            </a:r>
            <a:r>
              <a:rPr lang="en-US" altLang="zh-CN" sz="2000" b="1" dirty="0">
                <a:solidFill>
                  <a:srgbClr val="000066"/>
                </a:solidFill>
                <a:ea typeface="幼圆" panose="02010509060101010101" pitchFamily="49" charset="-122"/>
                <a:cs typeface="Times New Roman" panose="02020603050405020304" pitchFamily="18" charset="0"/>
              </a:rPr>
              <a:t>-</a:t>
            </a:r>
            <a:r>
              <a:rPr lang="zh-CN" altLang="en-US" sz="2000" b="1" dirty="0">
                <a:solidFill>
                  <a:srgbClr val="000066"/>
                </a:solidFill>
                <a:ea typeface="幼圆" panose="02010509060101010101" pitchFamily="49" charset="-122"/>
                <a:cs typeface="Times New Roman" panose="02020603050405020304" pitchFamily="18" charset="0"/>
              </a:rPr>
              <a:t>侧荷载 </a:t>
            </a:r>
            <a:r>
              <a:rPr kumimoji="1" lang="zh-CN" altLang="en-US" sz="2000" b="1" i="1" dirty="0">
                <a:solidFill>
                  <a:srgbClr val="000066"/>
                </a:solidFill>
                <a:sym typeface="Symbol" panose="05050102010706020507" pitchFamily="18" charset="2"/>
              </a:rPr>
              <a:t></a:t>
            </a:r>
            <a:r>
              <a:rPr kumimoji="1" lang="en-US" altLang="zh-CN" sz="2000" b="1" baseline="-25000" dirty="0">
                <a:solidFill>
                  <a:srgbClr val="000066"/>
                </a:solidFill>
                <a:sym typeface="Symbol" panose="05050102010706020507" pitchFamily="18" charset="2"/>
              </a:rPr>
              <a:t>0</a:t>
            </a:r>
            <a:r>
              <a:rPr kumimoji="1" lang="en-US" altLang="zh-CN" sz="2000" b="1" i="1" dirty="0">
                <a:solidFill>
                  <a:srgbClr val="000066"/>
                </a:solidFill>
                <a:sym typeface="Symbol" panose="05050102010706020507" pitchFamily="18" charset="2"/>
              </a:rPr>
              <a:t>d</a:t>
            </a:r>
            <a:r>
              <a:rPr lang="en-US" altLang="zh-CN" sz="2000" b="1" dirty="0">
                <a:solidFill>
                  <a:srgbClr val="000066"/>
                </a:solidFill>
                <a:ea typeface="幼圆" panose="02010509060101010101" pitchFamily="49" charset="-122"/>
                <a:cs typeface="Times New Roman" panose="02020603050405020304" pitchFamily="18" charset="0"/>
              </a:rPr>
              <a:t> </a:t>
            </a:r>
            <a:r>
              <a:rPr lang="zh-CN" altLang="en-US" sz="2000" b="1" dirty="0">
                <a:solidFill>
                  <a:srgbClr val="000066"/>
                </a:solidFill>
                <a:ea typeface="幼圆" panose="02010509060101010101" pitchFamily="49" charset="-122"/>
                <a:cs typeface="Times New Roman" panose="02020603050405020304" pitchFamily="18" charset="0"/>
              </a:rPr>
              <a:t>产生的抗力</a:t>
            </a:r>
            <a:endParaRPr lang="en-US" altLang="zh-CN" sz="2000" b="1" dirty="0">
              <a:solidFill>
                <a:srgbClr val="C00000"/>
              </a:solidFill>
              <a:ea typeface="幼圆" panose="02010509060101010101" pitchFamily="49" charset="-122"/>
              <a:cs typeface="Times New Roman" panose="02020603050405020304" pitchFamily="18" charset="0"/>
            </a:endParaRPr>
          </a:p>
        </p:txBody>
      </p:sp>
      <p:sp>
        <p:nvSpPr>
          <p:cNvPr id="26"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一般公式</a:t>
            </a:r>
          </a:p>
        </p:txBody>
      </p:sp>
      <p:grpSp>
        <p:nvGrpSpPr>
          <p:cNvPr id="29" name="组合 28"/>
          <p:cNvGrpSpPr/>
          <p:nvPr/>
        </p:nvGrpSpPr>
        <p:grpSpPr>
          <a:xfrm>
            <a:off x="2450372" y="2165334"/>
            <a:ext cx="950976" cy="1201557"/>
            <a:chOff x="2176272" y="3505571"/>
            <a:chExt cx="950976" cy="676656"/>
          </a:xfrm>
        </p:grpSpPr>
        <p:sp>
          <p:nvSpPr>
            <p:cNvPr id="30" name="任意多边形 29"/>
            <p:cNvSpPr/>
            <p:nvPr/>
          </p:nvSpPr>
          <p:spPr bwMode="auto">
            <a:xfrm>
              <a:off x="2273427" y="3505571"/>
              <a:ext cx="246888" cy="676656"/>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31" name="直接连接符 30"/>
            <p:cNvCxnSpPr/>
            <p:nvPr/>
          </p:nvCxnSpPr>
          <p:spPr bwMode="auto">
            <a:xfrm>
              <a:off x="2176272" y="3511296"/>
              <a:ext cx="950976" cy="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2" name="组合 31"/>
          <p:cNvGrpSpPr/>
          <p:nvPr/>
        </p:nvGrpSpPr>
        <p:grpSpPr>
          <a:xfrm>
            <a:off x="3732101" y="2159474"/>
            <a:ext cx="555881" cy="758143"/>
            <a:chOff x="2176272" y="3496437"/>
            <a:chExt cx="555881" cy="676656"/>
          </a:xfrm>
        </p:grpSpPr>
        <p:sp>
          <p:nvSpPr>
            <p:cNvPr id="33" name="任意多边形 32"/>
            <p:cNvSpPr/>
            <p:nvPr/>
          </p:nvSpPr>
          <p:spPr bwMode="auto">
            <a:xfrm>
              <a:off x="2273427" y="3496437"/>
              <a:ext cx="246888" cy="676656"/>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34" name="直接连接符 33"/>
            <p:cNvCxnSpPr/>
            <p:nvPr/>
          </p:nvCxnSpPr>
          <p:spPr bwMode="auto">
            <a:xfrm>
              <a:off x="2176272" y="3511296"/>
              <a:ext cx="555881" cy="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5" name="组合 34"/>
          <p:cNvGrpSpPr/>
          <p:nvPr/>
        </p:nvGrpSpPr>
        <p:grpSpPr>
          <a:xfrm>
            <a:off x="4602152" y="2165745"/>
            <a:ext cx="520750" cy="348794"/>
            <a:chOff x="2176272" y="3496437"/>
            <a:chExt cx="520750" cy="676656"/>
          </a:xfrm>
        </p:grpSpPr>
        <p:sp>
          <p:nvSpPr>
            <p:cNvPr id="36" name="任意多边形 35"/>
            <p:cNvSpPr/>
            <p:nvPr/>
          </p:nvSpPr>
          <p:spPr bwMode="auto">
            <a:xfrm>
              <a:off x="2273427" y="3496437"/>
              <a:ext cx="246888" cy="676656"/>
            </a:xfrm>
            <a:custGeom>
              <a:avLst/>
              <a:gdLst>
                <a:gd name="connsiteX0" fmla="*/ 0 w 246888"/>
                <a:gd name="connsiteY0" fmla="*/ 0 h 676656"/>
                <a:gd name="connsiteX1" fmla="*/ 0 w 246888"/>
                <a:gd name="connsiteY1" fmla="*/ 676656 h 676656"/>
                <a:gd name="connsiteX2" fmla="*/ 246888 w 246888"/>
                <a:gd name="connsiteY2" fmla="*/ 676656 h 676656"/>
              </a:gdLst>
              <a:ahLst/>
              <a:cxnLst>
                <a:cxn ang="0">
                  <a:pos x="connsiteX0" y="connsiteY0"/>
                </a:cxn>
                <a:cxn ang="0">
                  <a:pos x="connsiteX1" y="connsiteY1"/>
                </a:cxn>
                <a:cxn ang="0">
                  <a:pos x="connsiteX2" y="connsiteY2"/>
                </a:cxn>
              </a:cxnLst>
              <a:rect l="l" t="t" r="r" b="b"/>
              <a:pathLst>
                <a:path w="246888" h="676656">
                  <a:moveTo>
                    <a:pt x="0" y="0"/>
                  </a:moveTo>
                  <a:lnTo>
                    <a:pt x="0" y="676656"/>
                  </a:lnTo>
                  <a:lnTo>
                    <a:pt x="246888" y="676656"/>
                  </a:lnTo>
                </a:path>
              </a:pathLst>
            </a:cu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37" name="直接连接符 36"/>
            <p:cNvCxnSpPr/>
            <p:nvPr/>
          </p:nvCxnSpPr>
          <p:spPr bwMode="auto">
            <a:xfrm>
              <a:off x="2176272" y="3511295"/>
              <a:ext cx="520750" cy="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03447644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right)">
                                      <p:cBhvr>
                                        <p:cTn id="12" dur="500"/>
                                        <p:tgtEl>
                                          <p:spTgt spid="2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right)">
                                      <p:cBhvr>
                                        <p:cTn id="21" dur="500"/>
                                        <p:tgtEl>
                                          <p:spTgt spid="3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left)">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right)">
                                      <p:cBhvr>
                                        <p:cTn id="30" dur="500"/>
                                        <p:tgtEl>
                                          <p:spTgt spid="35"/>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barn(inVertical)">
                                      <p:cBhvr>
                                        <p:cTn id="39" dur="500"/>
                                        <p:tgtEl>
                                          <p:spTgt spid="23"/>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dissolve">
                                      <p:cBhvr>
                                        <p:cTn id="43" dur="500"/>
                                        <p:tgtEl>
                                          <p:spTgt spid="9"/>
                                        </p:tgtEl>
                                      </p:cBhvr>
                                    </p:animEffect>
                                  </p:childTnLst>
                                </p:cTn>
                              </p:par>
                            </p:childTnLst>
                          </p:cTn>
                        </p:par>
                        <p:par>
                          <p:cTn id="44" fill="hold">
                            <p:stCondLst>
                              <p:cond delay="1000"/>
                            </p:stCondLst>
                            <p:childTnLst>
                              <p:par>
                                <p:cTn id="45" presetID="9" presetClass="entr" presetSubtype="0"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dissolve">
                                      <p:cBhvr>
                                        <p:cTn id="47" dur="500"/>
                                        <p:tgtEl>
                                          <p:spTgt spid="12"/>
                                        </p:tgtEl>
                                      </p:cBhvr>
                                    </p:animEffect>
                                  </p:childTnLst>
                                </p:cTn>
                              </p:par>
                            </p:childTnLst>
                          </p:cTn>
                        </p:par>
                        <p:par>
                          <p:cTn id="48" fill="hold">
                            <p:stCondLst>
                              <p:cond delay="1500"/>
                            </p:stCondLst>
                            <p:childTnLst>
                              <p:par>
                                <p:cTn id="49" presetID="12" presetClass="entr" presetSubtype="8"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slide(fromLeft)">
                                      <p:cBhvr>
                                        <p:cTn id="51" dur="500"/>
                                        <p:tgtEl>
                                          <p:spTgt spid="13"/>
                                        </p:tgtEl>
                                      </p:cBhvr>
                                    </p:animEffect>
                                  </p:childTnLst>
                                </p:cTn>
                              </p:par>
                            </p:childTnLst>
                          </p:cTn>
                        </p:par>
                        <p:par>
                          <p:cTn id="52" fill="hold">
                            <p:stCondLst>
                              <p:cond delay="2000"/>
                            </p:stCondLst>
                            <p:childTnLst>
                              <p:par>
                                <p:cTn id="53" presetID="22" presetClass="entr" presetSubtype="8" fill="hold" grpId="0" nodeType="after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left)">
                                      <p:cBhvr>
                                        <p:cTn id="55" dur="1000"/>
                                        <p:tgtEl>
                                          <p:spTgt spid="16"/>
                                        </p:tgtEl>
                                      </p:cBhvr>
                                    </p:animEffect>
                                  </p:childTnLst>
                                </p:cTn>
                              </p:par>
                            </p:childTnLst>
                          </p:cTn>
                        </p:par>
                        <p:par>
                          <p:cTn id="56" fill="hold">
                            <p:stCondLst>
                              <p:cond delay="3000"/>
                            </p:stCondLst>
                            <p:childTnLst>
                              <p:par>
                                <p:cTn id="57" presetID="9" presetClass="entr" presetSubtype="0" fill="hold" grpId="0" nodeType="after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dissolve">
                                      <p:cBhvr>
                                        <p:cTn id="59" dur="5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dissolve">
                                      <p:cBhvr>
                                        <p:cTn id="64" dur="500"/>
                                        <p:tgtEl>
                                          <p:spTgt spid="14"/>
                                        </p:tgtEl>
                                      </p:cBhvr>
                                    </p:animEffect>
                                  </p:childTnLst>
                                </p:cTn>
                              </p:par>
                            </p:childTnLst>
                          </p:cTn>
                        </p:par>
                        <p:par>
                          <p:cTn id="65" fill="hold">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dissolve">
                                      <p:cBhvr>
                                        <p:cTn id="6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9" grpId="0" autoUpdateAnimBg="0"/>
      <p:bldP spid="11" grpId="0" autoUpdateAnimBg="0"/>
      <p:bldP spid="12" grpId="0" autoUpdateAnimBg="0"/>
      <p:bldP spid="13" grpId="0" animBg="1"/>
      <p:bldP spid="14" grpId="0" animBg="1" autoUpdateAnimBg="0"/>
      <p:bldP spid="16" grpId="0" animBg="1"/>
      <p:bldP spid="18" grpId="0" animBg="1" autoUpdateAnimBg="0"/>
      <p:bldP spid="19" grpId="0"/>
      <p:bldP spid="20" grpId="0"/>
      <p:bldP spid="2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bwMode="auto">
          <a:xfrm>
            <a:off x="957852" y="1412875"/>
            <a:ext cx="7351261" cy="2014137"/>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55</a:t>
            </a:fld>
            <a:endParaRPr lang="zh-CN" altLang="en-US" dirty="0">
              <a:solidFill>
                <a:srgbClr val="C00000"/>
              </a:solidFill>
            </a:endParaRPr>
          </a:p>
        </p:txBody>
      </p:sp>
      <p:sp>
        <p:nvSpPr>
          <p:cNvPr id="4" name="Text Box 2"/>
          <p:cNvSpPr txBox="1">
            <a:spLocks noChangeArrowheads="1"/>
          </p:cNvSpPr>
          <p:nvPr/>
        </p:nvSpPr>
        <p:spPr bwMode="auto">
          <a:xfrm>
            <a:off x="2482890" y="5738072"/>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极限承载力的影响因素</a:t>
            </a:r>
          </a:p>
        </p:txBody>
      </p:sp>
      <p:graphicFrame>
        <p:nvGraphicFramePr>
          <p:cNvPr id="8" name="Object 15"/>
          <p:cNvGraphicFramePr>
            <a:graphicFrameLocks noChangeAspect="1"/>
          </p:cNvGraphicFramePr>
          <p:nvPr>
            <p:extLst>
              <p:ext uri="{D42A27DB-BD31-4B8C-83A1-F6EECF244321}">
                <p14:modId xmlns:p14="http://schemas.microsoft.com/office/powerpoint/2010/main" val="3982602736"/>
              </p:ext>
            </p:extLst>
          </p:nvPr>
        </p:nvGraphicFramePr>
        <p:xfrm>
          <a:off x="5966652" y="734794"/>
          <a:ext cx="1166813" cy="430212"/>
        </p:xfrm>
        <a:graphic>
          <a:graphicData uri="http://schemas.openxmlformats.org/presentationml/2006/ole">
            <mc:AlternateContent xmlns:mc="http://schemas.openxmlformats.org/markup-compatibility/2006">
              <mc:Choice xmlns:v="urn:schemas-microsoft-com:vml" Requires="v">
                <p:oleObj spid="_x0000_s1826936" name="Equation" r:id="rId4" imgW="583920" imgH="215640" progId="Equation.DSMT4">
                  <p:embed/>
                </p:oleObj>
              </mc:Choice>
              <mc:Fallback>
                <p:oleObj name="Equation" r:id="rId4" imgW="583920" imgH="215640" progId="Equation.DSMT4">
                  <p:embed/>
                  <p:pic>
                    <p:nvPicPr>
                      <p:cNvPr id="8" name="Object 15"/>
                      <p:cNvPicPr>
                        <a:picLocks noChangeAspect="1" noChangeArrowheads="1"/>
                      </p:cNvPicPr>
                      <p:nvPr/>
                    </p:nvPicPr>
                    <p:blipFill>
                      <a:blip r:embed="rId5"/>
                      <a:srcRect/>
                      <a:stretch>
                        <a:fillRect/>
                      </a:stretch>
                    </p:blipFill>
                    <p:spPr bwMode="auto">
                      <a:xfrm>
                        <a:off x="5966652" y="734794"/>
                        <a:ext cx="1166813" cy="430212"/>
                      </a:xfrm>
                      <a:prstGeom prst="rect">
                        <a:avLst/>
                      </a:prstGeom>
                      <a:solidFill>
                        <a:srgbClr val="FFC000"/>
                      </a:solidFill>
                      <a:ln>
                        <a:noFill/>
                      </a:ln>
                      <a:extLst/>
                    </p:spPr>
                  </p:pic>
                </p:oleObj>
              </mc:Fallback>
            </mc:AlternateContent>
          </a:graphicData>
        </a:graphic>
      </p:graphicFrame>
      <p:sp>
        <p:nvSpPr>
          <p:cNvPr id="19" name="Text Box 3"/>
          <p:cNvSpPr txBox="1">
            <a:spLocks noChangeArrowheads="1"/>
          </p:cNvSpPr>
          <p:nvPr/>
        </p:nvSpPr>
        <p:spPr bwMode="auto">
          <a:xfrm>
            <a:off x="1052660" y="1521140"/>
            <a:ext cx="7043590" cy="1830566"/>
          </a:xfrm>
          <a:prstGeom prst="rect">
            <a:avLst/>
          </a:prstGeom>
          <a:noFill/>
          <a:ln w="9525" algn="ctr">
            <a:noFill/>
            <a:miter lim="800000"/>
            <a:headEnd/>
            <a:tailEnd/>
          </a:ln>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61950" indent="-361950" eaLnBrk="1" hangingPunct="1">
              <a:buClr>
                <a:srgbClr val="C00000"/>
              </a:buClr>
              <a:buSzPct val="100000"/>
              <a:buFont typeface="+mj-lt"/>
              <a:buAutoNum type="arabicPeriod"/>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当地基土内摩擦角</a:t>
            </a:r>
            <a:r>
              <a:rPr lang="zh-CN" altLang="en-US"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增加时，滑动面加深加宽，滑动面的曲线长度加大，</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增加。这说明承载力系数</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，随内摩擦角</a:t>
            </a:r>
            <a:r>
              <a:rPr lang="zh-CN" altLang="en-US"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的增加而增加</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61950" indent="-361950">
              <a:buClr>
                <a:srgbClr val="C00000"/>
              </a:buClr>
              <a:buSzPct val="100000"/>
              <a:buFont typeface="+mj-lt"/>
              <a:buAutoNum type="arabicPeriod"/>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对平面应变地基基础，当滑动面形状不变时，滑裂面长度和基础宽度</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成正比，</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与基底宽度</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无关</a:t>
            </a:r>
          </a:p>
        </p:txBody>
      </p:sp>
      <p:sp>
        <p:nvSpPr>
          <p:cNvPr id="48" name="Text Box 3"/>
          <p:cNvSpPr txBox="1">
            <a:spLocks noChangeArrowheads="1"/>
          </p:cNvSpPr>
          <p:nvPr/>
        </p:nvSpPr>
        <p:spPr bwMode="auto">
          <a:xfrm>
            <a:off x="894589" y="3595365"/>
            <a:ext cx="456909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65125" indent="-365125">
              <a:spcBef>
                <a:spcPct val="0"/>
              </a:spcBef>
              <a:spcAft>
                <a:spcPct val="0"/>
              </a:spcAft>
              <a:defRPr kumimoji="1" sz="2400">
                <a:solidFill>
                  <a:schemeClr val="tx1"/>
                </a:solidFill>
                <a:latin typeface="Times New Roman" pitchFamily="18" charset="0"/>
                <a:ea typeface="宋体" charset="-122"/>
              </a:defRPr>
            </a:lvl1pPr>
            <a:lvl2pPr marL="544513">
              <a:spcBef>
                <a:spcPct val="0"/>
              </a:spcBef>
              <a:spcAft>
                <a:spcPct val="0"/>
              </a:spcAft>
              <a:defRPr kumimoji="1" sz="2400">
                <a:solidFill>
                  <a:schemeClr val="tx1"/>
                </a:solidFill>
                <a:latin typeface="Times New Roman" pitchFamily="18" charset="0"/>
                <a:ea typeface="宋体" charset="-122"/>
              </a:defRPr>
            </a:lvl2pPr>
            <a:lvl3pPr>
              <a:spcBef>
                <a:spcPct val="0"/>
              </a:spcBef>
              <a:spcAft>
                <a:spcPct val="0"/>
              </a:spcAft>
              <a:defRPr kumimoji="1" sz="2400">
                <a:solidFill>
                  <a:schemeClr val="tx1"/>
                </a:solidFill>
                <a:latin typeface="Times New Roman" pitchFamily="18" charset="0"/>
                <a:ea typeface="宋体" charset="-122"/>
              </a:defRPr>
            </a:lvl3pPr>
            <a:lvl4pPr>
              <a:spcBef>
                <a:spcPct val="0"/>
              </a:spcBef>
              <a:spcAft>
                <a:spcPct val="0"/>
              </a:spcAft>
              <a:defRPr kumimoji="1" sz="2400">
                <a:solidFill>
                  <a:schemeClr val="tx1"/>
                </a:solidFill>
                <a:latin typeface="Times New Roman" pitchFamily="18" charset="0"/>
                <a:ea typeface="宋体" charset="-122"/>
              </a:defRPr>
            </a:lvl4pPr>
            <a:lvl5pPr>
              <a:spcBef>
                <a:spcPct val="0"/>
              </a:spcBef>
              <a:spcAft>
                <a:spcPct val="0"/>
              </a:spcAft>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lvl="0">
              <a:lnSpc>
                <a:spcPct val="120000"/>
              </a:lnSpc>
              <a:buClr>
                <a:srgbClr val="A50021"/>
              </a:buClr>
              <a:buSzPct val="130000"/>
              <a:buFont typeface="Wingdings" panose="05000000000000000000" pitchFamily="2" charset="2"/>
              <a:buChar char="F"/>
              <a:defRPr/>
            </a:pPr>
            <a:r>
              <a:rPr lang="en-US" altLang="zh-CN" b="1" dirty="0">
                <a:solidFill>
                  <a:srgbClr val="000066"/>
                </a:solidFill>
                <a:latin typeface="幼圆" panose="02010509060101010101" pitchFamily="49" charset="-122"/>
                <a:ea typeface="幼圆" panose="02010509060101010101" pitchFamily="49" charset="-122"/>
                <a:cs typeface="宋体" panose="02010600030101010101" pitchFamily="2" charset="-122"/>
              </a:rPr>
              <a:t> </a:t>
            </a:r>
            <a:r>
              <a:rPr lang="zh-CN" altLang="zh-CN" b="1" dirty="0">
                <a:solidFill>
                  <a:srgbClr val="000066"/>
                </a:solidFill>
                <a:latin typeface="幼圆" panose="02010509060101010101" pitchFamily="49" charset="-122"/>
                <a:ea typeface="幼圆" panose="02010509060101010101" pitchFamily="49" charset="-122"/>
                <a:cs typeface="宋体" panose="02010600030101010101" pitchFamily="2" charset="-122"/>
              </a:rPr>
              <a:t>饱和黏土地基</a:t>
            </a:r>
            <a:r>
              <a:rPr lang="zh-CN" altLang="en-US"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zh-CN" altLang="en-US" b="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b="1" dirty="0">
                <a:solidFill>
                  <a:srgbClr val="000066"/>
                </a:solidFill>
                <a:ea typeface="幼圆" panose="02010509060101010101" pitchFamily="49" charset="-122"/>
                <a:cs typeface="Times New Roman" panose="02020603050405020304" pitchFamily="18" charset="0"/>
                <a:sym typeface="Symbol" panose="05050102010706020507" pitchFamily="18" charset="2"/>
              </a:rPr>
              <a:t>0</a:t>
            </a:r>
            <a:r>
              <a:rPr kumimoji="0" lang="zh-CN" altLang="en-US" b="1" dirty="0">
                <a:solidFill>
                  <a:srgbClr val="000066"/>
                </a:solidFill>
                <a:ea typeface="幼圆" panose="02010509060101010101" pitchFamily="49" charset="-122"/>
                <a:cs typeface="Times New Roman" panose="02020603050405020304" pitchFamily="18" charset="0"/>
                <a:sym typeface="Symbol" panose="05050102010706020507" pitchFamily="18" charset="2"/>
              </a:rPr>
              <a:t>时</a:t>
            </a:r>
            <a:r>
              <a:rPr kumimoji="0" lang="zh-CN" altLang="en-US" b="1" dirty="0">
                <a:solidFill>
                  <a:srgbClr val="000066"/>
                </a:solidFill>
                <a:ea typeface="幼圆" panose="02010509060101010101" pitchFamily="49" charset="-122"/>
                <a:cs typeface="Times New Roman" panose="02020603050405020304" pitchFamily="18" charset="0"/>
              </a:rPr>
              <a:t>的特例</a:t>
            </a:r>
          </a:p>
        </p:txBody>
      </p:sp>
      <p:sp>
        <p:nvSpPr>
          <p:cNvPr id="49" name="Rectangle 18"/>
          <p:cNvSpPr>
            <a:spLocks noChangeArrowheads="1"/>
          </p:cNvSpPr>
          <p:nvPr/>
        </p:nvSpPr>
        <p:spPr bwMode="auto">
          <a:xfrm>
            <a:off x="1531900" y="4065481"/>
            <a:ext cx="2754280" cy="587853"/>
          </a:xfrm>
          <a:prstGeom prst="rect">
            <a:avLst/>
          </a:prstGeom>
          <a:noFill/>
          <a:ln w="9525">
            <a:noFill/>
            <a:miter lim="800000"/>
            <a:headEnd/>
            <a:tailEnd/>
          </a:ln>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800" b="1" i="1"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p</a:t>
            </a:r>
            <a:r>
              <a:rPr lang="en-US" altLang="zh-CN" sz="2800" b="1" baseline="-25000" dirty="0" err="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u</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sz="2800" b="1" baseline="-25000"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0</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d+ </a:t>
            </a:r>
            <a:r>
              <a:rPr lang="en-US" altLang="zh-CN" sz="2800" b="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sz="2800" b="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2)</a:t>
            </a:r>
            <a:r>
              <a:rPr lang="en-US" altLang="zh-CN" sz="2800" b="1" i="1" dirty="0">
                <a:solidFill>
                  <a:srgbClr val="000066"/>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c</a:t>
            </a:r>
          </a:p>
        </p:txBody>
      </p:sp>
      <p:sp>
        <p:nvSpPr>
          <p:cNvPr id="50" name="矩形 49"/>
          <p:cNvSpPr/>
          <p:nvPr/>
        </p:nvSpPr>
        <p:spPr>
          <a:xfrm>
            <a:off x="1811608" y="4900312"/>
            <a:ext cx="3727706" cy="446276"/>
          </a:xfrm>
          <a:prstGeom prst="rect">
            <a:avLst/>
          </a:prstGeom>
        </p:spPr>
        <p:txBody>
          <a:bodyPr wrap="square">
            <a:spAutoFit/>
          </a:bodyPr>
          <a:lstStyle/>
          <a:p>
            <a:pPr>
              <a:buClr>
                <a:srgbClr val="C00000"/>
              </a:buClr>
            </a:pPr>
            <a:r>
              <a:rPr lang="zh-CN" altLang="en-US" sz="2000" b="1" dirty="0">
                <a:solidFill>
                  <a:srgbClr val="000066"/>
                </a:solidFill>
                <a:ea typeface="幼圆" panose="02010509060101010101" pitchFamily="49" charset="-122"/>
                <a:cs typeface="Times New Roman" panose="02020603050405020304" pitchFamily="18" charset="0"/>
              </a:rPr>
              <a:t>基础宽度</a:t>
            </a:r>
            <a:r>
              <a:rPr lang="en-US" altLang="zh-CN" sz="2000" b="1" dirty="0">
                <a:solidFill>
                  <a:srgbClr val="000066"/>
                </a:solidFill>
                <a:ea typeface="幼圆" panose="02010509060101010101" pitchFamily="49" charset="-122"/>
                <a:cs typeface="Times New Roman" panose="02020603050405020304" pitchFamily="18" charset="0"/>
              </a:rPr>
              <a:t>b</a:t>
            </a:r>
            <a:r>
              <a:rPr lang="zh-CN" altLang="en-US" sz="2000" b="1" dirty="0">
                <a:solidFill>
                  <a:srgbClr val="000066"/>
                </a:solidFill>
                <a:ea typeface="幼圆" panose="02010509060101010101" pitchFamily="49" charset="-122"/>
                <a:cs typeface="Times New Roman" panose="02020603050405020304" pitchFamily="18" charset="0"/>
              </a:rPr>
              <a:t>的变化对</a:t>
            </a:r>
            <a:r>
              <a:rPr lang="en-US" altLang="zh-CN" sz="2000" b="1" i="1" dirty="0">
                <a:solidFill>
                  <a:srgbClr val="000066"/>
                </a:solidFill>
                <a:ea typeface="幼圆" panose="02010509060101010101" pitchFamily="49" charset="-122"/>
                <a:cs typeface="Times New Roman" panose="02020603050405020304" pitchFamily="18" charset="0"/>
              </a:rPr>
              <a:t>P</a:t>
            </a:r>
            <a:r>
              <a:rPr lang="en-US" altLang="zh-CN" sz="2000" b="1" baseline="-25000" dirty="0">
                <a:solidFill>
                  <a:srgbClr val="000066"/>
                </a:solidFill>
                <a:ea typeface="幼圆" panose="02010509060101010101" pitchFamily="49" charset="-122"/>
                <a:cs typeface="Times New Roman" panose="02020603050405020304" pitchFamily="18" charset="0"/>
              </a:rPr>
              <a:t>u</a:t>
            </a:r>
            <a:r>
              <a:rPr lang="zh-CN" altLang="en-US" sz="2000" b="1" dirty="0">
                <a:solidFill>
                  <a:srgbClr val="000066"/>
                </a:solidFill>
                <a:ea typeface="幼圆" panose="02010509060101010101" pitchFamily="49" charset="-122"/>
                <a:cs typeface="Times New Roman" panose="02020603050405020304" pitchFamily="18" charset="0"/>
              </a:rPr>
              <a:t>没有影响</a:t>
            </a:r>
          </a:p>
        </p:txBody>
      </p:sp>
      <p:grpSp>
        <p:nvGrpSpPr>
          <p:cNvPr id="6" name="组合 5"/>
          <p:cNvGrpSpPr/>
          <p:nvPr/>
        </p:nvGrpSpPr>
        <p:grpSpPr>
          <a:xfrm>
            <a:off x="5575403" y="3433075"/>
            <a:ext cx="3261503" cy="2056516"/>
            <a:chOff x="5575403" y="3433075"/>
            <a:chExt cx="3261503" cy="2056516"/>
          </a:xfrm>
        </p:grpSpPr>
        <p:sp>
          <p:nvSpPr>
            <p:cNvPr id="68" name="Text Box 21"/>
            <p:cNvSpPr txBox="1">
              <a:spLocks noChangeArrowheads="1"/>
            </p:cNvSpPr>
            <p:nvPr/>
          </p:nvSpPr>
          <p:spPr bwMode="auto">
            <a:xfrm>
              <a:off x="6226464" y="3433075"/>
              <a:ext cx="533956"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err="1">
                  <a:solidFill>
                    <a:srgbClr val="000066"/>
                  </a:solidFill>
                  <a:latin typeface="Times New Roman" panose="02020603050405020304" pitchFamily="18" charset="0"/>
                </a:rPr>
                <a:t>p</a:t>
              </a:r>
              <a:r>
                <a:rPr kumimoji="1" lang="en-US" altLang="zh-CN" sz="2000" b="1" baseline="-25000" dirty="0" err="1">
                  <a:solidFill>
                    <a:srgbClr val="000066"/>
                  </a:solidFill>
                  <a:latin typeface="Times New Roman" panose="02020603050405020304" pitchFamily="18" charset="0"/>
                </a:rPr>
                <a:t>u</a:t>
              </a:r>
              <a:endParaRPr kumimoji="1" lang="en-US" altLang="zh-CN" sz="2000" b="1" baseline="-25000" dirty="0">
                <a:solidFill>
                  <a:srgbClr val="000066"/>
                </a:solidFill>
                <a:latin typeface="Times New Roman" panose="02020603050405020304" pitchFamily="18" charset="0"/>
              </a:endParaRPr>
            </a:p>
          </p:txBody>
        </p:sp>
        <p:grpSp>
          <p:nvGrpSpPr>
            <p:cNvPr id="5" name="组合 4"/>
            <p:cNvGrpSpPr/>
            <p:nvPr/>
          </p:nvGrpSpPr>
          <p:grpSpPr>
            <a:xfrm>
              <a:off x="5575403" y="3450015"/>
              <a:ext cx="3261503" cy="2039576"/>
              <a:chOff x="5575403" y="3450015"/>
              <a:chExt cx="3261503" cy="2039576"/>
            </a:xfrm>
          </p:grpSpPr>
          <p:sp>
            <p:nvSpPr>
              <p:cNvPr id="39" name="矩形 38"/>
              <p:cNvSpPr/>
              <p:nvPr/>
            </p:nvSpPr>
            <p:spPr bwMode="auto">
              <a:xfrm>
                <a:off x="5579022" y="4351861"/>
                <a:ext cx="3257884" cy="1137730"/>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1" name="弧形 70"/>
              <p:cNvSpPr/>
              <p:nvPr/>
            </p:nvSpPr>
            <p:spPr bwMode="auto">
              <a:xfrm rot="8100000">
                <a:off x="6210987" y="3450015"/>
                <a:ext cx="1769750" cy="1769750"/>
              </a:xfrm>
              <a:prstGeom prst="arc">
                <a:avLst/>
              </a:pr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9" name="任意多边形 68"/>
              <p:cNvSpPr/>
              <p:nvPr/>
            </p:nvSpPr>
            <p:spPr bwMode="auto">
              <a:xfrm rot="8100000">
                <a:off x="6027697" y="3894990"/>
                <a:ext cx="896556" cy="888622"/>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085" h="1219200">
                    <a:moveTo>
                      <a:pt x="0" y="0"/>
                    </a:moveTo>
                    <a:lnTo>
                      <a:pt x="1230085" y="0"/>
                    </a:lnTo>
                    <a:lnTo>
                      <a:pt x="1230085" y="1219200"/>
                    </a:lnTo>
                    <a:lnTo>
                      <a:pt x="43542" y="32657"/>
                    </a:lnTo>
                    <a:lnTo>
                      <a:pt x="0" y="0"/>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0" name="任意多边形 69"/>
              <p:cNvSpPr/>
              <p:nvPr/>
            </p:nvSpPr>
            <p:spPr bwMode="auto">
              <a:xfrm rot="8100000">
                <a:off x="7270518" y="3894006"/>
                <a:ext cx="896556" cy="888622"/>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085" h="1219200">
                    <a:moveTo>
                      <a:pt x="0" y="0"/>
                    </a:moveTo>
                    <a:lnTo>
                      <a:pt x="1230085" y="0"/>
                    </a:lnTo>
                    <a:lnTo>
                      <a:pt x="1230085" y="1219200"/>
                    </a:lnTo>
                    <a:lnTo>
                      <a:pt x="43542" y="32657"/>
                    </a:lnTo>
                    <a:lnTo>
                      <a:pt x="0" y="0"/>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51" name="直接连接符 50"/>
              <p:cNvCxnSpPr/>
              <p:nvPr/>
            </p:nvCxnSpPr>
            <p:spPr bwMode="auto">
              <a:xfrm flipH="1">
                <a:off x="5575403" y="4341696"/>
                <a:ext cx="3250259"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Text Box 21"/>
              <p:cNvSpPr txBox="1">
                <a:spLocks noChangeArrowheads="1"/>
              </p:cNvSpPr>
              <p:nvPr/>
            </p:nvSpPr>
            <p:spPr bwMode="auto">
              <a:xfrm>
                <a:off x="7538123" y="3604401"/>
                <a:ext cx="1046535" cy="446276"/>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i="1" dirty="0">
                    <a:solidFill>
                      <a:srgbClr val="000066"/>
                    </a:solidFill>
                    <a:latin typeface="Times New Roman" panose="02020603050405020304" pitchFamily="18" charset="0"/>
                  </a:rPr>
                  <a:t>q=</a:t>
                </a:r>
                <a:r>
                  <a:rPr kumimoji="1" lang="en-US" altLang="zh-CN" sz="2000" b="1" i="1" dirty="0">
                    <a:solidFill>
                      <a:srgbClr val="000066"/>
                    </a:solidFill>
                    <a:latin typeface="Times New Roman" panose="02020603050405020304" pitchFamily="18" charset="0"/>
                    <a:sym typeface="Symbol" panose="05050102010706020507" pitchFamily="18" charset="2"/>
                  </a:rPr>
                  <a:t></a:t>
                </a:r>
                <a:r>
                  <a:rPr kumimoji="1" lang="en-US" altLang="zh-CN" sz="2000" b="1" baseline="-25000" dirty="0">
                    <a:solidFill>
                      <a:srgbClr val="000066"/>
                    </a:solidFill>
                    <a:latin typeface="Times New Roman" panose="02020603050405020304" pitchFamily="18" charset="0"/>
                    <a:sym typeface="Symbol" panose="05050102010706020507" pitchFamily="18" charset="2"/>
                  </a:rPr>
                  <a:t>0</a:t>
                </a:r>
                <a:r>
                  <a:rPr kumimoji="1" lang="en-US" altLang="zh-CN" sz="2000" b="1" i="1" dirty="0">
                    <a:solidFill>
                      <a:srgbClr val="000066"/>
                    </a:solidFill>
                    <a:latin typeface="Times New Roman" panose="02020603050405020304" pitchFamily="18" charset="0"/>
                  </a:rPr>
                  <a:t>d</a:t>
                </a:r>
                <a:endParaRPr kumimoji="1" lang="en-US" altLang="zh-CN" sz="2000" b="1" baseline="-25000" dirty="0">
                  <a:solidFill>
                    <a:srgbClr val="000066"/>
                  </a:solidFill>
                  <a:latin typeface="Times New Roman" panose="02020603050405020304" pitchFamily="18" charset="0"/>
                </a:endParaRPr>
              </a:p>
            </p:txBody>
          </p:sp>
          <p:grpSp>
            <p:nvGrpSpPr>
              <p:cNvPr id="53" name="组合 52"/>
              <p:cNvGrpSpPr/>
              <p:nvPr/>
            </p:nvGrpSpPr>
            <p:grpSpPr>
              <a:xfrm>
                <a:off x="5857539" y="3875288"/>
                <a:ext cx="1232587" cy="463712"/>
                <a:chOff x="4443756" y="2848235"/>
                <a:chExt cx="817863" cy="531427"/>
              </a:xfrm>
            </p:grpSpPr>
            <p:sp>
              <p:nvSpPr>
                <p:cNvPr id="54" name="Line 25"/>
                <p:cNvSpPr>
                  <a:spLocks noChangeShapeType="1"/>
                </p:cNvSpPr>
                <p:nvPr/>
              </p:nvSpPr>
              <p:spPr bwMode="auto">
                <a:xfrm>
                  <a:off x="5057153"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5"/>
                <p:cNvSpPr>
                  <a:spLocks noChangeShapeType="1"/>
                </p:cNvSpPr>
                <p:nvPr/>
              </p:nvSpPr>
              <p:spPr bwMode="auto">
                <a:xfrm>
                  <a:off x="4443756"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25"/>
                <p:cNvSpPr>
                  <a:spLocks noChangeShapeType="1"/>
                </p:cNvSpPr>
                <p:nvPr/>
              </p:nvSpPr>
              <p:spPr bwMode="auto">
                <a:xfrm>
                  <a:off x="4648222"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5"/>
                <p:cNvSpPr>
                  <a:spLocks noChangeShapeType="1"/>
                </p:cNvSpPr>
                <p:nvPr/>
              </p:nvSpPr>
              <p:spPr bwMode="auto">
                <a:xfrm>
                  <a:off x="4852687"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25"/>
                <p:cNvSpPr>
                  <a:spLocks noChangeShapeType="1"/>
                </p:cNvSpPr>
                <p:nvPr/>
              </p:nvSpPr>
              <p:spPr bwMode="auto">
                <a:xfrm>
                  <a:off x="5261619"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59" name="直接连接符 58"/>
              <p:cNvCxnSpPr/>
              <p:nvPr/>
            </p:nvCxnSpPr>
            <p:spPr bwMode="auto">
              <a:xfrm flipH="1">
                <a:off x="7083849" y="4095492"/>
                <a:ext cx="171558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0" name="组合 59"/>
              <p:cNvGrpSpPr/>
              <p:nvPr/>
            </p:nvGrpSpPr>
            <p:grpSpPr>
              <a:xfrm>
                <a:off x="7521034" y="4100606"/>
                <a:ext cx="1050521" cy="243787"/>
                <a:chOff x="5473060" y="3700042"/>
                <a:chExt cx="1295379" cy="246815"/>
              </a:xfrm>
            </p:grpSpPr>
            <p:sp>
              <p:nvSpPr>
                <p:cNvPr id="61" name="Line 25"/>
                <p:cNvSpPr>
                  <a:spLocks noChangeShapeType="1"/>
                </p:cNvSpPr>
                <p:nvPr/>
              </p:nvSpPr>
              <p:spPr bwMode="auto">
                <a:xfrm>
                  <a:off x="5473060" y="3706165"/>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5"/>
                <p:cNvSpPr>
                  <a:spLocks noChangeShapeType="1"/>
                </p:cNvSpPr>
                <p:nvPr/>
              </p:nvSpPr>
              <p:spPr bwMode="auto">
                <a:xfrm>
                  <a:off x="5904853"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25"/>
                <p:cNvSpPr>
                  <a:spLocks noChangeShapeType="1"/>
                </p:cNvSpPr>
                <p:nvPr/>
              </p:nvSpPr>
              <p:spPr bwMode="auto">
                <a:xfrm>
                  <a:off x="6336646"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25"/>
                <p:cNvSpPr>
                  <a:spLocks noChangeShapeType="1"/>
                </p:cNvSpPr>
                <p:nvPr/>
              </p:nvSpPr>
              <p:spPr bwMode="auto">
                <a:xfrm>
                  <a:off x="6768439"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67" name="直接连接符 66"/>
              <p:cNvCxnSpPr/>
              <p:nvPr/>
            </p:nvCxnSpPr>
            <p:spPr bwMode="auto">
              <a:xfrm>
                <a:off x="5850126" y="3875288"/>
                <a:ext cx="122428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Rectangle 152"/>
              <p:cNvSpPr>
                <a:spLocks noChangeArrowheads="1"/>
              </p:cNvSpPr>
              <p:nvPr/>
            </p:nvSpPr>
            <p:spPr bwMode="auto">
              <a:xfrm>
                <a:off x="7429155" y="4327371"/>
                <a:ext cx="50387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45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73" name="任意多边形 72"/>
              <p:cNvSpPr/>
              <p:nvPr/>
            </p:nvSpPr>
            <p:spPr bwMode="auto">
              <a:xfrm rot="3495134">
                <a:off x="7300084" y="4369784"/>
                <a:ext cx="185127" cy="205728"/>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4" name="任意多边形 73"/>
              <p:cNvSpPr/>
              <p:nvPr/>
            </p:nvSpPr>
            <p:spPr bwMode="auto">
              <a:xfrm rot="12047453">
                <a:off x="6711151" y="4373602"/>
                <a:ext cx="185127" cy="205728"/>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5" name="Rectangle 152"/>
              <p:cNvSpPr>
                <a:spLocks noChangeArrowheads="1"/>
              </p:cNvSpPr>
              <p:nvPr/>
            </p:nvSpPr>
            <p:spPr bwMode="auto">
              <a:xfrm>
                <a:off x="6295516" y="4327371"/>
                <a:ext cx="50387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45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grpSp>
      </p:grpSp>
      <p:sp>
        <p:nvSpPr>
          <p:cNvPr id="79" name="AutoShape 5"/>
          <p:cNvSpPr>
            <a:spLocks noChangeArrowheads="1"/>
          </p:cNvSpPr>
          <p:nvPr/>
        </p:nvSpPr>
        <p:spPr bwMode="auto">
          <a:xfrm>
            <a:off x="1449856" y="4973602"/>
            <a:ext cx="356430" cy="329679"/>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37" name="Text Box 46"/>
          <p:cNvSpPr txBox="1">
            <a:spLocks noChangeArrowheads="1"/>
          </p:cNvSpPr>
          <p:nvPr/>
        </p:nvSpPr>
        <p:spPr bwMode="auto">
          <a:xfrm>
            <a:off x="616559" y="714384"/>
            <a:ext cx="52127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滑动面上黏聚力产生的承载力</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44"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一般公式</a:t>
            </a:r>
          </a:p>
        </p:txBody>
      </p:sp>
    </p:spTree>
    <p:extLst>
      <p:ext uri="{BB962C8B-B14F-4D97-AF65-F5344CB8AC3E}">
        <p14:creationId xmlns:p14="http://schemas.microsoft.com/office/powerpoint/2010/main" val="228590508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par>
                                <p:cTn id="12" presetID="35" presetClass="emph" presetSubtype="0" repeatCount="3000" fill="hold" nodeType="withEffect">
                                  <p:stCondLst>
                                    <p:cond delay="0"/>
                                  </p:stCondLst>
                                  <p:childTnLst>
                                    <p:anim calcmode="discrete" valueType="str">
                                      <p:cBhvr>
                                        <p:cTn id="13"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1000"/>
                                        <p:tgtEl>
                                          <p:spTgt spid="48"/>
                                        </p:tgtEl>
                                      </p:cBhvr>
                                    </p:animEffect>
                                    <p:anim calcmode="lin" valueType="num">
                                      <p:cBhvr>
                                        <p:cTn id="19" dur="1000" fill="hold"/>
                                        <p:tgtEl>
                                          <p:spTgt spid="48"/>
                                        </p:tgtEl>
                                        <p:attrNameLst>
                                          <p:attrName>ppt_x</p:attrName>
                                        </p:attrNameLst>
                                      </p:cBhvr>
                                      <p:tavLst>
                                        <p:tav tm="0">
                                          <p:val>
                                            <p:strVal val="#ppt_x"/>
                                          </p:val>
                                        </p:tav>
                                        <p:tav tm="100000">
                                          <p:val>
                                            <p:strVal val="#ppt_x"/>
                                          </p:val>
                                        </p:tav>
                                      </p:tavLst>
                                    </p:anim>
                                    <p:anim calcmode="lin" valueType="num">
                                      <p:cBhvr>
                                        <p:cTn id="20" dur="1000" fill="hold"/>
                                        <p:tgtEl>
                                          <p:spTgt spid="48"/>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6" presetClass="entr" presetSubtype="16"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circle(in)">
                                      <p:cBhvr>
                                        <p:cTn id="24" dur="2000"/>
                                        <p:tgtEl>
                                          <p:spTgt spid="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500"/>
                                        <p:tgtEl>
                                          <p:spTgt spid="49"/>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79"/>
                                        </p:tgtEl>
                                        <p:attrNameLst>
                                          <p:attrName>style.visibility</p:attrName>
                                        </p:attrNameLst>
                                      </p:cBhvr>
                                      <p:to>
                                        <p:strVal val="visible"/>
                                      </p:to>
                                    </p:set>
                                    <p:animEffect transition="in" filter="wipe(left)">
                                      <p:cBhvr>
                                        <p:cTn id="31" dur="1000"/>
                                        <p:tgtEl>
                                          <p:spTgt spid="79"/>
                                        </p:tgtEl>
                                      </p:cBhvr>
                                    </p:animEffect>
                                  </p:childTnLst>
                                </p:cTn>
                              </p:par>
                            </p:childTnLst>
                          </p:cTn>
                        </p:par>
                        <p:par>
                          <p:cTn id="32" fill="hold">
                            <p:stCondLst>
                              <p:cond delay="4000"/>
                            </p:stCondLst>
                            <p:childTnLst>
                              <p:par>
                                <p:cTn id="33" presetID="22" presetClass="entr" presetSubtype="8" fill="hold" grpId="0" nodeType="after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wipe(left)">
                                      <p:cBhvr>
                                        <p:cTn id="3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9" grpId="0"/>
      <p:bldP spid="48" grpId="0"/>
      <p:bldP spid="49" grpId="0"/>
      <p:bldP spid="50" grpId="0"/>
      <p:bldP spid="7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bwMode="auto">
          <a:xfrm>
            <a:off x="965803" y="1296061"/>
            <a:ext cx="7351261" cy="2401296"/>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56</a:t>
            </a:fld>
            <a:endParaRPr lang="zh-CN" altLang="en-US" dirty="0">
              <a:solidFill>
                <a:srgbClr val="C00000"/>
              </a:solidFill>
            </a:endParaRPr>
          </a:p>
        </p:txBody>
      </p:sp>
      <p:sp>
        <p:nvSpPr>
          <p:cNvPr id="4" name="Text Box 2"/>
          <p:cNvSpPr txBox="1">
            <a:spLocks noChangeArrowheads="1"/>
          </p:cNvSpPr>
          <p:nvPr/>
        </p:nvSpPr>
        <p:spPr bwMode="auto">
          <a:xfrm>
            <a:off x="2482890" y="5738072"/>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极限承载力的影响因素</a:t>
            </a:r>
          </a:p>
        </p:txBody>
      </p:sp>
      <p:sp>
        <p:nvSpPr>
          <p:cNvPr id="19" name="Text Box 3"/>
          <p:cNvSpPr txBox="1">
            <a:spLocks noChangeArrowheads="1"/>
          </p:cNvSpPr>
          <p:nvPr/>
        </p:nvSpPr>
        <p:spPr bwMode="auto">
          <a:xfrm>
            <a:off x="1021931" y="1315859"/>
            <a:ext cx="7414007" cy="2318583"/>
          </a:xfrm>
          <a:prstGeom prst="rect">
            <a:avLst/>
          </a:prstGeom>
          <a:noFill/>
          <a:ln w="9525" algn="ctr">
            <a:noFill/>
            <a:miter lim="800000"/>
            <a:headEnd/>
            <a:tailEnd/>
          </a:ln>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61950" indent="-361950" eaLnBrk="1" hangingPunct="1">
              <a:lnSpc>
                <a:spcPct val="120000"/>
              </a:lnSpc>
              <a:spcBef>
                <a:spcPts val="200"/>
              </a:spcBef>
              <a:spcAft>
                <a:spcPts val="200"/>
              </a:spcAft>
              <a:buClr>
                <a:srgbClr val="C00000"/>
              </a:buClr>
              <a:buSzPct val="100000"/>
              <a:buFont typeface="+mj-lt"/>
              <a:buAutoNum type="arabicPeriod"/>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滑动土体自重在滑动面上产生正应力，</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φ</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&gt;0°</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时会在滑动面上产生摩擦阻力，是承载力的重要组成部分</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61950" indent="-361950" eaLnBrk="1" hangingPunct="1">
              <a:lnSpc>
                <a:spcPct val="120000"/>
              </a:lnSpc>
              <a:spcBef>
                <a:spcPts val="200"/>
              </a:spcBef>
              <a:spcAft>
                <a:spcPts val="200"/>
              </a:spcAft>
              <a:buClr>
                <a:srgbClr val="C00000"/>
              </a:buClr>
              <a:buSzPct val="100000"/>
              <a:buFont typeface="+mj-lt"/>
              <a:buAutoNum type="arabicPeriod"/>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该摩擦阻力正比于滑动土体的体积。对平面应变地基且滑动面形状不变时，</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与基底宽度</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一次方成正比</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61950" indent="-361950" eaLnBrk="1" hangingPunct="1">
              <a:lnSpc>
                <a:spcPct val="120000"/>
              </a:lnSpc>
              <a:spcBef>
                <a:spcPts val="200"/>
              </a:spcBef>
              <a:spcAft>
                <a:spcPts val="200"/>
              </a:spcAft>
              <a:buClr>
                <a:srgbClr val="C00000"/>
              </a:buClr>
              <a:buSzPct val="100000"/>
              <a:buFont typeface="+mj-lt"/>
              <a:buAutoNum type="arabicPeriod"/>
            </a:pP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φ</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增加时，滑动土体尺寸和体积迅速增加，</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φ</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对</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γ</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的影响大于对</a:t>
            </a:r>
            <a:r>
              <a:rPr lang="en-US" altLang="zh-CN" sz="20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q</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。对内摩擦角高的粗粒土，这部分承载力占很大比例</a:t>
            </a:r>
          </a:p>
        </p:txBody>
      </p:sp>
      <p:graphicFrame>
        <p:nvGraphicFramePr>
          <p:cNvPr id="80" name="Object 15"/>
          <p:cNvGraphicFramePr>
            <a:graphicFrameLocks noChangeAspect="1"/>
          </p:cNvGraphicFramePr>
          <p:nvPr>
            <p:extLst>
              <p:ext uri="{D42A27DB-BD31-4B8C-83A1-F6EECF244321}">
                <p14:modId xmlns:p14="http://schemas.microsoft.com/office/powerpoint/2010/main" val="4143208891"/>
              </p:ext>
            </p:extLst>
          </p:nvPr>
        </p:nvGraphicFramePr>
        <p:xfrm>
          <a:off x="5565832" y="481763"/>
          <a:ext cx="1574800" cy="736600"/>
        </p:xfrm>
        <a:graphic>
          <a:graphicData uri="http://schemas.openxmlformats.org/presentationml/2006/ole">
            <mc:AlternateContent xmlns:mc="http://schemas.openxmlformats.org/markup-compatibility/2006">
              <mc:Choice xmlns:v="urn:schemas-microsoft-com:vml" Requires="v">
                <p:oleObj spid="_x0000_s1824892" name="Equation" r:id="rId4" imgW="787320" imgH="368280" progId="Equation.DSMT4">
                  <p:embed/>
                </p:oleObj>
              </mc:Choice>
              <mc:Fallback>
                <p:oleObj name="Equation" r:id="rId4" imgW="787320" imgH="368280" progId="Equation.DSMT4">
                  <p:embed/>
                  <p:pic>
                    <p:nvPicPr>
                      <p:cNvPr id="8" name="Object 15"/>
                      <p:cNvPicPr>
                        <a:picLocks noChangeAspect="1" noChangeArrowheads="1"/>
                      </p:cNvPicPr>
                      <p:nvPr/>
                    </p:nvPicPr>
                    <p:blipFill>
                      <a:blip r:embed="rId5"/>
                      <a:srcRect/>
                      <a:stretch>
                        <a:fillRect/>
                      </a:stretch>
                    </p:blipFill>
                    <p:spPr bwMode="auto">
                      <a:xfrm>
                        <a:off x="5565832" y="481763"/>
                        <a:ext cx="1574800" cy="736600"/>
                      </a:xfrm>
                      <a:prstGeom prst="rect">
                        <a:avLst/>
                      </a:prstGeom>
                      <a:solidFill>
                        <a:srgbClr val="FFC000"/>
                      </a:solidFill>
                      <a:ln>
                        <a:noFill/>
                      </a:ln>
                      <a:extLst/>
                    </p:spPr>
                  </p:pic>
                </p:oleObj>
              </mc:Fallback>
            </mc:AlternateContent>
          </a:graphicData>
        </a:graphic>
      </p:graphicFrame>
      <p:grpSp>
        <p:nvGrpSpPr>
          <p:cNvPr id="6" name="组合 5"/>
          <p:cNvGrpSpPr/>
          <p:nvPr/>
        </p:nvGrpSpPr>
        <p:grpSpPr>
          <a:xfrm>
            <a:off x="1143135" y="3679658"/>
            <a:ext cx="2983489" cy="2010179"/>
            <a:chOff x="1143135" y="3679658"/>
            <a:chExt cx="2983489" cy="2010179"/>
          </a:xfrm>
        </p:grpSpPr>
        <p:sp>
          <p:nvSpPr>
            <p:cNvPr id="90" name="Text Box 21"/>
            <p:cNvSpPr txBox="1">
              <a:spLocks noChangeArrowheads="1"/>
            </p:cNvSpPr>
            <p:nvPr/>
          </p:nvSpPr>
          <p:spPr bwMode="auto">
            <a:xfrm>
              <a:off x="1449523" y="3679658"/>
              <a:ext cx="739305"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rPr>
                <a:t>b</a:t>
              </a:r>
              <a:r>
                <a:rPr kumimoji="1" lang="en-US" altLang="zh-CN" sz="1800" b="1" dirty="0">
                  <a:solidFill>
                    <a:srgbClr val="000066"/>
                  </a:solidFill>
                  <a:latin typeface="Times New Roman" panose="02020603050405020304" pitchFamily="18" charset="0"/>
                </a:rPr>
                <a:t>=2m</a:t>
              </a:r>
              <a:endParaRPr kumimoji="1" lang="en-US" altLang="zh-CN" sz="1800" b="1" baseline="-25000" dirty="0">
                <a:solidFill>
                  <a:srgbClr val="000066"/>
                </a:solidFill>
                <a:latin typeface="Times New Roman" panose="02020603050405020304" pitchFamily="18" charset="0"/>
              </a:endParaRPr>
            </a:p>
          </p:txBody>
        </p:sp>
        <p:grpSp>
          <p:nvGrpSpPr>
            <p:cNvPr id="3" name="组合 2"/>
            <p:cNvGrpSpPr/>
            <p:nvPr/>
          </p:nvGrpSpPr>
          <p:grpSpPr>
            <a:xfrm>
              <a:off x="1143135" y="3847402"/>
              <a:ext cx="2983489" cy="1842435"/>
              <a:chOff x="1143135" y="3847402"/>
              <a:chExt cx="2983489" cy="1842435"/>
            </a:xfrm>
          </p:grpSpPr>
          <p:sp>
            <p:nvSpPr>
              <p:cNvPr id="78" name="矩形 77"/>
              <p:cNvSpPr/>
              <p:nvPr/>
            </p:nvSpPr>
            <p:spPr bwMode="auto">
              <a:xfrm>
                <a:off x="1148790" y="4552107"/>
                <a:ext cx="2769308" cy="1137730"/>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1" name="弧形 70"/>
              <p:cNvSpPr/>
              <p:nvPr/>
            </p:nvSpPr>
            <p:spPr bwMode="auto">
              <a:xfrm rot="8100000">
                <a:off x="1635831" y="3847402"/>
                <a:ext cx="1380087" cy="1380088"/>
              </a:xfrm>
              <a:prstGeom prst="arc">
                <a:avLst/>
              </a:pr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69" name="任意多边形 68"/>
              <p:cNvSpPr/>
              <p:nvPr/>
            </p:nvSpPr>
            <p:spPr bwMode="auto">
              <a:xfrm rot="8100000">
                <a:off x="1495843" y="4191799"/>
                <a:ext cx="699153" cy="692966"/>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085" h="1219200">
                    <a:moveTo>
                      <a:pt x="0" y="0"/>
                    </a:moveTo>
                    <a:lnTo>
                      <a:pt x="1230085" y="0"/>
                    </a:lnTo>
                    <a:lnTo>
                      <a:pt x="1230085" y="1219200"/>
                    </a:lnTo>
                    <a:lnTo>
                      <a:pt x="43542" y="32657"/>
                    </a:lnTo>
                    <a:lnTo>
                      <a:pt x="0" y="0"/>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0" name="任意多边形 69"/>
              <p:cNvSpPr/>
              <p:nvPr/>
            </p:nvSpPr>
            <p:spPr bwMode="auto">
              <a:xfrm rot="8100000">
                <a:off x="2465020" y="4191032"/>
                <a:ext cx="699153" cy="692966"/>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085" h="1219200">
                    <a:moveTo>
                      <a:pt x="0" y="0"/>
                    </a:moveTo>
                    <a:lnTo>
                      <a:pt x="1230085" y="0"/>
                    </a:lnTo>
                    <a:lnTo>
                      <a:pt x="1230085" y="1219200"/>
                    </a:lnTo>
                    <a:lnTo>
                      <a:pt x="43542" y="32657"/>
                    </a:lnTo>
                    <a:lnTo>
                      <a:pt x="0" y="0"/>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51" name="直接连接符 50"/>
              <p:cNvCxnSpPr/>
              <p:nvPr/>
            </p:nvCxnSpPr>
            <p:spPr bwMode="auto">
              <a:xfrm flipH="1">
                <a:off x="1143135" y="4540149"/>
                <a:ext cx="276220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Text Box 21"/>
              <p:cNvSpPr txBox="1">
                <a:spLocks noChangeArrowheads="1"/>
              </p:cNvSpPr>
              <p:nvPr/>
            </p:nvSpPr>
            <p:spPr bwMode="auto">
              <a:xfrm>
                <a:off x="2703892" y="3882239"/>
                <a:ext cx="1006607"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rPr>
                  <a:t>q=</a:t>
                </a:r>
                <a:r>
                  <a:rPr kumimoji="1" lang="en-US" altLang="zh-CN" sz="1800" b="1" i="1" dirty="0">
                    <a:solidFill>
                      <a:srgbClr val="000066"/>
                    </a:solidFill>
                    <a:latin typeface="Times New Roman" panose="02020603050405020304" pitchFamily="18" charset="0"/>
                    <a:sym typeface="Symbol" panose="05050102010706020507" pitchFamily="18" charset="2"/>
                  </a:rPr>
                  <a:t></a:t>
                </a:r>
                <a:r>
                  <a:rPr kumimoji="1" lang="en-US" altLang="zh-CN" sz="1800" b="1" baseline="-25000" dirty="0">
                    <a:solidFill>
                      <a:srgbClr val="000066"/>
                    </a:solidFill>
                    <a:latin typeface="Times New Roman" panose="02020603050405020304" pitchFamily="18" charset="0"/>
                    <a:sym typeface="Symbol" panose="05050102010706020507" pitchFamily="18" charset="2"/>
                  </a:rPr>
                  <a:t>0</a:t>
                </a:r>
                <a:r>
                  <a:rPr kumimoji="1" lang="en-US" altLang="zh-CN" sz="1800" b="1" i="1" dirty="0">
                    <a:solidFill>
                      <a:srgbClr val="000066"/>
                    </a:solidFill>
                    <a:latin typeface="Times New Roman" panose="02020603050405020304" pitchFamily="18" charset="0"/>
                  </a:rPr>
                  <a:t>d</a:t>
                </a:r>
                <a:endParaRPr kumimoji="1" lang="en-US" altLang="zh-CN" sz="1800" b="1" baseline="-25000" dirty="0">
                  <a:solidFill>
                    <a:srgbClr val="000066"/>
                  </a:solidFill>
                  <a:latin typeface="Times New Roman" panose="02020603050405020304" pitchFamily="18" charset="0"/>
                </a:endParaRPr>
              </a:p>
            </p:txBody>
          </p:sp>
          <p:grpSp>
            <p:nvGrpSpPr>
              <p:cNvPr id="53" name="组合 52"/>
              <p:cNvGrpSpPr/>
              <p:nvPr/>
            </p:nvGrpSpPr>
            <p:grpSpPr>
              <a:xfrm>
                <a:off x="1363150" y="4176435"/>
                <a:ext cx="961197" cy="361612"/>
                <a:chOff x="4443756" y="2848235"/>
                <a:chExt cx="817863" cy="531427"/>
              </a:xfrm>
            </p:grpSpPr>
            <p:sp>
              <p:nvSpPr>
                <p:cNvPr id="54" name="Line 25"/>
                <p:cNvSpPr>
                  <a:spLocks noChangeShapeType="1"/>
                </p:cNvSpPr>
                <p:nvPr/>
              </p:nvSpPr>
              <p:spPr bwMode="auto">
                <a:xfrm>
                  <a:off x="5057153"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5"/>
                <p:cNvSpPr>
                  <a:spLocks noChangeShapeType="1"/>
                </p:cNvSpPr>
                <p:nvPr/>
              </p:nvSpPr>
              <p:spPr bwMode="auto">
                <a:xfrm>
                  <a:off x="4443756"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25"/>
                <p:cNvSpPr>
                  <a:spLocks noChangeShapeType="1"/>
                </p:cNvSpPr>
                <p:nvPr/>
              </p:nvSpPr>
              <p:spPr bwMode="auto">
                <a:xfrm>
                  <a:off x="4648222"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5"/>
                <p:cNvSpPr>
                  <a:spLocks noChangeShapeType="1"/>
                </p:cNvSpPr>
                <p:nvPr/>
              </p:nvSpPr>
              <p:spPr bwMode="auto">
                <a:xfrm>
                  <a:off x="4852687"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25"/>
                <p:cNvSpPr>
                  <a:spLocks noChangeShapeType="1"/>
                </p:cNvSpPr>
                <p:nvPr/>
              </p:nvSpPr>
              <p:spPr bwMode="auto">
                <a:xfrm>
                  <a:off x="5261619"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59" name="直接连接符 58"/>
              <p:cNvCxnSpPr/>
              <p:nvPr/>
            </p:nvCxnSpPr>
            <p:spPr bwMode="auto">
              <a:xfrm flipH="1">
                <a:off x="2319452" y="4348154"/>
                <a:ext cx="158588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0" name="组合 59"/>
              <p:cNvGrpSpPr/>
              <p:nvPr/>
            </p:nvGrpSpPr>
            <p:grpSpPr>
              <a:xfrm>
                <a:off x="2615929" y="4352142"/>
                <a:ext cx="1092291" cy="190110"/>
                <a:chOff x="5473060" y="3700042"/>
                <a:chExt cx="1727172" cy="246815"/>
              </a:xfrm>
            </p:grpSpPr>
            <p:sp>
              <p:nvSpPr>
                <p:cNvPr id="61" name="Line 25"/>
                <p:cNvSpPr>
                  <a:spLocks noChangeShapeType="1"/>
                </p:cNvSpPr>
                <p:nvPr/>
              </p:nvSpPr>
              <p:spPr bwMode="auto">
                <a:xfrm>
                  <a:off x="5473060" y="3706165"/>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5"/>
                <p:cNvSpPr>
                  <a:spLocks noChangeShapeType="1"/>
                </p:cNvSpPr>
                <p:nvPr/>
              </p:nvSpPr>
              <p:spPr bwMode="auto">
                <a:xfrm>
                  <a:off x="5904853"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25"/>
                <p:cNvSpPr>
                  <a:spLocks noChangeShapeType="1"/>
                </p:cNvSpPr>
                <p:nvPr/>
              </p:nvSpPr>
              <p:spPr bwMode="auto">
                <a:xfrm>
                  <a:off x="6336646"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25"/>
                <p:cNvSpPr>
                  <a:spLocks noChangeShapeType="1"/>
                </p:cNvSpPr>
                <p:nvPr/>
              </p:nvSpPr>
              <p:spPr bwMode="auto">
                <a:xfrm>
                  <a:off x="6768439"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25"/>
                <p:cNvSpPr>
                  <a:spLocks noChangeShapeType="1"/>
                </p:cNvSpPr>
                <p:nvPr/>
              </p:nvSpPr>
              <p:spPr bwMode="auto">
                <a:xfrm>
                  <a:off x="7200232"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67" name="直接连接符 66"/>
              <p:cNvCxnSpPr/>
              <p:nvPr/>
            </p:nvCxnSpPr>
            <p:spPr bwMode="auto">
              <a:xfrm>
                <a:off x="1357370" y="4176435"/>
                <a:ext cx="95472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Rectangle 152"/>
              <p:cNvSpPr>
                <a:spLocks noChangeArrowheads="1"/>
              </p:cNvSpPr>
              <p:nvPr/>
            </p:nvSpPr>
            <p:spPr bwMode="auto">
              <a:xfrm>
                <a:off x="2588729" y="4500404"/>
                <a:ext cx="485240"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45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73" name="任意多边形 72"/>
              <p:cNvSpPr/>
              <p:nvPr/>
            </p:nvSpPr>
            <p:spPr bwMode="auto">
              <a:xfrm rot="3495134">
                <a:off x="2488076" y="4562053"/>
                <a:ext cx="144366" cy="160431"/>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4" name="任意多边形 73"/>
              <p:cNvSpPr/>
              <p:nvPr/>
            </p:nvSpPr>
            <p:spPr bwMode="auto">
              <a:xfrm rot="12047453">
                <a:off x="2028815" y="4565030"/>
                <a:ext cx="144366" cy="160431"/>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75" name="Rectangle 152"/>
              <p:cNvSpPr>
                <a:spLocks noChangeArrowheads="1"/>
              </p:cNvSpPr>
              <p:nvPr/>
            </p:nvSpPr>
            <p:spPr bwMode="auto">
              <a:xfrm>
                <a:off x="1628494" y="4528979"/>
                <a:ext cx="47629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45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83" name="Text Box 21"/>
              <p:cNvSpPr txBox="1">
                <a:spLocks noChangeArrowheads="1"/>
              </p:cNvSpPr>
              <p:nvPr/>
            </p:nvSpPr>
            <p:spPr bwMode="auto">
              <a:xfrm>
                <a:off x="1424796" y="5274999"/>
                <a:ext cx="1581394"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sym typeface="Symbol" panose="05050102010706020507" pitchFamily="18" charset="2"/>
                  </a:rPr>
                  <a:t>r</a:t>
                </a:r>
                <a:r>
                  <a:rPr kumimoji="1" lang="en-US" altLang="zh-CN" sz="1800" b="1" baseline="-25000" dirty="0">
                    <a:solidFill>
                      <a:srgbClr val="000066"/>
                    </a:solidFill>
                    <a:latin typeface="Times New Roman" panose="02020603050405020304" pitchFamily="18" charset="0"/>
                    <a:sym typeface="Symbol" panose="05050102010706020507" pitchFamily="18" charset="2"/>
                  </a:rPr>
                  <a:t>0</a:t>
                </a:r>
                <a:r>
                  <a:rPr kumimoji="1" lang="en-US" altLang="zh-CN" sz="1800" b="1" dirty="0">
                    <a:solidFill>
                      <a:srgbClr val="000066"/>
                    </a:solidFill>
                    <a:latin typeface="Times New Roman" panose="02020603050405020304" pitchFamily="18" charset="0"/>
                  </a:rPr>
                  <a:t>=</a:t>
                </a:r>
                <a:r>
                  <a:rPr kumimoji="1" lang="en-US" altLang="zh-CN" sz="1800" b="1" i="1" dirty="0">
                    <a:solidFill>
                      <a:srgbClr val="000066"/>
                    </a:solidFill>
                    <a:latin typeface="Times New Roman" panose="02020603050405020304" pitchFamily="18" charset="0"/>
                    <a:sym typeface="Symbol" panose="05050102010706020507" pitchFamily="18" charset="2"/>
                  </a:rPr>
                  <a:t>r</a:t>
                </a:r>
                <a:r>
                  <a:rPr kumimoji="1" lang="en-US" altLang="zh-CN" sz="1800" b="1" baseline="-25000" dirty="0">
                    <a:solidFill>
                      <a:srgbClr val="000066"/>
                    </a:solidFill>
                    <a:latin typeface="Times New Roman" panose="02020603050405020304" pitchFamily="18" charset="0"/>
                    <a:sym typeface="Symbol" panose="05050102010706020507" pitchFamily="18" charset="2"/>
                  </a:rPr>
                  <a:t>1</a:t>
                </a:r>
                <a:r>
                  <a:rPr kumimoji="1" lang="en-US" altLang="zh-CN" sz="1800" b="1" dirty="0">
                    <a:solidFill>
                      <a:srgbClr val="000066"/>
                    </a:solidFill>
                    <a:latin typeface="Times New Roman" panose="02020603050405020304" pitchFamily="18" charset="0"/>
                  </a:rPr>
                  <a:t>=1.414m</a:t>
                </a:r>
                <a:endParaRPr kumimoji="1" lang="en-US" altLang="zh-CN" sz="1800" b="1" baseline="-25000" dirty="0">
                  <a:solidFill>
                    <a:srgbClr val="000066"/>
                  </a:solidFill>
                  <a:latin typeface="Times New Roman" panose="02020603050405020304" pitchFamily="18" charset="0"/>
                </a:endParaRPr>
              </a:p>
            </p:txBody>
          </p:sp>
          <p:sp>
            <p:nvSpPr>
              <p:cNvPr id="84" name="任意多边形 83"/>
              <p:cNvSpPr/>
              <p:nvPr/>
            </p:nvSpPr>
            <p:spPr bwMode="auto">
              <a:xfrm>
                <a:off x="2039071" y="4862941"/>
                <a:ext cx="570457" cy="485775"/>
              </a:xfrm>
              <a:custGeom>
                <a:avLst/>
                <a:gdLst>
                  <a:gd name="connsiteX0" fmla="*/ 0 w 523875"/>
                  <a:gd name="connsiteY0" fmla="*/ 9525 h 485775"/>
                  <a:gd name="connsiteX1" fmla="*/ 123825 w 523875"/>
                  <a:gd name="connsiteY1" fmla="*/ 485775 h 485775"/>
                  <a:gd name="connsiteX2" fmla="*/ 523875 w 523875"/>
                  <a:gd name="connsiteY2" fmla="*/ 0 h 485775"/>
                </a:gdLst>
                <a:ahLst/>
                <a:cxnLst>
                  <a:cxn ang="0">
                    <a:pos x="connsiteX0" y="connsiteY0"/>
                  </a:cxn>
                  <a:cxn ang="0">
                    <a:pos x="connsiteX1" y="connsiteY1"/>
                  </a:cxn>
                  <a:cxn ang="0">
                    <a:pos x="connsiteX2" y="connsiteY2"/>
                  </a:cxn>
                </a:cxnLst>
                <a:rect l="l" t="t" r="r" b="b"/>
                <a:pathLst>
                  <a:path w="523875" h="485775">
                    <a:moveTo>
                      <a:pt x="0" y="9525"/>
                    </a:moveTo>
                    <a:lnTo>
                      <a:pt x="123825" y="485775"/>
                    </a:lnTo>
                    <a:lnTo>
                      <a:pt x="523875" y="0"/>
                    </a:lnTo>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86" name="组合 85"/>
              <p:cNvGrpSpPr/>
              <p:nvPr/>
            </p:nvGrpSpPr>
            <p:grpSpPr>
              <a:xfrm>
                <a:off x="1351228" y="3975652"/>
                <a:ext cx="965346" cy="150814"/>
                <a:chOff x="4457514" y="2897257"/>
                <a:chExt cx="1362333" cy="109926"/>
              </a:xfrm>
            </p:grpSpPr>
            <p:cxnSp>
              <p:nvCxnSpPr>
                <p:cNvPr id="87" name="直接连接符 86"/>
                <p:cNvCxnSpPr/>
                <p:nvPr/>
              </p:nvCxnSpPr>
              <p:spPr bwMode="auto">
                <a:xfrm>
                  <a:off x="4457514" y="2902252"/>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连接符 87"/>
                <p:cNvCxnSpPr/>
                <p:nvPr/>
              </p:nvCxnSpPr>
              <p:spPr bwMode="auto">
                <a:xfrm>
                  <a:off x="5805900" y="2897257"/>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连接符 88"/>
                <p:cNvCxnSpPr/>
                <p:nvPr/>
              </p:nvCxnSpPr>
              <p:spPr bwMode="auto">
                <a:xfrm>
                  <a:off x="4457515" y="2969142"/>
                  <a:ext cx="1362332" cy="0"/>
                </a:xfrm>
                <a:prstGeom prst="line">
                  <a:avLst/>
                </a:pr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8" name="矩形 137"/>
              <p:cNvSpPr/>
              <p:nvPr/>
            </p:nvSpPr>
            <p:spPr>
              <a:xfrm>
                <a:off x="2972141" y="5038045"/>
                <a:ext cx="1154483" cy="414794"/>
              </a:xfrm>
              <a:prstGeom prst="rect">
                <a:avLst/>
              </a:prstGeom>
            </p:spPr>
            <p:txBody>
              <a:bodyPr wrap="none">
                <a:spAutoFit/>
              </a:bodyPr>
              <a:lstStyle/>
              <a:p>
                <a:r>
                  <a:rPr kumimoji="1" lang="en-US" altLang="zh-CN" sz="2000" b="1" dirty="0">
                    <a:solidFill>
                      <a:srgbClr val="C00000"/>
                    </a:solidFill>
                    <a:ea typeface="黑体" pitchFamily="2" charset="-122"/>
                    <a:cs typeface="Times New Roman" panose="02020603050405020304" pitchFamily="18" charset="0"/>
                  </a:rPr>
                  <a:t>a)</a:t>
                </a:r>
                <a:r>
                  <a:rPr lang="en-US" altLang="zh-CN" sz="2000" b="1" dirty="0">
                    <a:solidFill>
                      <a:srgbClr val="C00000"/>
                    </a:solidFill>
                    <a:ea typeface="幼圆" panose="02010509060101010101" pitchFamily="49" charset="-122"/>
                    <a:cs typeface="Times New Roman" panose="02020603050405020304" pitchFamily="18" charset="0"/>
                  </a:rPr>
                  <a:t> φ=0°</a:t>
                </a:r>
                <a:endParaRPr lang="zh-CN" altLang="en-US" sz="2000" dirty="0">
                  <a:solidFill>
                    <a:srgbClr val="C00000"/>
                  </a:solidFill>
                </a:endParaRPr>
              </a:p>
            </p:txBody>
          </p:sp>
        </p:grpSp>
      </p:grpSp>
      <p:sp>
        <p:nvSpPr>
          <p:cNvPr id="140" name="Text Box 46"/>
          <p:cNvSpPr txBox="1">
            <a:spLocks noChangeArrowheads="1"/>
          </p:cNvSpPr>
          <p:nvPr/>
        </p:nvSpPr>
        <p:spPr bwMode="auto">
          <a:xfrm>
            <a:off x="464159" y="659459"/>
            <a:ext cx="52127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滑动土体自重产生的承载力</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4405783" y="3665927"/>
            <a:ext cx="4043080" cy="2009733"/>
            <a:chOff x="4405783" y="3665927"/>
            <a:chExt cx="4043080" cy="2009733"/>
          </a:xfrm>
        </p:grpSpPr>
        <p:sp>
          <p:nvSpPr>
            <p:cNvPr id="76" name="矩形 75"/>
            <p:cNvSpPr/>
            <p:nvPr/>
          </p:nvSpPr>
          <p:spPr bwMode="auto">
            <a:xfrm>
              <a:off x="4409441" y="4537930"/>
              <a:ext cx="3878638" cy="1137730"/>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26" name="任意多边形 125"/>
            <p:cNvSpPr/>
            <p:nvPr/>
          </p:nvSpPr>
          <p:spPr bwMode="auto">
            <a:xfrm>
              <a:off x="5156201" y="4545418"/>
              <a:ext cx="2914650" cy="1056769"/>
            </a:xfrm>
            <a:custGeom>
              <a:avLst/>
              <a:gdLst>
                <a:gd name="connsiteX0" fmla="*/ 0 w 2914650"/>
                <a:gd name="connsiteY0" fmla="*/ 666750 h 1055584"/>
                <a:gd name="connsiteX1" fmla="*/ 215900 w 2914650"/>
                <a:gd name="connsiteY1" fmla="*/ 869950 h 1055584"/>
                <a:gd name="connsiteX2" fmla="*/ 520700 w 2914650"/>
                <a:gd name="connsiteY2" fmla="*/ 1009650 h 1055584"/>
                <a:gd name="connsiteX3" fmla="*/ 952500 w 2914650"/>
                <a:gd name="connsiteY3" fmla="*/ 1054100 h 1055584"/>
                <a:gd name="connsiteX4" fmla="*/ 1371600 w 2914650"/>
                <a:gd name="connsiteY4" fmla="*/ 965200 h 1055584"/>
                <a:gd name="connsiteX5" fmla="*/ 1714500 w 2914650"/>
                <a:gd name="connsiteY5" fmla="*/ 768350 h 1055584"/>
                <a:gd name="connsiteX6" fmla="*/ 2184400 w 2914650"/>
                <a:gd name="connsiteY6" fmla="*/ 463550 h 1055584"/>
                <a:gd name="connsiteX7" fmla="*/ 2914650 w 2914650"/>
                <a:gd name="connsiteY7" fmla="*/ 0 h 1055584"/>
                <a:gd name="connsiteX0" fmla="*/ 0 w 2914650"/>
                <a:gd name="connsiteY0" fmla="*/ 666750 h 1055584"/>
                <a:gd name="connsiteX1" fmla="*/ 215900 w 2914650"/>
                <a:gd name="connsiteY1" fmla="*/ 869950 h 1055584"/>
                <a:gd name="connsiteX2" fmla="*/ 520700 w 2914650"/>
                <a:gd name="connsiteY2" fmla="*/ 1009650 h 1055584"/>
                <a:gd name="connsiteX3" fmla="*/ 952500 w 2914650"/>
                <a:gd name="connsiteY3" fmla="*/ 1054100 h 1055584"/>
                <a:gd name="connsiteX4" fmla="*/ 1371600 w 2914650"/>
                <a:gd name="connsiteY4" fmla="*/ 965200 h 1055584"/>
                <a:gd name="connsiteX5" fmla="*/ 1714500 w 2914650"/>
                <a:gd name="connsiteY5" fmla="*/ 768350 h 1055584"/>
                <a:gd name="connsiteX6" fmla="*/ 2184400 w 2914650"/>
                <a:gd name="connsiteY6" fmla="*/ 463550 h 1055584"/>
                <a:gd name="connsiteX7" fmla="*/ 2914650 w 2914650"/>
                <a:gd name="connsiteY7" fmla="*/ 0 h 1055584"/>
                <a:gd name="connsiteX8" fmla="*/ 0 w 2914650"/>
                <a:gd name="connsiteY8" fmla="*/ 666750 h 1055584"/>
                <a:gd name="connsiteX0" fmla="*/ 0 w 2914650"/>
                <a:gd name="connsiteY0" fmla="*/ 697867 h 1086701"/>
                <a:gd name="connsiteX1" fmla="*/ 215900 w 2914650"/>
                <a:gd name="connsiteY1" fmla="*/ 901067 h 1086701"/>
                <a:gd name="connsiteX2" fmla="*/ 520700 w 2914650"/>
                <a:gd name="connsiteY2" fmla="*/ 1040767 h 1086701"/>
                <a:gd name="connsiteX3" fmla="*/ 952500 w 2914650"/>
                <a:gd name="connsiteY3" fmla="*/ 1085217 h 1086701"/>
                <a:gd name="connsiteX4" fmla="*/ 1371600 w 2914650"/>
                <a:gd name="connsiteY4" fmla="*/ 996317 h 1086701"/>
                <a:gd name="connsiteX5" fmla="*/ 1714500 w 2914650"/>
                <a:gd name="connsiteY5" fmla="*/ 799467 h 1086701"/>
                <a:gd name="connsiteX6" fmla="*/ 2184400 w 2914650"/>
                <a:gd name="connsiteY6" fmla="*/ 494667 h 1086701"/>
                <a:gd name="connsiteX7" fmla="*/ 2914650 w 2914650"/>
                <a:gd name="connsiteY7" fmla="*/ 31117 h 1086701"/>
                <a:gd name="connsiteX8" fmla="*/ 425892 w 2914650"/>
                <a:gd name="connsiteY8" fmla="*/ 29932 h 1086701"/>
                <a:gd name="connsiteX9" fmla="*/ 0 w 2914650"/>
                <a:gd name="connsiteY9" fmla="*/ 697867 h 1086701"/>
                <a:gd name="connsiteX0" fmla="*/ 0 w 2914650"/>
                <a:gd name="connsiteY0" fmla="*/ 667935 h 1056769"/>
                <a:gd name="connsiteX1" fmla="*/ 215900 w 2914650"/>
                <a:gd name="connsiteY1" fmla="*/ 871135 h 1056769"/>
                <a:gd name="connsiteX2" fmla="*/ 520700 w 2914650"/>
                <a:gd name="connsiteY2" fmla="*/ 1010835 h 1056769"/>
                <a:gd name="connsiteX3" fmla="*/ 952500 w 2914650"/>
                <a:gd name="connsiteY3" fmla="*/ 1055285 h 1056769"/>
                <a:gd name="connsiteX4" fmla="*/ 1371600 w 2914650"/>
                <a:gd name="connsiteY4" fmla="*/ 966385 h 1056769"/>
                <a:gd name="connsiteX5" fmla="*/ 1714500 w 2914650"/>
                <a:gd name="connsiteY5" fmla="*/ 769535 h 1056769"/>
                <a:gd name="connsiteX6" fmla="*/ 2184400 w 2914650"/>
                <a:gd name="connsiteY6" fmla="*/ 464735 h 1056769"/>
                <a:gd name="connsiteX7" fmla="*/ 2914650 w 2914650"/>
                <a:gd name="connsiteY7" fmla="*/ 1185 h 1056769"/>
                <a:gd name="connsiteX8" fmla="*/ 425892 w 2914650"/>
                <a:gd name="connsiteY8" fmla="*/ 0 h 1056769"/>
                <a:gd name="connsiteX9" fmla="*/ 0 w 2914650"/>
                <a:gd name="connsiteY9" fmla="*/ 667935 h 105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4650" h="1056769">
                  <a:moveTo>
                    <a:pt x="0" y="667935"/>
                  </a:moveTo>
                  <a:cubicBezTo>
                    <a:pt x="64558" y="740960"/>
                    <a:pt x="129117" y="813985"/>
                    <a:pt x="215900" y="871135"/>
                  </a:cubicBezTo>
                  <a:cubicBezTo>
                    <a:pt x="302683" y="928285"/>
                    <a:pt x="397933" y="980143"/>
                    <a:pt x="520700" y="1010835"/>
                  </a:cubicBezTo>
                  <a:cubicBezTo>
                    <a:pt x="643467" y="1041527"/>
                    <a:pt x="810683" y="1062693"/>
                    <a:pt x="952500" y="1055285"/>
                  </a:cubicBezTo>
                  <a:cubicBezTo>
                    <a:pt x="1094317" y="1047877"/>
                    <a:pt x="1244600" y="1014010"/>
                    <a:pt x="1371600" y="966385"/>
                  </a:cubicBezTo>
                  <a:cubicBezTo>
                    <a:pt x="1498600" y="918760"/>
                    <a:pt x="1579033" y="853143"/>
                    <a:pt x="1714500" y="769535"/>
                  </a:cubicBezTo>
                  <a:cubicBezTo>
                    <a:pt x="1849967" y="685927"/>
                    <a:pt x="2184400" y="464735"/>
                    <a:pt x="2184400" y="464735"/>
                  </a:cubicBezTo>
                  <a:lnTo>
                    <a:pt x="2914650" y="1185"/>
                  </a:lnTo>
                  <a:lnTo>
                    <a:pt x="425892" y="0"/>
                  </a:lnTo>
                  <a:lnTo>
                    <a:pt x="0" y="667935"/>
                  </a:lnTo>
                  <a:close/>
                </a:path>
              </a:pathLst>
            </a:cu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91" name="直接连接符 90"/>
            <p:cNvCxnSpPr/>
            <p:nvPr/>
          </p:nvCxnSpPr>
          <p:spPr bwMode="auto">
            <a:xfrm flipH="1">
              <a:off x="4405783" y="4537303"/>
              <a:ext cx="387461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Text Box 21"/>
            <p:cNvSpPr txBox="1">
              <a:spLocks noChangeArrowheads="1"/>
            </p:cNvSpPr>
            <p:nvPr/>
          </p:nvSpPr>
          <p:spPr bwMode="auto">
            <a:xfrm>
              <a:off x="6180086" y="3884697"/>
              <a:ext cx="1006607"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rPr>
                <a:t>q=</a:t>
              </a:r>
              <a:r>
                <a:rPr kumimoji="1" lang="en-US" altLang="zh-CN" sz="1800" b="1" i="1" dirty="0">
                  <a:solidFill>
                    <a:srgbClr val="000066"/>
                  </a:solidFill>
                  <a:latin typeface="Times New Roman" panose="02020603050405020304" pitchFamily="18" charset="0"/>
                  <a:sym typeface="Symbol" panose="05050102010706020507" pitchFamily="18" charset="2"/>
                </a:rPr>
                <a:t></a:t>
              </a:r>
              <a:r>
                <a:rPr kumimoji="1" lang="en-US" altLang="zh-CN" sz="1800" b="1" baseline="-25000" dirty="0">
                  <a:solidFill>
                    <a:srgbClr val="000066"/>
                  </a:solidFill>
                  <a:latin typeface="Times New Roman" panose="02020603050405020304" pitchFamily="18" charset="0"/>
                  <a:sym typeface="Symbol" panose="05050102010706020507" pitchFamily="18" charset="2"/>
                </a:rPr>
                <a:t>0</a:t>
              </a:r>
              <a:r>
                <a:rPr kumimoji="1" lang="en-US" altLang="zh-CN" sz="1800" b="1" i="1" dirty="0">
                  <a:solidFill>
                    <a:srgbClr val="000066"/>
                  </a:solidFill>
                  <a:latin typeface="Times New Roman" panose="02020603050405020304" pitchFamily="18" charset="0"/>
                </a:rPr>
                <a:t>d</a:t>
              </a:r>
              <a:endParaRPr kumimoji="1" lang="en-US" altLang="zh-CN" sz="1800" b="1" baseline="-25000" dirty="0">
                <a:solidFill>
                  <a:srgbClr val="000066"/>
                </a:solidFill>
                <a:latin typeface="Times New Roman" panose="02020603050405020304" pitchFamily="18" charset="0"/>
              </a:endParaRPr>
            </a:p>
          </p:txBody>
        </p:sp>
        <p:grpSp>
          <p:nvGrpSpPr>
            <p:cNvPr id="93" name="组合 92"/>
            <p:cNvGrpSpPr/>
            <p:nvPr/>
          </p:nvGrpSpPr>
          <p:grpSpPr>
            <a:xfrm>
              <a:off x="4625798" y="4173589"/>
              <a:ext cx="961197" cy="361612"/>
              <a:chOff x="4443756" y="2848235"/>
              <a:chExt cx="817863" cy="531427"/>
            </a:xfrm>
          </p:grpSpPr>
          <p:sp>
            <p:nvSpPr>
              <p:cNvPr id="94" name="Line 25"/>
              <p:cNvSpPr>
                <a:spLocks noChangeShapeType="1"/>
              </p:cNvSpPr>
              <p:nvPr/>
            </p:nvSpPr>
            <p:spPr bwMode="auto">
              <a:xfrm>
                <a:off x="5057153"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25"/>
              <p:cNvSpPr>
                <a:spLocks noChangeShapeType="1"/>
              </p:cNvSpPr>
              <p:nvPr/>
            </p:nvSpPr>
            <p:spPr bwMode="auto">
              <a:xfrm>
                <a:off x="4443756"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25"/>
              <p:cNvSpPr>
                <a:spLocks noChangeShapeType="1"/>
              </p:cNvSpPr>
              <p:nvPr/>
            </p:nvSpPr>
            <p:spPr bwMode="auto">
              <a:xfrm>
                <a:off x="4648222"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25"/>
              <p:cNvSpPr>
                <a:spLocks noChangeShapeType="1"/>
              </p:cNvSpPr>
              <p:nvPr/>
            </p:nvSpPr>
            <p:spPr bwMode="auto">
              <a:xfrm>
                <a:off x="4852687"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Line 25"/>
              <p:cNvSpPr>
                <a:spLocks noChangeShapeType="1"/>
              </p:cNvSpPr>
              <p:nvPr/>
            </p:nvSpPr>
            <p:spPr bwMode="auto">
              <a:xfrm>
                <a:off x="5261619"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99" name="直接连接符 98"/>
            <p:cNvCxnSpPr/>
            <p:nvPr/>
          </p:nvCxnSpPr>
          <p:spPr bwMode="auto">
            <a:xfrm flipH="1">
              <a:off x="5582101" y="4345308"/>
              <a:ext cx="265385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0" name="组合 99"/>
            <p:cNvGrpSpPr/>
            <p:nvPr/>
          </p:nvGrpSpPr>
          <p:grpSpPr>
            <a:xfrm>
              <a:off x="5840477" y="4349296"/>
              <a:ext cx="1092291" cy="190110"/>
              <a:chOff x="5473060" y="3700042"/>
              <a:chExt cx="1727172" cy="246815"/>
            </a:xfrm>
          </p:grpSpPr>
          <p:sp>
            <p:nvSpPr>
              <p:cNvPr id="101" name="Line 25"/>
              <p:cNvSpPr>
                <a:spLocks noChangeShapeType="1"/>
              </p:cNvSpPr>
              <p:nvPr/>
            </p:nvSpPr>
            <p:spPr bwMode="auto">
              <a:xfrm>
                <a:off x="5473060" y="3706165"/>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25"/>
              <p:cNvSpPr>
                <a:spLocks noChangeShapeType="1"/>
              </p:cNvSpPr>
              <p:nvPr/>
            </p:nvSpPr>
            <p:spPr bwMode="auto">
              <a:xfrm>
                <a:off x="5904853"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25"/>
              <p:cNvSpPr>
                <a:spLocks noChangeShapeType="1"/>
              </p:cNvSpPr>
              <p:nvPr/>
            </p:nvSpPr>
            <p:spPr bwMode="auto">
              <a:xfrm>
                <a:off x="6336646"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25"/>
              <p:cNvSpPr>
                <a:spLocks noChangeShapeType="1"/>
              </p:cNvSpPr>
              <p:nvPr/>
            </p:nvSpPr>
            <p:spPr bwMode="auto">
              <a:xfrm>
                <a:off x="6768439"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25"/>
              <p:cNvSpPr>
                <a:spLocks noChangeShapeType="1"/>
              </p:cNvSpPr>
              <p:nvPr/>
            </p:nvSpPr>
            <p:spPr bwMode="auto">
              <a:xfrm>
                <a:off x="7200232"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06" name="直接连接符 105"/>
            <p:cNvCxnSpPr/>
            <p:nvPr/>
          </p:nvCxnSpPr>
          <p:spPr bwMode="auto">
            <a:xfrm>
              <a:off x="4620018" y="4173589"/>
              <a:ext cx="95472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任意多边形 106"/>
            <p:cNvSpPr/>
            <p:nvPr/>
          </p:nvSpPr>
          <p:spPr bwMode="auto">
            <a:xfrm rot="8100000">
              <a:off x="4731325" y="4200205"/>
              <a:ext cx="797936" cy="854611"/>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 name="connsiteX0" fmla="*/ 0 w 1403883"/>
                <a:gd name="connsiteY0" fmla="*/ 284397 h 1503597"/>
                <a:gd name="connsiteX1" fmla="*/ 1403884 w 1403883"/>
                <a:gd name="connsiteY1" fmla="*/ 0 h 1503597"/>
                <a:gd name="connsiteX2" fmla="*/ 1230085 w 1403883"/>
                <a:gd name="connsiteY2" fmla="*/ 1503597 h 1503597"/>
                <a:gd name="connsiteX3" fmla="*/ 43542 w 1403883"/>
                <a:gd name="connsiteY3" fmla="*/ 317054 h 1503597"/>
                <a:gd name="connsiteX4" fmla="*/ 0 w 1403883"/>
                <a:gd name="connsiteY4" fmla="*/ 284397 h 150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3883" h="1503597">
                  <a:moveTo>
                    <a:pt x="0" y="284397"/>
                  </a:moveTo>
                  <a:lnTo>
                    <a:pt x="1403884" y="0"/>
                  </a:lnTo>
                  <a:lnTo>
                    <a:pt x="1230085" y="1503597"/>
                  </a:lnTo>
                  <a:lnTo>
                    <a:pt x="43542" y="317054"/>
                  </a:lnTo>
                  <a:lnTo>
                    <a:pt x="0" y="284397"/>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09" name="Rectangle 152"/>
            <p:cNvSpPr>
              <a:spLocks noChangeArrowheads="1"/>
            </p:cNvSpPr>
            <p:nvPr/>
          </p:nvSpPr>
          <p:spPr bwMode="auto">
            <a:xfrm>
              <a:off x="5919752" y="4500706"/>
              <a:ext cx="485240"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35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10" name="任意多边形 109"/>
            <p:cNvSpPr/>
            <p:nvPr/>
          </p:nvSpPr>
          <p:spPr bwMode="auto">
            <a:xfrm rot="3495134">
              <a:off x="5788163" y="4559209"/>
              <a:ext cx="144366" cy="160431"/>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115" name="组合 114"/>
            <p:cNvGrpSpPr/>
            <p:nvPr/>
          </p:nvGrpSpPr>
          <p:grpSpPr>
            <a:xfrm>
              <a:off x="4613876" y="3967700"/>
              <a:ext cx="965346" cy="140017"/>
              <a:chOff x="4457514" y="2897257"/>
              <a:chExt cx="1362333" cy="109926"/>
            </a:xfrm>
          </p:grpSpPr>
          <p:cxnSp>
            <p:nvCxnSpPr>
              <p:cNvPr id="116" name="直接连接符 115"/>
              <p:cNvCxnSpPr/>
              <p:nvPr/>
            </p:nvCxnSpPr>
            <p:spPr bwMode="auto">
              <a:xfrm>
                <a:off x="4457514" y="2902252"/>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直接连接符 116"/>
              <p:cNvCxnSpPr/>
              <p:nvPr/>
            </p:nvCxnSpPr>
            <p:spPr bwMode="auto">
              <a:xfrm>
                <a:off x="5805900" y="2897257"/>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直接连接符 117"/>
              <p:cNvCxnSpPr/>
              <p:nvPr/>
            </p:nvCxnSpPr>
            <p:spPr bwMode="auto">
              <a:xfrm>
                <a:off x="4457515" y="2969142"/>
                <a:ext cx="1362332" cy="0"/>
              </a:xfrm>
              <a:prstGeom prst="line">
                <a:avLst/>
              </a:pr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9" name="Text Box 21"/>
            <p:cNvSpPr txBox="1">
              <a:spLocks noChangeArrowheads="1"/>
            </p:cNvSpPr>
            <p:nvPr/>
          </p:nvSpPr>
          <p:spPr bwMode="auto">
            <a:xfrm>
              <a:off x="4728935" y="3665927"/>
              <a:ext cx="739305"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rPr>
                <a:t>b</a:t>
              </a:r>
              <a:r>
                <a:rPr kumimoji="1" lang="en-US" altLang="zh-CN" sz="1800" b="1" dirty="0">
                  <a:solidFill>
                    <a:srgbClr val="000066"/>
                  </a:solidFill>
                  <a:latin typeface="Times New Roman" panose="02020603050405020304" pitchFamily="18" charset="0"/>
                </a:rPr>
                <a:t>=2m</a:t>
              </a:r>
              <a:endParaRPr kumimoji="1" lang="en-US" altLang="zh-CN" sz="1800" b="1" baseline="-25000" dirty="0">
                <a:solidFill>
                  <a:srgbClr val="000066"/>
                </a:solidFill>
                <a:latin typeface="Times New Roman" panose="02020603050405020304" pitchFamily="18" charset="0"/>
              </a:endParaRPr>
            </a:p>
          </p:txBody>
        </p:sp>
        <p:cxnSp>
          <p:nvCxnSpPr>
            <p:cNvPr id="125" name="直接连接符 124"/>
            <p:cNvCxnSpPr/>
            <p:nvPr/>
          </p:nvCxnSpPr>
          <p:spPr bwMode="auto">
            <a:xfrm rot="18300000">
              <a:off x="6175192" y="4219925"/>
              <a:ext cx="0" cy="147600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Text Box 21"/>
            <p:cNvSpPr txBox="1">
              <a:spLocks noChangeArrowheads="1"/>
            </p:cNvSpPr>
            <p:nvPr/>
          </p:nvSpPr>
          <p:spPr bwMode="auto">
            <a:xfrm rot="18240861">
              <a:off x="4856850" y="4762044"/>
              <a:ext cx="1211384" cy="375487"/>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600" b="1" i="1" dirty="0">
                  <a:solidFill>
                    <a:srgbClr val="000066"/>
                  </a:solidFill>
                  <a:latin typeface="Times New Roman" panose="02020603050405020304" pitchFamily="18" charset="0"/>
                  <a:sym typeface="Symbol" panose="05050102010706020507" pitchFamily="18" charset="2"/>
                </a:rPr>
                <a:t>r</a:t>
              </a:r>
              <a:r>
                <a:rPr kumimoji="1" lang="en-US" altLang="zh-CN" sz="1600" b="1" baseline="-25000" dirty="0">
                  <a:solidFill>
                    <a:srgbClr val="000066"/>
                  </a:solidFill>
                  <a:latin typeface="Times New Roman" panose="02020603050405020304" pitchFamily="18" charset="0"/>
                  <a:sym typeface="Symbol" panose="05050102010706020507" pitchFamily="18" charset="2"/>
                </a:rPr>
                <a:t>0</a:t>
              </a:r>
              <a:r>
                <a:rPr kumimoji="1" lang="en-US" altLang="zh-CN" sz="1600" b="1" dirty="0">
                  <a:solidFill>
                    <a:srgbClr val="000066"/>
                  </a:solidFill>
                  <a:latin typeface="Times New Roman" panose="02020603050405020304" pitchFamily="18" charset="0"/>
                </a:rPr>
                <a:t>=1.74m</a:t>
              </a:r>
              <a:endParaRPr kumimoji="1" lang="en-US" altLang="zh-CN" sz="1600" b="1" baseline="-25000" dirty="0">
                <a:solidFill>
                  <a:srgbClr val="000066"/>
                </a:solidFill>
                <a:latin typeface="Times New Roman" panose="02020603050405020304" pitchFamily="18" charset="0"/>
              </a:endParaRPr>
            </a:p>
          </p:txBody>
        </p:sp>
        <p:sp>
          <p:nvSpPr>
            <p:cNvPr id="130" name="Text Box 21"/>
            <p:cNvSpPr txBox="1">
              <a:spLocks noChangeArrowheads="1"/>
            </p:cNvSpPr>
            <p:nvPr/>
          </p:nvSpPr>
          <p:spPr bwMode="auto">
            <a:xfrm rot="2086061">
              <a:off x="5766492" y="4966897"/>
              <a:ext cx="988607" cy="352789"/>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600" b="1" i="1" dirty="0">
                  <a:solidFill>
                    <a:srgbClr val="000066"/>
                  </a:solidFill>
                  <a:latin typeface="Times New Roman" panose="02020603050405020304" pitchFamily="18" charset="0"/>
                  <a:sym typeface="Symbol" panose="05050102010706020507" pitchFamily="18" charset="2"/>
                </a:rPr>
                <a:t>r</a:t>
              </a:r>
              <a:r>
                <a:rPr kumimoji="1" lang="en-US" altLang="zh-CN" sz="1600" b="1" baseline="-25000" dirty="0">
                  <a:solidFill>
                    <a:srgbClr val="000066"/>
                  </a:solidFill>
                  <a:latin typeface="Times New Roman" panose="02020603050405020304" pitchFamily="18" charset="0"/>
                  <a:sym typeface="Symbol" panose="05050102010706020507" pitchFamily="18" charset="2"/>
                </a:rPr>
                <a:t>1</a:t>
              </a:r>
              <a:r>
                <a:rPr kumimoji="1" lang="en-US" altLang="zh-CN" sz="1600" b="1" dirty="0">
                  <a:solidFill>
                    <a:srgbClr val="000066"/>
                  </a:solidFill>
                  <a:latin typeface="Times New Roman" panose="02020603050405020304" pitchFamily="18" charset="0"/>
                </a:rPr>
                <a:t>=3.08m</a:t>
              </a:r>
              <a:endParaRPr kumimoji="1" lang="en-US" altLang="zh-CN" sz="1600" b="1" baseline="-25000" dirty="0">
                <a:solidFill>
                  <a:srgbClr val="000066"/>
                </a:solidFill>
                <a:latin typeface="Times New Roman" panose="02020603050405020304" pitchFamily="18" charset="0"/>
              </a:endParaRPr>
            </a:p>
          </p:txBody>
        </p:sp>
        <p:grpSp>
          <p:nvGrpSpPr>
            <p:cNvPr id="131" name="组合 130"/>
            <p:cNvGrpSpPr/>
            <p:nvPr/>
          </p:nvGrpSpPr>
          <p:grpSpPr>
            <a:xfrm>
              <a:off x="7222085" y="4352142"/>
              <a:ext cx="819218" cy="190110"/>
              <a:chOff x="5473060" y="3700042"/>
              <a:chExt cx="1295379" cy="246815"/>
            </a:xfrm>
          </p:grpSpPr>
          <p:sp>
            <p:nvSpPr>
              <p:cNvPr id="132" name="Line 25"/>
              <p:cNvSpPr>
                <a:spLocks noChangeShapeType="1"/>
              </p:cNvSpPr>
              <p:nvPr/>
            </p:nvSpPr>
            <p:spPr bwMode="auto">
              <a:xfrm>
                <a:off x="5473060" y="3706165"/>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Line 25"/>
              <p:cNvSpPr>
                <a:spLocks noChangeShapeType="1"/>
              </p:cNvSpPr>
              <p:nvPr/>
            </p:nvSpPr>
            <p:spPr bwMode="auto">
              <a:xfrm>
                <a:off x="5904853"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Line 25"/>
              <p:cNvSpPr>
                <a:spLocks noChangeShapeType="1"/>
              </p:cNvSpPr>
              <p:nvPr/>
            </p:nvSpPr>
            <p:spPr bwMode="auto">
              <a:xfrm>
                <a:off x="6336646"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 name="Line 25"/>
              <p:cNvSpPr>
                <a:spLocks noChangeShapeType="1"/>
              </p:cNvSpPr>
              <p:nvPr/>
            </p:nvSpPr>
            <p:spPr bwMode="auto">
              <a:xfrm>
                <a:off x="6768439"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9" name="矩形 138"/>
            <p:cNvSpPr/>
            <p:nvPr/>
          </p:nvSpPr>
          <p:spPr>
            <a:xfrm>
              <a:off x="7136440" y="5009116"/>
              <a:ext cx="1312423" cy="446276"/>
            </a:xfrm>
            <a:prstGeom prst="rect">
              <a:avLst/>
            </a:prstGeom>
          </p:spPr>
          <p:txBody>
            <a:bodyPr wrap="square">
              <a:spAutoFit/>
            </a:bodyPr>
            <a:lstStyle/>
            <a:p>
              <a:r>
                <a:rPr kumimoji="1" lang="en-US" altLang="zh-CN" sz="2000" b="1" dirty="0">
                  <a:solidFill>
                    <a:srgbClr val="C00000"/>
                  </a:solidFill>
                  <a:ea typeface="黑体" pitchFamily="2" charset="-122"/>
                  <a:cs typeface="Times New Roman" panose="02020603050405020304" pitchFamily="18" charset="0"/>
                </a:rPr>
                <a:t>b)</a:t>
              </a:r>
              <a:r>
                <a:rPr lang="en-US" altLang="zh-CN" sz="2000" b="1" dirty="0">
                  <a:solidFill>
                    <a:srgbClr val="C00000"/>
                  </a:solidFill>
                  <a:ea typeface="幼圆" panose="02010509060101010101" pitchFamily="49" charset="-122"/>
                  <a:cs typeface="Times New Roman" panose="02020603050405020304" pitchFamily="18" charset="0"/>
                </a:rPr>
                <a:t> φ=20°</a:t>
              </a:r>
              <a:endParaRPr lang="zh-CN" altLang="en-US" sz="2000" dirty="0">
                <a:solidFill>
                  <a:srgbClr val="C00000"/>
                </a:solidFill>
              </a:endParaRPr>
            </a:p>
          </p:txBody>
        </p:sp>
        <p:sp>
          <p:nvSpPr>
            <p:cNvPr id="77" name="任意多边形 76"/>
            <p:cNvSpPr/>
            <p:nvPr/>
          </p:nvSpPr>
          <p:spPr bwMode="auto">
            <a:xfrm>
              <a:off x="5149112" y="4539515"/>
              <a:ext cx="2914650" cy="1055584"/>
            </a:xfrm>
            <a:custGeom>
              <a:avLst/>
              <a:gdLst>
                <a:gd name="connsiteX0" fmla="*/ 0 w 2914650"/>
                <a:gd name="connsiteY0" fmla="*/ 666750 h 1055584"/>
                <a:gd name="connsiteX1" fmla="*/ 215900 w 2914650"/>
                <a:gd name="connsiteY1" fmla="*/ 869950 h 1055584"/>
                <a:gd name="connsiteX2" fmla="*/ 520700 w 2914650"/>
                <a:gd name="connsiteY2" fmla="*/ 1009650 h 1055584"/>
                <a:gd name="connsiteX3" fmla="*/ 952500 w 2914650"/>
                <a:gd name="connsiteY3" fmla="*/ 1054100 h 1055584"/>
                <a:gd name="connsiteX4" fmla="*/ 1371600 w 2914650"/>
                <a:gd name="connsiteY4" fmla="*/ 965200 h 1055584"/>
                <a:gd name="connsiteX5" fmla="*/ 1714500 w 2914650"/>
                <a:gd name="connsiteY5" fmla="*/ 768350 h 1055584"/>
                <a:gd name="connsiteX6" fmla="*/ 2184400 w 2914650"/>
                <a:gd name="connsiteY6" fmla="*/ 463550 h 1055584"/>
                <a:gd name="connsiteX7" fmla="*/ 2914650 w 2914650"/>
                <a:gd name="connsiteY7" fmla="*/ 0 h 105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4650" h="1055584">
                  <a:moveTo>
                    <a:pt x="0" y="666750"/>
                  </a:moveTo>
                  <a:cubicBezTo>
                    <a:pt x="64558" y="739775"/>
                    <a:pt x="129117" y="812800"/>
                    <a:pt x="215900" y="869950"/>
                  </a:cubicBezTo>
                  <a:cubicBezTo>
                    <a:pt x="302683" y="927100"/>
                    <a:pt x="397933" y="978958"/>
                    <a:pt x="520700" y="1009650"/>
                  </a:cubicBezTo>
                  <a:cubicBezTo>
                    <a:pt x="643467" y="1040342"/>
                    <a:pt x="810683" y="1061508"/>
                    <a:pt x="952500" y="1054100"/>
                  </a:cubicBezTo>
                  <a:cubicBezTo>
                    <a:pt x="1094317" y="1046692"/>
                    <a:pt x="1244600" y="1012825"/>
                    <a:pt x="1371600" y="965200"/>
                  </a:cubicBezTo>
                  <a:cubicBezTo>
                    <a:pt x="1498600" y="917575"/>
                    <a:pt x="1579033" y="851958"/>
                    <a:pt x="1714500" y="768350"/>
                  </a:cubicBezTo>
                  <a:cubicBezTo>
                    <a:pt x="1849967" y="684742"/>
                    <a:pt x="2184400" y="463550"/>
                    <a:pt x="2184400" y="463550"/>
                  </a:cubicBezTo>
                  <a:lnTo>
                    <a:pt x="2914650" y="0"/>
                  </a:ln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81"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一般公式</a:t>
            </a:r>
          </a:p>
        </p:txBody>
      </p:sp>
    </p:spTree>
    <p:extLst>
      <p:ext uri="{BB962C8B-B14F-4D97-AF65-F5344CB8AC3E}">
        <p14:creationId xmlns:p14="http://schemas.microsoft.com/office/powerpoint/2010/main" val="204877723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barn(inVertical)">
                                      <p:cBhvr>
                                        <p:cTn id="7" dur="500"/>
                                        <p:tgtEl>
                                          <p:spTgt spid="7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500"/>
                                        <p:tgtEl>
                                          <p:spTgt spid="19"/>
                                        </p:tgtEl>
                                      </p:cBhvr>
                                    </p:animEffect>
                                  </p:childTnLst>
                                </p:cTn>
                              </p:par>
                              <p:par>
                                <p:cTn id="11" presetID="6" presetClass="entr" presetSubtype="16"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par>
                                <p:cTn id="14" presetID="6" presetClass="entr" presetSubtype="16"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ircle(in)">
                                      <p:cBhvr>
                                        <p:cTn id="16" dur="2000"/>
                                        <p:tgtEl>
                                          <p:spTgt spid="5"/>
                                        </p:tgtEl>
                                      </p:cBhvr>
                                    </p:animEffect>
                                  </p:childTnLst>
                                </p:cTn>
                              </p:par>
                            </p:childTnLst>
                          </p:cTn>
                        </p:par>
                        <p:par>
                          <p:cTn id="17" fill="hold">
                            <p:stCondLst>
                              <p:cond delay="2000"/>
                            </p:stCondLst>
                            <p:childTnLst>
                              <p:par>
                                <p:cTn id="18" presetID="35" presetClass="emph" presetSubtype="0" repeatCount="3000" fill="hold" nodeType="afterEffect">
                                  <p:stCondLst>
                                    <p:cond delay="0"/>
                                  </p:stCondLst>
                                  <p:childTnLst>
                                    <p:anim calcmode="discrete" valueType="str">
                                      <p:cBhvr>
                                        <p:cTn id="19" dur="1000" fill="hold"/>
                                        <p:tgtEl>
                                          <p:spTgt spid="8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1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矩形 184"/>
          <p:cNvSpPr/>
          <p:nvPr/>
        </p:nvSpPr>
        <p:spPr bwMode="auto">
          <a:xfrm>
            <a:off x="918095" y="1478943"/>
            <a:ext cx="7470531" cy="2130949"/>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57</a:t>
            </a:fld>
            <a:endParaRPr lang="zh-CN" altLang="en-US" dirty="0">
              <a:solidFill>
                <a:srgbClr val="C00000"/>
              </a:solidFill>
            </a:endParaRPr>
          </a:p>
        </p:txBody>
      </p:sp>
      <p:sp>
        <p:nvSpPr>
          <p:cNvPr id="4" name="Text Box 2"/>
          <p:cNvSpPr txBox="1">
            <a:spLocks noChangeArrowheads="1"/>
          </p:cNvSpPr>
          <p:nvPr/>
        </p:nvSpPr>
        <p:spPr bwMode="auto">
          <a:xfrm>
            <a:off x="2482890" y="5738072"/>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极限承载力的影响因素</a:t>
            </a:r>
          </a:p>
        </p:txBody>
      </p:sp>
      <p:sp>
        <p:nvSpPr>
          <p:cNvPr id="19" name="Text Box 3"/>
          <p:cNvSpPr txBox="1">
            <a:spLocks noChangeArrowheads="1"/>
          </p:cNvSpPr>
          <p:nvPr/>
        </p:nvSpPr>
        <p:spPr bwMode="auto">
          <a:xfrm>
            <a:off x="1019267" y="1539842"/>
            <a:ext cx="7419336" cy="2000548"/>
          </a:xfrm>
          <a:prstGeom prst="rect">
            <a:avLst/>
          </a:prstGeom>
          <a:noFill/>
          <a:ln w="9525" algn="ctr">
            <a:noFill/>
            <a:miter lim="800000"/>
            <a:headEnd/>
            <a:tailEnd/>
          </a:ln>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61950" indent="-361950" eaLnBrk="1" hangingPunct="1">
              <a:lnSpc>
                <a:spcPct val="120000"/>
              </a:lnSpc>
              <a:spcBef>
                <a:spcPts val="200"/>
              </a:spcBef>
              <a:spcAft>
                <a:spcPts val="200"/>
              </a:spcAft>
              <a:buClr>
                <a:srgbClr val="C00000"/>
              </a:buClr>
              <a:buSzPct val="100000"/>
              <a:buFont typeface="+mj-lt"/>
              <a:buAutoNum type="arabicPeriod"/>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多数公式忽略了这部分土体本身黏聚力和摩擦力的影响</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61950" indent="-361950" eaLnBrk="1" hangingPunct="1">
              <a:lnSpc>
                <a:spcPct val="120000"/>
              </a:lnSpc>
              <a:spcBef>
                <a:spcPts val="200"/>
              </a:spcBef>
              <a:spcAft>
                <a:spcPts val="200"/>
              </a:spcAft>
              <a:buClr>
                <a:srgbClr val="C00000"/>
              </a:buClr>
              <a:buSzPct val="100000"/>
              <a:buFont typeface="+mj-lt"/>
              <a:buAutoNum type="arabicPeriod"/>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两种作用：</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）必须克服该压力滑动土体才能抬起；</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2</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）在滑动面上也会产生正应力和摩阻力，组成承载力的一部分</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61950" indent="-361950" eaLnBrk="1" hangingPunct="1">
              <a:lnSpc>
                <a:spcPct val="120000"/>
              </a:lnSpc>
              <a:spcBef>
                <a:spcPts val="200"/>
              </a:spcBef>
              <a:spcAft>
                <a:spcPts val="200"/>
              </a:spcAft>
              <a:buClr>
                <a:srgbClr val="C00000"/>
              </a:buClr>
              <a:buSzPct val="100000"/>
              <a:buFont typeface="+mj-lt"/>
              <a:buAutoNum type="arabicPeriod"/>
            </a:pP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q</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与基础宽度</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无关</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61950" indent="-361950" eaLnBrk="1" hangingPunct="1">
              <a:lnSpc>
                <a:spcPct val="120000"/>
              </a:lnSpc>
              <a:spcBef>
                <a:spcPts val="200"/>
              </a:spcBef>
              <a:spcAft>
                <a:spcPts val="200"/>
              </a:spcAft>
              <a:buClr>
                <a:srgbClr val="C00000"/>
              </a:buClr>
              <a:buSzPct val="100000"/>
              <a:buFont typeface="+mj-lt"/>
              <a:buAutoNum type="arabicPeriod"/>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随</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φ</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增加，</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q</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的作用长度增加，</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N</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q</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随</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φ</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的增加而增大</a:t>
            </a:r>
          </a:p>
        </p:txBody>
      </p:sp>
      <p:graphicFrame>
        <p:nvGraphicFramePr>
          <p:cNvPr id="81" name="Object 15"/>
          <p:cNvGraphicFramePr>
            <a:graphicFrameLocks noChangeAspect="1"/>
          </p:cNvGraphicFramePr>
          <p:nvPr>
            <p:extLst>
              <p:ext uri="{D42A27DB-BD31-4B8C-83A1-F6EECF244321}">
                <p14:modId xmlns:p14="http://schemas.microsoft.com/office/powerpoint/2010/main" val="786608947"/>
              </p:ext>
            </p:extLst>
          </p:nvPr>
        </p:nvGraphicFramePr>
        <p:xfrm>
          <a:off x="6170127" y="737858"/>
          <a:ext cx="1219200" cy="457200"/>
        </p:xfrm>
        <a:graphic>
          <a:graphicData uri="http://schemas.openxmlformats.org/presentationml/2006/ole">
            <mc:AlternateContent xmlns:mc="http://schemas.openxmlformats.org/markup-compatibility/2006">
              <mc:Choice xmlns:v="urn:schemas-microsoft-com:vml" Requires="v">
                <p:oleObj spid="_x0000_s1827955" name="Equation" r:id="rId4" imgW="609480" imgH="228600" progId="Equation.DSMT4">
                  <p:embed/>
                </p:oleObj>
              </mc:Choice>
              <mc:Fallback>
                <p:oleObj name="Equation" r:id="rId4" imgW="609480" imgH="228600" progId="Equation.DSMT4">
                  <p:embed/>
                  <p:pic>
                    <p:nvPicPr>
                      <p:cNvPr id="81" name="Object 15"/>
                      <p:cNvPicPr>
                        <a:picLocks noChangeAspect="1" noChangeArrowheads="1"/>
                      </p:cNvPicPr>
                      <p:nvPr/>
                    </p:nvPicPr>
                    <p:blipFill>
                      <a:blip r:embed="rId5"/>
                      <a:srcRect/>
                      <a:stretch>
                        <a:fillRect/>
                      </a:stretch>
                    </p:blipFill>
                    <p:spPr bwMode="auto">
                      <a:xfrm>
                        <a:off x="6170127" y="737858"/>
                        <a:ext cx="1219200" cy="457200"/>
                      </a:xfrm>
                      <a:prstGeom prst="rect">
                        <a:avLst/>
                      </a:prstGeom>
                      <a:solidFill>
                        <a:srgbClr val="FFC000"/>
                      </a:solidFill>
                      <a:ln>
                        <a:noFill/>
                      </a:ln>
                      <a:extLst/>
                    </p:spPr>
                  </p:pic>
                </p:oleObj>
              </mc:Fallback>
            </mc:AlternateContent>
          </a:graphicData>
        </a:graphic>
      </p:graphicFrame>
      <p:sp>
        <p:nvSpPr>
          <p:cNvPr id="140" name="Text Box 46"/>
          <p:cNvSpPr txBox="1">
            <a:spLocks noChangeArrowheads="1"/>
          </p:cNvSpPr>
          <p:nvPr/>
        </p:nvSpPr>
        <p:spPr bwMode="auto">
          <a:xfrm>
            <a:off x="464159" y="744129"/>
            <a:ext cx="57159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基底以上两侧超载产生的承载力</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86" name="Text Box 7"/>
          <p:cNvSpPr txBox="1">
            <a:spLocks noChangeArrowheads="1"/>
          </p:cNvSpPr>
          <p:nvPr/>
        </p:nvSpPr>
        <p:spPr bwMode="auto">
          <a:xfrm>
            <a:off x="0" y="0"/>
            <a:ext cx="496993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a:solidFill>
                  <a:srgbClr val="000066"/>
                </a:solidFill>
                <a:ea typeface="黑体" panose="02010609060101010101" pitchFamily="49" charset="-122"/>
                <a:cs typeface="Times New Roman" panose="02020603050405020304" pitchFamily="18" charset="0"/>
              </a:rPr>
              <a:t>§8.3  </a:t>
            </a:r>
            <a:r>
              <a:rPr lang="zh-CN" altLang="en-US" sz="1800" b="1" kern="900" spc="130" dirty="0">
                <a:solidFill>
                  <a:srgbClr val="000066"/>
                </a:solidFill>
                <a:ea typeface="黑体" panose="02010609060101010101" pitchFamily="49" charset="-122"/>
                <a:cs typeface="Times New Roman" panose="02020603050405020304" pitchFamily="18" charset="0"/>
              </a:rPr>
              <a:t>极限承载力计算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一般公式</a:t>
            </a:r>
          </a:p>
        </p:txBody>
      </p:sp>
      <p:grpSp>
        <p:nvGrpSpPr>
          <p:cNvPr id="86" name="组合 85"/>
          <p:cNvGrpSpPr/>
          <p:nvPr/>
        </p:nvGrpSpPr>
        <p:grpSpPr>
          <a:xfrm>
            <a:off x="1143135" y="3679658"/>
            <a:ext cx="2983489" cy="2010179"/>
            <a:chOff x="1143135" y="3679658"/>
            <a:chExt cx="2983489" cy="2010179"/>
          </a:xfrm>
        </p:grpSpPr>
        <p:sp>
          <p:nvSpPr>
            <p:cNvPr id="87" name="Text Box 21"/>
            <p:cNvSpPr txBox="1">
              <a:spLocks noChangeArrowheads="1"/>
            </p:cNvSpPr>
            <p:nvPr/>
          </p:nvSpPr>
          <p:spPr bwMode="auto">
            <a:xfrm>
              <a:off x="1449523" y="3679658"/>
              <a:ext cx="739305"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rPr>
                <a:t>b</a:t>
              </a:r>
              <a:r>
                <a:rPr kumimoji="1" lang="en-US" altLang="zh-CN" sz="1800" b="1" dirty="0">
                  <a:solidFill>
                    <a:srgbClr val="000066"/>
                  </a:solidFill>
                  <a:latin typeface="Times New Roman" panose="02020603050405020304" pitchFamily="18" charset="0"/>
                </a:rPr>
                <a:t>=2m</a:t>
              </a:r>
              <a:endParaRPr kumimoji="1" lang="en-US" altLang="zh-CN" sz="1800" b="1" baseline="-25000" dirty="0">
                <a:solidFill>
                  <a:srgbClr val="000066"/>
                </a:solidFill>
                <a:latin typeface="Times New Roman" panose="02020603050405020304" pitchFamily="18" charset="0"/>
              </a:endParaRPr>
            </a:p>
          </p:txBody>
        </p:sp>
        <p:grpSp>
          <p:nvGrpSpPr>
            <p:cNvPr id="88" name="组合 87"/>
            <p:cNvGrpSpPr/>
            <p:nvPr/>
          </p:nvGrpSpPr>
          <p:grpSpPr>
            <a:xfrm>
              <a:off x="1143135" y="3847402"/>
              <a:ext cx="2983489" cy="1842435"/>
              <a:chOff x="1143135" y="3847402"/>
              <a:chExt cx="2983489" cy="1842435"/>
            </a:xfrm>
          </p:grpSpPr>
          <p:sp>
            <p:nvSpPr>
              <p:cNvPr id="89" name="矩形 88"/>
              <p:cNvSpPr/>
              <p:nvPr/>
            </p:nvSpPr>
            <p:spPr bwMode="auto">
              <a:xfrm>
                <a:off x="1148790" y="4552107"/>
                <a:ext cx="2769308" cy="1137730"/>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0" name="弧形 89"/>
              <p:cNvSpPr/>
              <p:nvPr/>
            </p:nvSpPr>
            <p:spPr bwMode="auto">
              <a:xfrm rot="8100000">
                <a:off x="1635831" y="3847402"/>
                <a:ext cx="1380087" cy="1380088"/>
              </a:xfrm>
              <a:prstGeom prst="arc">
                <a:avLst/>
              </a:pr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1" name="任意多边形 90"/>
              <p:cNvSpPr/>
              <p:nvPr/>
            </p:nvSpPr>
            <p:spPr bwMode="auto">
              <a:xfrm rot="8100000">
                <a:off x="1495843" y="4191799"/>
                <a:ext cx="699153" cy="692966"/>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085" h="1219200">
                    <a:moveTo>
                      <a:pt x="0" y="0"/>
                    </a:moveTo>
                    <a:lnTo>
                      <a:pt x="1230085" y="0"/>
                    </a:lnTo>
                    <a:lnTo>
                      <a:pt x="1230085" y="1219200"/>
                    </a:lnTo>
                    <a:lnTo>
                      <a:pt x="43542" y="32657"/>
                    </a:lnTo>
                    <a:lnTo>
                      <a:pt x="0" y="0"/>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92" name="任意多边形 91"/>
              <p:cNvSpPr/>
              <p:nvPr/>
            </p:nvSpPr>
            <p:spPr bwMode="auto">
              <a:xfrm rot="8100000">
                <a:off x="2465020" y="4191032"/>
                <a:ext cx="699153" cy="692966"/>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085" h="1219200">
                    <a:moveTo>
                      <a:pt x="0" y="0"/>
                    </a:moveTo>
                    <a:lnTo>
                      <a:pt x="1230085" y="0"/>
                    </a:lnTo>
                    <a:lnTo>
                      <a:pt x="1230085" y="1219200"/>
                    </a:lnTo>
                    <a:lnTo>
                      <a:pt x="43542" y="32657"/>
                    </a:lnTo>
                    <a:lnTo>
                      <a:pt x="0" y="0"/>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93" name="直接连接符 92"/>
              <p:cNvCxnSpPr/>
              <p:nvPr/>
            </p:nvCxnSpPr>
            <p:spPr bwMode="auto">
              <a:xfrm flipH="1">
                <a:off x="1143135" y="4540149"/>
                <a:ext cx="276220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Text Box 21"/>
              <p:cNvSpPr txBox="1">
                <a:spLocks noChangeArrowheads="1"/>
              </p:cNvSpPr>
              <p:nvPr/>
            </p:nvSpPr>
            <p:spPr bwMode="auto">
              <a:xfrm>
                <a:off x="2703892" y="3882239"/>
                <a:ext cx="1006607"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rPr>
                  <a:t>q=</a:t>
                </a:r>
                <a:r>
                  <a:rPr kumimoji="1" lang="en-US" altLang="zh-CN" sz="1800" b="1" i="1" dirty="0">
                    <a:solidFill>
                      <a:srgbClr val="000066"/>
                    </a:solidFill>
                    <a:latin typeface="Times New Roman" panose="02020603050405020304" pitchFamily="18" charset="0"/>
                    <a:sym typeface="Symbol" panose="05050102010706020507" pitchFamily="18" charset="2"/>
                  </a:rPr>
                  <a:t></a:t>
                </a:r>
                <a:r>
                  <a:rPr kumimoji="1" lang="en-US" altLang="zh-CN" sz="1800" b="1" baseline="-25000" dirty="0">
                    <a:solidFill>
                      <a:srgbClr val="000066"/>
                    </a:solidFill>
                    <a:latin typeface="Times New Roman" panose="02020603050405020304" pitchFamily="18" charset="0"/>
                    <a:sym typeface="Symbol" panose="05050102010706020507" pitchFamily="18" charset="2"/>
                  </a:rPr>
                  <a:t>0</a:t>
                </a:r>
                <a:r>
                  <a:rPr kumimoji="1" lang="en-US" altLang="zh-CN" sz="1800" b="1" i="1" dirty="0">
                    <a:solidFill>
                      <a:srgbClr val="000066"/>
                    </a:solidFill>
                    <a:latin typeface="Times New Roman" panose="02020603050405020304" pitchFamily="18" charset="0"/>
                  </a:rPr>
                  <a:t>d</a:t>
                </a:r>
                <a:endParaRPr kumimoji="1" lang="en-US" altLang="zh-CN" sz="1800" b="1" baseline="-25000" dirty="0">
                  <a:solidFill>
                    <a:srgbClr val="000066"/>
                  </a:solidFill>
                  <a:latin typeface="Times New Roman" panose="02020603050405020304" pitchFamily="18" charset="0"/>
                </a:endParaRPr>
              </a:p>
            </p:txBody>
          </p:sp>
          <p:grpSp>
            <p:nvGrpSpPr>
              <p:cNvPr id="95" name="组合 94"/>
              <p:cNvGrpSpPr/>
              <p:nvPr/>
            </p:nvGrpSpPr>
            <p:grpSpPr>
              <a:xfrm>
                <a:off x="1363150" y="4176435"/>
                <a:ext cx="961197" cy="361612"/>
                <a:chOff x="4443756" y="2848235"/>
                <a:chExt cx="817863" cy="531427"/>
              </a:xfrm>
            </p:grpSpPr>
            <p:sp>
              <p:nvSpPr>
                <p:cNvPr id="125" name="Line 25"/>
                <p:cNvSpPr>
                  <a:spLocks noChangeShapeType="1"/>
                </p:cNvSpPr>
                <p:nvPr/>
              </p:nvSpPr>
              <p:spPr bwMode="auto">
                <a:xfrm>
                  <a:off x="5057153"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 name="Line 25"/>
                <p:cNvSpPr>
                  <a:spLocks noChangeShapeType="1"/>
                </p:cNvSpPr>
                <p:nvPr/>
              </p:nvSpPr>
              <p:spPr bwMode="auto">
                <a:xfrm>
                  <a:off x="4443756"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 name="Line 25"/>
                <p:cNvSpPr>
                  <a:spLocks noChangeShapeType="1"/>
                </p:cNvSpPr>
                <p:nvPr/>
              </p:nvSpPr>
              <p:spPr bwMode="auto">
                <a:xfrm>
                  <a:off x="4648222"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 name="Line 25"/>
                <p:cNvSpPr>
                  <a:spLocks noChangeShapeType="1"/>
                </p:cNvSpPr>
                <p:nvPr/>
              </p:nvSpPr>
              <p:spPr bwMode="auto">
                <a:xfrm>
                  <a:off x="4852687"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 name="Line 25"/>
                <p:cNvSpPr>
                  <a:spLocks noChangeShapeType="1"/>
                </p:cNvSpPr>
                <p:nvPr/>
              </p:nvSpPr>
              <p:spPr bwMode="auto">
                <a:xfrm>
                  <a:off x="5261619"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96" name="直接连接符 95"/>
              <p:cNvCxnSpPr/>
              <p:nvPr/>
            </p:nvCxnSpPr>
            <p:spPr bwMode="auto">
              <a:xfrm flipH="1">
                <a:off x="2319452" y="4348154"/>
                <a:ext cx="158588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7" name="组合 96"/>
              <p:cNvGrpSpPr/>
              <p:nvPr/>
            </p:nvGrpSpPr>
            <p:grpSpPr>
              <a:xfrm>
                <a:off x="2615929" y="4352142"/>
                <a:ext cx="1092291" cy="190110"/>
                <a:chOff x="5473060" y="3700042"/>
                <a:chExt cx="1727172" cy="246815"/>
              </a:xfrm>
            </p:grpSpPr>
            <p:sp>
              <p:nvSpPr>
                <p:cNvPr id="115" name="Line 25"/>
                <p:cNvSpPr>
                  <a:spLocks noChangeShapeType="1"/>
                </p:cNvSpPr>
                <p:nvPr/>
              </p:nvSpPr>
              <p:spPr bwMode="auto">
                <a:xfrm>
                  <a:off x="5473060" y="3706165"/>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 name="Line 25"/>
                <p:cNvSpPr>
                  <a:spLocks noChangeShapeType="1"/>
                </p:cNvSpPr>
                <p:nvPr/>
              </p:nvSpPr>
              <p:spPr bwMode="auto">
                <a:xfrm>
                  <a:off x="5904853"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25"/>
                <p:cNvSpPr>
                  <a:spLocks noChangeShapeType="1"/>
                </p:cNvSpPr>
                <p:nvPr/>
              </p:nvSpPr>
              <p:spPr bwMode="auto">
                <a:xfrm>
                  <a:off x="6336646"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25"/>
                <p:cNvSpPr>
                  <a:spLocks noChangeShapeType="1"/>
                </p:cNvSpPr>
                <p:nvPr/>
              </p:nvSpPr>
              <p:spPr bwMode="auto">
                <a:xfrm>
                  <a:off x="6768439"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25"/>
                <p:cNvSpPr>
                  <a:spLocks noChangeShapeType="1"/>
                </p:cNvSpPr>
                <p:nvPr/>
              </p:nvSpPr>
              <p:spPr bwMode="auto">
                <a:xfrm>
                  <a:off x="7200232"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98" name="直接连接符 97"/>
              <p:cNvCxnSpPr/>
              <p:nvPr/>
            </p:nvCxnSpPr>
            <p:spPr bwMode="auto">
              <a:xfrm>
                <a:off x="1357370" y="4176435"/>
                <a:ext cx="95472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Rectangle 152"/>
              <p:cNvSpPr>
                <a:spLocks noChangeArrowheads="1"/>
              </p:cNvSpPr>
              <p:nvPr/>
            </p:nvSpPr>
            <p:spPr bwMode="auto">
              <a:xfrm>
                <a:off x="2588729" y="4500404"/>
                <a:ext cx="485240"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45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00" name="任意多边形 99"/>
              <p:cNvSpPr/>
              <p:nvPr/>
            </p:nvSpPr>
            <p:spPr bwMode="auto">
              <a:xfrm rot="3495134">
                <a:off x="2488076" y="4562053"/>
                <a:ext cx="144366" cy="160431"/>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01" name="任意多边形 100"/>
              <p:cNvSpPr/>
              <p:nvPr/>
            </p:nvSpPr>
            <p:spPr bwMode="auto">
              <a:xfrm rot="12047453">
                <a:off x="2028815" y="4565030"/>
                <a:ext cx="144366" cy="160431"/>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02" name="Rectangle 152"/>
              <p:cNvSpPr>
                <a:spLocks noChangeArrowheads="1"/>
              </p:cNvSpPr>
              <p:nvPr/>
            </p:nvSpPr>
            <p:spPr bwMode="auto">
              <a:xfrm>
                <a:off x="1628494" y="4528979"/>
                <a:ext cx="47629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45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03" name="Text Box 21"/>
              <p:cNvSpPr txBox="1">
                <a:spLocks noChangeArrowheads="1"/>
              </p:cNvSpPr>
              <p:nvPr/>
            </p:nvSpPr>
            <p:spPr bwMode="auto">
              <a:xfrm>
                <a:off x="1424796" y="5274999"/>
                <a:ext cx="1581394"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sym typeface="Symbol" panose="05050102010706020507" pitchFamily="18" charset="2"/>
                  </a:rPr>
                  <a:t>r</a:t>
                </a:r>
                <a:r>
                  <a:rPr kumimoji="1" lang="en-US" altLang="zh-CN" sz="1800" b="1" baseline="-25000" dirty="0">
                    <a:solidFill>
                      <a:srgbClr val="000066"/>
                    </a:solidFill>
                    <a:latin typeface="Times New Roman" panose="02020603050405020304" pitchFamily="18" charset="0"/>
                    <a:sym typeface="Symbol" panose="05050102010706020507" pitchFamily="18" charset="2"/>
                  </a:rPr>
                  <a:t>0</a:t>
                </a:r>
                <a:r>
                  <a:rPr kumimoji="1" lang="en-US" altLang="zh-CN" sz="1800" b="1" dirty="0">
                    <a:solidFill>
                      <a:srgbClr val="000066"/>
                    </a:solidFill>
                    <a:latin typeface="Times New Roman" panose="02020603050405020304" pitchFamily="18" charset="0"/>
                  </a:rPr>
                  <a:t>=</a:t>
                </a:r>
                <a:r>
                  <a:rPr kumimoji="1" lang="en-US" altLang="zh-CN" sz="1800" b="1" i="1" dirty="0">
                    <a:solidFill>
                      <a:srgbClr val="000066"/>
                    </a:solidFill>
                    <a:latin typeface="Times New Roman" panose="02020603050405020304" pitchFamily="18" charset="0"/>
                    <a:sym typeface="Symbol" panose="05050102010706020507" pitchFamily="18" charset="2"/>
                  </a:rPr>
                  <a:t>r</a:t>
                </a:r>
                <a:r>
                  <a:rPr kumimoji="1" lang="en-US" altLang="zh-CN" sz="1800" b="1" baseline="-25000" dirty="0">
                    <a:solidFill>
                      <a:srgbClr val="000066"/>
                    </a:solidFill>
                    <a:latin typeface="Times New Roman" panose="02020603050405020304" pitchFamily="18" charset="0"/>
                    <a:sym typeface="Symbol" panose="05050102010706020507" pitchFamily="18" charset="2"/>
                  </a:rPr>
                  <a:t>1</a:t>
                </a:r>
                <a:r>
                  <a:rPr kumimoji="1" lang="en-US" altLang="zh-CN" sz="1800" b="1" dirty="0">
                    <a:solidFill>
                      <a:srgbClr val="000066"/>
                    </a:solidFill>
                    <a:latin typeface="Times New Roman" panose="02020603050405020304" pitchFamily="18" charset="0"/>
                  </a:rPr>
                  <a:t>=1.414m</a:t>
                </a:r>
                <a:endParaRPr kumimoji="1" lang="en-US" altLang="zh-CN" sz="1800" b="1" baseline="-25000" dirty="0">
                  <a:solidFill>
                    <a:srgbClr val="000066"/>
                  </a:solidFill>
                  <a:latin typeface="Times New Roman" panose="02020603050405020304" pitchFamily="18" charset="0"/>
                </a:endParaRPr>
              </a:p>
            </p:txBody>
          </p:sp>
          <p:sp>
            <p:nvSpPr>
              <p:cNvPr id="104" name="任意多边形 103"/>
              <p:cNvSpPr/>
              <p:nvPr/>
            </p:nvSpPr>
            <p:spPr bwMode="auto">
              <a:xfrm>
                <a:off x="2039071" y="4862941"/>
                <a:ext cx="570457" cy="485775"/>
              </a:xfrm>
              <a:custGeom>
                <a:avLst/>
                <a:gdLst>
                  <a:gd name="connsiteX0" fmla="*/ 0 w 523875"/>
                  <a:gd name="connsiteY0" fmla="*/ 9525 h 485775"/>
                  <a:gd name="connsiteX1" fmla="*/ 123825 w 523875"/>
                  <a:gd name="connsiteY1" fmla="*/ 485775 h 485775"/>
                  <a:gd name="connsiteX2" fmla="*/ 523875 w 523875"/>
                  <a:gd name="connsiteY2" fmla="*/ 0 h 485775"/>
                </a:gdLst>
                <a:ahLst/>
                <a:cxnLst>
                  <a:cxn ang="0">
                    <a:pos x="connsiteX0" y="connsiteY0"/>
                  </a:cxn>
                  <a:cxn ang="0">
                    <a:pos x="connsiteX1" y="connsiteY1"/>
                  </a:cxn>
                  <a:cxn ang="0">
                    <a:pos x="connsiteX2" y="connsiteY2"/>
                  </a:cxn>
                </a:cxnLst>
                <a:rect l="l" t="t" r="r" b="b"/>
                <a:pathLst>
                  <a:path w="523875" h="485775">
                    <a:moveTo>
                      <a:pt x="0" y="9525"/>
                    </a:moveTo>
                    <a:lnTo>
                      <a:pt x="123825" y="485775"/>
                    </a:lnTo>
                    <a:lnTo>
                      <a:pt x="523875" y="0"/>
                    </a:lnTo>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105" name="组合 104"/>
              <p:cNvGrpSpPr/>
              <p:nvPr/>
            </p:nvGrpSpPr>
            <p:grpSpPr>
              <a:xfrm>
                <a:off x="1351228" y="3975652"/>
                <a:ext cx="965346" cy="150814"/>
                <a:chOff x="4457514" y="2897257"/>
                <a:chExt cx="1362333" cy="109926"/>
              </a:xfrm>
            </p:grpSpPr>
            <p:cxnSp>
              <p:nvCxnSpPr>
                <p:cNvPr id="107" name="直接连接符 106"/>
                <p:cNvCxnSpPr/>
                <p:nvPr/>
              </p:nvCxnSpPr>
              <p:spPr bwMode="auto">
                <a:xfrm>
                  <a:off x="4457514" y="2902252"/>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直接连接符 108"/>
                <p:cNvCxnSpPr/>
                <p:nvPr/>
              </p:nvCxnSpPr>
              <p:spPr bwMode="auto">
                <a:xfrm>
                  <a:off x="5805900" y="2897257"/>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109"/>
                <p:cNvCxnSpPr/>
                <p:nvPr/>
              </p:nvCxnSpPr>
              <p:spPr bwMode="auto">
                <a:xfrm>
                  <a:off x="4457515" y="2969142"/>
                  <a:ext cx="1362332" cy="0"/>
                </a:xfrm>
                <a:prstGeom prst="line">
                  <a:avLst/>
                </a:pr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6" name="矩形 105"/>
              <p:cNvSpPr/>
              <p:nvPr/>
            </p:nvSpPr>
            <p:spPr>
              <a:xfrm>
                <a:off x="2972141" y="5038045"/>
                <a:ext cx="1154483" cy="414794"/>
              </a:xfrm>
              <a:prstGeom prst="rect">
                <a:avLst/>
              </a:prstGeom>
            </p:spPr>
            <p:txBody>
              <a:bodyPr wrap="none">
                <a:spAutoFit/>
              </a:bodyPr>
              <a:lstStyle/>
              <a:p>
                <a:r>
                  <a:rPr kumimoji="1" lang="en-US" altLang="zh-CN" sz="2000" b="1" dirty="0">
                    <a:solidFill>
                      <a:srgbClr val="C00000"/>
                    </a:solidFill>
                    <a:ea typeface="黑体" pitchFamily="2" charset="-122"/>
                    <a:cs typeface="Times New Roman" panose="02020603050405020304" pitchFamily="18" charset="0"/>
                  </a:rPr>
                  <a:t>a)</a:t>
                </a:r>
                <a:r>
                  <a:rPr lang="en-US" altLang="zh-CN" sz="2000" b="1" dirty="0">
                    <a:solidFill>
                      <a:srgbClr val="C00000"/>
                    </a:solidFill>
                    <a:ea typeface="幼圆" panose="02010509060101010101" pitchFamily="49" charset="-122"/>
                    <a:cs typeface="Times New Roman" panose="02020603050405020304" pitchFamily="18" charset="0"/>
                  </a:rPr>
                  <a:t> φ=0°</a:t>
                </a:r>
                <a:endParaRPr lang="zh-CN" altLang="en-US" sz="2000" dirty="0">
                  <a:solidFill>
                    <a:srgbClr val="C00000"/>
                  </a:solidFill>
                </a:endParaRPr>
              </a:p>
            </p:txBody>
          </p:sp>
        </p:grpSp>
      </p:grpSp>
      <p:grpSp>
        <p:nvGrpSpPr>
          <p:cNvPr id="132" name="组合 131"/>
          <p:cNvGrpSpPr/>
          <p:nvPr/>
        </p:nvGrpSpPr>
        <p:grpSpPr>
          <a:xfrm>
            <a:off x="4405783" y="3665927"/>
            <a:ext cx="4043080" cy="2009733"/>
            <a:chOff x="4405783" y="3665927"/>
            <a:chExt cx="4043080" cy="2009733"/>
          </a:xfrm>
        </p:grpSpPr>
        <p:sp>
          <p:nvSpPr>
            <p:cNvPr id="133" name="矩形 132"/>
            <p:cNvSpPr/>
            <p:nvPr/>
          </p:nvSpPr>
          <p:spPr bwMode="auto">
            <a:xfrm>
              <a:off x="4409441" y="4537930"/>
              <a:ext cx="3878638" cy="1137730"/>
            </a:xfrm>
            <a:prstGeom prst="rect">
              <a:avLst/>
            </a:pr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34" name="任意多边形 133"/>
            <p:cNvSpPr/>
            <p:nvPr/>
          </p:nvSpPr>
          <p:spPr bwMode="auto">
            <a:xfrm>
              <a:off x="5156201" y="4545418"/>
              <a:ext cx="2914650" cy="1056769"/>
            </a:xfrm>
            <a:custGeom>
              <a:avLst/>
              <a:gdLst>
                <a:gd name="connsiteX0" fmla="*/ 0 w 2914650"/>
                <a:gd name="connsiteY0" fmla="*/ 666750 h 1055584"/>
                <a:gd name="connsiteX1" fmla="*/ 215900 w 2914650"/>
                <a:gd name="connsiteY1" fmla="*/ 869950 h 1055584"/>
                <a:gd name="connsiteX2" fmla="*/ 520700 w 2914650"/>
                <a:gd name="connsiteY2" fmla="*/ 1009650 h 1055584"/>
                <a:gd name="connsiteX3" fmla="*/ 952500 w 2914650"/>
                <a:gd name="connsiteY3" fmla="*/ 1054100 h 1055584"/>
                <a:gd name="connsiteX4" fmla="*/ 1371600 w 2914650"/>
                <a:gd name="connsiteY4" fmla="*/ 965200 h 1055584"/>
                <a:gd name="connsiteX5" fmla="*/ 1714500 w 2914650"/>
                <a:gd name="connsiteY5" fmla="*/ 768350 h 1055584"/>
                <a:gd name="connsiteX6" fmla="*/ 2184400 w 2914650"/>
                <a:gd name="connsiteY6" fmla="*/ 463550 h 1055584"/>
                <a:gd name="connsiteX7" fmla="*/ 2914650 w 2914650"/>
                <a:gd name="connsiteY7" fmla="*/ 0 h 1055584"/>
                <a:gd name="connsiteX0" fmla="*/ 0 w 2914650"/>
                <a:gd name="connsiteY0" fmla="*/ 666750 h 1055584"/>
                <a:gd name="connsiteX1" fmla="*/ 215900 w 2914650"/>
                <a:gd name="connsiteY1" fmla="*/ 869950 h 1055584"/>
                <a:gd name="connsiteX2" fmla="*/ 520700 w 2914650"/>
                <a:gd name="connsiteY2" fmla="*/ 1009650 h 1055584"/>
                <a:gd name="connsiteX3" fmla="*/ 952500 w 2914650"/>
                <a:gd name="connsiteY3" fmla="*/ 1054100 h 1055584"/>
                <a:gd name="connsiteX4" fmla="*/ 1371600 w 2914650"/>
                <a:gd name="connsiteY4" fmla="*/ 965200 h 1055584"/>
                <a:gd name="connsiteX5" fmla="*/ 1714500 w 2914650"/>
                <a:gd name="connsiteY5" fmla="*/ 768350 h 1055584"/>
                <a:gd name="connsiteX6" fmla="*/ 2184400 w 2914650"/>
                <a:gd name="connsiteY6" fmla="*/ 463550 h 1055584"/>
                <a:gd name="connsiteX7" fmla="*/ 2914650 w 2914650"/>
                <a:gd name="connsiteY7" fmla="*/ 0 h 1055584"/>
                <a:gd name="connsiteX8" fmla="*/ 0 w 2914650"/>
                <a:gd name="connsiteY8" fmla="*/ 666750 h 1055584"/>
                <a:gd name="connsiteX0" fmla="*/ 0 w 2914650"/>
                <a:gd name="connsiteY0" fmla="*/ 697867 h 1086701"/>
                <a:gd name="connsiteX1" fmla="*/ 215900 w 2914650"/>
                <a:gd name="connsiteY1" fmla="*/ 901067 h 1086701"/>
                <a:gd name="connsiteX2" fmla="*/ 520700 w 2914650"/>
                <a:gd name="connsiteY2" fmla="*/ 1040767 h 1086701"/>
                <a:gd name="connsiteX3" fmla="*/ 952500 w 2914650"/>
                <a:gd name="connsiteY3" fmla="*/ 1085217 h 1086701"/>
                <a:gd name="connsiteX4" fmla="*/ 1371600 w 2914650"/>
                <a:gd name="connsiteY4" fmla="*/ 996317 h 1086701"/>
                <a:gd name="connsiteX5" fmla="*/ 1714500 w 2914650"/>
                <a:gd name="connsiteY5" fmla="*/ 799467 h 1086701"/>
                <a:gd name="connsiteX6" fmla="*/ 2184400 w 2914650"/>
                <a:gd name="connsiteY6" fmla="*/ 494667 h 1086701"/>
                <a:gd name="connsiteX7" fmla="*/ 2914650 w 2914650"/>
                <a:gd name="connsiteY7" fmla="*/ 31117 h 1086701"/>
                <a:gd name="connsiteX8" fmla="*/ 425892 w 2914650"/>
                <a:gd name="connsiteY8" fmla="*/ 29932 h 1086701"/>
                <a:gd name="connsiteX9" fmla="*/ 0 w 2914650"/>
                <a:gd name="connsiteY9" fmla="*/ 697867 h 1086701"/>
                <a:gd name="connsiteX0" fmla="*/ 0 w 2914650"/>
                <a:gd name="connsiteY0" fmla="*/ 667935 h 1056769"/>
                <a:gd name="connsiteX1" fmla="*/ 215900 w 2914650"/>
                <a:gd name="connsiteY1" fmla="*/ 871135 h 1056769"/>
                <a:gd name="connsiteX2" fmla="*/ 520700 w 2914650"/>
                <a:gd name="connsiteY2" fmla="*/ 1010835 h 1056769"/>
                <a:gd name="connsiteX3" fmla="*/ 952500 w 2914650"/>
                <a:gd name="connsiteY3" fmla="*/ 1055285 h 1056769"/>
                <a:gd name="connsiteX4" fmla="*/ 1371600 w 2914650"/>
                <a:gd name="connsiteY4" fmla="*/ 966385 h 1056769"/>
                <a:gd name="connsiteX5" fmla="*/ 1714500 w 2914650"/>
                <a:gd name="connsiteY5" fmla="*/ 769535 h 1056769"/>
                <a:gd name="connsiteX6" fmla="*/ 2184400 w 2914650"/>
                <a:gd name="connsiteY6" fmla="*/ 464735 h 1056769"/>
                <a:gd name="connsiteX7" fmla="*/ 2914650 w 2914650"/>
                <a:gd name="connsiteY7" fmla="*/ 1185 h 1056769"/>
                <a:gd name="connsiteX8" fmla="*/ 425892 w 2914650"/>
                <a:gd name="connsiteY8" fmla="*/ 0 h 1056769"/>
                <a:gd name="connsiteX9" fmla="*/ 0 w 2914650"/>
                <a:gd name="connsiteY9" fmla="*/ 667935 h 105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4650" h="1056769">
                  <a:moveTo>
                    <a:pt x="0" y="667935"/>
                  </a:moveTo>
                  <a:cubicBezTo>
                    <a:pt x="64558" y="740960"/>
                    <a:pt x="129117" y="813985"/>
                    <a:pt x="215900" y="871135"/>
                  </a:cubicBezTo>
                  <a:cubicBezTo>
                    <a:pt x="302683" y="928285"/>
                    <a:pt x="397933" y="980143"/>
                    <a:pt x="520700" y="1010835"/>
                  </a:cubicBezTo>
                  <a:cubicBezTo>
                    <a:pt x="643467" y="1041527"/>
                    <a:pt x="810683" y="1062693"/>
                    <a:pt x="952500" y="1055285"/>
                  </a:cubicBezTo>
                  <a:cubicBezTo>
                    <a:pt x="1094317" y="1047877"/>
                    <a:pt x="1244600" y="1014010"/>
                    <a:pt x="1371600" y="966385"/>
                  </a:cubicBezTo>
                  <a:cubicBezTo>
                    <a:pt x="1498600" y="918760"/>
                    <a:pt x="1579033" y="853143"/>
                    <a:pt x="1714500" y="769535"/>
                  </a:cubicBezTo>
                  <a:cubicBezTo>
                    <a:pt x="1849967" y="685927"/>
                    <a:pt x="2184400" y="464735"/>
                    <a:pt x="2184400" y="464735"/>
                  </a:cubicBezTo>
                  <a:lnTo>
                    <a:pt x="2914650" y="1185"/>
                  </a:lnTo>
                  <a:lnTo>
                    <a:pt x="425892" y="0"/>
                  </a:lnTo>
                  <a:lnTo>
                    <a:pt x="0" y="667935"/>
                  </a:lnTo>
                  <a:close/>
                </a:path>
              </a:pathLst>
            </a:cu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cxnSp>
          <p:nvCxnSpPr>
            <p:cNvPr id="135" name="直接连接符 134"/>
            <p:cNvCxnSpPr/>
            <p:nvPr/>
          </p:nvCxnSpPr>
          <p:spPr bwMode="auto">
            <a:xfrm flipH="1">
              <a:off x="4405783" y="4537303"/>
              <a:ext cx="387461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21"/>
            <p:cNvSpPr txBox="1">
              <a:spLocks noChangeArrowheads="1"/>
            </p:cNvSpPr>
            <p:nvPr/>
          </p:nvSpPr>
          <p:spPr bwMode="auto">
            <a:xfrm>
              <a:off x="6180086" y="3884697"/>
              <a:ext cx="1006607"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rPr>
                <a:t>q=</a:t>
              </a:r>
              <a:r>
                <a:rPr kumimoji="1" lang="en-US" altLang="zh-CN" sz="1800" b="1" i="1" dirty="0">
                  <a:solidFill>
                    <a:srgbClr val="000066"/>
                  </a:solidFill>
                  <a:latin typeface="Times New Roman" panose="02020603050405020304" pitchFamily="18" charset="0"/>
                  <a:sym typeface="Symbol" panose="05050102010706020507" pitchFamily="18" charset="2"/>
                </a:rPr>
                <a:t></a:t>
              </a:r>
              <a:r>
                <a:rPr kumimoji="1" lang="en-US" altLang="zh-CN" sz="1800" b="1" baseline="-25000" dirty="0">
                  <a:solidFill>
                    <a:srgbClr val="000066"/>
                  </a:solidFill>
                  <a:latin typeface="Times New Roman" panose="02020603050405020304" pitchFamily="18" charset="0"/>
                  <a:sym typeface="Symbol" panose="05050102010706020507" pitchFamily="18" charset="2"/>
                </a:rPr>
                <a:t>0</a:t>
              </a:r>
              <a:r>
                <a:rPr kumimoji="1" lang="en-US" altLang="zh-CN" sz="1800" b="1" i="1" dirty="0">
                  <a:solidFill>
                    <a:srgbClr val="000066"/>
                  </a:solidFill>
                  <a:latin typeface="Times New Roman" panose="02020603050405020304" pitchFamily="18" charset="0"/>
                </a:rPr>
                <a:t>d</a:t>
              </a:r>
              <a:endParaRPr kumimoji="1" lang="en-US" altLang="zh-CN" sz="1800" b="1" baseline="-25000" dirty="0">
                <a:solidFill>
                  <a:srgbClr val="000066"/>
                </a:solidFill>
                <a:latin typeface="Times New Roman" panose="02020603050405020304" pitchFamily="18" charset="0"/>
              </a:endParaRPr>
            </a:p>
          </p:txBody>
        </p:sp>
        <p:grpSp>
          <p:nvGrpSpPr>
            <p:cNvPr id="139" name="组合 138"/>
            <p:cNvGrpSpPr/>
            <p:nvPr/>
          </p:nvGrpSpPr>
          <p:grpSpPr>
            <a:xfrm>
              <a:off x="4625798" y="4173589"/>
              <a:ext cx="961197" cy="361612"/>
              <a:chOff x="4443756" y="2848235"/>
              <a:chExt cx="817863" cy="531427"/>
            </a:xfrm>
          </p:grpSpPr>
          <p:sp>
            <p:nvSpPr>
              <p:cNvPr id="213" name="Line 25"/>
              <p:cNvSpPr>
                <a:spLocks noChangeShapeType="1"/>
              </p:cNvSpPr>
              <p:nvPr/>
            </p:nvSpPr>
            <p:spPr bwMode="auto">
              <a:xfrm>
                <a:off x="5057153"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 name="Line 25"/>
              <p:cNvSpPr>
                <a:spLocks noChangeShapeType="1"/>
              </p:cNvSpPr>
              <p:nvPr/>
            </p:nvSpPr>
            <p:spPr bwMode="auto">
              <a:xfrm>
                <a:off x="4443756"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 name="Line 25"/>
              <p:cNvSpPr>
                <a:spLocks noChangeShapeType="1"/>
              </p:cNvSpPr>
              <p:nvPr/>
            </p:nvSpPr>
            <p:spPr bwMode="auto">
              <a:xfrm>
                <a:off x="4648222"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 name="Line 25"/>
              <p:cNvSpPr>
                <a:spLocks noChangeShapeType="1"/>
              </p:cNvSpPr>
              <p:nvPr/>
            </p:nvSpPr>
            <p:spPr bwMode="auto">
              <a:xfrm>
                <a:off x="4852687"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 name="Line 25"/>
              <p:cNvSpPr>
                <a:spLocks noChangeShapeType="1"/>
              </p:cNvSpPr>
              <p:nvPr/>
            </p:nvSpPr>
            <p:spPr bwMode="auto">
              <a:xfrm>
                <a:off x="5261619" y="2848235"/>
                <a:ext cx="0" cy="531427"/>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87" name="直接连接符 186"/>
            <p:cNvCxnSpPr/>
            <p:nvPr/>
          </p:nvCxnSpPr>
          <p:spPr bwMode="auto">
            <a:xfrm flipH="1">
              <a:off x="5582101" y="4345308"/>
              <a:ext cx="265385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8" name="组合 187"/>
            <p:cNvGrpSpPr/>
            <p:nvPr/>
          </p:nvGrpSpPr>
          <p:grpSpPr>
            <a:xfrm>
              <a:off x="5840477" y="4349296"/>
              <a:ext cx="1092291" cy="190110"/>
              <a:chOff x="5473060" y="3700042"/>
              <a:chExt cx="1727172" cy="246815"/>
            </a:xfrm>
          </p:grpSpPr>
          <p:sp>
            <p:nvSpPr>
              <p:cNvPr id="208" name="Line 25"/>
              <p:cNvSpPr>
                <a:spLocks noChangeShapeType="1"/>
              </p:cNvSpPr>
              <p:nvPr/>
            </p:nvSpPr>
            <p:spPr bwMode="auto">
              <a:xfrm>
                <a:off x="5473060" y="3706165"/>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 name="Line 25"/>
              <p:cNvSpPr>
                <a:spLocks noChangeShapeType="1"/>
              </p:cNvSpPr>
              <p:nvPr/>
            </p:nvSpPr>
            <p:spPr bwMode="auto">
              <a:xfrm>
                <a:off x="5904853"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 name="Line 25"/>
              <p:cNvSpPr>
                <a:spLocks noChangeShapeType="1"/>
              </p:cNvSpPr>
              <p:nvPr/>
            </p:nvSpPr>
            <p:spPr bwMode="auto">
              <a:xfrm>
                <a:off x="6336646"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 name="Line 25"/>
              <p:cNvSpPr>
                <a:spLocks noChangeShapeType="1"/>
              </p:cNvSpPr>
              <p:nvPr/>
            </p:nvSpPr>
            <p:spPr bwMode="auto">
              <a:xfrm>
                <a:off x="6768439"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2" name="Line 25"/>
              <p:cNvSpPr>
                <a:spLocks noChangeShapeType="1"/>
              </p:cNvSpPr>
              <p:nvPr/>
            </p:nvSpPr>
            <p:spPr bwMode="auto">
              <a:xfrm>
                <a:off x="7200232"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189" name="直接连接符 188"/>
            <p:cNvCxnSpPr/>
            <p:nvPr/>
          </p:nvCxnSpPr>
          <p:spPr bwMode="auto">
            <a:xfrm>
              <a:off x="4620018" y="4173589"/>
              <a:ext cx="95472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0" name="任意多边形 189"/>
            <p:cNvSpPr/>
            <p:nvPr/>
          </p:nvSpPr>
          <p:spPr bwMode="auto">
            <a:xfrm rot="8100000">
              <a:off x="4731325" y="4200205"/>
              <a:ext cx="797936" cy="854611"/>
            </a:xfrm>
            <a:custGeom>
              <a:avLst/>
              <a:gdLst>
                <a:gd name="connsiteX0" fmla="*/ 0 w 1230085"/>
                <a:gd name="connsiteY0" fmla="*/ 0 h 1219200"/>
                <a:gd name="connsiteX1" fmla="*/ 1230085 w 1230085"/>
                <a:gd name="connsiteY1" fmla="*/ 0 h 1219200"/>
                <a:gd name="connsiteX2" fmla="*/ 1230085 w 1230085"/>
                <a:gd name="connsiteY2" fmla="*/ 1219200 h 1219200"/>
                <a:gd name="connsiteX3" fmla="*/ 43542 w 1230085"/>
                <a:gd name="connsiteY3" fmla="*/ 32657 h 1219200"/>
                <a:gd name="connsiteX4" fmla="*/ 0 w 1230085"/>
                <a:gd name="connsiteY4" fmla="*/ 0 h 1219200"/>
                <a:gd name="connsiteX0" fmla="*/ 0 w 1403883"/>
                <a:gd name="connsiteY0" fmla="*/ 284397 h 1503597"/>
                <a:gd name="connsiteX1" fmla="*/ 1403884 w 1403883"/>
                <a:gd name="connsiteY1" fmla="*/ 0 h 1503597"/>
                <a:gd name="connsiteX2" fmla="*/ 1230085 w 1403883"/>
                <a:gd name="connsiteY2" fmla="*/ 1503597 h 1503597"/>
                <a:gd name="connsiteX3" fmla="*/ 43542 w 1403883"/>
                <a:gd name="connsiteY3" fmla="*/ 317054 h 1503597"/>
                <a:gd name="connsiteX4" fmla="*/ 0 w 1403883"/>
                <a:gd name="connsiteY4" fmla="*/ 284397 h 150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3883" h="1503597">
                  <a:moveTo>
                    <a:pt x="0" y="284397"/>
                  </a:moveTo>
                  <a:lnTo>
                    <a:pt x="1403884" y="0"/>
                  </a:lnTo>
                  <a:lnTo>
                    <a:pt x="1230085" y="1503597"/>
                  </a:lnTo>
                  <a:lnTo>
                    <a:pt x="43542" y="317054"/>
                  </a:lnTo>
                  <a:lnTo>
                    <a:pt x="0" y="284397"/>
                  </a:lnTo>
                  <a:close/>
                </a:path>
              </a:pathLst>
            </a:custGeom>
            <a:solidFill>
              <a:schemeClr val="accent5">
                <a:lumMod val="9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1" name="Rectangle 152"/>
            <p:cNvSpPr>
              <a:spLocks noChangeArrowheads="1"/>
            </p:cNvSpPr>
            <p:nvPr/>
          </p:nvSpPr>
          <p:spPr bwMode="auto">
            <a:xfrm>
              <a:off x="5919752" y="4500706"/>
              <a:ext cx="485240"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800" b="1" dirty="0">
                  <a:solidFill>
                    <a:srgbClr val="000066"/>
                  </a:solidFill>
                  <a:latin typeface="Times New Roman" panose="02020603050405020304" pitchFamily="18" charset="0"/>
                  <a:ea typeface="楷体_GB2312" pitchFamily="49" charset="-122"/>
                  <a:sym typeface="Symbol" panose="05050102010706020507" pitchFamily="18" charset="2"/>
                </a:rPr>
                <a:t>35</a:t>
              </a:r>
              <a:r>
                <a:rPr kumimoji="1" lang="en-US" altLang="zh-CN" sz="1800" b="1" baseline="30000" dirty="0">
                  <a:solidFill>
                    <a:srgbClr val="000066"/>
                  </a:solidFill>
                  <a:latin typeface="Times New Roman" panose="02020603050405020304" pitchFamily="18" charset="0"/>
                  <a:sym typeface="Symbol" panose="05050102010706020507" pitchFamily="18" charset="2"/>
                </a:rPr>
                <a:t></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92" name="任意多边形 191"/>
            <p:cNvSpPr/>
            <p:nvPr/>
          </p:nvSpPr>
          <p:spPr bwMode="auto">
            <a:xfrm rot="3495134">
              <a:off x="5788163" y="4559209"/>
              <a:ext cx="144366" cy="160431"/>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3684"/>
                <a:gd name="connsiteY0" fmla="*/ 177679 h 177679"/>
                <a:gd name="connsiteX1" fmla="*/ 71393 w 83684"/>
                <a:gd name="connsiteY1" fmla="*/ 86175 h 177679"/>
                <a:gd name="connsiteX2" fmla="*/ 0 w 83684"/>
                <a:gd name="connsiteY2" fmla="*/ 0 h 177679"/>
                <a:gd name="connsiteX0" fmla="*/ 90202 w 90682"/>
                <a:gd name="connsiteY0" fmla="*/ 178703 h 178703"/>
                <a:gd name="connsiteX1" fmla="*/ 71393 w 90682"/>
                <a:gd name="connsiteY1" fmla="*/ 86175 h 178703"/>
                <a:gd name="connsiteX2" fmla="*/ 0 w 90682"/>
                <a:gd name="connsiteY2" fmla="*/ 0 h 178703"/>
                <a:gd name="connsiteX0" fmla="*/ 91008 w 91488"/>
                <a:gd name="connsiteY0" fmla="*/ 169201 h 169201"/>
                <a:gd name="connsiteX1" fmla="*/ 72199 w 91488"/>
                <a:gd name="connsiteY1" fmla="*/ 76673 h 169201"/>
                <a:gd name="connsiteX2" fmla="*/ 0 w 91488"/>
                <a:gd name="connsiteY2" fmla="*/ 0 h 169201"/>
                <a:gd name="connsiteX0" fmla="*/ 93596 w 93982"/>
                <a:gd name="connsiteY0" fmla="*/ 168918 h 168918"/>
                <a:gd name="connsiteX1" fmla="*/ 72199 w 93982"/>
                <a:gd name="connsiteY1" fmla="*/ 76673 h 168918"/>
                <a:gd name="connsiteX2" fmla="*/ 0 w 93982"/>
                <a:gd name="connsiteY2" fmla="*/ 0 h 168918"/>
                <a:gd name="connsiteX0" fmla="*/ 93596 w 93679"/>
                <a:gd name="connsiteY0" fmla="*/ 168918 h 168918"/>
                <a:gd name="connsiteX1" fmla="*/ 72199 w 93679"/>
                <a:gd name="connsiteY1" fmla="*/ 76673 h 168918"/>
                <a:gd name="connsiteX2" fmla="*/ 0 w 93679"/>
                <a:gd name="connsiteY2" fmla="*/ 0 h 168918"/>
              </a:gdLst>
              <a:ahLst/>
              <a:cxnLst>
                <a:cxn ang="0">
                  <a:pos x="connsiteX0" y="connsiteY0"/>
                </a:cxn>
                <a:cxn ang="0">
                  <a:pos x="connsiteX1" y="connsiteY1"/>
                </a:cxn>
                <a:cxn ang="0">
                  <a:pos x="connsiteX2" y="connsiteY2"/>
                </a:cxn>
              </a:cxnLst>
              <a:rect l="l" t="t" r="r" b="b"/>
              <a:pathLst>
                <a:path w="93679" h="168918">
                  <a:moveTo>
                    <a:pt x="93596" y="168918"/>
                  </a:moveTo>
                  <a:cubicBezTo>
                    <a:pt x="94634" y="132451"/>
                    <a:pt x="85922" y="106286"/>
                    <a:pt x="72199" y="76673"/>
                  </a:cubicBezTo>
                  <a:cubicBezTo>
                    <a:pt x="58476" y="47060"/>
                    <a:pt x="29974" y="26363"/>
                    <a:pt x="0" y="0"/>
                  </a:cubicBezTo>
                </a:path>
              </a:pathLst>
            </a:cu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nvGrpSpPr>
            <p:cNvPr id="193" name="组合 192"/>
            <p:cNvGrpSpPr/>
            <p:nvPr/>
          </p:nvGrpSpPr>
          <p:grpSpPr>
            <a:xfrm>
              <a:off x="4613876" y="3967700"/>
              <a:ext cx="965346" cy="140017"/>
              <a:chOff x="4457514" y="2897257"/>
              <a:chExt cx="1362333" cy="109926"/>
            </a:xfrm>
          </p:grpSpPr>
          <p:cxnSp>
            <p:nvCxnSpPr>
              <p:cNvPr id="205" name="直接连接符 204"/>
              <p:cNvCxnSpPr/>
              <p:nvPr/>
            </p:nvCxnSpPr>
            <p:spPr bwMode="auto">
              <a:xfrm>
                <a:off x="4457514" y="2902252"/>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直接连接符 205"/>
              <p:cNvCxnSpPr/>
              <p:nvPr/>
            </p:nvCxnSpPr>
            <p:spPr bwMode="auto">
              <a:xfrm>
                <a:off x="5805900" y="2897257"/>
                <a:ext cx="0" cy="10493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直接连接符 206"/>
              <p:cNvCxnSpPr/>
              <p:nvPr/>
            </p:nvCxnSpPr>
            <p:spPr bwMode="auto">
              <a:xfrm>
                <a:off x="4457515" y="2969142"/>
                <a:ext cx="1362332" cy="0"/>
              </a:xfrm>
              <a:prstGeom prst="line">
                <a:avLst/>
              </a:prstGeom>
              <a:noFill/>
              <a:ln w="1270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4" name="Text Box 21"/>
            <p:cNvSpPr txBox="1">
              <a:spLocks noChangeArrowheads="1"/>
            </p:cNvSpPr>
            <p:nvPr/>
          </p:nvSpPr>
          <p:spPr bwMode="auto">
            <a:xfrm>
              <a:off x="4728935" y="3665927"/>
              <a:ext cx="739305" cy="410882"/>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b="1" i="1" dirty="0">
                  <a:solidFill>
                    <a:srgbClr val="000066"/>
                  </a:solidFill>
                  <a:latin typeface="Times New Roman" panose="02020603050405020304" pitchFamily="18" charset="0"/>
                </a:rPr>
                <a:t>b</a:t>
              </a:r>
              <a:r>
                <a:rPr kumimoji="1" lang="en-US" altLang="zh-CN" sz="1800" b="1" dirty="0">
                  <a:solidFill>
                    <a:srgbClr val="000066"/>
                  </a:solidFill>
                  <a:latin typeface="Times New Roman" panose="02020603050405020304" pitchFamily="18" charset="0"/>
                </a:rPr>
                <a:t>=2m</a:t>
              </a:r>
              <a:endParaRPr kumimoji="1" lang="en-US" altLang="zh-CN" sz="1800" b="1" baseline="-25000" dirty="0">
                <a:solidFill>
                  <a:srgbClr val="000066"/>
                </a:solidFill>
                <a:latin typeface="Times New Roman" panose="02020603050405020304" pitchFamily="18" charset="0"/>
              </a:endParaRPr>
            </a:p>
          </p:txBody>
        </p:sp>
        <p:cxnSp>
          <p:nvCxnSpPr>
            <p:cNvPr id="195" name="直接连接符 194"/>
            <p:cNvCxnSpPr/>
            <p:nvPr/>
          </p:nvCxnSpPr>
          <p:spPr bwMode="auto">
            <a:xfrm rot="18300000">
              <a:off x="6175192" y="4219925"/>
              <a:ext cx="0" cy="147600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Text Box 21"/>
            <p:cNvSpPr txBox="1">
              <a:spLocks noChangeArrowheads="1"/>
            </p:cNvSpPr>
            <p:nvPr/>
          </p:nvSpPr>
          <p:spPr bwMode="auto">
            <a:xfrm rot="18240861">
              <a:off x="4856850" y="4762044"/>
              <a:ext cx="1211384" cy="375487"/>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600" b="1" i="1" dirty="0">
                  <a:solidFill>
                    <a:srgbClr val="000066"/>
                  </a:solidFill>
                  <a:latin typeface="Times New Roman" panose="02020603050405020304" pitchFamily="18" charset="0"/>
                  <a:sym typeface="Symbol" panose="05050102010706020507" pitchFamily="18" charset="2"/>
                </a:rPr>
                <a:t>r</a:t>
              </a:r>
              <a:r>
                <a:rPr kumimoji="1" lang="en-US" altLang="zh-CN" sz="1600" b="1" baseline="-25000" dirty="0">
                  <a:solidFill>
                    <a:srgbClr val="000066"/>
                  </a:solidFill>
                  <a:latin typeface="Times New Roman" panose="02020603050405020304" pitchFamily="18" charset="0"/>
                  <a:sym typeface="Symbol" panose="05050102010706020507" pitchFamily="18" charset="2"/>
                </a:rPr>
                <a:t>0</a:t>
              </a:r>
              <a:r>
                <a:rPr kumimoji="1" lang="en-US" altLang="zh-CN" sz="1600" b="1" dirty="0">
                  <a:solidFill>
                    <a:srgbClr val="000066"/>
                  </a:solidFill>
                  <a:latin typeface="Times New Roman" panose="02020603050405020304" pitchFamily="18" charset="0"/>
                </a:rPr>
                <a:t>=1.74m</a:t>
              </a:r>
              <a:endParaRPr kumimoji="1" lang="en-US" altLang="zh-CN" sz="1600" b="1" baseline="-25000" dirty="0">
                <a:solidFill>
                  <a:srgbClr val="000066"/>
                </a:solidFill>
                <a:latin typeface="Times New Roman" panose="02020603050405020304" pitchFamily="18" charset="0"/>
              </a:endParaRPr>
            </a:p>
          </p:txBody>
        </p:sp>
        <p:sp>
          <p:nvSpPr>
            <p:cNvPr id="197" name="Text Box 21"/>
            <p:cNvSpPr txBox="1">
              <a:spLocks noChangeArrowheads="1"/>
            </p:cNvSpPr>
            <p:nvPr/>
          </p:nvSpPr>
          <p:spPr bwMode="auto">
            <a:xfrm rot="2086061">
              <a:off x="5766492" y="4966897"/>
              <a:ext cx="988607" cy="352789"/>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600" b="1" i="1" dirty="0">
                  <a:solidFill>
                    <a:srgbClr val="000066"/>
                  </a:solidFill>
                  <a:latin typeface="Times New Roman" panose="02020603050405020304" pitchFamily="18" charset="0"/>
                  <a:sym typeface="Symbol" panose="05050102010706020507" pitchFamily="18" charset="2"/>
                </a:rPr>
                <a:t>r</a:t>
              </a:r>
              <a:r>
                <a:rPr kumimoji="1" lang="en-US" altLang="zh-CN" sz="1600" b="1" baseline="-25000" dirty="0">
                  <a:solidFill>
                    <a:srgbClr val="000066"/>
                  </a:solidFill>
                  <a:latin typeface="Times New Roman" panose="02020603050405020304" pitchFamily="18" charset="0"/>
                  <a:sym typeface="Symbol" panose="05050102010706020507" pitchFamily="18" charset="2"/>
                </a:rPr>
                <a:t>1</a:t>
              </a:r>
              <a:r>
                <a:rPr kumimoji="1" lang="en-US" altLang="zh-CN" sz="1600" b="1" dirty="0">
                  <a:solidFill>
                    <a:srgbClr val="000066"/>
                  </a:solidFill>
                  <a:latin typeface="Times New Roman" panose="02020603050405020304" pitchFamily="18" charset="0"/>
                </a:rPr>
                <a:t>=3.08m</a:t>
              </a:r>
              <a:endParaRPr kumimoji="1" lang="en-US" altLang="zh-CN" sz="1600" b="1" baseline="-25000" dirty="0">
                <a:solidFill>
                  <a:srgbClr val="000066"/>
                </a:solidFill>
                <a:latin typeface="Times New Roman" panose="02020603050405020304" pitchFamily="18" charset="0"/>
              </a:endParaRPr>
            </a:p>
          </p:txBody>
        </p:sp>
        <p:grpSp>
          <p:nvGrpSpPr>
            <p:cNvPr id="198" name="组合 197"/>
            <p:cNvGrpSpPr/>
            <p:nvPr/>
          </p:nvGrpSpPr>
          <p:grpSpPr>
            <a:xfrm>
              <a:off x="7222085" y="4352142"/>
              <a:ext cx="819218" cy="190110"/>
              <a:chOff x="5473060" y="3700042"/>
              <a:chExt cx="1295379" cy="246815"/>
            </a:xfrm>
          </p:grpSpPr>
          <p:sp>
            <p:nvSpPr>
              <p:cNvPr id="201" name="Line 25"/>
              <p:cNvSpPr>
                <a:spLocks noChangeShapeType="1"/>
              </p:cNvSpPr>
              <p:nvPr/>
            </p:nvSpPr>
            <p:spPr bwMode="auto">
              <a:xfrm>
                <a:off x="5473060" y="3706165"/>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2" name="Line 25"/>
              <p:cNvSpPr>
                <a:spLocks noChangeShapeType="1"/>
              </p:cNvSpPr>
              <p:nvPr/>
            </p:nvSpPr>
            <p:spPr bwMode="auto">
              <a:xfrm>
                <a:off x="5904853"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3" name="Line 25"/>
              <p:cNvSpPr>
                <a:spLocks noChangeShapeType="1"/>
              </p:cNvSpPr>
              <p:nvPr/>
            </p:nvSpPr>
            <p:spPr bwMode="auto">
              <a:xfrm>
                <a:off x="6336646" y="3700042"/>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 name="Line 25"/>
              <p:cNvSpPr>
                <a:spLocks noChangeShapeType="1"/>
              </p:cNvSpPr>
              <p:nvPr/>
            </p:nvSpPr>
            <p:spPr bwMode="auto">
              <a:xfrm>
                <a:off x="6768439" y="3702083"/>
                <a:ext cx="0" cy="240692"/>
              </a:xfrm>
              <a:prstGeom prst="line">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99" name="矩形 198"/>
            <p:cNvSpPr/>
            <p:nvPr/>
          </p:nvSpPr>
          <p:spPr>
            <a:xfrm>
              <a:off x="7136440" y="5009116"/>
              <a:ext cx="1312423" cy="446276"/>
            </a:xfrm>
            <a:prstGeom prst="rect">
              <a:avLst/>
            </a:prstGeom>
          </p:spPr>
          <p:txBody>
            <a:bodyPr wrap="square">
              <a:spAutoFit/>
            </a:bodyPr>
            <a:lstStyle/>
            <a:p>
              <a:r>
                <a:rPr kumimoji="1" lang="en-US" altLang="zh-CN" sz="2000" b="1" dirty="0">
                  <a:solidFill>
                    <a:srgbClr val="C00000"/>
                  </a:solidFill>
                  <a:ea typeface="黑体" pitchFamily="2" charset="-122"/>
                  <a:cs typeface="Times New Roman" panose="02020603050405020304" pitchFamily="18" charset="0"/>
                </a:rPr>
                <a:t>b)</a:t>
              </a:r>
              <a:r>
                <a:rPr lang="en-US" altLang="zh-CN" sz="2000" b="1" dirty="0">
                  <a:solidFill>
                    <a:srgbClr val="C00000"/>
                  </a:solidFill>
                  <a:ea typeface="幼圆" panose="02010509060101010101" pitchFamily="49" charset="-122"/>
                  <a:cs typeface="Times New Roman" panose="02020603050405020304" pitchFamily="18" charset="0"/>
                </a:rPr>
                <a:t> φ=20°</a:t>
              </a:r>
              <a:endParaRPr lang="zh-CN" altLang="en-US" sz="2000" dirty="0">
                <a:solidFill>
                  <a:srgbClr val="C00000"/>
                </a:solidFill>
              </a:endParaRPr>
            </a:p>
          </p:txBody>
        </p:sp>
        <p:sp>
          <p:nvSpPr>
            <p:cNvPr id="200" name="任意多边形 199"/>
            <p:cNvSpPr/>
            <p:nvPr/>
          </p:nvSpPr>
          <p:spPr bwMode="auto">
            <a:xfrm>
              <a:off x="5149112" y="4539515"/>
              <a:ext cx="2914650" cy="1055584"/>
            </a:xfrm>
            <a:custGeom>
              <a:avLst/>
              <a:gdLst>
                <a:gd name="connsiteX0" fmla="*/ 0 w 2914650"/>
                <a:gd name="connsiteY0" fmla="*/ 666750 h 1055584"/>
                <a:gd name="connsiteX1" fmla="*/ 215900 w 2914650"/>
                <a:gd name="connsiteY1" fmla="*/ 869950 h 1055584"/>
                <a:gd name="connsiteX2" fmla="*/ 520700 w 2914650"/>
                <a:gd name="connsiteY2" fmla="*/ 1009650 h 1055584"/>
                <a:gd name="connsiteX3" fmla="*/ 952500 w 2914650"/>
                <a:gd name="connsiteY3" fmla="*/ 1054100 h 1055584"/>
                <a:gd name="connsiteX4" fmla="*/ 1371600 w 2914650"/>
                <a:gd name="connsiteY4" fmla="*/ 965200 h 1055584"/>
                <a:gd name="connsiteX5" fmla="*/ 1714500 w 2914650"/>
                <a:gd name="connsiteY5" fmla="*/ 768350 h 1055584"/>
                <a:gd name="connsiteX6" fmla="*/ 2184400 w 2914650"/>
                <a:gd name="connsiteY6" fmla="*/ 463550 h 1055584"/>
                <a:gd name="connsiteX7" fmla="*/ 2914650 w 2914650"/>
                <a:gd name="connsiteY7" fmla="*/ 0 h 105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4650" h="1055584">
                  <a:moveTo>
                    <a:pt x="0" y="666750"/>
                  </a:moveTo>
                  <a:cubicBezTo>
                    <a:pt x="64558" y="739775"/>
                    <a:pt x="129117" y="812800"/>
                    <a:pt x="215900" y="869950"/>
                  </a:cubicBezTo>
                  <a:cubicBezTo>
                    <a:pt x="302683" y="927100"/>
                    <a:pt x="397933" y="978958"/>
                    <a:pt x="520700" y="1009650"/>
                  </a:cubicBezTo>
                  <a:cubicBezTo>
                    <a:pt x="643467" y="1040342"/>
                    <a:pt x="810683" y="1061508"/>
                    <a:pt x="952500" y="1054100"/>
                  </a:cubicBezTo>
                  <a:cubicBezTo>
                    <a:pt x="1094317" y="1046692"/>
                    <a:pt x="1244600" y="1012825"/>
                    <a:pt x="1371600" y="965200"/>
                  </a:cubicBezTo>
                  <a:cubicBezTo>
                    <a:pt x="1498600" y="917575"/>
                    <a:pt x="1579033" y="851958"/>
                    <a:pt x="1714500" y="768350"/>
                  </a:cubicBezTo>
                  <a:cubicBezTo>
                    <a:pt x="1849967" y="684742"/>
                    <a:pt x="2184400" y="463550"/>
                    <a:pt x="2184400" y="463550"/>
                  </a:cubicBezTo>
                  <a:lnTo>
                    <a:pt x="2914650" y="0"/>
                  </a:ln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Tree>
    <p:extLst>
      <p:ext uri="{BB962C8B-B14F-4D97-AF65-F5344CB8AC3E}">
        <p14:creationId xmlns:p14="http://schemas.microsoft.com/office/powerpoint/2010/main" val="81484873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barn(inVertical)">
                                      <p:cBhvr>
                                        <p:cTn id="7" dur="500"/>
                                        <p:tgtEl>
                                          <p:spTgt spid="18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par>
                                <p:cTn id="11" presetID="1" presetClass="entr" presetSubtype="0" fill="hold" nodeType="withEffect">
                                  <p:stCondLst>
                                    <p:cond delay="0"/>
                                  </p:stCondLst>
                                  <p:childTnLst>
                                    <p:set>
                                      <p:cBhvr>
                                        <p:cTn id="12" dur="1" fill="hold">
                                          <p:stCondLst>
                                            <p:cond delay="0"/>
                                          </p:stCondLst>
                                        </p:cTn>
                                        <p:tgtEl>
                                          <p:spTgt spid="8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2"/>
                                        </p:tgtEl>
                                        <p:attrNameLst>
                                          <p:attrName>style.visibility</p:attrName>
                                        </p:attrNameLst>
                                      </p:cBhvr>
                                      <p:to>
                                        <p:strVal val="visible"/>
                                      </p:to>
                                    </p:set>
                                  </p:childTnLst>
                                </p:cTn>
                              </p:par>
                              <p:par>
                                <p:cTn id="15" presetID="35" presetClass="emph" presetSubtype="0" repeatCount="3000" fill="hold" nodeType="withEffect">
                                  <p:stCondLst>
                                    <p:cond delay="0"/>
                                  </p:stCondLst>
                                  <p:childTnLst>
                                    <p:anim calcmode="discrete" valueType="str">
                                      <p:cBhvr>
                                        <p:cTn id="16" dur="1000" fill="hold"/>
                                        <p:tgtEl>
                                          <p:spTgt spid="8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0" animBg="1"/>
      <p:bldP spid="1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780874"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§8.1  </a:t>
            </a:r>
            <a:r>
              <a:rPr kumimoji="1" lang="zh-CN" altLang="en-US" sz="2800" b="1" dirty="0">
                <a:solidFill>
                  <a:srgbClr val="000066"/>
                </a:solidFill>
                <a:ea typeface="幼圆" pitchFamily="49" charset="-122"/>
                <a:cs typeface="Times New Roman" panose="02020603050405020304" pitchFamily="18" charset="0"/>
              </a:rPr>
              <a:t>地基失稳的形式和过程</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§8.2 </a:t>
            </a:r>
            <a:r>
              <a:rPr kumimoji="1" lang="zh-CN" altLang="en-US" sz="2800" b="1" dirty="0">
                <a:solidFill>
                  <a:srgbClr val="000066"/>
                </a:solidFill>
                <a:ea typeface="幼圆" pitchFamily="49" charset="-122"/>
                <a:cs typeface="Times New Roman" panose="02020603050405020304" pitchFamily="18" charset="0"/>
              </a:rPr>
              <a:t>临塑荷载和临界荷载</a:t>
            </a:r>
            <a:endParaRPr kumimoji="1" lang="en-US" altLang="zh-CN"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§8.3 </a:t>
            </a:r>
            <a:r>
              <a:rPr kumimoji="1" lang="zh-CN" altLang="en-US" sz="2800" b="1" dirty="0">
                <a:solidFill>
                  <a:srgbClr val="000066"/>
                </a:solidFill>
                <a:ea typeface="幼圆" pitchFamily="49" charset="-122"/>
                <a:cs typeface="Times New Roman" panose="02020603050405020304" pitchFamily="18" charset="0"/>
              </a:rPr>
              <a:t>极限承载力计算</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§8.4 </a:t>
            </a:r>
            <a:r>
              <a:rPr kumimoji="1" lang="zh-CN" altLang="en-US" sz="2800" b="1" dirty="0">
                <a:solidFill>
                  <a:srgbClr val="000066"/>
                </a:solidFill>
                <a:ea typeface="幼圆" pitchFamily="49" charset="-122"/>
                <a:cs typeface="Times New Roman" panose="02020603050405020304" pitchFamily="18" charset="0"/>
              </a:rPr>
              <a:t>地基承载力的确定方法</a:t>
            </a: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第八章：地基承载力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58</a:t>
            </a:fld>
            <a:endParaRPr lang="zh-CN" altLang="en-US" dirty="0">
              <a:solidFill>
                <a:srgbClr val="C00000"/>
              </a:solidFill>
            </a:endParaRPr>
          </a:p>
        </p:txBody>
      </p:sp>
      <p:sp>
        <p:nvSpPr>
          <p:cNvPr id="9" name="Text Box 4"/>
          <p:cNvSpPr txBox="1">
            <a:spLocks noChangeArrowheads="1"/>
          </p:cNvSpPr>
          <p:nvPr/>
        </p:nvSpPr>
        <p:spPr bwMode="auto">
          <a:xfrm>
            <a:off x="1986108" y="3846173"/>
            <a:ext cx="4719492"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a:solidFill>
                  <a:srgbClr val="003399"/>
                </a:solidFill>
                <a:ea typeface="幼圆" pitchFamily="49" charset="-122"/>
                <a:cs typeface="Times New Roman" panose="02020603050405020304" pitchFamily="18" charset="0"/>
              </a:rPr>
              <a:t>§8.4 </a:t>
            </a:r>
            <a:r>
              <a:rPr kumimoji="1" lang="zh-CN" altLang="en-US" sz="2800" b="1" dirty="0">
                <a:solidFill>
                  <a:srgbClr val="003399"/>
                </a:solidFill>
                <a:ea typeface="幼圆" pitchFamily="49" charset="-122"/>
                <a:cs typeface="Times New Roman" panose="02020603050405020304" pitchFamily="18" charset="0"/>
              </a:rPr>
              <a:t>地基承载力的确定方法</a:t>
            </a:r>
          </a:p>
        </p:txBody>
      </p:sp>
    </p:spTree>
    <p:extLst>
      <p:ext uri="{BB962C8B-B14F-4D97-AF65-F5344CB8AC3E}">
        <p14:creationId xmlns:p14="http://schemas.microsoft.com/office/powerpoint/2010/main" val="221506679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bwMode="auto">
          <a:xfrm>
            <a:off x="1112520" y="3956304"/>
            <a:ext cx="7562088" cy="1499616"/>
          </a:xfrm>
          <a:prstGeom prst="rect">
            <a:avLst/>
          </a:prstGeom>
          <a:solidFill>
            <a:schemeClr val="accent5">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1" name="矩形 10"/>
          <p:cNvSpPr/>
          <p:nvPr/>
        </p:nvSpPr>
        <p:spPr bwMode="auto">
          <a:xfrm>
            <a:off x="1115568" y="2267712"/>
            <a:ext cx="7562088" cy="1499616"/>
          </a:xfrm>
          <a:prstGeom prst="rect">
            <a:avLst/>
          </a:prstGeom>
          <a:solidFill>
            <a:schemeClr val="accent2"/>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6087" name="Text Box 7"/>
          <p:cNvSpPr txBox="1">
            <a:spLocks noChangeArrowheads="1"/>
          </p:cNvSpPr>
          <p:nvPr/>
        </p:nvSpPr>
        <p:spPr bwMode="auto">
          <a:xfrm>
            <a:off x="1627633" y="5730875"/>
            <a:ext cx="6400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a:solidFill>
                  <a:srgbClr val="000066"/>
                </a:solidFill>
                <a:ea typeface="黑体" pitchFamily="2" charset="-122"/>
              </a:rPr>
              <a:t>建筑物地基设计的基本要求</a:t>
            </a: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59</a:t>
            </a:fld>
            <a:endParaRPr lang="zh-CN" altLang="en-US" dirty="0">
              <a:solidFill>
                <a:srgbClr val="C00000"/>
              </a:solidFill>
            </a:endParaRPr>
          </a:p>
        </p:txBody>
      </p:sp>
      <p:sp>
        <p:nvSpPr>
          <p:cNvPr id="2" name="矩形 1"/>
          <p:cNvSpPr/>
          <p:nvPr/>
        </p:nvSpPr>
        <p:spPr>
          <a:xfrm>
            <a:off x="510488" y="835794"/>
            <a:ext cx="8286040" cy="544765"/>
          </a:xfrm>
          <a:prstGeom prst="rect">
            <a:avLst/>
          </a:prstGeom>
        </p:spPr>
        <p:txBody>
          <a:bodyPr wrap="square">
            <a:spAutoFit/>
          </a:bodyPr>
          <a:lstStyle/>
          <a:p>
            <a:pPr marL="342900" indent="-342900">
              <a:buFont typeface="Wingdings" panose="05000000000000000000" pitchFamily="2" charset="2"/>
              <a:buChar char="n"/>
            </a:pPr>
            <a:r>
              <a:rPr lang="zh-CN" altLang="en-US" sz="2800" b="1" dirty="0">
                <a:solidFill>
                  <a:srgbClr val="C00000"/>
                </a:solidFill>
                <a:latin typeface="微软雅黑" panose="020B0503020204020204" pitchFamily="34" charset="-122"/>
                <a:ea typeface="微软雅黑" panose="020B0503020204020204" pitchFamily="34" charset="-122"/>
              </a:rPr>
              <a:t>地基承载力：</a:t>
            </a:r>
            <a:r>
              <a:rPr lang="zh-CN" altLang="en-US" sz="2800" b="1" dirty="0">
                <a:solidFill>
                  <a:srgbClr val="000066"/>
                </a:solidFill>
                <a:latin typeface="幼圆" panose="02010509060101010101" pitchFamily="49" charset="-122"/>
                <a:ea typeface="幼圆" panose="02010509060101010101" pitchFamily="49" charset="-122"/>
              </a:rPr>
              <a:t>地基承受荷载的能力</a:t>
            </a:r>
          </a:p>
        </p:txBody>
      </p:sp>
      <p:sp>
        <p:nvSpPr>
          <p:cNvPr id="8" name="Text Box 4"/>
          <p:cNvSpPr txBox="1">
            <a:spLocks noChangeArrowheads="1"/>
          </p:cNvSpPr>
          <p:nvPr/>
        </p:nvSpPr>
        <p:spPr bwMode="auto">
          <a:xfrm>
            <a:off x="837787" y="1488111"/>
            <a:ext cx="5525326"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400" b="1" dirty="0">
                <a:solidFill>
                  <a:srgbClr val="000066"/>
                </a:solidFill>
                <a:ea typeface="幼圆" pitchFamily="49" charset="-122"/>
              </a:rPr>
              <a:t>地基基础设计有两种极限状态：</a:t>
            </a:r>
            <a:endParaRPr lang="en-US" altLang="zh-CN" sz="2400" b="1" dirty="0">
              <a:solidFill>
                <a:srgbClr val="000066"/>
              </a:solidFill>
              <a:ea typeface="幼圆" pitchFamily="49" charset="-122"/>
            </a:endParaRPr>
          </a:p>
        </p:txBody>
      </p:sp>
      <p:sp>
        <p:nvSpPr>
          <p:cNvPr id="9" name="Text Box 4"/>
          <p:cNvSpPr txBox="1">
            <a:spLocks noChangeArrowheads="1"/>
          </p:cNvSpPr>
          <p:nvPr/>
        </p:nvSpPr>
        <p:spPr bwMode="auto">
          <a:xfrm>
            <a:off x="1267606" y="2290146"/>
            <a:ext cx="3441554"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20000"/>
              </a:lnSpc>
              <a:spcBef>
                <a:spcPts val="600"/>
              </a:spcBef>
              <a:spcAft>
                <a:spcPts val="0"/>
              </a:spcAft>
              <a:buClr>
                <a:srgbClr val="A50021"/>
              </a:buClr>
              <a:buSzPct val="110000"/>
              <a:buFont typeface="+mj-lt"/>
              <a:buAutoNum type="arabicPeriod"/>
            </a:pP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承载能力极限状态</a:t>
            </a:r>
            <a:r>
              <a:rPr lang="en-US" altLang="zh-CN" sz="2200" b="1" dirty="0">
                <a:solidFill>
                  <a:srgbClr val="C00000"/>
                </a:solidFill>
                <a:ea typeface="黑体" panose="02010609060101010101" pitchFamily="49" charset="-122"/>
                <a:cs typeface="Times New Roman" panose="02020603050405020304" pitchFamily="18" charset="0"/>
                <a:sym typeface="Wingdings" panose="05000000000000000000" pitchFamily="2" charset="2"/>
              </a:rPr>
              <a:t/>
            </a:r>
            <a:br>
              <a:rPr lang="en-US" altLang="zh-CN" sz="2200" b="1" dirty="0">
                <a:solidFill>
                  <a:srgbClr val="C00000"/>
                </a:solidFill>
                <a:ea typeface="黑体" panose="02010609060101010101" pitchFamily="49" charset="-122"/>
                <a:cs typeface="Times New Roman" panose="02020603050405020304" pitchFamily="18" charset="0"/>
                <a:sym typeface="Wingdings" panose="05000000000000000000" pitchFamily="2" charset="2"/>
              </a:rPr>
            </a:b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地基基础达到最大承载能力的状态</a:t>
            </a:r>
            <a:endParaRPr lang="en-US" altLang="zh-CN" sz="2200" b="1" dirty="0">
              <a:solidFill>
                <a:srgbClr val="000066"/>
              </a:solidFill>
              <a:ea typeface="幼圆" pitchFamily="49" charset="-122"/>
              <a:cs typeface="Times New Roman" panose="02020603050405020304" pitchFamily="18" charset="0"/>
              <a:sym typeface="Wingdings" panose="05000000000000000000" pitchFamily="2" charset="2"/>
            </a:endParaRPr>
          </a:p>
        </p:txBody>
      </p:sp>
      <p:sp>
        <p:nvSpPr>
          <p:cNvPr id="10" name="Text Box 4"/>
          <p:cNvSpPr txBox="1">
            <a:spLocks noChangeArrowheads="1"/>
          </p:cNvSpPr>
          <p:nvPr/>
        </p:nvSpPr>
        <p:spPr bwMode="auto">
          <a:xfrm>
            <a:off x="5622163" y="4039414"/>
            <a:ext cx="3264408" cy="141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ts val="600"/>
              </a:spcBef>
              <a:spcAft>
                <a:spcPts val="0"/>
              </a:spcAft>
              <a:buClr>
                <a:srgbClr val="A50021"/>
              </a:buClr>
              <a:buSzPct val="130000"/>
            </a:pPr>
            <a:r>
              <a:rPr lang="zh-CN" altLang="en-US" sz="2200" b="1" dirty="0">
                <a:solidFill>
                  <a:srgbClr val="C00000"/>
                </a:solidFill>
                <a:latin typeface="微软雅黑" panose="020B0503020204020204" pitchFamily="34" charset="-122"/>
                <a:ea typeface="微软雅黑" panose="020B0503020204020204" pitchFamily="34" charset="-122"/>
              </a:rPr>
              <a:t>容许承载力</a:t>
            </a:r>
            <a:r>
              <a:rPr lang="en-US" altLang="zh-CN" sz="2200" b="1" dirty="0">
                <a:solidFill>
                  <a:srgbClr val="C00000"/>
                </a:solidFill>
                <a:latin typeface="微软雅黑" panose="020B0503020204020204" pitchFamily="34" charset="-122"/>
                <a:ea typeface="微软雅黑" panose="020B0503020204020204" pitchFamily="34" charset="-122"/>
              </a:rPr>
              <a:t/>
            </a:r>
            <a:br>
              <a:rPr lang="en-US" altLang="zh-CN" sz="2200" b="1" dirty="0">
                <a:solidFill>
                  <a:srgbClr val="C00000"/>
                </a:solidFill>
                <a:latin typeface="微软雅黑" panose="020B0503020204020204" pitchFamily="34" charset="-122"/>
                <a:ea typeface="微软雅黑" panose="020B0503020204020204" pitchFamily="34" charset="-122"/>
              </a:rPr>
            </a:br>
            <a:r>
              <a:rPr lang="zh-CN" altLang="en-US" sz="2200" b="1" dirty="0">
                <a:solidFill>
                  <a:srgbClr val="000066"/>
                </a:solidFill>
                <a:ea typeface="幼圆" pitchFamily="49" charset="-122"/>
              </a:rPr>
              <a:t>地基不失稳，且建筑物沉降不超允许值的荷载</a:t>
            </a:r>
            <a:endParaRPr lang="en-US" altLang="zh-CN" sz="2200" b="1" dirty="0">
              <a:solidFill>
                <a:srgbClr val="000066"/>
              </a:solidFill>
              <a:ea typeface="幼圆" pitchFamily="49" charset="-122"/>
            </a:endParaRPr>
          </a:p>
        </p:txBody>
      </p:sp>
      <p:sp>
        <p:nvSpPr>
          <p:cNvPr id="13" name="Text Box 4"/>
          <p:cNvSpPr txBox="1">
            <a:spLocks noChangeArrowheads="1"/>
          </p:cNvSpPr>
          <p:nvPr/>
        </p:nvSpPr>
        <p:spPr bwMode="auto">
          <a:xfrm>
            <a:off x="1227582" y="4097678"/>
            <a:ext cx="3307842"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20000"/>
              </a:lnSpc>
              <a:spcBef>
                <a:spcPts val="600"/>
              </a:spcBef>
              <a:spcAft>
                <a:spcPts val="0"/>
              </a:spcAft>
              <a:buClr>
                <a:srgbClr val="A50021"/>
              </a:buClr>
              <a:buSzPct val="110000"/>
              <a:buFont typeface="+mj-lt"/>
              <a:buAutoNum type="arabicPeriod" startAt="2"/>
            </a:pP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正常使用极限状态</a:t>
            </a:r>
            <a:r>
              <a:rPr lang="en-US" altLang="zh-CN" sz="2200" b="1" dirty="0">
                <a:solidFill>
                  <a:srgbClr val="000066"/>
                </a:solidFill>
                <a:ea typeface="幼圆" pitchFamily="49" charset="-122"/>
                <a:cs typeface="Times New Roman" panose="02020603050405020304" pitchFamily="18" charset="0"/>
                <a:sym typeface="Wingdings" panose="05000000000000000000" pitchFamily="2" charset="2"/>
              </a:rPr>
              <a:t/>
            </a:r>
            <a:br>
              <a:rPr lang="en-US" altLang="zh-CN" sz="2200" b="1" dirty="0">
                <a:solidFill>
                  <a:srgbClr val="000066"/>
                </a:solidFill>
                <a:ea typeface="幼圆" pitchFamily="49" charset="-122"/>
                <a:cs typeface="Times New Roman" panose="02020603050405020304" pitchFamily="18" charset="0"/>
                <a:sym typeface="Wingdings" panose="05000000000000000000" pitchFamily="2" charset="2"/>
              </a:rPr>
            </a:b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地基基础达到变形或耐久性限值的状态</a:t>
            </a:r>
            <a:endParaRPr lang="en-US" altLang="zh-CN" sz="2200" b="1" dirty="0">
              <a:solidFill>
                <a:srgbClr val="000066"/>
              </a:solidFill>
              <a:ea typeface="幼圆" pitchFamily="49" charset="-122"/>
              <a:cs typeface="Times New Roman" panose="02020603050405020304" pitchFamily="18" charset="0"/>
              <a:sym typeface="Wingdings" panose="05000000000000000000" pitchFamily="2" charset="2"/>
            </a:endParaRPr>
          </a:p>
        </p:txBody>
      </p:sp>
      <p:sp>
        <p:nvSpPr>
          <p:cNvPr id="14" name="Text Box 4"/>
          <p:cNvSpPr txBox="1">
            <a:spLocks noChangeArrowheads="1"/>
          </p:cNvSpPr>
          <p:nvPr/>
        </p:nvSpPr>
        <p:spPr bwMode="auto">
          <a:xfrm>
            <a:off x="5610861" y="2509018"/>
            <a:ext cx="3094228" cy="925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ts val="600"/>
              </a:spcBef>
              <a:spcAft>
                <a:spcPts val="0"/>
              </a:spcAft>
              <a:buClr>
                <a:srgbClr val="A50021"/>
              </a:buClr>
              <a:buSzPct val="130000"/>
            </a:pPr>
            <a:r>
              <a:rPr lang="zh-CN" altLang="en-US" sz="2200" b="1" dirty="0">
                <a:solidFill>
                  <a:srgbClr val="C00000"/>
                </a:solidFill>
                <a:latin typeface="微软雅黑" panose="020B0503020204020204" pitchFamily="34" charset="-122"/>
                <a:ea typeface="微软雅黑" panose="020B0503020204020204" pitchFamily="34" charset="-122"/>
              </a:rPr>
              <a:t>地基的极限承载力</a:t>
            </a:r>
            <a:r>
              <a:rPr lang="en-US" altLang="zh-CN" sz="2200" b="1" dirty="0">
                <a:solidFill>
                  <a:srgbClr val="C00000"/>
                </a:solidFill>
                <a:latin typeface="微软雅黑" panose="020B0503020204020204" pitchFamily="34" charset="-122"/>
                <a:ea typeface="微软雅黑" panose="020B0503020204020204" pitchFamily="34" charset="-122"/>
              </a:rPr>
              <a:t/>
            </a:r>
            <a:br>
              <a:rPr lang="en-US" altLang="zh-CN" sz="2200" b="1" dirty="0">
                <a:solidFill>
                  <a:srgbClr val="C00000"/>
                </a:solidFill>
                <a:latin typeface="微软雅黑" panose="020B0503020204020204" pitchFamily="34" charset="-122"/>
                <a:ea typeface="微软雅黑" panose="020B0503020204020204" pitchFamily="34" charset="-122"/>
              </a:rPr>
            </a:br>
            <a:r>
              <a:rPr lang="zh-CN" altLang="en-US" sz="2200" b="1" dirty="0">
                <a:solidFill>
                  <a:srgbClr val="000066"/>
                </a:solidFill>
                <a:ea typeface="幼圆" pitchFamily="49" charset="-122"/>
              </a:rPr>
              <a:t>可能承受的最大荷载</a:t>
            </a:r>
            <a:endParaRPr lang="en-US" altLang="zh-CN" sz="2200" b="1" dirty="0">
              <a:solidFill>
                <a:srgbClr val="000066"/>
              </a:solidFill>
              <a:ea typeface="幼圆" pitchFamily="49" charset="-122"/>
            </a:endParaRPr>
          </a:p>
        </p:txBody>
      </p:sp>
      <p:sp>
        <p:nvSpPr>
          <p:cNvPr id="5" name="右箭头 4"/>
          <p:cNvSpPr/>
          <p:nvPr/>
        </p:nvSpPr>
        <p:spPr bwMode="auto">
          <a:xfrm>
            <a:off x="4787900" y="2670048"/>
            <a:ext cx="661924" cy="630936"/>
          </a:xfrm>
          <a:prstGeom prst="rightArrow">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9" name="右箭头 18"/>
          <p:cNvSpPr/>
          <p:nvPr/>
        </p:nvSpPr>
        <p:spPr bwMode="auto">
          <a:xfrm>
            <a:off x="4733036" y="4376928"/>
            <a:ext cx="661924" cy="630936"/>
          </a:xfrm>
          <a:prstGeom prst="rightArrow">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lvl="0" eaLnBrk="1" fontAlgn="ctr" hangingPunct="1">
              <a:lnSpc>
                <a:spcPct val="100000"/>
              </a:lnSpc>
              <a:spcBef>
                <a:spcPct val="0"/>
              </a:spcBef>
              <a:spcAft>
                <a:spcPct val="0"/>
              </a:spcAft>
            </a:pPr>
            <a:r>
              <a:rPr kumimoji="0" lang="en-US" altLang="zh-CN"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rPr>
              <a:t>§8.4  </a:t>
            </a:r>
            <a:r>
              <a:rPr lang="zh-CN" altLang="en-US" sz="1800" b="1" kern="900" spc="130" dirty="0">
                <a:solidFill>
                  <a:srgbClr val="000066"/>
                </a:solidFill>
                <a:ea typeface="黑体" panose="02010609060101010101" pitchFamily="49" charset="-122"/>
                <a:cs typeface="Times New Roman" panose="02020603050405020304" pitchFamily="18" charset="0"/>
              </a:rPr>
              <a:t>地基承载力的确定方法</a:t>
            </a:r>
            <a:endParaRPr kumimoji="0" lang="zh-CN" altLang="en-US"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6346520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wipe(left)">
                                      <p:cBhvr>
                                        <p:cTn id="15" dur="1000"/>
                                        <p:tgtEl>
                                          <p:spTgt spid="9">
                                            <p:txEl>
                                              <p:pRg st="0" end="0"/>
                                            </p:txEl>
                                          </p:spTgt>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par>
                          <p:cTn id="20" fill="hold">
                            <p:stCondLst>
                              <p:cond delay="2500"/>
                            </p:stCondLst>
                            <p:childTnLst>
                              <p:par>
                                <p:cTn id="21" presetID="16" presetClass="entr" presetSubtype="21"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Effect transition="in" filter="wipe(left)">
                                      <p:cBhvr>
                                        <p:cTn id="32" dur="1000"/>
                                        <p:tgtEl>
                                          <p:spTgt spid="13">
                                            <p:txEl>
                                              <p:pRg st="0" end="0"/>
                                            </p:txEl>
                                          </p:spTgt>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par>
                          <p:cTn id="37" fill="hold">
                            <p:stCondLst>
                              <p:cond delay="2000"/>
                            </p:stCondLst>
                            <p:childTnLst>
                              <p:par>
                                <p:cTn id="38" presetID="16" presetClass="entr" presetSubtype="21"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arn(inVertical)">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1" grpId="0" animBg="1"/>
      <p:bldP spid="8" grpId="0"/>
      <p:bldP spid="9" grpId="0" uiExpand="1" build="p"/>
      <p:bldP spid="10" grpId="0"/>
      <p:bldP spid="13" grpId="0" uiExpand="1" build="p"/>
      <p:bldP spid="14" grpId="0"/>
      <p:bldP spid="5" grpId="0" animBg="1"/>
      <p:bldP spid="1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7" name="Text Box 7"/>
          <p:cNvSpPr txBox="1">
            <a:spLocks noChangeArrowheads="1"/>
          </p:cNvSpPr>
          <p:nvPr/>
        </p:nvSpPr>
        <p:spPr bwMode="auto">
          <a:xfrm>
            <a:off x="1627633" y="5730875"/>
            <a:ext cx="6400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lang="zh-CN" altLang="en-US" sz="4000" b="1" dirty="0">
                <a:solidFill>
                  <a:srgbClr val="000066"/>
                </a:solidFill>
                <a:ea typeface="黑体" pitchFamily="2" charset="-122"/>
              </a:rPr>
              <a:t>地基承载力确定方法</a:t>
            </a: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60</a:t>
            </a:fld>
            <a:endParaRPr lang="zh-CN" altLang="en-US" dirty="0">
              <a:solidFill>
                <a:srgbClr val="C00000"/>
              </a:solidFill>
            </a:endParaRPr>
          </a:p>
        </p:txBody>
      </p:sp>
      <p:sp>
        <p:nvSpPr>
          <p:cNvPr id="2" name="矩形 1"/>
          <p:cNvSpPr/>
          <p:nvPr/>
        </p:nvSpPr>
        <p:spPr>
          <a:xfrm>
            <a:off x="510488" y="638630"/>
            <a:ext cx="4640156" cy="544765"/>
          </a:xfrm>
          <a:prstGeom prst="rect">
            <a:avLst/>
          </a:prstGeom>
        </p:spPr>
        <p:txBody>
          <a:bodyPr wrap="square">
            <a:spAutoFit/>
          </a:bodyPr>
          <a:lstStyle/>
          <a:p>
            <a:pPr marL="342900" indent="-342900">
              <a:buFont typeface="Wingdings" panose="05000000000000000000" pitchFamily="2" charset="2"/>
              <a:buChar char="n"/>
            </a:pPr>
            <a:r>
              <a:rPr lang="zh-CN" altLang="en-US" sz="2800" b="1" dirty="0">
                <a:solidFill>
                  <a:srgbClr val="990033"/>
                </a:solidFill>
                <a:latin typeface="微软雅黑" panose="020B0503020204020204" pitchFamily="34" charset="-122"/>
                <a:ea typeface="微软雅黑" panose="020B0503020204020204" pitchFamily="34" charset="-122"/>
              </a:rPr>
              <a:t>地基容许承载力的概念</a:t>
            </a:r>
            <a:endParaRPr lang="zh-CN" altLang="en-US" sz="2800" b="1" dirty="0">
              <a:solidFill>
                <a:srgbClr val="990033"/>
              </a:solidFill>
              <a:latin typeface="幼圆" panose="02010509060101010101" pitchFamily="49" charset="-122"/>
              <a:ea typeface="幼圆" panose="02010509060101010101" pitchFamily="49" charset="-122"/>
            </a:endParaRPr>
          </a:p>
        </p:txBody>
      </p:sp>
      <p:sp>
        <p:nvSpPr>
          <p:cNvPr id="8" name="Text Box 4"/>
          <p:cNvSpPr txBox="1">
            <a:spLocks noChangeArrowheads="1"/>
          </p:cNvSpPr>
          <p:nvPr/>
        </p:nvSpPr>
        <p:spPr bwMode="auto">
          <a:xfrm>
            <a:off x="837786" y="1249450"/>
            <a:ext cx="7763289" cy="83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10000"/>
              </a:lnSpc>
              <a:spcBef>
                <a:spcPts val="600"/>
              </a:spcBef>
              <a:spcAft>
                <a:spcPts val="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满足地基</a:t>
            </a:r>
            <a:r>
              <a:rPr lang="zh-CN" altLang="en-US" sz="2200" b="1" dirty="0">
                <a:solidFill>
                  <a:srgbClr val="C00000"/>
                </a:solidFill>
                <a:ea typeface="幼圆" pitchFamily="49" charset="-122"/>
              </a:rPr>
              <a:t>稳定性</a:t>
            </a:r>
            <a:r>
              <a:rPr lang="zh-CN" altLang="en-US" sz="2200" b="1" dirty="0">
                <a:solidFill>
                  <a:srgbClr val="000066"/>
                </a:solidFill>
                <a:ea typeface="幼圆" pitchFamily="49" charset="-122"/>
              </a:rPr>
              <a:t>和</a:t>
            </a:r>
            <a:r>
              <a:rPr lang="zh-CN" altLang="en-US" sz="2200" b="1" dirty="0">
                <a:solidFill>
                  <a:srgbClr val="C00000"/>
                </a:solidFill>
                <a:ea typeface="幼圆" pitchFamily="49" charset="-122"/>
              </a:rPr>
              <a:t>变形</a:t>
            </a:r>
            <a:r>
              <a:rPr lang="zh-CN" altLang="en-US" sz="2200" b="1" dirty="0">
                <a:solidFill>
                  <a:srgbClr val="000066"/>
                </a:solidFill>
                <a:ea typeface="幼圆" pitchFamily="49" charset="-122"/>
              </a:rPr>
              <a:t>要求的地基单位面积上所能承受的荷载称为地基在正常使用极限状态设计中的容许承载力</a:t>
            </a:r>
          </a:p>
        </p:txBody>
      </p:sp>
      <p:grpSp>
        <p:nvGrpSpPr>
          <p:cNvPr id="3" name="组合 2"/>
          <p:cNvGrpSpPr/>
          <p:nvPr/>
        </p:nvGrpSpPr>
        <p:grpSpPr>
          <a:xfrm>
            <a:off x="1359674" y="2130950"/>
            <a:ext cx="6766560" cy="1598212"/>
            <a:chOff x="1359674" y="2130950"/>
            <a:chExt cx="6766560" cy="1598212"/>
          </a:xfrm>
        </p:grpSpPr>
        <p:sp>
          <p:nvSpPr>
            <p:cNvPr id="25" name="矩形 24"/>
            <p:cNvSpPr/>
            <p:nvPr/>
          </p:nvSpPr>
          <p:spPr bwMode="auto">
            <a:xfrm>
              <a:off x="1359674" y="2130950"/>
              <a:ext cx="6766560" cy="1598212"/>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5" name="AutoShape 4"/>
            <p:cNvSpPr>
              <a:spLocks/>
            </p:cNvSpPr>
            <p:nvPr/>
          </p:nvSpPr>
          <p:spPr bwMode="auto">
            <a:xfrm>
              <a:off x="5119073" y="2380107"/>
              <a:ext cx="183083" cy="1257301"/>
            </a:xfrm>
            <a:prstGeom prst="leftBrace">
              <a:avLst>
                <a:gd name="adj1" fmla="val 77778"/>
                <a:gd name="adj2" fmla="val 68875"/>
              </a:avLst>
            </a:prstGeom>
            <a:noFill/>
            <a:ln w="2222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sz="22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6" name="Rectangle 5"/>
            <p:cNvSpPr>
              <a:spLocks noChangeArrowheads="1"/>
            </p:cNvSpPr>
            <p:nvPr/>
          </p:nvSpPr>
          <p:spPr bwMode="auto">
            <a:xfrm>
              <a:off x="1536979" y="2600138"/>
              <a:ext cx="2828660" cy="435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buClr>
                  <a:srgbClr val="C00000"/>
                </a:buClr>
                <a:buFont typeface="Wingdings" panose="05000000000000000000" pitchFamily="2" charset="2"/>
                <a:buChar char="Ø"/>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临界荷载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1/4</a:t>
              </a:r>
              <a:r>
                <a:rPr lang="zh-CN" altLang="en-US"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1/3</a:t>
              </a:r>
            </a:p>
          </p:txBody>
        </p:sp>
        <p:sp>
          <p:nvSpPr>
            <p:cNvPr id="20" name="Rectangle 6"/>
            <p:cNvSpPr>
              <a:spLocks noChangeArrowheads="1"/>
            </p:cNvSpPr>
            <p:nvPr/>
          </p:nvSpPr>
          <p:spPr bwMode="auto">
            <a:xfrm>
              <a:off x="1536979" y="2175410"/>
              <a:ext cx="2438400" cy="470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95000"/>
                </a:lnSpc>
                <a:buClr>
                  <a:srgbClr val="C00000"/>
                </a:buClr>
                <a:buFont typeface="Wingdings" panose="05000000000000000000" pitchFamily="2" charset="2"/>
                <a:buChar char="Ø"/>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临塑荷载 </a:t>
              </a:r>
              <a:r>
                <a:rPr lang="en-US" altLang="zh-CN" sz="2000" b="1" i="1" dirty="0" err="1">
                  <a:solidFill>
                    <a:srgbClr val="C000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err="1">
                  <a:solidFill>
                    <a:srgbClr val="C00000"/>
                  </a:solidFill>
                  <a:latin typeface="Times New Roman" panose="02020603050405020304" pitchFamily="18" charset="0"/>
                  <a:ea typeface="幼圆" panose="02010509060101010101" pitchFamily="49" charset="-122"/>
                  <a:cs typeface="Times New Roman" panose="02020603050405020304" pitchFamily="18" charset="0"/>
                </a:rPr>
                <a:t>cr</a:t>
              </a:r>
              <a:endPar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1" name="Rectangle 7"/>
            <p:cNvSpPr>
              <a:spLocks noChangeArrowheads="1"/>
            </p:cNvSpPr>
            <p:nvPr/>
          </p:nvSpPr>
          <p:spPr bwMode="auto">
            <a:xfrm>
              <a:off x="1543855" y="3034743"/>
              <a:ext cx="3624494" cy="514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0000"/>
                </a:lnSpc>
                <a:spcBef>
                  <a:spcPts val="200"/>
                </a:spcBef>
                <a:spcAft>
                  <a:spcPts val="200"/>
                </a:spcAft>
                <a:buClr>
                  <a:srgbClr val="C00000"/>
                </a:buClr>
                <a:buFont typeface="Wingdings" panose="05000000000000000000" pitchFamily="2" charset="2"/>
                <a:buChar char="Ø"/>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极限荷载（极限承载力）</a:t>
              </a:r>
              <a:r>
                <a:rPr lang="en-US" altLang="zh-CN" sz="2000" b="1" i="1" dirty="0" err="1">
                  <a:solidFill>
                    <a:srgbClr val="C000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err="1">
                  <a:solidFill>
                    <a:srgbClr val="C00000"/>
                  </a:solidFill>
                  <a:latin typeface="Times New Roman" panose="02020603050405020304" pitchFamily="18" charset="0"/>
                  <a:ea typeface="幼圆" panose="02010509060101010101" pitchFamily="49" charset="-122"/>
                  <a:cs typeface="Times New Roman" panose="02020603050405020304" pitchFamily="18" charset="0"/>
                </a:rPr>
                <a:t>u</a:t>
              </a:r>
              <a:endPar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22" name="Rectangle 8"/>
            <p:cNvSpPr>
              <a:spLocks noChangeArrowheads="1"/>
            </p:cNvSpPr>
            <p:nvPr/>
          </p:nvSpPr>
          <p:spPr bwMode="auto">
            <a:xfrm>
              <a:off x="5252421" y="2199568"/>
              <a:ext cx="2773836" cy="1495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79388" indent="-179388">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普朗德尔</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瑞斯纳公式</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79388" indent="-179388">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太沙基公式</a:t>
              </a:r>
            </a:p>
            <a:p>
              <a:pPr marL="179388" indent="-179388">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汉森公式</a:t>
              </a:r>
            </a:p>
            <a:p>
              <a:pPr marL="179388" indent="-179388">
                <a:lnSpc>
                  <a:spcPct val="110000"/>
                </a:lnSpc>
                <a:spcBef>
                  <a:spcPts val="100"/>
                </a:spcBef>
                <a:spcAft>
                  <a:spcPts val="100"/>
                </a:spcAft>
                <a:buClr>
                  <a:srgbClr val="C00000"/>
                </a:buClr>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汉梅耶霍夫公式</a:t>
              </a:r>
            </a:p>
          </p:txBody>
        </p:sp>
      </p:grpSp>
      <p:grpSp>
        <p:nvGrpSpPr>
          <p:cNvPr id="4" name="组合 3"/>
          <p:cNvGrpSpPr/>
          <p:nvPr/>
        </p:nvGrpSpPr>
        <p:grpSpPr>
          <a:xfrm>
            <a:off x="1595992" y="4272649"/>
            <a:ext cx="6956443" cy="1235867"/>
            <a:chOff x="1595992" y="4272649"/>
            <a:chExt cx="6956443" cy="1235867"/>
          </a:xfrm>
        </p:grpSpPr>
        <p:sp>
          <p:nvSpPr>
            <p:cNvPr id="27" name="右箭头标注 26"/>
            <p:cNvSpPr/>
            <p:nvPr/>
          </p:nvSpPr>
          <p:spPr bwMode="auto">
            <a:xfrm>
              <a:off x="1637284" y="4272649"/>
              <a:ext cx="5514975" cy="1235867"/>
            </a:xfrm>
            <a:prstGeom prst="rightArrowCallout">
              <a:avLst>
                <a:gd name="adj1" fmla="val 25000"/>
                <a:gd name="adj2" fmla="val 25000"/>
                <a:gd name="adj3" fmla="val 25000"/>
                <a:gd name="adj4" fmla="val 89890"/>
              </a:avLst>
            </a:prstGeom>
            <a:solidFill>
              <a:schemeClr val="accent6">
                <a:lumMod val="20000"/>
                <a:lumOff val="80000"/>
              </a:schemeClr>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5" name="矩形 4"/>
            <p:cNvSpPr/>
            <p:nvPr/>
          </p:nvSpPr>
          <p:spPr>
            <a:xfrm>
              <a:off x="2065117" y="4276028"/>
              <a:ext cx="3536157" cy="1210588"/>
            </a:xfrm>
            <a:prstGeom prst="rect">
              <a:avLst/>
            </a:prstGeom>
          </p:spPr>
          <p:txBody>
            <a:bodyPr wrap="square">
              <a:spAutoFit/>
            </a:bodyPr>
            <a:lstStyle/>
            <a:p>
              <a:pPr marL="179388" indent="-179388">
                <a:lnSpc>
                  <a:spcPct val="110000"/>
                </a:lnSpc>
                <a:spcBef>
                  <a:spcPts val="200"/>
                </a:spcBef>
                <a:spcAft>
                  <a:spcPts val="200"/>
                </a:spcAft>
                <a:buClr>
                  <a:srgbClr val="C00000"/>
                </a:buClr>
                <a:buFont typeface="Arial" panose="020B0604020202020204" pitchFamily="34" charset="0"/>
                <a:buChar char="•"/>
              </a:pPr>
              <a:r>
                <a:rPr lang="zh-CN" altLang="en-US" sz="2000" b="1" dirty="0">
                  <a:solidFill>
                    <a:srgbClr val="000066"/>
                  </a:solidFill>
                  <a:latin typeface="幼圆" panose="02010509060101010101" pitchFamily="49" charset="-122"/>
                  <a:ea typeface="幼圆" panose="02010509060101010101" pitchFamily="49" charset="-122"/>
                </a:rPr>
                <a:t>极限承载力除以安全系数</a:t>
              </a:r>
              <a:endParaRPr lang="en-US" altLang="zh-CN" sz="2000" b="1" dirty="0">
                <a:solidFill>
                  <a:srgbClr val="000066"/>
                </a:solidFill>
                <a:latin typeface="幼圆" panose="02010509060101010101" pitchFamily="49" charset="-122"/>
                <a:ea typeface="幼圆" panose="02010509060101010101" pitchFamily="49" charset="-122"/>
              </a:endParaRPr>
            </a:p>
            <a:p>
              <a:pPr marL="179388" indent="-179388">
                <a:lnSpc>
                  <a:spcPct val="110000"/>
                </a:lnSpc>
                <a:spcBef>
                  <a:spcPts val="200"/>
                </a:spcBef>
                <a:spcAft>
                  <a:spcPts val="200"/>
                </a:spcAft>
                <a:buClr>
                  <a:srgbClr val="C00000"/>
                </a:buClr>
                <a:buFont typeface="Arial" panose="020B0604020202020204" pitchFamily="34" charset="0"/>
                <a:buChar char="•"/>
              </a:pPr>
              <a:r>
                <a:rPr lang="zh-CN" altLang="en-US" sz="2000" b="1" dirty="0">
                  <a:solidFill>
                    <a:srgbClr val="000066"/>
                  </a:solidFill>
                  <a:latin typeface="幼圆" panose="02010509060101010101" pitchFamily="49" charset="-122"/>
                  <a:ea typeface="幼圆" panose="02010509060101010101" pitchFamily="49" charset="-122"/>
                </a:rPr>
                <a:t>控制地基内极限平衡区范围</a:t>
              </a:r>
              <a:endParaRPr lang="en-US" altLang="zh-CN" sz="2000" b="1" dirty="0">
                <a:solidFill>
                  <a:srgbClr val="000066"/>
                </a:solidFill>
                <a:latin typeface="幼圆" panose="02010509060101010101" pitchFamily="49" charset="-122"/>
                <a:ea typeface="幼圆" panose="02010509060101010101" pitchFamily="49" charset="-122"/>
              </a:endParaRPr>
            </a:p>
            <a:p>
              <a:pPr marL="179388" indent="-179388">
                <a:lnSpc>
                  <a:spcPct val="110000"/>
                </a:lnSpc>
                <a:spcBef>
                  <a:spcPts val="200"/>
                </a:spcBef>
                <a:spcAft>
                  <a:spcPts val="200"/>
                </a:spcAft>
                <a:buClr>
                  <a:srgbClr val="C00000"/>
                </a:buClr>
                <a:buFont typeface="Arial" panose="020B0604020202020204" pitchFamily="34" charset="0"/>
                <a:buChar char="•"/>
              </a:pPr>
              <a:r>
                <a:rPr lang="zh-CN" altLang="en-US" sz="2000" b="1" dirty="0">
                  <a:solidFill>
                    <a:srgbClr val="000066"/>
                  </a:solidFill>
                  <a:latin typeface="幼圆" panose="02010509060101010101" pitchFamily="49" charset="-122"/>
                  <a:ea typeface="幼圆" panose="02010509060101010101" pitchFamily="49" charset="-122"/>
                </a:rPr>
                <a:t>采用某种经验数值作为初值</a:t>
              </a:r>
            </a:p>
          </p:txBody>
        </p:sp>
        <p:sp>
          <p:nvSpPr>
            <p:cNvPr id="9" name="矩形 8"/>
            <p:cNvSpPr/>
            <p:nvPr/>
          </p:nvSpPr>
          <p:spPr>
            <a:xfrm>
              <a:off x="7234749" y="4533731"/>
              <a:ext cx="1317686" cy="800219"/>
            </a:xfrm>
            <a:prstGeom prst="rect">
              <a:avLst/>
            </a:prstGeom>
          </p:spPr>
          <p:txBody>
            <a:bodyPr wrap="square">
              <a:spAutoFit/>
            </a:bodyPr>
            <a:lstStyle/>
            <a:p>
              <a:r>
                <a:rPr lang="zh-CN" altLang="en-US" sz="2000" b="1" dirty="0">
                  <a:solidFill>
                    <a:srgbClr val="A50021"/>
                  </a:solidFill>
                  <a:latin typeface="幼圆" panose="02010509060101010101" pitchFamily="49" charset="-122"/>
                  <a:ea typeface="幼圆" panose="02010509060101010101" pitchFamily="49" charset="-122"/>
                </a:rPr>
                <a:t>地基的容许承载力</a:t>
              </a:r>
            </a:p>
          </p:txBody>
        </p:sp>
        <p:sp>
          <p:nvSpPr>
            <p:cNvPr id="11" name="文本框 10"/>
            <p:cNvSpPr txBox="1"/>
            <p:nvPr/>
          </p:nvSpPr>
          <p:spPr>
            <a:xfrm>
              <a:off x="1595992" y="4315510"/>
              <a:ext cx="538609" cy="1118255"/>
            </a:xfrm>
            <a:prstGeom prst="rect">
              <a:avLst/>
            </a:prstGeom>
            <a:noFill/>
          </p:spPr>
          <p:txBody>
            <a:bodyPr vert="eaVert" wrap="non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稳定要求</a:t>
              </a:r>
            </a:p>
          </p:txBody>
        </p:sp>
        <p:sp>
          <p:nvSpPr>
            <p:cNvPr id="14" name="文本框 13"/>
            <p:cNvSpPr txBox="1"/>
            <p:nvPr/>
          </p:nvSpPr>
          <p:spPr>
            <a:xfrm>
              <a:off x="6026728" y="4351230"/>
              <a:ext cx="511166" cy="1121568"/>
            </a:xfrm>
            <a:prstGeom prst="rect">
              <a:avLst/>
            </a:prstGeom>
            <a:noFill/>
          </p:spPr>
          <p:txBody>
            <a:bodyPr vert="eaVert" wrap="squar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沉降验算</a:t>
              </a:r>
            </a:p>
          </p:txBody>
        </p:sp>
        <p:sp>
          <p:nvSpPr>
            <p:cNvPr id="26" name="燕尾形 25"/>
            <p:cNvSpPr/>
            <p:nvPr/>
          </p:nvSpPr>
          <p:spPr bwMode="auto">
            <a:xfrm>
              <a:off x="5644926" y="4715560"/>
              <a:ext cx="328610" cy="364332"/>
            </a:xfrm>
            <a:prstGeom prst="chevron">
              <a:avLst/>
            </a:prstGeom>
            <a:solidFill>
              <a:srgbClr val="FFFF00"/>
            </a:solid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grpSp>
      <p:sp>
        <p:nvSpPr>
          <p:cNvPr id="30" name="Text Box 4"/>
          <p:cNvSpPr txBox="1">
            <a:spLocks noChangeArrowheads="1"/>
          </p:cNvSpPr>
          <p:nvPr/>
        </p:nvSpPr>
        <p:spPr bwMode="auto">
          <a:xfrm>
            <a:off x="844551" y="3687727"/>
            <a:ext cx="2682873" cy="53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一般确定方法</a:t>
            </a:r>
          </a:p>
        </p:txBody>
      </p:sp>
      <p:sp>
        <p:nvSpPr>
          <p:cNvPr id="23"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lvl="0" eaLnBrk="1" fontAlgn="ctr" hangingPunct="1">
              <a:lnSpc>
                <a:spcPct val="100000"/>
              </a:lnSpc>
              <a:spcBef>
                <a:spcPct val="0"/>
              </a:spcBef>
              <a:spcAft>
                <a:spcPct val="0"/>
              </a:spcAft>
            </a:pPr>
            <a:r>
              <a:rPr kumimoji="0" lang="en-US" altLang="zh-CN"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rPr>
              <a:t>§8.4  </a:t>
            </a:r>
            <a:r>
              <a:rPr lang="zh-CN" altLang="en-US" sz="1800" b="1" kern="900" spc="130" dirty="0">
                <a:solidFill>
                  <a:srgbClr val="000066"/>
                </a:solidFill>
                <a:ea typeface="黑体" panose="02010609060101010101" pitchFamily="49" charset="-122"/>
                <a:cs typeface="Times New Roman" panose="02020603050405020304" pitchFamily="18" charset="0"/>
              </a:rPr>
              <a:t>地基承载力的确定方法</a:t>
            </a:r>
            <a:endParaRPr kumimoji="0" lang="zh-CN" altLang="en-US"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2467806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arn(inVertical)">
                                      <p:cBhvr>
                                        <p:cTn id="16" dur="500"/>
                                        <p:tgtEl>
                                          <p:spTgt spid="30"/>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bwMode="auto">
          <a:xfrm>
            <a:off x="1494844" y="2838612"/>
            <a:ext cx="6854025" cy="1502797"/>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61</a:t>
            </a:fld>
            <a:endParaRPr lang="zh-CN" altLang="en-US" dirty="0">
              <a:solidFill>
                <a:srgbClr val="C00000"/>
              </a:solidFill>
            </a:endParaRPr>
          </a:p>
        </p:txBody>
      </p:sp>
      <p:sp>
        <p:nvSpPr>
          <p:cNvPr id="2" name="矩形 1"/>
          <p:cNvSpPr/>
          <p:nvPr/>
        </p:nvSpPr>
        <p:spPr>
          <a:xfrm>
            <a:off x="510488" y="810084"/>
            <a:ext cx="2254144" cy="544765"/>
          </a:xfrm>
          <a:prstGeom prst="rect">
            <a:avLst/>
          </a:prstGeom>
        </p:spPr>
        <p:txBody>
          <a:bodyPr wrap="square">
            <a:spAutoFit/>
          </a:bodyPr>
          <a:lstStyle/>
          <a:p>
            <a:pPr marL="342900" indent="-342900">
              <a:buFont typeface="Wingdings" panose="05000000000000000000" pitchFamily="2" charset="2"/>
              <a:buChar char="n"/>
            </a:pPr>
            <a:r>
              <a:rPr lang="zh-CN" altLang="en-US" sz="2800" b="1" dirty="0">
                <a:solidFill>
                  <a:srgbClr val="990033"/>
                </a:solidFill>
                <a:latin typeface="微软雅黑" panose="020B0503020204020204" pitchFamily="34" charset="-122"/>
                <a:ea typeface="微软雅黑" panose="020B0503020204020204" pitchFamily="34" charset="-122"/>
              </a:rPr>
              <a:t>主要方法</a:t>
            </a:r>
            <a:endParaRPr lang="zh-CN" altLang="en-US" sz="2800" b="1" dirty="0">
              <a:solidFill>
                <a:srgbClr val="990033"/>
              </a:solidFill>
              <a:latin typeface="幼圆" panose="02010509060101010101" pitchFamily="49" charset="-122"/>
              <a:ea typeface="幼圆" panose="02010509060101010101" pitchFamily="49" charset="-122"/>
            </a:endParaRPr>
          </a:p>
        </p:txBody>
      </p:sp>
      <p:sp>
        <p:nvSpPr>
          <p:cNvPr id="8" name="Text Box 4"/>
          <p:cNvSpPr txBox="1">
            <a:spLocks noChangeArrowheads="1"/>
          </p:cNvSpPr>
          <p:nvPr/>
        </p:nvSpPr>
        <p:spPr bwMode="auto">
          <a:xfrm>
            <a:off x="1006814" y="1718249"/>
            <a:ext cx="7491827" cy="3222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spcBef>
                <a:spcPts val="300"/>
              </a:spcBef>
              <a:spcAft>
                <a:spcPts val="60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基于正常使用极限状态的设计，设计中采用容许承载力</a:t>
            </a:r>
            <a:endParaRPr lang="en-US" altLang="zh-CN" sz="2200" b="1" dirty="0">
              <a:solidFill>
                <a:srgbClr val="000066"/>
              </a:solidFill>
              <a:ea typeface="幼圆" pitchFamily="49" charset="-122"/>
            </a:endParaRPr>
          </a:p>
          <a:p>
            <a:pPr marL="444500" indent="-444500" eaLnBrk="1" hangingPunct="1">
              <a:lnSpc>
                <a:spcPct val="120000"/>
              </a:lnSpc>
              <a:spcBef>
                <a:spcPts val="1200"/>
              </a:spcBef>
              <a:spcAft>
                <a:spcPts val="30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先确定容许承载力的初值：</a:t>
            </a:r>
            <a:endParaRPr lang="en-US" altLang="zh-CN" sz="2200" b="1" dirty="0">
              <a:solidFill>
                <a:srgbClr val="000066"/>
              </a:solidFill>
              <a:ea typeface="幼圆" pitchFamily="49" charset="-122"/>
            </a:endParaRPr>
          </a:p>
          <a:p>
            <a:pPr marL="803275" lvl="1" indent="-358775" eaLnBrk="1" hangingPunct="1">
              <a:lnSpc>
                <a:spcPct val="120000"/>
              </a:lnSpc>
              <a:spcBef>
                <a:spcPts val="300"/>
              </a:spcBef>
              <a:spcAft>
                <a:spcPts val="300"/>
              </a:spcAft>
              <a:buClr>
                <a:srgbClr val="A50021"/>
              </a:buClr>
              <a:buSzPct val="100000"/>
              <a:buFont typeface="+mj-lt"/>
              <a:buAutoNum type="arabicPeriod"/>
            </a:pPr>
            <a:r>
              <a:rPr lang="zh-CN" altLang="en-US" sz="2200" b="1" dirty="0">
                <a:solidFill>
                  <a:srgbClr val="000066"/>
                </a:solidFill>
                <a:ea typeface="幼圆" pitchFamily="49" charset="-122"/>
                <a:cs typeface="Times New Roman" panose="02020603050405020304" pitchFamily="18" charset="0"/>
              </a:rPr>
              <a:t>强度试验基础上的</a:t>
            </a:r>
            <a:r>
              <a:rPr lang="zh-CN" altLang="en-US" sz="2200" b="1" dirty="0">
                <a:solidFill>
                  <a:srgbClr val="C00000"/>
                </a:solidFill>
                <a:ea typeface="幼圆" panose="02010509060101010101" pitchFamily="49" charset="-122"/>
                <a:cs typeface="Times New Roman" panose="02020603050405020304" pitchFamily="18" charset="0"/>
              </a:rPr>
              <a:t>承载力公式法</a:t>
            </a:r>
            <a:endParaRPr lang="en-US" altLang="zh-CN" sz="2200" b="1" dirty="0">
              <a:solidFill>
                <a:srgbClr val="C00000"/>
              </a:solidFill>
              <a:ea typeface="幼圆" panose="02010509060101010101" pitchFamily="49" charset="-122"/>
              <a:cs typeface="Times New Roman" panose="02020603050405020304" pitchFamily="18" charset="0"/>
            </a:endParaRPr>
          </a:p>
          <a:p>
            <a:pPr marL="803275" lvl="1" indent="-358775" eaLnBrk="1" hangingPunct="1">
              <a:lnSpc>
                <a:spcPct val="120000"/>
              </a:lnSpc>
              <a:spcBef>
                <a:spcPts val="300"/>
              </a:spcBef>
              <a:spcAft>
                <a:spcPts val="300"/>
              </a:spcAft>
              <a:buClr>
                <a:srgbClr val="A50021"/>
              </a:buClr>
              <a:buSzPct val="100000"/>
              <a:buFont typeface="+mj-lt"/>
              <a:buAutoNum type="arabicPeriod"/>
            </a:pPr>
            <a:r>
              <a:rPr lang="zh-CN" altLang="en-US" sz="2200" b="1" dirty="0">
                <a:solidFill>
                  <a:srgbClr val="C00000"/>
                </a:solidFill>
                <a:ea typeface="幼圆" panose="02010509060101010101" pitchFamily="49" charset="-122"/>
                <a:cs typeface="Times New Roman" panose="02020603050405020304" pitchFamily="18" charset="0"/>
              </a:rPr>
              <a:t>现场原位试验法</a:t>
            </a:r>
            <a:endParaRPr lang="en-US" altLang="zh-CN" sz="2200" b="1" dirty="0">
              <a:solidFill>
                <a:srgbClr val="C00000"/>
              </a:solidFill>
              <a:ea typeface="幼圆" panose="02010509060101010101" pitchFamily="49" charset="-122"/>
              <a:cs typeface="Times New Roman" panose="02020603050405020304" pitchFamily="18" charset="0"/>
            </a:endParaRPr>
          </a:p>
          <a:p>
            <a:pPr marL="803275" lvl="1" indent="-358775" eaLnBrk="1" hangingPunct="1">
              <a:lnSpc>
                <a:spcPct val="120000"/>
              </a:lnSpc>
              <a:spcBef>
                <a:spcPts val="300"/>
              </a:spcBef>
              <a:spcAft>
                <a:spcPts val="1200"/>
              </a:spcAft>
              <a:buClr>
                <a:srgbClr val="A50021"/>
              </a:buClr>
              <a:buSzPct val="100000"/>
              <a:buFont typeface="+mj-lt"/>
              <a:buAutoNum type="arabicPeriod"/>
            </a:pPr>
            <a:r>
              <a:rPr lang="zh-CN" altLang="en-US" sz="2200" b="1" dirty="0">
                <a:solidFill>
                  <a:srgbClr val="C00000"/>
                </a:solidFill>
                <a:ea typeface="幼圆" panose="02010509060101010101" pitchFamily="49" charset="-122"/>
                <a:cs typeface="Times New Roman" panose="02020603050405020304" pitchFamily="18" charset="0"/>
              </a:rPr>
              <a:t>经验的方法</a:t>
            </a:r>
            <a:r>
              <a:rPr lang="zh-CN" altLang="en-US" sz="2200" b="1" dirty="0">
                <a:solidFill>
                  <a:srgbClr val="000066"/>
                </a:solidFill>
                <a:ea typeface="幼圆" pitchFamily="49" charset="-122"/>
                <a:cs typeface="Times New Roman" panose="02020603050405020304" pitchFamily="18" charset="0"/>
              </a:rPr>
              <a:t>：从其他原位测试、经验值等方法确</a:t>
            </a:r>
            <a:r>
              <a:rPr lang="zh-CN" altLang="en-US" sz="2200" b="1" dirty="0">
                <a:solidFill>
                  <a:srgbClr val="000066"/>
                </a:solidFill>
                <a:ea typeface="幼圆" pitchFamily="49" charset="-122"/>
              </a:rPr>
              <a:t>定</a:t>
            </a:r>
            <a:endParaRPr lang="en-US" altLang="zh-CN" sz="2200" b="1" dirty="0">
              <a:solidFill>
                <a:srgbClr val="000066"/>
              </a:solidFill>
              <a:ea typeface="幼圆" pitchFamily="49" charset="-122"/>
            </a:endParaRPr>
          </a:p>
          <a:p>
            <a:pPr marL="444500" indent="-444500" eaLnBrk="1" hangingPunct="1">
              <a:lnSpc>
                <a:spcPct val="120000"/>
              </a:lnSpc>
              <a:spcBef>
                <a:spcPts val="600"/>
              </a:spcBef>
              <a:spcAft>
                <a:spcPts val="30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最后通过沉降计算最后确定设计取值</a:t>
            </a:r>
          </a:p>
        </p:txBody>
      </p:sp>
      <p:sp>
        <p:nvSpPr>
          <p:cNvPr id="4" name="矩形 3"/>
          <p:cNvSpPr/>
          <p:nvPr/>
        </p:nvSpPr>
        <p:spPr>
          <a:xfrm>
            <a:off x="2763640" y="866609"/>
            <a:ext cx="5628720" cy="446276"/>
          </a:xfrm>
          <a:prstGeom prst="rect">
            <a:avLst/>
          </a:prstGeom>
          <a:solidFill>
            <a:srgbClr val="FFFF00"/>
          </a:solidFill>
        </p:spPr>
        <p:txBody>
          <a:bodyPr wrap="none">
            <a:spAutoFit/>
          </a:bodyPr>
          <a:lstStyle/>
          <a:p>
            <a:r>
              <a:rPr lang="en-US" altLang="zh-CN" sz="2000" b="1" dirty="0">
                <a:solidFill>
                  <a:srgbClr val="C00000"/>
                </a:solidFill>
                <a:ea typeface="幼圆" panose="02010509060101010101" pitchFamily="49" charset="-122"/>
                <a:cs typeface="Times New Roman" panose="02020603050405020304" pitchFamily="18" charset="0"/>
              </a:rPr>
              <a:t>《</a:t>
            </a:r>
            <a:r>
              <a:rPr lang="zh-CN" altLang="en-US" sz="2000" b="1" dirty="0">
                <a:solidFill>
                  <a:srgbClr val="C00000"/>
                </a:solidFill>
                <a:ea typeface="幼圆" panose="02010509060101010101" pitchFamily="49" charset="-122"/>
                <a:cs typeface="Times New Roman" panose="02020603050405020304" pitchFamily="18" charset="0"/>
              </a:rPr>
              <a:t>建筑地基基础设计规范</a:t>
            </a:r>
            <a:r>
              <a:rPr lang="en-US" altLang="zh-CN" sz="2000" b="1" dirty="0">
                <a:solidFill>
                  <a:srgbClr val="C00000"/>
                </a:solidFill>
                <a:ea typeface="幼圆" panose="02010509060101010101" pitchFamily="49" charset="-122"/>
                <a:cs typeface="Times New Roman" panose="02020603050405020304" pitchFamily="18" charset="0"/>
              </a:rPr>
              <a:t>》</a:t>
            </a:r>
            <a:r>
              <a:rPr lang="zh-CN" altLang="en-US" sz="2000" b="1" dirty="0">
                <a:solidFill>
                  <a:srgbClr val="C00000"/>
                </a:solidFill>
                <a:ea typeface="幼圆" panose="02010509060101010101" pitchFamily="49" charset="-122"/>
                <a:cs typeface="Times New Roman" panose="02020603050405020304" pitchFamily="18" charset="0"/>
              </a:rPr>
              <a:t>（</a:t>
            </a:r>
            <a:r>
              <a:rPr lang="en-US" altLang="zh-CN" sz="2000" b="1" dirty="0">
                <a:solidFill>
                  <a:srgbClr val="C00000"/>
                </a:solidFill>
                <a:ea typeface="幼圆" panose="02010509060101010101" pitchFamily="49" charset="-122"/>
                <a:cs typeface="Times New Roman" panose="02020603050405020304" pitchFamily="18" charset="0"/>
              </a:rPr>
              <a:t>GB 50007—2011</a:t>
            </a:r>
            <a:r>
              <a:rPr lang="zh-CN" altLang="en-US" sz="2000" b="1" dirty="0">
                <a:solidFill>
                  <a:srgbClr val="C00000"/>
                </a:solidFill>
                <a:ea typeface="幼圆" panose="02010509060101010101" pitchFamily="49" charset="-122"/>
                <a:cs typeface="Times New Roman" panose="02020603050405020304" pitchFamily="18" charset="0"/>
              </a:rPr>
              <a:t>）</a:t>
            </a:r>
          </a:p>
        </p:txBody>
      </p:sp>
      <p:sp>
        <p:nvSpPr>
          <p:cNvPr id="9" name="Text Box 7"/>
          <p:cNvSpPr txBox="1">
            <a:spLocks noChangeArrowheads="1"/>
          </p:cNvSpPr>
          <p:nvPr/>
        </p:nvSpPr>
        <p:spPr bwMode="auto">
          <a:xfrm>
            <a:off x="1627633" y="5730875"/>
            <a:ext cx="6400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lang="zh-CN" altLang="en-US" sz="4000" b="1" dirty="0">
                <a:solidFill>
                  <a:srgbClr val="000066"/>
                </a:solidFill>
                <a:ea typeface="黑体" pitchFamily="2" charset="-122"/>
              </a:rPr>
              <a:t>地基承载力确定方法</a:t>
            </a:r>
          </a:p>
        </p:txBody>
      </p:sp>
      <p:sp>
        <p:nvSpPr>
          <p:cNvPr id="10"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lvl="0" eaLnBrk="1" fontAlgn="ctr" hangingPunct="1">
              <a:lnSpc>
                <a:spcPct val="100000"/>
              </a:lnSpc>
              <a:spcBef>
                <a:spcPct val="0"/>
              </a:spcBef>
              <a:spcAft>
                <a:spcPct val="0"/>
              </a:spcAft>
            </a:pPr>
            <a:r>
              <a:rPr kumimoji="0" lang="en-US" altLang="zh-CN"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rPr>
              <a:t>§8.4  </a:t>
            </a:r>
            <a:r>
              <a:rPr lang="zh-CN" altLang="en-US" sz="1800" b="1" kern="900" spc="130" dirty="0">
                <a:solidFill>
                  <a:srgbClr val="000066"/>
                </a:solidFill>
                <a:ea typeface="黑体" panose="02010609060101010101" pitchFamily="49" charset="-122"/>
                <a:cs typeface="Times New Roman" panose="02020603050405020304" pitchFamily="18" charset="0"/>
              </a:rPr>
              <a:t>地基承载力的确定方法</a:t>
            </a:r>
            <a:endParaRPr kumimoji="0" lang="zh-CN" altLang="en-US"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4674143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500"/>
                                        <p:tgtEl>
                                          <p:spTgt spid="8">
                                            <p:txEl>
                                              <p:pRg st="1" end="1"/>
                                            </p:txEl>
                                          </p:spTgt>
                                        </p:tgtEl>
                                      </p:cBhvr>
                                    </p:animEffect>
                                  </p:childTnLst>
                                </p:cTn>
                              </p:par>
                            </p:childTnLst>
                          </p:cTn>
                        </p:par>
                        <p:par>
                          <p:cTn id="18" fill="hold">
                            <p:stCondLst>
                              <p:cond delay="500"/>
                            </p:stCondLst>
                            <p:childTnLst>
                              <p:par>
                                <p:cTn id="19" presetID="16" presetClass="entr" presetSubtype="21"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Effect transition="in" filter="wipe(left)">
                                      <p:cBhvr>
                                        <p:cTn id="25" dur="500"/>
                                        <p:tgtEl>
                                          <p:spTgt spid="8">
                                            <p:txEl>
                                              <p:pRg st="2" end="2"/>
                                            </p:txEl>
                                          </p:spTgt>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animEffect transition="in" filter="wipe(left)">
                                      <p:cBhvr>
                                        <p:cTn id="29" dur="500"/>
                                        <p:tgtEl>
                                          <p:spTgt spid="8">
                                            <p:txEl>
                                              <p:pRg st="3" end="3"/>
                                            </p:txEl>
                                          </p:spTgt>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8">
                                            <p:txEl>
                                              <p:pRg st="4" end="4"/>
                                            </p:txEl>
                                          </p:spTgt>
                                        </p:tgtEl>
                                        <p:attrNameLst>
                                          <p:attrName>style.visibility</p:attrName>
                                        </p:attrNameLst>
                                      </p:cBhvr>
                                      <p:to>
                                        <p:strVal val="visible"/>
                                      </p:to>
                                    </p:set>
                                    <p:animEffect transition="in" filter="wipe(left)">
                                      <p:cBhvr>
                                        <p:cTn id="33" dur="500"/>
                                        <p:tgtEl>
                                          <p:spTgt spid="8">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
                                            <p:txEl>
                                              <p:pRg st="5" end="5"/>
                                            </p:txEl>
                                          </p:spTgt>
                                        </p:tgtEl>
                                        <p:attrNameLst>
                                          <p:attrName>style.visibility</p:attrName>
                                        </p:attrNameLst>
                                      </p:cBhvr>
                                      <p:to>
                                        <p:strVal val="visible"/>
                                      </p:to>
                                    </p:set>
                                    <p:animEffect transition="in" filter="wipe(left)">
                                      <p:cBhvr>
                                        <p:cTn id="38"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uiExpand="1" build="p"/>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62</a:t>
            </a:fld>
            <a:endParaRPr lang="zh-CN" altLang="en-US" dirty="0">
              <a:solidFill>
                <a:srgbClr val="C00000"/>
              </a:solidFill>
            </a:endParaRPr>
          </a:p>
        </p:txBody>
      </p:sp>
      <p:sp>
        <p:nvSpPr>
          <p:cNvPr id="2" name="矩形 1"/>
          <p:cNvSpPr/>
          <p:nvPr/>
        </p:nvSpPr>
        <p:spPr>
          <a:xfrm>
            <a:off x="510487" y="731500"/>
            <a:ext cx="2711343" cy="587853"/>
          </a:xfrm>
          <a:prstGeom prst="rect">
            <a:avLst/>
          </a:prstGeom>
        </p:spPr>
        <p:txBody>
          <a:bodyPr wrap="square">
            <a:spAutoFit/>
          </a:bodyPr>
          <a:lstStyle/>
          <a:p>
            <a:pPr marL="342900" indent="-342900">
              <a:buFont typeface="Wingdings" panose="05000000000000000000" pitchFamily="2" charset="2"/>
              <a:buChar char="n"/>
            </a:pPr>
            <a:r>
              <a:rPr lang="zh-CN" altLang="en-US" sz="2800" b="1" dirty="0">
                <a:solidFill>
                  <a:srgbClr val="990033"/>
                </a:solidFill>
                <a:latin typeface="微软雅黑" panose="020B0503020204020204" pitchFamily="34" charset="-122"/>
                <a:ea typeface="微软雅黑" panose="020B0503020204020204" pitchFamily="34" charset="-122"/>
              </a:rPr>
              <a:t>承载力公式法</a:t>
            </a:r>
            <a:endParaRPr lang="zh-CN" altLang="en-US" sz="2800" b="1" dirty="0">
              <a:solidFill>
                <a:srgbClr val="990033"/>
              </a:solidFill>
              <a:latin typeface="幼圆" panose="02010509060101010101" pitchFamily="49" charset="-122"/>
              <a:ea typeface="幼圆" panose="02010509060101010101" pitchFamily="49" charset="-122"/>
            </a:endParaRPr>
          </a:p>
        </p:txBody>
      </p:sp>
      <p:sp>
        <p:nvSpPr>
          <p:cNvPr id="9" name="Rectangle 4"/>
          <p:cNvSpPr txBox="1">
            <a:spLocks noChangeArrowheads="1"/>
          </p:cNvSpPr>
          <p:nvPr/>
        </p:nvSpPr>
        <p:spPr bwMode="auto">
          <a:xfrm>
            <a:off x="1262063" y="1478752"/>
            <a:ext cx="3774281" cy="598487"/>
          </a:xfrm>
          <a:prstGeom prst="rect">
            <a:avLst/>
          </a:prstGeom>
          <a:noFill/>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00000"/>
              </a:lnSpc>
              <a:buFontTx/>
              <a:buNone/>
            </a:pPr>
            <a:r>
              <a:rPr lang="en-US" altLang="en-US" sz="2800" b="1" i="1" kern="0" dirty="0">
                <a:solidFill>
                  <a:srgbClr val="000066"/>
                </a:solidFill>
                <a:latin typeface="Times New Roman" panose="02020603050405020304" pitchFamily="18" charset="0"/>
                <a:cs typeface="Times New Roman" panose="02020603050405020304" pitchFamily="18" charset="0"/>
              </a:rPr>
              <a:t>f</a:t>
            </a:r>
            <a:r>
              <a:rPr lang="en-US" altLang="en-US" sz="2800" b="1" kern="0" baseline="-25000" dirty="0">
                <a:solidFill>
                  <a:srgbClr val="000066"/>
                </a:solidFill>
                <a:latin typeface="Times New Roman" panose="02020603050405020304" pitchFamily="18" charset="0"/>
                <a:cs typeface="Times New Roman" panose="02020603050405020304" pitchFamily="18" charset="0"/>
              </a:rPr>
              <a:t>a</a:t>
            </a:r>
            <a:r>
              <a:rPr lang="en-US" altLang="en-US" sz="2800" b="1" i="1" kern="0" dirty="0">
                <a:solidFill>
                  <a:srgbClr val="000066"/>
                </a:solidFill>
                <a:latin typeface="Times New Roman" panose="02020603050405020304" pitchFamily="18" charset="0"/>
                <a:cs typeface="Times New Roman" panose="02020603050405020304" pitchFamily="18" charset="0"/>
              </a:rPr>
              <a:t>=M</a:t>
            </a:r>
            <a:r>
              <a:rPr lang="en-US" altLang="en-US" sz="2800" b="1" kern="0" baseline="-25000" dirty="0">
                <a:solidFill>
                  <a:srgbClr val="000066"/>
                </a:solidFill>
                <a:latin typeface="Times New Roman" panose="02020603050405020304" pitchFamily="18" charset="0"/>
                <a:cs typeface="Times New Roman" panose="02020603050405020304" pitchFamily="18" charset="0"/>
              </a:rPr>
              <a:t>b</a:t>
            </a:r>
            <a:r>
              <a:rPr lang="en-US" altLang="en-US" sz="2800" b="1" i="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i="1" kern="0" dirty="0" err="1">
                <a:solidFill>
                  <a:srgbClr val="000066"/>
                </a:solidFill>
                <a:latin typeface="Times New Roman" panose="02020603050405020304" pitchFamily="18" charset="0"/>
                <a:cs typeface="Times New Roman" panose="02020603050405020304" pitchFamily="18" charset="0"/>
              </a:rPr>
              <a:t>b+M</a:t>
            </a:r>
            <a:r>
              <a:rPr lang="en-US" altLang="en-US" sz="2800" b="1" kern="0" baseline="-25000" dirty="0" err="1">
                <a:solidFill>
                  <a:srgbClr val="000066"/>
                </a:solidFill>
                <a:latin typeface="Times New Roman" panose="02020603050405020304" pitchFamily="18" charset="0"/>
                <a:cs typeface="Times New Roman" panose="02020603050405020304" pitchFamily="18" charset="0"/>
              </a:rPr>
              <a:t>d</a:t>
            </a:r>
            <a:r>
              <a:rPr lang="en-US" altLang="en-US" sz="2800" b="1" i="1" kern="0" baseline="-25000" dirty="0">
                <a:solidFill>
                  <a:srgbClr val="000066"/>
                </a:solidFill>
                <a:latin typeface="Times New Roman" panose="02020603050405020304" pitchFamily="18" charset="0"/>
                <a:cs typeface="Times New Roman" panose="02020603050405020304" pitchFamily="18" charset="0"/>
              </a:rPr>
              <a:t> </a:t>
            </a:r>
            <a:r>
              <a:rPr lang="en-US" altLang="en-US" sz="2800" b="1" i="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800" b="1" kern="0" baseline="-25000" dirty="0" err="1">
                <a:solidFill>
                  <a:srgbClr val="000066"/>
                </a:solidFill>
                <a:latin typeface="Times New Roman" panose="02020603050405020304" pitchFamily="18" charset="0"/>
                <a:cs typeface="Times New Roman" panose="02020603050405020304" pitchFamily="18" charset="0"/>
              </a:rPr>
              <a:t>m</a:t>
            </a:r>
            <a:r>
              <a:rPr lang="en-US" altLang="en-US" sz="2800" b="1" i="1" kern="0" dirty="0" err="1">
                <a:solidFill>
                  <a:srgbClr val="000066"/>
                </a:solidFill>
                <a:latin typeface="Times New Roman" panose="02020603050405020304" pitchFamily="18" charset="0"/>
                <a:cs typeface="Times New Roman" panose="02020603050405020304" pitchFamily="18" charset="0"/>
              </a:rPr>
              <a:t>d+M</a:t>
            </a:r>
            <a:r>
              <a:rPr lang="en-US" altLang="en-US" sz="2800" b="1" kern="0" baseline="-25000" dirty="0" err="1">
                <a:solidFill>
                  <a:srgbClr val="000066"/>
                </a:solidFill>
                <a:latin typeface="Times New Roman" panose="02020603050405020304" pitchFamily="18" charset="0"/>
                <a:cs typeface="Times New Roman" panose="02020603050405020304" pitchFamily="18" charset="0"/>
              </a:rPr>
              <a:t>c</a:t>
            </a:r>
            <a:r>
              <a:rPr lang="en-US" altLang="en-US" sz="2800" b="1" i="1" kern="0" dirty="0" err="1">
                <a:solidFill>
                  <a:srgbClr val="000066"/>
                </a:solidFill>
                <a:latin typeface="Times New Roman" panose="02020603050405020304" pitchFamily="18" charset="0"/>
                <a:cs typeface="Times New Roman" panose="02020603050405020304" pitchFamily="18" charset="0"/>
              </a:rPr>
              <a:t>c</a:t>
            </a:r>
            <a:r>
              <a:rPr lang="en-US" altLang="en-US" sz="2800" b="1" kern="0" baseline="-25000" dirty="0" err="1">
                <a:solidFill>
                  <a:srgbClr val="000066"/>
                </a:solidFill>
                <a:latin typeface="Times New Roman" panose="02020603050405020304" pitchFamily="18" charset="0"/>
                <a:cs typeface="Times New Roman" panose="02020603050405020304" pitchFamily="18" charset="0"/>
              </a:rPr>
              <a:t>k</a:t>
            </a:r>
            <a:endParaRPr lang="en-US" altLang="en-US" sz="2800" b="1" kern="0" baseline="-25000" dirty="0">
              <a:solidFill>
                <a:srgbClr val="000066"/>
              </a:solidFill>
              <a:latin typeface="Times New Roman" panose="02020603050405020304" pitchFamily="18" charset="0"/>
              <a:cs typeface="Times New Roman" panose="02020603050405020304" pitchFamily="18" charset="0"/>
            </a:endParaRPr>
          </a:p>
        </p:txBody>
      </p:sp>
      <p:grpSp>
        <p:nvGrpSpPr>
          <p:cNvPr id="3" name="组合 2"/>
          <p:cNvGrpSpPr/>
          <p:nvPr/>
        </p:nvGrpSpPr>
        <p:grpSpPr>
          <a:xfrm>
            <a:off x="1280160" y="2122998"/>
            <a:ext cx="7710392" cy="1717482"/>
            <a:chOff x="1280160" y="2122998"/>
            <a:chExt cx="7710392" cy="1717482"/>
          </a:xfrm>
        </p:grpSpPr>
        <p:sp>
          <p:nvSpPr>
            <p:cNvPr id="11" name="矩形 10"/>
            <p:cNvSpPr/>
            <p:nvPr/>
          </p:nvSpPr>
          <p:spPr bwMode="auto">
            <a:xfrm>
              <a:off x="1280160" y="2122998"/>
              <a:ext cx="7625301" cy="1717482"/>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0" name="Rectangle 7"/>
            <p:cNvSpPr>
              <a:spLocks noChangeArrowheads="1"/>
            </p:cNvSpPr>
            <p:nvPr/>
          </p:nvSpPr>
          <p:spPr bwMode="auto">
            <a:xfrm>
              <a:off x="1378040" y="2134390"/>
              <a:ext cx="7612512" cy="1637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eaLnBrk="1" hangingPunct="1">
                <a:spcBef>
                  <a:spcPts val="200"/>
                </a:spcBef>
                <a:spcAft>
                  <a:spcPts val="200"/>
                </a:spcAft>
                <a:buClr>
                  <a:srgbClr val="C00000"/>
                </a:buClr>
                <a:buFont typeface="Arial" panose="020B0604020202020204" pitchFamily="34" charset="0"/>
                <a:buChar char="•"/>
              </a:pPr>
              <a:r>
                <a:rPr lang="en-US" altLang="en-US"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en-US" sz="2000" b="1" baseline="-25000"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a</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：承载力特征值（设计值）</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82563" indent="-182563">
                <a:spcBef>
                  <a:spcPts val="200"/>
                </a:spcBef>
                <a:spcAft>
                  <a:spcPts val="200"/>
                </a:spcAft>
                <a:buClr>
                  <a:srgbClr val="C00000"/>
                </a:buClr>
                <a:buFont typeface="Arial" panose="020B0604020202020204" pitchFamily="34" charset="0"/>
                <a:buChar char="•"/>
              </a:pP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M</a:t>
              </a:r>
              <a:r>
                <a:rPr lang="en-US" altLang="zh-CN" sz="2000" b="1" baseline="-25000"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000" b="1" i="1" dirty="0" err="1">
                  <a:solidFill>
                    <a:srgbClr val="A50021"/>
                  </a:solidFill>
                  <a:latin typeface="Times New Roman" panose="02020603050405020304" pitchFamily="18" charset="0"/>
                  <a:ea typeface="幼圆" panose="02010509060101010101" pitchFamily="49" charset="-122"/>
                  <a:cs typeface="Times New Roman" panose="02020603050405020304" pitchFamily="18" charset="0"/>
                </a:rPr>
                <a:t>M</a:t>
              </a:r>
              <a:r>
                <a:rPr lang="en-US" altLang="zh-CN" sz="2000" b="1" baseline="-25000" dirty="0" err="1">
                  <a:solidFill>
                    <a:srgbClr val="A50021"/>
                  </a:solidFill>
                  <a:latin typeface="Times New Roman" panose="02020603050405020304" pitchFamily="18" charset="0"/>
                  <a:ea typeface="幼圆" panose="02010509060101010101" pitchFamily="49" charset="-122"/>
                  <a:cs typeface="Times New Roman" panose="02020603050405020304" pitchFamily="18" charset="0"/>
                </a:rPr>
                <a:t>d</a:t>
              </a:r>
              <a:r>
                <a:rPr lang="zh-CN" altLang="en-US"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M</a:t>
              </a:r>
              <a:r>
                <a:rPr lang="en-US" altLang="zh-CN" sz="2000" b="1" baseline="-25000"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c</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：承载力系数，与内摩擦角</a:t>
              </a:r>
              <a:r>
                <a:rPr lang="zh-CN" altLang="en-US"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lang="en-US" altLang="zh-CN" sz="2000" b="1" i="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有关</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82563" indent="-182563">
                <a:spcBef>
                  <a:spcPts val="200"/>
                </a:spcBef>
                <a:spcAft>
                  <a:spcPts val="200"/>
                </a:spcAft>
                <a:buClr>
                  <a:srgbClr val="C00000"/>
                </a:buClr>
                <a:buFont typeface="Arial" panose="020B0604020202020204" pitchFamily="34" charset="0"/>
                <a:buChar char="•"/>
              </a:pP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baseline="-25000"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lang="en-US" altLang="zh-CN" sz="2000" b="1" i="1" baseline="-25000"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zh-CN" altLang="en-US"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dirty="0" err="1">
                  <a:solidFill>
                    <a:srgbClr val="A50021"/>
                  </a:solidFill>
                  <a:latin typeface="Times New Roman" panose="02020603050405020304" pitchFamily="18" charset="0"/>
                  <a:ea typeface="幼圆" panose="02010509060101010101" pitchFamily="49" charset="-122"/>
                  <a:cs typeface="Times New Roman" panose="02020603050405020304" pitchFamily="18" charset="0"/>
                </a:rPr>
                <a:t>c</a:t>
              </a:r>
              <a:r>
                <a:rPr lang="en-US" altLang="zh-CN" sz="2000" b="1" baseline="-25000" dirty="0" err="1">
                  <a:solidFill>
                    <a:srgbClr val="A50021"/>
                  </a:solidFill>
                  <a:latin typeface="Times New Roman" panose="02020603050405020304" pitchFamily="18" charset="0"/>
                  <a:ea typeface="幼圆" panose="02010509060101010101" pitchFamily="49" charset="-122"/>
                  <a:cs typeface="Times New Roman" panose="02020603050405020304" pitchFamily="18" charset="0"/>
                </a:rPr>
                <a:t>k</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：基底下一倍短边宽深度内土内摩擦角和黏聚力的标准值</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82563" indent="-182563">
                <a:spcBef>
                  <a:spcPts val="200"/>
                </a:spcBef>
                <a:spcAft>
                  <a:spcPts val="200"/>
                </a:spcAft>
                <a:buClr>
                  <a:srgbClr val="C00000"/>
                </a:buClr>
                <a:buFont typeface="Arial" panose="020B0604020202020204" pitchFamily="34" charset="0"/>
                <a:buChar char="•"/>
              </a:pP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：基底宽度，大于</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6m</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按</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6m</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取值，对于砂土小于</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3m</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按</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3m</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取值</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15" name="Text Box 4"/>
          <p:cNvSpPr txBox="1">
            <a:spLocks noChangeArrowheads="1"/>
          </p:cNvSpPr>
          <p:nvPr/>
        </p:nvSpPr>
        <p:spPr bwMode="auto">
          <a:xfrm>
            <a:off x="1187076" y="3966001"/>
            <a:ext cx="755688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000" b="1" dirty="0">
                <a:solidFill>
                  <a:srgbClr val="000066"/>
                </a:solidFill>
                <a:ea typeface="幼圆" pitchFamily="49" charset="-122"/>
              </a:rPr>
              <a:t>以临界荷载</a:t>
            </a:r>
            <a:r>
              <a:rPr lang="en-US" altLang="zh-CN" sz="2000" b="1" i="1" dirty="0">
                <a:solidFill>
                  <a:srgbClr val="000066"/>
                </a:solidFill>
                <a:ea typeface="幼圆" pitchFamily="49" charset="-122"/>
              </a:rPr>
              <a:t>P</a:t>
            </a:r>
            <a:r>
              <a:rPr lang="en-US" altLang="zh-CN" sz="2000" b="1" baseline="-25000" dirty="0">
                <a:solidFill>
                  <a:srgbClr val="000066"/>
                </a:solidFill>
                <a:ea typeface="幼圆" pitchFamily="49" charset="-122"/>
              </a:rPr>
              <a:t>1/4</a:t>
            </a:r>
            <a:r>
              <a:rPr lang="zh-CN" altLang="en-US" sz="2000" b="1" dirty="0">
                <a:solidFill>
                  <a:srgbClr val="000066"/>
                </a:solidFill>
                <a:ea typeface="幼圆" pitchFamily="49" charset="-122"/>
              </a:rPr>
              <a:t>为基础，当</a:t>
            </a:r>
            <a:r>
              <a:rPr lang="en-US" altLang="zh-CN" sz="2000" b="1" dirty="0">
                <a:solidFill>
                  <a:srgbClr val="000066"/>
                </a:solidFill>
                <a:ea typeface="幼圆" pitchFamily="49" charset="-122"/>
              </a:rPr>
              <a:t>φ&gt;20</a:t>
            </a:r>
            <a:r>
              <a:rPr lang="en-US" altLang="zh-CN" sz="2000" b="1" dirty="0">
                <a:solidFill>
                  <a:srgbClr val="000066"/>
                </a:solidFill>
                <a:ea typeface="幼圆" pitchFamily="49" charset="-122"/>
                <a:sym typeface="Symbol" panose="05050102010706020507" pitchFamily="18" charset="2"/>
              </a:rPr>
              <a:t> </a:t>
            </a:r>
            <a:r>
              <a:rPr lang="zh-CN" altLang="en-US" sz="2000" b="1" dirty="0">
                <a:solidFill>
                  <a:srgbClr val="000066"/>
                </a:solidFill>
                <a:ea typeface="幼圆" pitchFamily="49" charset="-122"/>
              </a:rPr>
              <a:t>时提高了宽度系数</a:t>
            </a:r>
            <a:r>
              <a:rPr lang="en-US" altLang="en-US" sz="2000" b="1" i="1" kern="0" dirty="0">
                <a:solidFill>
                  <a:srgbClr val="000066"/>
                </a:solidFill>
                <a:cs typeface="Times New Roman" panose="02020603050405020304" pitchFamily="18" charset="0"/>
              </a:rPr>
              <a:t>M</a:t>
            </a:r>
            <a:r>
              <a:rPr lang="en-US" altLang="en-US" sz="2000" b="1" kern="0" baseline="-25000" dirty="0">
                <a:solidFill>
                  <a:srgbClr val="000066"/>
                </a:solidFill>
                <a:cs typeface="Times New Roman" panose="02020603050405020304" pitchFamily="18" charset="0"/>
              </a:rPr>
              <a:t>b</a:t>
            </a:r>
            <a:r>
              <a:rPr lang="zh-CN" altLang="en-US" sz="2000" b="1" dirty="0">
                <a:solidFill>
                  <a:srgbClr val="000066"/>
                </a:solidFill>
                <a:ea typeface="幼圆" pitchFamily="49" charset="-122"/>
              </a:rPr>
              <a:t>的值</a:t>
            </a:r>
            <a:endParaRPr lang="en-US" altLang="zh-CN" sz="2000" b="1" dirty="0">
              <a:solidFill>
                <a:srgbClr val="000066"/>
              </a:solidFill>
              <a:ea typeface="幼圆" pitchFamily="49" charset="-122"/>
            </a:endParaRPr>
          </a:p>
          <a:p>
            <a:pPr marL="357188" indent="-357188"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000" b="1" dirty="0">
                <a:solidFill>
                  <a:srgbClr val="000066"/>
                </a:solidFill>
                <a:ea typeface="幼圆" pitchFamily="49" charset="-122"/>
              </a:rPr>
              <a:t>公式在竖向中心荷载条件下得到，适用于偏心距</a:t>
            </a:r>
            <a:r>
              <a:rPr lang="en-US" altLang="zh-CN" sz="2000" b="1" i="1" dirty="0">
                <a:solidFill>
                  <a:srgbClr val="000066"/>
                </a:solidFill>
                <a:ea typeface="幼圆" pitchFamily="49" charset="-122"/>
              </a:rPr>
              <a:t>e</a:t>
            </a:r>
            <a:r>
              <a:rPr lang="zh-CN" altLang="en-US" sz="2000" b="1" dirty="0">
                <a:solidFill>
                  <a:srgbClr val="000066"/>
                </a:solidFill>
                <a:ea typeface="幼圆" pitchFamily="49" charset="-122"/>
              </a:rPr>
              <a:t>不大的情况</a:t>
            </a:r>
            <a:endParaRPr lang="en-US" altLang="zh-CN" sz="2000" b="1" dirty="0">
              <a:solidFill>
                <a:srgbClr val="000066"/>
              </a:solidFill>
              <a:ea typeface="幼圆" pitchFamily="49" charset="-122"/>
            </a:endParaRPr>
          </a:p>
          <a:p>
            <a:pPr marL="357188" indent="-357188"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000" b="1" dirty="0">
                <a:solidFill>
                  <a:srgbClr val="000066"/>
                </a:solidFill>
                <a:ea typeface="幼圆" pitchFamily="49" charset="-122"/>
              </a:rPr>
              <a:t>强度指标采用是室内三轴试验的标准值，考虑了结果的离散性</a:t>
            </a:r>
          </a:p>
        </p:txBody>
      </p:sp>
      <p:sp>
        <p:nvSpPr>
          <p:cNvPr id="12" name="Text Box 7"/>
          <p:cNvSpPr txBox="1">
            <a:spLocks noChangeArrowheads="1"/>
          </p:cNvSpPr>
          <p:nvPr/>
        </p:nvSpPr>
        <p:spPr bwMode="auto">
          <a:xfrm>
            <a:off x="1627633" y="5730875"/>
            <a:ext cx="6400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lang="zh-CN" altLang="en-US" sz="4000" b="1" dirty="0">
                <a:solidFill>
                  <a:srgbClr val="000066"/>
                </a:solidFill>
                <a:ea typeface="黑体" pitchFamily="2" charset="-122"/>
              </a:rPr>
              <a:t>地基承载力确定方法</a:t>
            </a:r>
          </a:p>
        </p:txBody>
      </p:sp>
      <p:sp>
        <p:nvSpPr>
          <p:cNvPr id="13"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lvl="0" eaLnBrk="1" fontAlgn="ctr" hangingPunct="1">
              <a:lnSpc>
                <a:spcPct val="100000"/>
              </a:lnSpc>
              <a:spcBef>
                <a:spcPct val="0"/>
              </a:spcBef>
              <a:spcAft>
                <a:spcPct val="0"/>
              </a:spcAft>
            </a:pPr>
            <a:r>
              <a:rPr kumimoji="0" lang="en-US" altLang="zh-CN"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rPr>
              <a:t>§8.4  </a:t>
            </a:r>
            <a:r>
              <a:rPr lang="zh-CN" altLang="en-US" sz="1800" b="1" kern="900" spc="130" dirty="0">
                <a:solidFill>
                  <a:srgbClr val="000066"/>
                </a:solidFill>
                <a:ea typeface="黑体" panose="02010609060101010101" pitchFamily="49" charset="-122"/>
                <a:cs typeface="Times New Roman" panose="02020603050405020304" pitchFamily="18" charset="0"/>
              </a:rPr>
              <a:t>地基承载力的确定方法</a:t>
            </a:r>
            <a:endParaRPr kumimoji="0" lang="zh-CN" altLang="en-US"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endParaRPr>
          </a:p>
        </p:txBody>
      </p:sp>
      <p:sp>
        <p:nvSpPr>
          <p:cNvPr id="14" name="矩形 13"/>
          <p:cNvSpPr/>
          <p:nvPr/>
        </p:nvSpPr>
        <p:spPr>
          <a:xfrm>
            <a:off x="3276741" y="807272"/>
            <a:ext cx="5628720" cy="446276"/>
          </a:xfrm>
          <a:prstGeom prst="rect">
            <a:avLst/>
          </a:prstGeom>
          <a:solidFill>
            <a:srgbClr val="FFFF00"/>
          </a:solidFill>
        </p:spPr>
        <p:txBody>
          <a:bodyPr wrap="none">
            <a:spAutoFit/>
          </a:bodyPr>
          <a:lstStyle/>
          <a:p>
            <a:r>
              <a:rPr lang="en-US" altLang="zh-CN" sz="2000" b="1" dirty="0">
                <a:solidFill>
                  <a:srgbClr val="C00000"/>
                </a:solidFill>
                <a:ea typeface="幼圆" panose="02010509060101010101" pitchFamily="49" charset="-122"/>
                <a:cs typeface="Times New Roman" panose="02020603050405020304" pitchFamily="18" charset="0"/>
              </a:rPr>
              <a:t>《</a:t>
            </a:r>
            <a:r>
              <a:rPr lang="zh-CN" altLang="en-US" sz="2000" b="1" dirty="0">
                <a:solidFill>
                  <a:srgbClr val="C00000"/>
                </a:solidFill>
                <a:ea typeface="幼圆" panose="02010509060101010101" pitchFamily="49" charset="-122"/>
                <a:cs typeface="Times New Roman" panose="02020603050405020304" pitchFamily="18" charset="0"/>
              </a:rPr>
              <a:t>建筑地基基础设计规范</a:t>
            </a:r>
            <a:r>
              <a:rPr lang="en-US" altLang="zh-CN" sz="2000" b="1" dirty="0">
                <a:solidFill>
                  <a:srgbClr val="C00000"/>
                </a:solidFill>
                <a:ea typeface="幼圆" panose="02010509060101010101" pitchFamily="49" charset="-122"/>
                <a:cs typeface="Times New Roman" panose="02020603050405020304" pitchFamily="18" charset="0"/>
              </a:rPr>
              <a:t>》</a:t>
            </a:r>
            <a:r>
              <a:rPr lang="zh-CN" altLang="en-US" sz="2000" b="1" dirty="0">
                <a:solidFill>
                  <a:srgbClr val="C00000"/>
                </a:solidFill>
                <a:ea typeface="幼圆" panose="02010509060101010101" pitchFamily="49" charset="-122"/>
                <a:cs typeface="Times New Roman" panose="02020603050405020304" pitchFamily="18" charset="0"/>
              </a:rPr>
              <a:t>（</a:t>
            </a:r>
            <a:r>
              <a:rPr lang="en-US" altLang="zh-CN" sz="2000" b="1" dirty="0">
                <a:solidFill>
                  <a:srgbClr val="C00000"/>
                </a:solidFill>
                <a:ea typeface="幼圆" panose="02010509060101010101" pitchFamily="49" charset="-122"/>
                <a:cs typeface="Times New Roman" panose="02020603050405020304" pitchFamily="18" charset="0"/>
              </a:rPr>
              <a:t>GB 50007—2011</a:t>
            </a:r>
            <a:r>
              <a:rPr lang="zh-CN" altLang="en-US" sz="2000" b="1" dirty="0">
                <a:solidFill>
                  <a:srgbClr val="C00000"/>
                </a:solidFill>
                <a:ea typeface="幼圆" panose="02010509060101010101" pitchFamily="49" charset="-122"/>
                <a:cs typeface="Times New Roman" panose="02020603050405020304" pitchFamily="18" charset="0"/>
              </a:rPr>
              <a:t>）</a:t>
            </a:r>
          </a:p>
        </p:txBody>
      </p:sp>
    </p:spTree>
    <p:extLst>
      <p:ext uri="{BB962C8B-B14F-4D97-AF65-F5344CB8AC3E}">
        <p14:creationId xmlns:p14="http://schemas.microsoft.com/office/powerpoint/2010/main" val="226441363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500"/>
                                        <p:tgtEl>
                                          <p:spTgt spid="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barn(inVertical)">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bwMode="auto">
          <a:xfrm>
            <a:off x="1137037" y="3124863"/>
            <a:ext cx="4993420" cy="1932167"/>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63</a:t>
            </a:fld>
            <a:endParaRPr lang="zh-CN" altLang="en-US" dirty="0">
              <a:solidFill>
                <a:srgbClr val="C00000"/>
              </a:solidFill>
            </a:endParaRPr>
          </a:p>
        </p:txBody>
      </p:sp>
      <p:sp>
        <p:nvSpPr>
          <p:cNvPr id="2" name="矩形 1"/>
          <p:cNvSpPr/>
          <p:nvPr/>
        </p:nvSpPr>
        <p:spPr>
          <a:xfrm>
            <a:off x="426710" y="724356"/>
            <a:ext cx="3016938" cy="587853"/>
          </a:xfrm>
          <a:prstGeom prst="rect">
            <a:avLst/>
          </a:prstGeom>
        </p:spPr>
        <p:txBody>
          <a:bodyPr wrap="square">
            <a:spAutoFit/>
          </a:bodyPr>
          <a:lstStyle/>
          <a:p>
            <a:pPr marL="342900" indent="-342900">
              <a:buFont typeface="Wingdings" panose="05000000000000000000" pitchFamily="2" charset="2"/>
              <a:buChar char="n"/>
            </a:pPr>
            <a:r>
              <a:rPr lang="zh-CN" altLang="en-US" sz="2800" b="1" dirty="0">
                <a:solidFill>
                  <a:srgbClr val="990033"/>
                </a:solidFill>
                <a:latin typeface="微软雅黑" panose="020B0503020204020204" pitchFamily="34" charset="-122"/>
                <a:ea typeface="微软雅黑" panose="020B0503020204020204" pitchFamily="34" charset="-122"/>
              </a:rPr>
              <a:t>现场原位试验法</a:t>
            </a:r>
            <a:endParaRPr lang="zh-CN" altLang="en-US" sz="2800" b="1" dirty="0">
              <a:solidFill>
                <a:srgbClr val="990033"/>
              </a:solidFill>
              <a:latin typeface="幼圆" panose="02010509060101010101" pitchFamily="49" charset="-122"/>
              <a:ea typeface="幼圆" panose="02010509060101010101" pitchFamily="49" charset="-122"/>
            </a:endParaRPr>
          </a:p>
        </p:txBody>
      </p:sp>
      <p:sp>
        <p:nvSpPr>
          <p:cNvPr id="18" name="Line 9"/>
          <p:cNvSpPr>
            <a:spLocks noChangeShapeType="1"/>
          </p:cNvSpPr>
          <p:nvPr/>
        </p:nvSpPr>
        <p:spPr bwMode="auto">
          <a:xfrm>
            <a:off x="7227119" y="2082597"/>
            <a:ext cx="0" cy="216403"/>
          </a:xfrm>
          <a:prstGeom prst="line">
            <a:avLst/>
          </a:prstGeom>
          <a:noFill/>
          <a:ln w="1905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0"/>
          <p:cNvSpPr>
            <a:spLocks noChangeShapeType="1"/>
          </p:cNvSpPr>
          <p:nvPr/>
        </p:nvSpPr>
        <p:spPr bwMode="auto">
          <a:xfrm>
            <a:off x="8145065" y="2102333"/>
            <a:ext cx="0" cy="739359"/>
          </a:xfrm>
          <a:prstGeom prst="line">
            <a:avLst/>
          </a:prstGeom>
          <a:noFill/>
          <a:ln w="19050">
            <a:solidFill>
              <a:srgbClr val="00006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 Box 15"/>
          <p:cNvSpPr txBox="1">
            <a:spLocks noChangeArrowheads="1"/>
          </p:cNvSpPr>
          <p:nvPr/>
        </p:nvSpPr>
        <p:spPr bwMode="auto">
          <a:xfrm>
            <a:off x="6208085" y="4610566"/>
            <a:ext cx="261609" cy="52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i="1" dirty="0">
                <a:solidFill>
                  <a:srgbClr val="000066"/>
                </a:solidFill>
                <a:latin typeface="Times New Roman" panose="02020603050405020304" pitchFamily="18" charset="0"/>
              </a:rPr>
              <a:t>s</a:t>
            </a:r>
            <a:endParaRPr kumimoji="1" lang="en-US" altLang="zh-CN" sz="2800" b="1" dirty="0">
              <a:solidFill>
                <a:srgbClr val="000066"/>
              </a:solidFill>
              <a:latin typeface="Times New Roman" panose="02020603050405020304" pitchFamily="18" charset="0"/>
            </a:endParaRPr>
          </a:p>
        </p:txBody>
      </p:sp>
      <p:sp>
        <p:nvSpPr>
          <p:cNvPr id="21" name="Text Box 16"/>
          <p:cNvSpPr txBox="1">
            <a:spLocks noChangeArrowheads="1"/>
          </p:cNvSpPr>
          <p:nvPr/>
        </p:nvSpPr>
        <p:spPr bwMode="auto">
          <a:xfrm>
            <a:off x="8523233" y="1556788"/>
            <a:ext cx="338555"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a:solidFill>
                  <a:srgbClr val="000066"/>
                </a:solidFill>
                <a:latin typeface="Times New Roman" panose="02020603050405020304" pitchFamily="18" charset="0"/>
              </a:rPr>
              <a:t>p</a:t>
            </a:r>
            <a:endParaRPr kumimoji="1" lang="en-US" altLang="zh-CN" sz="2400" b="1" dirty="0">
              <a:solidFill>
                <a:srgbClr val="000066"/>
              </a:solidFill>
              <a:latin typeface="Times New Roman" panose="02020603050405020304" pitchFamily="18" charset="0"/>
            </a:endParaRPr>
          </a:p>
        </p:txBody>
      </p:sp>
      <p:sp>
        <p:nvSpPr>
          <p:cNvPr id="22" name="Text Box 17"/>
          <p:cNvSpPr txBox="1">
            <a:spLocks noChangeArrowheads="1"/>
          </p:cNvSpPr>
          <p:nvPr/>
        </p:nvSpPr>
        <p:spPr bwMode="auto">
          <a:xfrm>
            <a:off x="6324316" y="1619223"/>
            <a:ext cx="42351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a:solidFill>
                  <a:srgbClr val="000066"/>
                </a:solidFill>
                <a:latin typeface="Times New Roman" panose="02020603050405020304" pitchFamily="18" charset="0"/>
              </a:rPr>
              <a:t>O</a:t>
            </a:r>
          </a:p>
        </p:txBody>
      </p:sp>
      <p:sp>
        <p:nvSpPr>
          <p:cNvPr id="23" name="Text Box 20"/>
          <p:cNvSpPr txBox="1">
            <a:spLocks noChangeArrowheads="1"/>
          </p:cNvSpPr>
          <p:nvPr/>
        </p:nvSpPr>
        <p:spPr bwMode="auto">
          <a:xfrm>
            <a:off x="7074307" y="1593758"/>
            <a:ext cx="420748" cy="433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cr</a:t>
            </a:r>
            <a:endParaRPr kumimoji="1" lang="en-US" altLang="zh-CN" sz="2400" b="1" baseline="-25000" dirty="0">
              <a:solidFill>
                <a:srgbClr val="000066"/>
              </a:solidFill>
              <a:latin typeface="Times New Roman" panose="02020603050405020304" pitchFamily="18" charset="0"/>
            </a:endParaRPr>
          </a:p>
        </p:txBody>
      </p:sp>
      <p:sp>
        <p:nvSpPr>
          <p:cNvPr id="24" name="Text Box 21"/>
          <p:cNvSpPr txBox="1">
            <a:spLocks noChangeArrowheads="1"/>
          </p:cNvSpPr>
          <p:nvPr/>
        </p:nvSpPr>
        <p:spPr bwMode="auto">
          <a:xfrm>
            <a:off x="7937445" y="1599836"/>
            <a:ext cx="365113" cy="433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dirty="0" err="1">
                <a:solidFill>
                  <a:srgbClr val="000066"/>
                </a:solidFill>
                <a:latin typeface="Times New Roman" panose="02020603050405020304" pitchFamily="18" charset="0"/>
              </a:rPr>
              <a:t>p</a:t>
            </a:r>
            <a:r>
              <a:rPr kumimoji="1" lang="en-US" altLang="zh-CN" sz="2400" b="1" baseline="-25000" dirty="0" err="1">
                <a:solidFill>
                  <a:srgbClr val="000066"/>
                </a:solidFill>
                <a:latin typeface="Times New Roman" panose="02020603050405020304" pitchFamily="18" charset="0"/>
              </a:rPr>
              <a:t>u</a:t>
            </a:r>
            <a:endParaRPr kumimoji="1" lang="en-US" altLang="zh-CN" sz="2400" b="1" baseline="-25000" dirty="0">
              <a:solidFill>
                <a:srgbClr val="000066"/>
              </a:solidFill>
              <a:latin typeface="Times New Roman" panose="02020603050405020304" pitchFamily="18" charset="0"/>
            </a:endParaRPr>
          </a:p>
        </p:txBody>
      </p:sp>
      <p:sp>
        <p:nvSpPr>
          <p:cNvPr id="25" name="任意多边形 24"/>
          <p:cNvSpPr/>
          <p:nvPr/>
        </p:nvSpPr>
        <p:spPr bwMode="auto">
          <a:xfrm>
            <a:off x="6490648" y="2096439"/>
            <a:ext cx="2175707" cy="2809207"/>
          </a:xfrm>
          <a:custGeom>
            <a:avLst/>
            <a:gdLst>
              <a:gd name="connsiteX0" fmla="*/ 2772137 w 2772137"/>
              <a:gd name="connsiteY0" fmla="*/ 0 h 3466618"/>
              <a:gd name="connsiteX1" fmla="*/ 0 w 2772137"/>
              <a:gd name="connsiteY1" fmla="*/ 0 h 3466618"/>
              <a:gd name="connsiteX2" fmla="*/ 0 w 2772137"/>
              <a:gd name="connsiteY2" fmla="*/ 3466618 h 3466618"/>
            </a:gdLst>
            <a:ahLst/>
            <a:cxnLst>
              <a:cxn ang="0">
                <a:pos x="connsiteX0" y="connsiteY0"/>
              </a:cxn>
              <a:cxn ang="0">
                <a:pos x="connsiteX1" y="connsiteY1"/>
              </a:cxn>
              <a:cxn ang="0">
                <a:pos x="connsiteX2" y="connsiteY2"/>
              </a:cxn>
            </a:cxnLst>
            <a:rect l="l" t="t" r="r" b="b"/>
            <a:pathLst>
              <a:path w="2772137" h="3466618">
                <a:moveTo>
                  <a:pt x="2772137" y="0"/>
                </a:moveTo>
                <a:lnTo>
                  <a:pt x="0" y="0"/>
                </a:lnTo>
                <a:lnTo>
                  <a:pt x="0" y="3466618"/>
                </a:lnTo>
              </a:path>
            </a:pathLst>
          </a:custGeom>
          <a:noFill/>
          <a:ln w="1905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6" name="任意多边形 25"/>
          <p:cNvSpPr/>
          <p:nvPr/>
        </p:nvSpPr>
        <p:spPr bwMode="auto">
          <a:xfrm>
            <a:off x="6499989" y="2106821"/>
            <a:ext cx="1862296" cy="2712796"/>
          </a:xfrm>
          <a:custGeom>
            <a:avLst/>
            <a:gdLst>
              <a:gd name="connsiteX0" fmla="*/ 0 w 2453833"/>
              <a:gd name="connsiteY0" fmla="*/ 0 h 3090440"/>
              <a:gd name="connsiteX1" fmla="*/ 1116957 w 2453833"/>
              <a:gd name="connsiteY1" fmla="*/ 653969 h 3090440"/>
              <a:gd name="connsiteX2" fmla="*/ 1475772 w 2453833"/>
              <a:gd name="connsiteY2" fmla="*/ 850739 h 3090440"/>
              <a:gd name="connsiteX3" fmla="*/ 1678329 w 2453833"/>
              <a:gd name="connsiteY3" fmla="*/ 983848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17225 w 2453833"/>
              <a:gd name="connsiteY4" fmla="*/ 1192192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01747 w 2453833"/>
              <a:gd name="connsiteY8" fmla="*/ 2916820 h 3090440"/>
              <a:gd name="connsiteX9" fmla="*/ 2453833 w 2453833"/>
              <a:gd name="connsiteY9"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74425 w 2453833"/>
              <a:gd name="connsiteY7" fmla="*/ 2430683 h 3090440"/>
              <a:gd name="connsiteX8" fmla="*/ 2453833 w 2453833"/>
              <a:gd name="connsiteY8" fmla="*/ 3090440 h 3090440"/>
              <a:gd name="connsiteX0" fmla="*/ 0 w 2453833"/>
              <a:gd name="connsiteY0" fmla="*/ 0 h 3090440"/>
              <a:gd name="connsiteX1" fmla="*/ 1116957 w 2453833"/>
              <a:gd name="connsiteY1" fmla="*/ 653969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475772 w 2453833"/>
              <a:gd name="connsiteY2" fmla="*/ 850739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09775 w 2453833"/>
              <a:gd name="connsiteY1" fmla="*/ 586980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661581 w 2453833"/>
              <a:gd name="connsiteY3" fmla="*/ 990547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786782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847370 w 2453833"/>
              <a:gd name="connsiteY4" fmla="*/ 1182143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02420 w 2453833"/>
              <a:gd name="connsiteY5" fmla="*/ 1446835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18167 w 2453833"/>
              <a:gd name="connsiteY6" fmla="*/ 1753564 h 3090440"/>
              <a:gd name="connsiteX7" fmla="*/ 2291172 w 2453833"/>
              <a:gd name="connsiteY7" fmla="*/ 2430683 h 3090440"/>
              <a:gd name="connsiteX8" fmla="*/ 2453833 w 2453833"/>
              <a:gd name="connsiteY8" fmla="*/ 3090440 h 3090440"/>
              <a:gd name="connsiteX0" fmla="*/ 0 w 2453833"/>
              <a:gd name="connsiteY0" fmla="*/ 0 h 3090440"/>
              <a:gd name="connsiteX1" fmla="*/ 1028187 w 2453833"/>
              <a:gd name="connsiteY1" fmla="*/ 353618 h 3090440"/>
              <a:gd name="connsiteX2" fmla="*/ 1508913 w 2453833"/>
              <a:gd name="connsiteY2" fmla="*/ 554870 h 3090440"/>
              <a:gd name="connsiteX3" fmla="*/ 1816240 w 2453833"/>
              <a:gd name="connsiteY3" fmla="*/ 882200 h 3090440"/>
              <a:gd name="connsiteX4" fmla="*/ 1979934 w 2453833"/>
              <a:gd name="connsiteY4" fmla="*/ 1140471 h 3090440"/>
              <a:gd name="connsiteX5" fmla="*/ 2094478 w 2453833"/>
              <a:gd name="connsiteY5" fmla="*/ 1451003 h 3090440"/>
              <a:gd name="connsiteX6" fmla="*/ 2188131 w 2453833"/>
              <a:gd name="connsiteY6" fmla="*/ 1841076 h 3090440"/>
              <a:gd name="connsiteX7" fmla="*/ 2291172 w 2453833"/>
              <a:gd name="connsiteY7" fmla="*/ 2430683 h 3090440"/>
              <a:gd name="connsiteX8" fmla="*/ 2453833 w 2453833"/>
              <a:gd name="connsiteY8" fmla="*/ 3090440 h 3090440"/>
              <a:gd name="connsiteX0" fmla="*/ 0 w 2394916"/>
              <a:gd name="connsiteY0" fmla="*/ 0 h 3661343"/>
              <a:gd name="connsiteX1" fmla="*/ 1028187 w 2394916"/>
              <a:gd name="connsiteY1" fmla="*/ 353618 h 3661343"/>
              <a:gd name="connsiteX2" fmla="*/ 1508913 w 2394916"/>
              <a:gd name="connsiteY2" fmla="*/ 554870 h 3661343"/>
              <a:gd name="connsiteX3" fmla="*/ 1816240 w 2394916"/>
              <a:gd name="connsiteY3" fmla="*/ 882200 h 3661343"/>
              <a:gd name="connsiteX4" fmla="*/ 1979934 w 2394916"/>
              <a:gd name="connsiteY4" fmla="*/ 1140471 h 3661343"/>
              <a:gd name="connsiteX5" fmla="*/ 2094478 w 2394916"/>
              <a:gd name="connsiteY5" fmla="*/ 1451003 h 3661343"/>
              <a:gd name="connsiteX6" fmla="*/ 2188131 w 2394916"/>
              <a:gd name="connsiteY6" fmla="*/ 1841076 h 3661343"/>
              <a:gd name="connsiteX7" fmla="*/ 2291172 w 2394916"/>
              <a:gd name="connsiteY7" fmla="*/ 2430683 h 3661343"/>
              <a:gd name="connsiteX8" fmla="*/ 2394916 w 2394916"/>
              <a:gd name="connsiteY8" fmla="*/ 3661343 h 3661343"/>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291172 w 2402281"/>
              <a:gd name="connsiteY7" fmla="*/ 2430683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13266 w 2402281"/>
              <a:gd name="connsiteY7" fmla="*/ 2814064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188131 w 2402281"/>
              <a:gd name="connsiteY6" fmla="*/ 1841076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508913 w 2402281"/>
              <a:gd name="connsiteY2" fmla="*/ 554870 h 4053058"/>
              <a:gd name="connsiteX3" fmla="*/ 1816240 w 2402281"/>
              <a:gd name="connsiteY3" fmla="*/ 882200 h 4053058"/>
              <a:gd name="connsiteX4" fmla="*/ 1979934 w 2402281"/>
              <a:gd name="connsiteY4" fmla="*/ 1140471 h 4053058"/>
              <a:gd name="connsiteX5" fmla="*/ 2094478 w 2402281"/>
              <a:gd name="connsiteY5" fmla="*/ 1451003 h 4053058"/>
              <a:gd name="connsiteX6" fmla="*/ 2206543 w 2402281"/>
              <a:gd name="connsiteY6" fmla="*/ 1907751 h 4053058"/>
              <a:gd name="connsiteX7" fmla="*/ 2324314 w 2402281"/>
              <a:gd name="connsiteY7" fmla="*/ 2793227 h 4053058"/>
              <a:gd name="connsiteX8" fmla="*/ 2402281 w 2402281"/>
              <a:gd name="connsiteY8" fmla="*/ 4053058 h 4053058"/>
              <a:gd name="connsiteX0" fmla="*/ 0 w 2402281"/>
              <a:gd name="connsiteY0" fmla="*/ 0 h 4053058"/>
              <a:gd name="connsiteX1" fmla="*/ 1028187 w 2402281"/>
              <a:gd name="connsiteY1" fmla="*/ 353618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324314 w 2402281"/>
              <a:gd name="connsiteY8" fmla="*/ 2793227 h 4053058"/>
              <a:gd name="connsiteX9" fmla="*/ 2402281 w 2402281"/>
              <a:gd name="connsiteY9" fmla="*/ 4053058 h 4053058"/>
              <a:gd name="connsiteX0" fmla="*/ 0 w 2402281"/>
              <a:gd name="connsiteY0" fmla="*/ 0 h 4053058"/>
              <a:gd name="connsiteX1" fmla="*/ 987681 w 2402281"/>
              <a:gd name="connsiteY1" fmla="*/ 286942 h 4053058"/>
              <a:gd name="connsiteX2" fmla="*/ 1286863 w 2402281"/>
              <a:gd name="connsiteY2" fmla="*/ 428955 h 4053058"/>
              <a:gd name="connsiteX3" fmla="*/ 1508913 w 2402281"/>
              <a:gd name="connsiteY3" fmla="*/ 554870 h 4053058"/>
              <a:gd name="connsiteX4" fmla="*/ 1816240 w 2402281"/>
              <a:gd name="connsiteY4" fmla="*/ 882200 h 4053058"/>
              <a:gd name="connsiteX5" fmla="*/ 1979934 w 2402281"/>
              <a:gd name="connsiteY5" fmla="*/ 1140471 h 4053058"/>
              <a:gd name="connsiteX6" fmla="*/ 2094478 w 2402281"/>
              <a:gd name="connsiteY6" fmla="*/ 1451003 h 4053058"/>
              <a:gd name="connsiteX7" fmla="*/ 2206543 w 2402281"/>
              <a:gd name="connsiteY7" fmla="*/ 1907751 h 4053058"/>
              <a:gd name="connsiteX8" fmla="*/ 2280127 w 2402281"/>
              <a:gd name="connsiteY8" fmla="*/ 2839066 h 4053058"/>
              <a:gd name="connsiteX9" fmla="*/ 2402281 w 2402281"/>
              <a:gd name="connsiteY9" fmla="*/ 4053058 h 4053058"/>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80127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206543 w 2299175"/>
              <a:gd name="connsiteY7" fmla="*/ 1907751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72762 w 2299175"/>
              <a:gd name="connsiteY8" fmla="*/ 2839066 h 4073895"/>
              <a:gd name="connsiteX9" fmla="*/ 2299175 w 2299175"/>
              <a:gd name="connsiteY9" fmla="*/ 4073895 h 4073895"/>
              <a:gd name="connsiteX0" fmla="*/ 0 w 2299175"/>
              <a:gd name="connsiteY0" fmla="*/ 0 h 4073895"/>
              <a:gd name="connsiteX1" fmla="*/ 987681 w 2299175"/>
              <a:gd name="connsiteY1" fmla="*/ 286942 h 4073895"/>
              <a:gd name="connsiteX2" fmla="*/ 1286863 w 2299175"/>
              <a:gd name="connsiteY2" fmla="*/ 428955 h 4073895"/>
              <a:gd name="connsiteX3" fmla="*/ 1508913 w 2299175"/>
              <a:gd name="connsiteY3" fmla="*/ 554870 h 4073895"/>
              <a:gd name="connsiteX4" fmla="*/ 1816240 w 2299175"/>
              <a:gd name="connsiteY4" fmla="*/ 882200 h 4073895"/>
              <a:gd name="connsiteX5" fmla="*/ 1979934 w 2299175"/>
              <a:gd name="connsiteY5" fmla="*/ 1140471 h 4073895"/>
              <a:gd name="connsiteX6" fmla="*/ 2094478 w 2299175"/>
              <a:gd name="connsiteY6" fmla="*/ 1451003 h 4073895"/>
              <a:gd name="connsiteX7" fmla="*/ 2180767 w 2299175"/>
              <a:gd name="connsiteY7" fmla="*/ 1920252 h 4073895"/>
              <a:gd name="connsiteX8" fmla="*/ 2254350 w 2299175"/>
              <a:gd name="connsiteY8" fmla="*/ 2997419 h 4073895"/>
              <a:gd name="connsiteX9" fmla="*/ 2299175 w 2299175"/>
              <a:gd name="connsiteY9" fmla="*/ 4073895 h 4073895"/>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816240 w 2262351"/>
              <a:gd name="connsiteY4" fmla="*/ 882200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28955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9934 w 2262351"/>
              <a:gd name="connsiteY5" fmla="*/ 1140471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72569 w 2262351"/>
              <a:gd name="connsiteY5" fmla="*/ 1115468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68887 w 2262351"/>
              <a:gd name="connsiteY5" fmla="*/ 1090464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86863 w 2262351"/>
              <a:gd name="connsiteY2" fmla="*/ 416454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87681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80767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54350 w 2262351"/>
              <a:gd name="connsiteY8" fmla="*/ 2997419 h 4107232"/>
              <a:gd name="connsiteX9" fmla="*/ 2262351 w 2262351"/>
              <a:gd name="connsiteY9" fmla="*/ 4107232 h 4107232"/>
              <a:gd name="connsiteX0" fmla="*/ 0 w 2262351"/>
              <a:gd name="connsiteY0" fmla="*/ 0 h 4107232"/>
              <a:gd name="connsiteX1" fmla="*/ 976633 w 2262351"/>
              <a:gd name="connsiteY1" fmla="*/ 286942 h 4107232"/>
              <a:gd name="connsiteX2" fmla="*/ 1272134 w 2262351"/>
              <a:gd name="connsiteY2" fmla="*/ 403953 h 4107232"/>
              <a:gd name="connsiteX3" fmla="*/ 1508913 w 2262351"/>
              <a:gd name="connsiteY3" fmla="*/ 554870 h 4107232"/>
              <a:gd name="connsiteX4" fmla="*/ 1790464 w 2262351"/>
              <a:gd name="connsiteY4" fmla="*/ 811358 h 4107232"/>
              <a:gd name="connsiteX5" fmla="*/ 1983616 w 2262351"/>
              <a:gd name="connsiteY5" fmla="*/ 1077962 h 4107232"/>
              <a:gd name="connsiteX6" fmla="*/ 2094478 w 2262351"/>
              <a:gd name="connsiteY6" fmla="*/ 1451003 h 4107232"/>
              <a:gd name="connsiteX7" fmla="*/ 2162355 w 2262351"/>
              <a:gd name="connsiteY7" fmla="*/ 1920252 h 4107232"/>
              <a:gd name="connsiteX8" fmla="*/ 2235938 w 2262351"/>
              <a:gd name="connsiteY8" fmla="*/ 3005754 h 4107232"/>
              <a:gd name="connsiteX9" fmla="*/ 2262351 w 2262351"/>
              <a:gd name="connsiteY9" fmla="*/ 4107232 h 4107232"/>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51304"/>
              <a:gd name="connsiteY0" fmla="*/ 0 h 4119733"/>
              <a:gd name="connsiteX1" fmla="*/ 976633 w 2251304"/>
              <a:gd name="connsiteY1" fmla="*/ 286942 h 4119733"/>
              <a:gd name="connsiteX2" fmla="*/ 1272134 w 2251304"/>
              <a:gd name="connsiteY2" fmla="*/ 403953 h 4119733"/>
              <a:gd name="connsiteX3" fmla="*/ 1508913 w 2251304"/>
              <a:gd name="connsiteY3" fmla="*/ 554870 h 4119733"/>
              <a:gd name="connsiteX4" fmla="*/ 1790464 w 2251304"/>
              <a:gd name="connsiteY4" fmla="*/ 811358 h 4119733"/>
              <a:gd name="connsiteX5" fmla="*/ 1983616 w 2251304"/>
              <a:gd name="connsiteY5" fmla="*/ 1077962 h 4119733"/>
              <a:gd name="connsiteX6" fmla="*/ 2094478 w 2251304"/>
              <a:gd name="connsiteY6" fmla="*/ 1451003 h 4119733"/>
              <a:gd name="connsiteX7" fmla="*/ 2162355 w 2251304"/>
              <a:gd name="connsiteY7" fmla="*/ 1920252 h 4119733"/>
              <a:gd name="connsiteX8" fmla="*/ 2235938 w 2251304"/>
              <a:gd name="connsiteY8" fmla="*/ 3005754 h 4119733"/>
              <a:gd name="connsiteX9" fmla="*/ 2251304 w 2251304"/>
              <a:gd name="connsiteY9" fmla="*/ 4119733 h 4119733"/>
              <a:gd name="connsiteX0" fmla="*/ 0 w 2235938"/>
              <a:gd name="connsiteY0" fmla="*/ 0 h 4001022"/>
              <a:gd name="connsiteX1" fmla="*/ 976633 w 2235938"/>
              <a:gd name="connsiteY1" fmla="*/ 286942 h 4001022"/>
              <a:gd name="connsiteX2" fmla="*/ 1272134 w 2235938"/>
              <a:gd name="connsiteY2" fmla="*/ 403953 h 4001022"/>
              <a:gd name="connsiteX3" fmla="*/ 1508913 w 2235938"/>
              <a:gd name="connsiteY3" fmla="*/ 554870 h 4001022"/>
              <a:gd name="connsiteX4" fmla="*/ 1790464 w 2235938"/>
              <a:gd name="connsiteY4" fmla="*/ 811358 h 4001022"/>
              <a:gd name="connsiteX5" fmla="*/ 1983616 w 2235938"/>
              <a:gd name="connsiteY5" fmla="*/ 1077962 h 4001022"/>
              <a:gd name="connsiteX6" fmla="*/ 2094478 w 2235938"/>
              <a:gd name="connsiteY6" fmla="*/ 1451003 h 4001022"/>
              <a:gd name="connsiteX7" fmla="*/ 2162355 w 2235938"/>
              <a:gd name="connsiteY7" fmla="*/ 1920252 h 4001022"/>
              <a:gd name="connsiteX8" fmla="*/ 2235938 w 2235938"/>
              <a:gd name="connsiteY8" fmla="*/ 3005754 h 4001022"/>
              <a:gd name="connsiteX9" fmla="*/ 2228368 w 2235938"/>
              <a:gd name="connsiteY9" fmla="*/ 4001022 h 4001022"/>
              <a:gd name="connsiteX0" fmla="*/ 0 w 2228584"/>
              <a:gd name="connsiteY0" fmla="*/ 0 h 4001022"/>
              <a:gd name="connsiteX1" fmla="*/ 976633 w 2228584"/>
              <a:gd name="connsiteY1" fmla="*/ 286942 h 4001022"/>
              <a:gd name="connsiteX2" fmla="*/ 1272134 w 2228584"/>
              <a:gd name="connsiteY2" fmla="*/ 403953 h 4001022"/>
              <a:gd name="connsiteX3" fmla="*/ 1508913 w 2228584"/>
              <a:gd name="connsiteY3" fmla="*/ 554870 h 4001022"/>
              <a:gd name="connsiteX4" fmla="*/ 1790464 w 2228584"/>
              <a:gd name="connsiteY4" fmla="*/ 811358 h 4001022"/>
              <a:gd name="connsiteX5" fmla="*/ 1983616 w 2228584"/>
              <a:gd name="connsiteY5" fmla="*/ 1077962 h 4001022"/>
              <a:gd name="connsiteX6" fmla="*/ 2094478 w 2228584"/>
              <a:gd name="connsiteY6" fmla="*/ 1451003 h 4001022"/>
              <a:gd name="connsiteX7" fmla="*/ 2162355 w 2228584"/>
              <a:gd name="connsiteY7" fmla="*/ 1920252 h 4001022"/>
              <a:gd name="connsiteX8" fmla="*/ 2213002 w 2228584"/>
              <a:gd name="connsiteY8" fmla="*/ 3005755 h 4001022"/>
              <a:gd name="connsiteX9" fmla="*/ 2228368 w 2228584"/>
              <a:gd name="connsiteY9" fmla="*/ 4001022 h 4001022"/>
              <a:gd name="connsiteX0" fmla="*/ 0 w 2218549"/>
              <a:gd name="connsiteY0" fmla="*/ 0 h 3762911"/>
              <a:gd name="connsiteX1" fmla="*/ 976633 w 2218549"/>
              <a:gd name="connsiteY1" fmla="*/ 286942 h 3762911"/>
              <a:gd name="connsiteX2" fmla="*/ 1272134 w 2218549"/>
              <a:gd name="connsiteY2" fmla="*/ 403953 h 3762911"/>
              <a:gd name="connsiteX3" fmla="*/ 1508913 w 2218549"/>
              <a:gd name="connsiteY3" fmla="*/ 554870 h 3762911"/>
              <a:gd name="connsiteX4" fmla="*/ 1790464 w 2218549"/>
              <a:gd name="connsiteY4" fmla="*/ 811358 h 3762911"/>
              <a:gd name="connsiteX5" fmla="*/ 1983616 w 2218549"/>
              <a:gd name="connsiteY5" fmla="*/ 1077962 h 3762911"/>
              <a:gd name="connsiteX6" fmla="*/ 2094478 w 2218549"/>
              <a:gd name="connsiteY6" fmla="*/ 1451003 h 3762911"/>
              <a:gd name="connsiteX7" fmla="*/ 2162355 w 2218549"/>
              <a:gd name="connsiteY7" fmla="*/ 1920252 h 3762911"/>
              <a:gd name="connsiteX8" fmla="*/ 2213002 w 2218549"/>
              <a:gd name="connsiteY8" fmla="*/ 3005755 h 3762911"/>
              <a:gd name="connsiteX9" fmla="*/ 2218144 w 2218549"/>
              <a:gd name="connsiteY9" fmla="*/ 3762911 h 376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8549" h="3762911">
                <a:moveTo>
                  <a:pt x="0" y="0"/>
                </a:moveTo>
                <a:lnTo>
                  <a:pt x="976633" y="286942"/>
                </a:lnTo>
                <a:cubicBezTo>
                  <a:pt x="1059176" y="321778"/>
                  <a:pt x="1189591" y="369117"/>
                  <a:pt x="1272134" y="403953"/>
                </a:cubicBezTo>
                <a:cubicBezTo>
                  <a:pt x="1359006" y="448608"/>
                  <a:pt x="1424980" y="489053"/>
                  <a:pt x="1508913" y="554870"/>
                </a:cubicBezTo>
                <a:cubicBezTo>
                  <a:pt x="1617547" y="622131"/>
                  <a:pt x="1728531" y="756124"/>
                  <a:pt x="1790464" y="811358"/>
                </a:cubicBezTo>
                <a:cubicBezTo>
                  <a:pt x="1852397" y="866592"/>
                  <a:pt x="1926810" y="1001914"/>
                  <a:pt x="1983616" y="1077962"/>
                </a:cubicBezTo>
                <a:cubicBezTo>
                  <a:pt x="2034285" y="1184570"/>
                  <a:pt x="2064688" y="1310621"/>
                  <a:pt x="2094478" y="1451003"/>
                </a:cubicBezTo>
                <a:lnTo>
                  <a:pt x="2162355" y="1920252"/>
                </a:lnTo>
                <a:lnTo>
                  <a:pt x="2213002" y="3005755"/>
                </a:lnTo>
                <a:cubicBezTo>
                  <a:pt x="2210479" y="3337511"/>
                  <a:pt x="2220667" y="3431155"/>
                  <a:pt x="2218144" y="3762911"/>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7" name="椭圆 26"/>
          <p:cNvSpPr/>
          <p:nvPr/>
        </p:nvSpPr>
        <p:spPr bwMode="auto">
          <a:xfrm>
            <a:off x="7199579" y="2258195"/>
            <a:ext cx="72000" cy="72000"/>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28" name="椭圆 27"/>
          <p:cNvSpPr/>
          <p:nvPr/>
        </p:nvSpPr>
        <p:spPr bwMode="auto">
          <a:xfrm>
            <a:off x="8112018" y="2823329"/>
            <a:ext cx="72000" cy="72000"/>
          </a:xfrm>
          <a:prstGeom prst="ellipse">
            <a:avLst/>
          </a:prstGeom>
          <a:solidFill>
            <a:schemeClr val="accent1"/>
          </a:solidFill>
          <a:ln w="12700" cap="flat" cmpd="sng" algn="ctr">
            <a:solidFill>
              <a:srgbClr val="8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31" name="文本框 30"/>
          <p:cNvSpPr txBox="1"/>
          <p:nvPr/>
        </p:nvSpPr>
        <p:spPr>
          <a:xfrm>
            <a:off x="7062961" y="2409246"/>
            <a:ext cx="474874" cy="1002839"/>
          </a:xfrm>
          <a:prstGeom prst="rect">
            <a:avLst/>
          </a:prstGeom>
          <a:noFill/>
        </p:spPr>
        <p:txBody>
          <a:bodyPr vert="eaVert" wrap="none" rtlCol="0">
            <a:spAutoFit/>
          </a:bodyPr>
          <a:lstStyle/>
          <a:p>
            <a:r>
              <a:rPr lang="zh-CN" altLang="en-US" sz="1800" b="1" dirty="0">
                <a:solidFill>
                  <a:srgbClr val="990033"/>
                </a:solidFill>
                <a:ea typeface="幼圆" panose="02010509060101010101" pitchFamily="49" charset="-122"/>
                <a:cs typeface="Times New Roman" panose="02020603050405020304" pitchFamily="18" charset="0"/>
              </a:rPr>
              <a:t>临塑荷载</a:t>
            </a:r>
          </a:p>
        </p:txBody>
      </p:sp>
      <p:sp>
        <p:nvSpPr>
          <p:cNvPr id="33" name="文本框 32"/>
          <p:cNvSpPr txBox="1"/>
          <p:nvPr/>
        </p:nvSpPr>
        <p:spPr>
          <a:xfrm>
            <a:off x="7779903" y="2951260"/>
            <a:ext cx="474874" cy="1002839"/>
          </a:xfrm>
          <a:prstGeom prst="rect">
            <a:avLst/>
          </a:prstGeom>
          <a:noFill/>
        </p:spPr>
        <p:txBody>
          <a:bodyPr vert="eaVert" wrap="none" rtlCol="0">
            <a:spAutoFit/>
          </a:bodyPr>
          <a:lstStyle/>
          <a:p>
            <a:r>
              <a:rPr lang="zh-CN" altLang="en-US" sz="1800" b="1" dirty="0">
                <a:solidFill>
                  <a:srgbClr val="990033"/>
                </a:solidFill>
                <a:ea typeface="幼圆" panose="02010509060101010101" pitchFamily="49" charset="-122"/>
                <a:cs typeface="Times New Roman" panose="02020603050405020304" pitchFamily="18" charset="0"/>
              </a:rPr>
              <a:t>极限荷载</a:t>
            </a:r>
          </a:p>
        </p:txBody>
      </p:sp>
      <p:sp>
        <p:nvSpPr>
          <p:cNvPr id="34" name="Text Box 4"/>
          <p:cNvSpPr txBox="1">
            <a:spLocks noChangeArrowheads="1"/>
          </p:cNvSpPr>
          <p:nvPr/>
        </p:nvSpPr>
        <p:spPr bwMode="auto">
          <a:xfrm>
            <a:off x="638435" y="1556747"/>
            <a:ext cx="5356848" cy="148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浅层和深层平板载荷试验、标准贯入试验、静力触探试验和旁压仪试验等</a:t>
            </a:r>
            <a:endParaRPr lang="en-US" altLang="zh-CN" sz="2200" b="1" dirty="0">
              <a:solidFill>
                <a:srgbClr val="000066"/>
              </a:solidFill>
              <a:ea typeface="幼圆" pitchFamily="49" charset="-122"/>
            </a:endParaRPr>
          </a:p>
          <a:p>
            <a:pPr marL="357188" indent="-357188"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最常用</a:t>
            </a:r>
            <a:r>
              <a:rPr lang="zh-CN" altLang="en-US" sz="2200" b="1" dirty="0">
                <a:solidFill>
                  <a:srgbClr val="990033"/>
                </a:solidFill>
                <a:ea typeface="幼圆" pitchFamily="49" charset="-122"/>
              </a:rPr>
              <a:t>浅层平板载荷试验</a:t>
            </a:r>
            <a:r>
              <a:rPr lang="zh-CN" altLang="en-US" sz="2200" b="1" dirty="0">
                <a:solidFill>
                  <a:srgbClr val="000066"/>
                </a:solidFill>
                <a:ea typeface="幼圆" pitchFamily="49" charset="-122"/>
              </a:rPr>
              <a:t>，初值</a:t>
            </a:r>
            <a:r>
              <a:rPr lang="en-US" altLang="zh-CN" sz="2200" b="1" i="1" dirty="0" err="1">
                <a:solidFill>
                  <a:srgbClr val="000066"/>
                </a:solidFill>
                <a:ea typeface="幼圆" pitchFamily="49" charset="-122"/>
              </a:rPr>
              <a:t>f</a:t>
            </a:r>
            <a:r>
              <a:rPr lang="en-US" altLang="zh-CN" sz="2200" b="1" baseline="-25000" dirty="0" err="1">
                <a:solidFill>
                  <a:srgbClr val="000066"/>
                </a:solidFill>
                <a:ea typeface="幼圆" pitchFamily="49" charset="-122"/>
              </a:rPr>
              <a:t>ak</a:t>
            </a:r>
            <a:r>
              <a:rPr lang="zh-CN" altLang="en-US" sz="2200" b="1" dirty="0">
                <a:solidFill>
                  <a:srgbClr val="000066"/>
                </a:solidFill>
                <a:ea typeface="幼圆" pitchFamily="49" charset="-122"/>
              </a:rPr>
              <a:t>可取</a:t>
            </a:r>
          </a:p>
        </p:txBody>
      </p:sp>
      <p:sp>
        <p:nvSpPr>
          <p:cNvPr id="35" name="Rectangle 7"/>
          <p:cNvSpPr>
            <a:spLocks noChangeArrowheads="1"/>
          </p:cNvSpPr>
          <p:nvPr/>
        </p:nvSpPr>
        <p:spPr bwMode="auto">
          <a:xfrm>
            <a:off x="1270606" y="3223721"/>
            <a:ext cx="4867801" cy="1714040"/>
          </a:xfrm>
          <a:prstGeom prst="rect">
            <a:avLst/>
          </a:prstGeom>
          <a:noFill/>
          <a:ln>
            <a:noFill/>
          </a:ln>
          <a:extLst/>
        </p:spPr>
        <p:txBody>
          <a:bodyPr lIns="92075" tIns="46038" rIns="92075" bIns="46038"/>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69875" indent="-269875" eaLnBrk="1" hangingPunct="1">
              <a:spcBef>
                <a:spcPts val="200"/>
              </a:spcBef>
              <a:spcAft>
                <a:spcPts val="200"/>
              </a:spcAft>
              <a:buClr>
                <a:srgbClr val="C00000"/>
              </a:buClr>
              <a:buFont typeface="+mj-lt"/>
              <a:buAutoNum type="arabicPeriod"/>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有明显直线段：</a:t>
            </a:r>
            <a:r>
              <a:rPr lang="en-US" altLang="zh-CN" sz="22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2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ak</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 </a:t>
            </a:r>
            <a:r>
              <a:rPr lang="en-US" altLang="zh-CN" sz="22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2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cr</a:t>
            </a:r>
            <a:endParaRPr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69875" indent="-269875">
              <a:spcBef>
                <a:spcPts val="200"/>
              </a:spcBef>
              <a:spcAft>
                <a:spcPts val="200"/>
              </a:spcAft>
              <a:buClr>
                <a:srgbClr val="C00000"/>
              </a:buClr>
              <a:buFont typeface="+mj-lt"/>
              <a:buAutoNum type="arabicPeriod"/>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加载到破坏且 </a:t>
            </a:r>
            <a:r>
              <a:rPr lang="en-US" altLang="zh-CN" sz="22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2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/2&lt; </a:t>
            </a:r>
            <a:r>
              <a:rPr lang="en-US" altLang="zh-CN" sz="22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2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cr</a:t>
            </a:r>
            <a:r>
              <a:rPr lang="en-US" altLang="zh-CN" sz="22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2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2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ak</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 </a:t>
            </a:r>
            <a:r>
              <a:rPr lang="en-US" altLang="zh-CN" sz="2200" b="1" i="1"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200" b="1" baseline="-25000" dirty="0" err="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a:t>
            </a:r>
            <a:r>
              <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/2</a:t>
            </a:r>
            <a:r>
              <a:rPr lang="en-US" altLang="zh-CN"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p>
          <a:p>
            <a:pPr marL="269875" indent="-269875">
              <a:spcBef>
                <a:spcPts val="200"/>
              </a:spcBef>
              <a:spcAft>
                <a:spcPts val="200"/>
              </a:spcAft>
              <a:buClr>
                <a:srgbClr val="C00000"/>
              </a:buClr>
              <a:buFont typeface="+mj-lt"/>
              <a:buAutoNum type="arabicPeriod"/>
            </a:pP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当没有做到极限荷载时，取试验最大荷载的一半</a:t>
            </a:r>
            <a:endParaRPr lang="en-US" altLang="zh-CN"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0" name="Text Box 7"/>
          <p:cNvSpPr txBox="1">
            <a:spLocks noChangeArrowheads="1"/>
          </p:cNvSpPr>
          <p:nvPr/>
        </p:nvSpPr>
        <p:spPr bwMode="auto">
          <a:xfrm>
            <a:off x="1627633" y="5730875"/>
            <a:ext cx="6400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lang="zh-CN" altLang="en-US" sz="4000" b="1" dirty="0">
                <a:solidFill>
                  <a:srgbClr val="000066"/>
                </a:solidFill>
                <a:ea typeface="黑体" pitchFamily="2" charset="-122"/>
              </a:rPr>
              <a:t>地基承载力确定方法</a:t>
            </a:r>
          </a:p>
        </p:txBody>
      </p:sp>
      <p:sp>
        <p:nvSpPr>
          <p:cNvPr id="32"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lvl="0" eaLnBrk="1" fontAlgn="ctr" hangingPunct="1">
              <a:lnSpc>
                <a:spcPct val="100000"/>
              </a:lnSpc>
              <a:spcBef>
                <a:spcPct val="0"/>
              </a:spcBef>
              <a:spcAft>
                <a:spcPct val="0"/>
              </a:spcAft>
            </a:pPr>
            <a:r>
              <a:rPr kumimoji="0" lang="en-US" altLang="zh-CN"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rPr>
              <a:t>§8.4  </a:t>
            </a:r>
            <a:r>
              <a:rPr lang="zh-CN" altLang="en-US" sz="1800" b="1" kern="900" spc="130" dirty="0">
                <a:solidFill>
                  <a:srgbClr val="000066"/>
                </a:solidFill>
                <a:ea typeface="黑体" panose="02010609060101010101" pitchFamily="49" charset="-122"/>
                <a:cs typeface="Times New Roman" panose="02020603050405020304" pitchFamily="18" charset="0"/>
              </a:rPr>
              <a:t>地基承载力的确定方法</a:t>
            </a:r>
            <a:endParaRPr kumimoji="0" lang="zh-CN" altLang="en-US"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endParaRPr>
          </a:p>
        </p:txBody>
      </p:sp>
      <p:sp>
        <p:nvSpPr>
          <p:cNvPr id="36" name="矩形 35"/>
          <p:cNvSpPr/>
          <p:nvPr/>
        </p:nvSpPr>
        <p:spPr>
          <a:xfrm>
            <a:off x="3429141" y="772637"/>
            <a:ext cx="5628720" cy="446276"/>
          </a:xfrm>
          <a:prstGeom prst="rect">
            <a:avLst/>
          </a:prstGeom>
          <a:solidFill>
            <a:srgbClr val="FFFF00"/>
          </a:solidFill>
        </p:spPr>
        <p:txBody>
          <a:bodyPr wrap="none">
            <a:spAutoFit/>
          </a:bodyPr>
          <a:lstStyle/>
          <a:p>
            <a:r>
              <a:rPr lang="en-US" altLang="zh-CN" sz="2000" b="1" dirty="0">
                <a:solidFill>
                  <a:srgbClr val="C00000"/>
                </a:solidFill>
                <a:ea typeface="幼圆" panose="02010509060101010101" pitchFamily="49" charset="-122"/>
                <a:cs typeface="Times New Roman" panose="02020603050405020304" pitchFamily="18" charset="0"/>
              </a:rPr>
              <a:t>《</a:t>
            </a:r>
            <a:r>
              <a:rPr lang="zh-CN" altLang="en-US" sz="2000" b="1" dirty="0">
                <a:solidFill>
                  <a:srgbClr val="C00000"/>
                </a:solidFill>
                <a:ea typeface="幼圆" panose="02010509060101010101" pitchFamily="49" charset="-122"/>
                <a:cs typeface="Times New Roman" panose="02020603050405020304" pitchFamily="18" charset="0"/>
              </a:rPr>
              <a:t>建筑地基基础设计规范</a:t>
            </a:r>
            <a:r>
              <a:rPr lang="en-US" altLang="zh-CN" sz="2000" b="1" dirty="0">
                <a:solidFill>
                  <a:srgbClr val="C00000"/>
                </a:solidFill>
                <a:ea typeface="幼圆" panose="02010509060101010101" pitchFamily="49" charset="-122"/>
                <a:cs typeface="Times New Roman" panose="02020603050405020304" pitchFamily="18" charset="0"/>
              </a:rPr>
              <a:t>》</a:t>
            </a:r>
            <a:r>
              <a:rPr lang="zh-CN" altLang="en-US" sz="2000" b="1" dirty="0">
                <a:solidFill>
                  <a:srgbClr val="C00000"/>
                </a:solidFill>
                <a:ea typeface="幼圆" panose="02010509060101010101" pitchFamily="49" charset="-122"/>
                <a:cs typeface="Times New Roman" panose="02020603050405020304" pitchFamily="18" charset="0"/>
              </a:rPr>
              <a:t>（</a:t>
            </a:r>
            <a:r>
              <a:rPr lang="en-US" altLang="zh-CN" sz="2000" b="1" dirty="0">
                <a:solidFill>
                  <a:srgbClr val="C00000"/>
                </a:solidFill>
                <a:ea typeface="幼圆" panose="02010509060101010101" pitchFamily="49" charset="-122"/>
                <a:cs typeface="Times New Roman" panose="02020603050405020304" pitchFamily="18" charset="0"/>
              </a:rPr>
              <a:t>GB 50007—2011</a:t>
            </a:r>
            <a:r>
              <a:rPr lang="zh-CN" altLang="en-US" sz="2000" b="1" dirty="0">
                <a:solidFill>
                  <a:srgbClr val="C00000"/>
                </a:solidFill>
                <a:ea typeface="幼圆" panose="02010509060101010101" pitchFamily="49" charset="-122"/>
                <a:cs typeface="Times New Roman" panose="02020603050405020304" pitchFamily="18" charset="0"/>
              </a:rPr>
              <a:t>）</a:t>
            </a:r>
          </a:p>
        </p:txBody>
      </p:sp>
    </p:spTree>
    <p:extLst>
      <p:ext uri="{BB962C8B-B14F-4D97-AF65-F5344CB8AC3E}">
        <p14:creationId xmlns:p14="http://schemas.microsoft.com/office/powerpoint/2010/main" val="370502231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inVertical)">
                                      <p:cBhvr>
                                        <p:cTn id="7" dur="500"/>
                                        <p:tgtEl>
                                          <p:spTgt spid="36"/>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barn(inVertical)">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barn(inVertical)">
                                      <p:cBhvr>
                                        <p:cTn id="16" dur="500"/>
                                        <p:tgtEl>
                                          <p:spTgt spid="2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wipe(left)">
                                      <p:cBhvr>
                                        <p:cTn id="2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4" grpId="0"/>
      <p:bldP spid="35" grpId="0"/>
      <p:bldP spid="3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64</a:t>
            </a:fld>
            <a:endParaRPr lang="zh-CN" altLang="en-US" dirty="0">
              <a:solidFill>
                <a:srgbClr val="C00000"/>
              </a:solidFill>
            </a:endParaRPr>
          </a:p>
        </p:txBody>
      </p:sp>
      <p:sp>
        <p:nvSpPr>
          <p:cNvPr id="2" name="矩形 1"/>
          <p:cNvSpPr/>
          <p:nvPr/>
        </p:nvSpPr>
        <p:spPr>
          <a:xfrm>
            <a:off x="399000" y="724356"/>
            <a:ext cx="3016938" cy="544765"/>
          </a:xfrm>
          <a:prstGeom prst="rect">
            <a:avLst/>
          </a:prstGeom>
        </p:spPr>
        <p:txBody>
          <a:bodyPr wrap="square">
            <a:spAutoFit/>
          </a:bodyPr>
          <a:lstStyle/>
          <a:p>
            <a:pPr marL="342900" indent="-342900">
              <a:buFont typeface="Wingdings" panose="05000000000000000000" pitchFamily="2" charset="2"/>
              <a:buChar char="n"/>
            </a:pPr>
            <a:r>
              <a:rPr lang="zh-CN" altLang="en-US" sz="2800" b="1" dirty="0">
                <a:solidFill>
                  <a:srgbClr val="990033"/>
                </a:solidFill>
                <a:latin typeface="微软雅黑" panose="020B0503020204020204" pitchFamily="34" charset="-122"/>
                <a:ea typeface="微软雅黑" panose="020B0503020204020204" pitchFamily="34" charset="-122"/>
              </a:rPr>
              <a:t>深度和宽度修正</a:t>
            </a:r>
            <a:endParaRPr lang="zh-CN" altLang="en-US" sz="2800" b="1" dirty="0">
              <a:solidFill>
                <a:srgbClr val="990033"/>
              </a:solidFill>
              <a:latin typeface="幼圆" panose="02010509060101010101" pitchFamily="49" charset="-122"/>
              <a:ea typeface="幼圆" panose="02010509060101010101" pitchFamily="49" charset="-122"/>
            </a:endParaRPr>
          </a:p>
        </p:txBody>
      </p:sp>
      <p:sp>
        <p:nvSpPr>
          <p:cNvPr id="34" name="Text Box 4"/>
          <p:cNvSpPr txBox="1">
            <a:spLocks noChangeArrowheads="1"/>
          </p:cNvSpPr>
          <p:nvPr/>
        </p:nvSpPr>
        <p:spPr bwMode="auto">
          <a:xfrm>
            <a:off x="638434" y="1485187"/>
            <a:ext cx="7654775" cy="972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对于从</a:t>
            </a:r>
            <a:r>
              <a:rPr lang="zh-CN" altLang="en-US" sz="2200" b="1" dirty="0">
                <a:solidFill>
                  <a:srgbClr val="990033"/>
                </a:solidFill>
                <a:ea typeface="幼圆" pitchFamily="49" charset="-122"/>
              </a:rPr>
              <a:t>载荷试验</a:t>
            </a:r>
            <a:r>
              <a:rPr lang="zh-CN" altLang="en-US" sz="2200" b="1" dirty="0">
                <a:solidFill>
                  <a:srgbClr val="000066"/>
                </a:solidFill>
                <a:ea typeface="幼圆" pitchFamily="49" charset="-122"/>
              </a:rPr>
              <a:t>或者</a:t>
            </a:r>
            <a:r>
              <a:rPr lang="zh-CN" altLang="en-US" sz="2200" b="1" dirty="0">
                <a:solidFill>
                  <a:srgbClr val="990033"/>
                </a:solidFill>
                <a:ea typeface="幼圆" pitchFamily="49" charset="-122"/>
              </a:rPr>
              <a:t>按经验值</a:t>
            </a:r>
            <a:r>
              <a:rPr lang="zh-CN" altLang="en-US" sz="2200" b="1" dirty="0">
                <a:solidFill>
                  <a:srgbClr val="000066"/>
                </a:solidFill>
                <a:ea typeface="幼圆" pitchFamily="49" charset="-122"/>
              </a:rPr>
              <a:t>确定的承载力</a:t>
            </a:r>
            <a:r>
              <a:rPr lang="en-US" altLang="zh-CN" sz="2200" b="1" i="1" dirty="0" err="1">
                <a:solidFill>
                  <a:srgbClr val="000066"/>
                </a:solidFill>
                <a:ea typeface="幼圆" pitchFamily="49" charset="-122"/>
              </a:rPr>
              <a:t>f</a:t>
            </a:r>
            <a:r>
              <a:rPr lang="en-US" altLang="zh-CN" sz="2200" b="1" baseline="-25000" dirty="0" err="1">
                <a:solidFill>
                  <a:srgbClr val="000066"/>
                </a:solidFill>
                <a:ea typeface="幼圆" pitchFamily="49" charset="-122"/>
              </a:rPr>
              <a:t>ak</a:t>
            </a:r>
            <a:r>
              <a:rPr lang="zh-CN" altLang="en-US" sz="2200" b="1" dirty="0">
                <a:solidFill>
                  <a:srgbClr val="000066"/>
                </a:solidFill>
                <a:ea typeface="幼圆" pitchFamily="49" charset="-122"/>
              </a:rPr>
              <a:t>，还应当计入基础的深度和宽度的影响</a:t>
            </a:r>
          </a:p>
        </p:txBody>
      </p:sp>
      <p:sp>
        <p:nvSpPr>
          <p:cNvPr id="29" name="Rectangle 33"/>
          <p:cNvSpPr txBox="1">
            <a:spLocks noChangeArrowheads="1"/>
          </p:cNvSpPr>
          <p:nvPr/>
        </p:nvSpPr>
        <p:spPr bwMode="auto">
          <a:xfrm>
            <a:off x="1305339" y="2580198"/>
            <a:ext cx="4570674" cy="552616"/>
          </a:xfrm>
          <a:prstGeom prst="rect">
            <a:avLst/>
          </a:prstGeom>
          <a:noFill/>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00000"/>
              </a:lnSpc>
              <a:buFontTx/>
              <a:buNone/>
            </a:pPr>
            <a:r>
              <a:rPr lang="en-US" altLang="zh-CN" sz="2800" b="1" i="1" kern="0" dirty="0">
                <a:solidFill>
                  <a:srgbClr val="000066"/>
                </a:solidFill>
                <a:latin typeface="Times New Roman" panose="02020603050405020304" pitchFamily="18" charset="0"/>
                <a:cs typeface="Times New Roman" panose="02020603050405020304" pitchFamily="18" charset="0"/>
              </a:rPr>
              <a:t>f</a:t>
            </a:r>
            <a:r>
              <a:rPr lang="en-US" altLang="zh-CN" sz="2800" b="1" kern="0" baseline="-25000" dirty="0">
                <a:solidFill>
                  <a:srgbClr val="000066"/>
                </a:solidFill>
                <a:latin typeface="Times New Roman" panose="02020603050405020304" pitchFamily="18" charset="0"/>
                <a:cs typeface="Times New Roman" panose="02020603050405020304" pitchFamily="18" charset="0"/>
              </a:rPr>
              <a:t>a </a:t>
            </a:r>
            <a:r>
              <a:rPr lang="en-US" altLang="zh-CN" sz="2800" b="1" i="1" kern="0" dirty="0">
                <a:solidFill>
                  <a:srgbClr val="000066"/>
                </a:solidFill>
                <a:latin typeface="Times New Roman" panose="02020603050405020304" pitchFamily="18" charset="0"/>
                <a:cs typeface="Times New Roman" panose="02020603050405020304" pitchFamily="18" charset="0"/>
              </a:rPr>
              <a:t>= </a:t>
            </a:r>
            <a:r>
              <a:rPr lang="en-US" altLang="zh-CN" sz="2800" b="1" i="1" kern="0" dirty="0" err="1">
                <a:solidFill>
                  <a:srgbClr val="000066"/>
                </a:solidFill>
                <a:latin typeface="Times New Roman" panose="02020603050405020304" pitchFamily="18" charset="0"/>
                <a:cs typeface="Times New Roman" panose="02020603050405020304" pitchFamily="18" charset="0"/>
              </a:rPr>
              <a:t>f</a:t>
            </a:r>
            <a:r>
              <a:rPr lang="en-US" altLang="zh-CN" sz="2800" b="1" kern="0" baseline="-25000" dirty="0" err="1">
                <a:solidFill>
                  <a:srgbClr val="000066"/>
                </a:solidFill>
                <a:latin typeface="Times New Roman" panose="02020603050405020304" pitchFamily="18" charset="0"/>
                <a:cs typeface="Times New Roman" panose="02020603050405020304" pitchFamily="18" charset="0"/>
              </a:rPr>
              <a:t>ak</a:t>
            </a:r>
            <a:r>
              <a:rPr lang="en-US" altLang="zh-CN" sz="2800" b="1" i="1" kern="0" dirty="0">
                <a:solidFill>
                  <a:srgbClr val="000066"/>
                </a:solidFill>
                <a:latin typeface="Times New Roman" panose="02020603050405020304" pitchFamily="18" charset="0"/>
                <a:cs typeface="Times New Roman" panose="02020603050405020304" pitchFamily="18" charset="0"/>
              </a:rPr>
              <a:t>+</a:t>
            </a:r>
            <a:r>
              <a:rPr lang="en-US" altLang="zh-CN" sz="2800" b="1" i="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kern="0" baseline="-2500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b</a:t>
            </a:r>
            <a:r>
              <a:rPr lang="en-US" altLang="zh-CN" sz="2800" b="1" i="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b</a:t>
            </a:r>
            <a:r>
              <a:rPr lang="en-US" altLang="zh-CN" sz="2800" b="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-3)</a:t>
            </a:r>
            <a:r>
              <a:rPr lang="en-US" altLang="zh-CN" sz="2800" b="1" i="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kern="0" baseline="-25000" dirty="0" err="1">
                <a:solidFill>
                  <a:srgbClr val="000066"/>
                </a:solidFill>
                <a:latin typeface="Times New Roman" panose="02020603050405020304" pitchFamily="18" charset="0"/>
                <a:cs typeface="Times New Roman" panose="02020603050405020304" pitchFamily="18" charset="0"/>
                <a:sym typeface="Symbol" panose="05050102010706020507" pitchFamily="18" charset="2"/>
              </a:rPr>
              <a:t>d</a:t>
            </a:r>
            <a:r>
              <a:rPr lang="en-US" altLang="zh-CN" sz="2800" b="1" i="1" kern="0" dirty="0" err="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kern="0" baseline="-25000" dirty="0" err="1">
                <a:solidFill>
                  <a:srgbClr val="000066"/>
                </a:solidFill>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d</a:t>
            </a:r>
            <a:r>
              <a:rPr lang="en-US" altLang="zh-CN" sz="2800" b="1" kern="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-0.5)</a:t>
            </a:r>
            <a:endParaRPr lang="en-US" altLang="zh-CN" sz="2800" b="1" kern="0" dirty="0">
              <a:solidFill>
                <a:srgbClr val="000066"/>
              </a:solidFill>
              <a:latin typeface="Times New Roman" panose="02020603050405020304" pitchFamily="18" charset="0"/>
              <a:cs typeface="Times New Roman" panose="02020603050405020304" pitchFamily="18" charset="0"/>
            </a:endParaRPr>
          </a:p>
        </p:txBody>
      </p:sp>
      <p:grpSp>
        <p:nvGrpSpPr>
          <p:cNvPr id="3" name="组合 2"/>
          <p:cNvGrpSpPr/>
          <p:nvPr/>
        </p:nvGrpSpPr>
        <p:grpSpPr>
          <a:xfrm>
            <a:off x="1267953" y="3204375"/>
            <a:ext cx="7303550" cy="2162755"/>
            <a:chOff x="1267953" y="3204375"/>
            <a:chExt cx="7303550" cy="2162755"/>
          </a:xfrm>
        </p:grpSpPr>
        <p:sp>
          <p:nvSpPr>
            <p:cNvPr id="11" name="矩形 10"/>
            <p:cNvSpPr/>
            <p:nvPr/>
          </p:nvSpPr>
          <p:spPr bwMode="auto">
            <a:xfrm>
              <a:off x="1267953" y="3204375"/>
              <a:ext cx="7160430" cy="2162755"/>
            </a:xfrm>
            <a:prstGeom prst="rect">
              <a:avLst/>
            </a:pr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charset="-122"/>
              </a:endParaRPr>
            </a:p>
          </p:txBody>
        </p:sp>
        <p:sp>
          <p:nvSpPr>
            <p:cNvPr id="40" name="Rectangle 7"/>
            <p:cNvSpPr>
              <a:spLocks noChangeArrowheads="1"/>
            </p:cNvSpPr>
            <p:nvPr/>
          </p:nvSpPr>
          <p:spPr bwMode="auto">
            <a:xfrm>
              <a:off x="1393940" y="3255211"/>
              <a:ext cx="7177563" cy="2096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eaLnBrk="1" hangingPunct="1">
                <a:spcBef>
                  <a:spcPts val="200"/>
                </a:spcBef>
                <a:spcAft>
                  <a:spcPts val="200"/>
                </a:spcAft>
                <a:buClr>
                  <a:srgbClr val="C00000"/>
                </a:buClr>
                <a:buFont typeface="Arial" panose="020B0604020202020204" pitchFamily="34" charset="0"/>
                <a:buChar char="•"/>
              </a:pPr>
              <a:r>
                <a:rPr lang="en-US" altLang="en-US"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en-US" sz="2000" b="1" baseline="-25000"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a</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：修正后的承载力特征值（设计值）</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82563" indent="-182563">
                <a:spcBef>
                  <a:spcPts val="200"/>
                </a:spcBef>
                <a:spcAft>
                  <a:spcPts val="200"/>
                </a:spcAft>
                <a:buClr>
                  <a:srgbClr val="C00000"/>
                </a:buClr>
                <a:buFont typeface="Arial" panose="020B0604020202020204" pitchFamily="34" charset="0"/>
                <a:buChar char="•"/>
              </a:pP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baseline="-25000"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en-US" altLang="zh-CN" sz="2000" b="1" baseline="-25000"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d</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：宽度和深度修正系数，查表</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82563" indent="-182563">
                <a:spcBef>
                  <a:spcPts val="200"/>
                </a:spcBef>
                <a:spcAft>
                  <a:spcPts val="200"/>
                </a:spcAft>
                <a:buClr>
                  <a:srgbClr val="C00000"/>
                </a:buClr>
                <a:buFont typeface="Arial" panose="020B0604020202020204" pitchFamily="34" charset="0"/>
                <a:buChar char="•"/>
              </a:pP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zh-CN" altLang="en-US"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en-US" altLang="zh-CN" sz="2000" b="1" baseline="-25000"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 </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：基底以下、以上土的重度，地下水位以下取浮重度</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82563" indent="-182563">
                <a:spcBef>
                  <a:spcPts val="200"/>
                </a:spcBef>
                <a:spcAft>
                  <a:spcPts val="200"/>
                </a:spcAft>
                <a:buClr>
                  <a:srgbClr val="C00000"/>
                </a:buClr>
                <a:buFont typeface="Arial" panose="020B0604020202020204" pitchFamily="34" charset="0"/>
                <a:buChar char="•"/>
              </a:pP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b</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：基底宽度，大于</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6m</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按</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6m</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取值，小于</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3m</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按</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3m</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取值</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82563" indent="-182563">
                <a:spcBef>
                  <a:spcPts val="200"/>
                </a:spcBef>
                <a:spcAft>
                  <a:spcPts val="200"/>
                </a:spcAft>
                <a:buClr>
                  <a:srgbClr val="C00000"/>
                </a:buClr>
                <a:buFont typeface="Arial" panose="020B0604020202020204" pitchFamily="34" charset="0"/>
                <a:buChar char="•"/>
              </a:pPr>
              <a:r>
                <a:rPr lang="en-US" altLang="zh-CN" sz="2000" b="1" i="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d</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：基础埋深</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(m)</a:t>
              </a:r>
            </a:p>
          </p:txBody>
        </p:sp>
      </p:grpSp>
      <p:sp>
        <p:nvSpPr>
          <p:cNvPr id="12" name="Text Box 7"/>
          <p:cNvSpPr txBox="1">
            <a:spLocks noChangeArrowheads="1"/>
          </p:cNvSpPr>
          <p:nvPr/>
        </p:nvSpPr>
        <p:spPr bwMode="auto">
          <a:xfrm>
            <a:off x="1627633" y="5730875"/>
            <a:ext cx="6400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lang="zh-CN" altLang="en-US" sz="4000" b="1" dirty="0">
                <a:solidFill>
                  <a:srgbClr val="000066"/>
                </a:solidFill>
                <a:ea typeface="黑体" pitchFamily="2" charset="-122"/>
              </a:rPr>
              <a:t>地基承载力确定方法</a:t>
            </a:r>
          </a:p>
        </p:txBody>
      </p:sp>
      <p:sp>
        <p:nvSpPr>
          <p:cNvPr id="13" name="Text Box 7"/>
          <p:cNvSpPr txBox="1">
            <a:spLocks noChangeArrowheads="1"/>
          </p:cNvSpPr>
          <p:nvPr/>
        </p:nvSpPr>
        <p:spPr bwMode="auto">
          <a:xfrm>
            <a:off x="0" y="0"/>
            <a:ext cx="45879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lvl="0" eaLnBrk="1" fontAlgn="ctr" hangingPunct="1">
              <a:lnSpc>
                <a:spcPct val="100000"/>
              </a:lnSpc>
              <a:spcBef>
                <a:spcPct val="0"/>
              </a:spcBef>
              <a:spcAft>
                <a:spcPct val="0"/>
              </a:spcAft>
            </a:pPr>
            <a:r>
              <a:rPr kumimoji="0" lang="en-US" altLang="zh-CN"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rPr>
              <a:t>§8.4  </a:t>
            </a:r>
            <a:r>
              <a:rPr lang="zh-CN" altLang="en-US" sz="1800" b="1" kern="900" spc="130" dirty="0">
                <a:solidFill>
                  <a:srgbClr val="000066"/>
                </a:solidFill>
                <a:ea typeface="黑体" panose="02010609060101010101" pitchFamily="49" charset="-122"/>
                <a:cs typeface="Times New Roman" panose="02020603050405020304" pitchFamily="18" charset="0"/>
              </a:rPr>
              <a:t>地基承载力的确定方法</a:t>
            </a:r>
            <a:endParaRPr kumimoji="0" lang="zh-CN" altLang="en-US" sz="1800" b="1" i="0" u="none" strike="noStrike" kern="900" cap="none" spc="130" normalizeH="0" baseline="0" noProof="0" dirty="0">
              <a:ln>
                <a:noFill/>
              </a:ln>
              <a:solidFill>
                <a:srgbClr val="000066"/>
              </a:solidFill>
              <a:effectLst/>
              <a:uLnTx/>
              <a:uFillTx/>
              <a:latin typeface="Times New Roman" pitchFamily="18" charset="0"/>
              <a:ea typeface="黑体" panose="02010609060101010101" pitchFamily="49" charset="-122"/>
              <a:cs typeface="Times New Roman" panose="02020603050405020304" pitchFamily="18" charset="0"/>
            </a:endParaRPr>
          </a:p>
        </p:txBody>
      </p:sp>
      <p:sp>
        <p:nvSpPr>
          <p:cNvPr id="14" name="矩形 13"/>
          <p:cNvSpPr/>
          <p:nvPr/>
        </p:nvSpPr>
        <p:spPr>
          <a:xfrm>
            <a:off x="3429141" y="772637"/>
            <a:ext cx="5628720" cy="446276"/>
          </a:xfrm>
          <a:prstGeom prst="rect">
            <a:avLst/>
          </a:prstGeom>
          <a:solidFill>
            <a:srgbClr val="FFFF00"/>
          </a:solidFill>
        </p:spPr>
        <p:txBody>
          <a:bodyPr wrap="none">
            <a:spAutoFit/>
          </a:bodyPr>
          <a:lstStyle/>
          <a:p>
            <a:r>
              <a:rPr lang="en-US" altLang="zh-CN" sz="2000" b="1" dirty="0">
                <a:solidFill>
                  <a:srgbClr val="C00000"/>
                </a:solidFill>
                <a:ea typeface="幼圆" panose="02010509060101010101" pitchFamily="49" charset="-122"/>
                <a:cs typeface="Times New Roman" panose="02020603050405020304" pitchFamily="18" charset="0"/>
              </a:rPr>
              <a:t>《</a:t>
            </a:r>
            <a:r>
              <a:rPr lang="zh-CN" altLang="en-US" sz="2000" b="1" dirty="0">
                <a:solidFill>
                  <a:srgbClr val="C00000"/>
                </a:solidFill>
                <a:ea typeface="幼圆" panose="02010509060101010101" pitchFamily="49" charset="-122"/>
                <a:cs typeface="Times New Roman" panose="02020603050405020304" pitchFamily="18" charset="0"/>
              </a:rPr>
              <a:t>建筑地基基础设计规范</a:t>
            </a:r>
            <a:r>
              <a:rPr lang="en-US" altLang="zh-CN" sz="2000" b="1" dirty="0">
                <a:solidFill>
                  <a:srgbClr val="C00000"/>
                </a:solidFill>
                <a:ea typeface="幼圆" panose="02010509060101010101" pitchFamily="49" charset="-122"/>
                <a:cs typeface="Times New Roman" panose="02020603050405020304" pitchFamily="18" charset="0"/>
              </a:rPr>
              <a:t>》</a:t>
            </a:r>
            <a:r>
              <a:rPr lang="zh-CN" altLang="en-US" sz="2000" b="1" dirty="0">
                <a:solidFill>
                  <a:srgbClr val="C00000"/>
                </a:solidFill>
                <a:ea typeface="幼圆" panose="02010509060101010101" pitchFamily="49" charset="-122"/>
                <a:cs typeface="Times New Roman" panose="02020603050405020304" pitchFamily="18" charset="0"/>
              </a:rPr>
              <a:t>（</a:t>
            </a:r>
            <a:r>
              <a:rPr lang="en-US" altLang="zh-CN" sz="2000" b="1" dirty="0">
                <a:solidFill>
                  <a:srgbClr val="C00000"/>
                </a:solidFill>
                <a:ea typeface="幼圆" panose="02010509060101010101" pitchFamily="49" charset="-122"/>
                <a:cs typeface="Times New Roman" panose="02020603050405020304" pitchFamily="18" charset="0"/>
              </a:rPr>
              <a:t>GB 50007—2011</a:t>
            </a:r>
            <a:r>
              <a:rPr lang="zh-CN" altLang="en-US" sz="2000" b="1" dirty="0">
                <a:solidFill>
                  <a:srgbClr val="C00000"/>
                </a:solidFill>
                <a:ea typeface="幼圆" panose="02010509060101010101" pitchFamily="49" charset="-122"/>
                <a:cs typeface="Times New Roman" panose="02020603050405020304" pitchFamily="18" charset="0"/>
              </a:rPr>
              <a:t>）</a:t>
            </a:r>
          </a:p>
        </p:txBody>
      </p:sp>
    </p:spTree>
    <p:extLst>
      <p:ext uri="{BB962C8B-B14F-4D97-AF65-F5344CB8AC3E}">
        <p14:creationId xmlns:p14="http://schemas.microsoft.com/office/powerpoint/2010/main" val="94889058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barn(inVertical)">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barn(inVertical)">
                                      <p:cBhvr>
                                        <p:cTn id="16" dur="500"/>
                                        <p:tgtEl>
                                          <p:spTgt spid="2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29" grpId="0"/>
      <p:bldP spid="1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780874"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§8.1  </a:t>
            </a:r>
            <a:r>
              <a:rPr kumimoji="1" lang="zh-CN" altLang="en-US" sz="2800" b="1" dirty="0">
                <a:solidFill>
                  <a:srgbClr val="000066"/>
                </a:solidFill>
                <a:ea typeface="幼圆" pitchFamily="49" charset="-122"/>
                <a:cs typeface="Times New Roman" panose="02020603050405020304" pitchFamily="18" charset="0"/>
              </a:rPr>
              <a:t>地基失稳的形式和过程</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§8.2 </a:t>
            </a:r>
            <a:r>
              <a:rPr kumimoji="1" lang="zh-CN" altLang="en-US" sz="2800" b="1" dirty="0">
                <a:solidFill>
                  <a:srgbClr val="000066"/>
                </a:solidFill>
                <a:ea typeface="幼圆" pitchFamily="49" charset="-122"/>
                <a:cs typeface="Times New Roman" panose="02020603050405020304" pitchFamily="18" charset="0"/>
              </a:rPr>
              <a:t>临塑荷载和临界荷载</a:t>
            </a:r>
            <a:endParaRPr kumimoji="1" lang="en-US" altLang="zh-CN"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§8.3 </a:t>
            </a:r>
            <a:r>
              <a:rPr kumimoji="1" lang="zh-CN" altLang="en-US" sz="2800" b="1" dirty="0">
                <a:solidFill>
                  <a:srgbClr val="000066"/>
                </a:solidFill>
                <a:ea typeface="幼圆" pitchFamily="49" charset="-122"/>
                <a:cs typeface="Times New Roman" panose="02020603050405020304" pitchFamily="18" charset="0"/>
              </a:rPr>
              <a:t>极限承载力计算</a:t>
            </a:r>
          </a:p>
          <a:p>
            <a:pPr eaLnBrk="1" hangingPunct="1">
              <a:lnSpc>
                <a:spcPct val="130000"/>
              </a:lnSpc>
              <a:spcBef>
                <a:spcPct val="10000"/>
              </a:spcBef>
              <a:spcAft>
                <a:spcPct val="10000"/>
              </a:spcAft>
            </a:pPr>
            <a:r>
              <a:rPr kumimoji="1" lang="en-US" altLang="zh-CN" sz="2800" b="1" dirty="0">
                <a:solidFill>
                  <a:srgbClr val="000066"/>
                </a:solidFill>
                <a:ea typeface="幼圆" pitchFamily="49" charset="-122"/>
                <a:cs typeface="Times New Roman" panose="02020603050405020304" pitchFamily="18" charset="0"/>
              </a:rPr>
              <a:t>§8.4 </a:t>
            </a:r>
            <a:r>
              <a:rPr kumimoji="1" lang="zh-CN" altLang="en-US" sz="2800" b="1" dirty="0">
                <a:solidFill>
                  <a:srgbClr val="000066"/>
                </a:solidFill>
                <a:ea typeface="幼圆" pitchFamily="49" charset="-122"/>
                <a:cs typeface="Times New Roman" panose="02020603050405020304" pitchFamily="18" charset="0"/>
              </a:rPr>
              <a:t>地基承载力的确定方法</a:t>
            </a: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第八章：地基承载力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65</a:t>
            </a:fld>
            <a:endParaRPr lang="zh-CN" altLang="en-US" dirty="0">
              <a:solidFill>
                <a:srgbClr val="C00000"/>
              </a:solidFill>
            </a:endParaRPr>
          </a:p>
        </p:txBody>
      </p:sp>
    </p:spTree>
    <p:extLst>
      <p:ext uri="{BB962C8B-B14F-4D97-AF65-F5344CB8AC3E}">
        <p14:creationId xmlns:p14="http://schemas.microsoft.com/office/powerpoint/2010/main" val="2177752095"/>
      </p:ext>
    </p:extLst>
  </p:cSld>
  <p:clrMapOvr>
    <a:masterClrMapping/>
  </p:clrMapOvr>
  <p:transition spd="med">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3"/>
          <p:cNvSpPr txBox="1">
            <a:spLocks noChangeArrowheads="1"/>
          </p:cNvSpPr>
          <p:nvPr/>
        </p:nvSpPr>
        <p:spPr bwMode="auto">
          <a:xfrm>
            <a:off x="1049023" y="723045"/>
            <a:ext cx="6032012" cy="457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5000"/>
              </a:lnSpc>
              <a:spcBef>
                <a:spcPts val="600"/>
              </a:spcBef>
              <a:spcAft>
                <a:spcPct val="0"/>
              </a:spcAft>
              <a:buClr>
                <a:srgbClr val="A50021"/>
              </a:buClr>
              <a:buSzPct val="100000"/>
              <a:buFont typeface="+mj-lt"/>
              <a:buAutoNum type="arabicPeriod"/>
            </a:pPr>
            <a:r>
              <a:rPr lang="zh-CN" altLang="en-US" sz="2600" b="1" dirty="0">
                <a:solidFill>
                  <a:srgbClr val="000066"/>
                </a:solidFill>
                <a:ea typeface="幼圆" pitchFamily="49" charset="-122"/>
                <a:cs typeface="Times New Roman" panose="02020603050405020304" pitchFamily="18" charset="0"/>
              </a:rPr>
              <a:t>地基失稳的形式和过程</a:t>
            </a:r>
            <a:endParaRPr lang="en-US" altLang="zh-CN" sz="2600" b="1" dirty="0">
              <a:solidFill>
                <a:srgbClr val="000066"/>
              </a:solidFill>
              <a:ea typeface="幼圆" pitchFamily="49" charset="-122"/>
              <a:cs typeface="Times New Roman" panose="02020603050405020304" pitchFamily="18" charset="0"/>
            </a:endParaRPr>
          </a:p>
          <a:p>
            <a:pPr marL="444500" indent="-444500" eaLnBrk="1" hangingPunct="1">
              <a:lnSpc>
                <a:spcPct val="125000"/>
              </a:lnSpc>
              <a:spcBef>
                <a:spcPts val="600"/>
              </a:spcBef>
              <a:spcAft>
                <a:spcPct val="0"/>
              </a:spcAft>
              <a:buClr>
                <a:srgbClr val="A50021"/>
              </a:buClr>
              <a:buSzPct val="100000"/>
              <a:buFont typeface="+mj-lt"/>
              <a:buAutoNum type="arabicPeriod"/>
            </a:pPr>
            <a:r>
              <a:rPr lang="zh-CN" altLang="en-US" sz="2600" b="1" dirty="0">
                <a:solidFill>
                  <a:srgbClr val="000066"/>
                </a:solidFill>
                <a:ea typeface="幼圆" pitchFamily="49" charset="-122"/>
                <a:cs typeface="Times New Roman" panose="02020603050405020304" pitchFamily="18" charset="0"/>
              </a:rPr>
              <a:t>临塑荷载和临界荷载</a:t>
            </a:r>
            <a:r>
              <a:rPr lang="en-US" altLang="zh-CN" sz="2600" b="1" dirty="0">
                <a:solidFill>
                  <a:srgbClr val="000066"/>
                </a:solidFill>
                <a:ea typeface="幼圆" pitchFamily="49" charset="-122"/>
                <a:cs typeface="Times New Roman" panose="02020603050405020304" pitchFamily="18" charset="0"/>
              </a:rPr>
              <a:t>:</a:t>
            </a:r>
            <a:r>
              <a:rPr lang="zh-CN" altLang="en-US" sz="2800" b="1" dirty="0">
                <a:solidFill>
                  <a:srgbClr val="000066"/>
                </a:solidFill>
                <a:ea typeface="幼圆" panose="02010509060101010101" pitchFamily="49" charset="-122"/>
                <a:cs typeface="Times New Roman" panose="02020603050405020304" pitchFamily="18" charset="0"/>
              </a:rPr>
              <a:t>  </a:t>
            </a:r>
            <a:r>
              <a:rPr lang="en-US" altLang="zh-CN" sz="2800" b="1" i="1" dirty="0" err="1">
                <a:solidFill>
                  <a:srgbClr val="A50021"/>
                </a:solidFill>
                <a:ea typeface="幼圆" panose="02010509060101010101" pitchFamily="49" charset="-122"/>
                <a:cs typeface="Times New Roman" panose="02020603050405020304" pitchFamily="18" charset="0"/>
              </a:rPr>
              <a:t>p</a:t>
            </a:r>
            <a:r>
              <a:rPr lang="en-US" altLang="zh-CN" sz="2800" b="1" baseline="-25000" dirty="0" err="1">
                <a:solidFill>
                  <a:srgbClr val="A50021"/>
                </a:solidFill>
                <a:ea typeface="幼圆" panose="02010509060101010101" pitchFamily="49" charset="-122"/>
                <a:cs typeface="Times New Roman" panose="02020603050405020304" pitchFamily="18" charset="0"/>
              </a:rPr>
              <a:t>cr</a:t>
            </a:r>
            <a:r>
              <a:rPr lang="zh-CN" altLang="en-US" sz="2800" b="1" i="1" dirty="0">
                <a:solidFill>
                  <a:srgbClr val="A50021"/>
                </a:solidFill>
                <a:ea typeface="幼圆" panose="02010509060101010101" pitchFamily="49" charset="-122"/>
                <a:cs typeface="Times New Roman" panose="02020603050405020304" pitchFamily="18" charset="0"/>
              </a:rPr>
              <a:t> 、</a:t>
            </a:r>
            <a:r>
              <a:rPr lang="en-US" altLang="zh-CN" sz="2800" b="1" i="1" dirty="0">
                <a:solidFill>
                  <a:srgbClr val="A50021"/>
                </a:solidFill>
                <a:ea typeface="幼圆" panose="02010509060101010101" pitchFamily="49" charset="-122"/>
                <a:cs typeface="Times New Roman" panose="02020603050405020304" pitchFamily="18" charset="0"/>
              </a:rPr>
              <a:t>p</a:t>
            </a:r>
            <a:r>
              <a:rPr lang="en-US" altLang="zh-CN" sz="2800" b="1" baseline="-25000" dirty="0">
                <a:solidFill>
                  <a:srgbClr val="A50021"/>
                </a:solidFill>
                <a:ea typeface="幼圆" panose="02010509060101010101" pitchFamily="49" charset="-122"/>
                <a:cs typeface="Times New Roman" panose="02020603050405020304" pitchFamily="18" charset="0"/>
              </a:rPr>
              <a:t>1/4</a:t>
            </a:r>
            <a:r>
              <a:rPr lang="zh-CN" altLang="en-US" sz="2800" b="1" i="1" dirty="0">
                <a:solidFill>
                  <a:srgbClr val="A50021"/>
                </a:solidFill>
                <a:ea typeface="幼圆" panose="02010509060101010101" pitchFamily="49" charset="-122"/>
                <a:cs typeface="Times New Roman" panose="02020603050405020304" pitchFamily="18" charset="0"/>
              </a:rPr>
              <a:t>、</a:t>
            </a:r>
            <a:r>
              <a:rPr lang="en-US" altLang="zh-CN" sz="2800" b="1" i="1" dirty="0">
                <a:solidFill>
                  <a:srgbClr val="A50021"/>
                </a:solidFill>
                <a:ea typeface="幼圆" panose="02010509060101010101" pitchFamily="49" charset="-122"/>
                <a:cs typeface="Times New Roman" panose="02020603050405020304" pitchFamily="18" charset="0"/>
              </a:rPr>
              <a:t>p</a:t>
            </a:r>
            <a:r>
              <a:rPr lang="en-US" altLang="zh-CN" sz="2800" b="1" baseline="-25000" dirty="0">
                <a:solidFill>
                  <a:srgbClr val="A50021"/>
                </a:solidFill>
                <a:ea typeface="幼圆" panose="02010509060101010101" pitchFamily="49" charset="-122"/>
                <a:cs typeface="Times New Roman" panose="02020603050405020304" pitchFamily="18" charset="0"/>
              </a:rPr>
              <a:t>1/3</a:t>
            </a:r>
          </a:p>
          <a:p>
            <a:pPr marL="444500" indent="-444500" eaLnBrk="1" hangingPunct="1">
              <a:lnSpc>
                <a:spcPct val="125000"/>
              </a:lnSpc>
              <a:spcBef>
                <a:spcPts val="600"/>
              </a:spcBef>
              <a:spcAft>
                <a:spcPct val="0"/>
              </a:spcAft>
              <a:buClr>
                <a:srgbClr val="A50021"/>
              </a:buClr>
              <a:buSzPct val="100000"/>
              <a:buFont typeface="+mj-lt"/>
              <a:buAutoNum type="arabicPeriod"/>
            </a:pPr>
            <a:endParaRPr lang="en-US" altLang="zh-CN" sz="2600" b="1" dirty="0">
              <a:solidFill>
                <a:srgbClr val="000066"/>
              </a:solidFill>
              <a:ea typeface="幼圆" pitchFamily="49" charset="-122"/>
              <a:cs typeface="Times New Roman" panose="02020603050405020304" pitchFamily="18" charset="0"/>
            </a:endParaRPr>
          </a:p>
          <a:p>
            <a:pPr marL="444500" indent="-444500" eaLnBrk="1" hangingPunct="1">
              <a:lnSpc>
                <a:spcPct val="125000"/>
              </a:lnSpc>
              <a:spcBef>
                <a:spcPts val="600"/>
              </a:spcBef>
              <a:spcAft>
                <a:spcPct val="0"/>
              </a:spcAft>
              <a:buClr>
                <a:srgbClr val="A50021"/>
              </a:buClr>
              <a:buSzPct val="100000"/>
              <a:buFont typeface="+mj-lt"/>
              <a:buAutoNum type="arabicPeriod"/>
            </a:pPr>
            <a:endParaRPr lang="en-US" altLang="zh-CN" sz="2600" b="1" dirty="0">
              <a:solidFill>
                <a:srgbClr val="000066"/>
              </a:solidFill>
              <a:ea typeface="幼圆" pitchFamily="49" charset="-122"/>
              <a:cs typeface="Times New Roman" panose="02020603050405020304" pitchFamily="18" charset="0"/>
            </a:endParaRPr>
          </a:p>
          <a:p>
            <a:pPr marL="444500" indent="-444500" eaLnBrk="1" hangingPunct="1">
              <a:lnSpc>
                <a:spcPct val="125000"/>
              </a:lnSpc>
              <a:spcBef>
                <a:spcPts val="600"/>
              </a:spcBef>
              <a:spcAft>
                <a:spcPct val="0"/>
              </a:spcAft>
              <a:buClr>
                <a:srgbClr val="A50021"/>
              </a:buClr>
              <a:buSzPct val="100000"/>
              <a:buFont typeface="+mj-lt"/>
              <a:buAutoNum type="arabicPeriod"/>
            </a:pPr>
            <a:r>
              <a:rPr lang="zh-CN" altLang="en-US" sz="2600" b="1" dirty="0">
                <a:solidFill>
                  <a:srgbClr val="000066"/>
                </a:solidFill>
                <a:ea typeface="幼圆" pitchFamily="49" charset="-122"/>
                <a:cs typeface="Times New Roman" panose="02020603050405020304" pitchFamily="18" charset="0"/>
              </a:rPr>
              <a:t>极限荷载（极限承载力）</a:t>
            </a:r>
            <a:endParaRPr lang="en-US" altLang="zh-CN" sz="2600" b="1" dirty="0">
              <a:solidFill>
                <a:srgbClr val="000066"/>
              </a:solidFill>
              <a:ea typeface="幼圆" pitchFamily="49" charset="-122"/>
              <a:cs typeface="Times New Roman" panose="02020603050405020304" pitchFamily="18" charset="0"/>
            </a:endParaRPr>
          </a:p>
          <a:p>
            <a:pPr marL="444500" indent="-444500" eaLnBrk="1" hangingPunct="1">
              <a:lnSpc>
                <a:spcPct val="125000"/>
              </a:lnSpc>
              <a:spcBef>
                <a:spcPts val="600"/>
              </a:spcBef>
              <a:spcAft>
                <a:spcPct val="0"/>
              </a:spcAft>
              <a:buClr>
                <a:srgbClr val="A50021"/>
              </a:buClr>
              <a:buSzPct val="100000"/>
              <a:buFont typeface="+mj-lt"/>
              <a:buAutoNum type="arabicPeriod"/>
            </a:pPr>
            <a:endParaRPr lang="en-US" altLang="zh-CN" sz="2600" b="1" dirty="0">
              <a:solidFill>
                <a:srgbClr val="000066"/>
              </a:solidFill>
              <a:ea typeface="幼圆" pitchFamily="49" charset="-122"/>
              <a:cs typeface="Times New Roman" panose="02020603050405020304" pitchFamily="18" charset="0"/>
            </a:endParaRPr>
          </a:p>
          <a:p>
            <a:pPr marL="444500" indent="-444500" eaLnBrk="1" hangingPunct="1">
              <a:lnSpc>
                <a:spcPct val="125000"/>
              </a:lnSpc>
              <a:spcBef>
                <a:spcPts val="600"/>
              </a:spcBef>
              <a:spcAft>
                <a:spcPct val="0"/>
              </a:spcAft>
              <a:buClr>
                <a:srgbClr val="A50021"/>
              </a:buClr>
              <a:buSzPct val="100000"/>
              <a:buFont typeface="+mj-lt"/>
              <a:buAutoNum type="arabicPeriod"/>
            </a:pPr>
            <a:endParaRPr lang="en-US" altLang="zh-CN" sz="2600" b="1" dirty="0">
              <a:solidFill>
                <a:srgbClr val="000066"/>
              </a:solidFill>
              <a:ea typeface="幼圆" pitchFamily="49" charset="-122"/>
              <a:cs typeface="Times New Roman" panose="02020603050405020304" pitchFamily="18" charset="0"/>
            </a:endParaRPr>
          </a:p>
          <a:p>
            <a:pPr marL="444500" indent="-444500" eaLnBrk="1" hangingPunct="1">
              <a:lnSpc>
                <a:spcPct val="125000"/>
              </a:lnSpc>
              <a:spcBef>
                <a:spcPts val="600"/>
              </a:spcBef>
              <a:spcAft>
                <a:spcPct val="0"/>
              </a:spcAft>
              <a:buClr>
                <a:srgbClr val="A50021"/>
              </a:buClr>
              <a:buSzPct val="100000"/>
              <a:buFont typeface="+mj-lt"/>
              <a:buAutoNum type="arabicPeriod"/>
            </a:pPr>
            <a:r>
              <a:rPr lang="zh-CN" altLang="en-US" sz="2600" b="1" dirty="0">
                <a:solidFill>
                  <a:srgbClr val="000066"/>
                </a:solidFill>
                <a:ea typeface="幼圆" pitchFamily="49" charset="-122"/>
                <a:cs typeface="Times New Roman" panose="02020603050405020304" pitchFamily="18" charset="0"/>
              </a:rPr>
              <a:t>地基容许承载力的确定</a:t>
            </a:r>
            <a:endParaRPr lang="en-US" altLang="zh-CN" sz="2600" b="1" dirty="0">
              <a:solidFill>
                <a:srgbClr val="000066"/>
              </a:solidFill>
              <a:ea typeface="幼圆" pitchFamily="49" charset="-122"/>
              <a:cs typeface="Times New Roman" panose="02020603050405020304" pitchFamily="18" charset="0"/>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66</a:t>
            </a:fld>
            <a:endParaRPr lang="zh-CN" altLang="en-US" dirty="0">
              <a:solidFill>
                <a:srgbClr val="C00000"/>
              </a:solidFill>
            </a:endParaRPr>
          </a:p>
        </p:txBody>
      </p:sp>
      <p:sp>
        <p:nvSpPr>
          <p:cNvPr id="53" name="Text Box 7"/>
          <p:cNvSpPr txBox="1">
            <a:spLocks noChangeArrowheads="1"/>
          </p:cNvSpPr>
          <p:nvPr/>
        </p:nvSpPr>
        <p:spPr bwMode="auto">
          <a:xfrm>
            <a:off x="0" y="0"/>
            <a:ext cx="429459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zh-CN" altLang="en-US" sz="1800" b="1" kern="900" spc="130" dirty="0">
                <a:solidFill>
                  <a:srgbClr val="000066"/>
                </a:solidFill>
                <a:ea typeface="黑体" panose="02010609060101010101" pitchFamily="49" charset="-122"/>
                <a:cs typeface="Times New Roman" panose="02020603050405020304" pitchFamily="18" charset="0"/>
              </a:rPr>
              <a:t>第八章：地基承载力</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本章重点内容</a:t>
            </a:r>
          </a:p>
        </p:txBody>
      </p:sp>
      <p:sp>
        <p:nvSpPr>
          <p:cNvPr id="15" name="AutoShape 4"/>
          <p:cNvSpPr>
            <a:spLocks/>
          </p:cNvSpPr>
          <p:nvPr/>
        </p:nvSpPr>
        <p:spPr bwMode="auto">
          <a:xfrm>
            <a:off x="5200575" y="2495400"/>
            <a:ext cx="166953" cy="1802279"/>
          </a:xfrm>
          <a:prstGeom prst="leftBrace">
            <a:avLst>
              <a:gd name="adj1" fmla="val 77778"/>
              <a:gd name="adj2" fmla="val 46543"/>
            </a:avLst>
          </a:prstGeom>
          <a:noFill/>
          <a:ln w="2222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endParaRPr lang="zh-CN" altLang="en-US" sz="24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0" name="Rectangle 8"/>
          <p:cNvSpPr>
            <a:spLocks noChangeArrowheads="1"/>
          </p:cNvSpPr>
          <p:nvPr/>
        </p:nvSpPr>
        <p:spPr bwMode="auto">
          <a:xfrm>
            <a:off x="5397532" y="2287430"/>
            <a:ext cx="3459922" cy="222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79388" indent="-179388">
              <a:lnSpc>
                <a:spcPct val="110000"/>
              </a:lnSpc>
              <a:spcBef>
                <a:spcPts val="100"/>
              </a:spcBef>
              <a:spcAft>
                <a:spcPts val="100"/>
              </a:spcAft>
              <a:buClr>
                <a:srgbClr val="C00000"/>
              </a:buClr>
              <a:buFont typeface="Arial" panose="020B0604020202020204" pitchFamily="34" charset="0"/>
              <a:buChar char="•"/>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普朗德尔</a:t>
            </a:r>
            <a:r>
              <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瑞斯纳公式</a:t>
            </a:r>
            <a:endPar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79388" indent="-179388">
              <a:lnSpc>
                <a:spcPct val="110000"/>
              </a:lnSpc>
              <a:spcBef>
                <a:spcPts val="100"/>
              </a:spcBef>
              <a:spcAft>
                <a:spcPts val="100"/>
              </a:spcAft>
              <a:buClr>
                <a:srgbClr val="C00000"/>
              </a:buClr>
              <a:buFont typeface="Arial" panose="020B0604020202020204" pitchFamily="34" charset="0"/>
              <a:buChar char="•"/>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太沙基公式</a:t>
            </a:r>
          </a:p>
          <a:p>
            <a:pPr marL="179388" indent="-179388">
              <a:lnSpc>
                <a:spcPct val="110000"/>
              </a:lnSpc>
              <a:spcBef>
                <a:spcPts val="100"/>
              </a:spcBef>
              <a:spcAft>
                <a:spcPts val="100"/>
              </a:spcAft>
              <a:buClr>
                <a:srgbClr val="C00000"/>
              </a:buClr>
              <a:buFont typeface="Arial" panose="020B0604020202020204" pitchFamily="34" charset="0"/>
              <a:buChar char="•"/>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汉森公式</a:t>
            </a:r>
          </a:p>
          <a:p>
            <a:pPr marL="179388" indent="-179388">
              <a:lnSpc>
                <a:spcPct val="110000"/>
              </a:lnSpc>
              <a:spcBef>
                <a:spcPts val="100"/>
              </a:spcBef>
              <a:spcAft>
                <a:spcPts val="100"/>
              </a:spcAft>
              <a:buClr>
                <a:srgbClr val="C00000"/>
              </a:buClr>
              <a:buFont typeface="Arial" panose="020B0604020202020204" pitchFamily="34" charset="0"/>
              <a:buChar char="•"/>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汉梅耶霍夫公式</a:t>
            </a:r>
            <a:endPar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179388" indent="-179388">
              <a:lnSpc>
                <a:spcPct val="110000"/>
              </a:lnSpc>
              <a:spcBef>
                <a:spcPts val="100"/>
              </a:spcBef>
              <a:spcAft>
                <a:spcPts val="100"/>
              </a:spcAft>
              <a:buClr>
                <a:srgbClr val="C00000"/>
              </a:buClr>
              <a:buFont typeface="Arial" panose="020B0604020202020204" pitchFamily="34" charset="0"/>
              <a:buChar char="•"/>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极限承载力的影响因素</a:t>
            </a:r>
          </a:p>
        </p:txBody>
      </p:sp>
    </p:spTree>
    <p:extLst>
      <p:ext uri="{BB962C8B-B14F-4D97-AF65-F5344CB8AC3E}">
        <p14:creationId xmlns:p14="http://schemas.microsoft.com/office/powerpoint/2010/main" val="179050499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5" grpId="0" animBg="1"/>
      <p:bldP spid="20" grpId="0" autoUpdateAnimBg="0"/>
    </p:bldLst>
  </p:timing>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华文新魏"/>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
      <a:clrScheme name="吉祥如意 9">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0066"/>
        </a:hlink>
        <a:folHlink>
          <a:srgbClr val="B2B2B2"/>
        </a:folHlink>
      </a:clrScheme>
      <a:clrMap bg1="lt1" tx1="dk1" bg2="lt2" tx2="dk2" accent1="accent1" accent2="accent2" accent3="accent3" accent4="accent4" accent5="accent5" accent6="accent6" hlink="hlink" folHlink="folHlink"/>
    </a:extraClrScheme>
    <a:extraClrScheme>
      <a:clrScheme name="吉祥如意 10">
        <a:dk1>
          <a:srgbClr val="000000"/>
        </a:dk1>
        <a:lt1>
          <a:srgbClr val="FFFFFF"/>
        </a:lt1>
        <a:dk2>
          <a:srgbClr val="006666"/>
        </a:dk2>
        <a:lt2>
          <a:srgbClr val="5F5F5F"/>
        </a:lt2>
        <a:accent1>
          <a:srgbClr val="FFFF66"/>
        </a:accent1>
        <a:accent2>
          <a:srgbClr val="99CCCC"/>
        </a:accent2>
        <a:accent3>
          <a:srgbClr val="FFFFFF"/>
        </a:accent3>
        <a:accent4>
          <a:srgbClr val="000000"/>
        </a:accent4>
        <a:accent5>
          <a:srgbClr val="FFFFB8"/>
        </a:accent5>
        <a:accent6>
          <a:srgbClr val="8AB9B9"/>
        </a:accent6>
        <a:hlink>
          <a:srgbClr val="FF0000"/>
        </a:hlink>
        <a:folHlink>
          <a:srgbClr val="B2B2B2"/>
        </a:folHlink>
      </a:clrScheme>
      <a:clrMap bg1="lt1" tx1="dk1" bg2="lt2" tx2="dk2" accent1="accent1" accent2="accent2" accent3="accent3" accent4="accent4" accent5="accent5" accent6="accent6" hlink="hlink" folHlink="folHlink"/>
    </a:extraClrScheme>
    <a:extraClrScheme>
      <a:clrScheme name="吉祥如意 11">
        <a:dk1>
          <a:srgbClr val="000000"/>
        </a:dk1>
        <a:lt1>
          <a:srgbClr val="FFFFFF"/>
        </a:lt1>
        <a:dk2>
          <a:srgbClr val="006666"/>
        </a:dk2>
        <a:lt2>
          <a:srgbClr val="5F5F5F"/>
        </a:lt2>
        <a:accent1>
          <a:srgbClr val="FFFF66"/>
        </a:accent1>
        <a:accent2>
          <a:srgbClr val="FF9933"/>
        </a:accent2>
        <a:accent3>
          <a:srgbClr val="FFFFFF"/>
        </a:accent3>
        <a:accent4>
          <a:srgbClr val="000000"/>
        </a:accent4>
        <a:accent5>
          <a:srgbClr val="FFFFB8"/>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
      <a:clrScheme name="吉祥如意 12">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clipse">
  <a:themeElements>
    <a:clrScheme name="Eclipse 14">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fontScheme name="Eclipse">
      <a:majorFont>
        <a:latin typeface="Arial"/>
        <a:ea typeface="华文新魏"/>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rtlCol="0" anchor="t" anchorCtr="0" compatLnSpc="1">
        <a:prstTxWarp prst="textNoShape">
          <a:avLst/>
        </a:prstTxWarp>
        <a:no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sz="1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
      <a:clrScheme name="Eclipse 1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0066"/>
        </a:hlink>
        <a:folHlink>
          <a:srgbClr val="B2B2B2"/>
        </a:folHlink>
      </a:clrScheme>
      <a:clrMap bg1="lt1" tx1="dk1" bg2="lt2" tx2="dk2" accent1="accent1" accent2="accent2" accent3="accent3" accent4="accent4" accent5="accent5" accent6="accent6" hlink="hlink" folHlink="folHlink"/>
    </a:extraClrScheme>
    <a:extraClrScheme>
      <a:clrScheme name="Eclipse 12">
        <a:dk1>
          <a:srgbClr val="000000"/>
        </a:dk1>
        <a:lt1>
          <a:srgbClr val="FFFFFF"/>
        </a:lt1>
        <a:dk2>
          <a:srgbClr val="006666"/>
        </a:dk2>
        <a:lt2>
          <a:srgbClr val="5F5F5F"/>
        </a:lt2>
        <a:accent1>
          <a:srgbClr val="FFFF66"/>
        </a:accent1>
        <a:accent2>
          <a:srgbClr val="99CCCC"/>
        </a:accent2>
        <a:accent3>
          <a:srgbClr val="FFFFFF"/>
        </a:accent3>
        <a:accent4>
          <a:srgbClr val="000000"/>
        </a:accent4>
        <a:accent5>
          <a:srgbClr val="FFFFB8"/>
        </a:accent5>
        <a:accent6>
          <a:srgbClr val="8AB9B9"/>
        </a:accent6>
        <a:hlink>
          <a:srgbClr val="FF0000"/>
        </a:hlink>
        <a:folHlink>
          <a:srgbClr val="B2B2B2"/>
        </a:folHlink>
      </a:clrScheme>
      <a:clrMap bg1="lt1" tx1="dk1" bg2="lt2" tx2="dk2" accent1="accent1" accent2="accent2" accent3="accent3" accent4="accent4" accent5="accent5" accent6="accent6" hlink="hlink" folHlink="folHlink"/>
    </a:extraClrScheme>
    <a:extraClrScheme>
      <a:clrScheme name="Eclipse 13">
        <a:dk1>
          <a:srgbClr val="000000"/>
        </a:dk1>
        <a:lt1>
          <a:srgbClr val="FFFFFF"/>
        </a:lt1>
        <a:dk2>
          <a:srgbClr val="006666"/>
        </a:dk2>
        <a:lt2>
          <a:srgbClr val="5F5F5F"/>
        </a:lt2>
        <a:accent1>
          <a:srgbClr val="FFFF66"/>
        </a:accent1>
        <a:accent2>
          <a:srgbClr val="FF9933"/>
        </a:accent2>
        <a:accent3>
          <a:srgbClr val="FFFFFF"/>
        </a:accent3>
        <a:accent4>
          <a:srgbClr val="000000"/>
        </a:accent4>
        <a:accent5>
          <a:srgbClr val="FFFFB8"/>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
      <a:clrScheme name="Eclipse 14">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51768</TotalTime>
  <Words>6688</Words>
  <Application>Microsoft Office PowerPoint</Application>
  <PresentationFormat>全屏显示(4:3)</PresentationFormat>
  <Paragraphs>963</Paragraphs>
  <Slides>66</Slides>
  <Notes>66</Notes>
  <HiddenSlides>0</HiddenSlides>
  <MMClips>0</MMClips>
  <ScaleCrop>false</ScaleCrop>
  <HeadingPairs>
    <vt:vector size="8" baseType="variant">
      <vt:variant>
        <vt:lpstr>已用的字体</vt:lpstr>
      </vt:variant>
      <vt:variant>
        <vt:i4>14</vt:i4>
      </vt:variant>
      <vt:variant>
        <vt:lpstr>主题</vt:lpstr>
      </vt:variant>
      <vt:variant>
        <vt:i4>3</vt:i4>
      </vt:variant>
      <vt:variant>
        <vt:lpstr>嵌入 OLE 服务器</vt:lpstr>
      </vt:variant>
      <vt:variant>
        <vt:i4>5</vt:i4>
      </vt:variant>
      <vt:variant>
        <vt:lpstr>幻灯片标题</vt:lpstr>
      </vt:variant>
      <vt:variant>
        <vt:i4>66</vt:i4>
      </vt:variant>
    </vt:vector>
  </HeadingPairs>
  <TitlesOfParts>
    <vt:vector size="88" baseType="lpstr">
      <vt:lpstr>黑体</vt:lpstr>
      <vt:lpstr>华文新魏</vt:lpstr>
      <vt:lpstr>楷体_GB2312</vt:lpstr>
      <vt:lpstr>宋体</vt:lpstr>
      <vt:lpstr>宋体</vt:lpstr>
      <vt:lpstr>微软雅黑</vt:lpstr>
      <vt:lpstr>幼圆</vt:lpstr>
      <vt:lpstr>Arial</vt:lpstr>
      <vt:lpstr>Calibri</vt:lpstr>
      <vt:lpstr>Symbol</vt:lpstr>
      <vt:lpstr>Times New Roman</vt:lpstr>
      <vt:lpstr>Verdana</vt:lpstr>
      <vt:lpstr>Wingdings</vt:lpstr>
      <vt:lpstr>Wingdings 2</vt:lpstr>
      <vt:lpstr>吉祥如意</vt:lpstr>
      <vt:lpstr>Eclipse</vt:lpstr>
      <vt:lpstr>1_自定义设计方案</vt:lpstr>
      <vt:lpstr>位图图像</vt:lpstr>
      <vt:lpstr>Equation</vt:lpstr>
      <vt:lpstr>MathType 6.0 Equation</vt:lpstr>
      <vt:lpstr>Microsoft 公式 3.0</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zhang0</dc:creator>
  <cp:lastModifiedBy>Administrator</cp:lastModifiedBy>
  <cp:revision>4063</cp:revision>
  <cp:lastPrinted>2018-12-21T04:43:36Z</cp:lastPrinted>
  <dcterms:created xsi:type="dcterms:W3CDTF">1601-01-01T00:00:00Z</dcterms:created>
  <dcterms:modified xsi:type="dcterms:W3CDTF">2020-12-13T09:06:08Z</dcterms:modified>
</cp:coreProperties>
</file>