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</p:sldMasterIdLst>
  <p:notesMasterIdLst>
    <p:notesMasterId r:id="rId21"/>
  </p:notesMasterIdLst>
  <p:handoutMasterIdLst>
    <p:handoutMasterId r:id="rId22"/>
  </p:handoutMasterIdLst>
  <p:sldIdLst>
    <p:sldId id="256" r:id="rId3"/>
    <p:sldId id="766" r:id="rId4"/>
    <p:sldId id="806" r:id="rId5"/>
    <p:sldId id="1039" r:id="rId6"/>
    <p:sldId id="1040" r:id="rId7"/>
    <p:sldId id="1041" r:id="rId8"/>
    <p:sldId id="1042" r:id="rId9"/>
    <p:sldId id="1043" r:id="rId10"/>
    <p:sldId id="1070" r:id="rId11"/>
    <p:sldId id="1071" r:id="rId12"/>
    <p:sldId id="1073" r:id="rId13"/>
    <p:sldId id="1074" r:id="rId14"/>
    <p:sldId id="1075" r:id="rId15"/>
    <p:sldId id="1046" r:id="rId16"/>
    <p:sldId id="1047" r:id="rId17"/>
    <p:sldId id="1048" r:id="rId18"/>
    <p:sldId id="1049" r:id="rId19"/>
    <p:sldId id="1050" r:id="rId20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35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A50021"/>
    <a:srgbClr val="0066FF"/>
    <a:srgbClr val="FF9933"/>
    <a:srgbClr val="99CCFF"/>
    <a:srgbClr val="66CCFF"/>
    <a:srgbClr val="FFFFCC"/>
    <a:srgbClr val="FF0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04" autoAdjust="0"/>
    <p:restoredTop sz="97138" autoAdjust="0"/>
  </p:normalViewPr>
  <p:slideViewPr>
    <p:cSldViewPr snapToGrid="0" showGuides="1">
      <p:cViewPr varScale="1">
        <p:scale>
          <a:sx n="112" d="100"/>
          <a:sy n="112" d="100"/>
        </p:scale>
        <p:origin x="2022" y="84"/>
      </p:cViewPr>
      <p:guideLst>
        <p:guide orient="horz" pos="1230"/>
        <p:guide pos="35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3"/>
    </p:cViewPr>
  </p:sorterViewPr>
  <p:notesViewPr>
    <p:cSldViewPr snapToGrid="0" showGuides="1">
      <p:cViewPr>
        <p:scale>
          <a:sx n="75" d="100"/>
          <a:sy n="75" d="100"/>
        </p:scale>
        <p:origin x="-1027" y="264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339075F8-9FF0-4A6B-9E58-ABCA6ADD10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15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E94BE428-8424-49AF-A984-F0E6574F9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B34445-AC5B-4A45-92D7-7EB668A5D382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43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372692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72675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1125163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199108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19340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7565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36846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1705459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8553134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50387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23204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00952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56754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7351839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990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66435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02199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20991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8210542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2478664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83718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91282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26419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68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82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96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10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2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94193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7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image" Target="../media/image7.tmp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18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3" Type="http://schemas.openxmlformats.org/officeDocument/2006/relationships/tags" Target="../tags/tag33.xml"/><Relationship Id="rId21" Type="http://schemas.openxmlformats.org/officeDocument/2006/relationships/image" Target="../media/image7.tmp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3" Type="http://schemas.openxmlformats.org/officeDocument/2006/relationships/tags" Target="../tags/tag52.xml"/><Relationship Id="rId21" Type="http://schemas.openxmlformats.org/officeDocument/2006/relationships/image" Target="../media/image7.tmp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21" Type="http://schemas.openxmlformats.org/officeDocument/2006/relationships/image" Target="../media/image7.tmp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slideLayout" Target="../slideLayouts/slideLayout18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1193800" y="1811338"/>
            <a:ext cx="694531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第一</a:t>
            </a:r>
            <a:r>
              <a:rPr kumimoji="0"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二章习题</a:t>
            </a: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讨论</a:t>
            </a:r>
            <a:endParaRPr kumimoji="0"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2519464" y="822480"/>
            <a:ext cx="35410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之习题课</a:t>
            </a:r>
            <a:r>
              <a:rPr kumimoji="1" lang="en-US" altLang="zh-CN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"/>
          <p:cNvSpPr txBox="1">
            <a:spLocks/>
          </p:cNvSpPr>
          <p:nvPr/>
        </p:nvSpPr>
        <p:spPr>
          <a:xfrm>
            <a:off x="6273518" y="578335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376363" y="631825"/>
            <a:ext cx="64373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第一、二章：习题</a:t>
            </a:r>
            <a:r>
              <a:rPr kumimoji="0" lang="zh-CN" altLang="en-US" sz="36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讨论</a:t>
            </a:r>
            <a:endParaRPr kumimoji="0" lang="en-US" altLang="zh-CN" sz="36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085774" y="1977175"/>
            <a:ext cx="4336667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主要内容：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作业“云”云讲解</a:t>
            </a:r>
            <a:endParaRPr kumimoji="1" lang="zh-CN" altLang="en-US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方法讨论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概念及难点</a:t>
            </a:r>
            <a:endParaRPr kumimoji="1" lang="en-US" altLang="zh-CN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492674" y="3290603"/>
            <a:ext cx="3016250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三相草图法</a:t>
            </a:r>
          </a:p>
          <a:p>
            <a:pPr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水头分布</a:t>
            </a: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计算方法</a:t>
            </a:r>
            <a:endParaRPr lang="en-US" altLang="zh-CN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buFontTx/>
              <a:buChar char="•"/>
            </a:pP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流土发生位置</a:t>
            </a:r>
            <a:endParaRPr lang="en-US" altLang="zh-CN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流网</a:t>
            </a: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法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096878" y="4079629"/>
            <a:ext cx="1325563" cy="0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三相草图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法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4" name="Text Box 116"/>
          <p:cNvSpPr txBox="1">
            <a:spLocks noChangeArrowheads="1"/>
          </p:cNvSpPr>
          <p:nvPr/>
        </p:nvSpPr>
        <p:spPr bwMode="auto">
          <a:xfrm>
            <a:off x="3646488" y="5865813"/>
            <a:ext cx="3435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三 相 草 图</a:t>
            </a:r>
            <a:endParaRPr lang="zh-CN" altLang="en-US" sz="4000" b="1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65" name="Group 117"/>
          <p:cNvGrpSpPr>
            <a:grpSpLocks/>
          </p:cNvGrpSpPr>
          <p:nvPr/>
        </p:nvGrpSpPr>
        <p:grpSpPr bwMode="auto">
          <a:xfrm>
            <a:off x="241300" y="773113"/>
            <a:ext cx="2265363" cy="2786062"/>
            <a:chOff x="152" y="487"/>
            <a:chExt cx="1427" cy="1755"/>
          </a:xfrm>
        </p:grpSpPr>
        <p:sp>
          <p:nvSpPr>
            <p:cNvPr id="66" name="Rectangle 118"/>
            <p:cNvSpPr>
              <a:spLocks noChangeArrowheads="1"/>
            </p:cNvSpPr>
            <p:nvPr/>
          </p:nvSpPr>
          <p:spPr bwMode="auto">
            <a:xfrm>
              <a:off x="154" y="487"/>
              <a:ext cx="1401" cy="1689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AutoShape 119"/>
            <p:cNvSpPr>
              <a:spLocks noChangeArrowheads="1"/>
            </p:cNvSpPr>
            <p:nvPr/>
          </p:nvSpPr>
          <p:spPr bwMode="auto">
            <a:xfrm>
              <a:off x="152" y="503"/>
              <a:ext cx="1427" cy="1739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6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九个物理量</a:t>
              </a:r>
              <a:r>
                <a:rPr kumimoji="1" lang="en-US" altLang="zh-CN" sz="24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:</a:t>
              </a:r>
              <a:r>
                <a:rPr kumimoji="1"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   </a:t>
              </a:r>
              <a:endParaRPr kumimoji="1" lang="en-US" altLang="zh-CN" sz="2000" b="1" u="sng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V  V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ea typeface="幼圆" pitchFamily="49" charset="-122"/>
                </a:rPr>
                <a:t>v 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V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ea typeface="幼圆" pitchFamily="49" charset="-122"/>
                </a:rPr>
                <a:t>s 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V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ea typeface="幼圆" pitchFamily="49" charset="-122"/>
                </a:rPr>
                <a:t>a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 V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cs typeface="Times New Roman" pitchFamily="18" charset="0"/>
                </a:rPr>
                <a:t>w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</a:t>
              </a:r>
            </a:p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m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ea typeface="幼圆" pitchFamily="49" charset="-122"/>
                </a:rPr>
                <a:t>s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m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ea typeface="幼圆" pitchFamily="49" charset="-122"/>
                </a:rPr>
                <a:t> w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m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ea typeface="幼圆" pitchFamily="49" charset="-122"/>
                </a:rPr>
                <a:t>a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  m</a:t>
              </a:r>
            </a:p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None/>
              </a:pPr>
              <a:endParaRPr kumimoji="1"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物性指标是比例关系</a:t>
              </a:r>
              <a:r>
                <a:rPr kumimoji="1" lang="en-US" altLang="zh-CN" sz="2200" b="1">
                  <a:solidFill>
                    <a:srgbClr val="000066"/>
                  </a:solidFill>
                  <a:ea typeface="幼圆" pitchFamily="49" charset="-122"/>
                </a:rPr>
                <a:t>: </a:t>
              </a:r>
              <a:r>
                <a:rPr kumimoji="1"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可假设任一参数为</a:t>
              </a:r>
              <a:r>
                <a:rPr kumimoji="1" lang="en-US" altLang="zh-CN" sz="2200" b="1">
                  <a:solidFill>
                    <a:srgbClr val="000066"/>
                  </a:solidFill>
                  <a:ea typeface="幼圆" pitchFamily="49" charset="-122"/>
                </a:rPr>
                <a:t>1</a:t>
              </a:r>
            </a:p>
          </p:txBody>
        </p:sp>
      </p:grpSp>
      <p:grpSp>
        <p:nvGrpSpPr>
          <p:cNvPr id="68" name="Group 120"/>
          <p:cNvGrpSpPr>
            <a:grpSpLocks/>
          </p:cNvGrpSpPr>
          <p:nvPr/>
        </p:nvGrpSpPr>
        <p:grpSpPr bwMode="auto">
          <a:xfrm>
            <a:off x="2705100" y="703263"/>
            <a:ext cx="2254250" cy="2746375"/>
            <a:chOff x="154" y="1543"/>
            <a:chExt cx="1420" cy="1635"/>
          </a:xfrm>
        </p:grpSpPr>
        <p:graphicFrame>
          <p:nvGraphicFramePr>
            <p:cNvPr id="69" name="Object 121"/>
            <p:cNvGraphicFramePr>
              <a:graphicFrameLocks noChangeAspect="1"/>
            </p:cNvGraphicFramePr>
            <p:nvPr/>
          </p:nvGraphicFramePr>
          <p:xfrm>
            <a:off x="328" y="2649"/>
            <a:ext cx="1010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4396" name="公式" r:id="rId3" imgW="1015920" imgH="393480" progId="Equation.3">
                    <p:embed/>
                  </p:oleObj>
                </mc:Choice>
                <mc:Fallback>
                  <p:oleObj name="公式" r:id="rId3" imgW="10159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" y="2649"/>
                          <a:ext cx="1010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122"/>
            <p:cNvGraphicFramePr>
              <a:graphicFrameLocks noChangeAspect="1"/>
            </p:cNvGraphicFramePr>
            <p:nvPr/>
          </p:nvGraphicFramePr>
          <p:xfrm>
            <a:off x="331" y="1943"/>
            <a:ext cx="1119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4397" name="公式" r:id="rId5" imgW="1104840" imgH="583920" progId="Equation.3">
                    <p:embed/>
                  </p:oleObj>
                </mc:Choice>
                <mc:Fallback>
                  <p:oleObj name="公式" r:id="rId5" imgW="1104840" imgH="5839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" y="1943"/>
                          <a:ext cx="1119" cy="5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Rectangle 123"/>
            <p:cNvSpPr>
              <a:spLocks noChangeArrowheads="1"/>
            </p:cNvSpPr>
            <p:nvPr/>
          </p:nvSpPr>
          <p:spPr bwMode="auto">
            <a:xfrm>
              <a:off x="191" y="1543"/>
              <a:ext cx="1315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物理量关系</a:t>
              </a:r>
              <a:r>
                <a:rPr kumimoji="1" lang="en-US" altLang="zh-CN" sz="24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:</a:t>
              </a:r>
              <a:endParaRPr kumimoji="1" lang="zh-CN" altLang="en-US" sz="2400" b="1">
                <a:solidFill>
                  <a:srgbClr val="000066"/>
                </a:solidFill>
                <a:latin typeface="Arial" charset="0"/>
                <a:ea typeface="幼圆" pitchFamily="49" charset="-122"/>
              </a:endParaRPr>
            </a:p>
          </p:txBody>
        </p:sp>
        <p:sp>
          <p:nvSpPr>
            <p:cNvPr id="72" name="Rectangle 124"/>
            <p:cNvSpPr>
              <a:spLocks noChangeArrowheads="1"/>
            </p:cNvSpPr>
            <p:nvPr/>
          </p:nvSpPr>
          <p:spPr bwMode="auto">
            <a:xfrm>
              <a:off x="154" y="1584"/>
              <a:ext cx="1420" cy="1594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" name="Group 125"/>
          <p:cNvGrpSpPr>
            <a:grpSpLocks/>
          </p:cNvGrpSpPr>
          <p:nvPr/>
        </p:nvGrpSpPr>
        <p:grpSpPr bwMode="auto">
          <a:xfrm>
            <a:off x="5137150" y="728663"/>
            <a:ext cx="4021138" cy="3206750"/>
            <a:chOff x="311" y="489"/>
            <a:chExt cx="2533" cy="2020"/>
          </a:xfrm>
        </p:grpSpPr>
        <p:sp>
          <p:nvSpPr>
            <p:cNvPr id="74" name="Rectangle 126"/>
            <p:cNvSpPr>
              <a:spLocks noChangeArrowheads="1"/>
            </p:cNvSpPr>
            <p:nvPr/>
          </p:nvSpPr>
          <p:spPr bwMode="auto">
            <a:xfrm>
              <a:off x="328" y="489"/>
              <a:ext cx="2498" cy="20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Rectangle 127"/>
            <p:cNvSpPr>
              <a:spLocks noChangeArrowheads="1"/>
            </p:cNvSpPr>
            <p:nvPr/>
          </p:nvSpPr>
          <p:spPr bwMode="auto">
            <a:xfrm>
              <a:off x="1057" y="602"/>
              <a:ext cx="998" cy="1584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Rectangle 128"/>
            <p:cNvSpPr>
              <a:spLocks noChangeArrowheads="1"/>
            </p:cNvSpPr>
            <p:nvPr/>
          </p:nvSpPr>
          <p:spPr bwMode="auto">
            <a:xfrm>
              <a:off x="1063" y="606"/>
              <a:ext cx="984" cy="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Text Box 129"/>
            <p:cNvSpPr txBox="1">
              <a:spLocks noChangeArrowheads="1"/>
            </p:cNvSpPr>
            <p:nvPr/>
          </p:nvSpPr>
          <p:spPr bwMode="auto">
            <a:xfrm>
              <a:off x="1377" y="673"/>
              <a:ext cx="424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2100" b="1">
                  <a:solidFill>
                    <a:srgbClr val="000066"/>
                  </a:solidFill>
                  <a:latin typeface="Comic Sans MS" pitchFamily="66" charset="0"/>
                  <a:ea typeface="幼圆" pitchFamily="49" charset="-122"/>
                </a:rPr>
                <a:t>空气</a:t>
              </a:r>
            </a:p>
          </p:txBody>
        </p:sp>
        <p:sp>
          <p:nvSpPr>
            <p:cNvPr id="78" name="Rectangle 130"/>
            <p:cNvSpPr>
              <a:spLocks noChangeArrowheads="1"/>
            </p:cNvSpPr>
            <p:nvPr/>
          </p:nvSpPr>
          <p:spPr bwMode="auto">
            <a:xfrm>
              <a:off x="1062" y="1016"/>
              <a:ext cx="987" cy="571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Text Box 131"/>
            <p:cNvSpPr txBox="1">
              <a:spLocks noChangeArrowheads="1"/>
            </p:cNvSpPr>
            <p:nvPr/>
          </p:nvSpPr>
          <p:spPr bwMode="auto">
            <a:xfrm>
              <a:off x="1448" y="1168"/>
              <a:ext cx="255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2100" b="1">
                  <a:solidFill>
                    <a:srgbClr val="000066"/>
                  </a:solidFill>
                  <a:latin typeface="Comic Sans MS" pitchFamily="66" charset="0"/>
                  <a:ea typeface="幼圆" pitchFamily="49" charset="-122"/>
                </a:rPr>
                <a:t>水</a:t>
              </a:r>
            </a:p>
          </p:txBody>
        </p:sp>
        <p:sp>
          <p:nvSpPr>
            <p:cNvPr id="80" name="Rectangle 132" descr="软木塞"/>
            <p:cNvSpPr>
              <a:spLocks noChangeArrowheads="1"/>
            </p:cNvSpPr>
            <p:nvPr/>
          </p:nvSpPr>
          <p:spPr bwMode="auto">
            <a:xfrm>
              <a:off x="1063" y="1588"/>
              <a:ext cx="986" cy="591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Text Box 133"/>
            <p:cNvSpPr txBox="1">
              <a:spLocks noChangeArrowheads="1"/>
            </p:cNvSpPr>
            <p:nvPr/>
          </p:nvSpPr>
          <p:spPr bwMode="auto">
            <a:xfrm>
              <a:off x="1372" y="1764"/>
              <a:ext cx="424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2100" b="1">
                  <a:solidFill>
                    <a:srgbClr val="000066"/>
                  </a:solidFill>
                  <a:latin typeface="Comic Sans MS" pitchFamily="66" charset="0"/>
                  <a:ea typeface="幼圆" pitchFamily="49" charset="-122"/>
                </a:rPr>
                <a:t>固体</a:t>
              </a:r>
            </a:p>
          </p:txBody>
        </p:sp>
        <p:sp>
          <p:nvSpPr>
            <p:cNvPr id="82" name="Text Box 134"/>
            <p:cNvSpPr txBox="1">
              <a:spLocks noChangeArrowheads="1"/>
            </p:cNvSpPr>
            <p:nvPr/>
          </p:nvSpPr>
          <p:spPr bwMode="auto">
            <a:xfrm>
              <a:off x="527" y="683"/>
              <a:ext cx="442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000" b="1">
                  <a:solidFill>
                    <a:srgbClr val="000066"/>
                  </a:solidFill>
                </a:rPr>
                <a:t>m</a:t>
              </a:r>
              <a:r>
                <a:rPr lang="en-US" altLang="zh-CN" sz="2000" b="1" baseline="-25000">
                  <a:solidFill>
                    <a:srgbClr val="000066"/>
                  </a:solidFill>
                </a:rPr>
                <a:t>a</a:t>
              </a:r>
              <a:r>
                <a:rPr lang="en-US" altLang="zh-CN" sz="2000" b="1">
                  <a:solidFill>
                    <a:srgbClr val="000066"/>
                  </a:solidFill>
                  <a:cs typeface="Times New Roman" pitchFamily="18" charset="0"/>
                </a:rPr>
                <a:t>=0</a:t>
              </a:r>
              <a:endParaRPr lang="en-US" altLang="zh-CN" sz="2000" b="1">
                <a:solidFill>
                  <a:srgbClr val="000066"/>
                </a:solidFill>
              </a:endParaRPr>
            </a:p>
          </p:txBody>
        </p:sp>
        <p:sp>
          <p:nvSpPr>
            <p:cNvPr id="83" name="Text Box 135"/>
            <p:cNvSpPr txBox="1">
              <a:spLocks noChangeArrowheads="1"/>
            </p:cNvSpPr>
            <p:nvPr/>
          </p:nvSpPr>
          <p:spPr bwMode="auto">
            <a:xfrm>
              <a:off x="589" y="1076"/>
              <a:ext cx="307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m</a:t>
              </a:r>
              <a:r>
                <a:rPr lang="en-US" altLang="zh-CN" sz="2100" b="1" baseline="-25000">
                  <a:solidFill>
                    <a:srgbClr val="000066"/>
                  </a:solidFill>
                </a:rPr>
                <a:t>w</a:t>
              </a:r>
              <a:endParaRPr lang="en-US" altLang="zh-CN" sz="2100" b="1">
                <a:solidFill>
                  <a:srgbClr val="000066"/>
                </a:solidFill>
              </a:endParaRPr>
            </a:p>
          </p:txBody>
        </p:sp>
        <p:sp>
          <p:nvSpPr>
            <p:cNvPr id="84" name="Text Box 136"/>
            <p:cNvSpPr txBox="1">
              <a:spLocks noChangeArrowheads="1"/>
            </p:cNvSpPr>
            <p:nvPr/>
          </p:nvSpPr>
          <p:spPr bwMode="auto">
            <a:xfrm>
              <a:off x="589" y="1688"/>
              <a:ext cx="270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m</a:t>
              </a:r>
              <a:r>
                <a:rPr lang="en-US" altLang="zh-CN" sz="2100" b="1" baseline="-25000">
                  <a:solidFill>
                    <a:srgbClr val="000066"/>
                  </a:solidFill>
                </a:rPr>
                <a:t>s</a:t>
              </a:r>
              <a:endParaRPr lang="en-US" altLang="zh-CN" sz="2100" b="1">
                <a:solidFill>
                  <a:srgbClr val="000066"/>
                </a:solidFill>
              </a:endParaRPr>
            </a:p>
          </p:txBody>
        </p:sp>
        <p:sp>
          <p:nvSpPr>
            <p:cNvPr id="85" name="Text Box 137"/>
            <p:cNvSpPr txBox="1">
              <a:spLocks noChangeArrowheads="1"/>
            </p:cNvSpPr>
            <p:nvPr/>
          </p:nvSpPr>
          <p:spPr bwMode="auto">
            <a:xfrm>
              <a:off x="311" y="1148"/>
              <a:ext cx="226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m</a:t>
              </a:r>
            </a:p>
          </p:txBody>
        </p:sp>
        <p:sp>
          <p:nvSpPr>
            <p:cNvPr id="86" name="Line 138"/>
            <p:cNvSpPr>
              <a:spLocks noChangeShapeType="1"/>
            </p:cNvSpPr>
            <p:nvPr/>
          </p:nvSpPr>
          <p:spPr bwMode="auto">
            <a:xfrm flipH="1">
              <a:off x="945" y="599"/>
              <a:ext cx="0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" name="Line 139"/>
            <p:cNvSpPr>
              <a:spLocks noChangeShapeType="1"/>
            </p:cNvSpPr>
            <p:nvPr/>
          </p:nvSpPr>
          <p:spPr bwMode="auto">
            <a:xfrm flipH="1">
              <a:off x="949" y="1012"/>
              <a:ext cx="0" cy="5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8" name="Line 140"/>
            <p:cNvSpPr>
              <a:spLocks noChangeShapeType="1"/>
            </p:cNvSpPr>
            <p:nvPr/>
          </p:nvSpPr>
          <p:spPr bwMode="auto">
            <a:xfrm flipH="1">
              <a:off x="945" y="1588"/>
              <a:ext cx="0" cy="5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9" name="Line 141"/>
            <p:cNvSpPr>
              <a:spLocks noChangeShapeType="1"/>
            </p:cNvSpPr>
            <p:nvPr/>
          </p:nvSpPr>
          <p:spPr bwMode="auto">
            <a:xfrm flipH="1">
              <a:off x="523" y="599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0" name="Line 142"/>
            <p:cNvSpPr>
              <a:spLocks noChangeShapeType="1"/>
            </p:cNvSpPr>
            <p:nvPr/>
          </p:nvSpPr>
          <p:spPr bwMode="auto">
            <a:xfrm flipH="1">
              <a:off x="454" y="599"/>
              <a:ext cx="5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43"/>
            <p:cNvSpPr>
              <a:spLocks noChangeShapeType="1"/>
            </p:cNvSpPr>
            <p:nvPr/>
          </p:nvSpPr>
          <p:spPr bwMode="auto">
            <a:xfrm flipH="1">
              <a:off x="855" y="1013"/>
              <a:ext cx="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44"/>
            <p:cNvSpPr>
              <a:spLocks noChangeShapeType="1"/>
            </p:cNvSpPr>
            <p:nvPr/>
          </p:nvSpPr>
          <p:spPr bwMode="auto">
            <a:xfrm flipH="1">
              <a:off x="851" y="1595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145"/>
            <p:cNvSpPr>
              <a:spLocks noChangeShapeType="1"/>
            </p:cNvSpPr>
            <p:nvPr/>
          </p:nvSpPr>
          <p:spPr bwMode="auto">
            <a:xfrm flipH="1">
              <a:off x="468" y="2177"/>
              <a:ext cx="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 Box 146"/>
            <p:cNvSpPr txBox="1">
              <a:spLocks noChangeArrowheads="1"/>
            </p:cNvSpPr>
            <p:nvPr/>
          </p:nvSpPr>
          <p:spPr bwMode="auto">
            <a:xfrm>
              <a:off x="521" y="2275"/>
              <a:ext cx="37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质量</a:t>
              </a:r>
            </a:p>
          </p:txBody>
        </p:sp>
        <p:sp>
          <p:nvSpPr>
            <p:cNvPr id="95" name="Text Box 147"/>
            <p:cNvSpPr txBox="1">
              <a:spLocks noChangeArrowheads="1"/>
            </p:cNvSpPr>
            <p:nvPr/>
          </p:nvSpPr>
          <p:spPr bwMode="auto">
            <a:xfrm>
              <a:off x="2163" y="638"/>
              <a:ext cx="263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V</a:t>
              </a:r>
              <a:r>
                <a:rPr lang="en-US" altLang="zh-CN" sz="2100" b="1" baseline="-25000">
                  <a:solidFill>
                    <a:srgbClr val="000066"/>
                  </a:solidFill>
                </a:rPr>
                <a:t>a</a:t>
              </a:r>
              <a:endParaRPr lang="en-US" altLang="zh-CN" sz="2100" b="1">
                <a:solidFill>
                  <a:srgbClr val="000066"/>
                </a:solidFill>
              </a:endParaRPr>
            </a:p>
          </p:txBody>
        </p:sp>
        <p:sp>
          <p:nvSpPr>
            <p:cNvPr id="96" name="Text Box 148"/>
            <p:cNvSpPr txBox="1">
              <a:spLocks noChangeArrowheads="1"/>
            </p:cNvSpPr>
            <p:nvPr/>
          </p:nvSpPr>
          <p:spPr bwMode="auto">
            <a:xfrm>
              <a:off x="2163" y="1112"/>
              <a:ext cx="288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V</a:t>
              </a:r>
              <a:r>
                <a:rPr lang="en-US" altLang="zh-CN" sz="2100" b="1" baseline="-25000">
                  <a:solidFill>
                    <a:srgbClr val="000066"/>
                  </a:solidFill>
                </a:rPr>
                <a:t>w</a:t>
              </a:r>
              <a:endParaRPr lang="en-US" altLang="zh-CN" sz="2100" b="1">
                <a:solidFill>
                  <a:srgbClr val="000066"/>
                </a:solidFill>
              </a:endParaRPr>
            </a:p>
          </p:txBody>
        </p:sp>
        <p:sp>
          <p:nvSpPr>
            <p:cNvPr id="97" name="Text Box 149"/>
            <p:cNvSpPr txBox="1">
              <a:spLocks noChangeArrowheads="1"/>
            </p:cNvSpPr>
            <p:nvPr/>
          </p:nvSpPr>
          <p:spPr bwMode="auto">
            <a:xfrm>
              <a:off x="2162" y="1767"/>
              <a:ext cx="251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V</a:t>
              </a:r>
              <a:r>
                <a:rPr lang="en-US" altLang="zh-CN" sz="2100" b="1" baseline="-25000">
                  <a:solidFill>
                    <a:srgbClr val="000066"/>
                  </a:solidFill>
                </a:rPr>
                <a:t>s</a:t>
              </a:r>
              <a:endParaRPr lang="en-US" altLang="zh-CN" sz="2100" b="1">
                <a:solidFill>
                  <a:srgbClr val="000066"/>
                </a:solidFill>
              </a:endParaRPr>
            </a:p>
          </p:txBody>
        </p:sp>
        <p:sp>
          <p:nvSpPr>
            <p:cNvPr id="98" name="Text Box 150"/>
            <p:cNvSpPr txBox="1">
              <a:spLocks noChangeArrowheads="1"/>
            </p:cNvSpPr>
            <p:nvPr/>
          </p:nvSpPr>
          <p:spPr bwMode="auto">
            <a:xfrm>
              <a:off x="2402" y="890"/>
              <a:ext cx="263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V</a:t>
              </a:r>
              <a:r>
                <a:rPr lang="en-US" altLang="zh-CN" sz="2100" b="1" baseline="-25000">
                  <a:solidFill>
                    <a:srgbClr val="000066"/>
                  </a:solidFill>
                </a:rPr>
                <a:t>v</a:t>
              </a:r>
              <a:endParaRPr lang="en-US" altLang="zh-CN" sz="2100" b="1">
                <a:solidFill>
                  <a:srgbClr val="000066"/>
                </a:solidFill>
              </a:endParaRPr>
            </a:p>
          </p:txBody>
        </p:sp>
        <p:sp>
          <p:nvSpPr>
            <p:cNvPr id="99" name="Text Box 151"/>
            <p:cNvSpPr txBox="1">
              <a:spLocks noChangeArrowheads="1"/>
            </p:cNvSpPr>
            <p:nvPr/>
          </p:nvSpPr>
          <p:spPr bwMode="auto">
            <a:xfrm>
              <a:off x="2637" y="1148"/>
              <a:ext cx="207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100" b="1">
                  <a:solidFill>
                    <a:srgbClr val="000066"/>
                  </a:solidFill>
                </a:rPr>
                <a:t>V</a:t>
              </a:r>
            </a:p>
          </p:txBody>
        </p:sp>
        <p:sp>
          <p:nvSpPr>
            <p:cNvPr id="100" name="Line 152"/>
            <p:cNvSpPr>
              <a:spLocks noChangeShapeType="1"/>
            </p:cNvSpPr>
            <p:nvPr/>
          </p:nvSpPr>
          <p:spPr bwMode="auto">
            <a:xfrm>
              <a:off x="2180" y="602"/>
              <a:ext cx="0" cy="4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" name="Line 153"/>
            <p:cNvSpPr>
              <a:spLocks noChangeShapeType="1"/>
            </p:cNvSpPr>
            <p:nvPr/>
          </p:nvSpPr>
          <p:spPr bwMode="auto">
            <a:xfrm>
              <a:off x="2176" y="1015"/>
              <a:ext cx="0" cy="5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Line 154"/>
            <p:cNvSpPr>
              <a:spLocks noChangeShapeType="1"/>
            </p:cNvSpPr>
            <p:nvPr/>
          </p:nvSpPr>
          <p:spPr bwMode="auto">
            <a:xfrm>
              <a:off x="2180" y="1590"/>
              <a:ext cx="0" cy="5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Line 155"/>
            <p:cNvSpPr>
              <a:spLocks noChangeShapeType="1"/>
            </p:cNvSpPr>
            <p:nvPr/>
          </p:nvSpPr>
          <p:spPr bwMode="auto">
            <a:xfrm>
              <a:off x="2438" y="602"/>
              <a:ext cx="0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4" name="Line 156"/>
            <p:cNvSpPr>
              <a:spLocks noChangeShapeType="1"/>
            </p:cNvSpPr>
            <p:nvPr/>
          </p:nvSpPr>
          <p:spPr bwMode="auto">
            <a:xfrm>
              <a:off x="2656" y="602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" name="Line 157"/>
            <p:cNvSpPr>
              <a:spLocks noChangeShapeType="1"/>
            </p:cNvSpPr>
            <p:nvPr/>
          </p:nvSpPr>
          <p:spPr bwMode="auto">
            <a:xfrm>
              <a:off x="2148" y="602"/>
              <a:ext cx="6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58"/>
            <p:cNvSpPr>
              <a:spLocks noChangeShapeType="1"/>
            </p:cNvSpPr>
            <p:nvPr/>
          </p:nvSpPr>
          <p:spPr bwMode="auto">
            <a:xfrm>
              <a:off x="2145" y="1016"/>
              <a:ext cx="1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59"/>
            <p:cNvSpPr>
              <a:spLocks noChangeShapeType="1"/>
            </p:cNvSpPr>
            <p:nvPr/>
          </p:nvSpPr>
          <p:spPr bwMode="auto">
            <a:xfrm>
              <a:off x="2145" y="1598"/>
              <a:ext cx="4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60"/>
            <p:cNvSpPr>
              <a:spLocks noChangeShapeType="1"/>
            </p:cNvSpPr>
            <p:nvPr/>
          </p:nvSpPr>
          <p:spPr bwMode="auto">
            <a:xfrm>
              <a:off x="2145" y="2180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 Box 161"/>
            <p:cNvSpPr txBox="1">
              <a:spLocks noChangeArrowheads="1"/>
            </p:cNvSpPr>
            <p:nvPr/>
          </p:nvSpPr>
          <p:spPr bwMode="auto">
            <a:xfrm>
              <a:off x="2188" y="2289"/>
              <a:ext cx="37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体积</a:t>
              </a:r>
            </a:p>
          </p:txBody>
        </p:sp>
      </p:grpSp>
      <p:sp>
        <p:nvSpPr>
          <p:cNvPr id="110" name="Text Box 162"/>
          <p:cNvSpPr txBox="1">
            <a:spLocks noChangeArrowheads="1"/>
          </p:cNvSpPr>
          <p:nvPr/>
        </p:nvSpPr>
        <p:spPr bwMode="auto">
          <a:xfrm>
            <a:off x="1189038" y="4229100"/>
            <a:ext cx="2476500" cy="1216025"/>
          </a:xfrm>
          <a:prstGeom prst="rect">
            <a:avLst/>
          </a:prstGeom>
          <a:noFill/>
          <a:ln w="28575">
            <a:solidFill>
              <a:srgbClr val="66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三个独立变量，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干土或饱和土二个独立变量</a:t>
            </a:r>
            <a:endParaRPr kumimoji="1"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11" name="AutoShape 163"/>
          <p:cNvSpPr>
            <a:spLocks noChangeArrowheads="1"/>
          </p:cNvSpPr>
          <p:nvPr/>
        </p:nvSpPr>
        <p:spPr bwMode="auto">
          <a:xfrm rot="5400000">
            <a:off x="2260600" y="3359150"/>
            <a:ext cx="609600" cy="990600"/>
          </a:xfrm>
          <a:prstGeom prst="chevron">
            <a:avLst>
              <a:gd name="adj" fmla="val 32292"/>
            </a:avLst>
          </a:prstGeom>
          <a:solidFill>
            <a:srgbClr val="FF9933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 Box 164"/>
          <p:cNvSpPr txBox="1">
            <a:spLocks noChangeArrowheads="1"/>
          </p:cNvSpPr>
          <p:nvPr/>
        </p:nvSpPr>
        <p:spPr bwMode="auto">
          <a:xfrm>
            <a:off x="6621463" y="4487863"/>
            <a:ext cx="2366962" cy="860425"/>
          </a:xfrm>
          <a:prstGeom prst="rect">
            <a:avLst/>
          </a:prstGeom>
          <a:noFill/>
          <a:ln w="381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其它指标：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三相草图法计算</a:t>
            </a:r>
          </a:p>
        </p:txBody>
      </p:sp>
      <p:sp>
        <p:nvSpPr>
          <p:cNvPr id="113" name="Text Box 165"/>
          <p:cNvSpPr txBox="1">
            <a:spLocks noChangeArrowheads="1"/>
          </p:cNvSpPr>
          <p:nvPr/>
        </p:nvSpPr>
        <p:spPr bwMode="auto">
          <a:xfrm>
            <a:off x="4695825" y="4502150"/>
            <a:ext cx="1162050" cy="850900"/>
          </a:xfrm>
          <a:prstGeom prst="rect">
            <a:avLst/>
          </a:prstGeom>
          <a:noFill/>
          <a:ln w="28575">
            <a:solidFill>
              <a:srgbClr val="66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实验室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测定</a:t>
            </a:r>
          </a:p>
        </p:txBody>
      </p:sp>
      <p:sp>
        <p:nvSpPr>
          <p:cNvPr id="114" name="AutoShape 166"/>
          <p:cNvSpPr>
            <a:spLocks noChangeArrowheads="1"/>
          </p:cNvSpPr>
          <p:nvPr/>
        </p:nvSpPr>
        <p:spPr bwMode="auto">
          <a:xfrm>
            <a:off x="3992563" y="4678363"/>
            <a:ext cx="442912" cy="471487"/>
          </a:xfrm>
          <a:prstGeom prst="homePlate">
            <a:avLst>
              <a:gd name="adj" fmla="val 25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AutoShape 167"/>
          <p:cNvSpPr>
            <a:spLocks noChangeArrowheads="1"/>
          </p:cNvSpPr>
          <p:nvPr/>
        </p:nvSpPr>
        <p:spPr bwMode="auto">
          <a:xfrm>
            <a:off x="6022975" y="4675188"/>
            <a:ext cx="442913" cy="471487"/>
          </a:xfrm>
          <a:prstGeom prst="homePlate">
            <a:avLst>
              <a:gd name="adj" fmla="val 25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6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水头分布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计算方法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03263" y="943600"/>
            <a:ext cx="7745412" cy="402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985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779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Aft>
                <a:spcPct val="40000"/>
              </a:spcAft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在许多实际工程遇到的渗流问题中，可将其简化为一维渗流问题直接利用达西定律求解，有一些简单的规律：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由于是线性问题，在一个土层内，水压力和总水头呈线性分布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流速、水力坡降和渗透力等在同一土层内为常数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在计算水头损失时，渗径和渗透系数之间可以相互转算，如增大渗透系数</a:t>
            </a:r>
            <a:r>
              <a:rPr kumimoji="0" lang="en-US" altLang="zh-CN" b="1">
                <a:solidFill>
                  <a:srgbClr val="000066"/>
                </a:solidFill>
                <a:ea typeface="幼圆" pitchFamily="49" charset="-122"/>
              </a:rPr>
              <a:t>n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倍，同时相应延长渗径</a:t>
            </a:r>
            <a:r>
              <a:rPr kumimoji="0" lang="en-US" altLang="zh-CN" b="1">
                <a:solidFill>
                  <a:srgbClr val="000066"/>
                </a:solidFill>
                <a:ea typeface="幼圆" pitchFamily="49" charset="-122"/>
              </a:rPr>
              <a:t>n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倍，计算结果不变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832100" y="5579100"/>
            <a:ext cx="4260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水头分布计算方法</a:t>
            </a:r>
          </a:p>
        </p:txBody>
      </p:sp>
    </p:spTree>
    <p:extLst>
      <p:ext uri="{BB962C8B-B14F-4D97-AF65-F5344CB8AC3E}">
        <p14:creationId xmlns:p14="http://schemas.microsoft.com/office/powerpoint/2010/main" val="196958004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水头分布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计算方法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79438" y="3983038"/>
            <a:ext cx="4846637" cy="1281112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422525" y="1073150"/>
            <a:ext cx="2987675" cy="290988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8013" y="3998913"/>
            <a:ext cx="4830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5" descr="浅色下对角线"/>
          <p:cNvSpPr>
            <a:spLocks noChangeArrowheads="1"/>
          </p:cNvSpPr>
          <p:nvPr/>
        </p:nvSpPr>
        <p:spPr bwMode="auto">
          <a:xfrm>
            <a:off x="2330450" y="1042988"/>
            <a:ext cx="146050" cy="3533775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406650" y="1057275"/>
            <a:ext cx="304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262063" y="8636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板桩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1857375" y="130175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4465638" y="949325"/>
            <a:ext cx="315912" cy="285750"/>
            <a:chOff x="1122" y="1612"/>
            <a:chExt cx="222" cy="152"/>
          </a:xfrm>
        </p:grpSpPr>
        <p:sp>
          <p:nvSpPr>
            <p:cNvPr id="14" name="AutoShape 10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896938" y="23876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基坑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2676525" y="2065338"/>
            <a:ext cx="16922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-6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2892425" y="4292600"/>
            <a:ext cx="16922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-3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2874963" y="4719638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相对透水层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5784850" y="1255713"/>
            <a:ext cx="3035300" cy="403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基坑开挖中常遇到的上层滞水的情况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画出作用在板桩墙上的水压力分布。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如图中二土层的渗透性对换则发生什么情况？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3170238" y="5845175"/>
            <a:ext cx="374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000066"/>
                </a:solidFill>
                <a:ea typeface="黑体" pitchFamily="2" charset="-122"/>
              </a:rPr>
              <a:t>基坑的渗流问题</a:t>
            </a:r>
            <a:endParaRPr lang="en-US" altLang="zh-CN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5135563" y="1057275"/>
            <a:ext cx="0" cy="292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 rot="16200000">
            <a:off x="4452938" y="2243138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10m</a:t>
            </a:r>
          </a:p>
        </p:txBody>
      </p:sp>
      <p:grpSp>
        <p:nvGrpSpPr>
          <p:cNvPr id="27" name="Group 23"/>
          <p:cNvGrpSpPr>
            <a:grpSpLocks/>
          </p:cNvGrpSpPr>
          <p:nvPr/>
        </p:nvGrpSpPr>
        <p:grpSpPr bwMode="auto">
          <a:xfrm>
            <a:off x="828675" y="3887788"/>
            <a:ext cx="315913" cy="285750"/>
            <a:chOff x="1122" y="1612"/>
            <a:chExt cx="222" cy="152"/>
          </a:xfrm>
        </p:grpSpPr>
        <p:sp>
          <p:nvSpPr>
            <p:cNvPr id="28" name="AutoShape 24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1165225" y="4057650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潜水位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2924175" y="3016250"/>
            <a:ext cx="201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相对不透水层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11335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水头分布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计算方法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Freeform 49"/>
          <p:cNvSpPr>
            <a:spLocks/>
          </p:cNvSpPr>
          <p:nvPr/>
        </p:nvSpPr>
        <p:spPr bwMode="auto">
          <a:xfrm>
            <a:off x="6192838" y="1319213"/>
            <a:ext cx="808037" cy="2992437"/>
          </a:xfrm>
          <a:custGeom>
            <a:avLst/>
            <a:gdLst>
              <a:gd name="T0" fmla="*/ 509 w 509"/>
              <a:gd name="T1" fmla="*/ 0 h 1885"/>
              <a:gd name="T2" fmla="*/ 0 w 509"/>
              <a:gd name="T3" fmla="*/ 0 h 1885"/>
              <a:gd name="T4" fmla="*/ 6 w 509"/>
              <a:gd name="T5" fmla="*/ 1885 h 1885"/>
              <a:gd name="T6" fmla="*/ 509 w 509"/>
              <a:gd name="T7" fmla="*/ 0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9" h="1885">
                <a:moveTo>
                  <a:pt x="509" y="0"/>
                </a:moveTo>
                <a:lnTo>
                  <a:pt x="0" y="0"/>
                </a:lnTo>
                <a:lnTo>
                  <a:pt x="6" y="1885"/>
                </a:lnTo>
                <a:lnTo>
                  <a:pt x="509" y="0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" name="Freeform 48"/>
          <p:cNvSpPr>
            <a:spLocks/>
          </p:cNvSpPr>
          <p:nvPr/>
        </p:nvSpPr>
        <p:spPr bwMode="auto">
          <a:xfrm>
            <a:off x="4910138" y="1316038"/>
            <a:ext cx="808037" cy="2992437"/>
          </a:xfrm>
          <a:custGeom>
            <a:avLst/>
            <a:gdLst>
              <a:gd name="T0" fmla="*/ 509 w 509"/>
              <a:gd name="T1" fmla="*/ 0 h 1885"/>
              <a:gd name="T2" fmla="*/ 0 w 509"/>
              <a:gd name="T3" fmla="*/ 0 h 1885"/>
              <a:gd name="T4" fmla="*/ 6 w 509"/>
              <a:gd name="T5" fmla="*/ 1885 h 1885"/>
              <a:gd name="T6" fmla="*/ 509 w 509"/>
              <a:gd name="T7" fmla="*/ 0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9" h="1885">
                <a:moveTo>
                  <a:pt x="509" y="0"/>
                </a:moveTo>
                <a:lnTo>
                  <a:pt x="0" y="0"/>
                </a:lnTo>
                <a:lnTo>
                  <a:pt x="6" y="1885"/>
                </a:lnTo>
                <a:lnTo>
                  <a:pt x="509" y="0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38138" y="4259263"/>
            <a:ext cx="3968750" cy="963612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84350" y="1349375"/>
            <a:ext cx="2535238" cy="290988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346075" y="4275138"/>
            <a:ext cx="40020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5" descr="浅色下对角线"/>
          <p:cNvSpPr>
            <a:spLocks noChangeArrowheads="1"/>
          </p:cNvSpPr>
          <p:nvPr/>
        </p:nvSpPr>
        <p:spPr bwMode="auto">
          <a:xfrm>
            <a:off x="1692275" y="1319213"/>
            <a:ext cx="146050" cy="3533775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1839913" y="1333500"/>
            <a:ext cx="2584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3246438" y="1216025"/>
            <a:ext cx="315912" cy="285750"/>
            <a:chOff x="1122" y="1612"/>
            <a:chExt cx="222" cy="152"/>
          </a:xfrm>
        </p:grpSpPr>
        <p:sp>
          <p:nvSpPr>
            <p:cNvPr id="14" name="AutoShape 10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258763" y="266382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基坑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962150" y="2341563"/>
            <a:ext cx="16922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-6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2166938" y="4365625"/>
            <a:ext cx="16922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-3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2141538" y="4697413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相对透水层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170238" y="5845175"/>
            <a:ext cx="374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000066"/>
                </a:solidFill>
                <a:ea typeface="黑体" pitchFamily="2" charset="-122"/>
              </a:rPr>
              <a:t>基坑的渗流问题</a:t>
            </a:r>
            <a:endParaRPr lang="en-US" altLang="zh-CN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4078288" y="1333500"/>
            <a:ext cx="0" cy="292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 rot="16200000">
            <a:off x="3481388" y="2519363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10m</a:t>
            </a:r>
          </a:p>
        </p:txBody>
      </p:sp>
      <p:grpSp>
        <p:nvGrpSpPr>
          <p:cNvPr id="26" name="Group 23"/>
          <p:cNvGrpSpPr>
            <a:grpSpLocks/>
          </p:cNvGrpSpPr>
          <p:nvPr/>
        </p:nvGrpSpPr>
        <p:grpSpPr bwMode="auto">
          <a:xfrm>
            <a:off x="419100" y="4164013"/>
            <a:ext cx="315913" cy="285750"/>
            <a:chOff x="1122" y="1612"/>
            <a:chExt cx="222" cy="152"/>
          </a:xfrm>
        </p:grpSpPr>
        <p:sp>
          <p:nvSpPr>
            <p:cNvPr id="27" name="AutoShape 24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527050" y="4467225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潜水位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2219325" y="3148013"/>
            <a:ext cx="1098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透水层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921250" y="4298950"/>
            <a:ext cx="3590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8045450" y="4281488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ea typeface="幼圆" pitchFamily="49" charset="-122"/>
              </a:rPr>
              <a:t>基准面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4999038" y="812800"/>
            <a:ext cx="378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ea typeface="幼圆" pitchFamily="49" charset="-122"/>
              </a:rPr>
              <a:t>总水头       位置水头            压力水头</a:t>
            </a:r>
            <a:endParaRPr lang="en-US" altLang="zh-CN" sz="1800" b="1">
              <a:ea typeface="幼圆" pitchFamily="49" charset="-122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5638800" y="127000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10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6964363" y="12874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10</a:t>
            </a: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7964488" y="128905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0</a:t>
            </a:r>
          </a:p>
        </p:txBody>
      </p:sp>
      <p:sp>
        <p:nvSpPr>
          <p:cNvPr id="40" name="Text Box 38"/>
          <p:cNvSpPr txBox="1">
            <a:spLocks noChangeArrowheads="1"/>
          </p:cNvSpPr>
          <p:nvPr/>
        </p:nvSpPr>
        <p:spPr bwMode="auto">
          <a:xfrm>
            <a:off x="7854950" y="4257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ea typeface="幼圆" pitchFamily="49" charset="-122"/>
              </a:rPr>
              <a:t>0</a:t>
            </a:r>
          </a:p>
        </p:txBody>
      </p: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6143625" y="42687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ea typeface="幼圆" pitchFamily="49" charset="-122"/>
              </a:rPr>
              <a:t>0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4872038" y="42624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ea typeface="幼圆" pitchFamily="49" charset="-122"/>
              </a:rPr>
              <a:t>0</a:t>
            </a: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4918075" y="1320800"/>
            <a:ext cx="3686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4919663" y="1330325"/>
            <a:ext cx="0" cy="297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4930775" y="1317625"/>
            <a:ext cx="784225" cy="297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>
            <a:off x="6202363" y="1328738"/>
            <a:ext cx="0" cy="297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V="1">
            <a:off x="6213475" y="1327150"/>
            <a:ext cx="784225" cy="297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>
            <a:off x="7935913" y="1322388"/>
            <a:ext cx="0" cy="297338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1335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水头分布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计算方法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298700" y="2555875"/>
            <a:ext cx="2987675" cy="150971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68313" y="4030663"/>
            <a:ext cx="4846637" cy="1281112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311400" y="1120775"/>
            <a:ext cx="2987675" cy="141763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496888" y="4046538"/>
            <a:ext cx="4830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6" descr="浅色下对角线"/>
          <p:cNvSpPr>
            <a:spLocks noChangeArrowheads="1"/>
          </p:cNvSpPr>
          <p:nvPr/>
        </p:nvSpPr>
        <p:spPr bwMode="auto">
          <a:xfrm>
            <a:off x="2219325" y="1090613"/>
            <a:ext cx="146050" cy="3533775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2295525" y="1104900"/>
            <a:ext cx="304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150938" y="911225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板桩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1746250" y="1349375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4354513" y="996950"/>
            <a:ext cx="315912" cy="285750"/>
            <a:chOff x="1122" y="1612"/>
            <a:chExt cx="222" cy="152"/>
          </a:xfrm>
        </p:grpSpPr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785813" y="2435225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基坑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2779713" y="1657350"/>
            <a:ext cx="16922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-6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2781300" y="4340225"/>
            <a:ext cx="16922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-3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2763838" y="4767263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相对透水层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676275" y="3941763"/>
            <a:ext cx="315913" cy="285750"/>
            <a:chOff x="1122" y="1612"/>
            <a:chExt cx="222" cy="152"/>
          </a:xfrm>
        </p:grpSpPr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1012825" y="4111625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潜水位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5969000" y="1544638"/>
            <a:ext cx="2819400" cy="315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基坑开挖中常遇到的上层滞水的情况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（多土层）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请画出土层中位置水头、压力水头和总水头的分布。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3170238" y="5845175"/>
            <a:ext cx="374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000066"/>
                </a:solidFill>
                <a:ea typeface="黑体" pitchFamily="2" charset="-122"/>
              </a:rPr>
              <a:t>基坑的渗流问题</a:t>
            </a:r>
            <a:endParaRPr lang="en-US" altLang="zh-CN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2343150" y="2551113"/>
            <a:ext cx="2940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2859088" y="3106738"/>
            <a:ext cx="16922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k=2.5×10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-6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5024438" y="1104900"/>
            <a:ext cx="0" cy="143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 rot="16200000">
            <a:off x="4965700" y="1603375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5m</a:t>
            </a:r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>
            <a:off x="5011738" y="2586038"/>
            <a:ext cx="0" cy="143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 rot="16200000">
            <a:off x="4937125" y="3100388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5m</a:t>
            </a:r>
          </a:p>
        </p:txBody>
      </p:sp>
    </p:spTree>
    <p:extLst>
      <p:ext uri="{BB962C8B-B14F-4D97-AF65-F5344CB8AC3E}">
        <p14:creationId xmlns:p14="http://schemas.microsoft.com/office/powerpoint/2010/main" val="39011335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水头分布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计算方法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Freeform 61"/>
          <p:cNvSpPr>
            <a:spLocks/>
          </p:cNvSpPr>
          <p:nvPr/>
        </p:nvSpPr>
        <p:spPr bwMode="auto">
          <a:xfrm>
            <a:off x="7934325" y="1330325"/>
            <a:ext cx="254000" cy="2987675"/>
          </a:xfrm>
          <a:custGeom>
            <a:avLst/>
            <a:gdLst>
              <a:gd name="T0" fmla="*/ 7 w 160"/>
              <a:gd name="T1" fmla="*/ 0 h 1882"/>
              <a:gd name="T2" fmla="*/ 160 w 160"/>
              <a:gd name="T3" fmla="*/ 954 h 1882"/>
              <a:gd name="T4" fmla="*/ 0 w 160"/>
              <a:gd name="T5" fmla="*/ 1882 h 1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0" h="1882">
                <a:moveTo>
                  <a:pt x="7" y="0"/>
                </a:moveTo>
                <a:lnTo>
                  <a:pt x="160" y="954"/>
                </a:lnTo>
                <a:lnTo>
                  <a:pt x="0" y="1882"/>
                </a:lnTo>
              </a:path>
            </a:pathLst>
          </a:custGeom>
          <a:solidFill>
            <a:srgbClr val="FFCCFF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03375" y="2803525"/>
            <a:ext cx="2652713" cy="150971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80988" y="4319588"/>
            <a:ext cx="3971925" cy="985837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616075" y="1347788"/>
            <a:ext cx="2632075" cy="14478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68288" y="4322763"/>
            <a:ext cx="398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6" descr="浅色下对角线"/>
          <p:cNvSpPr>
            <a:spLocks noChangeArrowheads="1"/>
          </p:cNvSpPr>
          <p:nvPr/>
        </p:nvSpPr>
        <p:spPr bwMode="auto">
          <a:xfrm>
            <a:off x="1524000" y="1338263"/>
            <a:ext cx="146050" cy="3533775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1676400" y="1343025"/>
            <a:ext cx="2640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55613" y="115887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板桩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1050925" y="1597025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2973388" y="1235075"/>
            <a:ext cx="315912" cy="285750"/>
            <a:chOff x="1122" y="1612"/>
            <a:chExt cx="222" cy="152"/>
          </a:xfrm>
        </p:grpSpPr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34975" y="2693988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基坑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1817688" y="1905000"/>
            <a:ext cx="16922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-6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1819275" y="4395788"/>
            <a:ext cx="16922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k=5.0×10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-3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1997075" y="4791075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相对透水层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419100" y="4217988"/>
            <a:ext cx="315913" cy="285750"/>
            <a:chOff x="1122" y="1612"/>
            <a:chExt cx="222" cy="152"/>
          </a:xfrm>
        </p:grpSpPr>
        <p:sp>
          <p:nvSpPr>
            <p:cNvPr id="26" name="AutoShape 21"/>
            <p:cNvSpPr>
              <a:spLocks noChangeArrowheads="1"/>
            </p:cNvSpPr>
            <p:nvPr/>
          </p:nvSpPr>
          <p:spPr bwMode="auto">
            <a:xfrm flipV="1">
              <a:off x="1208" y="1612"/>
              <a:ext cx="68" cy="5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122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254" y="1701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188" y="1731"/>
              <a:ext cx="1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1236" y="1764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347663" y="4592638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潜水位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3170238" y="5845175"/>
            <a:ext cx="374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000066"/>
                </a:solidFill>
                <a:ea typeface="黑体" pitchFamily="2" charset="-122"/>
              </a:rPr>
              <a:t>基坑的渗流问题</a:t>
            </a:r>
            <a:endParaRPr lang="en-US" altLang="zh-CN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1647825" y="2798763"/>
            <a:ext cx="2584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1897063" y="3354388"/>
            <a:ext cx="16922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87" tIns="41143" rIns="82287" bIns="41143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k=2.5×10</a:t>
            </a:r>
            <a:r>
              <a:rPr lang="de-DE" altLang="zh-CN" sz="1800" b="1" baseline="30000">
                <a:solidFill>
                  <a:srgbClr val="000066"/>
                </a:solidFill>
                <a:ea typeface="仿宋体" pitchFamily="18" charset="-122"/>
              </a:rPr>
              <a:t>-6</a:t>
            </a:r>
            <a:r>
              <a:rPr lang="de-DE" altLang="zh-CN" sz="1800" b="1">
                <a:solidFill>
                  <a:srgbClr val="000066"/>
                </a:solidFill>
                <a:ea typeface="仿宋体" pitchFamily="18" charset="-122"/>
              </a:rPr>
              <a:t> m/s</a:t>
            </a: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3767138" y="1352550"/>
            <a:ext cx="0" cy="143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 rot="16200000">
            <a:off x="3708400" y="1851025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5m</a:t>
            </a:r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>
            <a:off x="3754438" y="2833688"/>
            <a:ext cx="0" cy="143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 rot="16200000">
            <a:off x="3679825" y="3348038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5m</a:t>
            </a:r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6192838" y="1338263"/>
            <a:ext cx="808037" cy="2992437"/>
          </a:xfrm>
          <a:custGeom>
            <a:avLst/>
            <a:gdLst>
              <a:gd name="T0" fmla="*/ 509 w 509"/>
              <a:gd name="T1" fmla="*/ 0 h 1885"/>
              <a:gd name="T2" fmla="*/ 0 w 509"/>
              <a:gd name="T3" fmla="*/ 0 h 1885"/>
              <a:gd name="T4" fmla="*/ 6 w 509"/>
              <a:gd name="T5" fmla="*/ 1885 h 1885"/>
              <a:gd name="T6" fmla="*/ 509 w 509"/>
              <a:gd name="T7" fmla="*/ 0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9" h="1885">
                <a:moveTo>
                  <a:pt x="509" y="0"/>
                </a:moveTo>
                <a:lnTo>
                  <a:pt x="0" y="0"/>
                </a:lnTo>
                <a:lnTo>
                  <a:pt x="6" y="1885"/>
                </a:lnTo>
                <a:lnTo>
                  <a:pt x="509" y="0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0" name="Freeform 37"/>
          <p:cNvSpPr>
            <a:spLocks/>
          </p:cNvSpPr>
          <p:nvPr/>
        </p:nvSpPr>
        <p:spPr bwMode="auto">
          <a:xfrm>
            <a:off x="4910138" y="1336675"/>
            <a:ext cx="784225" cy="2981325"/>
          </a:xfrm>
          <a:custGeom>
            <a:avLst/>
            <a:gdLst>
              <a:gd name="T0" fmla="*/ 494 w 494"/>
              <a:gd name="T1" fmla="*/ 0 h 1878"/>
              <a:gd name="T2" fmla="*/ 0 w 494"/>
              <a:gd name="T3" fmla="*/ 0 h 1878"/>
              <a:gd name="T4" fmla="*/ 5 w 494"/>
              <a:gd name="T5" fmla="*/ 1878 h 1878"/>
              <a:gd name="T6" fmla="*/ 382 w 494"/>
              <a:gd name="T7" fmla="*/ 944 h 1878"/>
              <a:gd name="T8" fmla="*/ 494 w 494"/>
              <a:gd name="T9" fmla="*/ 0 h 1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4" h="1878">
                <a:moveTo>
                  <a:pt x="494" y="0"/>
                </a:moveTo>
                <a:lnTo>
                  <a:pt x="0" y="0"/>
                </a:lnTo>
                <a:lnTo>
                  <a:pt x="5" y="1878"/>
                </a:lnTo>
                <a:lnTo>
                  <a:pt x="382" y="944"/>
                </a:lnTo>
                <a:lnTo>
                  <a:pt x="494" y="0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4921250" y="4318000"/>
            <a:ext cx="3590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8045450" y="4300538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ea typeface="幼圆" pitchFamily="49" charset="-122"/>
              </a:rPr>
              <a:t>基准面</a:t>
            </a: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4894263" y="831850"/>
            <a:ext cx="3898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ea typeface="幼圆" pitchFamily="49" charset="-122"/>
              </a:rPr>
              <a:t>总水头         位置水头            压力水头</a:t>
            </a:r>
            <a:endParaRPr lang="en-US" altLang="zh-CN" sz="1800" b="1">
              <a:ea typeface="幼圆" pitchFamily="49" charset="-122"/>
            </a:endParaRP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5638800" y="128905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10</a:t>
            </a: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6964363" y="13065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10</a:t>
            </a:r>
          </a:p>
        </p:txBody>
      </p:sp>
      <p:sp>
        <p:nvSpPr>
          <p:cNvPr id="46" name="Text Box 43"/>
          <p:cNvSpPr txBox="1">
            <a:spLocks noChangeArrowheads="1"/>
          </p:cNvSpPr>
          <p:nvPr/>
        </p:nvSpPr>
        <p:spPr bwMode="auto">
          <a:xfrm>
            <a:off x="7964488" y="13081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0</a:t>
            </a:r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7854950" y="42767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ea typeface="幼圆" pitchFamily="49" charset="-122"/>
              </a:rPr>
              <a:t>0</a:t>
            </a: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6143625" y="4287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ea typeface="幼圆" pitchFamily="49" charset="-122"/>
              </a:rPr>
              <a:t>0</a:t>
            </a:r>
          </a:p>
        </p:txBody>
      </p:sp>
      <p:sp>
        <p:nvSpPr>
          <p:cNvPr id="49" name="Text Box 46"/>
          <p:cNvSpPr txBox="1">
            <a:spLocks noChangeArrowheads="1"/>
          </p:cNvSpPr>
          <p:nvPr/>
        </p:nvSpPr>
        <p:spPr bwMode="auto">
          <a:xfrm>
            <a:off x="4872038" y="42814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ea typeface="幼圆" pitchFamily="49" charset="-122"/>
              </a:rPr>
              <a:t>0</a:t>
            </a:r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>
            <a:off x="4918075" y="1339850"/>
            <a:ext cx="3686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1" name="Line 48"/>
          <p:cNvSpPr>
            <a:spLocks noChangeShapeType="1"/>
          </p:cNvSpPr>
          <p:nvPr/>
        </p:nvSpPr>
        <p:spPr bwMode="auto">
          <a:xfrm>
            <a:off x="4919663" y="1349375"/>
            <a:ext cx="0" cy="2973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6202363" y="1347788"/>
            <a:ext cx="0" cy="297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3" name="Line 51"/>
          <p:cNvSpPr>
            <a:spLocks noChangeShapeType="1"/>
          </p:cNvSpPr>
          <p:nvPr/>
        </p:nvSpPr>
        <p:spPr bwMode="auto">
          <a:xfrm flipV="1">
            <a:off x="6213475" y="1346200"/>
            <a:ext cx="784225" cy="297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7935913" y="1341438"/>
            <a:ext cx="0" cy="2973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4913313" y="2838450"/>
            <a:ext cx="3590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6" name="Text Box 57"/>
          <p:cNvSpPr txBox="1">
            <a:spLocks noChangeArrowheads="1"/>
          </p:cNvSpPr>
          <p:nvPr/>
        </p:nvSpPr>
        <p:spPr bwMode="auto">
          <a:xfrm>
            <a:off x="5492750" y="2444750"/>
            <a:ext cx="628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6.67</a:t>
            </a:r>
          </a:p>
        </p:txBody>
      </p:sp>
      <p:sp>
        <p:nvSpPr>
          <p:cNvPr id="57" name="Text Box 58"/>
          <p:cNvSpPr txBox="1">
            <a:spLocks noChangeArrowheads="1"/>
          </p:cNvSpPr>
          <p:nvPr/>
        </p:nvSpPr>
        <p:spPr bwMode="auto">
          <a:xfrm>
            <a:off x="6670675" y="24415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5</a:t>
            </a:r>
          </a:p>
        </p:txBody>
      </p:sp>
      <p:sp>
        <p:nvSpPr>
          <p:cNvPr id="58" name="Text Box 59"/>
          <p:cNvSpPr txBox="1">
            <a:spLocks noChangeArrowheads="1"/>
          </p:cNvSpPr>
          <p:nvPr/>
        </p:nvSpPr>
        <p:spPr bwMode="auto">
          <a:xfrm>
            <a:off x="8162925" y="2455863"/>
            <a:ext cx="628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ea typeface="幼圆" pitchFamily="49" charset="-122"/>
              </a:rPr>
              <a:t>1.67</a:t>
            </a:r>
          </a:p>
        </p:txBody>
      </p:sp>
      <p:sp>
        <p:nvSpPr>
          <p:cNvPr id="59" name="Freeform 60"/>
          <p:cNvSpPr>
            <a:spLocks/>
          </p:cNvSpPr>
          <p:nvPr/>
        </p:nvSpPr>
        <p:spPr bwMode="auto">
          <a:xfrm>
            <a:off x="4927600" y="1330325"/>
            <a:ext cx="771525" cy="2992438"/>
          </a:xfrm>
          <a:custGeom>
            <a:avLst/>
            <a:gdLst>
              <a:gd name="T0" fmla="*/ 486 w 486"/>
              <a:gd name="T1" fmla="*/ 0 h 1885"/>
              <a:gd name="T2" fmla="*/ 378 w 486"/>
              <a:gd name="T3" fmla="*/ 948 h 1885"/>
              <a:gd name="T4" fmla="*/ 0 w 486"/>
              <a:gd name="T5" fmla="*/ 1885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6" h="1885">
                <a:moveTo>
                  <a:pt x="486" y="0"/>
                </a:moveTo>
                <a:lnTo>
                  <a:pt x="378" y="948"/>
                </a:lnTo>
                <a:lnTo>
                  <a:pt x="0" y="1885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1335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658710" y="2324668"/>
            <a:ext cx="4351283" cy="120709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流土是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在向上的渗透作用下，</a:t>
            </a:r>
            <a:r>
              <a:rPr kumimoji="1" lang="zh-CN" altLang="en-US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表层局部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范围内的土体发生悬浮的现象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故图中流土发生的位置只能是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</a:t>
            </a:r>
            <a:endParaRPr kumimoji="1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646778" y="3727727"/>
            <a:ext cx="4177862" cy="113363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由于渗透力在土层中均匀分布，所以发生流土时，会在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点同时发生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3944335" y="262385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3982737" y="3976578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任意多边形 18"/>
          <p:cNvSpPr/>
          <p:nvPr/>
        </p:nvSpPr>
        <p:spPr bwMode="auto">
          <a:xfrm>
            <a:off x="499609" y="1352717"/>
            <a:ext cx="2933323" cy="3309041"/>
          </a:xfrm>
          <a:custGeom>
            <a:avLst/>
            <a:gdLst>
              <a:gd name="connsiteX0" fmla="*/ 0 w 2933323"/>
              <a:gd name="connsiteY0" fmla="*/ 3191346 h 3309041"/>
              <a:gd name="connsiteX1" fmla="*/ 1312752 w 2933323"/>
              <a:gd name="connsiteY1" fmla="*/ 3191346 h 3309041"/>
              <a:gd name="connsiteX2" fmla="*/ 1312752 w 2933323"/>
              <a:gd name="connsiteY2" fmla="*/ 2806574 h 3309041"/>
              <a:gd name="connsiteX3" fmla="*/ 864606 w 2933323"/>
              <a:gd name="connsiteY3" fmla="*/ 2806574 h 3309041"/>
              <a:gd name="connsiteX4" fmla="*/ 864606 w 2933323"/>
              <a:gd name="connsiteY4" fmla="*/ 2417275 h 3309041"/>
              <a:gd name="connsiteX5" fmla="*/ 2068717 w 2933323"/>
              <a:gd name="connsiteY5" fmla="*/ 2417275 h 3309041"/>
              <a:gd name="connsiteX6" fmla="*/ 2086824 w 2933323"/>
              <a:gd name="connsiteY6" fmla="*/ 2399168 h 3309041"/>
              <a:gd name="connsiteX7" fmla="*/ 2792994 w 2933323"/>
              <a:gd name="connsiteY7" fmla="*/ 2399168 h 3309041"/>
              <a:gd name="connsiteX8" fmla="*/ 2792994 w 2933323"/>
              <a:gd name="connsiteY8" fmla="*/ 0 h 3309041"/>
              <a:gd name="connsiteX9" fmla="*/ 2933323 w 2933323"/>
              <a:gd name="connsiteY9" fmla="*/ 0 h 3309041"/>
              <a:gd name="connsiteX10" fmla="*/ 2933323 w 2933323"/>
              <a:gd name="connsiteY10" fmla="*/ 2480649 h 3309041"/>
              <a:gd name="connsiteX11" fmla="*/ 2073244 w 2933323"/>
              <a:gd name="connsiteY11" fmla="*/ 2480649 h 3309041"/>
              <a:gd name="connsiteX12" fmla="*/ 2073244 w 2933323"/>
              <a:gd name="connsiteY12" fmla="*/ 2806574 h 3309041"/>
              <a:gd name="connsiteX13" fmla="*/ 1566250 w 2933323"/>
              <a:gd name="connsiteY13" fmla="*/ 2806574 h 3309041"/>
              <a:gd name="connsiteX14" fmla="*/ 1566250 w 2933323"/>
              <a:gd name="connsiteY14" fmla="*/ 3309041 h 3309041"/>
              <a:gd name="connsiteX15" fmla="*/ 9053 w 2933323"/>
              <a:gd name="connsiteY15" fmla="*/ 3309041 h 3309041"/>
              <a:gd name="connsiteX16" fmla="*/ 0 w 2933323"/>
              <a:gd name="connsiteY16" fmla="*/ 3191346 h 330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3323" h="3309041">
                <a:moveTo>
                  <a:pt x="0" y="3191346"/>
                </a:moveTo>
                <a:lnTo>
                  <a:pt x="1312752" y="3191346"/>
                </a:lnTo>
                <a:lnTo>
                  <a:pt x="1312752" y="2806574"/>
                </a:lnTo>
                <a:lnTo>
                  <a:pt x="864606" y="2806574"/>
                </a:lnTo>
                <a:lnTo>
                  <a:pt x="864606" y="2417275"/>
                </a:lnTo>
                <a:lnTo>
                  <a:pt x="2068717" y="2417275"/>
                </a:lnTo>
                <a:lnTo>
                  <a:pt x="2086824" y="2399168"/>
                </a:lnTo>
                <a:lnTo>
                  <a:pt x="2792994" y="2399168"/>
                </a:lnTo>
                <a:lnTo>
                  <a:pt x="2792994" y="0"/>
                </a:lnTo>
                <a:lnTo>
                  <a:pt x="2933323" y="0"/>
                </a:lnTo>
                <a:lnTo>
                  <a:pt x="2933323" y="2480649"/>
                </a:lnTo>
                <a:lnTo>
                  <a:pt x="2073244" y="2480649"/>
                </a:lnTo>
                <a:lnTo>
                  <a:pt x="2073244" y="2806574"/>
                </a:lnTo>
                <a:lnTo>
                  <a:pt x="1566250" y="2806574"/>
                </a:lnTo>
                <a:lnTo>
                  <a:pt x="1566250" y="3309041"/>
                </a:lnTo>
                <a:lnTo>
                  <a:pt x="9053" y="3309041"/>
                </a:lnTo>
                <a:lnTo>
                  <a:pt x="0" y="3191346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任意多边形 19"/>
          <p:cNvSpPr/>
          <p:nvPr/>
        </p:nvSpPr>
        <p:spPr bwMode="auto">
          <a:xfrm>
            <a:off x="1356004" y="2344908"/>
            <a:ext cx="1596450" cy="424697"/>
          </a:xfrm>
          <a:custGeom>
            <a:avLst/>
            <a:gdLst>
              <a:gd name="connsiteX0" fmla="*/ 1668 w 1596450"/>
              <a:gd name="connsiteY0" fmla="*/ 364026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64026 h 424697"/>
              <a:gd name="connsiteX0" fmla="*/ 1668 w 1596450"/>
              <a:gd name="connsiteY0" fmla="*/ 377027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77027 h 42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6450" h="424697">
                <a:moveTo>
                  <a:pt x="1668" y="377027"/>
                </a:moveTo>
                <a:lnTo>
                  <a:pt x="1197755" y="377027"/>
                </a:lnTo>
                <a:lnTo>
                  <a:pt x="1202088" y="424697"/>
                </a:lnTo>
                <a:lnTo>
                  <a:pt x="1596450" y="424697"/>
                </a:lnTo>
                <a:lnTo>
                  <a:pt x="1596450" y="17334"/>
                </a:lnTo>
                <a:lnTo>
                  <a:pt x="1462107" y="17334"/>
                </a:lnTo>
                <a:cubicBezTo>
                  <a:pt x="1463552" y="121342"/>
                  <a:pt x="1464996" y="225349"/>
                  <a:pt x="1466441" y="329357"/>
                </a:cubicBezTo>
                <a:lnTo>
                  <a:pt x="1202088" y="325024"/>
                </a:lnTo>
                <a:cubicBezTo>
                  <a:pt x="1203533" y="219572"/>
                  <a:pt x="1204977" y="114119"/>
                  <a:pt x="1206422" y="8667"/>
                </a:cubicBezTo>
                <a:lnTo>
                  <a:pt x="1668" y="0"/>
                </a:lnTo>
                <a:cubicBezTo>
                  <a:pt x="223" y="124231"/>
                  <a:pt x="-1221" y="261464"/>
                  <a:pt x="1668" y="377027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矩形 147"/>
          <p:cNvSpPr>
            <a:spLocks noChangeArrowheads="1"/>
          </p:cNvSpPr>
          <p:nvPr/>
        </p:nvSpPr>
        <p:spPr bwMode="auto">
          <a:xfrm>
            <a:off x="1356859" y="2719081"/>
            <a:ext cx="1212663" cy="1056463"/>
          </a:xfrm>
          <a:prstGeom prst="rect">
            <a:avLst/>
          </a:prstGeom>
          <a:pattFill prst="pct8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2" name="Line 2861"/>
          <p:cNvSpPr>
            <a:spLocks noChangeShapeType="1"/>
          </p:cNvSpPr>
          <p:nvPr/>
        </p:nvSpPr>
        <p:spPr bwMode="auto">
          <a:xfrm>
            <a:off x="3125664" y="1344306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3" name="Text Box 2864"/>
          <p:cNvSpPr txBox="1">
            <a:spLocks noChangeArrowheads="1"/>
          </p:cNvSpPr>
          <p:nvPr/>
        </p:nvSpPr>
        <p:spPr bwMode="auto">
          <a:xfrm>
            <a:off x="2363664" y="1449081"/>
            <a:ext cx="10477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58188" rIns="0" bIns="58188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i="1">
                <a:latin typeface="Times New Roman" pitchFamily="18" charset="0"/>
              </a:rPr>
              <a:t>h</a:t>
            </a:r>
          </a:p>
        </p:txBody>
      </p:sp>
      <p:sp>
        <p:nvSpPr>
          <p:cNvPr id="24" name="Text Box 2871"/>
          <p:cNvSpPr txBox="1">
            <a:spLocks noChangeArrowheads="1"/>
          </p:cNvSpPr>
          <p:nvPr/>
        </p:nvSpPr>
        <p:spPr bwMode="auto">
          <a:xfrm>
            <a:off x="2952530" y="4012683"/>
            <a:ext cx="70485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滤网</a:t>
            </a:r>
          </a:p>
        </p:txBody>
      </p:sp>
      <p:sp>
        <p:nvSpPr>
          <p:cNvPr id="25" name="Line 2872"/>
          <p:cNvSpPr>
            <a:spLocks noChangeShapeType="1"/>
          </p:cNvSpPr>
          <p:nvPr/>
        </p:nvSpPr>
        <p:spPr bwMode="auto">
          <a:xfrm>
            <a:off x="1393228" y="3765244"/>
            <a:ext cx="115411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6" name="Freeform 2876"/>
          <p:cNvSpPr>
            <a:spLocks/>
          </p:cNvSpPr>
          <p:nvPr/>
        </p:nvSpPr>
        <p:spPr bwMode="auto">
          <a:xfrm>
            <a:off x="488827" y="1066494"/>
            <a:ext cx="2946400" cy="3603625"/>
          </a:xfrm>
          <a:custGeom>
            <a:avLst/>
            <a:gdLst>
              <a:gd name="T0" fmla="*/ 0 w 10000"/>
              <a:gd name="T1" fmla="*/ 2147483647 h 10517"/>
              <a:gd name="T2" fmla="*/ 2147483647 w 10000"/>
              <a:gd name="T3" fmla="*/ 2147483647 h 10517"/>
              <a:gd name="T4" fmla="*/ 2147483647 w 10000"/>
              <a:gd name="T5" fmla="*/ 2147483647 h 10517"/>
              <a:gd name="T6" fmla="*/ 2147483647 w 10000"/>
              <a:gd name="T7" fmla="*/ 2147483647 h 10517"/>
              <a:gd name="T8" fmla="*/ 2147483647 w 10000"/>
              <a:gd name="T9" fmla="*/ 2147483647 h 10517"/>
              <a:gd name="T10" fmla="*/ 2147483647 w 10000"/>
              <a:gd name="T11" fmla="*/ 2147483647 h 10517"/>
              <a:gd name="T12" fmla="*/ 2147483647 w 10000"/>
              <a:gd name="T13" fmla="*/ 0 h 105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0" h="10517">
                <a:moveTo>
                  <a:pt x="0" y="10517"/>
                </a:moveTo>
                <a:lnTo>
                  <a:pt x="5344" y="10517"/>
                </a:lnTo>
                <a:lnTo>
                  <a:pt x="5344" y="9021"/>
                </a:lnTo>
                <a:lnTo>
                  <a:pt x="7059" y="9021"/>
                </a:lnTo>
                <a:lnTo>
                  <a:pt x="7059" y="8081"/>
                </a:lnTo>
                <a:lnTo>
                  <a:pt x="10000" y="8081"/>
                </a:lnTo>
                <a:lnTo>
                  <a:pt x="1000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7" name="Freeform 2877"/>
          <p:cNvSpPr>
            <a:spLocks/>
          </p:cNvSpPr>
          <p:nvPr/>
        </p:nvSpPr>
        <p:spPr bwMode="auto">
          <a:xfrm>
            <a:off x="499939" y="2344431"/>
            <a:ext cx="1317625" cy="2200275"/>
          </a:xfrm>
          <a:custGeom>
            <a:avLst/>
            <a:gdLst>
              <a:gd name="T0" fmla="*/ 0 w 10542"/>
              <a:gd name="T1" fmla="*/ 2147483647 h 9974"/>
              <a:gd name="T2" fmla="*/ 2147483647 w 10542"/>
              <a:gd name="T3" fmla="*/ 2147483647 h 9974"/>
              <a:gd name="T4" fmla="*/ 2147483647 w 10542"/>
              <a:gd name="T5" fmla="*/ 2147483647 h 9974"/>
              <a:gd name="T6" fmla="*/ 2147483647 w 10542"/>
              <a:gd name="T7" fmla="*/ 2147483647 h 9974"/>
              <a:gd name="T8" fmla="*/ 2147483647 w 10542"/>
              <a:gd name="T9" fmla="*/ 0 h 99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542" h="9974">
                <a:moveTo>
                  <a:pt x="0" y="9974"/>
                </a:moveTo>
                <a:lnTo>
                  <a:pt x="10542" y="9969"/>
                </a:lnTo>
                <a:lnTo>
                  <a:pt x="10542" y="8199"/>
                </a:lnTo>
                <a:lnTo>
                  <a:pt x="6858" y="8199"/>
                </a:lnTo>
                <a:lnTo>
                  <a:pt x="685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8" name="Freeform 2878"/>
          <p:cNvSpPr>
            <a:spLocks/>
          </p:cNvSpPr>
          <p:nvPr/>
        </p:nvSpPr>
        <p:spPr bwMode="auto">
          <a:xfrm>
            <a:off x="2561819" y="1844369"/>
            <a:ext cx="254283" cy="828675"/>
          </a:xfrm>
          <a:custGeom>
            <a:avLst/>
            <a:gdLst>
              <a:gd name="T0" fmla="*/ 0 w 10334"/>
              <a:gd name="T1" fmla="*/ 2147483647 h 10000"/>
              <a:gd name="T2" fmla="*/ 1978025314 w 10334"/>
              <a:gd name="T3" fmla="*/ 2147483647 h 10000"/>
              <a:gd name="T4" fmla="*/ 2147483647 w 10334"/>
              <a:gd name="T5" fmla="*/ 2147483647 h 10000"/>
              <a:gd name="T6" fmla="*/ 2147483647 w 10334"/>
              <a:gd name="T7" fmla="*/ 0 h 10000"/>
              <a:gd name="T8" fmla="*/ 0 60000 65536"/>
              <a:gd name="T9" fmla="*/ 0 60000 65536"/>
              <a:gd name="T10" fmla="*/ 0 60000 65536"/>
              <a:gd name="T11" fmla="*/ 0 60000 65536"/>
              <a:gd name="connsiteX0" fmla="*/ 40 w 10032"/>
              <a:gd name="connsiteY0" fmla="*/ 6063 h 10000"/>
              <a:gd name="connsiteX1" fmla="*/ 32 w 10032"/>
              <a:gd name="connsiteY1" fmla="*/ 10000 h 10000"/>
              <a:gd name="connsiteX2" fmla="*/ 10032 w 10032"/>
              <a:gd name="connsiteY2" fmla="*/ 10000 h 10000"/>
              <a:gd name="connsiteX3" fmla="*/ 10032 w 10032"/>
              <a:gd name="connsiteY3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2" h="10000">
                <a:moveTo>
                  <a:pt x="40" y="6063"/>
                </a:moveTo>
                <a:cubicBezTo>
                  <a:pt x="151" y="7375"/>
                  <a:pt x="-79" y="8688"/>
                  <a:pt x="32" y="10000"/>
                </a:cubicBezTo>
                <a:lnTo>
                  <a:pt x="10032" y="10000"/>
                </a:lnTo>
                <a:lnTo>
                  <a:pt x="10032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9" name="Freeform 2879"/>
          <p:cNvSpPr>
            <a:spLocks/>
          </p:cNvSpPr>
          <p:nvPr/>
        </p:nvSpPr>
        <p:spPr bwMode="auto">
          <a:xfrm>
            <a:off x="2568452" y="1076019"/>
            <a:ext cx="730250" cy="2673350"/>
          </a:xfrm>
          <a:custGeom>
            <a:avLst/>
            <a:gdLst>
              <a:gd name="T0" fmla="*/ 2147483647 w 10000"/>
              <a:gd name="T1" fmla="*/ 2147483647 h 10589"/>
              <a:gd name="T2" fmla="*/ 2147483647 w 10000"/>
              <a:gd name="T3" fmla="*/ 2147483647 h 10589"/>
              <a:gd name="T4" fmla="*/ 0 w 10000"/>
              <a:gd name="T5" fmla="*/ 2147483647 h 10589"/>
              <a:gd name="T6" fmla="*/ 0 w 10000"/>
              <a:gd name="T7" fmla="*/ 2147483647 h 10589"/>
              <a:gd name="T8" fmla="*/ 2147483647 w 10000"/>
              <a:gd name="T9" fmla="*/ 2147483647 h 10589"/>
              <a:gd name="T10" fmla="*/ 2147483647 w 10000"/>
              <a:gd name="T11" fmla="*/ 0 h 105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0" h="10589">
                <a:moveTo>
                  <a:pt x="5329" y="3103"/>
                </a:moveTo>
                <a:lnTo>
                  <a:pt x="5329" y="6708"/>
                </a:lnTo>
                <a:lnTo>
                  <a:pt x="0" y="6708"/>
                </a:lnTo>
                <a:lnTo>
                  <a:pt x="0" y="10589"/>
                </a:lnTo>
                <a:lnTo>
                  <a:pt x="9884" y="10589"/>
                </a:lnTo>
                <a:cubicBezTo>
                  <a:pt x="9923" y="7059"/>
                  <a:pt x="9961" y="3530"/>
                  <a:pt x="1000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0" name="AutoShape 2887"/>
          <p:cNvSpPr>
            <a:spLocks noChangeArrowheads="1"/>
          </p:cNvSpPr>
          <p:nvPr/>
        </p:nvSpPr>
        <p:spPr bwMode="auto">
          <a:xfrm flipV="1">
            <a:off x="1617539" y="2180919"/>
            <a:ext cx="188913" cy="1603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376" tIns="58188" rIns="116376" bIns="58188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31" name="Line 2888"/>
          <p:cNvSpPr>
            <a:spLocks noChangeShapeType="1"/>
          </p:cNvSpPr>
          <p:nvPr/>
        </p:nvSpPr>
        <p:spPr bwMode="auto">
          <a:xfrm>
            <a:off x="1515939" y="2398406"/>
            <a:ext cx="1635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2" name="Line 2889"/>
          <p:cNvSpPr>
            <a:spLocks noChangeShapeType="1"/>
          </p:cNvSpPr>
          <p:nvPr/>
        </p:nvSpPr>
        <p:spPr bwMode="auto">
          <a:xfrm>
            <a:off x="1747714" y="2399994"/>
            <a:ext cx="1619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3" name="Line 2890"/>
          <p:cNvSpPr>
            <a:spLocks noChangeShapeType="1"/>
          </p:cNvSpPr>
          <p:nvPr/>
        </p:nvSpPr>
        <p:spPr bwMode="auto">
          <a:xfrm>
            <a:off x="1585789" y="2449206"/>
            <a:ext cx="22860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4" name="Line 2891"/>
          <p:cNvSpPr>
            <a:spLocks noChangeShapeType="1"/>
          </p:cNvSpPr>
          <p:nvPr/>
        </p:nvSpPr>
        <p:spPr bwMode="auto">
          <a:xfrm>
            <a:off x="1687389" y="2501594"/>
            <a:ext cx="76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5" name="Line 2892"/>
          <p:cNvSpPr>
            <a:spLocks noChangeShapeType="1"/>
          </p:cNvSpPr>
          <p:nvPr/>
        </p:nvSpPr>
        <p:spPr bwMode="auto">
          <a:xfrm>
            <a:off x="1365766" y="2350781"/>
            <a:ext cx="1184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6" name="Line 2896"/>
          <p:cNvSpPr>
            <a:spLocks noChangeShapeType="1"/>
          </p:cNvSpPr>
          <p:nvPr/>
        </p:nvSpPr>
        <p:spPr bwMode="auto">
          <a:xfrm>
            <a:off x="1365857" y="2719081"/>
            <a:ext cx="1181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7" name="Line 2897"/>
          <p:cNvSpPr>
            <a:spLocks noChangeShapeType="1"/>
          </p:cNvSpPr>
          <p:nvPr/>
        </p:nvSpPr>
        <p:spPr bwMode="auto">
          <a:xfrm flipH="1">
            <a:off x="3005014" y="2360306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8" name="Line 2899"/>
          <p:cNvSpPr>
            <a:spLocks noChangeShapeType="1"/>
          </p:cNvSpPr>
          <p:nvPr/>
        </p:nvSpPr>
        <p:spPr bwMode="auto">
          <a:xfrm>
            <a:off x="2987552" y="1349069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9" name="Line 2904"/>
          <p:cNvSpPr>
            <a:spLocks noChangeShapeType="1"/>
          </p:cNvSpPr>
          <p:nvPr/>
        </p:nvSpPr>
        <p:spPr bwMode="auto">
          <a:xfrm>
            <a:off x="2092202" y="3776356"/>
            <a:ext cx="823912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0" name="Line 2911"/>
          <p:cNvSpPr>
            <a:spLocks noChangeShapeType="1"/>
          </p:cNvSpPr>
          <p:nvPr/>
        </p:nvSpPr>
        <p:spPr bwMode="auto">
          <a:xfrm>
            <a:off x="2814514" y="2360306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1" name="Line 2912"/>
          <p:cNvSpPr>
            <a:spLocks noChangeShapeType="1"/>
          </p:cNvSpPr>
          <p:nvPr/>
        </p:nvSpPr>
        <p:spPr bwMode="auto">
          <a:xfrm>
            <a:off x="2824039" y="2388881"/>
            <a:ext cx="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2" name="Line 2913"/>
          <p:cNvSpPr>
            <a:spLocks noChangeShapeType="1"/>
          </p:cNvSpPr>
          <p:nvPr/>
        </p:nvSpPr>
        <p:spPr bwMode="auto">
          <a:xfrm>
            <a:off x="2824039" y="2419044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grpSp>
        <p:nvGrpSpPr>
          <p:cNvPr id="43" name="Group 2914"/>
          <p:cNvGrpSpPr>
            <a:grpSpLocks/>
          </p:cNvGrpSpPr>
          <p:nvPr/>
        </p:nvGrpSpPr>
        <p:grpSpPr bwMode="auto">
          <a:xfrm>
            <a:off x="3292352" y="1349069"/>
            <a:ext cx="136525" cy="58737"/>
            <a:chOff x="2120" y="479"/>
            <a:chExt cx="48" cy="31"/>
          </a:xfrm>
        </p:grpSpPr>
        <p:sp>
          <p:nvSpPr>
            <p:cNvPr id="44" name="Line 2915"/>
            <p:cNvSpPr>
              <a:spLocks noChangeShapeType="1"/>
            </p:cNvSpPr>
            <p:nvPr/>
          </p:nvSpPr>
          <p:spPr bwMode="auto">
            <a:xfrm>
              <a:off x="2120" y="479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916"/>
            <p:cNvSpPr>
              <a:spLocks noChangeShapeType="1"/>
            </p:cNvSpPr>
            <p:nvPr/>
          </p:nvSpPr>
          <p:spPr bwMode="auto">
            <a:xfrm>
              <a:off x="2124" y="494"/>
              <a:ext cx="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917"/>
            <p:cNvSpPr>
              <a:spLocks noChangeShapeType="1"/>
            </p:cNvSpPr>
            <p:nvPr/>
          </p:nvSpPr>
          <p:spPr bwMode="auto">
            <a:xfrm>
              <a:off x="2124" y="510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Line 2903"/>
          <p:cNvSpPr>
            <a:spLocks noChangeShapeType="1"/>
          </p:cNvSpPr>
          <p:nvPr/>
        </p:nvSpPr>
        <p:spPr bwMode="auto">
          <a:xfrm rot="5400000">
            <a:off x="694033" y="4207767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8" name="Text Box 2869"/>
          <p:cNvSpPr txBox="1">
            <a:spLocks noChangeArrowheads="1"/>
          </p:cNvSpPr>
          <p:nvPr/>
        </p:nvSpPr>
        <p:spPr bwMode="auto">
          <a:xfrm>
            <a:off x="593123" y="4163856"/>
            <a:ext cx="219075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i="1" dirty="0">
                <a:latin typeface="Times New Roman" pitchFamily="18" charset="0"/>
              </a:rPr>
              <a:t>Q</a:t>
            </a:r>
          </a:p>
        </p:txBody>
      </p:sp>
      <p:sp>
        <p:nvSpPr>
          <p:cNvPr id="49" name="椭圆 48"/>
          <p:cNvSpPr/>
          <p:nvPr/>
        </p:nvSpPr>
        <p:spPr bwMode="auto">
          <a:xfrm>
            <a:off x="1490209" y="2733257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0" name="椭圆 49"/>
          <p:cNvSpPr/>
          <p:nvPr/>
        </p:nvSpPr>
        <p:spPr bwMode="auto">
          <a:xfrm>
            <a:off x="1494019" y="3236177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1" name="椭圆 50"/>
          <p:cNvSpPr/>
          <p:nvPr/>
        </p:nvSpPr>
        <p:spPr bwMode="auto">
          <a:xfrm>
            <a:off x="1492945" y="2962653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2" name="椭圆 51"/>
          <p:cNvSpPr/>
          <p:nvPr/>
        </p:nvSpPr>
        <p:spPr bwMode="auto">
          <a:xfrm>
            <a:off x="1495924" y="3481407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3" name="椭圆 52"/>
          <p:cNvSpPr/>
          <p:nvPr/>
        </p:nvSpPr>
        <p:spPr bwMode="auto">
          <a:xfrm>
            <a:off x="1495924" y="3732097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4" name="Text Box 2870"/>
          <p:cNvSpPr txBox="1">
            <a:spLocks noChangeArrowheads="1"/>
          </p:cNvSpPr>
          <p:nvPr/>
        </p:nvSpPr>
        <p:spPr bwMode="auto">
          <a:xfrm>
            <a:off x="1444309" y="2609121"/>
            <a:ext cx="420530" cy="123110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E</a:t>
            </a:r>
            <a:endParaRPr lang="zh-CN" altLang="en-US" sz="16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7"/>
            </p:custDataLst>
          </p:nvPr>
        </p:nvSpPr>
        <p:spPr>
          <a:xfrm>
            <a:off x="4146331" y="773296"/>
            <a:ext cx="4769070" cy="14001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对图所示的双层土渗透试验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逐步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升高时，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下列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有关流土发生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位置</a:t>
            </a:r>
            <a:r>
              <a:rPr lang="zh-CN" altLang="en-US" sz="2400" b="1" dirty="0" smtClean="0">
                <a:solidFill>
                  <a:srgbClr val="FF0000"/>
                </a:solidFill>
                <a:ea typeface="幼圆" pitchFamily="49" charset="-122"/>
              </a:rPr>
              <a:t>最准确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的说法是？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7" name="椭圆 56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52724" y="510280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9"/>
            </p:custDataLst>
          </p:nvPr>
        </p:nvSpPr>
        <p:spPr>
          <a:xfrm>
            <a:off x="4639787" y="4828083"/>
            <a:ext cx="4177862" cy="113363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滤网支持力为零时发生流土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，所以图中流土发生的位置只能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80414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650321" y="2135050"/>
            <a:ext cx="4351283" cy="143351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流土是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在向上的渗透作用下，</a:t>
            </a:r>
            <a:r>
              <a:rPr kumimoji="1" lang="zh-CN" altLang="en-US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表层局部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范围内的土体发生悬浮的现象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故图中流土发生的位置只能是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</a:t>
            </a:r>
            <a:endParaRPr kumimoji="1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705501" y="3621999"/>
            <a:ext cx="4177862" cy="113363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由于渗透力在</a:t>
            </a:r>
            <a:r>
              <a:rPr kumimoji="1" lang="zh-CN" altLang="en-US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表层土层</a:t>
            </a:r>
            <a:r>
              <a:rPr kumimoji="1" lang="en-US" altLang="zh-CN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中均匀分布，所以图中流土发生的位置是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点同时发生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3935946" y="258523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3965959" y="37450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55" name="任意多边形 54"/>
          <p:cNvSpPr/>
          <p:nvPr/>
        </p:nvSpPr>
        <p:spPr bwMode="auto">
          <a:xfrm>
            <a:off x="407836" y="1223772"/>
            <a:ext cx="2933323" cy="3309041"/>
          </a:xfrm>
          <a:custGeom>
            <a:avLst/>
            <a:gdLst>
              <a:gd name="connsiteX0" fmla="*/ 0 w 2933323"/>
              <a:gd name="connsiteY0" fmla="*/ 3191346 h 3309041"/>
              <a:gd name="connsiteX1" fmla="*/ 1312752 w 2933323"/>
              <a:gd name="connsiteY1" fmla="*/ 3191346 h 3309041"/>
              <a:gd name="connsiteX2" fmla="*/ 1312752 w 2933323"/>
              <a:gd name="connsiteY2" fmla="*/ 2806574 h 3309041"/>
              <a:gd name="connsiteX3" fmla="*/ 864606 w 2933323"/>
              <a:gd name="connsiteY3" fmla="*/ 2806574 h 3309041"/>
              <a:gd name="connsiteX4" fmla="*/ 864606 w 2933323"/>
              <a:gd name="connsiteY4" fmla="*/ 2417275 h 3309041"/>
              <a:gd name="connsiteX5" fmla="*/ 2068717 w 2933323"/>
              <a:gd name="connsiteY5" fmla="*/ 2417275 h 3309041"/>
              <a:gd name="connsiteX6" fmla="*/ 2086824 w 2933323"/>
              <a:gd name="connsiteY6" fmla="*/ 2399168 h 3309041"/>
              <a:gd name="connsiteX7" fmla="*/ 2792994 w 2933323"/>
              <a:gd name="connsiteY7" fmla="*/ 2399168 h 3309041"/>
              <a:gd name="connsiteX8" fmla="*/ 2792994 w 2933323"/>
              <a:gd name="connsiteY8" fmla="*/ 0 h 3309041"/>
              <a:gd name="connsiteX9" fmla="*/ 2933323 w 2933323"/>
              <a:gd name="connsiteY9" fmla="*/ 0 h 3309041"/>
              <a:gd name="connsiteX10" fmla="*/ 2933323 w 2933323"/>
              <a:gd name="connsiteY10" fmla="*/ 2480649 h 3309041"/>
              <a:gd name="connsiteX11" fmla="*/ 2073244 w 2933323"/>
              <a:gd name="connsiteY11" fmla="*/ 2480649 h 3309041"/>
              <a:gd name="connsiteX12" fmla="*/ 2073244 w 2933323"/>
              <a:gd name="connsiteY12" fmla="*/ 2806574 h 3309041"/>
              <a:gd name="connsiteX13" fmla="*/ 1566250 w 2933323"/>
              <a:gd name="connsiteY13" fmla="*/ 2806574 h 3309041"/>
              <a:gd name="connsiteX14" fmla="*/ 1566250 w 2933323"/>
              <a:gd name="connsiteY14" fmla="*/ 3309041 h 3309041"/>
              <a:gd name="connsiteX15" fmla="*/ 9053 w 2933323"/>
              <a:gd name="connsiteY15" fmla="*/ 3309041 h 3309041"/>
              <a:gd name="connsiteX16" fmla="*/ 0 w 2933323"/>
              <a:gd name="connsiteY16" fmla="*/ 3191346 h 330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3323" h="3309041">
                <a:moveTo>
                  <a:pt x="0" y="3191346"/>
                </a:moveTo>
                <a:lnTo>
                  <a:pt x="1312752" y="3191346"/>
                </a:lnTo>
                <a:lnTo>
                  <a:pt x="1312752" y="2806574"/>
                </a:lnTo>
                <a:lnTo>
                  <a:pt x="864606" y="2806574"/>
                </a:lnTo>
                <a:lnTo>
                  <a:pt x="864606" y="2417275"/>
                </a:lnTo>
                <a:lnTo>
                  <a:pt x="2068717" y="2417275"/>
                </a:lnTo>
                <a:lnTo>
                  <a:pt x="2086824" y="2399168"/>
                </a:lnTo>
                <a:lnTo>
                  <a:pt x="2792994" y="2399168"/>
                </a:lnTo>
                <a:lnTo>
                  <a:pt x="2792994" y="0"/>
                </a:lnTo>
                <a:lnTo>
                  <a:pt x="2933323" y="0"/>
                </a:lnTo>
                <a:lnTo>
                  <a:pt x="2933323" y="2480649"/>
                </a:lnTo>
                <a:lnTo>
                  <a:pt x="2073244" y="2480649"/>
                </a:lnTo>
                <a:lnTo>
                  <a:pt x="2073244" y="2806574"/>
                </a:lnTo>
                <a:lnTo>
                  <a:pt x="1566250" y="2806574"/>
                </a:lnTo>
                <a:lnTo>
                  <a:pt x="1566250" y="3309041"/>
                </a:lnTo>
                <a:lnTo>
                  <a:pt x="9053" y="3309041"/>
                </a:lnTo>
                <a:lnTo>
                  <a:pt x="0" y="3191346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任意多边形 55"/>
          <p:cNvSpPr/>
          <p:nvPr/>
        </p:nvSpPr>
        <p:spPr bwMode="auto">
          <a:xfrm>
            <a:off x="1264231" y="2215963"/>
            <a:ext cx="1596450" cy="424697"/>
          </a:xfrm>
          <a:custGeom>
            <a:avLst/>
            <a:gdLst>
              <a:gd name="connsiteX0" fmla="*/ 1668 w 1596450"/>
              <a:gd name="connsiteY0" fmla="*/ 364026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64026 h 424697"/>
              <a:gd name="connsiteX0" fmla="*/ 1668 w 1596450"/>
              <a:gd name="connsiteY0" fmla="*/ 377027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77027 h 42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6450" h="424697">
                <a:moveTo>
                  <a:pt x="1668" y="377027"/>
                </a:moveTo>
                <a:lnTo>
                  <a:pt x="1197755" y="377027"/>
                </a:lnTo>
                <a:lnTo>
                  <a:pt x="1202088" y="424697"/>
                </a:lnTo>
                <a:lnTo>
                  <a:pt x="1596450" y="424697"/>
                </a:lnTo>
                <a:lnTo>
                  <a:pt x="1596450" y="17334"/>
                </a:lnTo>
                <a:lnTo>
                  <a:pt x="1462107" y="17334"/>
                </a:lnTo>
                <a:cubicBezTo>
                  <a:pt x="1463552" y="121342"/>
                  <a:pt x="1464996" y="225349"/>
                  <a:pt x="1466441" y="329357"/>
                </a:cubicBezTo>
                <a:lnTo>
                  <a:pt x="1202088" y="325024"/>
                </a:lnTo>
                <a:cubicBezTo>
                  <a:pt x="1203533" y="219572"/>
                  <a:pt x="1204977" y="114119"/>
                  <a:pt x="1206422" y="8667"/>
                </a:cubicBezTo>
                <a:lnTo>
                  <a:pt x="1668" y="0"/>
                </a:lnTo>
                <a:cubicBezTo>
                  <a:pt x="223" y="124231"/>
                  <a:pt x="-1221" y="261464"/>
                  <a:pt x="1668" y="377027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7" name="矩形 147"/>
          <p:cNvSpPr>
            <a:spLocks noChangeArrowheads="1"/>
          </p:cNvSpPr>
          <p:nvPr/>
        </p:nvSpPr>
        <p:spPr bwMode="auto">
          <a:xfrm>
            <a:off x="1270233" y="3117849"/>
            <a:ext cx="1197134" cy="533985"/>
          </a:xfrm>
          <a:prstGeom prst="rect">
            <a:avLst/>
          </a:prstGeom>
          <a:pattFill prst="pct7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58" name="矩形 147"/>
          <p:cNvSpPr>
            <a:spLocks noChangeArrowheads="1"/>
          </p:cNvSpPr>
          <p:nvPr/>
        </p:nvSpPr>
        <p:spPr bwMode="auto">
          <a:xfrm>
            <a:off x="1265086" y="2590136"/>
            <a:ext cx="1212663" cy="533985"/>
          </a:xfrm>
          <a:prstGeom prst="rect">
            <a:avLst/>
          </a:prstGeom>
          <a:pattFill prst="pct8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59" name="Line 2861"/>
          <p:cNvSpPr>
            <a:spLocks noChangeShapeType="1"/>
          </p:cNvSpPr>
          <p:nvPr/>
        </p:nvSpPr>
        <p:spPr bwMode="auto">
          <a:xfrm>
            <a:off x="3033891" y="1215361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60" name="Text Box 2864"/>
          <p:cNvSpPr txBox="1">
            <a:spLocks noChangeArrowheads="1"/>
          </p:cNvSpPr>
          <p:nvPr/>
        </p:nvSpPr>
        <p:spPr bwMode="auto">
          <a:xfrm>
            <a:off x="2271891" y="1320136"/>
            <a:ext cx="10477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58188" rIns="0" bIns="58188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i="1">
                <a:latin typeface="Times New Roman" pitchFamily="18" charset="0"/>
              </a:rPr>
              <a:t>h</a:t>
            </a:r>
          </a:p>
        </p:txBody>
      </p:sp>
      <p:sp>
        <p:nvSpPr>
          <p:cNvPr id="61" name="Text Box 2870"/>
          <p:cNvSpPr txBox="1">
            <a:spLocks noChangeArrowheads="1"/>
          </p:cNvSpPr>
          <p:nvPr/>
        </p:nvSpPr>
        <p:spPr bwMode="auto">
          <a:xfrm>
            <a:off x="1666536" y="3241011"/>
            <a:ext cx="804863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Text Box 2871"/>
          <p:cNvSpPr txBox="1">
            <a:spLocks noChangeArrowheads="1"/>
          </p:cNvSpPr>
          <p:nvPr/>
        </p:nvSpPr>
        <p:spPr bwMode="auto">
          <a:xfrm>
            <a:off x="2860757" y="3883738"/>
            <a:ext cx="70485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滤网</a:t>
            </a:r>
          </a:p>
        </p:txBody>
      </p:sp>
      <p:sp>
        <p:nvSpPr>
          <p:cNvPr id="63" name="Line 2872"/>
          <p:cNvSpPr>
            <a:spLocks noChangeShapeType="1"/>
          </p:cNvSpPr>
          <p:nvPr/>
        </p:nvSpPr>
        <p:spPr bwMode="auto">
          <a:xfrm>
            <a:off x="1301455" y="3636299"/>
            <a:ext cx="115411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4" name="Freeform 2876"/>
          <p:cNvSpPr>
            <a:spLocks/>
          </p:cNvSpPr>
          <p:nvPr/>
        </p:nvSpPr>
        <p:spPr bwMode="auto">
          <a:xfrm>
            <a:off x="397054" y="937549"/>
            <a:ext cx="2946400" cy="3603625"/>
          </a:xfrm>
          <a:custGeom>
            <a:avLst/>
            <a:gdLst>
              <a:gd name="T0" fmla="*/ 0 w 10000"/>
              <a:gd name="T1" fmla="*/ 2147483647 h 10517"/>
              <a:gd name="T2" fmla="*/ 2147483647 w 10000"/>
              <a:gd name="T3" fmla="*/ 2147483647 h 10517"/>
              <a:gd name="T4" fmla="*/ 2147483647 w 10000"/>
              <a:gd name="T5" fmla="*/ 2147483647 h 10517"/>
              <a:gd name="T6" fmla="*/ 2147483647 w 10000"/>
              <a:gd name="T7" fmla="*/ 2147483647 h 10517"/>
              <a:gd name="T8" fmla="*/ 2147483647 w 10000"/>
              <a:gd name="T9" fmla="*/ 2147483647 h 10517"/>
              <a:gd name="T10" fmla="*/ 2147483647 w 10000"/>
              <a:gd name="T11" fmla="*/ 2147483647 h 10517"/>
              <a:gd name="T12" fmla="*/ 2147483647 w 10000"/>
              <a:gd name="T13" fmla="*/ 0 h 105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0" h="10517">
                <a:moveTo>
                  <a:pt x="0" y="10517"/>
                </a:moveTo>
                <a:lnTo>
                  <a:pt x="5344" y="10517"/>
                </a:lnTo>
                <a:lnTo>
                  <a:pt x="5344" y="9021"/>
                </a:lnTo>
                <a:lnTo>
                  <a:pt x="7059" y="9021"/>
                </a:lnTo>
                <a:lnTo>
                  <a:pt x="7059" y="8081"/>
                </a:lnTo>
                <a:lnTo>
                  <a:pt x="10000" y="8081"/>
                </a:lnTo>
                <a:lnTo>
                  <a:pt x="1000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65" name="Freeform 2877"/>
          <p:cNvSpPr>
            <a:spLocks/>
          </p:cNvSpPr>
          <p:nvPr/>
        </p:nvSpPr>
        <p:spPr bwMode="auto">
          <a:xfrm>
            <a:off x="408166" y="2215486"/>
            <a:ext cx="1317625" cy="2200275"/>
          </a:xfrm>
          <a:custGeom>
            <a:avLst/>
            <a:gdLst>
              <a:gd name="T0" fmla="*/ 0 w 10542"/>
              <a:gd name="T1" fmla="*/ 2147483647 h 9974"/>
              <a:gd name="T2" fmla="*/ 2147483647 w 10542"/>
              <a:gd name="T3" fmla="*/ 2147483647 h 9974"/>
              <a:gd name="T4" fmla="*/ 2147483647 w 10542"/>
              <a:gd name="T5" fmla="*/ 2147483647 h 9974"/>
              <a:gd name="T6" fmla="*/ 2147483647 w 10542"/>
              <a:gd name="T7" fmla="*/ 2147483647 h 9974"/>
              <a:gd name="T8" fmla="*/ 2147483647 w 10542"/>
              <a:gd name="T9" fmla="*/ 0 h 99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542" h="9974">
                <a:moveTo>
                  <a:pt x="0" y="9974"/>
                </a:moveTo>
                <a:lnTo>
                  <a:pt x="10542" y="9969"/>
                </a:lnTo>
                <a:lnTo>
                  <a:pt x="10542" y="8199"/>
                </a:lnTo>
                <a:lnTo>
                  <a:pt x="6858" y="8199"/>
                </a:lnTo>
                <a:lnTo>
                  <a:pt x="685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66" name="Freeform 2878"/>
          <p:cNvSpPr>
            <a:spLocks/>
          </p:cNvSpPr>
          <p:nvPr/>
        </p:nvSpPr>
        <p:spPr bwMode="auto">
          <a:xfrm>
            <a:off x="2470046" y="1715424"/>
            <a:ext cx="254283" cy="828675"/>
          </a:xfrm>
          <a:custGeom>
            <a:avLst/>
            <a:gdLst>
              <a:gd name="T0" fmla="*/ 0 w 10334"/>
              <a:gd name="T1" fmla="*/ 2147483647 h 10000"/>
              <a:gd name="T2" fmla="*/ 1978025314 w 10334"/>
              <a:gd name="T3" fmla="*/ 2147483647 h 10000"/>
              <a:gd name="T4" fmla="*/ 2147483647 w 10334"/>
              <a:gd name="T5" fmla="*/ 2147483647 h 10000"/>
              <a:gd name="T6" fmla="*/ 2147483647 w 10334"/>
              <a:gd name="T7" fmla="*/ 0 h 10000"/>
              <a:gd name="T8" fmla="*/ 0 60000 65536"/>
              <a:gd name="T9" fmla="*/ 0 60000 65536"/>
              <a:gd name="T10" fmla="*/ 0 60000 65536"/>
              <a:gd name="T11" fmla="*/ 0 60000 65536"/>
              <a:gd name="connsiteX0" fmla="*/ 40 w 10032"/>
              <a:gd name="connsiteY0" fmla="*/ 6063 h 10000"/>
              <a:gd name="connsiteX1" fmla="*/ 32 w 10032"/>
              <a:gd name="connsiteY1" fmla="*/ 10000 h 10000"/>
              <a:gd name="connsiteX2" fmla="*/ 10032 w 10032"/>
              <a:gd name="connsiteY2" fmla="*/ 10000 h 10000"/>
              <a:gd name="connsiteX3" fmla="*/ 10032 w 10032"/>
              <a:gd name="connsiteY3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2" h="10000">
                <a:moveTo>
                  <a:pt x="40" y="6063"/>
                </a:moveTo>
                <a:cubicBezTo>
                  <a:pt x="151" y="7375"/>
                  <a:pt x="-79" y="8688"/>
                  <a:pt x="32" y="10000"/>
                </a:cubicBezTo>
                <a:lnTo>
                  <a:pt x="10032" y="10000"/>
                </a:lnTo>
                <a:lnTo>
                  <a:pt x="10032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67" name="Freeform 2879"/>
          <p:cNvSpPr>
            <a:spLocks/>
          </p:cNvSpPr>
          <p:nvPr/>
        </p:nvSpPr>
        <p:spPr bwMode="auto">
          <a:xfrm>
            <a:off x="2476679" y="947074"/>
            <a:ext cx="730250" cy="2673350"/>
          </a:xfrm>
          <a:custGeom>
            <a:avLst/>
            <a:gdLst>
              <a:gd name="T0" fmla="*/ 2147483647 w 10000"/>
              <a:gd name="T1" fmla="*/ 2147483647 h 10589"/>
              <a:gd name="T2" fmla="*/ 2147483647 w 10000"/>
              <a:gd name="T3" fmla="*/ 2147483647 h 10589"/>
              <a:gd name="T4" fmla="*/ 0 w 10000"/>
              <a:gd name="T5" fmla="*/ 2147483647 h 10589"/>
              <a:gd name="T6" fmla="*/ 0 w 10000"/>
              <a:gd name="T7" fmla="*/ 2147483647 h 10589"/>
              <a:gd name="T8" fmla="*/ 2147483647 w 10000"/>
              <a:gd name="T9" fmla="*/ 2147483647 h 10589"/>
              <a:gd name="T10" fmla="*/ 2147483647 w 10000"/>
              <a:gd name="T11" fmla="*/ 0 h 105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0" h="10589">
                <a:moveTo>
                  <a:pt x="5329" y="3103"/>
                </a:moveTo>
                <a:lnTo>
                  <a:pt x="5329" y="6708"/>
                </a:lnTo>
                <a:lnTo>
                  <a:pt x="0" y="6708"/>
                </a:lnTo>
                <a:lnTo>
                  <a:pt x="0" y="10589"/>
                </a:lnTo>
                <a:lnTo>
                  <a:pt x="9884" y="10589"/>
                </a:lnTo>
                <a:cubicBezTo>
                  <a:pt x="9923" y="7059"/>
                  <a:pt x="9961" y="3530"/>
                  <a:pt x="1000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68" name="AutoShape 2887"/>
          <p:cNvSpPr>
            <a:spLocks noChangeArrowheads="1"/>
          </p:cNvSpPr>
          <p:nvPr/>
        </p:nvSpPr>
        <p:spPr bwMode="auto">
          <a:xfrm flipV="1">
            <a:off x="1525766" y="2051974"/>
            <a:ext cx="188913" cy="1603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376" tIns="58188" rIns="116376" bIns="58188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69" name="Line 2888"/>
          <p:cNvSpPr>
            <a:spLocks noChangeShapeType="1"/>
          </p:cNvSpPr>
          <p:nvPr/>
        </p:nvSpPr>
        <p:spPr bwMode="auto">
          <a:xfrm>
            <a:off x="1424166" y="2269461"/>
            <a:ext cx="1635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0" name="Line 2889"/>
          <p:cNvSpPr>
            <a:spLocks noChangeShapeType="1"/>
          </p:cNvSpPr>
          <p:nvPr/>
        </p:nvSpPr>
        <p:spPr bwMode="auto">
          <a:xfrm>
            <a:off x="1655941" y="2271049"/>
            <a:ext cx="1619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1" name="Line 2890"/>
          <p:cNvSpPr>
            <a:spLocks noChangeShapeType="1"/>
          </p:cNvSpPr>
          <p:nvPr/>
        </p:nvSpPr>
        <p:spPr bwMode="auto">
          <a:xfrm>
            <a:off x="1494016" y="2320261"/>
            <a:ext cx="22860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2" name="Line 2891"/>
          <p:cNvSpPr>
            <a:spLocks noChangeShapeType="1"/>
          </p:cNvSpPr>
          <p:nvPr/>
        </p:nvSpPr>
        <p:spPr bwMode="auto">
          <a:xfrm>
            <a:off x="1595616" y="2372649"/>
            <a:ext cx="76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3" name="Line 2892"/>
          <p:cNvSpPr>
            <a:spLocks noChangeShapeType="1"/>
          </p:cNvSpPr>
          <p:nvPr/>
        </p:nvSpPr>
        <p:spPr bwMode="auto">
          <a:xfrm>
            <a:off x="1273993" y="2221836"/>
            <a:ext cx="1184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4" name="Line 2896"/>
          <p:cNvSpPr>
            <a:spLocks noChangeShapeType="1"/>
          </p:cNvSpPr>
          <p:nvPr/>
        </p:nvSpPr>
        <p:spPr bwMode="auto">
          <a:xfrm>
            <a:off x="1274084" y="2590136"/>
            <a:ext cx="1181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5" name="Line 2897"/>
          <p:cNvSpPr>
            <a:spLocks noChangeShapeType="1"/>
          </p:cNvSpPr>
          <p:nvPr/>
        </p:nvSpPr>
        <p:spPr bwMode="auto">
          <a:xfrm flipH="1">
            <a:off x="2913241" y="2231361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6" name="Line 2899"/>
          <p:cNvSpPr>
            <a:spLocks noChangeShapeType="1"/>
          </p:cNvSpPr>
          <p:nvPr/>
        </p:nvSpPr>
        <p:spPr bwMode="auto">
          <a:xfrm>
            <a:off x="2895779" y="1220124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7" name="Line 2904"/>
          <p:cNvSpPr>
            <a:spLocks noChangeShapeType="1"/>
          </p:cNvSpPr>
          <p:nvPr/>
        </p:nvSpPr>
        <p:spPr bwMode="auto">
          <a:xfrm>
            <a:off x="2000429" y="3647411"/>
            <a:ext cx="823912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8" name="Line 2911"/>
          <p:cNvSpPr>
            <a:spLocks noChangeShapeType="1"/>
          </p:cNvSpPr>
          <p:nvPr/>
        </p:nvSpPr>
        <p:spPr bwMode="auto">
          <a:xfrm>
            <a:off x="2722741" y="2231361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79" name="Line 2912"/>
          <p:cNvSpPr>
            <a:spLocks noChangeShapeType="1"/>
          </p:cNvSpPr>
          <p:nvPr/>
        </p:nvSpPr>
        <p:spPr bwMode="auto">
          <a:xfrm>
            <a:off x="2732266" y="2259936"/>
            <a:ext cx="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80" name="Line 2913"/>
          <p:cNvSpPr>
            <a:spLocks noChangeShapeType="1"/>
          </p:cNvSpPr>
          <p:nvPr/>
        </p:nvSpPr>
        <p:spPr bwMode="auto">
          <a:xfrm>
            <a:off x="2732266" y="2290099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grpSp>
        <p:nvGrpSpPr>
          <p:cNvPr id="81" name="Group 2914"/>
          <p:cNvGrpSpPr>
            <a:grpSpLocks/>
          </p:cNvGrpSpPr>
          <p:nvPr/>
        </p:nvGrpSpPr>
        <p:grpSpPr bwMode="auto">
          <a:xfrm>
            <a:off x="3200579" y="1220124"/>
            <a:ext cx="136525" cy="58737"/>
            <a:chOff x="2120" y="479"/>
            <a:chExt cx="48" cy="31"/>
          </a:xfrm>
        </p:grpSpPr>
        <p:sp>
          <p:nvSpPr>
            <p:cNvPr id="82" name="Line 2915"/>
            <p:cNvSpPr>
              <a:spLocks noChangeShapeType="1"/>
            </p:cNvSpPr>
            <p:nvPr/>
          </p:nvSpPr>
          <p:spPr bwMode="auto">
            <a:xfrm>
              <a:off x="2120" y="479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916"/>
            <p:cNvSpPr>
              <a:spLocks noChangeShapeType="1"/>
            </p:cNvSpPr>
            <p:nvPr/>
          </p:nvSpPr>
          <p:spPr bwMode="auto">
            <a:xfrm>
              <a:off x="2124" y="494"/>
              <a:ext cx="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917"/>
            <p:cNvSpPr>
              <a:spLocks noChangeShapeType="1"/>
            </p:cNvSpPr>
            <p:nvPr/>
          </p:nvSpPr>
          <p:spPr bwMode="auto">
            <a:xfrm>
              <a:off x="2124" y="510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Line 2896"/>
          <p:cNvSpPr>
            <a:spLocks noChangeShapeType="1"/>
          </p:cNvSpPr>
          <p:nvPr/>
        </p:nvSpPr>
        <p:spPr bwMode="auto">
          <a:xfrm>
            <a:off x="1278545" y="3128299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86" name="Text Box 2870"/>
          <p:cNvSpPr txBox="1">
            <a:spLocks noChangeArrowheads="1"/>
          </p:cNvSpPr>
          <p:nvPr/>
        </p:nvSpPr>
        <p:spPr bwMode="auto">
          <a:xfrm>
            <a:off x="1642856" y="2709026"/>
            <a:ext cx="804862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7" name="Line 2903"/>
          <p:cNvSpPr>
            <a:spLocks noChangeShapeType="1"/>
          </p:cNvSpPr>
          <p:nvPr/>
        </p:nvSpPr>
        <p:spPr bwMode="auto">
          <a:xfrm rot="5400000">
            <a:off x="602260" y="4078822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88" name="Text Box 2869"/>
          <p:cNvSpPr txBox="1">
            <a:spLocks noChangeArrowheads="1"/>
          </p:cNvSpPr>
          <p:nvPr/>
        </p:nvSpPr>
        <p:spPr bwMode="auto">
          <a:xfrm>
            <a:off x="501350" y="4034911"/>
            <a:ext cx="219075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i="1" dirty="0">
                <a:latin typeface="Times New Roman" pitchFamily="18" charset="0"/>
              </a:rPr>
              <a:t>Q</a:t>
            </a:r>
          </a:p>
        </p:txBody>
      </p:sp>
      <p:sp>
        <p:nvSpPr>
          <p:cNvPr id="89" name="椭圆 88"/>
          <p:cNvSpPr/>
          <p:nvPr/>
        </p:nvSpPr>
        <p:spPr bwMode="auto">
          <a:xfrm>
            <a:off x="1398436" y="260431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0" name="椭圆 89"/>
          <p:cNvSpPr/>
          <p:nvPr/>
        </p:nvSpPr>
        <p:spPr bwMode="auto">
          <a:xfrm>
            <a:off x="1402246" y="310723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1" name="椭圆 90"/>
          <p:cNvSpPr/>
          <p:nvPr/>
        </p:nvSpPr>
        <p:spPr bwMode="auto">
          <a:xfrm>
            <a:off x="1401172" y="2833708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2" name="椭圆 91"/>
          <p:cNvSpPr/>
          <p:nvPr/>
        </p:nvSpPr>
        <p:spPr bwMode="auto">
          <a:xfrm>
            <a:off x="1404151" y="335246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3" name="椭圆 92"/>
          <p:cNvSpPr/>
          <p:nvPr/>
        </p:nvSpPr>
        <p:spPr bwMode="auto">
          <a:xfrm>
            <a:off x="1404151" y="360315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4" name="Text Box 2870"/>
          <p:cNvSpPr txBox="1">
            <a:spLocks noChangeArrowheads="1"/>
          </p:cNvSpPr>
          <p:nvPr/>
        </p:nvSpPr>
        <p:spPr bwMode="auto">
          <a:xfrm>
            <a:off x="1352536" y="2480176"/>
            <a:ext cx="420530" cy="123110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E</a:t>
            </a:r>
            <a:endParaRPr lang="zh-CN" altLang="en-US" sz="16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935946" y="4997072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8"/>
            </p:custDataLst>
          </p:nvPr>
        </p:nvSpPr>
        <p:spPr>
          <a:xfrm>
            <a:off x="4650321" y="4755638"/>
            <a:ext cx="4177862" cy="1133639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复杂啊！我不同意上面两种说法！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9"/>
            </p:custDataLst>
          </p:nvPr>
        </p:nvSpPr>
        <p:spPr>
          <a:xfrm>
            <a:off x="4146331" y="745018"/>
            <a:ext cx="4769070" cy="14001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对图所示的双层土渗透试验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试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逐步升高时，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下列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有关流土发生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位置说法正确的是？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60645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57200" y="712408"/>
            <a:ext cx="8245365" cy="128193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/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图所示的双层土渗透试验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如果土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和土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的渗透系数满足：</a:t>
            </a:r>
            <a:r>
              <a:rPr lang="en-US" altLang="zh-CN" sz="2400" b="1" i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&lt;&lt; </a:t>
            </a:r>
            <a:r>
              <a:rPr lang="en-US" altLang="zh-CN" sz="2400" b="1" i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。当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逐步升高时，最先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发生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流土的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位置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是：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119017" y="21401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119017" y="28259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119017" y="35117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119017" y="41975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404642" y="22044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404642" y="28902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404642" y="35760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4404642" y="42618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任意多边形 18"/>
          <p:cNvSpPr/>
          <p:nvPr/>
        </p:nvSpPr>
        <p:spPr bwMode="auto">
          <a:xfrm>
            <a:off x="531138" y="2093696"/>
            <a:ext cx="2933323" cy="3309041"/>
          </a:xfrm>
          <a:custGeom>
            <a:avLst/>
            <a:gdLst>
              <a:gd name="connsiteX0" fmla="*/ 0 w 2933323"/>
              <a:gd name="connsiteY0" fmla="*/ 3191346 h 3309041"/>
              <a:gd name="connsiteX1" fmla="*/ 1312752 w 2933323"/>
              <a:gd name="connsiteY1" fmla="*/ 3191346 h 3309041"/>
              <a:gd name="connsiteX2" fmla="*/ 1312752 w 2933323"/>
              <a:gd name="connsiteY2" fmla="*/ 2806574 h 3309041"/>
              <a:gd name="connsiteX3" fmla="*/ 864606 w 2933323"/>
              <a:gd name="connsiteY3" fmla="*/ 2806574 h 3309041"/>
              <a:gd name="connsiteX4" fmla="*/ 864606 w 2933323"/>
              <a:gd name="connsiteY4" fmla="*/ 2417275 h 3309041"/>
              <a:gd name="connsiteX5" fmla="*/ 2068717 w 2933323"/>
              <a:gd name="connsiteY5" fmla="*/ 2417275 h 3309041"/>
              <a:gd name="connsiteX6" fmla="*/ 2086824 w 2933323"/>
              <a:gd name="connsiteY6" fmla="*/ 2399168 h 3309041"/>
              <a:gd name="connsiteX7" fmla="*/ 2792994 w 2933323"/>
              <a:gd name="connsiteY7" fmla="*/ 2399168 h 3309041"/>
              <a:gd name="connsiteX8" fmla="*/ 2792994 w 2933323"/>
              <a:gd name="connsiteY8" fmla="*/ 0 h 3309041"/>
              <a:gd name="connsiteX9" fmla="*/ 2933323 w 2933323"/>
              <a:gd name="connsiteY9" fmla="*/ 0 h 3309041"/>
              <a:gd name="connsiteX10" fmla="*/ 2933323 w 2933323"/>
              <a:gd name="connsiteY10" fmla="*/ 2480649 h 3309041"/>
              <a:gd name="connsiteX11" fmla="*/ 2073244 w 2933323"/>
              <a:gd name="connsiteY11" fmla="*/ 2480649 h 3309041"/>
              <a:gd name="connsiteX12" fmla="*/ 2073244 w 2933323"/>
              <a:gd name="connsiteY12" fmla="*/ 2806574 h 3309041"/>
              <a:gd name="connsiteX13" fmla="*/ 1566250 w 2933323"/>
              <a:gd name="connsiteY13" fmla="*/ 2806574 h 3309041"/>
              <a:gd name="connsiteX14" fmla="*/ 1566250 w 2933323"/>
              <a:gd name="connsiteY14" fmla="*/ 3309041 h 3309041"/>
              <a:gd name="connsiteX15" fmla="*/ 9053 w 2933323"/>
              <a:gd name="connsiteY15" fmla="*/ 3309041 h 3309041"/>
              <a:gd name="connsiteX16" fmla="*/ 0 w 2933323"/>
              <a:gd name="connsiteY16" fmla="*/ 3191346 h 330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3323" h="3309041">
                <a:moveTo>
                  <a:pt x="0" y="3191346"/>
                </a:moveTo>
                <a:lnTo>
                  <a:pt x="1312752" y="3191346"/>
                </a:lnTo>
                <a:lnTo>
                  <a:pt x="1312752" y="2806574"/>
                </a:lnTo>
                <a:lnTo>
                  <a:pt x="864606" y="2806574"/>
                </a:lnTo>
                <a:lnTo>
                  <a:pt x="864606" y="2417275"/>
                </a:lnTo>
                <a:lnTo>
                  <a:pt x="2068717" y="2417275"/>
                </a:lnTo>
                <a:lnTo>
                  <a:pt x="2086824" y="2399168"/>
                </a:lnTo>
                <a:lnTo>
                  <a:pt x="2792994" y="2399168"/>
                </a:lnTo>
                <a:lnTo>
                  <a:pt x="2792994" y="0"/>
                </a:lnTo>
                <a:lnTo>
                  <a:pt x="2933323" y="0"/>
                </a:lnTo>
                <a:lnTo>
                  <a:pt x="2933323" y="2480649"/>
                </a:lnTo>
                <a:lnTo>
                  <a:pt x="2073244" y="2480649"/>
                </a:lnTo>
                <a:lnTo>
                  <a:pt x="2073244" y="2806574"/>
                </a:lnTo>
                <a:lnTo>
                  <a:pt x="1566250" y="2806574"/>
                </a:lnTo>
                <a:lnTo>
                  <a:pt x="1566250" y="3309041"/>
                </a:lnTo>
                <a:lnTo>
                  <a:pt x="9053" y="3309041"/>
                </a:lnTo>
                <a:lnTo>
                  <a:pt x="0" y="3191346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任意多边形 19"/>
          <p:cNvSpPr/>
          <p:nvPr/>
        </p:nvSpPr>
        <p:spPr bwMode="auto">
          <a:xfrm>
            <a:off x="1387533" y="3085887"/>
            <a:ext cx="1596450" cy="424697"/>
          </a:xfrm>
          <a:custGeom>
            <a:avLst/>
            <a:gdLst>
              <a:gd name="connsiteX0" fmla="*/ 1668 w 1596450"/>
              <a:gd name="connsiteY0" fmla="*/ 364026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64026 h 424697"/>
              <a:gd name="connsiteX0" fmla="*/ 1668 w 1596450"/>
              <a:gd name="connsiteY0" fmla="*/ 377027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77027 h 42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6450" h="424697">
                <a:moveTo>
                  <a:pt x="1668" y="377027"/>
                </a:moveTo>
                <a:lnTo>
                  <a:pt x="1197755" y="377027"/>
                </a:lnTo>
                <a:lnTo>
                  <a:pt x="1202088" y="424697"/>
                </a:lnTo>
                <a:lnTo>
                  <a:pt x="1596450" y="424697"/>
                </a:lnTo>
                <a:lnTo>
                  <a:pt x="1596450" y="17334"/>
                </a:lnTo>
                <a:lnTo>
                  <a:pt x="1462107" y="17334"/>
                </a:lnTo>
                <a:cubicBezTo>
                  <a:pt x="1463552" y="121342"/>
                  <a:pt x="1464996" y="225349"/>
                  <a:pt x="1466441" y="329357"/>
                </a:cubicBezTo>
                <a:lnTo>
                  <a:pt x="1202088" y="325024"/>
                </a:lnTo>
                <a:cubicBezTo>
                  <a:pt x="1203533" y="219572"/>
                  <a:pt x="1204977" y="114119"/>
                  <a:pt x="1206422" y="8667"/>
                </a:cubicBezTo>
                <a:lnTo>
                  <a:pt x="1668" y="0"/>
                </a:lnTo>
                <a:cubicBezTo>
                  <a:pt x="223" y="124231"/>
                  <a:pt x="-1221" y="261464"/>
                  <a:pt x="1668" y="377027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矩形 147"/>
          <p:cNvSpPr>
            <a:spLocks noChangeArrowheads="1"/>
          </p:cNvSpPr>
          <p:nvPr/>
        </p:nvSpPr>
        <p:spPr bwMode="auto">
          <a:xfrm>
            <a:off x="1393535" y="3987773"/>
            <a:ext cx="1197134" cy="533985"/>
          </a:xfrm>
          <a:prstGeom prst="rect">
            <a:avLst/>
          </a:prstGeom>
          <a:pattFill prst="pct7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2" name="矩形 147"/>
          <p:cNvSpPr>
            <a:spLocks noChangeArrowheads="1"/>
          </p:cNvSpPr>
          <p:nvPr/>
        </p:nvSpPr>
        <p:spPr bwMode="auto">
          <a:xfrm>
            <a:off x="1388388" y="3460060"/>
            <a:ext cx="1212663" cy="533985"/>
          </a:xfrm>
          <a:prstGeom prst="rect">
            <a:avLst/>
          </a:prstGeom>
          <a:pattFill prst="pct8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3" name="Line 2861"/>
          <p:cNvSpPr>
            <a:spLocks noChangeShapeType="1"/>
          </p:cNvSpPr>
          <p:nvPr/>
        </p:nvSpPr>
        <p:spPr bwMode="auto">
          <a:xfrm>
            <a:off x="3157193" y="2085285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4" name="Text Box 2864"/>
          <p:cNvSpPr txBox="1">
            <a:spLocks noChangeArrowheads="1"/>
          </p:cNvSpPr>
          <p:nvPr/>
        </p:nvSpPr>
        <p:spPr bwMode="auto">
          <a:xfrm>
            <a:off x="2395193" y="2190060"/>
            <a:ext cx="10477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58188" rIns="0" bIns="58188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i="1" dirty="0">
                <a:latin typeface="Times New Roman" pitchFamily="18" charset="0"/>
              </a:rPr>
              <a:t>h</a:t>
            </a:r>
          </a:p>
        </p:txBody>
      </p:sp>
      <p:sp>
        <p:nvSpPr>
          <p:cNvPr id="25" name="Text Box 2870"/>
          <p:cNvSpPr txBox="1">
            <a:spLocks noChangeArrowheads="1"/>
          </p:cNvSpPr>
          <p:nvPr/>
        </p:nvSpPr>
        <p:spPr bwMode="auto">
          <a:xfrm>
            <a:off x="1789838" y="4110935"/>
            <a:ext cx="804863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" name="Text Box 2871"/>
          <p:cNvSpPr txBox="1">
            <a:spLocks noChangeArrowheads="1"/>
          </p:cNvSpPr>
          <p:nvPr/>
        </p:nvSpPr>
        <p:spPr bwMode="auto">
          <a:xfrm>
            <a:off x="2984059" y="4753662"/>
            <a:ext cx="70485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滤网</a:t>
            </a:r>
          </a:p>
        </p:txBody>
      </p:sp>
      <p:sp>
        <p:nvSpPr>
          <p:cNvPr id="27" name="Line 2872"/>
          <p:cNvSpPr>
            <a:spLocks noChangeShapeType="1"/>
          </p:cNvSpPr>
          <p:nvPr/>
        </p:nvSpPr>
        <p:spPr bwMode="auto">
          <a:xfrm>
            <a:off x="1424757" y="4506223"/>
            <a:ext cx="115411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8" name="Freeform 2876"/>
          <p:cNvSpPr>
            <a:spLocks/>
          </p:cNvSpPr>
          <p:nvPr/>
        </p:nvSpPr>
        <p:spPr bwMode="auto">
          <a:xfrm>
            <a:off x="520356" y="1807473"/>
            <a:ext cx="2946400" cy="3603625"/>
          </a:xfrm>
          <a:custGeom>
            <a:avLst/>
            <a:gdLst>
              <a:gd name="T0" fmla="*/ 0 w 10000"/>
              <a:gd name="T1" fmla="*/ 2147483647 h 10517"/>
              <a:gd name="T2" fmla="*/ 2147483647 w 10000"/>
              <a:gd name="T3" fmla="*/ 2147483647 h 10517"/>
              <a:gd name="T4" fmla="*/ 2147483647 w 10000"/>
              <a:gd name="T5" fmla="*/ 2147483647 h 10517"/>
              <a:gd name="T6" fmla="*/ 2147483647 w 10000"/>
              <a:gd name="T7" fmla="*/ 2147483647 h 10517"/>
              <a:gd name="T8" fmla="*/ 2147483647 w 10000"/>
              <a:gd name="T9" fmla="*/ 2147483647 h 10517"/>
              <a:gd name="T10" fmla="*/ 2147483647 w 10000"/>
              <a:gd name="T11" fmla="*/ 2147483647 h 10517"/>
              <a:gd name="T12" fmla="*/ 2147483647 w 10000"/>
              <a:gd name="T13" fmla="*/ 0 h 105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0" h="10517">
                <a:moveTo>
                  <a:pt x="0" y="10517"/>
                </a:moveTo>
                <a:lnTo>
                  <a:pt x="5344" y="10517"/>
                </a:lnTo>
                <a:lnTo>
                  <a:pt x="5344" y="9021"/>
                </a:lnTo>
                <a:lnTo>
                  <a:pt x="7059" y="9021"/>
                </a:lnTo>
                <a:lnTo>
                  <a:pt x="7059" y="8081"/>
                </a:lnTo>
                <a:lnTo>
                  <a:pt x="10000" y="8081"/>
                </a:lnTo>
                <a:lnTo>
                  <a:pt x="1000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9" name="Freeform 2877"/>
          <p:cNvSpPr>
            <a:spLocks/>
          </p:cNvSpPr>
          <p:nvPr/>
        </p:nvSpPr>
        <p:spPr bwMode="auto">
          <a:xfrm>
            <a:off x="531468" y="3085410"/>
            <a:ext cx="1317625" cy="2200275"/>
          </a:xfrm>
          <a:custGeom>
            <a:avLst/>
            <a:gdLst>
              <a:gd name="T0" fmla="*/ 0 w 10542"/>
              <a:gd name="T1" fmla="*/ 2147483647 h 9974"/>
              <a:gd name="T2" fmla="*/ 2147483647 w 10542"/>
              <a:gd name="T3" fmla="*/ 2147483647 h 9974"/>
              <a:gd name="T4" fmla="*/ 2147483647 w 10542"/>
              <a:gd name="T5" fmla="*/ 2147483647 h 9974"/>
              <a:gd name="T6" fmla="*/ 2147483647 w 10542"/>
              <a:gd name="T7" fmla="*/ 2147483647 h 9974"/>
              <a:gd name="T8" fmla="*/ 2147483647 w 10542"/>
              <a:gd name="T9" fmla="*/ 0 h 99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542" h="9974">
                <a:moveTo>
                  <a:pt x="0" y="9974"/>
                </a:moveTo>
                <a:lnTo>
                  <a:pt x="10542" y="9969"/>
                </a:lnTo>
                <a:lnTo>
                  <a:pt x="10542" y="8199"/>
                </a:lnTo>
                <a:lnTo>
                  <a:pt x="6858" y="8199"/>
                </a:lnTo>
                <a:lnTo>
                  <a:pt x="685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0" name="Freeform 2878"/>
          <p:cNvSpPr>
            <a:spLocks/>
          </p:cNvSpPr>
          <p:nvPr/>
        </p:nvSpPr>
        <p:spPr bwMode="auto">
          <a:xfrm>
            <a:off x="2593348" y="2585348"/>
            <a:ext cx="254283" cy="828675"/>
          </a:xfrm>
          <a:custGeom>
            <a:avLst/>
            <a:gdLst>
              <a:gd name="T0" fmla="*/ 0 w 10334"/>
              <a:gd name="T1" fmla="*/ 2147483647 h 10000"/>
              <a:gd name="T2" fmla="*/ 1978025314 w 10334"/>
              <a:gd name="T3" fmla="*/ 2147483647 h 10000"/>
              <a:gd name="T4" fmla="*/ 2147483647 w 10334"/>
              <a:gd name="T5" fmla="*/ 2147483647 h 10000"/>
              <a:gd name="T6" fmla="*/ 2147483647 w 10334"/>
              <a:gd name="T7" fmla="*/ 0 h 10000"/>
              <a:gd name="T8" fmla="*/ 0 60000 65536"/>
              <a:gd name="T9" fmla="*/ 0 60000 65536"/>
              <a:gd name="T10" fmla="*/ 0 60000 65536"/>
              <a:gd name="T11" fmla="*/ 0 60000 65536"/>
              <a:gd name="connsiteX0" fmla="*/ 40 w 10032"/>
              <a:gd name="connsiteY0" fmla="*/ 6063 h 10000"/>
              <a:gd name="connsiteX1" fmla="*/ 32 w 10032"/>
              <a:gd name="connsiteY1" fmla="*/ 10000 h 10000"/>
              <a:gd name="connsiteX2" fmla="*/ 10032 w 10032"/>
              <a:gd name="connsiteY2" fmla="*/ 10000 h 10000"/>
              <a:gd name="connsiteX3" fmla="*/ 10032 w 10032"/>
              <a:gd name="connsiteY3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2" h="10000">
                <a:moveTo>
                  <a:pt x="40" y="6063"/>
                </a:moveTo>
                <a:cubicBezTo>
                  <a:pt x="151" y="7375"/>
                  <a:pt x="-79" y="8688"/>
                  <a:pt x="32" y="10000"/>
                </a:cubicBezTo>
                <a:lnTo>
                  <a:pt x="10032" y="10000"/>
                </a:lnTo>
                <a:lnTo>
                  <a:pt x="10032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1" name="Freeform 2879"/>
          <p:cNvSpPr>
            <a:spLocks/>
          </p:cNvSpPr>
          <p:nvPr/>
        </p:nvSpPr>
        <p:spPr bwMode="auto">
          <a:xfrm>
            <a:off x="2599981" y="1816998"/>
            <a:ext cx="730250" cy="2673350"/>
          </a:xfrm>
          <a:custGeom>
            <a:avLst/>
            <a:gdLst>
              <a:gd name="T0" fmla="*/ 2147483647 w 10000"/>
              <a:gd name="T1" fmla="*/ 2147483647 h 10589"/>
              <a:gd name="T2" fmla="*/ 2147483647 w 10000"/>
              <a:gd name="T3" fmla="*/ 2147483647 h 10589"/>
              <a:gd name="T4" fmla="*/ 0 w 10000"/>
              <a:gd name="T5" fmla="*/ 2147483647 h 10589"/>
              <a:gd name="T6" fmla="*/ 0 w 10000"/>
              <a:gd name="T7" fmla="*/ 2147483647 h 10589"/>
              <a:gd name="T8" fmla="*/ 2147483647 w 10000"/>
              <a:gd name="T9" fmla="*/ 2147483647 h 10589"/>
              <a:gd name="T10" fmla="*/ 2147483647 w 10000"/>
              <a:gd name="T11" fmla="*/ 0 h 105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0" h="10589">
                <a:moveTo>
                  <a:pt x="5329" y="3103"/>
                </a:moveTo>
                <a:lnTo>
                  <a:pt x="5329" y="6708"/>
                </a:lnTo>
                <a:lnTo>
                  <a:pt x="0" y="6708"/>
                </a:lnTo>
                <a:lnTo>
                  <a:pt x="0" y="10589"/>
                </a:lnTo>
                <a:lnTo>
                  <a:pt x="9884" y="10589"/>
                </a:lnTo>
                <a:cubicBezTo>
                  <a:pt x="9923" y="7059"/>
                  <a:pt x="9961" y="3530"/>
                  <a:pt x="1000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2" name="AutoShape 2887"/>
          <p:cNvSpPr>
            <a:spLocks noChangeArrowheads="1"/>
          </p:cNvSpPr>
          <p:nvPr/>
        </p:nvSpPr>
        <p:spPr bwMode="auto">
          <a:xfrm flipV="1">
            <a:off x="1649068" y="2921898"/>
            <a:ext cx="188913" cy="1603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376" tIns="58188" rIns="116376" bIns="58188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33" name="Line 2888"/>
          <p:cNvSpPr>
            <a:spLocks noChangeShapeType="1"/>
          </p:cNvSpPr>
          <p:nvPr/>
        </p:nvSpPr>
        <p:spPr bwMode="auto">
          <a:xfrm>
            <a:off x="1547468" y="3139385"/>
            <a:ext cx="1635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4" name="Line 2889"/>
          <p:cNvSpPr>
            <a:spLocks noChangeShapeType="1"/>
          </p:cNvSpPr>
          <p:nvPr/>
        </p:nvSpPr>
        <p:spPr bwMode="auto">
          <a:xfrm>
            <a:off x="1779243" y="3140973"/>
            <a:ext cx="1619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5" name="Line 2890"/>
          <p:cNvSpPr>
            <a:spLocks noChangeShapeType="1"/>
          </p:cNvSpPr>
          <p:nvPr/>
        </p:nvSpPr>
        <p:spPr bwMode="auto">
          <a:xfrm>
            <a:off x="1617318" y="3190185"/>
            <a:ext cx="22860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6" name="Line 2891"/>
          <p:cNvSpPr>
            <a:spLocks noChangeShapeType="1"/>
          </p:cNvSpPr>
          <p:nvPr/>
        </p:nvSpPr>
        <p:spPr bwMode="auto">
          <a:xfrm>
            <a:off x="1718918" y="3242573"/>
            <a:ext cx="76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7" name="Line 2892"/>
          <p:cNvSpPr>
            <a:spLocks noChangeShapeType="1"/>
          </p:cNvSpPr>
          <p:nvPr/>
        </p:nvSpPr>
        <p:spPr bwMode="auto">
          <a:xfrm>
            <a:off x="1397295" y="3091760"/>
            <a:ext cx="1184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8" name="Line 2896"/>
          <p:cNvSpPr>
            <a:spLocks noChangeShapeType="1"/>
          </p:cNvSpPr>
          <p:nvPr/>
        </p:nvSpPr>
        <p:spPr bwMode="auto">
          <a:xfrm>
            <a:off x="1397386" y="3460060"/>
            <a:ext cx="1181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9" name="Line 2897"/>
          <p:cNvSpPr>
            <a:spLocks noChangeShapeType="1"/>
          </p:cNvSpPr>
          <p:nvPr/>
        </p:nvSpPr>
        <p:spPr bwMode="auto">
          <a:xfrm flipH="1">
            <a:off x="3036543" y="3101285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0" name="Line 2899"/>
          <p:cNvSpPr>
            <a:spLocks noChangeShapeType="1"/>
          </p:cNvSpPr>
          <p:nvPr/>
        </p:nvSpPr>
        <p:spPr bwMode="auto">
          <a:xfrm>
            <a:off x="3019081" y="209004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1" name="Line 2904"/>
          <p:cNvSpPr>
            <a:spLocks noChangeShapeType="1"/>
          </p:cNvSpPr>
          <p:nvPr/>
        </p:nvSpPr>
        <p:spPr bwMode="auto">
          <a:xfrm>
            <a:off x="2123731" y="4517335"/>
            <a:ext cx="823912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2" name="Line 2911"/>
          <p:cNvSpPr>
            <a:spLocks noChangeShapeType="1"/>
          </p:cNvSpPr>
          <p:nvPr/>
        </p:nvSpPr>
        <p:spPr bwMode="auto">
          <a:xfrm>
            <a:off x="2846043" y="3101285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3" name="Line 2912"/>
          <p:cNvSpPr>
            <a:spLocks noChangeShapeType="1"/>
          </p:cNvSpPr>
          <p:nvPr/>
        </p:nvSpPr>
        <p:spPr bwMode="auto">
          <a:xfrm>
            <a:off x="2855568" y="3129860"/>
            <a:ext cx="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4" name="Line 2913"/>
          <p:cNvSpPr>
            <a:spLocks noChangeShapeType="1"/>
          </p:cNvSpPr>
          <p:nvPr/>
        </p:nvSpPr>
        <p:spPr bwMode="auto">
          <a:xfrm>
            <a:off x="2855568" y="3160023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grpSp>
        <p:nvGrpSpPr>
          <p:cNvPr id="45" name="Group 2914"/>
          <p:cNvGrpSpPr>
            <a:grpSpLocks/>
          </p:cNvGrpSpPr>
          <p:nvPr/>
        </p:nvGrpSpPr>
        <p:grpSpPr bwMode="auto">
          <a:xfrm>
            <a:off x="3323881" y="2090048"/>
            <a:ext cx="136525" cy="58737"/>
            <a:chOff x="2120" y="479"/>
            <a:chExt cx="48" cy="31"/>
          </a:xfrm>
        </p:grpSpPr>
        <p:sp>
          <p:nvSpPr>
            <p:cNvPr id="46" name="Line 2915"/>
            <p:cNvSpPr>
              <a:spLocks noChangeShapeType="1"/>
            </p:cNvSpPr>
            <p:nvPr/>
          </p:nvSpPr>
          <p:spPr bwMode="auto">
            <a:xfrm>
              <a:off x="2120" y="479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916"/>
            <p:cNvSpPr>
              <a:spLocks noChangeShapeType="1"/>
            </p:cNvSpPr>
            <p:nvPr/>
          </p:nvSpPr>
          <p:spPr bwMode="auto">
            <a:xfrm>
              <a:off x="2124" y="494"/>
              <a:ext cx="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917"/>
            <p:cNvSpPr>
              <a:spLocks noChangeShapeType="1"/>
            </p:cNvSpPr>
            <p:nvPr/>
          </p:nvSpPr>
          <p:spPr bwMode="auto">
            <a:xfrm>
              <a:off x="2124" y="510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" name="Line 2896"/>
          <p:cNvSpPr>
            <a:spLocks noChangeShapeType="1"/>
          </p:cNvSpPr>
          <p:nvPr/>
        </p:nvSpPr>
        <p:spPr bwMode="auto">
          <a:xfrm>
            <a:off x="1401847" y="399822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50" name="Text Box 2870"/>
          <p:cNvSpPr txBox="1">
            <a:spLocks noChangeArrowheads="1"/>
          </p:cNvSpPr>
          <p:nvPr/>
        </p:nvSpPr>
        <p:spPr bwMode="auto">
          <a:xfrm>
            <a:off x="1766158" y="3578950"/>
            <a:ext cx="804862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" name="Line 2903"/>
          <p:cNvSpPr>
            <a:spLocks noChangeShapeType="1"/>
          </p:cNvSpPr>
          <p:nvPr/>
        </p:nvSpPr>
        <p:spPr bwMode="auto">
          <a:xfrm rot="5400000">
            <a:off x="725562" y="4948746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52" name="Text Box 2869"/>
          <p:cNvSpPr txBox="1">
            <a:spLocks noChangeArrowheads="1"/>
          </p:cNvSpPr>
          <p:nvPr/>
        </p:nvSpPr>
        <p:spPr bwMode="auto">
          <a:xfrm>
            <a:off x="624652" y="4904835"/>
            <a:ext cx="219075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i="1" dirty="0">
                <a:latin typeface="Times New Roman" pitchFamily="18" charset="0"/>
              </a:rPr>
              <a:t>Q</a:t>
            </a:r>
          </a:p>
        </p:txBody>
      </p:sp>
      <p:sp>
        <p:nvSpPr>
          <p:cNvPr id="53" name="椭圆 52"/>
          <p:cNvSpPr/>
          <p:nvPr/>
        </p:nvSpPr>
        <p:spPr bwMode="auto">
          <a:xfrm>
            <a:off x="1521738" y="347423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4" name="椭圆 53"/>
          <p:cNvSpPr/>
          <p:nvPr/>
        </p:nvSpPr>
        <p:spPr bwMode="auto">
          <a:xfrm>
            <a:off x="1525548" y="397715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5" name="椭圆 54"/>
          <p:cNvSpPr/>
          <p:nvPr/>
        </p:nvSpPr>
        <p:spPr bwMode="auto">
          <a:xfrm>
            <a:off x="1524474" y="370363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椭圆 55"/>
          <p:cNvSpPr/>
          <p:nvPr/>
        </p:nvSpPr>
        <p:spPr bwMode="auto">
          <a:xfrm>
            <a:off x="1527453" y="422238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7" name="椭圆 56"/>
          <p:cNvSpPr/>
          <p:nvPr/>
        </p:nvSpPr>
        <p:spPr bwMode="auto">
          <a:xfrm>
            <a:off x="1527453" y="447307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8" name="Text Box 2870"/>
          <p:cNvSpPr txBox="1">
            <a:spLocks noChangeArrowheads="1"/>
          </p:cNvSpPr>
          <p:nvPr/>
        </p:nvSpPr>
        <p:spPr bwMode="auto">
          <a:xfrm>
            <a:off x="1475838" y="3350100"/>
            <a:ext cx="420530" cy="123110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E</a:t>
            </a:r>
            <a:endParaRPr lang="zh-CN" altLang="en-US" sz="16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0" name="矩形 59"/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4404642" y="49476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5128804" y="4886806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367278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119017" y="21401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119017" y="28259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119017" y="35117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119017" y="41975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404642" y="22044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404642" y="28902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404642" y="35760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404642" y="42618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任意多边形 18"/>
          <p:cNvSpPr/>
          <p:nvPr/>
        </p:nvSpPr>
        <p:spPr bwMode="auto">
          <a:xfrm>
            <a:off x="531138" y="2093696"/>
            <a:ext cx="2933323" cy="3309041"/>
          </a:xfrm>
          <a:custGeom>
            <a:avLst/>
            <a:gdLst>
              <a:gd name="connsiteX0" fmla="*/ 0 w 2933323"/>
              <a:gd name="connsiteY0" fmla="*/ 3191346 h 3309041"/>
              <a:gd name="connsiteX1" fmla="*/ 1312752 w 2933323"/>
              <a:gd name="connsiteY1" fmla="*/ 3191346 h 3309041"/>
              <a:gd name="connsiteX2" fmla="*/ 1312752 w 2933323"/>
              <a:gd name="connsiteY2" fmla="*/ 2806574 h 3309041"/>
              <a:gd name="connsiteX3" fmla="*/ 864606 w 2933323"/>
              <a:gd name="connsiteY3" fmla="*/ 2806574 h 3309041"/>
              <a:gd name="connsiteX4" fmla="*/ 864606 w 2933323"/>
              <a:gd name="connsiteY4" fmla="*/ 2417275 h 3309041"/>
              <a:gd name="connsiteX5" fmla="*/ 2068717 w 2933323"/>
              <a:gd name="connsiteY5" fmla="*/ 2417275 h 3309041"/>
              <a:gd name="connsiteX6" fmla="*/ 2086824 w 2933323"/>
              <a:gd name="connsiteY6" fmla="*/ 2399168 h 3309041"/>
              <a:gd name="connsiteX7" fmla="*/ 2792994 w 2933323"/>
              <a:gd name="connsiteY7" fmla="*/ 2399168 h 3309041"/>
              <a:gd name="connsiteX8" fmla="*/ 2792994 w 2933323"/>
              <a:gd name="connsiteY8" fmla="*/ 0 h 3309041"/>
              <a:gd name="connsiteX9" fmla="*/ 2933323 w 2933323"/>
              <a:gd name="connsiteY9" fmla="*/ 0 h 3309041"/>
              <a:gd name="connsiteX10" fmla="*/ 2933323 w 2933323"/>
              <a:gd name="connsiteY10" fmla="*/ 2480649 h 3309041"/>
              <a:gd name="connsiteX11" fmla="*/ 2073244 w 2933323"/>
              <a:gd name="connsiteY11" fmla="*/ 2480649 h 3309041"/>
              <a:gd name="connsiteX12" fmla="*/ 2073244 w 2933323"/>
              <a:gd name="connsiteY12" fmla="*/ 2806574 h 3309041"/>
              <a:gd name="connsiteX13" fmla="*/ 1566250 w 2933323"/>
              <a:gd name="connsiteY13" fmla="*/ 2806574 h 3309041"/>
              <a:gd name="connsiteX14" fmla="*/ 1566250 w 2933323"/>
              <a:gd name="connsiteY14" fmla="*/ 3309041 h 3309041"/>
              <a:gd name="connsiteX15" fmla="*/ 9053 w 2933323"/>
              <a:gd name="connsiteY15" fmla="*/ 3309041 h 3309041"/>
              <a:gd name="connsiteX16" fmla="*/ 0 w 2933323"/>
              <a:gd name="connsiteY16" fmla="*/ 3191346 h 330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3323" h="3309041">
                <a:moveTo>
                  <a:pt x="0" y="3191346"/>
                </a:moveTo>
                <a:lnTo>
                  <a:pt x="1312752" y="3191346"/>
                </a:lnTo>
                <a:lnTo>
                  <a:pt x="1312752" y="2806574"/>
                </a:lnTo>
                <a:lnTo>
                  <a:pt x="864606" y="2806574"/>
                </a:lnTo>
                <a:lnTo>
                  <a:pt x="864606" y="2417275"/>
                </a:lnTo>
                <a:lnTo>
                  <a:pt x="2068717" y="2417275"/>
                </a:lnTo>
                <a:lnTo>
                  <a:pt x="2086824" y="2399168"/>
                </a:lnTo>
                <a:lnTo>
                  <a:pt x="2792994" y="2399168"/>
                </a:lnTo>
                <a:lnTo>
                  <a:pt x="2792994" y="0"/>
                </a:lnTo>
                <a:lnTo>
                  <a:pt x="2933323" y="0"/>
                </a:lnTo>
                <a:lnTo>
                  <a:pt x="2933323" y="2480649"/>
                </a:lnTo>
                <a:lnTo>
                  <a:pt x="2073244" y="2480649"/>
                </a:lnTo>
                <a:lnTo>
                  <a:pt x="2073244" y="2806574"/>
                </a:lnTo>
                <a:lnTo>
                  <a:pt x="1566250" y="2806574"/>
                </a:lnTo>
                <a:lnTo>
                  <a:pt x="1566250" y="3309041"/>
                </a:lnTo>
                <a:lnTo>
                  <a:pt x="9053" y="3309041"/>
                </a:lnTo>
                <a:lnTo>
                  <a:pt x="0" y="3191346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任意多边形 19"/>
          <p:cNvSpPr/>
          <p:nvPr/>
        </p:nvSpPr>
        <p:spPr bwMode="auto">
          <a:xfrm>
            <a:off x="1387533" y="3085887"/>
            <a:ext cx="1596450" cy="424697"/>
          </a:xfrm>
          <a:custGeom>
            <a:avLst/>
            <a:gdLst>
              <a:gd name="connsiteX0" fmla="*/ 1668 w 1596450"/>
              <a:gd name="connsiteY0" fmla="*/ 364026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64026 h 424697"/>
              <a:gd name="connsiteX0" fmla="*/ 1668 w 1596450"/>
              <a:gd name="connsiteY0" fmla="*/ 377027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77027 h 42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6450" h="424697">
                <a:moveTo>
                  <a:pt x="1668" y="377027"/>
                </a:moveTo>
                <a:lnTo>
                  <a:pt x="1197755" y="377027"/>
                </a:lnTo>
                <a:lnTo>
                  <a:pt x="1202088" y="424697"/>
                </a:lnTo>
                <a:lnTo>
                  <a:pt x="1596450" y="424697"/>
                </a:lnTo>
                <a:lnTo>
                  <a:pt x="1596450" y="17334"/>
                </a:lnTo>
                <a:lnTo>
                  <a:pt x="1462107" y="17334"/>
                </a:lnTo>
                <a:cubicBezTo>
                  <a:pt x="1463552" y="121342"/>
                  <a:pt x="1464996" y="225349"/>
                  <a:pt x="1466441" y="329357"/>
                </a:cubicBezTo>
                <a:lnTo>
                  <a:pt x="1202088" y="325024"/>
                </a:lnTo>
                <a:cubicBezTo>
                  <a:pt x="1203533" y="219572"/>
                  <a:pt x="1204977" y="114119"/>
                  <a:pt x="1206422" y="8667"/>
                </a:cubicBezTo>
                <a:lnTo>
                  <a:pt x="1668" y="0"/>
                </a:lnTo>
                <a:cubicBezTo>
                  <a:pt x="223" y="124231"/>
                  <a:pt x="-1221" y="261464"/>
                  <a:pt x="1668" y="377027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矩形 147"/>
          <p:cNvSpPr>
            <a:spLocks noChangeArrowheads="1"/>
          </p:cNvSpPr>
          <p:nvPr/>
        </p:nvSpPr>
        <p:spPr bwMode="auto">
          <a:xfrm>
            <a:off x="1393535" y="3987773"/>
            <a:ext cx="1197134" cy="533985"/>
          </a:xfrm>
          <a:prstGeom prst="rect">
            <a:avLst/>
          </a:prstGeom>
          <a:pattFill prst="pct7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2" name="矩形 147"/>
          <p:cNvSpPr>
            <a:spLocks noChangeArrowheads="1"/>
          </p:cNvSpPr>
          <p:nvPr/>
        </p:nvSpPr>
        <p:spPr bwMode="auto">
          <a:xfrm>
            <a:off x="1388388" y="3460060"/>
            <a:ext cx="1212663" cy="533985"/>
          </a:xfrm>
          <a:prstGeom prst="rect">
            <a:avLst/>
          </a:prstGeom>
          <a:pattFill prst="pct8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3" name="Line 2861"/>
          <p:cNvSpPr>
            <a:spLocks noChangeShapeType="1"/>
          </p:cNvSpPr>
          <p:nvPr/>
        </p:nvSpPr>
        <p:spPr bwMode="auto">
          <a:xfrm>
            <a:off x="3157193" y="2085285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4" name="Text Box 2864"/>
          <p:cNvSpPr txBox="1">
            <a:spLocks noChangeArrowheads="1"/>
          </p:cNvSpPr>
          <p:nvPr/>
        </p:nvSpPr>
        <p:spPr bwMode="auto">
          <a:xfrm>
            <a:off x="2395193" y="2190060"/>
            <a:ext cx="10477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58188" rIns="0" bIns="58188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i="1" dirty="0">
                <a:latin typeface="Times New Roman" pitchFamily="18" charset="0"/>
              </a:rPr>
              <a:t>h</a:t>
            </a:r>
          </a:p>
        </p:txBody>
      </p:sp>
      <p:sp>
        <p:nvSpPr>
          <p:cNvPr id="25" name="Text Box 2870"/>
          <p:cNvSpPr txBox="1">
            <a:spLocks noChangeArrowheads="1"/>
          </p:cNvSpPr>
          <p:nvPr/>
        </p:nvSpPr>
        <p:spPr bwMode="auto">
          <a:xfrm>
            <a:off x="1789838" y="4110935"/>
            <a:ext cx="804863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" name="Text Box 2871"/>
          <p:cNvSpPr txBox="1">
            <a:spLocks noChangeArrowheads="1"/>
          </p:cNvSpPr>
          <p:nvPr/>
        </p:nvSpPr>
        <p:spPr bwMode="auto">
          <a:xfrm>
            <a:off x="2984059" y="4753662"/>
            <a:ext cx="70485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滤网</a:t>
            </a:r>
          </a:p>
        </p:txBody>
      </p:sp>
      <p:sp>
        <p:nvSpPr>
          <p:cNvPr id="27" name="Line 2872"/>
          <p:cNvSpPr>
            <a:spLocks noChangeShapeType="1"/>
          </p:cNvSpPr>
          <p:nvPr/>
        </p:nvSpPr>
        <p:spPr bwMode="auto">
          <a:xfrm>
            <a:off x="1424757" y="4506223"/>
            <a:ext cx="115411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8" name="Freeform 2876"/>
          <p:cNvSpPr>
            <a:spLocks/>
          </p:cNvSpPr>
          <p:nvPr/>
        </p:nvSpPr>
        <p:spPr bwMode="auto">
          <a:xfrm>
            <a:off x="520356" y="1807473"/>
            <a:ext cx="2946400" cy="3603625"/>
          </a:xfrm>
          <a:custGeom>
            <a:avLst/>
            <a:gdLst>
              <a:gd name="T0" fmla="*/ 0 w 10000"/>
              <a:gd name="T1" fmla="*/ 2147483647 h 10517"/>
              <a:gd name="T2" fmla="*/ 2147483647 w 10000"/>
              <a:gd name="T3" fmla="*/ 2147483647 h 10517"/>
              <a:gd name="T4" fmla="*/ 2147483647 w 10000"/>
              <a:gd name="T5" fmla="*/ 2147483647 h 10517"/>
              <a:gd name="T6" fmla="*/ 2147483647 w 10000"/>
              <a:gd name="T7" fmla="*/ 2147483647 h 10517"/>
              <a:gd name="T8" fmla="*/ 2147483647 w 10000"/>
              <a:gd name="T9" fmla="*/ 2147483647 h 10517"/>
              <a:gd name="T10" fmla="*/ 2147483647 w 10000"/>
              <a:gd name="T11" fmla="*/ 2147483647 h 10517"/>
              <a:gd name="T12" fmla="*/ 2147483647 w 10000"/>
              <a:gd name="T13" fmla="*/ 0 h 105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0" h="10517">
                <a:moveTo>
                  <a:pt x="0" y="10517"/>
                </a:moveTo>
                <a:lnTo>
                  <a:pt x="5344" y="10517"/>
                </a:lnTo>
                <a:lnTo>
                  <a:pt x="5344" y="9021"/>
                </a:lnTo>
                <a:lnTo>
                  <a:pt x="7059" y="9021"/>
                </a:lnTo>
                <a:lnTo>
                  <a:pt x="7059" y="8081"/>
                </a:lnTo>
                <a:lnTo>
                  <a:pt x="10000" y="8081"/>
                </a:lnTo>
                <a:lnTo>
                  <a:pt x="1000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9" name="Freeform 2877"/>
          <p:cNvSpPr>
            <a:spLocks/>
          </p:cNvSpPr>
          <p:nvPr/>
        </p:nvSpPr>
        <p:spPr bwMode="auto">
          <a:xfrm>
            <a:off x="531468" y="3085410"/>
            <a:ext cx="1317625" cy="2200275"/>
          </a:xfrm>
          <a:custGeom>
            <a:avLst/>
            <a:gdLst>
              <a:gd name="T0" fmla="*/ 0 w 10542"/>
              <a:gd name="T1" fmla="*/ 2147483647 h 9974"/>
              <a:gd name="T2" fmla="*/ 2147483647 w 10542"/>
              <a:gd name="T3" fmla="*/ 2147483647 h 9974"/>
              <a:gd name="T4" fmla="*/ 2147483647 w 10542"/>
              <a:gd name="T5" fmla="*/ 2147483647 h 9974"/>
              <a:gd name="T6" fmla="*/ 2147483647 w 10542"/>
              <a:gd name="T7" fmla="*/ 2147483647 h 9974"/>
              <a:gd name="T8" fmla="*/ 2147483647 w 10542"/>
              <a:gd name="T9" fmla="*/ 0 h 99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542" h="9974">
                <a:moveTo>
                  <a:pt x="0" y="9974"/>
                </a:moveTo>
                <a:lnTo>
                  <a:pt x="10542" y="9969"/>
                </a:lnTo>
                <a:lnTo>
                  <a:pt x="10542" y="8199"/>
                </a:lnTo>
                <a:lnTo>
                  <a:pt x="6858" y="8199"/>
                </a:lnTo>
                <a:lnTo>
                  <a:pt x="685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0" name="Freeform 2878"/>
          <p:cNvSpPr>
            <a:spLocks/>
          </p:cNvSpPr>
          <p:nvPr/>
        </p:nvSpPr>
        <p:spPr bwMode="auto">
          <a:xfrm>
            <a:off x="2593348" y="2585348"/>
            <a:ext cx="254283" cy="828675"/>
          </a:xfrm>
          <a:custGeom>
            <a:avLst/>
            <a:gdLst>
              <a:gd name="T0" fmla="*/ 0 w 10334"/>
              <a:gd name="T1" fmla="*/ 2147483647 h 10000"/>
              <a:gd name="T2" fmla="*/ 1978025314 w 10334"/>
              <a:gd name="T3" fmla="*/ 2147483647 h 10000"/>
              <a:gd name="T4" fmla="*/ 2147483647 w 10334"/>
              <a:gd name="T5" fmla="*/ 2147483647 h 10000"/>
              <a:gd name="T6" fmla="*/ 2147483647 w 10334"/>
              <a:gd name="T7" fmla="*/ 0 h 10000"/>
              <a:gd name="T8" fmla="*/ 0 60000 65536"/>
              <a:gd name="T9" fmla="*/ 0 60000 65536"/>
              <a:gd name="T10" fmla="*/ 0 60000 65536"/>
              <a:gd name="T11" fmla="*/ 0 60000 65536"/>
              <a:gd name="connsiteX0" fmla="*/ 40 w 10032"/>
              <a:gd name="connsiteY0" fmla="*/ 6063 h 10000"/>
              <a:gd name="connsiteX1" fmla="*/ 32 w 10032"/>
              <a:gd name="connsiteY1" fmla="*/ 10000 h 10000"/>
              <a:gd name="connsiteX2" fmla="*/ 10032 w 10032"/>
              <a:gd name="connsiteY2" fmla="*/ 10000 h 10000"/>
              <a:gd name="connsiteX3" fmla="*/ 10032 w 10032"/>
              <a:gd name="connsiteY3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2" h="10000">
                <a:moveTo>
                  <a:pt x="40" y="6063"/>
                </a:moveTo>
                <a:cubicBezTo>
                  <a:pt x="151" y="7375"/>
                  <a:pt x="-79" y="8688"/>
                  <a:pt x="32" y="10000"/>
                </a:cubicBezTo>
                <a:lnTo>
                  <a:pt x="10032" y="10000"/>
                </a:lnTo>
                <a:lnTo>
                  <a:pt x="10032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1" name="Freeform 2879"/>
          <p:cNvSpPr>
            <a:spLocks/>
          </p:cNvSpPr>
          <p:nvPr/>
        </p:nvSpPr>
        <p:spPr bwMode="auto">
          <a:xfrm>
            <a:off x="2599981" y="1816998"/>
            <a:ext cx="730250" cy="2673350"/>
          </a:xfrm>
          <a:custGeom>
            <a:avLst/>
            <a:gdLst>
              <a:gd name="T0" fmla="*/ 2147483647 w 10000"/>
              <a:gd name="T1" fmla="*/ 2147483647 h 10589"/>
              <a:gd name="T2" fmla="*/ 2147483647 w 10000"/>
              <a:gd name="T3" fmla="*/ 2147483647 h 10589"/>
              <a:gd name="T4" fmla="*/ 0 w 10000"/>
              <a:gd name="T5" fmla="*/ 2147483647 h 10589"/>
              <a:gd name="T6" fmla="*/ 0 w 10000"/>
              <a:gd name="T7" fmla="*/ 2147483647 h 10589"/>
              <a:gd name="T8" fmla="*/ 2147483647 w 10000"/>
              <a:gd name="T9" fmla="*/ 2147483647 h 10589"/>
              <a:gd name="T10" fmla="*/ 2147483647 w 10000"/>
              <a:gd name="T11" fmla="*/ 0 h 105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0" h="10589">
                <a:moveTo>
                  <a:pt x="5329" y="3103"/>
                </a:moveTo>
                <a:lnTo>
                  <a:pt x="5329" y="6708"/>
                </a:lnTo>
                <a:lnTo>
                  <a:pt x="0" y="6708"/>
                </a:lnTo>
                <a:lnTo>
                  <a:pt x="0" y="10589"/>
                </a:lnTo>
                <a:lnTo>
                  <a:pt x="9884" y="10589"/>
                </a:lnTo>
                <a:cubicBezTo>
                  <a:pt x="9923" y="7059"/>
                  <a:pt x="9961" y="3530"/>
                  <a:pt x="1000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2" name="AutoShape 2887"/>
          <p:cNvSpPr>
            <a:spLocks noChangeArrowheads="1"/>
          </p:cNvSpPr>
          <p:nvPr/>
        </p:nvSpPr>
        <p:spPr bwMode="auto">
          <a:xfrm flipV="1">
            <a:off x="1649068" y="2921898"/>
            <a:ext cx="188913" cy="1603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376" tIns="58188" rIns="116376" bIns="58188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33" name="Line 2888"/>
          <p:cNvSpPr>
            <a:spLocks noChangeShapeType="1"/>
          </p:cNvSpPr>
          <p:nvPr/>
        </p:nvSpPr>
        <p:spPr bwMode="auto">
          <a:xfrm>
            <a:off x="1547468" y="3139385"/>
            <a:ext cx="1635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4" name="Line 2889"/>
          <p:cNvSpPr>
            <a:spLocks noChangeShapeType="1"/>
          </p:cNvSpPr>
          <p:nvPr/>
        </p:nvSpPr>
        <p:spPr bwMode="auto">
          <a:xfrm>
            <a:off x="1779243" y="3140973"/>
            <a:ext cx="1619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5" name="Line 2890"/>
          <p:cNvSpPr>
            <a:spLocks noChangeShapeType="1"/>
          </p:cNvSpPr>
          <p:nvPr/>
        </p:nvSpPr>
        <p:spPr bwMode="auto">
          <a:xfrm>
            <a:off x="1617318" y="3190185"/>
            <a:ext cx="22860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6" name="Line 2891"/>
          <p:cNvSpPr>
            <a:spLocks noChangeShapeType="1"/>
          </p:cNvSpPr>
          <p:nvPr/>
        </p:nvSpPr>
        <p:spPr bwMode="auto">
          <a:xfrm>
            <a:off x="1718918" y="3242573"/>
            <a:ext cx="76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7" name="Line 2892"/>
          <p:cNvSpPr>
            <a:spLocks noChangeShapeType="1"/>
          </p:cNvSpPr>
          <p:nvPr/>
        </p:nvSpPr>
        <p:spPr bwMode="auto">
          <a:xfrm>
            <a:off x="1397295" y="3091760"/>
            <a:ext cx="1184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8" name="Line 2896"/>
          <p:cNvSpPr>
            <a:spLocks noChangeShapeType="1"/>
          </p:cNvSpPr>
          <p:nvPr/>
        </p:nvSpPr>
        <p:spPr bwMode="auto">
          <a:xfrm>
            <a:off x="1397386" y="3460060"/>
            <a:ext cx="1181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9" name="Line 2897"/>
          <p:cNvSpPr>
            <a:spLocks noChangeShapeType="1"/>
          </p:cNvSpPr>
          <p:nvPr/>
        </p:nvSpPr>
        <p:spPr bwMode="auto">
          <a:xfrm flipH="1">
            <a:off x="3036543" y="3101285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0" name="Line 2899"/>
          <p:cNvSpPr>
            <a:spLocks noChangeShapeType="1"/>
          </p:cNvSpPr>
          <p:nvPr/>
        </p:nvSpPr>
        <p:spPr bwMode="auto">
          <a:xfrm>
            <a:off x="3019081" y="209004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1" name="Line 2904"/>
          <p:cNvSpPr>
            <a:spLocks noChangeShapeType="1"/>
          </p:cNvSpPr>
          <p:nvPr/>
        </p:nvSpPr>
        <p:spPr bwMode="auto">
          <a:xfrm>
            <a:off x="2123731" y="4517335"/>
            <a:ext cx="823912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2" name="Line 2911"/>
          <p:cNvSpPr>
            <a:spLocks noChangeShapeType="1"/>
          </p:cNvSpPr>
          <p:nvPr/>
        </p:nvSpPr>
        <p:spPr bwMode="auto">
          <a:xfrm>
            <a:off x="2846043" y="3101285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3" name="Line 2912"/>
          <p:cNvSpPr>
            <a:spLocks noChangeShapeType="1"/>
          </p:cNvSpPr>
          <p:nvPr/>
        </p:nvSpPr>
        <p:spPr bwMode="auto">
          <a:xfrm>
            <a:off x="2855568" y="3129860"/>
            <a:ext cx="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4" name="Line 2913"/>
          <p:cNvSpPr>
            <a:spLocks noChangeShapeType="1"/>
          </p:cNvSpPr>
          <p:nvPr/>
        </p:nvSpPr>
        <p:spPr bwMode="auto">
          <a:xfrm>
            <a:off x="2855568" y="3160023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grpSp>
        <p:nvGrpSpPr>
          <p:cNvPr id="45" name="Group 2914"/>
          <p:cNvGrpSpPr>
            <a:grpSpLocks/>
          </p:cNvGrpSpPr>
          <p:nvPr/>
        </p:nvGrpSpPr>
        <p:grpSpPr bwMode="auto">
          <a:xfrm>
            <a:off x="3323881" y="2090048"/>
            <a:ext cx="136525" cy="58737"/>
            <a:chOff x="2120" y="479"/>
            <a:chExt cx="48" cy="31"/>
          </a:xfrm>
        </p:grpSpPr>
        <p:sp>
          <p:nvSpPr>
            <p:cNvPr id="46" name="Line 2915"/>
            <p:cNvSpPr>
              <a:spLocks noChangeShapeType="1"/>
            </p:cNvSpPr>
            <p:nvPr/>
          </p:nvSpPr>
          <p:spPr bwMode="auto">
            <a:xfrm>
              <a:off x="2120" y="479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916"/>
            <p:cNvSpPr>
              <a:spLocks noChangeShapeType="1"/>
            </p:cNvSpPr>
            <p:nvPr/>
          </p:nvSpPr>
          <p:spPr bwMode="auto">
            <a:xfrm>
              <a:off x="2124" y="494"/>
              <a:ext cx="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917"/>
            <p:cNvSpPr>
              <a:spLocks noChangeShapeType="1"/>
            </p:cNvSpPr>
            <p:nvPr/>
          </p:nvSpPr>
          <p:spPr bwMode="auto">
            <a:xfrm>
              <a:off x="2124" y="510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" name="Line 2896"/>
          <p:cNvSpPr>
            <a:spLocks noChangeShapeType="1"/>
          </p:cNvSpPr>
          <p:nvPr/>
        </p:nvSpPr>
        <p:spPr bwMode="auto">
          <a:xfrm>
            <a:off x="1401847" y="399822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50" name="Text Box 2870"/>
          <p:cNvSpPr txBox="1">
            <a:spLocks noChangeArrowheads="1"/>
          </p:cNvSpPr>
          <p:nvPr/>
        </p:nvSpPr>
        <p:spPr bwMode="auto">
          <a:xfrm>
            <a:off x="1766158" y="3578950"/>
            <a:ext cx="804862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" name="Line 2903"/>
          <p:cNvSpPr>
            <a:spLocks noChangeShapeType="1"/>
          </p:cNvSpPr>
          <p:nvPr/>
        </p:nvSpPr>
        <p:spPr bwMode="auto">
          <a:xfrm rot="5400000">
            <a:off x="725562" y="4948746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52" name="Text Box 2869"/>
          <p:cNvSpPr txBox="1">
            <a:spLocks noChangeArrowheads="1"/>
          </p:cNvSpPr>
          <p:nvPr/>
        </p:nvSpPr>
        <p:spPr bwMode="auto">
          <a:xfrm>
            <a:off x="624652" y="4904835"/>
            <a:ext cx="219075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i="1" dirty="0">
                <a:latin typeface="Times New Roman" pitchFamily="18" charset="0"/>
              </a:rPr>
              <a:t>Q</a:t>
            </a:r>
          </a:p>
        </p:txBody>
      </p:sp>
      <p:sp>
        <p:nvSpPr>
          <p:cNvPr id="53" name="椭圆 52"/>
          <p:cNvSpPr/>
          <p:nvPr/>
        </p:nvSpPr>
        <p:spPr bwMode="auto">
          <a:xfrm>
            <a:off x="1521738" y="347423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4" name="椭圆 53"/>
          <p:cNvSpPr/>
          <p:nvPr/>
        </p:nvSpPr>
        <p:spPr bwMode="auto">
          <a:xfrm>
            <a:off x="1525548" y="397715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5" name="椭圆 54"/>
          <p:cNvSpPr/>
          <p:nvPr/>
        </p:nvSpPr>
        <p:spPr bwMode="auto">
          <a:xfrm>
            <a:off x="1524474" y="370363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椭圆 55"/>
          <p:cNvSpPr/>
          <p:nvPr/>
        </p:nvSpPr>
        <p:spPr bwMode="auto">
          <a:xfrm>
            <a:off x="1527453" y="422238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7" name="椭圆 56"/>
          <p:cNvSpPr/>
          <p:nvPr/>
        </p:nvSpPr>
        <p:spPr bwMode="auto">
          <a:xfrm>
            <a:off x="1527453" y="447307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8" name="Text Box 2870"/>
          <p:cNvSpPr txBox="1">
            <a:spLocks noChangeArrowheads="1"/>
          </p:cNvSpPr>
          <p:nvPr/>
        </p:nvSpPr>
        <p:spPr bwMode="auto">
          <a:xfrm>
            <a:off x="1475838" y="3350100"/>
            <a:ext cx="420530" cy="123110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E</a:t>
            </a:r>
            <a:endParaRPr lang="zh-CN" altLang="en-US" sz="16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0" name="矩形 59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4404642" y="49476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2"/>
            </p:custDataLst>
          </p:nvPr>
        </p:nvSpPr>
        <p:spPr>
          <a:xfrm>
            <a:off x="5128804" y="4886806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3"/>
            </p:custDataLst>
          </p:nvPr>
        </p:nvSpPr>
        <p:spPr>
          <a:xfrm>
            <a:off x="457200" y="712408"/>
            <a:ext cx="8245365" cy="110800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/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图所示的双层土渗透试验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如果土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和土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的渗透系数满足：</a:t>
            </a:r>
            <a:r>
              <a:rPr lang="en-US" altLang="zh-CN" sz="2400" b="1" i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&gt;&gt; </a:t>
            </a:r>
            <a:r>
              <a:rPr lang="en-US" altLang="zh-CN" sz="2400" b="1" i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。当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逐步升高时，最先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发生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流土的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位置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是：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2643735"/>
      </p:ext>
    </p:extLst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119017" y="21401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119017" y="28259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119017" y="35117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119017" y="4197511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404642" y="22044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404642" y="28902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404642" y="35760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404642" y="426180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任意多边形 18"/>
          <p:cNvSpPr/>
          <p:nvPr/>
        </p:nvSpPr>
        <p:spPr bwMode="auto">
          <a:xfrm>
            <a:off x="531138" y="2093696"/>
            <a:ext cx="2933323" cy="3309041"/>
          </a:xfrm>
          <a:custGeom>
            <a:avLst/>
            <a:gdLst>
              <a:gd name="connsiteX0" fmla="*/ 0 w 2933323"/>
              <a:gd name="connsiteY0" fmla="*/ 3191346 h 3309041"/>
              <a:gd name="connsiteX1" fmla="*/ 1312752 w 2933323"/>
              <a:gd name="connsiteY1" fmla="*/ 3191346 h 3309041"/>
              <a:gd name="connsiteX2" fmla="*/ 1312752 w 2933323"/>
              <a:gd name="connsiteY2" fmla="*/ 2806574 h 3309041"/>
              <a:gd name="connsiteX3" fmla="*/ 864606 w 2933323"/>
              <a:gd name="connsiteY3" fmla="*/ 2806574 h 3309041"/>
              <a:gd name="connsiteX4" fmla="*/ 864606 w 2933323"/>
              <a:gd name="connsiteY4" fmla="*/ 2417275 h 3309041"/>
              <a:gd name="connsiteX5" fmla="*/ 2068717 w 2933323"/>
              <a:gd name="connsiteY5" fmla="*/ 2417275 h 3309041"/>
              <a:gd name="connsiteX6" fmla="*/ 2086824 w 2933323"/>
              <a:gd name="connsiteY6" fmla="*/ 2399168 h 3309041"/>
              <a:gd name="connsiteX7" fmla="*/ 2792994 w 2933323"/>
              <a:gd name="connsiteY7" fmla="*/ 2399168 h 3309041"/>
              <a:gd name="connsiteX8" fmla="*/ 2792994 w 2933323"/>
              <a:gd name="connsiteY8" fmla="*/ 0 h 3309041"/>
              <a:gd name="connsiteX9" fmla="*/ 2933323 w 2933323"/>
              <a:gd name="connsiteY9" fmla="*/ 0 h 3309041"/>
              <a:gd name="connsiteX10" fmla="*/ 2933323 w 2933323"/>
              <a:gd name="connsiteY10" fmla="*/ 2480649 h 3309041"/>
              <a:gd name="connsiteX11" fmla="*/ 2073244 w 2933323"/>
              <a:gd name="connsiteY11" fmla="*/ 2480649 h 3309041"/>
              <a:gd name="connsiteX12" fmla="*/ 2073244 w 2933323"/>
              <a:gd name="connsiteY12" fmla="*/ 2806574 h 3309041"/>
              <a:gd name="connsiteX13" fmla="*/ 1566250 w 2933323"/>
              <a:gd name="connsiteY13" fmla="*/ 2806574 h 3309041"/>
              <a:gd name="connsiteX14" fmla="*/ 1566250 w 2933323"/>
              <a:gd name="connsiteY14" fmla="*/ 3309041 h 3309041"/>
              <a:gd name="connsiteX15" fmla="*/ 9053 w 2933323"/>
              <a:gd name="connsiteY15" fmla="*/ 3309041 h 3309041"/>
              <a:gd name="connsiteX16" fmla="*/ 0 w 2933323"/>
              <a:gd name="connsiteY16" fmla="*/ 3191346 h 330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3323" h="3309041">
                <a:moveTo>
                  <a:pt x="0" y="3191346"/>
                </a:moveTo>
                <a:lnTo>
                  <a:pt x="1312752" y="3191346"/>
                </a:lnTo>
                <a:lnTo>
                  <a:pt x="1312752" y="2806574"/>
                </a:lnTo>
                <a:lnTo>
                  <a:pt x="864606" y="2806574"/>
                </a:lnTo>
                <a:lnTo>
                  <a:pt x="864606" y="2417275"/>
                </a:lnTo>
                <a:lnTo>
                  <a:pt x="2068717" y="2417275"/>
                </a:lnTo>
                <a:lnTo>
                  <a:pt x="2086824" y="2399168"/>
                </a:lnTo>
                <a:lnTo>
                  <a:pt x="2792994" y="2399168"/>
                </a:lnTo>
                <a:lnTo>
                  <a:pt x="2792994" y="0"/>
                </a:lnTo>
                <a:lnTo>
                  <a:pt x="2933323" y="0"/>
                </a:lnTo>
                <a:lnTo>
                  <a:pt x="2933323" y="2480649"/>
                </a:lnTo>
                <a:lnTo>
                  <a:pt x="2073244" y="2480649"/>
                </a:lnTo>
                <a:lnTo>
                  <a:pt x="2073244" y="2806574"/>
                </a:lnTo>
                <a:lnTo>
                  <a:pt x="1566250" y="2806574"/>
                </a:lnTo>
                <a:lnTo>
                  <a:pt x="1566250" y="3309041"/>
                </a:lnTo>
                <a:lnTo>
                  <a:pt x="9053" y="3309041"/>
                </a:lnTo>
                <a:lnTo>
                  <a:pt x="0" y="3191346"/>
                </a:ln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任意多边形 19"/>
          <p:cNvSpPr/>
          <p:nvPr/>
        </p:nvSpPr>
        <p:spPr bwMode="auto">
          <a:xfrm>
            <a:off x="1387533" y="3085887"/>
            <a:ext cx="1596450" cy="424697"/>
          </a:xfrm>
          <a:custGeom>
            <a:avLst/>
            <a:gdLst>
              <a:gd name="connsiteX0" fmla="*/ 1668 w 1596450"/>
              <a:gd name="connsiteY0" fmla="*/ 364026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64026 h 424697"/>
              <a:gd name="connsiteX0" fmla="*/ 1668 w 1596450"/>
              <a:gd name="connsiteY0" fmla="*/ 377027 h 424697"/>
              <a:gd name="connsiteX1" fmla="*/ 1197755 w 1596450"/>
              <a:gd name="connsiteY1" fmla="*/ 377027 h 424697"/>
              <a:gd name="connsiteX2" fmla="*/ 1202088 w 1596450"/>
              <a:gd name="connsiteY2" fmla="*/ 424697 h 424697"/>
              <a:gd name="connsiteX3" fmla="*/ 1596450 w 1596450"/>
              <a:gd name="connsiteY3" fmla="*/ 424697 h 424697"/>
              <a:gd name="connsiteX4" fmla="*/ 1596450 w 1596450"/>
              <a:gd name="connsiteY4" fmla="*/ 17334 h 424697"/>
              <a:gd name="connsiteX5" fmla="*/ 1462107 w 1596450"/>
              <a:gd name="connsiteY5" fmla="*/ 17334 h 424697"/>
              <a:gd name="connsiteX6" fmla="*/ 1466441 w 1596450"/>
              <a:gd name="connsiteY6" fmla="*/ 329357 h 424697"/>
              <a:gd name="connsiteX7" fmla="*/ 1202088 w 1596450"/>
              <a:gd name="connsiteY7" fmla="*/ 325024 h 424697"/>
              <a:gd name="connsiteX8" fmla="*/ 1206422 w 1596450"/>
              <a:gd name="connsiteY8" fmla="*/ 8667 h 424697"/>
              <a:gd name="connsiteX9" fmla="*/ 1668 w 1596450"/>
              <a:gd name="connsiteY9" fmla="*/ 0 h 424697"/>
              <a:gd name="connsiteX10" fmla="*/ 1668 w 1596450"/>
              <a:gd name="connsiteY10" fmla="*/ 377027 h 42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96450" h="424697">
                <a:moveTo>
                  <a:pt x="1668" y="377027"/>
                </a:moveTo>
                <a:lnTo>
                  <a:pt x="1197755" y="377027"/>
                </a:lnTo>
                <a:lnTo>
                  <a:pt x="1202088" y="424697"/>
                </a:lnTo>
                <a:lnTo>
                  <a:pt x="1596450" y="424697"/>
                </a:lnTo>
                <a:lnTo>
                  <a:pt x="1596450" y="17334"/>
                </a:lnTo>
                <a:lnTo>
                  <a:pt x="1462107" y="17334"/>
                </a:lnTo>
                <a:cubicBezTo>
                  <a:pt x="1463552" y="121342"/>
                  <a:pt x="1464996" y="225349"/>
                  <a:pt x="1466441" y="329357"/>
                </a:cubicBezTo>
                <a:lnTo>
                  <a:pt x="1202088" y="325024"/>
                </a:lnTo>
                <a:cubicBezTo>
                  <a:pt x="1203533" y="219572"/>
                  <a:pt x="1204977" y="114119"/>
                  <a:pt x="1206422" y="8667"/>
                </a:cubicBezTo>
                <a:lnTo>
                  <a:pt x="1668" y="0"/>
                </a:lnTo>
                <a:cubicBezTo>
                  <a:pt x="223" y="124231"/>
                  <a:pt x="-1221" y="261464"/>
                  <a:pt x="1668" y="377027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矩形 147"/>
          <p:cNvSpPr>
            <a:spLocks noChangeArrowheads="1"/>
          </p:cNvSpPr>
          <p:nvPr/>
        </p:nvSpPr>
        <p:spPr bwMode="auto">
          <a:xfrm>
            <a:off x="1393535" y="3987773"/>
            <a:ext cx="1197134" cy="533985"/>
          </a:xfrm>
          <a:prstGeom prst="rect">
            <a:avLst/>
          </a:prstGeom>
          <a:pattFill prst="pct7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2" name="矩形 147"/>
          <p:cNvSpPr>
            <a:spLocks noChangeArrowheads="1"/>
          </p:cNvSpPr>
          <p:nvPr/>
        </p:nvSpPr>
        <p:spPr bwMode="auto">
          <a:xfrm>
            <a:off x="1388388" y="3460060"/>
            <a:ext cx="1212663" cy="533985"/>
          </a:xfrm>
          <a:prstGeom prst="rect">
            <a:avLst/>
          </a:prstGeom>
          <a:pattFill prst="pct80">
            <a:fgClr>
              <a:schemeClr val="accent2">
                <a:lumMod val="60000"/>
                <a:lumOff val="40000"/>
              </a:schemeClr>
            </a:fgClr>
            <a:bgClr>
              <a:schemeClr val="tx1"/>
            </a:bgClr>
          </a:pattFill>
          <a:ln w="9525" algn="ctr">
            <a:noFill/>
            <a:round/>
            <a:headEnd/>
            <a:tailEnd/>
          </a:ln>
        </p:spPr>
        <p:txBody>
          <a:bodyPr/>
          <a:lstStyle>
            <a:lvl1pPr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414338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23" name="Line 2861"/>
          <p:cNvSpPr>
            <a:spLocks noChangeShapeType="1"/>
          </p:cNvSpPr>
          <p:nvPr/>
        </p:nvSpPr>
        <p:spPr bwMode="auto">
          <a:xfrm>
            <a:off x="3157193" y="2085285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4" name="Text Box 2864"/>
          <p:cNvSpPr txBox="1">
            <a:spLocks noChangeArrowheads="1"/>
          </p:cNvSpPr>
          <p:nvPr/>
        </p:nvSpPr>
        <p:spPr bwMode="auto">
          <a:xfrm>
            <a:off x="2395193" y="2190060"/>
            <a:ext cx="10477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58188" rIns="0" bIns="58188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altLang="zh-CN" sz="1600" i="1" dirty="0">
                <a:latin typeface="Times New Roman" pitchFamily="18" charset="0"/>
              </a:rPr>
              <a:t>h</a:t>
            </a:r>
          </a:p>
        </p:txBody>
      </p:sp>
      <p:sp>
        <p:nvSpPr>
          <p:cNvPr id="25" name="Text Box 2870"/>
          <p:cNvSpPr txBox="1">
            <a:spLocks noChangeArrowheads="1"/>
          </p:cNvSpPr>
          <p:nvPr/>
        </p:nvSpPr>
        <p:spPr bwMode="auto">
          <a:xfrm>
            <a:off x="1789838" y="4110935"/>
            <a:ext cx="804863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" name="Text Box 2871"/>
          <p:cNvSpPr txBox="1">
            <a:spLocks noChangeArrowheads="1"/>
          </p:cNvSpPr>
          <p:nvPr/>
        </p:nvSpPr>
        <p:spPr bwMode="auto">
          <a:xfrm>
            <a:off x="2984059" y="4753662"/>
            <a:ext cx="70485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滤网</a:t>
            </a:r>
          </a:p>
        </p:txBody>
      </p:sp>
      <p:sp>
        <p:nvSpPr>
          <p:cNvPr id="27" name="Line 2872"/>
          <p:cNvSpPr>
            <a:spLocks noChangeShapeType="1"/>
          </p:cNvSpPr>
          <p:nvPr/>
        </p:nvSpPr>
        <p:spPr bwMode="auto">
          <a:xfrm>
            <a:off x="1424757" y="4506223"/>
            <a:ext cx="115411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8" name="Freeform 2876"/>
          <p:cNvSpPr>
            <a:spLocks/>
          </p:cNvSpPr>
          <p:nvPr/>
        </p:nvSpPr>
        <p:spPr bwMode="auto">
          <a:xfrm>
            <a:off x="520356" y="1807473"/>
            <a:ext cx="2946400" cy="3603625"/>
          </a:xfrm>
          <a:custGeom>
            <a:avLst/>
            <a:gdLst>
              <a:gd name="T0" fmla="*/ 0 w 10000"/>
              <a:gd name="T1" fmla="*/ 2147483647 h 10517"/>
              <a:gd name="T2" fmla="*/ 2147483647 w 10000"/>
              <a:gd name="T3" fmla="*/ 2147483647 h 10517"/>
              <a:gd name="T4" fmla="*/ 2147483647 w 10000"/>
              <a:gd name="T5" fmla="*/ 2147483647 h 10517"/>
              <a:gd name="T6" fmla="*/ 2147483647 w 10000"/>
              <a:gd name="T7" fmla="*/ 2147483647 h 10517"/>
              <a:gd name="T8" fmla="*/ 2147483647 w 10000"/>
              <a:gd name="T9" fmla="*/ 2147483647 h 10517"/>
              <a:gd name="T10" fmla="*/ 2147483647 w 10000"/>
              <a:gd name="T11" fmla="*/ 2147483647 h 10517"/>
              <a:gd name="T12" fmla="*/ 2147483647 w 10000"/>
              <a:gd name="T13" fmla="*/ 0 h 105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0" h="10517">
                <a:moveTo>
                  <a:pt x="0" y="10517"/>
                </a:moveTo>
                <a:lnTo>
                  <a:pt x="5344" y="10517"/>
                </a:lnTo>
                <a:lnTo>
                  <a:pt x="5344" y="9021"/>
                </a:lnTo>
                <a:lnTo>
                  <a:pt x="7059" y="9021"/>
                </a:lnTo>
                <a:lnTo>
                  <a:pt x="7059" y="8081"/>
                </a:lnTo>
                <a:lnTo>
                  <a:pt x="10000" y="8081"/>
                </a:lnTo>
                <a:lnTo>
                  <a:pt x="1000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29" name="Freeform 2877"/>
          <p:cNvSpPr>
            <a:spLocks/>
          </p:cNvSpPr>
          <p:nvPr/>
        </p:nvSpPr>
        <p:spPr bwMode="auto">
          <a:xfrm>
            <a:off x="531468" y="3085410"/>
            <a:ext cx="1317625" cy="2200275"/>
          </a:xfrm>
          <a:custGeom>
            <a:avLst/>
            <a:gdLst>
              <a:gd name="T0" fmla="*/ 0 w 10542"/>
              <a:gd name="T1" fmla="*/ 2147483647 h 9974"/>
              <a:gd name="T2" fmla="*/ 2147483647 w 10542"/>
              <a:gd name="T3" fmla="*/ 2147483647 h 9974"/>
              <a:gd name="T4" fmla="*/ 2147483647 w 10542"/>
              <a:gd name="T5" fmla="*/ 2147483647 h 9974"/>
              <a:gd name="T6" fmla="*/ 2147483647 w 10542"/>
              <a:gd name="T7" fmla="*/ 2147483647 h 9974"/>
              <a:gd name="T8" fmla="*/ 2147483647 w 10542"/>
              <a:gd name="T9" fmla="*/ 0 h 99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542" h="9974">
                <a:moveTo>
                  <a:pt x="0" y="9974"/>
                </a:moveTo>
                <a:lnTo>
                  <a:pt x="10542" y="9969"/>
                </a:lnTo>
                <a:lnTo>
                  <a:pt x="10542" y="8199"/>
                </a:lnTo>
                <a:lnTo>
                  <a:pt x="6858" y="8199"/>
                </a:lnTo>
                <a:lnTo>
                  <a:pt x="6858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0" name="Freeform 2878"/>
          <p:cNvSpPr>
            <a:spLocks/>
          </p:cNvSpPr>
          <p:nvPr/>
        </p:nvSpPr>
        <p:spPr bwMode="auto">
          <a:xfrm>
            <a:off x="2593348" y="2585348"/>
            <a:ext cx="254283" cy="828675"/>
          </a:xfrm>
          <a:custGeom>
            <a:avLst/>
            <a:gdLst>
              <a:gd name="T0" fmla="*/ 0 w 10334"/>
              <a:gd name="T1" fmla="*/ 2147483647 h 10000"/>
              <a:gd name="T2" fmla="*/ 1978025314 w 10334"/>
              <a:gd name="T3" fmla="*/ 2147483647 h 10000"/>
              <a:gd name="T4" fmla="*/ 2147483647 w 10334"/>
              <a:gd name="T5" fmla="*/ 2147483647 h 10000"/>
              <a:gd name="T6" fmla="*/ 2147483647 w 10334"/>
              <a:gd name="T7" fmla="*/ 0 h 10000"/>
              <a:gd name="T8" fmla="*/ 0 60000 65536"/>
              <a:gd name="T9" fmla="*/ 0 60000 65536"/>
              <a:gd name="T10" fmla="*/ 0 60000 65536"/>
              <a:gd name="T11" fmla="*/ 0 60000 65536"/>
              <a:gd name="connsiteX0" fmla="*/ 40 w 10032"/>
              <a:gd name="connsiteY0" fmla="*/ 6063 h 10000"/>
              <a:gd name="connsiteX1" fmla="*/ 32 w 10032"/>
              <a:gd name="connsiteY1" fmla="*/ 10000 h 10000"/>
              <a:gd name="connsiteX2" fmla="*/ 10032 w 10032"/>
              <a:gd name="connsiteY2" fmla="*/ 10000 h 10000"/>
              <a:gd name="connsiteX3" fmla="*/ 10032 w 10032"/>
              <a:gd name="connsiteY3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2" h="10000">
                <a:moveTo>
                  <a:pt x="40" y="6063"/>
                </a:moveTo>
                <a:cubicBezTo>
                  <a:pt x="151" y="7375"/>
                  <a:pt x="-79" y="8688"/>
                  <a:pt x="32" y="10000"/>
                </a:cubicBezTo>
                <a:lnTo>
                  <a:pt x="10032" y="10000"/>
                </a:lnTo>
                <a:lnTo>
                  <a:pt x="10032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1" name="Freeform 2879"/>
          <p:cNvSpPr>
            <a:spLocks/>
          </p:cNvSpPr>
          <p:nvPr/>
        </p:nvSpPr>
        <p:spPr bwMode="auto">
          <a:xfrm>
            <a:off x="2599981" y="1816998"/>
            <a:ext cx="730250" cy="2673350"/>
          </a:xfrm>
          <a:custGeom>
            <a:avLst/>
            <a:gdLst>
              <a:gd name="T0" fmla="*/ 2147483647 w 10000"/>
              <a:gd name="T1" fmla="*/ 2147483647 h 10589"/>
              <a:gd name="T2" fmla="*/ 2147483647 w 10000"/>
              <a:gd name="T3" fmla="*/ 2147483647 h 10589"/>
              <a:gd name="T4" fmla="*/ 0 w 10000"/>
              <a:gd name="T5" fmla="*/ 2147483647 h 10589"/>
              <a:gd name="T6" fmla="*/ 0 w 10000"/>
              <a:gd name="T7" fmla="*/ 2147483647 h 10589"/>
              <a:gd name="T8" fmla="*/ 2147483647 w 10000"/>
              <a:gd name="T9" fmla="*/ 2147483647 h 10589"/>
              <a:gd name="T10" fmla="*/ 2147483647 w 10000"/>
              <a:gd name="T11" fmla="*/ 0 h 105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0" h="10589">
                <a:moveTo>
                  <a:pt x="5329" y="3103"/>
                </a:moveTo>
                <a:lnTo>
                  <a:pt x="5329" y="6708"/>
                </a:lnTo>
                <a:lnTo>
                  <a:pt x="0" y="6708"/>
                </a:lnTo>
                <a:lnTo>
                  <a:pt x="0" y="10589"/>
                </a:lnTo>
                <a:lnTo>
                  <a:pt x="9884" y="10589"/>
                </a:lnTo>
                <a:cubicBezTo>
                  <a:pt x="9923" y="7059"/>
                  <a:pt x="9961" y="3530"/>
                  <a:pt x="1000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2" name="AutoShape 2887"/>
          <p:cNvSpPr>
            <a:spLocks noChangeArrowheads="1"/>
          </p:cNvSpPr>
          <p:nvPr/>
        </p:nvSpPr>
        <p:spPr bwMode="auto">
          <a:xfrm flipV="1">
            <a:off x="1649068" y="2921898"/>
            <a:ext cx="188913" cy="1603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6376" tIns="58188" rIns="116376" bIns="58188" anchor="ctr"/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1600"/>
          </a:p>
        </p:txBody>
      </p:sp>
      <p:sp>
        <p:nvSpPr>
          <p:cNvPr id="33" name="Line 2888"/>
          <p:cNvSpPr>
            <a:spLocks noChangeShapeType="1"/>
          </p:cNvSpPr>
          <p:nvPr/>
        </p:nvSpPr>
        <p:spPr bwMode="auto">
          <a:xfrm>
            <a:off x="1547468" y="3139385"/>
            <a:ext cx="1635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4" name="Line 2889"/>
          <p:cNvSpPr>
            <a:spLocks noChangeShapeType="1"/>
          </p:cNvSpPr>
          <p:nvPr/>
        </p:nvSpPr>
        <p:spPr bwMode="auto">
          <a:xfrm>
            <a:off x="1779243" y="3140973"/>
            <a:ext cx="1619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5" name="Line 2890"/>
          <p:cNvSpPr>
            <a:spLocks noChangeShapeType="1"/>
          </p:cNvSpPr>
          <p:nvPr/>
        </p:nvSpPr>
        <p:spPr bwMode="auto">
          <a:xfrm>
            <a:off x="1617318" y="3190185"/>
            <a:ext cx="22860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6" name="Line 2891"/>
          <p:cNvSpPr>
            <a:spLocks noChangeShapeType="1"/>
          </p:cNvSpPr>
          <p:nvPr/>
        </p:nvSpPr>
        <p:spPr bwMode="auto">
          <a:xfrm>
            <a:off x="1718918" y="3242573"/>
            <a:ext cx="76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7" name="Line 2892"/>
          <p:cNvSpPr>
            <a:spLocks noChangeShapeType="1"/>
          </p:cNvSpPr>
          <p:nvPr/>
        </p:nvSpPr>
        <p:spPr bwMode="auto">
          <a:xfrm>
            <a:off x="1397295" y="3091760"/>
            <a:ext cx="1184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8" name="Line 2896"/>
          <p:cNvSpPr>
            <a:spLocks noChangeShapeType="1"/>
          </p:cNvSpPr>
          <p:nvPr/>
        </p:nvSpPr>
        <p:spPr bwMode="auto">
          <a:xfrm>
            <a:off x="1397386" y="3460060"/>
            <a:ext cx="1181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39" name="Line 2897"/>
          <p:cNvSpPr>
            <a:spLocks noChangeShapeType="1"/>
          </p:cNvSpPr>
          <p:nvPr/>
        </p:nvSpPr>
        <p:spPr bwMode="auto">
          <a:xfrm flipH="1">
            <a:off x="3036543" y="3101285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0" name="Line 2899"/>
          <p:cNvSpPr>
            <a:spLocks noChangeShapeType="1"/>
          </p:cNvSpPr>
          <p:nvPr/>
        </p:nvSpPr>
        <p:spPr bwMode="auto">
          <a:xfrm>
            <a:off x="3019081" y="209004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1" name="Line 2904"/>
          <p:cNvSpPr>
            <a:spLocks noChangeShapeType="1"/>
          </p:cNvSpPr>
          <p:nvPr/>
        </p:nvSpPr>
        <p:spPr bwMode="auto">
          <a:xfrm>
            <a:off x="2123731" y="4517335"/>
            <a:ext cx="823912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2" name="Line 2911"/>
          <p:cNvSpPr>
            <a:spLocks noChangeShapeType="1"/>
          </p:cNvSpPr>
          <p:nvPr/>
        </p:nvSpPr>
        <p:spPr bwMode="auto">
          <a:xfrm>
            <a:off x="2846043" y="3101285"/>
            <a:ext cx="134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3" name="Line 2912"/>
          <p:cNvSpPr>
            <a:spLocks noChangeShapeType="1"/>
          </p:cNvSpPr>
          <p:nvPr/>
        </p:nvSpPr>
        <p:spPr bwMode="auto">
          <a:xfrm>
            <a:off x="2855568" y="3129860"/>
            <a:ext cx="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44" name="Line 2913"/>
          <p:cNvSpPr>
            <a:spLocks noChangeShapeType="1"/>
          </p:cNvSpPr>
          <p:nvPr/>
        </p:nvSpPr>
        <p:spPr bwMode="auto">
          <a:xfrm>
            <a:off x="2855568" y="3160023"/>
            <a:ext cx="92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grpSp>
        <p:nvGrpSpPr>
          <p:cNvPr id="45" name="Group 2914"/>
          <p:cNvGrpSpPr>
            <a:grpSpLocks/>
          </p:cNvGrpSpPr>
          <p:nvPr/>
        </p:nvGrpSpPr>
        <p:grpSpPr bwMode="auto">
          <a:xfrm>
            <a:off x="3323881" y="2090048"/>
            <a:ext cx="136525" cy="58737"/>
            <a:chOff x="2120" y="479"/>
            <a:chExt cx="48" cy="31"/>
          </a:xfrm>
        </p:grpSpPr>
        <p:sp>
          <p:nvSpPr>
            <p:cNvPr id="46" name="Line 2915"/>
            <p:cNvSpPr>
              <a:spLocks noChangeShapeType="1"/>
            </p:cNvSpPr>
            <p:nvPr/>
          </p:nvSpPr>
          <p:spPr bwMode="auto">
            <a:xfrm>
              <a:off x="2120" y="479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916"/>
            <p:cNvSpPr>
              <a:spLocks noChangeShapeType="1"/>
            </p:cNvSpPr>
            <p:nvPr/>
          </p:nvSpPr>
          <p:spPr bwMode="auto">
            <a:xfrm>
              <a:off x="2124" y="494"/>
              <a:ext cx="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917"/>
            <p:cNvSpPr>
              <a:spLocks noChangeShapeType="1"/>
            </p:cNvSpPr>
            <p:nvPr/>
          </p:nvSpPr>
          <p:spPr bwMode="auto">
            <a:xfrm>
              <a:off x="2124" y="510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" name="Line 2896"/>
          <p:cNvSpPr>
            <a:spLocks noChangeShapeType="1"/>
          </p:cNvSpPr>
          <p:nvPr/>
        </p:nvSpPr>
        <p:spPr bwMode="auto">
          <a:xfrm>
            <a:off x="1401847" y="3998223"/>
            <a:ext cx="118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50" name="Text Box 2870"/>
          <p:cNvSpPr txBox="1">
            <a:spLocks noChangeArrowheads="1"/>
          </p:cNvSpPr>
          <p:nvPr/>
        </p:nvSpPr>
        <p:spPr bwMode="auto">
          <a:xfrm>
            <a:off x="1766158" y="3578950"/>
            <a:ext cx="804862" cy="31854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</a:t>
            </a:r>
            <a:r>
              <a:rPr lang="en-US" altLang="zh-CN" sz="18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sz="18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" name="Line 2903"/>
          <p:cNvSpPr>
            <a:spLocks noChangeShapeType="1"/>
          </p:cNvSpPr>
          <p:nvPr/>
        </p:nvSpPr>
        <p:spPr bwMode="auto">
          <a:xfrm rot="5400000">
            <a:off x="725562" y="4948746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6376" tIns="58188" rIns="116376" bIns="58188"/>
          <a:lstStyle/>
          <a:p>
            <a:endParaRPr lang="zh-CN" altLang="en-US"/>
          </a:p>
        </p:txBody>
      </p:sp>
      <p:sp>
        <p:nvSpPr>
          <p:cNvPr id="52" name="Text Box 2869"/>
          <p:cNvSpPr txBox="1">
            <a:spLocks noChangeArrowheads="1"/>
          </p:cNvSpPr>
          <p:nvPr/>
        </p:nvSpPr>
        <p:spPr bwMode="auto">
          <a:xfrm>
            <a:off x="624652" y="4904835"/>
            <a:ext cx="219075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i="1" dirty="0">
                <a:latin typeface="Times New Roman" pitchFamily="18" charset="0"/>
              </a:rPr>
              <a:t>Q</a:t>
            </a:r>
          </a:p>
        </p:txBody>
      </p:sp>
      <p:sp>
        <p:nvSpPr>
          <p:cNvPr id="53" name="椭圆 52"/>
          <p:cNvSpPr/>
          <p:nvPr/>
        </p:nvSpPr>
        <p:spPr bwMode="auto">
          <a:xfrm>
            <a:off x="1521738" y="347423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4" name="椭圆 53"/>
          <p:cNvSpPr/>
          <p:nvPr/>
        </p:nvSpPr>
        <p:spPr bwMode="auto">
          <a:xfrm>
            <a:off x="1525548" y="397715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5" name="椭圆 54"/>
          <p:cNvSpPr/>
          <p:nvPr/>
        </p:nvSpPr>
        <p:spPr bwMode="auto">
          <a:xfrm>
            <a:off x="1524474" y="3703632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椭圆 55"/>
          <p:cNvSpPr/>
          <p:nvPr/>
        </p:nvSpPr>
        <p:spPr bwMode="auto">
          <a:xfrm>
            <a:off x="1527453" y="422238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7" name="椭圆 56"/>
          <p:cNvSpPr/>
          <p:nvPr/>
        </p:nvSpPr>
        <p:spPr bwMode="auto">
          <a:xfrm>
            <a:off x="1527453" y="4473076"/>
            <a:ext cx="45719" cy="4571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8" name="Text Box 2870"/>
          <p:cNvSpPr txBox="1">
            <a:spLocks noChangeArrowheads="1"/>
          </p:cNvSpPr>
          <p:nvPr/>
        </p:nvSpPr>
        <p:spPr bwMode="auto">
          <a:xfrm>
            <a:off x="1475838" y="3350100"/>
            <a:ext cx="420530" cy="123110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E</a:t>
            </a:r>
            <a:endParaRPr lang="zh-CN" altLang="en-US" sz="16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0" name="矩形 59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4404642" y="4947604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2"/>
            </p:custDataLst>
          </p:nvPr>
        </p:nvSpPr>
        <p:spPr>
          <a:xfrm>
            <a:off x="5128804" y="4886806"/>
            <a:ext cx="31452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3"/>
            </p:custDataLst>
          </p:nvPr>
        </p:nvSpPr>
        <p:spPr>
          <a:xfrm>
            <a:off x="520356" y="711739"/>
            <a:ext cx="7807037" cy="128193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/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图所示的双层土渗透试验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如果土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和土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的渗透系数</a:t>
            </a:r>
            <a:r>
              <a:rPr lang="en-US" altLang="zh-CN" sz="2400" b="1" i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相差不大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。当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逐步升高时，最先有可能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发生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流土的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位置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是：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3512263"/>
      </p:ext>
    </p:extLst>
  </p:cSld>
  <p:clrMapOvr>
    <a:masterClrMapping/>
  </p:clrMapOvr>
  <p:transition spd="med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254750" y="3154363"/>
            <a:ext cx="2251075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</a:rPr>
              <a:t>所得流网为何为渗流问题的解？</a:t>
            </a:r>
            <a:endParaRPr kumimoji="1" lang="en-US" altLang="zh-CN" sz="28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09638" y="2855913"/>
            <a:ext cx="3011487" cy="2281237"/>
          </a:xfrm>
          <a:prstGeom prst="rect">
            <a:avLst/>
          </a:prstGeom>
          <a:noFill/>
          <a:ln w="57150" cmpd="thickThin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2913" indent="-4429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23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kumimoji="0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满足边界条件</a:t>
            </a:r>
            <a:endParaRPr kumimoji="0" lang="en-US" altLang="zh-CN" sz="22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kumimoji="0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流线和等势线正交</a:t>
            </a: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kumimoji="0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流网中每一网格的边长比为常数，通常取为</a:t>
            </a:r>
            <a:r>
              <a:rPr kumimoji="0" lang="en-US" altLang="zh-CN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endParaRPr kumimoji="0" lang="zh-CN" altLang="en-US" sz="22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371600" y="1965325"/>
            <a:ext cx="1812925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>
                <a:solidFill>
                  <a:srgbClr val="A50021"/>
                </a:solidFill>
                <a:ea typeface="黑体" pitchFamily="2" charset="-122"/>
              </a:rPr>
              <a:t>绘制流网</a:t>
            </a:r>
            <a:endParaRPr lang="en-US" altLang="zh-CN" sz="3200" b="1">
              <a:solidFill>
                <a:srgbClr val="A50021"/>
              </a:solidFill>
              <a:ea typeface="黑体" pitchFamily="2" charset="-122"/>
            </a:endParaRPr>
          </a:p>
        </p:txBody>
      </p:sp>
      <p:sp>
        <p:nvSpPr>
          <p:cNvPr id="8" name="AutoShape 12"/>
          <p:cNvSpPr>
            <a:spLocks noChangeArrowheads="1"/>
          </p:cNvSpPr>
          <p:nvPr/>
        </p:nvSpPr>
        <p:spPr bwMode="auto">
          <a:xfrm>
            <a:off x="4400550" y="3214688"/>
            <a:ext cx="1098550" cy="1387475"/>
          </a:xfrm>
          <a:prstGeom prst="rightArrow">
            <a:avLst>
              <a:gd name="adj1" fmla="val 65213"/>
              <a:gd name="adj2" fmla="val 55056"/>
            </a:avLst>
          </a:prstGeom>
          <a:solidFill>
            <a:srgbClr val="FFCC66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414338" y="906463"/>
            <a:ext cx="8442325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4500" indent="-4445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38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10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kumimoji="0"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流场中，流线和等势线（等水头线）组成的网格称为</a:t>
            </a:r>
            <a:r>
              <a:rPr kumimoji="0" lang="zh-CN" altLang="en-US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流网</a:t>
            </a:r>
          </a:p>
        </p:txBody>
      </p:sp>
    </p:spTree>
    <p:extLst>
      <p:ext uri="{BB962C8B-B14F-4D97-AF65-F5344CB8AC3E}">
        <p14:creationId xmlns:p14="http://schemas.microsoft.com/office/powerpoint/2010/main" val="39011335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2632075" y="1928813"/>
            <a:ext cx="1379538" cy="1328737"/>
          </a:xfrm>
          <a:prstGeom prst="ellipse">
            <a:avLst/>
          </a:prstGeom>
          <a:noFill/>
          <a:ln w="28575" algn="ctr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ea typeface="幼圆" pitchFamily="49" charset="-122"/>
              </a:rPr>
              <a:t>物理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ea typeface="幼圆" pitchFamily="49" charset="-122"/>
              </a:rPr>
              <a:t>现象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5278438" y="1811338"/>
            <a:ext cx="1382712" cy="1328737"/>
          </a:xfrm>
          <a:prstGeom prst="ellipse">
            <a:avLst/>
          </a:prstGeom>
          <a:noFill/>
          <a:ln w="28575" algn="ctr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ea typeface="幼圆" pitchFamily="49" charset="-122"/>
              </a:rPr>
              <a:t>数学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ea typeface="幼圆" pitchFamily="49" charset="-122"/>
              </a:rPr>
              <a:t>描述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4035425" y="2497138"/>
            <a:ext cx="1192213" cy="1587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3840163" y="3073400"/>
            <a:ext cx="595312" cy="7207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>
            <a:off x="5064125" y="3073400"/>
            <a:ext cx="595313" cy="647700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endParaRPr lang="zh-CN" alt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144963" y="3679825"/>
            <a:ext cx="1382712" cy="1328738"/>
          </a:xfrm>
          <a:prstGeom prst="ellipse">
            <a:avLst/>
          </a:prstGeom>
          <a:noFill/>
          <a:ln w="28575" algn="ctr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ea typeface="幼圆" pitchFamily="49" charset="-122"/>
              </a:rPr>
              <a:t>几何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800000"/>
                </a:solidFill>
                <a:ea typeface="幼圆" pitchFamily="49" charset="-122"/>
              </a:rPr>
              <a:t>表示</a:t>
            </a:r>
          </a:p>
        </p:txBody>
      </p:sp>
      <p:grpSp>
        <p:nvGrpSpPr>
          <p:cNvPr id="12" name="Group 24"/>
          <p:cNvGrpSpPr>
            <a:grpSpLocks/>
          </p:cNvGrpSpPr>
          <p:nvPr/>
        </p:nvGrpSpPr>
        <p:grpSpPr bwMode="auto">
          <a:xfrm>
            <a:off x="481013" y="1271588"/>
            <a:ext cx="2068512" cy="2439987"/>
            <a:chOff x="303" y="801"/>
            <a:chExt cx="1284" cy="1537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03" y="801"/>
              <a:ext cx="1032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buClr>
                  <a:srgbClr val="CC0000"/>
                </a:buClr>
                <a:buSzPct val="145000"/>
                <a:buFontTx/>
                <a:buChar char="•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测管水头</a:t>
              </a:r>
            </a:p>
            <a:p>
              <a:pPr>
                <a:buClr>
                  <a:srgbClr val="CC0000"/>
                </a:buClr>
                <a:buSzPct val="145000"/>
                <a:buFontTx/>
                <a:buChar char="•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流速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327" y="1750"/>
              <a:ext cx="1260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流速为测管水头的梯度方向</a:t>
              </a:r>
              <a:endParaRPr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5" name="AutoShape 17"/>
            <p:cNvSpPr>
              <a:spLocks noChangeArrowheads="1"/>
            </p:cNvSpPr>
            <p:nvPr/>
          </p:nvSpPr>
          <p:spPr bwMode="auto">
            <a:xfrm rot="5400000">
              <a:off x="528" y="1489"/>
              <a:ext cx="317" cy="307"/>
            </a:xfrm>
            <a:prstGeom prst="rightArrow">
              <a:avLst>
                <a:gd name="adj1" fmla="val 43324"/>
                <a:gd name="adj2" fmla="val 44300"/>
              </a:avLst>
            </a:prstGeom>
            <a:solidFill>
              <a:schemeClr val="accent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Group 26"/>
          <p:cNvGrpSpPr>
            <a:grpSpLocks/>
          </p:cNvGrpSpPr>
          <p:nvPr/>
        </p:nvGrpSpPr>
        <p:grpSpPr bwMode="auto">
          <a:xfrm>
            <a:off x="3844925" y="5005388"/>
            <a:ext cx="4495800" cy="1044575"/>
            <a:chOff x="2403" y="3163"/>
            <a:chExt cx="2794" cy="658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403" y="3163"/>
              <a:ext cx="828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C0000"/>
                </a:buClr>
                <a:buSzPct val="145000"/>
                <a:buFontTx/>
                <a:buChar char="•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等势线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buClr>
                  <a:srgbClr val="CC0000"/>
                </a:buClr>
                <a:buSzPct val="145000"/>
                <a:buFontTx/>
                <a:buChar char="•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流线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3937" y="3181"/>
              <a:ext cx="1260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等势线和流线正交</a:t>
              </a:r>
              <a:endParaRPr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9" name="AutoShape 19"/>
            <p:cNvSpPr>
              <a:spLocks noChangeArrowheads="1"/>
            </p:cNvSpPr>
            <p:nvPr/>
          </p:nvSpPr>
          <p:spPr bwMode="auto">
            <a:xfrm rot="21600000">
              <a:off x="3447" y="3332"/>
              <a:ext cx="317" cy="307"/>
            </a:xfrm>
            <a:prstGeom prst="rightArrow">
              <a:avLst>
                <a:gd name="adj1" fmla="val 43324"/>
                <a:gd name="adj2" fmla="val 44300"/>
              </a:avLst>
            </a:prstGeom>
            <a:solidFill>
              <a:schemeClr val="accent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" name="Group 25"/>
          <p:cNvGrpSpPr>
            <a:grpSpLocks/>
          </p:cNvGrpSpPr>
          <p:nvPr/>
        </p:nvGrpSpPr>
        <p:grpSpPr bwMode="auto">
          <a:xfrm>
            <a:off x="6731000" y="1211263"/>
            <a:ext cx="1781175" cy="2638425"/>
            <a:chOff x="4240" y="763"/>
            <a:chExt cx="1112" cy="1662"/>
          </a:xfrm>
        </p:grpSpPr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4240" y="763"/>
              <a:ext cx="832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C0000"/>
                </a:buClr>
                <a:buSzPct val="145000"/>
                <a:buFontTx/>
                <a:buChar char="•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势函数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buClr>
                  <a:srgbClr val="CC0000"/>
                </a:buClr>
                <a:buSzPct val="145000"/>
                <a:buFontTx/>
                <a:buChar char="•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流函数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4341" y="1837"/>
              <a:ext cx="1011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均满足拉氏方程</a:t>
              </a:r>
              <a:endParaRPr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3" name="AutoShape 23"/>
            <p:cNvSpPr>
              <a:spLocks noChangeArrowheads="1"/>
            </p:cNvSpPr>
            <p:nvPr/>
          </p:nvSpPr>
          <p:spPr bwMode="auto">
            <a:xfrm rot="5400000">
              <a:off x="4465" y="1451"/>
              <a:ext cx="317" cy="307"/>
            </a:xfrm>
            <a:prstGeom prst="rightArrow">
              <a:avLst>
                <a:gd name="adj1" fmla="val 43324"/>
                <a:gd name="adj2" fmla="val 44300"/>
              </a:avLst>
            </a:prstGeom>
            <a:solidFill>
              <a:schemeClr val="accent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4221163" y="2670175"/>
            <a:ext cx="996950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>
                <a:solidFill>
                  <a:srgbClr val="A50021"/>
                </a:solidFill>
                <a:ea typeface="黑体" pitchFamily="2" charset="-122"/>
              </a:rPr>
              <a:t>渗流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11335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" name="AutoShape 40"/>
          <p:cNvSpPr>
            <a:spLocks noChangeArrowheads="1"/>
          </p:cNvSpPr>
          <p:nvPr/>
        </p:nvSpPr>
        <p:spPr bwMode="auto">
          <a:xfrm>
            <a:off x="3611563" y="1995488"/>
            <a:ext cx="2105025" cy="1387475"/>
          </a:xfrm>
          <a:prstGeom prst="rightArrow">
            <a:avLst>
              <a:gd name="adj1" fmla="val 65213"/>
              <a:gd name="adj2" fmla="val 49673"/>
            </a:avLst>
          </a:prstGeom>
          <a:solidFill>
            <a:srgbClr val="FFCC66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781300" y="5729288"/>
            <a:ext cx="48879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流网及渗流问题的解</a:t>
            </a:r>
            <a:endParaRPr kumimoji="1"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27" name="Group 46"/>
          <p:cNvGrpSpPr>
            <a:grpSpLocks/>
          </p:cNvGrpSpPr>
          <p:nvPr/>
        </p:nvGrpSpPr>
        <p:grpSpPr bwMode="auto">
          <a:xfrm>
            <a:off x="6084888" y="1958975"/>
            <a:ext cx="2514600" cy="3246438"/>
            <a:chOff x="3833" y="1234"/>
            <a:chExt cx="1584" cy="2045"/>
          </a:xfrm>
        </p:grpSpPr>
        <p:sp>
          <p:nvSpPr>
            <p:cNvPr id="28" name="Rectangle 35"/>
            <p:cNvSpPr>
              <a:spLocks noChangeArrowheads="1"/>
            </p:cNvSpPr>
            <p:nvPr/>
          </p:nvSpPr>
          <p:spPr bwMode="auto">
            <a:xfrm>
              <a:off x="3833" y="1234"/>
              <a:ext cx="1584" cy="2045"/>
            </a:xfrm>
            <a:prstGeom prst="rect">
              <a:avLst/>
            </a:prstGeom>
            <a:solidFill>
              <a:srgbClr val="CCECFF"/>
            </a:solidFill>
            <a:ln w="57150" cmpd="thickThin" algn="ctr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3953" y="1438"/>
              <a:ext cx="1455" cy="1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42913" indent="-4429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223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15000"/>
                </a:spcBef>
                <a:spcAft>
                  <a:spcPct val="15000"/>
                </a:spcAft>
                <a:buClr>
                  <a:srgbClr val="A50021"/>
                </a:buClr>
                <a:buSzPct val="70000"/>
                <a:buFont typeface="Wingdings" pitchFamily="2" charset="2"/>
                <a:buChar char="l"/>
              </a:pPr>
              <a:r>
                <a:rPr kumimoji="0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流线和等势线正交</a:t>
              </a:r>
            </a:p>
            <a:p>
              <a:pPr>
                <a:spcBef>
                  <a:spcPct val="15000"/>
                </a:spcBef>
                <a:spcAft>
                  <a:spcPct val="15000"/>
                </a:spcAft>
                <a:buClr>
                  <a:srgbClr val="A50021"/>
                </a:buClr>
                <a:buSzPct val="70000"/>
                <a:buFont typeface="Wingdings" pitchFamily="2" charset="2"/>
                <a:buChar char="l"/>
              </a:pPr>
              <a:r>
                <a:rPr kumimoji="0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流网中每一网格的边长比为常数，通常取为</a:t>
              </a:r>
              <a:r>
                <a:rPr kumimoji="0" lang="en-US" altLang="zh-CN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1</a:t>
              </a:r>
              <a:endParaRPr kumimoji="0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</p:grpSp>
      <p:grpSp>
        <p:nvGrpSpPr>
          <p:cNvPr id="30" name="Group 45"/>
          <p:cNvGrpSpPr>
            <a:grpSpLocks/>
          </p:cNvGrpSpPr>
          <p:nvPr/>
        </p:nvGrpSpPr>
        <p:grpSpPr bwMode="auto">
          <a:xfrm>
            <a:off x="473075" y="1909763"/>
            <a:ext cx="2514600" cy="3246437"/>
            <a:chOff x="298" y="1203"/>
            <a:chExt cx="1584" cy="2045"/>
          </a:xfrm>
        </p:grpSpPr>
        <p:sp>
          <p:nvSpPr>
            <p:cNvPr id="31" name="Rectangle 34"/>
            <p:cNvSpPr>
              <a:spLocks noChangeArrowheads="1"/>
            </p:cNvSpPr>
            <p:nvPr/>
          </p:nvSpPr>
          <p:spPr bwMode="auto">
            <a:xfrm>
              <a:off x="298" y="1203"/>
              <a:ext cx="1584" cy="2045"/>
            </a:xfrm>
            <a:prstGeom prst="rect">
              <a:avLst/>
            </a:prstGeom>
            <a:solidFill>
              <a:schemeClr val="accent1"/>
            </a:solidFill>
            <a:ln w="57150" cmpd="thickThin" algn="ctr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2" name="Group 39"/>
            <p:cNvGrpSpPr>
              <a:grpSpLocks/>
            </p:cNvGrpSpPr>
            <p:nvPr/>
          </p:nvGrpSpPr>
          <p:grpSpPr bwMode="auto">
            <a:xfrm>
              <a:off x="453" y="2251"/>
              <a:ext cx="1325" cy="851"/>
              <a:chOff x="453" y="2251"/>
              <a:chExt cx="1296" cy="851"/>
            </a:xfrm>
          </p:grpSpPr>
          <p:graphicFrame>
            <p:nvGraphicFramePr>
              <p:cNvPr id="36" name="Object 29"/>
              <p:cNvGraphicFramePr>
                <a:graphicFrameLocks noChangeAspect="1"/>
              </p:cNvGraphicFramePr>
              <p:nvPr/>
            </p:nvGraphicFramePr>
            <p:xfrm>
              <a:off x="598" y="2576"/>
              <a:ext cx="1151" cy="5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5420" name="公式" r:id="rId3" imgW="888840" imgH="406080" progId="Equation.3">
                      <p:embed/>
                    </p:oleObj>
                  </mc:Choice>
                  <mc:Fallback>
                    <p:oleObj name="公式" r:id="rId3" imgW="88884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8" y="2576"/>
                            <a:ext cx="1151" cy="5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Text Box 30"/>
              <p:cNvSpPr txBox="1">
                <a:spLocks noChangeArrowheads="1"/>
              </p:cNvSpPr>
              <p:nvPr/>
            </p:nvSpPr>
            <p:spPr bwMode="auto">
              <a:xfrm>
                <a:off x="453" y="2251"/>
                <a:ext cx="818" cy="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buSzPct val="140000"/>
                  <a:buFontTx/>
                  <a:buChar char="•"/>
                </a:pPr>
                <a:r>
                  <a:rPr lang="zh-CN" altLang="en-US" sz="2400" b="1">
                    <a:solidFill>
                      <a:srgbClr val="A50021"/>
                    </a:solidFill>
                    <a:ea typeface="幼圆" pitchFamily="49" charset="-122"/>
                  </a:rPr>
                  <a:t> 流函数</a:t>
                </a:r>
                <a:endParaRPr lang="en-US" altLang="zh-CN" sz="2400" b="1">
                  <a:solidFill>
                    <a:srgbClr val="A50021"/>
                  </a:solidFill>
                  <a:ea typeface="幼圆" pitchFamily="49" charset="-122"/>
                </a:endParaRPr>
              </a:p>
            </p:txBody>
          </p:sp>
        </p:grpSp>
        <p:grpSp>
          <p:nvGrpSpPr>
            <p:cNvPr id="33" name="Group 38"/>
            <p:cNvGrpSpPr>
              <a:grpSpLocks/>
            </p:cNvGrpSpPr>
            <p:nvPr/>
          </p:nvGrpSpPr>
          <p:grpSpPr bwMode="auto">
            <a:xfrm>
              <a:off x="453" y="1211"/>
              <a:ext cx="1318" cy="868"/>
              <a:chOff x="453" y="1211"/>
              <a:chExt cx="1299" cy="868"/>
            </a:xfrm>
          </p:grpSpPr>
          <p:graphicFrame>
            <p:nvGraphicFramePr>
              <p:cNvPr id="34" name="Object 28"/>
              <p:cNvGraphicFramePr>
                <a:graphicFrameLocks noChangeAspect="1"/>
              </p:cNvGraphicFramePr>
              <p:nvPr/>
            </p:nvGraphicFramePr>
            <p:xfrm>
              <a:off x="609" y="1526"/>
              <a:ext cx="1143" cy="5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5421" name="公式" r:id="rId5" imgW="838080" imgH="406080" progId="Equation.3">
                      <p:embed/>
                    </p:oleObj>
                  </mc:Choice>
                  <mc:Fallback>
                    <p:oleObj name="公式" r:id="rId5" imgW="838080" imgH="4060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9" y="1526"/>
                            <a:ext cx="1143" cy="5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453" y="1211"/>
                <a:ext cx="824" cy="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buSzPct val="140000"/>
                  <a:buFontTx/>
                  <a:buChar char="•"/>
                </a:pPr>
                <a:r>
                  <a:rPr lang="zh-CN" altLang="en-US" sz="2400" b="1">
                    <a:solidFill>
                      <a:srgbClr val="A50021"/>
                    </a:solidFill>
                    <a:ea typeface="幼圆" pitchFamily="49" charset="-122"/>
                  </a:rPr>
                  <a:t> 势函数</a:t>
                </a:r>
                <a:endParaRPr lang="en-US" altLang="zh-CN" sz="2400" b="1">
                  <a:solidFill>
                    <a:srgbClr val="A50021"/>
                  </a:solidFill>
                  <a:ea typeface="幼圆" pitchFamily="49" charset="-122"/>
                </a:endParaRPr>
              </a:p>
            </p:txBody>
          </p:sp>
        </p:grpSp>
      </p:grp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3635375" y="2230438"/>
            <a:ext cx="19415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ea typeface="幼圆" pitchFamily="49" charset="-122"/>
              </a:rPr>
              <a:t>画等值线，使</a:t>
            </a:r>
            <a:r>
              <a:rPr lang="zh-CN" altLang="en-US" sz="2000" b="1">
                <a:ea typeface="幼圆" pitchFamily="49" charset="-122"/>
                <a:sym typeface="Symbol" pitchFamily="18" charset="2"/>
              </a:rPr>
              <a:t>和为常数</a:t>
            </a:r>
            <a:endParaRPr lang="zh-CN" altLang="zh-CN" sz="2000" b="1">
              <a:ea typeface="幼圆" pitchFamily="49" charset="-122"/>
              <a:sym typeface="Symbol" pitchFamily="18" charset="2"/>
            </a:endParaRPr>
          </a:p>
        </p:txBody>
      </p:sp>
      <p:sp>
        <p:nvSpPr>
          <p:cNvPr id="39" name="AutoShape 41"/>
          <p:cNvSpPr>
            <a:spLocks noChangeArrowheads="1"/>
          </p:cNvSpPr>
          <p:nvPr/>
        </p:nvSpPr>
        <p:spPr bwMode="auto">
          <a:xfrm flipH="1">
            <a:off x="3430588" y="3659188"/>
            <a:ext cx="2105025" cy="1387475"/>
          </a:xfrm>
          <a:prstGeom prst="rightArrow">
            <a:avLst>
              <a:gd name="adj1" fmla="val 65213"/>
              <a:gd name="adj2" fmla="val 49673"/>
            </a:avLst>
          </a:prstGeom>
          <a:solidFill>
            <a:srgbClr val="FFCC00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3944938" y="3894138"/>
            <a:ext cx="1622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画流网，为两函数的解</a:t>
            </a:r>
            <a:endParaRPr lang="zh-CN" altLang="zh-CN" sz="20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41" name="Text Box 43"/>
          <p:cNvSpPr txBox="1">
            <a:spLocks noChangeArrowheads="1"/>
          </p:cNvSpPr>
          <p:nvPr/>
        </p:nvSpPr>
        <p:spPr bwMode="auto">
          <a:xfrm>
            <a:off x="809625" y="1004888"/>
            <a:ext cx="1812925" cy="65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>
                <a:solidFill>
                  <a:srgbClr val="A50021"/>
                </a:solidFill>
                <a:ea typeface="黑体" pitchFamily="2" charset="-122"/>
              </a:rPr>
              <a:t>数学描述</a:t>
            </a:r>
            <a:endParaRPr lang="en-US" altLang="zh-CN" sz="3200" b="1">
              <a:solidFill>
                <a:srgbClr val="A50021"/>
              </a:solidFill>
              <a:ea typeface="黑体" pitchFamily="2" charset="-122"/>
            </a:endParaRPr>
          </a:p>
        </p:txBody>
      </p:sp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6251575" y="992188"/>
            <a:ext cx="1812925" cy="65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200" b="1">
                <a:solidFill>
                  <a:srgbClr val="A50021"/>
                </a:solidFill>
                <a:ea typeface="黑体" pitchFamily="2" charset="-122"/>
              </a:rPr>
              <a:t>几何描述</a:t>
            </a:r>
            <a:endParaRPr lang="en-US" altLang="zh-CN" sz="3200" b="1">
              <a:solidFill>
                <a:srgbClr val="A50021"/>
              </a:solidFill>
              <a:ea typeface="黑体" pitchFamily="2" charset="-122"/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流网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19980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8" grpId="0"/>
      <p:bldP spid="39" grpId="0" animBg="1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达西定律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Text Box 51"/>
          <p:cNvSpPr txBox="1">
            <a:spLocks noChangeArrowheads="1"/>
          </p:cNvSpPr>
          <p:nvPr/>
        </p:nvSpPr>
        <p:spPr bwMode="auto">
          <a:xfrm>
            <a:off x="1419225" y="919163"/>
            <a:ext cx="68548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1. </a:t>
            </a: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有一地下承压渗流地层，其渗流为平面稳定渗流，对图示的断面，定性画出其水头分布曲线。</a:t>
            </a:r>
          </a:p>
        </p:txBody>
      </p:sp>
      <p:sp>
        <p:nvSpPr>
          <p:cNvPr id="5" name="Freeform 67"/>
          <p:cNvSpPr>
            <a:spLocks/>
          </p:cNvSpPr>
          <p:nvPr/>
        </p:nvSpPr>
        <p:spPr bwMode="auto">
          <a:xfrm>
            <a:off x="7661275" y="3313113"/>
            <a:ext cx="187325" cy="1352550"/>
          </a:xfrm>
          <a:custGeom>
            <a:avLst/>
            <a:gdLst>
              <a:gd name="T0" fmla="*/ 0 w 118"/>
              <a:gd name="T1" fmla="*/ 825 h 852"/>
              <a:gd name="T2" fmla="*/ 86 w 118"/>
              <a:gd name="T3" fmla="*/ 825 h 852"/>
              <a:gd name="T4" fmla="*/ 86 w 118"/>
              <a:gd name="T5" fmla="*/ 0 h 852"/>
              <a:gd name="T6" fmla="*/ 118 w 118"/>
              <a:gd name="T7" fmla="*/ 0 h 852"/>
              <a:gd name="T8" fmla="*/ 118 w 118"/>
              <a:gd name="T9" fmla="*/ 852 h 852"/>
              <a:gd name="T10" fmla="*/ 0 w 118"/>
              <a:gd name="T11" fmla="*/ 852 h 852"/>
              <a:gd name="T12" fmla="*/ 0 w 118"/>
              <a:gd name="T13" fmla="*/ 825 h 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" h="852">
                <a:moveTo>
                  <a:pt x="0" y="825"/>
                </a:moveTo>
                <a:lnTo>
                  <a:pt x="86" y="825"/>
                </a:lnTo>
                <a:lnTo>
                  <a:pt x="86" y="0"/>
                </a:lnTo>
                <a:lnTo>
                  <a:pt x="118" y="0"/>
                </a:lnTo>
                <a:lnTo>
                  <a:pt x="118" y="852"/>
                </a:lnTo>
                <a:lnTo>
                  <a:pt x="0" y="852"/>
                </a:lnTo>
                <a:lnTo>
                  <a:pt x="0" y="825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auto">
          <a:xfrm>
            <a:off x="2338388" y="2506663"/>
            <a:ext cx="206375" cy="2176462"/>
          </a:xfrm>
          <a:custGeom>
            <a:avLst/>
            <a:gdLst>
              <a:gd name="T0" fmla="*/ 127 w 132"/>
              <a:gd name="T1" fmla="*/ 1339 h 1371"/>
              <a:gd name="T2" fmla="*/ 31 w 132"/>
              <a:gd name="T3" fmla="*/ 1339 h 1371"/>
              <a:gd name="T4" fmla="*/ 31 w 132"/>
              <a:gd name="T5" fmla="*/ 0 h 1371"/>
              <a:gd name="T6" fmla="*/ 0 w 132"/>
              <a:gd name="T7" fmla="*/ 0 h 1371"/>
              <a:gd name="T8" fmla="*/ 0 w 132"/>
              <a:gd name="T9" fmla="*/ 1371 h 1371"/>
              <a:gd name="T10" fmla="*/ 132 w 132"/>
              <a:gd name="T11" fmla="*/ 1371 h 1371"/>
              <a:gd name="T12" fmla="*/ 127 w 132"/>
              <a:gd name="T13" fmla="*/ 1353 h 1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" h="1371">
                <a:moveTo>
                  <a:pt x="127" y="1339"/>
                </a:moveTo>
                <a:lnTo>
                  <a:pt x="31" y="1339"/>
                </a:lnTo>
                <a:lnTo>
                  <a:pt x="31" y="0"/>
                </a:lnTo>
                <a:lnTo>
                  <a:pt x="0" y="0"/>
                </a:lnTo>
                <a:lnTo>
                  <a:pt x="0" y="1371"/>
                </a:lnTo>
                <a:lnTo>
                  <a:pt x="132" y="1371"/>
                </a:lnTo>
                <a:lnTo>
                  <a:pt x="127" y="1353"/>
                </a:lnTo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8" name="Freeform 69" descr="5%"/>
          <p:cNvSpPr>
            <a:spLocks/>
          </p:cNvSpPr>
          <p:nvPr/>
        </p:nvSpPr>
        <p:spPr bwMode="auto">
          <a:xfrm>
            <a:off x="2533650" y="4062413"/>
            <a:ext cx="5089525" cy="1225550"/>
          </a:xfrm>
          <a:custGeom>
            <a:avLst/>
            <a:gdLst>
              <a:gd name="T0" fmla="*/ 5 w 3206"/>
              <a:gd name="T1" fmla="*/ 202 h 772"/>
              <a:gd name="T2" fmla="*/ 824 w 3206"/>
              <a:gd name="T3" fmla="*/ 172 h 772"/>
              <a:gd name="T4" fmla="*/ 1286 w 3206"/>
              <a:gd name="T5" fmla="*/ 0 h 772"/>
              <a:gd name="T6" fmla="*/ 2006 w 3206"/>
              <a:gd name="T7" fmla="*/ 0 h 772"/>
              <a:gd name="T8" fmla="*/ 2472 w 3206"/>
              <a:gd name="T9" fmla="*/ 246 h 772"/>
              <a:gd name="T10" fmla="*/ 3206 w 3206"/>
              <a:gd name="T11" fmla="*/ 246 h 772"/>
              <a:gd name="T12" fmla="*/ 3206 w 3206"/>
              <a:gd name="T13" fmla="*/ 525 h 772"/>
              <a:gd name="T14" fmla="*/ 2462 w 3206"/>
              <a:gd name="T15" fmla="*/ 525 h 772"/>
              <a:gd name="T16" fmla="*/ 1995 w 3206"/>
              <a:gd name="T17" fmla="*/ 772 h 772"/>
              <a:gd name="T18" fmla="*/ 1262 w 3206"/>
              <a:gd name="T19" fmla="*/ 772 h 772"/>
              <a:gd name="T20" fmla="*/ 811 w 3206"/>
              <a:gd name="T21" fmla="*/ 569 h 772"/>
              <a:gd name="T22" fmla="*/ 0 w 3206"/>
              <a:gd name="T23" fmla="*/ 569 h 772"/>
              <a:gd name="T24" fmla="*/ 5 w 3206"/>
              <a:gd name="T25" fmla="*/ 202 h 7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06" h="772">
                <a:moveTo>
                  <a:pt x="5" y="202"/>
                </a:moveTo>
                <a:lnTo>
                  <a:pt x="824" y="172"/>
                </a:lnTo>
                <a:lnTo>
                  <a:pt x="1286" y="0"/>
                </a:lnTo>
                <a:lnTo>
                  <a:pt x="2006" y="0"/>
                </a:lnTo>
                <a:lnTo>
                  <a:pt x="2472" y="246"/>
                </a:lnTo>
                <a:lnTo>
                  <a:pt x="3206" y="246"/>
                </a:lnTo>
                <a:lnTo>
                  <a:pt x="3206" y="525"/>
                </a:lnTo>
                <a:lnTo>
                  <a:pt x="2462" y="525"/>
                </a:lnTo>
                <a:lnTo>
                  <a:pt x="1995" y="772"/>
                </a:lnTo>
                <a:lnTo>
                  <a:pt x="1262" y="772"/>
                </a:lnTo>
                <a:lnTo>
                  <a:pt x="811" y="569"/>
                </a:lnTo>
                <a:lnTo>
                  <a:pt x="0" y="569"/>
                </a:lnTo>
                <a:lnTo>
                  <a:pt x="5" y="202"/>
                </a:lnTo>
                <a:close/>
              </a:path>
            </a:pathLst>
          </a:custGeom>
          <a:pattFill prst="pct5">
            <a:fgClr>
              <a:srgbClr val="663300"/>
            </a:fgClr>
            <a:bgClr>
              <a:srgbClr val="99CC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0"/>
          <p:cNvSpPr>
            <a:spLocks/>
          </p:cNvSpPr>
          <p:nvPr/>
        </p:nvSpPr>
        <p:spPr bwMode="auto">
          <a:xfrm>
            <a:off x="2524125" y="3559175"/>
            <a:ext cx="5092700" cy="917575"/>
          </a:xfrm>
          <a:custGeom>
            <a:avLst/>
            <a:gdLst>
              <a:gd name="T0" fmla="*/ 4 w 3208"/>
              <a:gd name="T1" fmla="*/ 0 h 578"/>
              <a:gd name="T2" fmla="*/ 3191 w 3208"/>
              <a:gd name="T3" fmla="*/ 0 h 578"/>
              <a:gd name="T4" fmla="*/ 3208 w 3208"/>
              <a:gd name="T5" fmla="*/ 578 h 578"/>
              <a:gd name="T6" fmla="*/ 2483 w 3208"/>
              <a:gd name="T7" fmla="*/ 578 h 578"/>
              <a:gd name="T8" fmla="*/ 2003 w 3208"/>
              <a:gd name="T9" fmla="*/ 432 h 578"/>
              <a:gd name="T10" fmla="*/ 1280 w 3208"/>
              <a:gd name="T11" fmla="*/ 427 h 578"/>
              <a:gd name="T12" fmla="*/ 826 w 3208"/>
              <a:gd name="T13" fmla="*/ 534 h 578"/>
              <a:gd name="T14" fmla="*/ 0 w 3208"/>
              <a:gd name="T15" fmla="*/ 534 h 578"/>
              <a:gd name="T16" fmla="*/ 4 w 3208"/>
              <a:gd name="T17" fmla="*/ 0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8" h="578">
                <a:moveTo>
                  <a:pt x="4" y="0"/>
                </a:moveTo>
                <a:lnTo>
                  <a:pt x="3191" y="0"/>
                </a:lnTo>
                <a:lnTo>
                  <a:pt x="3208" y="578"/>
                </a:lnTo>
                <a:lnTo>
                  <a:pt x="2483" y="578"/>
                </a:lnTo>
                <a:lnTo>
                  <a:pt x="2003" y="432"/>
                </a:lnTo>
                <a:lnTo>
                  <a:pt x="1280" y="427"/>
                </a:lnTo>
                <a:lnTo>
                  <a:pt x="826" y="534"/>
                </a:lnTo>
                <a:lnTo>
                  <a:pt x="0" y="534"/>
                </a:lnTo>
                <a:lnTo>
                  <a:pt x="4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0" name="Line 71"/>
          <p:cNvSpPr>
            <a:spLocks noChangeShapeType="1"/>
          </p:cNvSpPr>
          <p:nvPr/>
        </p:nvSpPr>
        <p:spPr bwMode="auto">
          <a:xfrm>
            <a:off x="2535238" y="3551238"/>
            <a:ext cx="506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72"/>
          <p:cNvSpPr>
            <a:spLocks/>
          </p:cNvSpPr>
          <p:nvPr/>
        </p:nvSpPr>
        <p:spPr bwMode="auto">
          <a:xfrm>
            <a:off x="2528888" y="4244975"/>
            <a:ext cx="5080000" cy="234950"/>
          </a:xfrm>
          <a:custGeom>
            <a:avLst/>
            <a:gdLst>
              <a:gd name="T0" fmla="*/ 0 w 3200"/>
              <a:gd name="T1" fmla="*/ 103 h 148"/>
              <a:gd name="T2" fmla="*/ 824 w 3200"/>
              <a:gd name="T3" fmla="*/ 103 h 148"/>
              <a:gd name="T4" fmla="*/ 1277 w 3200"/>
              <a:gd name="T5" fmla="*/ 0 h 148"/>
              <a:gd name="T6" fmla="*/ 1997 w 3200"/>
              <a:gd name="T7" fmla="*/ 0 h 148"/>
              <a:gd name="T8" fmla="*/ 2477 w 3200"/>
              <a:gd name="T9" fmla="*/ 148 h 148"/>
              <a:gd name="T10" fmla="*/ 3200 w 3200"/>
              <a:gd name="T11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200" h="148">
                <a:moveTo>
                  <a:pt x="0" y="103"/>
                </a:moveTo>
                <a:lnTo>
                  <a:pt x="824" y="103"/>
                </a:lnTo>
                <a:lnTo>
                  <a:pt x="1277" y="0"/>
                </a:lnTo>
                <a:lnTo>
                  <a:pt x="1997" y="0"/>
                </a:lnTo>
                <a:lnTo>
                  <a:pt x="2477" y="148"/>
                </a:lnTo>
                <a:lnTo>
                  <a:pt x="3200" y="1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73"/>
          <p:cNvSpPr>
            <a:spLocks noChangeShapeType="1"/>
          </p:cNvSpPr>
          <p:nvPr/>
        </p:nvSpPr>
        <p:spPr bwMode="auto">
          <a:xfrm>
            <a:off x="2536825" y="46434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74"/>
          <p:cNvSpPr>
            <a:spLocks/>
          </p:cNvSpPr>
          <p:nvPr/>
        </p:nvSpPr>
        <p:spPr bwMode="auto">
          <a:xfrm>
            <a:off x="2387600" y="2424113"/>
            <a:ext cx="144463" cy="2212975"/>
          </a:xfrm>
          <a:custGeom>
            <a:avLst/>
            <a:gdLst>
              <a:gd name="T0" fmla="*/ 82 w 82"/>
              <a:gd name="T1" fmla="*/ 1239 h 1239"/>
              <a:gd name="T2" fmla="*/ 43 w 82"/>
              <a:gd name="T3" fmla="*/ 1239 h 1239"/>
              <a:gd name="T4" fmla="*/ 0 w 82"/>
              <a:gd name="T5" fmla="*/ 1239 h 1239"/>
              <a:gd name="T6" fmla="*/ 0 w 82"/>
              <a:gd name="T7" fmla="*/ 0 h 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239">
                <a:moveTo>
                  <a:pt x="82" y="1239"/>
                </a:moveTo>
                <a:cubicBezTo>
                  <a:pt x="69" y="1239"/>
                  <a:pt x="56" y="1239"/>
                  <a:pt x="43" y="1239"/>
                </a:cubicBezTo>
                <a:lnTo>
                  <a:pt x="0" y="123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75"/>
          <p:cNvSpPr>
            <a:spLocks/>
          </p:cNvSpPr>
          <p:nvPr/>
        </p:nvSpPr>
        <p:spPr bwMode="auto">
          <a:xfrm>
            <a:off x="2338388" y="2427288"/>
            <a:ext cx="193675" cy="2252662"/>
          </a:xfrm>
          <a:custGeom>
            <a:avLst/>
            <a:gdLst>
              <a:gd name="T0" fmla="*/ 82 w 82"/>
              <a:gd name="T1" fmla="*/ 1239 h 1239"/>
              <a:gd name="T2" fmla="*/ 43 w 82"/>
              <a:gd name="T3" fmla="*/ 1239 h 1239"/>
              <a:gd name="T4" fmla="*/ 0 w 82"/>
              <a:gd name="T5" fmla="*/ 1239 h 1239"/>
              <a:gd name="T6" fmla="*/ 0 w 82"/>
              <a:gd name="T7" fmla="*/ 0 h 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239">
                <a:moveTo>
                  <a:pt x="82" y="1239"/>
                </a:moveTo>
                <a:cubicBezTo>
                  <a:pt x="69" y="1239"/>
                  <a:pt x="56" y="1239"/>
                  <a:pt x="43" y="1239"/>
                </a:cubicBezTo>
                <a:lnTo>
                  <a:pt x="0" y="123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76"/>
          <p:cNvSpPr>
            <a:spLocks noChangeShapeType="1"/>
          </p:cNvSpPr>
          <p:nvPr/>
        </p:nvSpPr>
        <p:spPr bwMode="auto">
          <a:xfrm>
            <a:off x="2341563" y="2505075"/>
            <a:ext cx="46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77"/>
          <p:cNvSpPr>
            <a:spLocks noChangeShapeType="1"/>
          </p:cNvSpPr>
          <p:nvPr/>
        </p:nvSpPr>
        <p:spPr bwMode="auto">
          <a:xfrm>
            <a:off x="2352675" y="2530475"/>
            <a:ext cx="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78"/>
          <p:cNvSpPr>
            <a:spLocks noChangeShapeType="1"/>
          </p:cNvSpPr>
          <p:nvPr/>
        </p:nvSpPr>
        <p:spPr bwMode="auto">
          <a:xfrm>
            <a:off x="2352675" y="2551113"/>
            <a:ext cx="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79"/>
          <p:cNvSpPr>
            <a:spLocks/>
          </p:cNvSpPr>
          <p:nvPr/>
        </p:nvSpPr>
        <p:spPr bwMode="auto">
          <a:xfrm flipH="1">
            <a:off x="7654925" y="2413000"/>
            <a:ext cx="144463" cy="2212975"/>
          </a:xfrm>
          <a:custGeom>
            <a:avLst/>
            <a:gdLst>
              <a:gd name="T0" fmla="*/ 82 w 82"/>
              <a:gd name="T1" fmla="*/ 1239 h 1239"/>
              <a:gd name="T2" fmla="*/ 43 w 82"/>
              <a:gd name="T3" fmla="*/ 1239 h 1239"/>
              <a:gd name="T4" fmla="*/ 0 w 82"/>
              <a:gd name="T5" fmla="*/ 1239 h 1239"/>
              <a:gd name="T6" fmla="*/ 0 w 82"/>
              <a:gd name="T7" fmla="*/ 0 h 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239">
                <a:moveTo>
                  <a:pt x="82" y="1239"/>
                </a:moveTo>
                <a:cubicBezTo>
                  <a:pt x="69" y="1239"/>
                  <a:pt x="56" y="1239"/>
                  <a:pt x="43" y="1239"/>
                </a:cubicBezTo>
                <a:lnTo>
                  <a:pt x="0" y="123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80"/>
          <p:cNvSpPr>
            <a:spLocks/>
          </p:cNvSpPr>
          <p:nvPr/>
        </p:nvSpPr>
        <p:spPr bwMode="auto">
          <a:xfrm flipH="1">
            <a:off x="7654925" y="2416175"/>
            <a:ext cx="193675" cy="2252663"/>
          </a:xfrm>
          <a:custGeom>
            <a:avLst/>
            <a:gdLst>
              <a:gd name="T0" fmla="*/ 82 w 82"/>
              <a:gd name="T1" fmla="*/ 1239 h 1239"/>
              <a:gd name="T2" fmla="*/ 43 w 82"/>
              <a:gd name="T3" fmla="*/ 1239 h 1239"/>
              <a:gd name="T4" fmla="*/ 0 w 82"/>
              <a:gd name="T5" fmla="*/ 1239 h 1239"/>
              <a:gd name="T6" fmla="*/ 0 w 82"/>
              <a:gd name="T7" fmla="*/ 0 h 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239">
                <a:moveTo>
                  <a:pt x="82" y="1239"/>
                </a:moveTo>
                <a:cubicBezTo>
                  <a:pt x="69" y="1239"/>
                  <a:pt x="56" y="1239"/>
                  <a:pt x="43" y="1239"/>
                </a:cubicBezTo>
                <a:lnTo>
                  <a:pt x="0" y="123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81"/>
          <p:cNvSpPr>
            <a:spLocks noChangeShapeType="1"/>
          </p:cNvSpPr>
          <p:nvPr/>
        </p:nvSpPr>
        <p:spPr bwMode="auto">
          <a:xfrm flipH="1">
            <a:off x="7799388" y="3311525"/>
            <a:ext cx="46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82"/>
          <p:cNvSpPr>
            <a:spLocks noChangeShapeType="1"/>
          </p:cNvSpPr>
          <p:nvPr/>
        </p:nvSpPr>
        <p:spPr bwMode="auto">
          <a:xfrm flipH="1">
            <a:off x="7824788" y="3336925"/>
            <a:ext cx="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83"/>
          <p:cNvSpPr>
            <a:spLocks noChangeShapeType="1"/>
          </p:cNvSpPr>
          <p:nvPr/>
        </p:nvSpPr>
        <p:spPr bwMode="auto">
          <a:xfrm flipH="1">
            <a:off x="7824788" y="3357563"/>
            <a:ext cx="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84"/>
          <p:cNvSpPr txBox="1">
            <a:spLocks noChangeArrowheads="1"/>
          </p:cNvSpPr>
          <p:nvPr/>
        </p:nvSpPr>
        <p:spPr bwMode="auto">
          <a:xfrm>
            <a:off x="2517775" y="40624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A</a:t>
            </a:r>
          </a:p>
        </p:txBody>
      </p:sp>
      <p:sp>
        <p:nvSpPr>
          <p:cNvPr id="25" name="Text Box 85"/>
          <p:cNvSpPr txBox="1">
            <a:spLocks noChangeArrowheads="1"/>
          </p:cNvSpPr>
          <p:nvPr/>
        </p:nvSpPr>
        <p:spPr bwMode="auto">
          <a:xfrm>
            <a:off x="3587750" y="4065588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B</a:t>
            </a:r>
          </a:p>
        </p:txBody>
      </p:sp>
      <p:sp>
        <p:nvSpPr>
          <p:cNvPr id="26" name="Text Box 86"/>
          <p:cNvSpPr txBox="1">
            <a:spLocks noChangeArrowheads="1"/>
          </p:cNvSpPr>
          <p:nvPr/>
        </p:nvSpPr>
        <p:spPr bwMode="auto">
          <a:xfrm>
            <a:off x="4371975" y="3859213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C</a:t>
            </a:r>
          </a:p>
        </p:txBody>
      </p:sp>
      <p:sp>
        <p:nvSpPr>
          <p:cNvPr id="27" name="Text Box 87"/>
          <p:cNvSpPr txBox="1">
            <a:spLocks noChangeArrowheads="1"/>
          </p:cNvSpPr>
          <p:nvPr/>
        </p:nvSpPr>
        <p:spPr bwMode="auto">
          <a:xfrm>
            <a:off x="5519738" y="386715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D</a:t>
            </a:r>
          </a:p>
        </p:txBody>
      </p:sp>
      <p:sp>
        <p:nvSpPr>
          <p:cNvPr id="28" name="Text Box 88"/>
          <p:cNvSpPr txBox="1">
            <a:spLocks noChangeArrowheads="1"/>
          </p:cNvSpPr>
          <p:nvPr/>
        </p:nvSpPr>
        <p:spPr bwMode="auto">
          <a:xfrm>
            <a:off x="6340475" y="4098925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E</a:t>
            </a:r>
          </a:p>
        </p:txBody>
      </p:sp>
      <p:sp>
        <p:nvSpPr>
          <p:cNvPr id="29" name="Text Box 89"/>
          <p:cNvSpPr txBox="1">
            <a:spLocks noChangeArrowheads="1"/>
          </p:cNvSpPr>
          <p:nvPr/>
        </p:nvSpPr>
        <p:spPr bwMode="auto">
          <a:xfrm>
            <a:off x="7418388" y="41243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F</a:t>
            </a:r>
          </a:p>
        </p:txBody>
      </p:sp>
      <p:sp>
        <p:nvSpPr>
          <p:cNvPr id="30" name="Line 90"/>
          <p:cNvSpPr>
            <a:spLocks noChangeShapeType="1"/>
          </p:cNvSpPr>
          <p:nvPr/>
        </p:nvSpPr>
        <p:spPr bwMode="auto">
          <a:xfrm flipV="1">
            <a:off x="2532063" y="2444750"/>
            <a:ext cx="0" cy="1935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92"/>
          <p:cNvSpPr txBox="1">
            <a:spLocks noChangeArrowheads="1"/>
          </p:cNvSpPr>
          <p:nvPr/>
        </p:nvSpPr>
        <p:spPr bwMode="auto">
          <a:xfrm>
            <a:off x="4597400" y="4254500"/>
            <a:ext cx="1003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承压水层</a:t>
            </a:r>
          </a:p>
        </p:txBody>
      </p:sp>
      <p:sp>
        <p:nvSpPr>
          <p:cNvPr id="32" name="Line 94"/>
          <p:cNvSpPr>
            <a:spLocks noChangeShapeType="1"/>
          </p:cNvSpPr>
          <p:nvPr/>
        </p:nvSpPr>
        <p:spPr bwMode="auto">
          <a:xfrm flipV="1">
            <a:off x="7615238" y="3024188"/>
            <a:ext cx="0" cy="143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95"/>
          <p:cNvSpPr>
            <a:spLocks noChangeShapeType="1"/>
          </p:cNvSpPr>
          <p:nvPr/>
        </p:nvSpPr>
        <p:spPr bwMode="auto">
          <a:xfrm flipH="1">
            <a:off x="2890838" y="355282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96"/>
          <p:cNvSpPr>
            <a:spLocks noChangeShapeType="1"/>
          </p:cNvSpPr>
          <p:nvPr/>
        </p:nvSpPr>
        <p:spPr bwMode="auto">
          <a:xfrm flipH="1">
            <a:off x="2936875" y="35544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97"/>
          <p:cNvSpPr>
            <a:spLocks noChangeShapeType="1"/>
          </p:cNvSpPr>
          <p:nvPr/>
        </p:nvSpPr>
        <p:spPr bwMode="auto">
          <a:xfrm flipH="1">
            <a:off x="2986088" y="35544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98"/>
          <p:cNvSpPr>
            <a:spLocks noChangeShapeType="1"/>
          </p:cNvSpPr>
          <p:nvPr/>
        </p:nvSpPr>
        <p:spPr bwMode="auto">
          <a:xfrm>
            <a:off x="3073400" y="3582988"/>
            <a:ext cx="793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99"/>
          <p:cNvSpPr>
            <a:spLocks noChangeShapeType="1"/>
          </p:cNvSpPr>
          <p:nvPr/>
        </p:nvSpPr>
        <p:spPr bwMode="auto">
          <a:xfrm>
            <a:off x="3057525" y="3613150"/>
            <a:ext cx="69850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100"/>
          <p:cNvSpPr>
            <a:spLocks noChangeShapeType="1"/>
          </p:cNvSpPr>
          <p:nvPr/>
        </p:nvSpPr>
        <p:spPr bwMode="auto">
          <a:xfrm>
            <a:off x="3040063" y="3646488"/>
            <a:ext cx="88900" cy="17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101"/>
          <p:cNvSpPr>
            <a:spLocks noChangeShapeType="1"/>
          </p:cNvSpPr>
          <p:nvPr/>
        </p:nvSpPr>
        <p:spPr bwMode="auto">
          <a:xfrm flipH="1">
            <a:off x="3162300" y="3557588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102"/>
          <p:cNvSpPr>
            <a:spLocks noChangeShapeType="1"/>
          </p:cNvSpPr>
          <p:nvPr/>
        </p:nvSpPr>
        <p:spPr bwMode="auto">
          <a:xfrm flipH="1">
            <a:off x="3208338" y="355917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103"/>
          <p:cNvSpPr>
            <a:spLocks noChangeShapeType="1"/>
          </p:cNvSpPr>
          <p:nvPr/>
        </p:nvSpPr>
        <p:spPr bwMode="auto">
          <a:xfrm flipH="1">
            <a:off x="3257550" y="355917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104"/>
          <p:cNvSpPr>
            <a:spLocks noChangeShapeType="1"/>
          </p:cNvSpPr>
          <p:nvPr/>
        </p:nvSpPr>
        <p:spPr bwMode="auto">
          <a:xfrm>
            <a:off x="3344863" y="3587750"/>
            <a:ext cx="793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105"/>
          <p:cNvSpPr>
            <a:spLocks noChangeShapeType="1"/>
          </p:cNvSpPr>
          <p:nvPr/>
        </p:nvSpPr>
        <p:spPr bwMode="auto">
          <a:xfrm>
            <a:off x="3328988" y="3617913"/>
            <a:ext cx="69850" cy="23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106"/>
          <p:cNvSpPr>
            <a:spLocks noChangeShapeType="1"/>
          </p:cNvSpPr>
          <p:nvPr/>
        </p:nvSpPr>
        <p:spPr bwMode="auto">
          <a:xfrm>
            <a:off x="3311525" y="3651250"/>
            <a:ext cx="88900" cy="17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107"/>
          <p:cNvSpPr>
            <a:spLocks noChangeShapeType="1"/>
          </p:cNvSpPr>
          <p:nvPr/>
        </p:nvSpPr>
        <p:spPr bwMode="auto">
          <a:xfrm flipH="1">
            <a:off x="3433763" y="355282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108"/>
          <p:cNvSpPr>
            <a:spLocks noChangeShapeType="1"/>
          </p:cNvSpPr>
          <p:nvPr/>
        </p:nvSpPr>
        <p:spPr bwMode="auto">
          <a:xfrm flipH="1">
            <a:off x="3479800" y="35544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109"/>
          <p:cNvSpPr>
            <a:spLocks noChangeShapeType="1"/>
          </p:cNvSpPr>
          <p:nvPr/>
        </p:nvSpPr>
        <p:spPr bwMode="auto">
          <a:xfrm flipH="1">
            <a:off x="3529013" y="35544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110"/>
          <p:cNvSpPr>
            <a:spLocks noChangeShapeType="1"/>
          </p:cNvSpPr>
          <p:nvPr/>
        </p:nvSpPr>
        <p:spPr bwMode="auto">
          <a:xfrm>
            <a:off x="3616325" y="3582988"/>
            <a:ext cx="793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111"/>
          <p:cNvSpPr>
            <a:spLocks noChangeShapeType="1"/>
          </p:cNvSpPr>
          <p:nvPr/>
        </p:nvSpPr>
        <p:spPr bwMode="auto">
          <a:xfrm>
            <a:off x="3600450" y="3613150"/>
            <a:ext cx="69850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112"/>
          <p:cNvSpPr>
            <a:spLocks noChangeShapeType="1"/>
          </p:cNvSpPr>
          <p:nvPr/>
        </p:nvSpPr>
        <p:spPr bwMode="auto">
          <a:xfrm>
            <a:off x="3582988" y="3646488"/>
            <a:ext cx="88900" cy="17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13"/>
          <p:cNvSpPr txBox="1">
            <a:spLocks noChangeArrowheads="1"/>
          </p:cNvSpPr>
          <p:nvPr/>
        </p:nvSpPr>
        <p:spPr bwMode="auto">
          <a:xfrm>
            <a:off x="6754813" y="3582988"/>
            <a:ext cx="71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52" name="Text Box 114"/>
          <p:cNvSpPr txBox="1">
            <a:spLocks noChangeArrowheads="1"/>
          </p:cNvSpPr>
          <p:nvPr/>
        </p:nvSpPr>
        <p:spPr bwMode="auto">
          <a:xfrm>
            <a:off x="6780213" y="4987925"/>
            <a:ext cx="71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53" name="Freeform 115"/>
          <p:cNvSpPr>
            <a:spLocks/>
          </p:cNvSpPr>
          <p:nvPr/>
        </p:nvSpPr>
        <p:spPr bwMode="auto">
          <a:xfrm>
            <a:off x="2527300" y="4800600"/>
            <a:ext cx="5094288" cy="657225"/>
          </a:xfrm>
          <a:custGeom>
            <a:avLst/>
            <a:gdLst>
              <a:gd name="T0" fmla="*/ 4 w 3209"/>
              <a:gd name="T1" fmla="*/ 414 h 414"/>
              <a:gd name="T2" fmla="*/ 3209 w 3209"/>
              <a:gd name="T3" fmla="*/ 414 h 414"/>
              <a:gd name="T4" fmla="*/ 3209 w 3209"/>
              <a:gd name="T5" fmla="*/ 0 h 414"/>
              <a:gd name="T6" fmla="*/ 2472 w 3209"/>
              <a:gd name="T7" fmla="*/ 0 h 414"/>
              <a:gd name="T8" fmla="*/ 2003 w 3209"/>
              <a:gd name="T9" fmla="*/ 154 h 414"/>
              <a:gd name="T10" fmla="*/ 1283 w 3209"/>
              <a:gd name="T11" fmla="*/ 149 h 414"/>
              <a:gd name="T12" fmla="*/ 827 w 3209"/>
              <a:gd name="T13" fmla="*/ 37 h 414"/>
              <a:gd name="T14" fmla="*/ 0 w 3209"/>
              <a:gd name="T15" fmla="*/ 37 h 414"/>
              <a:gd name="T16" fmla="*/ 4 w 3209"/>
              <a:gd name="T17" fmla="*/ 414 h 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9" h="414">
                <a:moveTo>
                  <a:pt x="4" y="414"/>
                </a:moveTo>
                <a:lnTo>
                  <a:pt x="3209" y="414"/>
                </a:lnTo>
                <a:lnTo>
                  <a:pt x="3209" y="0"/>
                </a:lnTo>
                <a:lnTo>
                  <a:pt x="2472" y="0"/>
                </a:lnTo>
                <a:lnTo>
                  <a:pt x="2003" y="154"/>
                </a:lnTo>
                <a:lnTo>
                  <a:pt x="1283" y="149"/>
                </a:lnTo>
                <a:lnTo>
                  <a:pt x="827" y="37"/>
                </a:lnTo>
                <a:lnTo>
                  <a:pt x="0" y="37"/>
                </a:lnTo>
                <a:lnTo>
                  <a:pt x="4" y="414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4" name="Freeform 116"/>
          <p:cNvSpPr>
            <a:spLocks/>
          </p:cNvSpPr>
          <p:nvPr/>
        </p:nvSpPr>
        <p:spPr bwMode="auto">
          <a:xfrm>
            <a:off x="2532063" y="4789488"/>
            <a:ext cx="5076825" cy="250825"/>
          </a:xfrm>
          <a:custGeom>
            <a:avLst/>
            <a:gdLst>
              <a:gd name="T0" fmla="*/ 0 w 3198"/>
              <a:gd name="T1" fmla="*/ 43 h 158"/>
              <a:gd name="T2" fmla="*/ 826 w 3198"/>
              <a:gd name="T3" fmla="*/ 43 h 158"/>
              <a:gd name="T4" fmla="*/ 1273 w 3198"/>
              <a:gd name="T5" fmla="*/ 156 h 158"/>
              <a:gd name="T6" fmla="*/ 2003 w 3198"/>
              <a:gd name="T7" fmla="*/ 158 h 158"/>
              <a:gd name="T8" fmla="*/ 2475 w 3198"/>
              <a:gd name="T9" fmla="*/ 5 h 158"/>
              <a:gd name="T10" fmla="*/ 3198 w 3198"/>
              <a:gd name="T11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8" h="158">
                <a:moveTo>
                  <a:pt x="0" y="43"/>
                </a:moveTo>
                <a:lnTo>
                  <a:pt x="826" y="43"/>
                </a:lnTo>
                <a:lnTo>
                  <a:pt x="1273" y="156"/>
                </a:lnTo>
                <a:lnTo>
                  <a:pt x="2003" y="158"/>
                </a:lnTo>
                <a:lnTo>
                  <a:pt x="2475" y="5"/>
                </a:lnTo>
                <a:lnTo>
                  <a:pt x="319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Text Box 117"/>
          <p:cNvSpPr txBox="1">
            <a:spLocks noChangeArrowheads="1"/>
          </p:cNvSpPr>
          <p:nvPr/>
        </p:nvSpPr>
        <p:spPr bwMode="auto">
          <a:xfrm>
            <a:off x="6840538" y="4833938"/>
            <a:ext cx="71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56" name="Line 118"/>
          <p:cNvSpPr>
            <a:spLocks noChangeShapeType="1"/>
          </p:cNvSpPr>
          <p:nvPr/>
        </p:nvSpPr>
        <p:spPr bwMode="auto">
          <a:xfrm>
            <a:off x="2514600" y="538321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Text Box 119"/>
          <p:cNvSpPr txBox="1">
            <a:spLocks noChangeArrowheads="1"/>
          </p:cNvSpPr>
          <p:nvPr/>
        </p:nvSpPr>
        <p:spPr bwMode="auto">
          <a:xfrm>
            <a:off x="2132013" y="54086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O</a:t>
            </a:r>
          </a:p>
        </p:txBody>
      </p:sp>
      <p:sp>
        <p:nvSpPr>
          <p:cNvPr id="58" name="Text Box 120"/>
          <p:cNvSpPr txBox="1">
            <a:spLocks noChangeArrowheads="1"/>
          </p:cNvSpPr>
          <p:nvPr/>
        </p:nvSpPr>
        <p:spPr bwMode="auto">
          <a:xfrm>
            <a:off x="7620000" y="5327650"/>
            <a:ext cx="398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O’</a:t>
            </a:r>
          </a:p>
        </p:txBody>
      </p:sp>
      <p:sp>
        <p:nvSpPr>
          <p:cNvPr id="59" name="Line 121"/>
          <p:cNvSpPr>
            <a:spLocks noChangeShapeType="1"/>
          </p:cNvSpPr>
          <p:nvPr/>
        </p:nvSpPr>
        <p:spPr bwMode="auto">
          <a:xfrm>
            <a:off x="2525713" y="2519363"/>
            <a:ext cx="5084762" cy="7953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005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Freeform 2"/>
          <p:cNvSpPr>
            <a:spLocks/>
          </p:cNvSpPr>
          <p:nvPr/>
        </p:nvSpPr>
        <p:spPr bwMode="auto">
          <a:xfrm>
            <a:off x="7699375" y="3770313"/>
            <a:ext cx="187325" cy="1352550"/>
          </a:xfrm>
          <a:custGeom>
            <a:avLst/>
            <a:gdLst>
              <a:gd name="T0" fmla="*/ 0 w 118"/>
              <a:gd name="T1" fmla="*/ 825 h 852"/>
              <a:gd name="T2" fmla="*/ 86 w 118"/>
              <a:gd name="T3" fmla="*/ 825 h 852"/>
              <a:gd name="T4" fmla="*/ 86 w 118"/>
              <a:gd name="T5" fmla="*/ 0 h 852"/>
              <a:gd name="T6" fmla="*/ 118 w 118"/>
              <a:gd name="T7" fmla="*/ 0 h 852"/>
              <a:gd name="T8" fmla="*/ 118 w 118"/>
              <a:gd name="T9" fmla="*/ 852 h 852"/>
              <a:gd name="T10" fmla="*/ 0 w 118"/>
              <a:gd name="T11" fmla="*/ 852 h 852"/>
              <a:gd name="T12" fmla="*/ 0 w 118"/>
              <a:gd name="T13" fmla="*/ 825 h 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" h="852">
                <a:moveTo>
                  <a:pt x="0" y="825"/>
                </a:moveTo>
                <a:lnTo>
                  <a:pt x="86" y="825"/>
                </a:lnTo>
                <a:lnTo>
                  <a:pt x="86" y="0"/>
                </a:lnTo>
                <a:lnTo>
                  <a:pt x="118" y="0"/>
                </a:lnTo>
                <a:lnTo>
                  <a:pt x="118" y="852"/>
                </a:lnTo>
                <a:lnTo>
                  <a:pt x="0" y="852"/>
                </a:lnTo>
                <a:lnTo>
                  <a:pt x="0" y="825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" name="Freeform 3"/>
          <p:cNvSpPr>
            <a:spLocks/>
          </p:cNvSpPr>
          <p:nvPr/>
        </p:nvSpPr>
        <p:spPr bwMode="auto">
          <a:xfrm>
            <a:off x="2366963" y="2579688"/>
            <a:ext cx="206375" cy="2551112"/>
          </a:xfrm>
          <a:custGeom>
            <a:avLst/>
            <a:gdLst>
              <a:gd name="T0" fmla="*/ 127 w 132"/>
              <a:gd name="T1" fmla="*/ 1339 h 1371"/>
              <a:gd name="T2" fmla="*/ 31 w 132"/>
              <a:gd name="T3" fmla="*/ 1339 h 1371"/>
              <a:gd name="T4" fmla="*/ 31 w 132"/>
              <a:gd name="T5" fmla="*/ 0 h 1371"/>
              <a:gd name="T6" fmla="*/ 0 w 132"/>
              <a:gd name="T7" fmla="*/ 0 h 1371"/>
              <a:gd name="T8" fmla="*/ 0 w 132"/>
              <a:gd name="T9" fmla="*/ 1371 h 1371"/>
              <a:gd name="T10" fmla="*/ 132 w 132"/>
              <a:gd name="T11" fmla="*/ 1371 h 1371"/>
              <a:gd name="T12" fmla="*/ 127 w 132"/>
              <a:gd name="T13" fmla="*/ 1353 h 1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" h="1371">
                <a:moveTo>
                  <a:pt x="127" y="1339"/>
                </a:moveTo>
                <a:lnTo>
                  <a:pt x="31" y="1339"/>
                </a:lnTo>
                <a:lnTo>
                  <a:pt x="31" y="0"/>
                </a:lnTo>
                <a:lnTo>
                  <a:pt x="0" y="0"/>
                </a:lnTo>
                <a:lnTo>
                  <a:pt x="0" y="1371"/>
                </a:lnTo>
                <a:lnTo>
                  <a:pt x="132" y="1371"/>
                </a:lnTo>
                <a:lnTo>
                  <a:pt x="127" y="1353"/>
                </a:lnTo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" name="Freeform 4" descr="5%"/>
          <p:cNvSpPr>
            <a:spLocks/>
          </p:cNvSpPr>
          <p:nvPr/>
        </p:nvSpPr>
        <p:spPr bwMode="auto">
          <a:xfrm>
            <a:off x="2562225" y="4519613"/>
            <a:ext cx="5089525" cy="1225550"/>
          </a:xfrm>
          <a:custGeom>
            <a:avLst/>
            <a:gdLst>
              <a:gd name="T0" fmla="*/ 5 w 3206"/>
              <a:gd name="T1" fmla="*/ 202 h 772"/>
              <a:gd name="T2" fmla="*/ 824 w 3206"/>
              <a:gd name="T3" fmla="*/ 172 h 772"/>
              <a:gd name="T4" fmla="*/ 1286 w 3206"/>
              <a:gd name="T5" fmla="*/ 0 h 772"/>
              <a:gd name="T6" fmla="*/ 2006 w 3206"/>
              <a:gd name="T7" fmla="*/ 0 h 772"/>
              <a:gd name="T8" fmla="*/ 2472 w 3206"/>
              <a:gd name="T9" fmla="*/ 246 h 772"/>
              <a:gd name="T10" fmla="*/ 3206 w 3206"/>
              <a:gd name="T11" fmla="*/ 246 h 772"/>
              <a:gd name="T12" fmla="*/ 3206 w 3206"/>
              <a:gd name="T13" fmla="*/ 525 h 772"/>
              <a:gd name="T14" fmla="*/ 2462 w 3206"/>
              <a:gd name="T15" fmla="*/ 525 h 772"/>
              <a:gd name="T16" fmla="*/ 1995 w 3206"/>
              <a:gd name="T17" fmla="*/ 772 h 772"/>
              <a:gd name="T18" fmla="*/ 1262 w 3206"/>
              <a:gd name="T19" fmla="*/ 772 h 772"/>
              <a:gd name="T20" fmla="*/ 811 w 3206"/>
              <a:gd name="T21" fmla="*/ 569 h 772"/>
              <a:gd name="T22" fmla="*/ 0 w 3206"/>
              <a:gd name="T23" fmla="*/ 569 h 772"/>
              <a:gd name="T24" fmla="*/ 5 w 3206"/>
              <a:gd name="T25" fmla="*/ 202 h 7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06" h="772">
                <a:moveTo>
                  <a:pt x="5" y="202"/>
                </a:moveTo>
                <a:lnTo>
                  <a:pt x="824" y="172"/>
                </a:lnTo>
                <a:lnTo>
                  <a:pt x="1286" y="0"/>
                </a:lnTo>
                <a:lnTo>
                  <a:pt x="2006" y="0"/>
                </a:lnTo>
                <a:lnTo>
                  <a:pt x="2472" y="246"/>
                </a:lnTo>
                <a:lnTo>
                  <a:pt x="3206" y="246"/>
                </a:lnTo>
                <a:lnTo>
                  <a:pt x="3206" y="525"/>
                </a:lnTo>
                <a:lnTo>
                  <a:pt x="2462" y="525"/>
                </a:lnTo>
                <a:lnTo>
                  <a:pt x="1995" y="772"/>
                </a:lnTo>
                <a:lnTo>
                  <a:pt x="1262" y="772"/>
                </a:lnTo>
                <a:lnTo>
                  <a:pt x="811" y="569"/>
                </a:lnTo>
                <a:lnTo>
                  <a:pt x="0" y="569"/>
                </a:lnTo>
                <a:lnTo>
                  <a:pt x="5" y="202"/>
                </a:lnTo>
                <a:close/>
              </a:path>
            </a:pathLst>
          </a:custGeom>
          <a:pattFill prst="pct5">
            <a:fgClr>
              <a:srgbClr val="663300"/>
            </a:fgClr>
            <a:bgClr>
              <a:srgbClr val="99CC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2552700" y="4016375"/>
            <a:ext cx="5092700" cy="917575"/>
          </a:xfrm>
          <a:custGeom>
            <a:avLst/>
            <a:gdLst>
              <a:gd name="T0" fmla="*/ 4 w 3208"/>
              <a:gd name="T1" fmla="*/ 0 h 578"/>
              <a:gd name="T2" fmla="*/ 3191 w 3208"/>
              <a:gd name="T3" fmla="*/ 0 h 578"/>
              <a:gd name="T4" fmla="*/ 3208 w 3208"/>
              <a:gd name="T5" fmla="*/ 578 h 578"/>
              <a:gd name="T6" fmla="*/ 2483 w 3208"/>
              <a:gd name="T7" fmla="*/ 578 h 578"/>
              <a:gd name="T8" fmla="*/ 2003 w 3208"/>
              <a:gd name="T9" fmla="*/ 432 h 578"/>
              <a:gd name="T10" fmla="*/ 1280 w 3208"/>
              <a:gd name="T11" fmla="*/ 427 h 578"/>
              <a:gd name="T12" fmla="*/ 826 w 3208"/>
              <a:gd name="T13" fmla="*/ 534 h 578"/>
              <a:gd name="T14" fmla="*/ 0 w 3208"/>
              <a:gd name="T15" fmla="*/ 534 h 578"/>
              <a:gd name="T16" fmla="*/ 4 w 3208"/>
              <a:gd name="T17" fmla="*/ 0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8" h="578">
                <a:moveTo>
                  <a:pt x="4" y="0"/>
                </a:moveTo>
                <a:lnTo>
                  <a:pt x="3191" y="0"/>
                </a:lnTo>
                <a:lnTo>
                  <a:pt x="3208" y="578"/>
                </a:lnTo>
                <a:lnTo>
                  <a:pt x="2483" y="578"/>
                </a:lnTo>
                <a:lnTo>
                  <a:pt x="2003" y="432"/>
                </a:lnTo>
                <a:lnTo>
                  <a:pt x="1280" y="427"/>
                </a:lnTo>
                <a:lnTo>
                  <a:pt x="826" y="534"/>
                </a:lnTo>
                <a:lnTo>
                  <a:pt x="0" y="534"/>
                </a:lnTo>
                <a:lnTo>
                  <a:pt x="4" y="0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563813" y="4008438"/>
            <a:ext cx="506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2557463" y="4702175"/>
            <a:ext cx="5080000" cy="234950"/>
          </a:xfrm>
          <a:custGeom>
            <a:avLst/>
            <a:gdLst>
              <a:gd name="T0" fmla="*/ 0 w 3200"/>
              <a:gd name="T1" fmla="*/ 103 h 148"/>
              <a:gd name="T2" fmla="*/ 824 w 3200"/>
              <a:gd name="T3" fmla="*/ 103 h 148"/>
              <a:gd name="T4" fmla="*/ 1277 w 3200"/>
              <a:gd name="T5" fmla="*/ 0 h 148"/>
              <a:gd name="T6" fmla="*/ 1997 w 3200"/>
              <a:gd name="T7" fmla="*/ 0 h 148"/>
              <a:gd name="T8" fmla="*/ 2477 w 3200"/>
              <a:gd name="T9" fmla="*/ 148 h 148"/>
              <a:gd name="T10" fmla="*/ 3200 w 3200"/>
              <a:gd name="T11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200" h="148">
                <a:moveTo>
                  <a:pt x="0" y="103"/>
                </a:moveTo>
                <a:lnTo>
                  <a:pt x="824" y="103"/>
                </a:lnTo>
                <a:lnTo>
                  <a:pt x="1277" y="0"/>
                </a:lnTo>
                <a:lnTo>
                  <a:pt x="1997" y="0"/>
                </a:lnTo>
                <a:lnTo>
                  <a:pt x="2477" y="148"/>
                </a:lnTo>
                <a:lnTo>
                  <a:pt x="3200" y="1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565400" y="51006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366963" y="2476500"/>
            <a:ext cx="193675" cy="2651125"/>
            <a:chOff x="1473" y="1521"/>
            <a:chExt cx="122" cy="1421"/>
          </a:xfrm>
        </p:grpSpPr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1504" y="1521"/>
              <a:ext cx="91" cy="1394"/>
            </a:xfrm>
            <a:custGeom>
              <a:avLst/>
              <a:gdLst>
                <a:gd name="T0" fmla="*/ 82 w 82"/>
                <a:gd name="T1" fmla="*/ 1239 h 1239"/>
                <a:gd name="T2" fmla="*/ 43 w 82"/>
                <a:gd name="T3" fmla="*/ 1239 h 1239"/>
                <a:gd name="T4" fmla="*/ 0 w 82"/>
                <a:gd name="T5" fmla="*/ 1239 h 1239"/>
                <a:gd name="T6" fmla="*/ 0 w 82"/>
                <a:gd name="T7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239">
                  <a:moveTo>
                    <a:pt x="82" y="1239"/>
                  </a:moveTo>
                  <a:cubicBezTo>
                    <a:pt x="69" y="1239"/>
                    <a:pt x="56" y="1239"/>
                    <a:pt x="43" y="1239"/>
                  </a:cubicBezTo>
                  <a:lnTo>
                    <a:pt x="0" y="123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473" y="1523"/>
              <a:ext cx="122" cy="1419"/>
            </a:xfrm>
            <a:custGeom>
              <a:avLst/>
              <a:gdLst>
                <a:gd name="T0" fmla="*/ 82 w 82"/>
                <a:gd name="T1" fmla="*/ 1239 h 1239"/>
                <a:gd name="T2" fmla="*/ 43 w 82"/>
                <a:gd name="T3" fmla="*/ 1239 h 1239"/>
                <a:gd name="T4" fmla="*/ 0 w 82"/>
                <a:gd name="T5" fmla="*/ 1239 h 1239"/>
                <a:gd name="T6" fmla="*/ 0 w 82"/>
                <a:gd name="T7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239">
                  <a:moveTo>
                    <a:pt x="82" y="1239"/>
                  </a:moveTo>
                  <a:cubicBezTo>
                    <a:pt x="69" y="1239"/>
                    <a:pt x="56" y="1239"/>
                    <a:pt x="43" y="1239"/>
                  </a:cubicBezTo>
                  <a:lnTo>
                    <a:pt x="0" y="123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475" y="1572"/>
              <a:ext cx="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482" y="1588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482" y="1601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Freeform 15"/>
          <p:cNvSpPr>
            <a:spLocks/>
          </p:cNvSpPr>
          <p:nvPr/>
        </p:nvSpPr>
        <p:spPr bwMode="auto">
          <a:xfrm flipH="1">
            <a:off x="7693025" y="2870200"/>
            <a:ext cx="144463" cy="2212975"/>
          </a:xfrm>
          <a:custGeom>
            <a:avLst/>
            <a:gdLst>
              <a:gd name="T0" fmla="*/ 82 w 82"/>
              <a:gd name="T1" fmla="*/ 1239 h 1239"/>
              <a:gd name="T2" fmla="*/ 43 w 82"/>
              <a:gd name="T3" fmla="*/ 1239 h 1239"/>
              <a:gd name="T4" fmla="*/ 0 w 82"/>
              <a:gd name="T5" fmla="*/ 1239 h 1239"/>
              <a:gd name="T6" fmla="*/ 0 w 82"/>
              <a:gd name="T7" fmla="*/ 0 h 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239">
                <a:moveTo>
                  <a:pt x="82" y="1239"/>
                </a:moveTo>
                <a:cubicBezTo>
                  <a:pt x="69" y="1239"/>
                  <a:pt x="56" y="1239"/>
                  <a:pt x="43" y="1239"/>
                </a:cubicBezTo>
                <a:lnTo>
                  <a:pt x="0" y="123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flipH="1">
            <a:off x="7693025" y="2873375"/>
            <a:ext cx="193675" cy="2252663"/>
          </a:xfrm>
          <a:custGeom>
            <a:avLst/>
            <a:gdLst>
              <a:gd name="T0" fmla="*/ 82 w 82"/>
              <a:gd name="T1" fmla="*/ 1239 h 1239"/>
              <a:gd name="T2" fmla="*/ 43 w 82"/>
              <a:gd name="T3" fmla="*/ 1239 h 1239"/>
              <a:gd name="T4" fmla="*/ 0 w 82"/>
              <a:gd name="T5" fmla="*/ 1239 h 1239"/>
              <a:gd name="T6" fmla="*/ 0 w 82"/>
              <a:gd name="T7" fmla="*/ 0 h 1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" h="1239">
                <a:moveTo>
                  <a:pt x="82" y="1239"/>
                </a:moveTo>
                <a:cubicBezTo>
                  <a:pt x="69" y="1239"/>
                  <a:pt x="56" y="1239"/>
                  <a:pt x="43" y="1239"/>
                </a:cubicBezTo>
                <a:lnTo>
                  <a:pt x="0" y="123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 flipH="1">
            <a:off x="7837488" y="3768725"/>
            <a:ext cx="46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 flipH="1">
            <a:off x="7862888" y="3794125"/>
            <a:ext cx="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 flipH="1">
            <a:off x="7862888" y="3814763"/>
            <a:ext cx="9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2546350" y="45196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A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3616325" y="4522788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B</a:t>
            </a: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4441825" y="4132263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C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5589588" y="41402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D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6369050" y="4556125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E</a:t>
            </a: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7446963" y="45815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F</a:t>
            </a:r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H="1" flipV="1">
            <a:off x="2555875" y="2479675"/>
            <a:ext cx="4763" cy="2271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Oval 27"/>
          <p:cNvSpPr>
            <a:spLocks noChangeArrowheads="1"/>
          </p:cNvSpPr>
          <p:nvPr/>
        </p:nvSpPr>
        <p:spPr bwMode="auto">
          <a:xfrm>
            <a:off x="2536825" y="2547938"/>
            <a:ext cx="42863" cy="428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4625975" y="4711700"/>
            <a:ext cx="996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承压水层</a:t>
            </a:r>
          </a:p>
        </p:txBody>
      </p:sp>
      <p:sp>
        <p:nvSpPr>
          <p:cNvPr id="33" name="Oval 29"/>
          <p:cNvSpPr>
            <a:spLocks noChangeArrowheads="1"/>
          </p:cNvSpPr>
          <p:nvPr/>
        </p:nvSpPr>
        <p:spPr bwMode="auto">
          <a:xfrm>
            <a:off x="7623175" y="3817938"/>
            <a:ext cx="42863" cy="428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 flipV="1">
            <a:off x="7643813" y="3481388"/>
            <a:ext cx="0" cy="143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 flipH="1">
            <a:off x="2919413" y="401002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 flipH="1">
            <a:off x="2965450" y="40116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 flipH="1">
            <a:off x="3014663" y="40116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>
            <a:off x="3101975" y="4040188"/>
            <a:ext cx="793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3086100" y="4070350"/>
            <a:ext cx="69850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3068638" y="4103688"/>
            <a:ext cx="88900" cy="17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 flipH="1">
            <a:off x="3190875" y="4014788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 flipH="1">
            <a:off x="3236913" y="401637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 flipH="1">
            <a:off x="3286125" y="401637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0"/>
          <p:cNvSpPr>
            <a:spLocks noChangeShapeType="1"/>
          </p:cNvSpPr>
          <p:nvPr/>
        </p:nvSpPr>
        <p:spPr bwMode="auto">
          <a:xfrm>
            <a:off x="3373438" y="4044950"/>
            <a:ext cx="793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>
            <a:off x="3357563" y="4075113"/>
            <a:ext cx="69850" cy="23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2"/>
          <p:cNvSpPr>
            <a:spLocks noChangeShapeType="1"/>
          </p:cNvSpPr>
          <p:nvPr/>
        </p:nvSpPr>
        <p:spPr bwMode="auto">
          <a:xfrm>
            <a:off x="3340100" y="4108450"/>
            <a:ext cx="88900" cy="17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 flipH="1">
            <a:off x="3462338" y="4010025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4"/>
          <p:cNvSpPr>
            <a:spLocks noChangeShapeType="1"/>
          </p:cNvSpPr>
          <p:nvPr/>
        </p:nvSpPr>
        <p:spPr bwMode="auto">
          <a:xfrm flipH="1">
            <a:off x="3508375" y="40116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 flipH="1">
            <a:off x="3557588" y="4011613"/>
            <a:ext cx="7620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46"/>
          <p:cNvSpPr>
            <a:spLocks noChangeShapeType="1"/>
          </p:cNvSpPr>
          <p:nvPr/>
        </p:nvSpPr>
        <p:spPr bwMode="auto">
          <a:xfrm>
            <a:off x="3644900" y="4040188"/>
            <a:ext cx="79375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47"/>
          <p:cNvSpPr>
            <a:spLocks noChangeShapeType="1"/>
          </p:cNvSpPr>
          <p:nvPr/>
        </p:nvSpPr>
        <p:spPr bwMode="auto">
          <a:xfrm>
            <a:off x="3629025" y="4070350"/>
            <a:ext cx="69850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48"/>
          <p:cNvSpPr>
            <a:spLocks noChangeShapeType="1"/>
          </p:cNvSpPr>
          <p:nvPr/>
        </p:nvSpPr>
        <p:spPr bwMode="auto">
          <a:xfrm>
            <a:off x="3611563" y="4103688"/>
            <a:ext cx="88900" cy="17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Text Box 49"/>
          <p:cNvSpPr txBox="1">
            <a:spLocks noChangeArrowheads="1"/>
          </p:cNvSpPr>
          <p:nvPr/>
        </p:nvSpPr>
        <p:spPr bwMode="auto">
          <a:xfrm>
            <a:off x="6783388" y="4040188"/>
            <a:ext cx="71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54" name="Text Box 50"/>
          <p:cNvSpPr txBox="1">
            <a:spLocks noChangeArrowheads="1"/>
          </p:cNvSpPr>
          <p:nvPr/>
        </p:nvSpPr>
        <p:spPr bwMode="auto">
          <a:xfrm>
            <a:off x="6808788" y="5445125"/>
            <a:ext cx="71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55" name="Freeform 51"/>
          <p:cNvSpPr>
            <a:spLocks/>
          </p:cNvSpPr>
          <p:nvPr/>
        </p:nvSpPr>
        <p:spPr bwMode="auto">
          <a:xfrm>
            <a:off x="2555875" y="5257800"/>
            <a:ext cx="5094288" cy="657225"/>
          </a:xfrm>
          <a:custGeom>
            <a:avLst/>
            <a:gdLst>
              <a:gd name="T0" fmla="*/ 4 w 3209"/>
              <a:gd name="T1" fmla="*/ 414 h 414"/>
              <a:gd name="T2" fmla="*/ 3209 w 3209"/>
              <a:gd name="T3" fmla="*/ 414 h 414"/>
              <a:gd name="T4" fmla="*/ 3209 w 3209"/>
              <a:gd name="T5" fmla="*/ 0 h 414"/>
              <a:gd name="T6" fmla="*/ 2472 w 3209"/>
              <a:gd name="T7" fmla="*/ 0 h 414"/>
              <a:gd name="T8" fmla="*/ 2003 w 3209"/>
              <a:gd name="T9" fmla="*/ 154 h 414"/>
              <a:gd name="T10" fmla="*/ 1283 w 3209"/>
              <a:gd name="T11" fmla="*/ 149 h 414"/>
              <a:gd name="T12" fmla="*/ 827 w 3209"/>
              <a:gd name="T13" fmla="*/ 37 h 414"/>
              <a:gd name="T14" fmla="*/ 0 w 3209"/>
              <a:gd name="T15" fmla="*/ 37 h 414"/>
              <a:gd name="T16" fmla="*/ 4 w 3209"/>
              <a:gd name="T17" fmla="*/ 414 h 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9" h="414">
                <a:moveTo>
                  <a:pt x="4" y="414"/>
                </a:moveTo>
                <a:lnTo>
                  <a:pt x="3209" y="414"/>
                </a:lnTo>
                <a:lnTo>
                  <a:pt x="3209" y="0"/>
                </a:lnTo>
                <a:lnTo>
                  <a:pt x="2472" y="0"/>
                </a:lnTo>
                <a:lnTo>
                  <a:pt x="2003" y="154"/>
                </a:lnTo>
                <a:lnTo>
                  <a:pt x="1283" y="149"/>
                </a:lnTo>
                <a:lnTo>
                  <a:pt x="827" y="37"/>
                </a:lnTo>
                <a:lnTo>
                  <a:pt x="0" y="37"/>
                </a:lnTo>
                <a:lnTo>
                  <a:pt x="4" y="414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6" name="Freeform 52"/>
          <p:cNvSpPr>
            <a:spLocks/>
          </p:cNvSpPr>
          <p:nvPr/>
        </p:nvSpPr>
        <p:spPr bwMode="auto">
          <a:xfrm>
            <a:off x="2560638" y="5246688"/>
            <a:ext cx="5076825" cy="250825"/>
          </a:xfrm>
          <a:custGeom>
            <a:avLst/>
            <a:gdLst>
              <a:gd name="T0" fmla="*/ 0 w 3198"/>
              <a:gd name="T1" fmla="*/ 43 h 158"/>
              <a:gd name="T2" fmla="*/ 826 w 3198"/>
              <a:gd name="T3" fmla="*/ 43 h 158"/>
              <a:gd name="T4" fmla="*/ 1273 w 3198"/>
              <a:gd name="T5" fmla="*/ 156 h 158"/>
              <a:gd name="T6" fmla="*/ 2003 w 3198"/>
              <a:gd name="T7" fmla="*/ 158 h 158"/>
              <a:gd name="T8" fmla="*/ 2475 w 3198"/>
              <a:gd name="T9" fmla="*/ 5 h 158"/>
              <a:gd name="T10" fmla="*/ 3198 w 3198"/>
              <a:gd name="T11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8" h="158">
                <a:moveTo>
                  <a:pt x="0" y="43"/>
                </a:moveTo>
                <a:lnTo>
                  <a:pt x="826" y="43"/>
                </a:lnTo>
                <a:lnTo>
                  <a:pt x="1273" y="156"/>
                </a:lnTo>
                <a:lnTo>
                  <a:pt x="2003" y="158"/>
                </a:lnTo>
                <a:lnTo>
                  <a:pt x="2475" y="5"/>
                </a:lnTo>
                <a:lnTo>
                  <a:pt x="319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Text Box 53"/>
          <p:cNvSpPr txBox="1">
            <a:spLocks noChangeArrowheads="1"/>
          </p:cNvSpPr>
          <p:nvPr/>
        </p:nvSpPr>
        <p:spPr bwMode="auto">
          <a:xfrm>
            <a:off x="6869113" y="5291138"/>
            <a:ext cx="7175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相对不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透水层</a:t>
            </a:r>
          </a:p>
        </p:txBody>
      </p:sp>
      <p:sp>
        <p:nvSpPr>
          <p:cNvPr id="58" name="Line 54"/>
          <p:cNvSpPr>
            <a:spLocks noChangeShapeType="1"/>
          </p:cNvSpPr>
          <p:nvPr/>
        </p:nvSpPr>
        <p:spPr bwMode="auto">
          <a:xfrm>
            <a:off x="2543175" y="584041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Text Box 55"/>
          <p:cNvSpPr txBox="1">
            <a:spLocks noChangeArrowheads="1"/>
          </p:cNvSpPr>
          <p:nvPr/>
        </p:nvSpPr>
        <p:spPr bwMode="auto">
          <a:xfrm>
            <a:off x="2160588" y="58658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O</a:t>
            </a:r>
          </a:p>
        </p:txBody>
      </p:sp>
      <p:sp>
        <p:nvSpPr>
          <p:cNvPr id="60" name="Text Box 56"/>
          <p:cNvSpPr txBox="1">
            <a:spLocks noChangeArrowheads="1"/>
          </p:cNvSpPr>
          <p:nvPr/>
        </p:nvSpPr>
        <p:spPr bwMode="auto">
          <a:xfrm>
            <a:off x="7648575" y="5784850"/>
            <a:ext cx="398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/>
              <a:t>O’</a:t>
            </a:r>
          </a:p>
        </p:txBody>
      </p:sp>
      <p:sp>
        <p:nvSpPr>
          <p:cNvPr id="61" name="Line 57"/>
          <p:cNvSpPr>
            <a:spLocks noChangeShapeType="1"/>
          </p:cNvSpPr>
          <p:nvPr/>
        </p:nvSpPr>
        <p:spPr bwMode="auto">
          <a:xfrm>
            <a:off x="2552700" y="2581275"/>
            <a:ext cx="5080000" cy="12557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2" name="Line 58"/>
          <p:cNvSpPr>
            <a:spLocks noChangeShapeType="1"/>
          </p:cNvSpPr>
          <p:nvPr/>
        </p:nvSpPr>
        <p:spPr bwMode="auto">
          <a:xfrm flipV="1">
            <a:off x="3859213" y="2814638"/>
            <a:ext cx="0" cy="2481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3" name="Line 59"/>
          <p:cNvSpPr>
            <a:spLocks noChangeShapeType="1"/>
          </p:cNvSpPr>
          <p:nvPr/>
        </p:nvSpPr>
        <p:spPr bwMode="auto">
          <a:xfrm flipV="1">
            <a:off x="4583113" y="2922588"/>
            <a:ext cx="0" cy="2578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4" name="Line 60"/>
          <p:cNvSpPr>
            <a:spLocks noChangeShapeType="1"/>
          </p:cNvSpPr>
          <p:nvPr/>
        </p:nvSpPr>
        <p:spPr bwMode="auto">
          <a:xfrm flipV="1">
            <a:off x="5735638" y="3108325"/>
            <a:ext cx="0" cy="2395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5" name="Line 61"/>
          <p:cNvSpPr>
            <a:spLocks noChangeShapeType="1"/>
          </p:cNvSpPr>
          <p:nvPr/>
        </p:nvSpPr>
        <p:spPr bwMode="auto">
          <a:xfrm flipV="1">
            <a:off x="6494463" y="3203575"/>
            <a:ext cx="0" cy="2036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6" name="Text Box 62"/>
          <p:cNvSpPr txBox="1">
            <a:spLocks noChangeArrowheads="1"/>
          </p:cNvSpPr>
          <p:nvPr/>
        </p:nvSpPr>
        <p:spPr bwMode="auto">
          <a:xfrm>
            <a:off x="5245100" y="817563"/>
            <a:ext cx="2913063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85000"/>
              <a:buFont typeface="Wingdings" pitchFamily="2" charset="2"/>
              <a:buChar char="Ø"/>
            </a:pP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 v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大，</a:t>
            </a: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i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大，水头线陡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85000"/>
              <a:buFont typeface="Wingdings" pitchFamily="2" charset="2"/>
              <a:buChar char="Ø"/>
            </a:pP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 v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小，</a:t>
            </a: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i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小，水头线缓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85000"/>
              <a:buFont typeface="Wingdings" pitchFamily="2" charset="2"/>
              <a:buChar char="Ø"/>
            </a:pP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 v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增，</a:t>
            </a: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i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增，水头线上凸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85000"/>
              <a:buFont typeface="Wingdings" pitchFamily="2" charset="2"/>
              <a:buChar char="Ø"/>
            </a:pP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 v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减，</a:t>
            </a:r>
            <a:r>
              <a:rPr lang="en-US" altLang="zh-CN" sz="2000" b="1">
                <a:solidFill>
                  <a:srgbClr val="A50021"/>
                </a:solidFill>
                <a:ea typeface="幼圆" pitchFamily="49" charset="-122"/>
              </a:rPr>
              <a:t>i</a:t>
            </a:r>
            <a:r>
              <a:rPr lang="zh-CN" altLang="en-US" sz="2000" b="1">
                <a:solidFill>
                  <a:srgbClr val="A50021"/>
                </a:solidFill>
                <a:ea typeface="幼圆" pitchFamily="49" charset="-122"/>
              </a:rPr>
              <a:t>减，水头线下凹</a:t>
            </a: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950913" y="1047750"/>
            <a:ext cx="40147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SzPct val="140000"/>
              <a:buFont typeface="Wingdings" pitchFamily="2" charset="2"/>
              <a:buChar char="F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分析：</a:t>
            </a: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v = ki    k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相同时，</a:t>
            </a:r>
          </a:p>
        </p:txBody>
      </p:sp>
      <p:sp>
        <p:nvSpPr>
          <p:cNvPr id="68" name="Line 64"/>
          <p:cNvSpPr>
            <a:spLocks noChangeShapeType="1"/>
          </p:cNvSpPr>
          <p:nvPr/>
        </p:nvSpPr>
        <p:spPr bwMode="auto">
          <a:xfrm>
            <a:off x="2555875" y="2578100"/>
            <a:ext cx="1308100" cy="452438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69" name="Freeform 65"/>
          <p:cNvSpPr>
            <a:spLocks/>
          </p:cNvSpPr>
          <p:nvPr/>
        </p:nvSpPr>
        <p:spPr bwMode="auto">
          <a:xfrm>
            <a:off x="3856038" y="3027363"/>
            <a:ext cx="727075" cy="109537"/>
          </a:xfrm>
          <a:custGeom>
            <a:avLst/>
            <a:gdLst>
              <a:gd name="T0" fmla="*/ 0 w 458"/>
              <a:gd name="T1" fmla="*/ 0 h 69"/>
              <a:gd name="T2" fmla="*/ 134 w 458"/>
              <a:gd name="T3" fmla="*/ 37 h 69"/>
              <a:gd name="T4" fmla="*/ 458 w 458"/>
              <a:gd name="T5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58" h="69">
                <a:moveTo>
                  <a:pt x="0" y="0"/>
                </a:moveTo>
                <a:cubicBezTo>
                  <a:pt x="22" y="6"/>
                  <a:pt x="58" y="26"/>
                  <a:pt x="134" y="37"/>
                </a:cubicBezTo>
                <a:cubicBezTo>
                  <a:pt x="210" y="48"/>
                  <a:pt x="391" y="62"/>
                  <a:pt x="458" y="69"/>
                </a:cubicBezTo>
              </a:path>
            </a:pathLst>
          </a:custGeom>
          <a:noFill/>
          <a:ln w="1905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0" name="Line 66"/>
          <p:cNvSpPr>
            <a:spLocks noChangeShapeType="1"/>
          </p:cNvSpPr>
          <p:nvPr/>
        </p:nvSpPr>
        <p:spPr bwMode="auto">
          <a:xfrm>
            <a:off x="4579938" y="3133725"/>
            <a:ext cx="1157287" cy="111125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1" name="Freeform 67"/>
          <p:cNvSpPr>
            <a:spLocks/>
          </p:cNvSpPr>
          <p:nvPr/>
        </p:nvSpPr>
        <p:spPr bwMode="auto">
          <a:xfrm>
            <a:off x="5741988" y="3244850"/>
            <a:ext cx="754062" cy="220663"/>
          </a:xfrm>
          <a:custGeom>
            <a:avLst/>
            <a:gdLst>
              <a:gd name="T0" fmla="*/ 0 w 475"/>
              <a:gd name="T1" fmla="*/ 0 h 139"/>
              <a:gd name="T2" fmla="*/ 141 w 475"/>
              <a:gd name="T3" fmla="*/ 24 h 139"/>
              <a:gd name="T4" fmla="*/ 475 w 475"/>
              <a:gd name="T5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75" h="139">
                <a:moveTo>
                  <a:pt x="0" y="0"/>
                </a:moveTo>
                <a:cubicBezTo>
                  <a:pt x="23" y="4"/>
                  <a:pt x="62" y="1"/>
                  <a:pt x="141" y="24"/>
                </a:cubicBezTo>
                <a:cubicBezTo>
                  <a:pt x="220" y="47"/>
                  <a:pt x="406" y="115"/>
                  <a:pt x="475" y="139"/>
                </a:cubicBezTo>
              </a:path>
            </a:pathLst>
          </a:custGeom>
          <a:noFill/>
          <a:ln w="1905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2" name="Line 68"/>
          <p:cNvSpPr>
            <a:spLocks noChangeShapeType="1"/>
          </p:cNvSpPr>
          <p:nvPr/>
        </p:nvSpPr>
        <p:spPr bwMode="auto">
          <a:xfrm>
            <a:off x="6491288" y="3468688"/>
            <a:ext cx="1158875" cy="366712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0" y="0"/>
            <a:ext cx="43344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达西定律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7005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32241</TotalTime>
  <Words>1158</Words>
  <Application>Microsoft Office PowerPoint</Application>
  <PresentationFormat>全屏显示(4:3)</PresentationFormat>
  <Paragraphs>313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Microsoft Yahei</vt:lpstr>
      <vt:lpstr>仿宋体</vt:lpstr>
      <vt:lpstr>黑体</vt:lpstr>
      <vt:lpstr>华文新魏</vt:lpstr>
      <vt:lpstr>宋体</vt:lpstr>
      <vt:lpstr>幼圆</vt:lpstr>
      <vt:lpstr>Arial</vt:lpstr>
      <vt:lpstr>Comic Sans MS</vt:lpstr>
      <vt:lpstr>Symbol</vt:lpstr>
      <vt:lpstr>Times New Roman</vt:lpstr>
      <vt:lpstr>Verdana</vt:lpstr>
      <vt:lpstr>Wingdings</vt:lpstr>
      <vt:lpstr>Wingdings 2</vt:lpstr>
      <vt:lpstr>吉祥如意</vt:lpstr>
      <vt:lpstr>Eclipse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zhang0</dc:creator>
  <cp:lastModifiedBy>yinwj18</cp:lastModifiedBy>
  <cp:revision>2456</cp:revision>
  <dcterms:created xsi:type="dcterms:W3CDTF">1601-01-01T00:00:00Z</dcterms:created>
  <dcterms:modified xsi:type="dcterms:W3CDTF">2020-10-19T09:06:25Z</dcterms:modified>
</cp:coreProperties>
</file>