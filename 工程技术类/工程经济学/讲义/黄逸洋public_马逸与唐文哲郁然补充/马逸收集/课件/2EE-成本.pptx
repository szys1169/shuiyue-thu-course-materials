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5"/>
  </p:notesMasterIdLst>
  <p:handoutMasterIdLst>
    <p:handoutMasterId r:id="rId63"/>
  </p:handoutMasterIdLst>
  <p:sldIdLst>
    <p:sldId id="257" r:id="rId3"/>
    <p:sldId id="260" r:id="rId4"/>
    <p:sldId id="265" r:id="rId6"/>
    <p:sldId id="267" r:id="rId7"/>
    <p:sldId id="266" r:id="rId8"/>
    <p:sldId id="263" r:id="rId9"/>
    <p:sldId id="262" r:id="rId10"/>
    <p:sldId id="407" r:id="rId11"/>
    <p:sldId id="401" r:id="rId12"/>
    <p:sldId id="402" r:id="rId13"/>
    <p:sldId id="410" r:id="rId14"/>
    <p:sldId id="408" r:id="rId15"/>
    <p:sldId id="403" r:id="rId16"/>
    <p:sldId id="356" r:id="rId17"/>
    <p:sldId id="357" r:id="rId18"/>
    <p:sldId id="295" r:id="rId19"/>
    <p:sldId id="290" r:id="rId20"/>
    <p:sldId id="291" r:id="rId21"/>
    <p:sldId id="358" r:id="rId22"/>
    <p:sldId id="359" r:id="rId23"/>
    <p:sldId id="397" r:id="rId24"/>
    <p:sldId id="360" r:id="rId25"/>
    <p:sldId id="304" r:id="rId26"/>
    <p:sldId id="326" r:id="rId27"/>
    <p:sldId id="327" r:id="rId28"/>
    <p:sldId id="393" r:id="rId29"/>
    <p:sldId id="346" r:id="rId30"/>
    <p:sldId id="347" r:id="rId31"/>
    <p:sldId id="297" r:id="rId32"/>
    <p:sldId id="348" r:id="rId33"/>
    <p:sldId id="361" r:id="rId34"/>
    <p:sldId id="362" r:id="rId35"/>
    <p:sldId id="363" r:id="rId36"/>
    <p:sldId id="298" r:id="rId37"/>
    <p:sldId id="305" r:id="rId38"/>
    <p:sldId id="352" r:id="rId39"/>
    <p:sldId id="306" r:id="rId40"/>
    <p:sldId id="324" r:id="rId41"/>
    <p:sldId id="398" r:id="rId42"/>
    <p:sldId id="399" r:id="rId43"/>
    <p:sldId id="353" r:id="rId44"/>
    <p:sldId id="404" r:id="rId45"/>
    <p:sldId id="322" r:id="rId46"/>
    <p:sldId id="354" r:id="rId47"/>
    <p:sldId id="310" r:id="rId48"/>
    <p:sldId id="313" r:id="rId49"/>
    <p:sldId id="335" r:id="rId50"/>
    <p:sldId id="312" r:id="rId51"/>
    <p:sldId id="311" r:id="rId52"/>
    <p:sldId id="337" r:id="rId53"/>
    <p:sldId id="338" r:id="rId54"/>
    <p:sldId id="339" r:id="rId55"/>
    <p:sldId id="341" r:id="rId56"/>
    <p:sldId id="340" r:id="rId57"/>
    <p:sldId id="342" r:id="rId58"/>
    <p:sldId id="394" r:id="rId59"/>
    <p:sldId id="395" r:id="rId60"/>
    <p:sldId id="396" r:id="rId61"/>
    <p:sldId id="392" r:id="rId62"/>
  </p:sldIdLst>
  <p:sldSz cx="9144000" cy="6858000" type="screen4x3"/>
  <p:notesSz cx="7099300" cy="1023429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0BFD9"/>
    <a:srgbClr val="7BC3F7"/>
    <a:srgbClr val="F4BA4A"/>
    <a:srgbClr val="CD5134"/>
    <a:srgbClr val="800000"/>
    <a:srgbClr val="0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8" autoAdjust="0"/>
    <p:restoredTop sz="92281" autoAdjust="0"/>
  </p:normalViewPr>
  <p:slideViewPr>
    <p:cSldViewPr snapToGrid="0" snapToObjects="1">
      <p:cViewPr varScale="1">
        <p:scale>
          <a:sx n="79" d="100"/>
          <a:sy n="79" d="100"/>
        </p:scale>
        <p:origin x="918" y="57"/>
      </p:cViewPr>
      <p:guideLst>
        <p:guide orient="horz" pos="2160"/>
        <p:guide pos="2880"/>
      </p:guideLst>
    </p:cSldViewPr>
  </p:slideViewPr>
  <p:outlineViewPr>
    <p:cViewPr>
      <p:scale>
        <a:sx n="35" d="100"/>
        <a:sy n="3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algn="r"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algn="r"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fld id="{66EC9971-6134-4998-BF6D-4370F96142C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>
            <a:lvl1pPr algn="r"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37" tIns="49519" rIns="99037" bIns="49519" numCol="1" anchor="b" anchorCtr="0" compatLnSpc="1"/>
          <a:lstStyle>
            <a:lvl1pPr algn="r" defTabSz="990600" eaLnBrk="0" hangingPunct="0">
              <a:spcBef>
                <a:spcPct val="0"/>
              </a:spcBef>
              <a:defRPr kumimoji="0" sz="1300">
                <a:solidFill>
                  <a:schemeClr val="tx1"/>
                </a:solidFill>
                <a:latin typeface="Times" panose="02020603050405020304" pitchFamily="18" charset="0"/>
              </a:defRPr>
            </a:lvl1pPr>
          </a:lstStyle>
          <a:p>
            <a:pPr>
              <a:defRPr/>
            </a:pPr>
            <a:fld id="{1365EE7E-9026-46DC-9970-59D29FD413F4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325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" panose="02020603050405020304" pitchFamily="18" charset="0"/>
            </a:endParaRPr>
          </a:p>
        </p:txBody>
      </p:sp>
      <p:sp>
        <p:nvSpPr>
          <p:cNvPr id="5325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9ADA56A-70C6-40FB-B295-7BED91B71785}" type="slidenum">
              <a:rPr lang="zh-CN" altLang="en-US" sz="1300" smtClean="0">
                <a:solidFill>
                  <a:srgbClr val="000000"/>
                </a:solidFill>
                <a:latin typeface="Times" panose="02020603050405020304" pitchFamily="18" charset="0"/>
                <a:ea typeface="宋体" panose="02010600030101010101" pitchFamily="2" charset="-122"/>
              </a:rPr>
            </a:fld>
            <a:endParaRPr lang="en-US" altLang="zh-CN" sz="1300">
              <a:solidFill>
                <a:srgbClr val="000000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325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" panose="02020603050405020304" pitchFamily="18" charset="0"/>
            </a:endParaRPr>
          </a:p>
        </p:txBody>
      </p:sp>
      <p:sp>
        <p:nvSpPr>
          <p:cNvPr id="5325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9ADA56A-70C6-40FB-B295-7BED91B71785}" type="slidenum">
              <a:rPr lang="zh-CN" altLang="en-US" sz="1300" smtClean="0">
                <a:solidFill>
                  <a:srgbClr val="000000"/>
                </a:solidFill>
                <a:latin typeface="Times" panose="02020603050405020304" pitchFamily="18" charset="0"/>
                <a:ea typeface="宋体" panose="02010600030101010101" pitchFamily="2" charset="-122"/>
              </a:rPr>
            </a:fld>
            <a:endParaRPr lang="en-US" altLang="zh-CN" sz="1300">
              <a:solidFill>
                <a:srgbClr val="000000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7AF64E-A6DF-4911-BC18-10AF3906D77C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打印机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0CEBE4C-34FA-45F7-A5D8-A9F4CDD30D24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243E0BE-5D3C-452F-8E33-A640BB1701F4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8D4255-8E12-444F-A255-1CD4E4D3EE3F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买电脑和干项目。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9B7D3AF-F95A-4189-8F05-E9D9D2F604EE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10535AB-7A4B-49DE-B1EF-B30F4097CA49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3C69818-E3F9-40E4-BC57-B41E7FD3655F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74DF30-C0BF-485D-BC5D-A2807A5B4BDD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F5FBF-AA63-43E5-A931-BDAC54A1B90B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00BA8EB-A5E4-4C18-9451-338B48922CDF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87376B2-7B34-4D9D-8F4D-FCEC73EB8CF8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F40F5DE-A50E-4452-8EBF-107EFB4C16BA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228EFEF-23F3-4645-BA5F-517C0F3FF446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7271A45-EF9B-4E40-BC89-63A4139375A2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EDF8593-123A-4004-8817-90CACA549F16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AF95298-89ED-4620-B5C7-440DE3E4EF08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A6B47C6-F3AE-44BD-8D63-DB3A98094F7E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7B5CA1-0385-43E4-840B-3E371AF0E1F7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349B5B-920F-4C8C-BD8E-00F60D32B58D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E41CF3E-BC33-49AF-8ABA-0BA3EDAC781C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B03C6D3-6106-4489-B3A7-8E7CBAF8508A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F5CCE1E-ED0F-4563-9ADB-884F2CFCCDB8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DAE9B4-A596-4962-8EE7-DF27B6C3CFF9}" type="slidenum">
              <a:rPr lang="zh-CN" altLang="en-US" sz="1300" smtClean="0"/>
            </a:fld>
            <a:endParaRPr lang="en-US" altLang="zh-CN" sz="13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endParaRPr kumimoji="0" lang="zh-CN" altLang="en-US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endParaRPr kumimoji="0" lang="zh-CN" altLang="en-US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725488"/>
          </a:xfrm>
          <a:prstGeom prst="rect">
            <a:avLst/>
          </a:prstGeom>
          <a:solidFill>
            <a:srgbClr val="990000"/>
          </a:solidFill>
          <a:ln w="9525">
            <a:solidFill>
              <a:srgbClr val="990000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Rectangle 14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endParaRPr kumimoji="0" lang="zh-CN" altLang="en-US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>
            <a:solidFill>
              <a:schemeClr val="bg2"/>
            </a:solidFill>
          </a:ln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6200"/>
            <a:ext cx="4495800" cy="5207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2700"/>
            <a:ext cx="2286000" cy="65405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2700"/>
            <a:ext cx="6705600" cy="65405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575" y="12700"/>
            <a:ext cx="8178800" cy="11811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0" y="1346200"/>
            <a:ext cx="9144000" cy="52070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575" y="12700"/>
            <a:ext cx="8178800" cy="11811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46200"/>
            <a:ext cx="4495800" cy="5207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575" y="12700"/>
            <a:ext cx="8178800" cy="11811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1346200"/>
            <a:ext cx="4495800" cy="5207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46200"/>
            <a:ext cx="4495800" cy="2527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25900"/>
            <a:ext cx="4495800" cy="2527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346200"/>
            <a:ext cx="9144000" cy="5207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27" name="Rectangle 7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endParaRPr kumimoji="0" lang="zh-CN" altLang="en-US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028" name="Rectangle 11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defRPr/>
            </a:pPr>
            <a:endParaRPr kumimoji="0" lang="zh-CN" altLang="en-US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029" name="Rectangle 14"/>
          <p:cNvSpPr>
            <a:spLocks noChangeArrowheads="1"/>
          </p:cNvSpPr>
          <p:nvPr userDrawn="1"/>
        </p:nvSpPr>
        <p:spPr bwMode="auto">
          <a:xfrm>
            <a:off x="-12700" y="1193800"/>
            <a:ext cx="9144000" cy="152400"/>
          </a:xfrm>
          <a:prstGeom prst="rect">
            <a:avLst/>
          </a:prstGeom>
          <a:solidFill>
            <a:srgbClr val="800000"/>
          </a:solidFill>
          <a:ln w="9525">
            <a:solidFill>
              <a:srgbClr val="800000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16"/>
          <p:cNvSpPr>
            <a:spLocks noChangeArrowheads="1"/>
          </p:cNvSpPr>
          <p:nvPr userDrawn="1"/>
        </p:nvSpPr>
        <p:spPr bwMode="auto">
          <a:xfrm>
            <a:off x="-15875" y="12700"/>
            <a:ext cx="9144000" cy="1193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50000"/>
              </a:spcBef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rgbClr val="000000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rgbClr val="000000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000000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00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港珠澳大桥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550" dirty="0"/>
              <a:t>港珠澳大桥（英文名称：</a:t>
            </a:r>
            <a:r>
              <a:rPr lang="en-US" altLang="zh-CN" sz="2550" dirty="0"/>
              <a:t>Hong Kong-Zhuhai-Macao Bridge</a:t>
            </a:r>
            <a:r>
              <a:rPr lang="zh-CN" altLang="en-US" sz="2550" dirty="0"/>
              <a:t>）是中国境内一座连接香港、广东珠海和澳门的桥隧工程，位于中国广东省珠江口伶仃洋区域内，为珠江三角洲地区环线高速公路南环段。</a:t>
            </a:r>
            <a:endParaRPr lang="en-US" altLang="zh-CN" sz="2550" dirty="0"/>
          </a:p>
          <a:p>
            <a:pPr lvl="1"/>
            <a:r>
              <a:rPr lang="zh-CN" altLang="en-US" sz="2100" dirty="0"/>
              <a:t>长度：</a:t>
            </a:r>
            <a:r>
              <a:rPr lang="en-US" altLang="zh-CN" sz="2100" dirty="0"/>
              <a:t>55km</a:t>
            </a:r>
            <a:endParaRPr lang="en-US" altLang="zh-CN" sz="2100" dirty="0"/>
          </a:p>
          <a:p>
            <a:pPr lvl="1"/>
            <a:r>
              <a:rPr lang="zh-CN" altLang="en-US" sz="2100" dirty="0"/>
              <a:t>宽度：</a:t>
            </a:r>
            <a:r>
              <a:rPr lang="en-US" altLang="zh-CN" sz="2100" dirty="0"/>
              <a:t>33.1m</a:t>
            </a:r>
            <a:endParaRPr lang="en-US" altLang="zh-CN" sz="2100" dirty="0"/>
          </a:p>
          <a:p>
            <a:pPr lvl="1"/>
            <a:r>
              <a:rPr lang="zh-CN" altLang="en-US" sz="2100" dirty="0"/>
              <a:t>车道规模：双向六车道</a:t>
            </a:r>
            <a:endParaRPr lang="en-US" altLang="zh-CN" sz="2100" dirty="0"/>
          </a:p>
          <a:p>
            <a:pPr lvl="1"/>
            <a:r>
              <a:rPr lang="zh-CN" altLang="en-US" sz="2100" dirty="0"/>
              <a:t>设计速度：</a:t>
            </a:r>
            <a:r>
              <a:rPr lang="en-US" altLang="zh-CN" sz="2100" dirty="0"/>
              <a:t>100km/h</a:t>
            </a:r>
            <a:endParaRPr lang="en-US" altLang="zh-CN" sz="2100" dirty="0"/>
          </a:p>
          <a:p>
            <a:pPr lvl="1"/>
            <a:r>
              <a:rPr lang="zh-CN" altLang="en-US" sz="2100" dirty="0"/>
              <a:t>始建时间：</a:t>
            </a:r>
            <a:r>
              <a:rPr lang="en-US" altLang="zh-CN" sz="2100" dirty="0"/>
              <a:t>2009</a:t>
            </a:r>
            <a:r>
              <a:rPr lang="zh-CN" altLang="en-US" sz="2100" dirty="0"/>
              <a:t>年</a:t>
            </a:r>
            <a:r>
              <a:rPr lang="en-US" altLang="zh-CN" sz="2100" dirty="0"/>
              <a:t>12</a:t>
            </a:r>
            <a:r>
              <a:rPr lang="zh-CN" altLang="en-US" sz="2100" dirty="0"/>
              <a:t>月</a:t>
            </a:r>
            <a:r>
              <a:rPr lang="en-US" altLang="zh-CN" sz="2100" dirty="0"/>
              <a:t>15</a:t>
            </a:r>
            <a:r>
              <a:rPr lang="zh-CN" altLang="en-US" sz="2100" dirty="0"/>
              <a:t>日</a:t>
            </a:r>
            <a:endParaRPr lang="en-US" altLang="zh-CN" sz="2100" dirty="0"/>
          </a:p>
          <a:p>
            <a:pPr lvl="1"/>
            <a:r>
              <a:rPr lang="zh-CN" altLang="en-US" sz="2100" dirty="0"/>
              <a:t>投用时间：</a:t>
            </a:r>
            <a:r>
              <a:rPr lang="en-US" altLang="zh-CN" sz="2100" dirty="0"/>
              <a:t>2018</a:t>
            </a:r>
            <a:r>
              <a:rPr lang="zh-CN" altLang="en-US" sz="2100" dirty="0"/>
              <a:t>年</a:t>
            </a:r>
            <a:r>
              <a:rPr lang="en-US" altLang="zh-CN" sz="2100" dirty="0"/>
              <a:t>10</a:t>
            </a:r>
            <a:r>
              <a:rPr lang="zh-CN" altLang="en-US" sz="2100" dirty="0"/>
              <a:t>月</a:t>
            </a:r>
            <a:r>
              <a:rPr lang="en-US" altLang="zh-CN" sz="2100" dirty="0"/>
              <a:t>24</a:t>
            </a:r>
            <a:r>
              <a:rPr lang="zh-CN" altLang="en-US" sz="2100" dirty="0"/>
              <a:t>日</a:t>
            </a:r>
            <a:endParaRPr lang="en-US" altLang="zh-CN" sz="21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248" y="3149296"/>
            <a:ext cx="4508531" cy="25343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工程项目总投资</a:t>
            </a:r>
            <a:endParaRPr lang="en-US" altLang="zh-CN" sz="2850" dirty="0">
              <a:solidFill>
                <a:srgbClr val="990000"/>
              </a:solidFill>
              <a:latin typeface="+mj-lt"/>
              <a:ea typeface="+mj-ea"/>
            </a:endParaRPr>
          </a:p>
          <a:p>
            <a:pPr lvl="1">
              <a:defRPr/>
            </a:pPr>
            <a:r>
              <a:rPr lang="zh-CN" altLang="en-US" sz="2250" dirty="0"/>
              <a:t>总投资约</a:t>
            </a:r>
            <a:r>
              <a:rPr lang="en-US" altLang="zh-CN" sz="2250" dirty="0"/>
              <a:t>1200</a:t>
            </a:r>
            <a:r>
              <a:rPr lang="zh-CN" altLang="en-US" sz="2250" dirty="0"/>
              <a:t>亿元人民币，是目前世界跨海大桥投资最大工程。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项目资本金为</a:t>
            </a:r>
            <a:r>
              <a:rPr lang="en-US" altLang="zh-CN" sz="2250" dirty="0"/>
              <a:t>204.18</a:t>
            </a:r>
            <a:r>
              <a:rPr lang="zh-CN" altLang="en-US" sz="2250" dirty="0"/>
              <a:t>亿元人民币。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资本金以外部分建设资金由项目法人（即港珠澳大桥管理局）根据内地适用法律通过银行贷款解决。</a:t>
            </a:r>
            <a:endParaRPr lang="en-US" altLang="zh-CN" sz="2250" dirty="0"/>
          </a:p>
          <a:p>
            <a:pPr marL="257175" lvl="1" indent="-257175">
              <a:buFontTx/>
              <a:buChar char="•"/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世界之最</a:t>
            </a:r>
            <a:endParaRPr lang="en-US" altLang="zh-CN" sz="2850" dirty="0">
              <a:solidFill>
                <a:srgbClr val="990000"/>
              </a:solidFill>
              <a:latin typeface="+mj-lt"/>
              <a:ea typeface="+mj-ea"/>
            </a:endParaRPr>
          </a:p>
          <a:p>
            <a:pPr lvl="1">
              <a:defRPr/>
            </a:pPr>
            <a:r>
              <a:rPr lang="zh-CN" altLang="en-US" sz="2250" dirty="0"/>
              <a:t>最长的跨海大桥；埋入海底最深</a:t>
            </a:r>
            <a:r>
              <a:rPr lang="en-US" altLang="zh-CN" sz="2250" dirty="0"/>
              <a:t>——</a:t>
            </a:r>
            <a:r>
              <a:rPr lang="zh-CN" altLang="en-US" sz="2250" dirty="0"/>
              <a:t>最深处近</a:t>
            </a:r>
            <a:r>
              <a:rPr lang="en-US" altLang="zh-CN" sz="2250" dirty="0"/>
              <a:t>50</a:t>
            </a:r>
            <a:r>
              <a:rPr lang="zh-CN" altLang="en-US" sz="2250" dirty="0"/>
              <a:t>米；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车道最多</a:t>
            </a:r>
            <a:r>
              <a:rPr lang="en-US" altLang="zh-CN" sz="2250" dirty="0"/>
              <a:t>——</a:t>
            </a:r>
            <a:r>
              <a:rPr lang="zh-CN" altLang="en-US" sz="2250" dirty="0"/>
              <a:t>双向</a:t>
            </a:r>
            <a:r>
              <a:rPr lang="en-US" altLang="zh-CN" sz="2250" dirty="0"/>
              <a:t>6</a:t>
            </a:r>
            <a:r>
              <a:rPr lang="zh-CN" altLang="en-US" sz="2250" dirty="0"/>
              <a:t>车道；使用寿命最长</a:t>
            </a:r>
            <a:r>
              <a:rPr lang="en-US" altLang="zh-CN" sz="2250" dirty="0"/>
              <a:t>——</a:t>
            </a:r>
            <a:r>
              <a:rPr lang="zh-CN" altLang="en-US" sz="2250" dirty="0"/>
              <a:t>设计寿命</a:t>
            </a:r>
            <a:r>
              <a:rPr lang="en-US" altLang="zh-CN" sz="2250" dirty="0"/>
              <a:t>120</a:t>
            </a:r>
            <a:r>
              <a:rPr lang="zh-CN" altLang="en-US" sz="2250" dirty="0"/>
              <a:t>年；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综合技术难度最高。</a:t>
            </a:r>
            <a:endParaRPr lang="zh-CN" altLang="en-US" sz="2250" dirty="0"/>
          </a:p>
        </p:txBody>
      </p:sp>
      <p:sp>
        <p:nvSpPr>
          <p:cNvPr id="5" name="标题 1"/>
          <p:cNvSpPr>
            <a:spLocks noGrp="1" noChangeArrowheads="1"/>
          </p:cNvSpPr>
          <p:nvPr>
            <p:ph type="title"/>
          </p:nvPr>
        </p:nvSpPr>
        <p:spPr>
          <a:xfrm>
            <a:off x="1" y="329843"/>
            <a:ext cx="8461375" cy="885825"/>
          </a:xfrm>
        </p:spPr>
        <p:txBody>
          <a:bodyPr/>
          <a:lstStyle/>
          <a:p>
            <a:pPr eaLnBrk="1" hangingPunct="1"/>
            <a:r>
              <a:rPr lang="zh-CN" altLang="en-US" dirty="0"/>
              <a:t>港珠澳大桥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技术难题</a:t>
            </a:r>
            <a:endParaRPr lang="en-US" altLang="zh-CN" sz="2850" dirty="0">
              <a:solidFill>
                <a:srgbClr val="990000"/>
              </a:solidFill>
              <a:latin typeface="+mj-lt"/>
              <a:ea typeface="+mj-ea"/>
            </a:endParaRPr>
          </a:p>
          <a:p>
            <a:pPr lvl="1">
              <a:defRPr/>
            </a:pPr>
            <a:r>
              <a:rPr lang="zh-CN" altLang="en-US" sz="2250" dirty="0"/>
              <a:t>港珠澳大桥工程具有规模大、工期短，技术新、经验少，工序多、专业广，要求高、难点多的特点。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在道路设计、使用年限、防撞防震、抗洪抗风等方面有超高标准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海洋气候和海底地质条件复杂多变、生态环境保护难度大。</a:t>
            </a:r>
            <a:endParaRPr lang="en-US" altLang="zh-CN" sz="2250" dirty="0"/>
          </a:p>
          <a:p>
            <a:pPr marL="257175" lvl="1" indent="-257175">
              <a:buFontTx/>
              <a:buChar char="•"/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重点工程</a:t>
            </a:r>
            <a:endParaRPr lang="en-US" altLang="zh-CN" sz="2850" dirty="0">
              <a:solidFill>
                <a:srgbClr val="990000"/>
              </a:solidFill>
              <a:latin typeface="+mj-lt"/>
              <a:ea typeface="+mj-ea"/>
            </a:endParaRPr>
          </a:p>
          <a:p>
            <a:pPr lvl="1">
              <a:defRPr/>
            </a:pPr>
            <a:r>
              <a:rPr lang="zh-CN" altLang="en-US" sz="2250" dirty="0"/>
              <a:t>海外造岛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沉管对接</a:t>
            </a:r>
            <a:endParaRPr lang="en-US" altLang="zh-CN" sz="2250" dirty="0"/>
          </a:p>
          <a:p>
            <a:pPr lvl="1">
              <a:defRPr/>
            </a:pPr>
            <a:r>
              <a:rPr lang="zh-CN" altLang="en-US" sz="2250" dirty="0"/>
              <a:t>索塔吊装</a:t>
            </a:r>
            <a:endParaRPr lang="en-US" altLang="zh-CN" sz="2250" dirty="0"/>
          </a:p>
        </p:txBody>
      </p:sp>
      <p:sp>
        <p:nvSpPr>
          <p:cNvPr id="5" name="标题 1"/>
          <p:cNvSpPr>
            <a:spLocks noGrp="1" noChangeArrowheads="1"/>
          </p:cNvSpPr>
          <p:nvPr>
            <p:ph type="title"/>
          </p:nvPr>
        </p:nvSpPr>
        <p:spPr>
          <a:xfrm>
            <a:off x="0" y="299564"/>
            <a:ext cx="8461375" cy="885825"/>
          </a:xfrm>
        </p:spPr>
        <p:txBody>
          <a:bodyPr/>
          <a:lstStyle/>
          <a:p>
            <a:pPr eaLnBrk="1" hangingPunct="1"/>
            <a:r>
              <a:rPr lang="zh-CN" altLang="en-US" dirty="0"/>
              <a:t>港珠澳大桥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2889" y="4300685"/>
            <a:ext cx="2121582" cy="13162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009" y="4301998"/>
            <a:ext cx="1980143" cy="1317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690" y="4300685"/>
            <a:ext cx="2075772" cy="1317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港珠澳大桥海外造岛</a:t>
            </a:r>
            <a:endParaRPr lang="zh-CN" altLang="en-US" dirty="0"/>
          </a:p>
        </p:txBody>
      </p:sp>
      <p:sp>
        <p:nvSpPr>
          <p:cNvPr id="55305" name="TextBox 8"/>
          <p:cNvSpPr txBox="1">
            <a:spLocks noChangeArrowheads="1"/>
          </p:cNvSpPr>
          <p:nvPr/>
        </p:nvSpPr>
        <p:spPr bwMode="auto">
          <a:xfrm>
            <a:off x="779217" y="3518748"/>
            <a:ext cx="32301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海底隧道截面示意图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6" name="AutoShape 8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7" name="AutoShape 10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8" name="AutoShape 12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9" name="AutoShape 14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10" name="AutoShape 16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12" name="TextBox 16"/>
          <p:cNvSpPr txBox="1">
            <a:spLocks noChangeArrowheads="1"/>
          </p:cNvSpPr>
          <p:nvPr/>
        </p:nvSpPr>
        <p:spPr bwMode="auto">
          <a:xfrm>
            <a:off x="4009382" y="3503342"/>
            <a:ext cx="40862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用于造岛的圆钢筒正在被打入海底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44" y="3899737"/>
            <a:ext cx="3176438" cy="148591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956" y="1719799"/>
            <a:ext cx="3314082" cy="18806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46" y="1768245"/>
            <a:ext cx="3122709" cy="1832206"/>
          </a:xfrm>
          <a:prstGeom prst="rect">
            <a:avLst/>
          </a:prstGeom>
        </p:spPr>
      </p:pic>
      <p:sp>
        <p:nvSpPr>
          <p:cNvPr id="21" name="TextBox 8"/>
          <p:cNvSpPr txBox="1">
            <a:spLocks noChangeArrowheads="1"/>
          </p:cNvSpPr>
          <p:nvPr/>
        </p:nvSpPr>
        <p:spPr bwMode="auto">
          <a:xfrm>
            <a:off x="779217" y="5354166"/>
            <a:ext cx="32301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圆钢筒运输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956" y="3899737"/>
            <a:ext cx="3267075" cy="1451455"/>
          </a:xfrm>
          <a:prstGeom prst="rect">
            <a:avLst/>
          </a:prstGeom>
        </p:spPr>
      </p:pic>
      <p:sp>
        <p:nvSpPr>
          <p:cNvPr id="24" name="TextBox 8"/>
          <p:cNvSpPr txBox="1">
            <a:spLocks noChangeArrowheads="1"/>
          </p:cNvSpPr>
          <p:nvPr/>
        </p:nvSpPr>
        <p:spPr bwMode="auto">
          <a:xfrm>
            <a:off x="4572001" y="5335562"/>
            <a:ext cx="32301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东人工岛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内容占位符 2"/>
          <p:cNvSpPr>
            <a:spLocks noGrp="1"/>
          </p:cNvSpPr>
          <p:nvPr>
            <p:ph idx="1"/>
          </p:nvPr>
        </p:nvSpPr>
        <p:spPr>
          <a:xfrm>
            <a:off x="0" y="1866900"/>
            <a:ext cx="9144000" cy="3905250"/>
          </a:xfrm>
        </p:spPr>
        <p:txBody>
          <a:bodyPr/>
          <a:lstStyle/>
          <a:p>
            <a:pPr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沉管对接</a:t>
            </a:r>
            <a:endParaRPr lang="en-US" altLang="zh-CN" sz="2850" dirty="0">
              <a:solidFill>
                <a:srgbClr val="990000"/>
              </a:solidFill>
              <a:latin typeface="+mj-lt"/>
              <a:ea typeface="+mj-ea"/>
            </a:endParaRPr>
          </a:p>
        </p:txBody>
      </p:sp>
      <p:sp>
        <p:nvSpPr>
          <p:cNvPr id="552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港珠澳大桥</a:t>
            </a:r>
            <a:endParaRPr lang="zh-CN" altLang="en-US" dirty="0"/>
          </a:p>
        </p:txBody>
      </p:sp>
      <p:sp>
        <p:nvSpPr>
          <p:cNvPr id="55301" name="TextBox 4"/>
          <p:cNvSpPr txBox="1">
            <a:spLocks noChangeArrowheads="1"/>
          </p:cNvSpPr>
          <p:nvPr/>
        </p:nvSpPr>
        <p:spPr bwMode="auto">
          <a:xfrm>
            <a:off x="302421" y="4820346"/>
            <a:ext cx="26729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管节横断面构造图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3" name="TextBox 6"/>
          <p:cNvSpPr txBox="1">
            <a:spLocks noChangeArrowheads="1"/>
          </p:cNvSpPr>
          <p:nvPr/>
        </p:nvSpPr>
        <p:spPr bwMode="auto">
          <a:xfrm>
            <a:off x="4387454" y="4812563"/>
            <a:ext cx="33408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隧道纵断面布置图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6" name="AutoShape 8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7" name="AutoShape 10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8" name="AutoShape 12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9" name="AutoShape 14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10" name="AutoShape 16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488" y="2647951"/>
            <a:ext cx="4926807" cy="21646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3" y="2466975"/>
            <a:ext cx="3192069" cy="23128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850" dirty="0">
                <a:solidFill>
                  <a:srgbClr val="990000"/>
                </a:solidFill>
                <a:latin typeface="+mj-lt"/>
                <a:ea typeface="+mj-ea"/>
              </a:rPr>
              <a:t>价值意义</a:t>
            </a:r>
            <a:endParaRPr lang="zh-CN" altLang="en-US" sz="2850" dirty="0">
              <a:solidFill>
                <a:srgbClr val="990000"/>
              </a:solidFill>
              <a:latin typeface="+mj-lt"/>
              <a:ea typeface="+mj-ea"/>
            </a:endParaRPr>
          </a:p>
          <a:p>
            <a:pPr lvl="1">
              <a:defRPr/>
            </a:pPr>
            <a:r>
              <a:rPr lang="zh-CN" altLang="en-US" dirty="0"/>
              <a:t>完善国家和粤港澳三地的综合运输体系和高速公路网络。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加快产业结构调整和布局优化，拓展经济发展空间，提升珠江三角洲地区的综合竞争力。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促进人流、物流、资金流、技术流等创新要素的高效流动和配置，推动粤港澳大湾区建设成为更具活力的经济区、宜居宜业宜游的优质生活圈和内地与港澳深度合作的示范区，打造国际高水平湾区和世界级城市群。</a:t>
            </a:r>
            <a:endParaRPr lang="zh-CN" altLang="en-US" dirty="0"/>
          </a:p>
        </p:txBody>
      </p:sp>
      <p:sp>
        <p:nvSpPr>
          <p:cNvPr id="5" name="标题 1"/>
          <p:cNvSpPr>
            <a:spLocks noGrp="1" noChangeArrowheads="1"/>
          </p:cNvSpPr>
          <p:nvPr>
            <p:ph type="title"/>
          </p:nvPr>
        </p:nvSpPr>
        <p:spPr>
          <a:xfrm>
            <a:off x="1" y="299564"/>
            <a:ext cx="8461375" cy="885825"/>
          </a:xfrm>
        </p:spPr>
        <p:txBody>
          <a:bodyPr/>
          <a:lstStyle/>
          <a:p>
            <a:pPr eaLnBrk="1" hangingPunct="1"/>
            <a:r>
              <a:rPr lang="zh-CN" altLang="en-US" dirty="0"/>
              <a:t>港珠澳大桥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港珠澳大桥</a:t>
            </a:r>
            <a:endParaRPr lang="zh-CN" altLang="en-US" dirty="0"/>
          </a:p>
        </p:txBody>
      </p:sp>
      <p:sp>
        <p:nvSpPr>
          <p:cNvPr id="55301" name="TextBox 4"/>
          <p:cNvSpPr txBox="1">
            <a:spLocks noChangeArrowheads="1"/>
          </p:cNvSpPr>
          <p:nvPr/>
        </p:nvSpPr>
        <p:spPr bwMode="auto">
          <a:xfrm>
            <a:off x="1559257" y="3373051"/>
            <a:ext cx="26729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港珠澳大桥平面图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3" name="TextBox 6"/>
          <p:cNvSpPr txBox="1">
            <a:spLocks noChangeArrowheads="1"/>
          </p:cNvSpPr>
          <p:nvPr/>
        </p:nvSpPr>
        <p:spPr bwMode="auto">
          <a:xfrm>
            <a:off x="4533909" y="3372827"/>
            <a:ext cx="33408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港珠澳大桥都市夜景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5" name="TextBox 8"/>
          <p:cNvSpPr txBox="1">
            <a:spLocks noChangeArrowheads="1"/>
          </p:cNvSpPr>
          <p:nvPr/>
        </p:nvSpPr>
        <p:spPr bwMode="auto">
          <a:xfrm>
            <a:off x="1271910" y="5300644"/>
            <a:ext cx="32301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港珠澳大桥连接大湾区城市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306" name="AutoShape 8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7" name="AutoShape 10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8" name="AutoShape 12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09" name="AutoShape 14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10" name="AutoShape 16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55312" name="TextBox 16"/>
          <p:cNvSpPr txBox="1">
            <a:spLocks noChangeArrowheads="1"/>
          </p:cNvSpPr>
          <p:nvPr/>
        </p:nvSpPr>
        <p:spPr bwMode="auto">
          <a:xfrm>
            <a:off x="4572001" y="5298006"/>
            <a:ext cx="33408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800" b="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粤港澳大湾区城市群</a:t>
            </a:r>
            <a:endParaRPr lang="zh-CN" altLang="en-US" sz="1800" b="0" dirty="0">
              <a:solidFill>
                <a:srgbClr val="00206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801" y="1924157"/>
            <a:ext cx="2561512" cy="151643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75" y="1924157"/>
            <a:ext cx="2707918" cy="151643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75" y="3772055"/>
            <a:ext cx="2690435" cy="160954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801" y="3771227"/>
            <a:ext cx="2561512" cy="15821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/>
          <p:cNvSpPr>
            <a:spLocks noRot="1" noChangeArrowheads="1"/>
          </p:cNvSpPr>
          <p:nvPr/>
        </p:nvSpPr>
        <p:spPr bwMode="auto">
          <a:xfrm>
            <a:off x="603250" y="520700"/>
            <a:ext cx="854075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kumimoji="0" lang="zh-CN" altLang="en-US" sz="2800"/>
              <a:t>四川灾后住房重建基本结束</a:t>
            </a:r>
            <a:endParaRPr kumimoji="0" lang="en-US" altLang="zh-CN" sz="2800"/>
          </a:p>
          <a:p>
            <a:pPr eaLnBrk="1" hangingPunct="1">
              <a:lnSpc>
                <a:spcPct val="80000"/>
              </a:lnSpc>
              <a:buFontTx/>
              <a:buNone/>
            </a:pPr>
            <a:endParaRPr kumimoji="0" lang="en-US" altLang="zh-CN" sz="2800" b="0"/>
          </a:p>
        </p:txBody>
      </p:sp>
      <p:sp>
        <p:nvSpPr>
          <p:cNvPr id="3" name="Rectangle 9"/>
          <p:cNvSpPr txBox="1">
            <a:spLocks noRot="1" noChangeArrowheads="1"/>
          </p:cNvSpPr>
          <p:nvPr/>
        </p:nvSpPr>
        <p:spPr bwMode="auto">
          <a:xfrm>
            <a:off x="250825" y="2214563"/>
            <a:ext cx="3457575" cy="1069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 北川新县城整体移交</a:t>
            </a:r>
            <a:endParaRPr kumimoji="0" lang="en-US" altLang="zh-CN" sz="2800" kern="0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defRPr/>
            </a:pPr>
            <a:endParaRPr kumimoji="0" lang="en-US" altLang="zh-CN" sz="2800" kern="0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4" name="图片 3" descr="http://paper.people.com.cn/rmrb/res/2010-09/26/01/yw1b926b001_b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0" y="2060575"/>
            <a:ext cx="5508625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 descr="http://paper.people.com.cn/rmrb/res/2010-09/26/01/yw1b926b002_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2205038"/>
            <a:ext cx="514826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79388" y="3429000"/>
            <a:ext cx="3384550" cy="11271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汶川特大地震灾区城乡住房重建基本完工</a:t>
            </a:r>
            <a:endParaRPr kumimoji="0" lang="en-US" altLang="zh-CN" sz="2800" kern="0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9388" y="4751388"/>
            <a:ext cx="3384550" cy="4508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城镇住房重建九成</a:t>
            </a:r>
            <a:endParaRPr kumimoji="0" lang="en-US" altLang="zh-CN" sz="2800" kern="0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79388" y="5624513"/>
            <a:ext cx="3384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40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重建资金</a:t>
            </a:r>
            <a:r>
              <a:rPr kumimoji="0" lang="en-US" altLang="zh-CN" sz="240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kumimoji="0" lang="en-US" altLang="zh-CN" sz="2400">
              <a:solidFill>
                <a:srgbClr val="99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北川新县城重建资金</a:t>
            </a: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北川新县城重建资金总共为</a:t>
            </a:r>
            <a:r>
              <a:rPr lang="en-US" altLang="zh-CN"/>
              <a:t>153.7</a:t>
            </a:r>
            <a:r>
              <a:rPr lang="zh-CN" altLang="en-US"/>
              <a:t>亿元</a:t>
            </a:r>
            <a:r>
              <a:rPr lang="en-US" altLang="zh-CN"/>
              <a:t>,</a:t>
            </a:r>
            <a:endParaRPr lang="zh-CN" altLang="en-US"/>
          </a:p>
          <a:p>
            <a:pPr eaLnBrk="1" hangingPunct="1"/>
            <a:r>
              <a:rPr lang="zh-CN" altLang="en-US"/>
              <a:t>其中，</a:t>
            </a:r>
            <a:r>
              <a:rPr lang="en-US" altLang="zh-CN"/>
              <a:t>43</a:t>
            </a:r>
            <a:r>
              <a:rPr lang="zh-CN" altLang="en-US"/>
              <a:t>亿资金来自山东援建，</a:t>
            </a:r>
            <a:endParaRPr lang="zh-CN" altLang="en-US"/>
          </a:p>
          <a:p>
            <a:pPr eaLnBrk="1" hangingPunct="1"/>
            <a:r>
              <a:rPr lang="zh-CN" altLang="en-US"/>
              <a:t>中央、省及地方各级投入</a:t>
            </a:r>
            <a:r>
              <a:rPr lang="en-US" altLang="zh-CN"/>
              <a:t>32.55</a:t>
            </a:r>
            <a:r>
              <a:rPr lang="zh-CN" altLang="en-US"/>
              <a:t>亿元，社会捐建资金</a:t>
            </a:r>
            <a:r>
              <a:rPr lang="en-US" altLang="zh-CN"/>
              <a:t>4.1</a:t>
            </a:r>
            <a:r>
              <a:rPr lang="zh-CN" altLang="en-US"/>
              <a:t>亿元，</a:t>
            </a:r>
            <a:endParaRPr lang="zh-CN" altLang="en-US"/>
          </a:p>
          <a:p>
            <a:pPr eaLnBrk="1" hangingPunct="1"/>
            <a:r>
              <a:rPr lang="zh-CN" altLang="en-US"/>
              <a:t>社会、市场及企业投入</a:t>
            </a:r>
            <a:r>
              <a:rPr lang="en-US" altLang="zh-CN"/>
              <a:t>50</a:t>
            </a:r>
            <a:r>
              <a:rPr lang="zh-CN" altLang="en-US"/>
              <a:t>亿元，</a:t>
            </a:r>
            <a:endParaRPr lang="zh-CN" altLang="en-US"/>
          </a:p>
          <a:p>
            <a:pPr eaLnBrk="1" hangingPunct="1"/>
            <a:r>
              <a:rPr lang="zh-CN" altLang="en-US"/>
              <a:t>地方融资或向上争取资金</a:t>
            </a:r>
            <a:r>
              <a:rPr lang="en-US" altLang="zh-CN"/>
              <a:t>24.05</a:t>
            </a:r>
            <a:r>
              <a:rPr lang="zh-CN" altLang="en-US"/>
              <a:t>亿元 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Rot="1" noChangeArrowheads="1"/>
          </p:cNvSpPr>
          <p:nvPr/>
        </p:nvSpPr>
        <p:spPr bwMode="auto">
          <a:xfrm>
            <a:off x="635000" y="188913"/>
            <a:ext cx="7785100" cy="99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dist" eaLnBrk="1" hangingPunct="1">
              <a:spcBef>
                <a:spcPct val="0"/>
              </a:spcBef>
              <a:buFontTx/>
              <a:buNone/>
            </a:pPr>
            <a:r>
              <a:rPr kumimoji="0" lang="zh-CN" altLang="zh-CN" sz="4800">
                <a:solidFill>
                  <a:srgbClr val="99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重庆江北机场三期开始动工</a:t>
            </a:r>
            <a:endParaRPr kumimoji="0" lang="en-US" altLang="zh-CN" sz="4800">
              <a:solidFill>
                <a:srgbClr val="990000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7171" name="Rectangle 9"/>
          <p:cNvSpPr>
            <a:spLocks noRot="1" noChangeArrowheads="1"/>
          </p:cNvSpPr>
          <p:nvPr/>
        </p:nvSpPr>
        <p:spPr bwMode="auto">
          <a:xfrm>
            <a:off x="304800" y="1566863"/>
            <a:ext cx="8540750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kumimoji="0" lang="zh-CN" altLang="en-US" sz="2800"/>
              <a:t>重庆江北机场三期投资达</a:t>
            </a:r>
            <a:r>
              <a:rPr kumimoji="0" lang="en-US" altLang="zh-CN" sz="2800"/>
              <a:t>200</a:t>
            </a:r>
            <a:r>
              <a:rPr kumimoji="0" lang="zh-CN" altLang="en-US" sz="2800"/>
              <a:t>亿</a:t>
            </a:r>
            <a:r>
              <a:rPr kumimoji="0" lang="en-US" altLang="zh-CN" sz="2800"/>
              <a:t>, 7000</a:t>
            </a:r>
            <a:r>
              <a:rPr kumimoji="0" lang="zh-CN" altLang="en-US" sz="2800"/>
              <a:t>万人次客流量</a:t>
            </a:r>
            <a:endParaRPr kumimoji="0" lang="en-US" altLang="zh-CN" sz="2800"/>
          </a:p>
        </p:txBody>
      </p:sp>
      <p:sp>
        <p:nvSpPr>
          <p:cNvPr id="4" name="Rectangle 9"/>
          <p:cNvSpPr txBox="1">
            <a:spLocks noRot="1" noChangeArrowheads="1"/>
          </p:cNvSpPr>
          <p:nvPr/>
        </p:nvSpPr>
        <p:spPr bwMode="auto">
          <a:xfrm>
            <a:off x="107950" y="2214563"/>
            <a:ext cx="3455988" cy="10699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三期投资</a:t>
            </a:r>
            <a:r>
              <a:rPr kumimoji="0" lang="en-US" altLang="zh-CN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200</a:t>
            </a:r>
            <a:r>
              <a:rPr kumimoji="0" lang="zh-CN" altLang="en-US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亿；其中</a:t>
            </a:r>
            <a:r>
              <a:rPr kumimoji="0" lang="en-US" altLang="zh-CN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T3</a:t>
            </a:r>
            <a:r>
              <a:rPr kumimoji="0" lang="zh-CN" altLang="en-US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航站楼投资</a:t>
            </a:r>
            <a:r>
              <a:rPr kumimoji="0" lang="en-US" altLang="zh-CN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150-180</a:t>
            </a:r>
            <a:r>
              <a:rPr kumimoji="0" lang="zh-CN" altLang="en-US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亿元</a:t>
            </a:r>
            <a:endParaRPr kumimoji="0" lang="en-US" altLang="zh-CN" sz="2800" kern="0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925" y="5024438"/>
            <a:ext cx="3816350" cy="11414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最先进的第三代机场标准建设，与迪拜机场的规格一致</a:t>
            </a:r>
            <a:endParaRPr kumimoji="0" lang="en-US" altLang="zh-CN" sz="2800" kern="0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7950" y="3584575"/>
            <a:ext cx="3600450" cy="11398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kern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由法国金融巨鳄索德尚金融公司规划、设计和建设</a:t>
            </a:r>
            <a:endParaRPr kumimoji="0" lang="en-US" altLang="zh-CN" sz="2800" kern="0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7175" name="Picture 2" descr="D:\研究生\工程经济学助教\ppt\2010-9-27重庆机场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2368550"/>
            <a:ext cx="5364162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Rot="1" noChangeArrowheads="1"/>
          </p:cNvSpPr>
          <p:nvPr/>
        </p:nvSpPr>
        <p:spPr>
          <a:xfrm>
            <a:off x="214313" y="546100"/>
            <a:ext cx="8785225" cy="587375"/>
          </a:xfrm>
          <a:prstGeom prst="rect">
            <a:avLst/>
          </a:prstGeom>
          <a:noFill/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80</a:t>
            </a:r>
            <a:r>
              <a:rPr kumimoji="0" lang="zh-CN" altLang="en-US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后夫妻：月入</a:t>
            </a:r>
            <a:r>
              <a:rPr kumimoji="0" lang="en-US" altLang="zh-CN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9</a:t>
            </a:r>
            <a:r>
              <a:rPr kumimoji="0" lang="zh-CN" altLang="en-US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千，年存款</a:t>
            </a:r>
            <a:r>
              <a:rPr kumimoji="0" lang="en-US" altLang="zh-CN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9</a:t>
            </a:r>
            <a:r>
              <a:rPr kumimoji="0" lang="zh-CN" altLang="en-US" sz="3200" b="1" kern="0" dirty="0">
                <a:solidFill>
                  <a:srgbClr val="000000"/>
                </a:solidFill>
                <a:latin typeface="+mn-lt"/>
                <a:ea typeface="+mn-ea"/>
                <a:cs typeface="楷体_GB2312"/>
              </a:rPr>
              <a:t>万</a:t>
            </a:r>
            <a:endParaRPr kumimoji="0" lang="zh-CN" altLang="en-US" sz="3200" b="1" kern="0" dirty="0">
              <a:solidFill>
                <a:srgbClr val="000000"/>
              </a:solidFill>
              <a:latin typeface="+mn-lt"/>
              <a:ea typeface="+mn-ea"/>
              <a:cs typeface="楷体_GB2312"/>
            </a:endParaRPr>
          </a:p>
        </p:txBody>
      </p:sp>
      <p:pic>
        <p:nvPicPr>
          <p:cNvPr id="4" name="图片 3" descr="衣.jp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2000250"/>
            <a:ext cx="2643188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 descr="美食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143375"/>
            <a:ext cx="2786062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 descr="豪车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4214813"/>
            <a:ext cx="27114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 descr="豪宅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2071688"/>
            <a:ext cx="2786063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图片 14" descr="衣食住行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3286125"/>
            <a:ext cx="13239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7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770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1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7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770" decel="100000"/>
                                        <p:tgtEl>
                                          <p:spTgt spid="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4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7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770" decel="100000"/>
                                        <p:tgtEl>
                                          <p:spTgt spid="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3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5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Rot="1" noChangeArrowheads="1"/>
          </p:cNvSpPr>
          <p:nvPr/>
        </p:nvSpPr>
        <p:spPr bwMode="auto">
          <a:xfrm>
            <a:off x="358775" y="292100"/>
            <a:ext cx="8785225" cy="587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l"/>
              <a:defRPr/>
            </a:pPr>
            <a:r>
              <a:rPr lang="en-US" altLang="zh-CN" sz="3200" b="1" kern="0" dirty="0">
                <a:solidFill>
                  <a:srgbClr val="000000"/>
                </a:solidFill>
                <a:latin typeface="+mn-lt"/>
                <a:ea typeface="+mn-ea"/>
              </a:rPr>
              <a:t>80</a:t>
            </a:r>
            <a:r>
              <a:rPr lang="zh-CN" altLang="en-US" sz="3200" b="1" kern="0" dirty="0">
                <a:solidFill>
                  <a:srgbClr val="000000"/>
                </a:solidFill>
                <a:latin typeface="+mn-lt"/>
                <a:ea typeface="+mn-ea"/>
              </a:rPr>
              <a:t>后夫妻省钱秘籍</a:t>
            </a:r>
            <a:endParaRPr lang="zh-CN" altLang="en-US" sz="3200" b="1" kern="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9219" name="矩形 8"/>
          <p:cNvSpPr>
            <a:spLocks noChangeArrowheads="1"/>
          </p:cNvSpPr>
          <p:nvPr/>
        </p:nvSpPr>
        <p:spPr bwMode="auto">
          <a:xfrm>
            <a:off x="358775" y="1460500"/>
            <a:ext cx="8785225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饮食篇：</a:t>
            </a:r>
            <a:endParaRPr lang="en-US" altLang="zh-CN" sz="2000" b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早饭：在家吃，有草鸡蛋、牛奶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(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或豆浆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、稀饭、面包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(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或包子、烧卖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等。一天两人也不过五六块，一个月至多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180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。</a:t>
            </a:r>
            <a:endParaRPr lang="en-US" altLang="zh-CN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午饭：夫妻俩都在单位吃，不要钱；周末时不做，早饭多吃点，或在父母家吃。</a:t>
            </a:r>
            <a:endParaRPr lang="en-US" altLang="zh-CN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晚饭：一个月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30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天，除去应酬和加班，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15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天左右都到父母家吃。所以通常一个月在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200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以内。</a:t>
            </a:r>
            <a:endParaRPr lang="zh-CN" altLang="en-US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通讯篇：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夫妻俩和家人有亲情号，在单位都有短号，所以一个月话费都不高，两人一共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左右。</a:t>
            </a:r>
            <a:endParaRPr lang="zh-CN" altLang="en-US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交通篇：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两人都有小电动车，公交卡每人充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50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元可用大半年。</a:t>
            </a:r>
            <a:endParaRPr lang="zh-CN" altLang="en-US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000" b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水电杂费</a:t>
            </a:r>
            <a:r>
              <a:rPr lang="zh-CN" altLang="en-US" sz="2000" b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宽带一年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480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元，一个月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40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；有线电视一个月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24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；水、电、气一个月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100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，夏天和冬天的</a:t>
            </a:r>
            <a:r>
              <a:rPr lang="en-US" altLang="zh-CN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4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个月每月多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100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。以上总计，每月</a:t>
            </a:r>
            <a:r>
              <a:rPr lang="en-US" altLang="zh-CN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700</a:t>
            </a:r>
            <a:r>
              <a:rPr lang="zh-CN" altLang="en-US" sz="2000" b="0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元</a:t>
            </a:r>
            <a:r>
              <a:rPr lang="zh-CN" altLang="en-US" sz="2000" b="0">
                <a:solidFill>
                  <a:schemeClr val="bg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左右。</a:t>
            </a:r>
            <a:endParaRPr lang="zh-CN" altLang="en-US" sz="2000" b="0">
              <a:solidFill>
                <a:schemeClr val="bg2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5572125" y="1714500"/>
            <a:ext cx="2786063" cy="2757488"/>
          </a:xfrm>
          <a:prstGeom prst="wedgeRoundRectCallou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zh-CN" altLang="en-US" sz="6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成本</a:t>
            </a:r>
            <a:endParaRPr lang="en-US" altLang="zh-CN" sz="6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en-US" altLang="zh-CN" sz="6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cost</a:t>
            </a:r>
            <a:endParaRPr lang="en-US" altLang="zh-CN" sz="6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  <a:defRPr/>
            </a:pPr>
            <a:endParaRPr lang="en-US" altLang="zh-CN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0" y="-152400"/>
            <a:ext cx="9186863" cy="316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7200" dirty="0"/>
              <a:t>工程经济学</a:t>
            </a:r>
            <a:br>
              <a:rPr kumimoji="0" lang="zh-CN" altLang="en-US" sz="6600" dirty="0"/>
            </a:br>
            <a:br>
              <a:rPr kumimoji="0" lang="zh-CN" altLang="en-US" sz="4400" dirty="0"/>
            </a:br>
            <a:r>
              <a:rPr kumimoji="0" lang="zh-CN" altLang="en-US" sz="5400" dirty="0">
                <a:solidFill>
                  <a:srgbClr val="800000"/>
                </a:solidFill>
              </a:rPr>
              <a:t>成  本</a:t>
            </a:r>
            <a:endParaRPr kumimoji="0" lang="zh-CN" altLang="en-US" sz="5400" dirty="0">
              <a:solidFill>
                <a:srgbClr val="800000"/>
              </a:solidFill>
            </a:endParaRPr>
          </a:p>
        </p:txBody>
      </p:sp>
      <p:sp>
        <p:nvSpPr>
          <p:cNvPr id="10243" name="Rectangle 5"/>
          <p:cNvSpPr>
            <a:spLocks noChangeArrowheads="1"/>
          </p:cNvSpPr>
          <p:nvPr/>
        </p:nvSpPr>
        <p:spPr bwMode="auto">
          <a:xfrm>
            <a:off x="776287" y="4176839"/>
            <a:ext cx="7634287" cy="19446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kumimoji="0" lang="zh-CN" altLang="en-US" sz="2400" dirty="0">
                <a:solidFill>
                  <a:srgbClr val="800000"/>
                </a:solidFill>
              </a:rPr>
              <a:t>唐文哲  教授</a:t>
            </a:r>
            <a:endParaRPr kumimoji="0" lang="zh-CN" altLang="en-US" sz="2400" dirty="0">
              <a:solidFill>
                <a:srgbClr val="800000"/>
              </a:solidFill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kumimoji="0" lang="zh-CN" altLang="en-US" b="0" dirty="0"/>
              <a:t>清华大学土木水利学院</a:t>
            </a:r>
            <a:endParaRPr kumimoji="0" lang="zh-CN" altLang="en-US" b="0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kumimoji="0" lang="en-US" altLang="zh-CN" b="0" dirty="0">
                <a:latin typeface="楷体_GB2312"/>
              </a:rPr>
              <a:t>2019</a:t>
            </a:r>
            <a:r>
              <a:rPr kumimoji="0" lang="zh-CN" altLang="en-US" b="0" dirty="0">
                <a:latin typeface="楷体_GB2312"/>
              </a:rPr>
              <a:t>年</a:t>
            </a:r>
            <a:r>
              <a:rPr kumimoji="0" lang="en-US" altLang="zh-CN" b="0" dirty="0">
                <a:latin typeface="楷体_GB2312"/>
              </a:rPr>
              <a:t>9</a:t>
            </a:r>
            <a:r>
              <a:rPr kumimoji="0" lang="zh-CN" altLang="en-US" b="0" dirty="0">
                <a:latin typeface="楷体_GB2312"/>
              </a:rPr>
              <a:t>月</a:t>
            </a:r>
            <a:r>
              <a:rPr kumimoji="0" lang="en-US" altLang="zh-CN" b="0" dirty="0">
                <a:latin typeface="楷体_GB2312"/>
              </a:rPr>
              <a:t>19</a:t>
            </a:r>
            <a:r>
              <a:rPr kumimoji="0" lang="zh-CN" altLang="en-US" b="0" dirty="0">
                <a:latin typeface="楷体_GB2312"/>
              </a:rPr>
              <a:t>日</a:t>
            </a:r>
            <a:endParaRPr kumimoji="0" lang="zh-CN" altLang="en-US" b="0" dirty="0">
              <a:latin typeface="楷体_GB231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kumimoji="0" lang="zh-CN" altLang="en-US" sz="4000" b="0" dirty="0">
              <a:latin typeface="楷体_GB231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Rot="1" noChangeArrowheads="1"/>
          </p:cNvSpPr>
          <p:nvPr/>
        </p:nvSpPr>
        <p:spPr bwMode="auto">
          <a:xfrm>
            <a:off x="304800" y="1143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4400">
                <a:solidFill>
                  <a:srgbClr val="990000"/>
                </a:solidFill>
              </a:rPr>
              <a:t>Concepts of cost</a:t>
            </a:r>
            <a:endParaRPr kumimoji="0" lang="en-US" altLang="zh-CN" sz="4400">
              <a:solidFill>
                <a:srgbClr val="990000"/>
              </a:solidFill>
            </a:endParaRPr>
          </a:p>
        </p:txBody>
      </p:sp>
      <p:sp>
        <p:nvSpPr>
          <p:cNvPr id="11267" name="Rectangle 9"/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1422400"/>
            <a:ext cx="8540750" cy="3886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Tangible costs or benefits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Intangible costs or benefits 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Fixed costs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Variable costs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Direct costs 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Indirect costs 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Sunk cost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Opportunity Cost</a:t>
            </a:r>
            <a:endParaRPr lang="en-US" altLang="zh-CN" sz="2800" b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/>
              <a:t>Life Cycle Costs</a:t>
            </a:r>
            <a:endParaRPr lang="en-US" altLang="zh-CN" sz="2800" b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固定成本与可变成本</a:t>
            </a: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0"/>
              <a:t>固定成本 </a:t>
            </a:r>
            <a:r>
              <a:rPr lang="en-US" altLang="zh-CN" b="0"/>
              <a:t>Fixed costs</a:t>
            </a:r>
            <a:endParaRPr lang="en-US" altLang="zh-CN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在容量或负荷允许的条件下，不受工程量</a:t>
            </a:r>
            <a:r>
              <a:rPr lang="en-US" altLang="zh-CN" sz="2800" b="0"/>
              <a:t>/</a:t>
            </a:r>
            <a:r>
              <a:rPr lang="zh-CN" altLang="en-US" sz="2800" b="0"/>
              <a:t>业务量影响的成本。</a:t>
            </a:r>
            <a:endParaRPr lang="zh-CN" altLang="en-US" sz="28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如：租金，生产线成本，出租车司机的“份儿钱”</a:t>
            </a:r>
            <a:endParaRPr lang="zh-CN" altLang="en-US" sz="2800" b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0"/>
              <a:t>可变成本 </a:t>
            </a:r>
            <a:r>
              <a:rPr lang="en-US" altLang="zh-CN" b="0"/>
              <a:t>Variable costs</a:t>
            </a:r>
            <a:endParaRPr lang="en-US" altLang="zh-CN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随工程量</a:t>
            </a:r>
            <a:r>
              <a:rPr lang="en-US" altLang="zh-CN" sz="2800" b="0"/>
              <a:t>/</a:t>
            </a:r>
            <a:r>
              <a:rPr lang="zh-CN" altLang="en-US" sz="2800" b="0"/>
              <a:t>业务量变化而变化的成本</a:t>
            </a:r>
            <a:endParaRPr lang="zh-CN" altLang="en-US" sz="28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如：能源成本、材料成本</a:t>
            </a:r>
            <a:endParaRPr lang="zh-CN" altLang="en-US" sz="2800" b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3300" b="0"/>
              <a:t>短期和长期中的成本变化</a:t>
            </a:r>
            <a:endParaRPr lang="zh-CN" altLang="en-US" sz="33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在短期内，固定成本一般都是不变的</a:t>
            </a:r>
            <a:endParaRPr lang="zh-CN" altLang="en-US" sz="28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 b="0"/>
              <a:t>在长期，固定成本也可能是可变的</a:t>
            </a:r>
            <a:endParaRPr lang="zh-CN" altLang="en-US" sz="2800" b="0"/>
          </a:p>
          <a:p>
            <a:pPr eaLnBrk="1" hangingPunct="1">
              <a:lnSpc>
                <a:spcPct val="90000"/>
              </a:lnSpc>
            </a:pPr>
            <a:endParaRPr lang="zh-CN" altLang="en-US" sz="32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固定成本 与 可变成本</a:t>
            </a:r>
            <a:endParaRPr lang="zh-CN" altLang="en-US"/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设某生产活动的固定成本为</a:t>
            </a:r>
            <a:r>
              <a:rPr lang="en-US" altLang="zh-CN" sz="2800"/>
              <a:t>FC</a:t>
            </a:r>
            <a:r>
              <a:rPr lang="zh-CN" altLang="en-US" sz="2800"/>
              <a:t>，可变成本</a:t>
            </a:r>
            <a:r>
              <a:rPr lang="en-US" altLang="zh-CN" sz="2800"/>
              <a:t>VC</a:t>
            </a:r>
            <a:r>
              <a:rPr lang="zh-CN" altLang="en-US" sz="2800"/>
              <a:t>是产量</a:t>
            </a:r>
            <a:r>
              <a:rPr lang="en-US" altLang="zh-CN" sz="2800"/>
              <a:t>V</a:t>
            </a:r>
            <a:r>
              <a:rPr lang="zh-CN" altLang="en-US" sz="2800"/>
              <a:t>的函数。总成本</a:t>
            </a:r>
            <a:r>
              <a:rPr lang="en-US" altLang="zh-CN" sz="2800"/>
              <a:t>TC</a:t>
            </a:r>
            <a:r>
              <a:rPr lang="zh-CN" altLang="en-US" sz="2800"/>
              <a:t>是固定成本与可变成本之和。</a:t>
            </a:r>
            <a:endParaRPr lang="zh-CN" altLang="en-US" sz="2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800" b="0"/>
              <a:t>                 TC(V) = FC + VC = FC + f(V)</a:t>
            </a:r>
            <a:endParaRPr lang="en-US" altLang="zh-CN" sz="2800" b="0"/>
          </a:p>
          <a:p>
            <a:pPr lvl="1" eaLnBrk="1" hangingPunct="1">
              <a:lnSpc>
                <a:spcPct val="90000"/>
              </a:lnSpc>
            </a:pPr>
            <a:endParaRPr lang="zh-CN" altLang="en-US" sz="2600"/>
          </a:p>
          <a:p>
            <a:pPr lvl="1" eaLnBrk="1" hangingPunct="1">
              <a:lnSpc>
                <a:spcPct val="90000"/>
              </a:lnSpc>
            </a:pPr>
            <a:r>
              <a:rPr lang="zh-CN" altLang="en-US" sz="2600"/>
              <a:t>平均成本   </a:t>
            </a:r>
            <a:r>
              <a:rPr lang="en-US" altLang="zh-CN" sz="2600" b="0"/>
              <a:t>AC(V) = TC(V)/V = FC/V + f(V)/V</a:t>
            </a:r>
            <a:endParaRPr lang="en-US" altLang="zh-CN" sz="26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600"/>
              <a:t>边际成本（增加一个单位的数量，需要增加的成本， </a:t>
            </a:r>
            <a:r>
              <a:rPr lang="en-US" altLang="zh-CN" sz="2600"/>
              <a:t>Marginal cost</a:t>
            </a:r>
            <a:r>
              <a:rPr lang="zh-CN" altLang="en-US" sz="2600"/>
              <a:t> ）</a:t>
            </a:r>
            <a:endParaRPr lang="zh-CN" altLang="en-US" sz="26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600" b="0"/>
              <a:t>              MC(V) = </a:t>
            </a:r>
            <a:r>
              <a:rPr lang="en-US" altLang="zh-CN" sz="2600" b="0" i="1"/>
              <a:t>d</a:t>
            </a:r>
            <a:r>
              <a:rPr lang="en-US" altLang="zh-CN" sz="2600" b="0"/>
              <a:t>TC/</a:t>
            </a:r>
            <a:r>
              <a:rPr lang="en-US" altLang="zh-CN" sz="2600" b="0" i="1"/>
              <a:t>d</a:t>
            </a:r>
            <a:r>
              <a:rPr lang="en-US" altLang="zh-CN" sz="2600" b="0"/>
              <a:t>V = f (V+1) – f(V)</a:t>
            </a:r>
            <a:endParaRPr lang="en-US" altLang="zh-CN" sz="2600" b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600"/>
              <a:t>成本增量（工程量</a:t>
            </a:r>
            <a:r>
              <a:rPr lang="en-US" altLang="zh-CN" sz="2600"/>
              <a:t>/</a:t>
            </a:r>
            <a:r>
              <a:rPr lang="zh-CN" altLang="en-US" sz="2600"/>
              <a:t>业务量增加而带来的成本增加，</a:t>
            </a:r>
            <a:r>
              <a:rPr lang="en-US" altLang="zh-CN" sz="2600"/>
              <a:t>Incremental cost</a:t>
            </a:r>
            <a:r>
              <a:rPr lang="zh-CN" altLang="en-US" sz="2600"/>
              <a:t>）</a:t>
            </a:r>
            <a:endParaRPr lang="zh-CN" altLang="en-US" sz="2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0"/>
              <a:t>              </a:t>
            </a:r>
            <a:r>
              <a:rPr lang="en-US" altLang="zh-CN" sz="2600" b="0"/>
              <a:t>IC(V</a:t>
            </a:r>
            <a:r>
              <a:rPr lang="en-US" altLang="zh-CN" sz="2600" b="0" baseline="-25000"/>
              <a:t>0</a:t>
            </a:r>
            <a:r>
              <a:rPr lang="en-US" altLang="zh-CN" sz="2600" b="0"/>
              <a:t>, V</a:t>
            </a:r>
            <a:r>
              <a:rPr lang="en-US" altLang="zh-CN" sz="2600" b="0" baseline="-25000"/>
              <a:t>1</a:t>
            </a:r>
            <a:r>
              <a:rPr lang="en-US" altLang="zh-CN" sz="2600" b="0"/>
              <a:t>) = f (V</a:t>
            </a:r>
            <a:r>
              <a:rPr lang="en-US" altLang="zh-CN" sz="2600" b="0" baseline="-25000"/>
              <a:t>1</a:t>
            </a:r>
            <a:r>
              <a:rPr lang="en-US" altLang="zh-CN" sz="2600" b="0"/>
              <a:t>) – f (V</a:t>
            </a:r>
            <a:r>
              <a:rPr lang="en-US" altLang="zh-CN" sz="2600" b="0" baseline="-25000"/>
              <a:t>0</a:t>
            </a:r>
            <a:r>
              <a:rPr lang="en-US" altLang="zh-CN" sz="2600" b="0"/>
              <a:t>)</a:t>
            </a:r>
            <a:endParaRPr lang="en-US" altLang="zh-CN" sz="2600" b="0"/>
          </a:p>
          <a:p>
            <a:pPr lvl="1" eaLnBrk="1" hangingPunct="1">
              <a:lnSpc>
                <a:spcPct val="90000"/>
              </a:lnSpc>
            </a:pPr>
            <a:endParaRPr lang="zh-CN" altLang="en-US" sz="2600"/>
          </a:p>
          <a:p>
            <a:pPr lvl="1" eaLnBrk="1" hangingPunct="1">
              <a:lnSpc>
                <a:spcPct val="90000"/>
              </a:lnSpc>
            </a:pPr>
            <a:endParaRPr lang="zh-CN" altLang="en-US" sz="2600" b="0"/>
          </a:p>
          <a:p>
            <a:pPr lvl="1" eaLnBrk="1" hangingPunct="1">
              <a:lnSpc>
                <a:spcPct val="90000"/>
              </a:lnSpc>
            </a:pPr>
            <a:endParaRPr lang="en-US" altLang="zh-CN" sz="2600" b="0"/>
          </a:p>
          <a:p>
            <a:pPr lvl="1" eaLnBrk="1" hangingPunct="1">
              <a:lnSpc>
                <a:spcPct val="90000"/>
              </a:lnSpc>
            </a:pPr>
            <a:endParaRPr lang="zh-CN" altLang="en-US"/>
          </a:p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7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37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一个简单的线性成本函数</a:t>
            </a: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TC = a + bV = 50 +V, 10&lt;V&lt;100</a:t>
            </a:r>
            <a:endParaRPr lang="en-US" altLang="zh-CN"/>
          </a:p>
          <a:p>
            <a:pPr lvl="1" eaLnBrk="1" hangingPunct="1"/>
            <a:r>
              <a:rPr lang="en-US" altLang="zh-CN"/>
              <a:t>FC=50, VC=V</a:t>
            </a:r>
            <a:endParaRPr lang="en-US" altLang="zh-CN"/>
          </a:p>
        </p:txBody>
      </p: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492375"/>
            <a:ext cx="74549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一个简单的线性成本函数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AC(V) = a/V + b = 50/V +1</a:t>
            </a:r>
            <a:endParaRPr lang="en-US" altLang="zh-CN" sz="2800"/>
          </a:p>
          <a:p>
            <a:pPr eaLnBrk="1" hangingPunct="1"/>
            <a:r>
              <a:rPr lang="en-US" altLang="zh-CN" sz="2800"/>
              <a:t>MC(V) = </a:t>
            </a:r>
            <a:r>
              <a:rPr lang="en-US" altLang="zh-CN" sz="2800" i="1"/>
              <a:t>d</a:t>
            </a:r>
            <a:r>
              <a:rPr lang="en-US" altLang="zh-CN" sz="2800"/>
              <a:t>TC/</a:t>
            </a:r>
            <a:r>
              <a:rPr lang="en-US" altLang="zh-CN" sz="2800" i="1"/>
              <a:t>d</a:t>
            </a:r>
            <a:r>
              <a:rPr lang="en-US" altLang="zh-CN" sz="2800"/>
              <a:t>V = b = 1</a:t>
            </a:r>
            <a:endParaRPr lang="en-US" altLang="zh-CN" sz="2800"/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2590800"/>
            <a:ext cx="7977187" cy="380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304800" y="254000"/>
            <a:ext cx="854075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CN" sz="3600"/>
              <a:t>Case:</a:t>
            </a:r>
            <a:r>
              <a:rPr lang="zh-CN" altLang="en-US" sz="3600"/>
              <a:t>同学</a:t>
            </a:r>
            <a:r>
              <a:rPr lang="en-US" altLang="zh-CN" sz="3600"/>
              <a:t>A</a:t>
            </a:r>
            <a:r>
              <a:rPr lang="zh-CN" altLang="en-US" sz="3600"/>
              <a:t>送三个同学回家</a:t>
            </a:r>
            <a:r>
              <a:rPr lang="en-US" altLang="zh-CN" sz="3600"/>
              <a:t>, </a:t>
            </a:r>
            <a:r>
              <a:rPr lang="zh-CN" altLang="en-US" sz="3600"/>
              <a:t>距离</a:t>
            </a:r>
            <a:r>
              <a:rPr lang="en-US" altLang="zh-CN" sz="3600"/>
              <a:t>400</a:t>
            </a:r>
            <a:r>
              <a:rPr lang="zh-CN" altLang="en-US" sz="3600"/>
              <a:t>英里</a:t>
            </a:r>
            <a:r>
              <a:rPr lang="en-US" altLang="zh-CN" sz="3600"/>
              <a:t>,</a:t>
            </a:r>
            <a:r>
              <a:rPr lang="zh-CN" altLang="en-US" sz="3600"/>
              <a:t>该收多少</a:t>
            </a:r>
            <a:r>
              <a:rPr lang="en-US" altLang="zh-CN" sz="3600"/>
              <a:t>?</a:t>
            </a:r>
            <a:br>
              <a:rPr lang="en-US" altLang="zh-CN" sz="3600"/>
            </a:br>
            <a:endParaRPr lang="zh-CN" altLang="en-US" sz="3600"/>
          </a:p>
        </p:txBody>
      </p:sp>
      <p:sp>
        <p:nvSpPr>
          <p:cNvPr id="19459" name="Rectangle 5"/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1981200"/>
            <a:ext cx="8540750" cy="3886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/>
              <a:t>汽油</a:t>
            </a:r>
            <a:r>
              <a:rPr lang="en-US" altLang="zh-CN" sz="2800"/>
              <a:t>---0.12                            </a:t>
            </a:r>
            <a:r>
              <a:rPr lang="zh-CN" altLang="en-US" sz="2800"/>
              <a:t>单位</a:t>
            </a:r>
            <a:r>
              <a:rPr lang="en-US" altLang="zh-CN" sz="2800"/>
              <a:t>:</a:t>
            </a:r>
            <a:r>
              <a:rPr lang="zh-CN" altLang="en-US" sz="2800"/>
              <a:t>美元</a:t>
            </a:r>
            <a:r>
              <a:rPr lang="en-US" altLang="zh-CN" sz="2800"/>
              <a:t>/</a:t>
            </a:r>
            <a:r>
              <a:rPr lang="zh-CN" altLang="en-US" sz="2800"/>
              <a:t>英里</a:t>
            </a:r>
            <a:endParaRPr lang="zh-CN" altLang="en-US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润滑油</a:t>
            </a:r>
            <a:r>
              <a:rPr lang="en-US" altLang="zh-CN" sz="2800"/>
              <a:t>----0.021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车胎</a:t>
            </a:r>
            <a:r>
              <a:rPr lang="en-US" altLang="zh-CN" sz="2800"/>
              <a:t>----0.027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折旧费</a:t>
            </a:r>
            <a:r>
              <a:rPr lang="en-US" altLang="zh-CN" sz="2800"/>
              <a:t>----0.15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保险和税收</a:t>
            </a:r>
            <a:r>
              <a:rPr lang="en-US" altLang="zh-CN" sz="2800"/>
              <a:t>----0.024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修理</a:t>
            </a:r>
            <a:r>
              <a:rPr lang="en-US" altLang="zh-CN" sz="2800"/>
              <a:t>------0.03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车库费</a:t>
            </a:r>
            <a:r>
              <a:rPr lang="en-US" altLang="zh-CN" sz="2800"/>
              <a:t>----0.12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r>
              <a:rPr lang="zh-CN" altLang="en-US" sz="2800"/>
              <a:t>合计</a:t>
            </a:r>
            <a:r>
              <a:rPr lang="en-US" altLang="zh-CN" sz="2800"/>
              <a:t>:      0.384          (</a:t>
            </a:r>
            <a:r>
              <a:rPr lang="zh-CN" altLang="en-US" sz="2800"/>
              <a:t>以往年</a:t>
            </a:r>
            <a:r>
              <a:rPr lang="en-US" altLang="zh-CN" sz="2800"/>
              <a:t>15000</a:t>
            </a:r>
            <a:r>
              <a:rPr lang="zh-CN" altLang="en-US" sz="2800"/>
              <a:t>英里计算</a:t>
            </a:r>
            <a:r>
              <a:rPr lang="en-US" altLang="zh-CN" sz="2800"/>
              <a:t>)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endParaRPr lang="en-US" altLang="zh-CN" sz="28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同学</a:t>
            </a:r>
            <a:r>
              <a:rPr lang="en-US" altLang="zh-CN" sz="4000"/>
              <a:t>A</a:t>
            </a:r>
            <a:r>
              <a:rPr lang="zh-CN" altLang="en-US" sz="4000"/>
              <a:t>计算</a:t>
            </a:r>
            <a:endParaRPr lang="zh-CN" altLang="en-US" sz="400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0.384X800/3=102.40</a:t>
            </a:r>
            <a:r>
              <a:rPr lang="zh-CN" altLang="en-US"/>
              <a:t>美元</a:t>
            </a:r>
            <a:r>
              <a:rPr lang="en-US" altLang="zh-CN"/>
              <a:t>?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三同学计算</a:t>
            </a:r>
            <a:endParaRPr lang="zh-CN" altLang="en-US" sz="40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汽油</a:t>
            </a:r>
            <a:r>
              <a:rPr lang="en-US" altLang="zh-CN" sz="3200">
                <a:solidFill>
                  <a:srgbClr val="FF0000"/>
                </a:solidFill>
              </a:rPr>
              <a:t>---0.12                            </a:t>
            </a:r>
            <a:r>
              <a:rPr lang="zh-CN" altLang="en-US" sz="3200"/>
              <a:t>单位</a:t>
            </a:r>
            <a:r>
              <a:rPr lang="en-US" altLang="zh-CN" sz="3200"/>
              <a:t>:</a:t>
            </a:r>
            <a:r>
              <a:rPr lang="zh-CN" altLang="en-US" sz="3200"/>
              <a:t>美元</a:t>
            </a:r>
            <a:r>
              <a:rPr lang="en-US" altLang="zh-CN" sz="3200"/>
              <a:t>/</a:t>
            </a:r>
            <a:r>
              <a:rPr lang="zh-CN" altLang="en-US" sz="3200"/>
              <a:t>英里</a:t>
            </a:r>
            <a:endParaRPr lang="zh-CN" altLang="en-US" sz="3200"/>
          </a:p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润滑油</a:t>
            </a:r>
            <a:r>
              <a:rPr lang="en-US" altLang="zh-CN" sz="3200">
                <a:solidFill>
                  <a:srgbClr val="FF0000"/>
                </a:solidFill>
              </a:rPr>
              <a:t>----0.021</a:t>
            </a:r>
            <a:endParaRPr lang="en-US" altLang="zh-CN" sz="320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车胎</a:t>
            </a:r>
            <a:r>
              <a:rPr lang="en-US" altLang="zh-CN" sz="3200">
                <a:solidFill>
                  <a:srgbClr val="FF0000"/>
                </a:solidFill>
              </a:rPr>
              <a:t>----0.027</a:t>
            </a:r>
            <a:endParaRPr lang="en-US" altLang="zh-CN" sz="320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200"/>
              <a:t>折旧费</a:t>
            </a:r>
            <a:r>
              <a:rPr lang="en-US" altLang="zh-CN" sz="3200"/>
              <a:t>----0.15</a:t>
            </a:r>
            <a:endParaRPr lang="en-US" altLang="zh-CN" sz="3200"/>
          </a:p>
          <a:p>
            <a:pPr eaLnBrk="1" hangingPunct="1"/>
            <a:r>
              <a:rPr lang="zh-CN" altLang="en-US" sz="3200"/>
              <a:t>保险和税收</a:t>
            </a:r>
            <a:r>
              <a:rPr lang="en-US" altLang="zh-CN" sz="3200"/>
              <a:t>----0.024</a:t>
            </a:r>
            <a:endParaRPr lang="en-US" altLang="zh-CN" sz="3200"/>
          </a:p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修理</a:t>
            </a:r>
            <a:r>
              <a:rPr lang="en-US" altLang="zh-CN" sz="3200">
                <a:solidFill>
                  <a:srgbClr val="FF0000"/>
                </a:solidFill>
              </a:rPr>
              <a:t>------0.03</a:t>
            </a:r>
            <a:endParaRPr lang="en-US" altLang="zh-CN" sz="320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z="3200"/>
              <a:t>车库费</a:t>
            </a:r>
            <a:r>
              <a:rPr lang="en-US" altLang="zh-CN" sz="3200"/>
              <a:t>----0.12</a:t>
            </a:r>
            <a:endParaRPr lang="en-US" altLang="zh-CN" sz="3200"/>
          </a:p>
          <a:p>
            <a:pPr eaLnBrk="1" hangingPunct="1"/>
            <a:r>
              <a:rPr lang="zh-CN" altLang="en-US" sz="3200">
                <a:solidFill>
                  <a:srgbClr val="FF0000"/>
                </a:solidFill>
              </a:rPr>
              <a:t>合计</a:t>
            </a:r>
            <a:r>
              <a:rPr lang="en-US" altLang="zh-CN" sz="3200">
                <a:solidFill>
                  <a:srgbClr val="FF0000"/>
                </a:solidFill>
              </a:rPr>
              <a:t>:      0.198</a:t>
            </a:r>
            <a:r>
              <a:rPr lang="en-US" altLang="zh-CN" sz="3200"/>
              <a:t>          </a:t>
            </a:r>
            <a:r>
              <a:rPr lang="en-US" altLang="zh-CN" sz="3200">
                <a:solidFill>
                  <a:srgbClr val="FF0000"/>
                </a:solidFill>
              </a:rPr>
              <a:t>(0.198X800/3=52.80</a:t>
            </a:r>
            <a:r>
              <a:rPr lang="zh-CN" altLang="en-US" sz="3200">
                <a:solidFill>
                  <a:srgbClr val="800000"/>
                </a:solidFill>
              </a:rPr>
              <a:t>美元</a:t>
            </a:r>
            <a:r>
              <a:rPr lang="en-US" altLang="zh-CN" sz="3200">
                <a:solidFill>
                  <a:srgbClr val="FF0000"/>
                </a:solidFill>
              </a:rPr>
              <a:t>?)</a:t>
            </a:r>
            <a:endParaRPr lang="zh-CN" altLang="en-US"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同学</a:t>
            </a:r>
            <a:r>
              <a:rPr lang="en-US" altLang="zh-CN" sz="4000"/>
              <a:t>A </a:t>
            </a:r>
            <a:r>
              <a:rPr lang="zh-CN" altLang="en-US" sz="4000"/>
              <a:t>再次计算</a:t>
            </a:r>
            <a:endParaRPr lang="zh-CN" altLang="en-US" sz="400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当年行驶</a:t>
            </a:r>
            <a:r>
              <a:rPr lang="en-US" altLang="zh-CN"/>
              <a:t>18000</a:t>
            </a:r>
            <a:r>
              <a:rPr lang="zh-CN" altLang="en-US"/>
              <a:t>英里</a:t>
            </a:r>
            <a:r>
              <a:rPr lang="en-US" altLang="zh-CN"/>
              <a:t>, </a:t>
            </a:r>
            <a:r>
              <a:rPr lang="zh-CN" altLang="en-US"/>
              <a:t>总成本</a:t>
            </a:r>
            <a:r>
              <a:rPr lang="en-US" altLang="zh-CN"/>
              <a:t>6570</a:t>
            </a:r>
            <a:r>
              <a:rPr lang="zh-CN" altLang="en-US"/>
              <a:t>美元</a:t>
            </a:r>
            <a:endParaRPr lang="zh-CN" altLang="en-US"/>
          </a:p>
          <a:p>
            <a:pPr eaLnBrk="1" hangingPunct="1"/>
            <a:r>
              <a:rPr lang="en-US" altLang="zh-CN"/>
              <a:t>(6570-15000X0.384)/3000=0.27</a:t>
            </a:r>
            <a:r>
              <a:rPr lang="zh-CN" altLang="en-US"/>
              <a:t>美元</a:t>
            </a:r>
            <a:r>
              <a:rPr lang="en-US" altLang="zh-CN"/>
              <a:t>/</a:t>
            </a:r>
            <a:r>
              <a:rPr lang="zh-CN" altLang="en-US"/>
              <a:t>英里</a:t>
            </a:r>
            <a:endParaRPr lang="zh-CN" altLang="en-US"/>
          </a:p>
          <a:p>
            <a:pPr eaLnBrk="1" hangingPunct="1"/>
            <a:r>
              <a:rPr lang="en-US" altLang="zh-CN"/>
              <a:t>0.27X800/3=72</a:t>
            </a:r>
            <a:r>
              <a:rPr lang="zh-CN" altLang="en-US"/>
              <a:t>美元</a:t>
            </a:r>
            <a:endParaRPr lang="zh-CN" altLang="en-US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直接成本和间接成本</a:t>
            </a:r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直接成本 （硬成本）</a:t>
            </a:r>
            <a:r>
              <a:rPr lang="en-US" altLang="zh-CN" sz="3200"/>
              <a:t>Direct cost, hard cost</a:t>
            </a:r>
            <a:endParaRPr lang="zh-CN" altLang="en-US" sz="3200"/>
          </a:p>
          <a:p>
            <a:pPr lvl="1" eaLnBrk="1" hangingPunct="1"/>
            <a:r>
              <a:rPr lang="zh-CN" altLang="en-US" sz="2800" b="0"/>
              <a:t>能够容易地与工作量</a:t>
            </a:r>
            <a:r>
              <a:rPr lang="en-US" altLang="zh-CN" sz="2800" b="0"/>
              <a:t>/</a:t>
            </a:r>
            <a:r>
              <a:rPr lang="zh-CN" altLang="en-US" sz="2800" b="0"/>
              <a:t>产量，或工程阶段相联系</a:t>
            </a:r>
            <a:endParaRPr lang="zh-CN" altLang="en-US" sz="2800" b="0"/>
          </a:p>
          <a:p>
            <a:pPr lvl="1" eaLnBrk="1" hangingPunct="1"/>
            <a:r>
              <a:rPr lang="en-US" altLang="zh-CN" sz="2800"/>
              <a:t>Can be directly related to producing the products and services of the project</a:t>
            </a:r>
            <a:endParaRPr lang="zh-CN" altLang="en-US"/>
          </a:p>
          <a:p>
            <a:pPr eaLnBrk="1" hangingPunct="1"/>
            <a:r>
              <a:rPr lang="zh-CN" altLang="en-US" sz="3200"/>
              <a:t>间接成本 （软成本，期间费用）</a:t>
            </a:r>
            <a:r>
              <a:rPr lang="en-US" altLang="zh-CN" sz="3200"/>
              <a:t>Indirect cost, soft cost</a:t>
            </a:r>
            <a:endParaRPr lang="en-US" altLang="zh-CN" sz="3200"/>
          </a:p>
          <a:p>
            <a:pPr lvl="1" eaLnBrk="1" hangingPunct="1"/>
            <a:r>
              <a:rPr lang="zh-CN" altLang="en-US" sz="2800" b="0"/>
              <a:t>很难具体将其对应于工作量或工程阶段，而是与整个项目或多个项目相联系</a:t>
            </a:r>
            <a:endParaRPr lang="zh-CN" altLang="en-US" sz="2800" b="0"/>
          </a:p>
          <a:p>
            <a:pPr lvl="1" eaLnBrk="1" hangingPunct="1"/>
            <a:r>
              <a:rPr lang="en-US" altLang="zh-CN" sz="2800"/>
              <a:t>Indirectly related to performing the project</a:t>
            </a:r>
            <a:endParaRPr lang="zh-CN" altLang="en-US" sz="2800" b="0"/>
          </a:p>
          <a:p>
            <a:pPr lvl="1" eaLnBrk="1" hangingPunct="1">
              <a:buFontTx/>
              <a:buNone/>
            </a:pPr>
            <a:endParaRPr lang="zh-CN" altLang="en-US" b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以房地产开发项目为例：成本构成</a:t>
            </a:r>
            <a:endParaRPr lang="zh-CN" altLang="en-US" sz="4000"/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200"/>
              <a:t>直接成本</a:t>
            </a:r>
            <a:endParaRPr lang="zh-CN" altLang="en-US" sz="320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/>
              <a:t>1. </a:t>
            </a:r>
            <a:r>
              <a:rPr lang="zh-CN" altLang="en-US" sz="2800"/>
              <a:t>土地费用</a:t>
            </a:r>
            <a:endParaRPr lang="zh-CN" altLang="en-US" sz="280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土地出让金、基础设施配套建设费、拆迁安置补偿费</a:t>
            </a:r>
            <a:r>
              <a:rPr lang="zh-CN" altLang="en-US" sz="2400"/>
              <a:t> </a:t>
            </a:r>
            <a:endParaRPr lang="zh-CN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/>
              <a:t>2. </a:t>
            </a:r>
            <a:r>
              <a:rPr lang="zh-CN" altLang="en-US" sz="2800"/>
              <a:t>前期工程费</a:t>
            </a:r>
            <a:endParaRPr lang="zh-CN" altLang="en-US" sz="280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规划设计、可行性研究、勘查测绘、三通一平费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/>
              <a:t>3. </a:t>
            </a:r>
            <a:r>
              <a:rPr lang="zh-CN" altLang="en-US" sz="2800"/>
              <a:t>房屋建筑安装工程费（建安费用）</a:t>
            </a:r>
            <a:endParaRPr lang="zh-CN" altLang="en-US" sz="280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土建工程费、水电工程费、附属工程费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/>
              <a:t>4. </a:t>
            </a:r>
            <a:r>
              <a:rPr lang="zh-CN" altLang="en-US" sz="2800"/>
              <a:t>附属公共配套设施费</a:t>
            </a:r>
            <a:endParaRPr lang="zh-CN" altLang="en-US" sz="280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与主体房屋相配套的非营业性公共配套设施费用（如车棚、锅炉房、其它非营业性用房）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800"/>
              <a:t>5. </a:t>
            </a:r>
            <a:r>
              <a:rPr lang="zh-CN" altLang="en-US" sz="2800"/>
              <a:t>公共基础设施费</a:t>
            </a:r>
            <a:endParaRPr lang="zh-CN" altLang="en-US" sz="2800"/>
          </a:p>
          <a:p>
            <a:pPr lvl="2" eaLnBrk="1" hangingPunct="1">
              <a:lnSpc>
                <a:spcPct val="90000"/>
              </a:lnSpc>
            </a:pPr>
            <a:r>
              <a:rPr lang="zh-CN" altLang="en-US" sz="2000"/>
              <a:t>直接为该项目配套建设的道路、供水电气、排污、照明、绿化等基础设施费用</a:t>
            </a:r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9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09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09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09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以房地产开发项目为例：成本构成</a:t>
            </a:r>
            <a:endParaRPr lang="zh-CN" altLang="en-US" sz="4000"/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间接成本</a:t>
            </a:r>
            <a:endParaRPr lang="zh-CN" altLang="en-US"/>
          </a:p>
          <a:p>
            <a:pPr lvl="1" eaLnBrk="1" hangingPunct="1"/>
            <a:r>
              <a:rPr lang="en-US" altLang="zh-CN" sz="2800"/>
              <a:t>6. </a:t>
            </a:r>
            <a:r>
              <a:rPr lang="zh-CN" altLang="en-US" sz="2800"/>
              <a:t>管理费用</a:t>
            </a:r>
            <a:endParaRPr lang="zh-CN" altLang="en-US" sz="2800"/>
          </a:p>
          <a:p>
            <a:pPr lvl="2" eaLnBrk="1" hangingPunct="1"/>
            <a:r>
              <a:rPr lang="zh-CN" altLang="en-US" sz="2200"/>
              <a:t>开发经营单位为组织开发经营活动所必需发生的费用</a:t>
            </a:r>
            <a:endParaRPr lang="zh-CN" altLang="en-US" sz="2200"/>
          </a:p>
          <a:p>
            <a:pPr lvl="1" eaLnBrk="1" hangingPunct="1"/>
            <a:r>
              <a:rPr lang="en-US" altLang="zh-CN" sz="2800"/>
              <a:t>7. </a:t>
            </a:r>
            <a:r>
              <a:rPr lang="zh-CN" altLang="en-US" sz="2800"/>
              <a:t>销售费用</a:t>
            </a:r>
            <a:endParaRPr lang="zh-CN" altLang="en-US" sz="2800"/>
          </a:p>
          <a:p>
            <a:pPr lvl="2" eaLnBrk="1" hangingPunct="1"/>
            <a:r>
              <a:rPr lang="zh-CN" altLang="en-US" sz="2200"/>
              <a:t>为销售商品房而发生的费用</a:t>
            </a:r>
            <a:endParaRPr lang="zh-CN" altLang="en-US" sz="2200"/>
          </a:p>
          <a:p>
            <a:pPr lvl="1" eaLnBrk="1" hangingPunct="1"/>
            <a:r>
              <a:rPr lang="en-US" altLang="zh-CN" sz="2800"/>
              <a:t>8. </a:t>
            </a:r>
            <a:r>
              <a:rPr lang="zh-CN" altLang="en-US" sz="2800"/>
              <a:t>财务费用</a:t>
            </a:r>
            <a:endParaRPr lang="zh-CN" altLang="en-US" sz="2800"/>
          </a:p>
          <a:p>
            <a:pPr lvl="2" eaLnBrk="1" hangingPunct="1"/>
            <a:r>
              <a:rPr lang="zh-CN" altLang="en-US" sz="2200"/>
              <a:t>银行贷款利息支出、汇兑损益及手续费等</a:t>
            </a:r>
            <a:endParaRPr lang="zh-CN" altLang="en-US" sz="2200"/>
          </a:p>
          <a:p>
            <a:pPr eaLnBrk="1" hangingPunct="1"/>
            <a:endParaRPr lang="zh-CN" altLang="en-US" sz="22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1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1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1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1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6"/>
          <p:cNvGrpSpPr/>
          <p:nvPr/>
        </p:nvGrpSpPr>
        <p:grpSpPr bwMode="auto">
          <a:xfrm>
            <a:off x="685800" y="1435100"/>
            <a:ext cx="7620000" cy="5499100"/>
            <a:chOff x="672" y="624"/>
            <a:chExt cx="4800" cy="3464"/>
          </a:xfrm>
        </p:grpSpPr>
        <p:sp>
          <p:nvSpPr>
            <p:cNvPr id="29700" name="Text Box 7"/>
            <p:cNvSpPr txBox="1">
              <a:spLocks noChangeArrowheads="1"/>
            </p:cNvSpPr>
            <p:nvPr/>
          </p:nvSpPr>
          <p:spPr bwMode="auto">
            <a:xfrm>
              <a:off x="672" y="1728"/>
              <a:ext cx="528" cy="52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项目费用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1" name="Line 8"/>
            <p:cNvSpPr>
              <a:spLocks noChangeShapeType="1"/>
            </p:cNvSpPr>
            <p:nvPr/>
          </p:nvSpPr>
          <p:spPr bwMode="auto">
            <a:xfrm>
              <a:off x="1440" y="1248"/>
              <a:ext cx="0" cy="148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2" name="Line 9"/>
            <p:cNvSpPr>
              <a:spLocks noChangeShapeType="1"/>
            </p:cNvSpPr>
            <p:nvPr/>
          </p:nvSpPr>
          <p:spPr bwMode="auto">
            <a:xfrm>
              <a:off x="1200" y="2016"/>
              <a:ext cx="24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3" name="Line 10"/>
            <p:cNvSpPr>
              <a:spLocks noChangeShapeType="1"/>
            </p:cNvSpPr>
            <p:nvPr/>
          </p:nvSpPr>
          <p:spPr bwMode="auto">
            <a:xfrm>
              <a:off x="1440" y="1248"/>
              <a:ext cx="28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4" name="Line 11"/>
            <p:cNvSpPr>
              <a:spLocks noChangeShapeType="1"/>
            </p:cNvSpPr>
            <p:nvPr/>
          </p:nvSpPr>
          <p:spPr bwMode="auto">
            <a:xfrm>
              <a:off x="1440" y="2736"/>
              <a:ext cx="28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Text Box 12"/>
            <p:cNvSpPr txBox="1">
              <a:spLocks noChangeArrowheads="1"/>
            </p:cNvSpPr>
            <p:nvPr/>
          </p:nvSpPr>
          <p:spPr bwMode="auto">
            <a:xfrm>
              <a:off x="1728" y="1008"/>
              <a:ext cx="624" cy="52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直接费用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6" name="Text Box 13"/>
            <p:cNvSpPr txBox="1">
              <a:spLocks noChangeArrowheads="1"/>
            </p:cNvSpPr>
            <p:nvPr/>
          </p:nvSpPr>
          <p:spPr bwMode="auto">
            <a:xfrm>
              <a:off x="1728" y="2450"/>
              <a:ext cx="624" cy="52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间接费用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7" name="Line 14"/>
            <p:cNvSpPr>
              <a:spLocks noChangeShapeType="1"/>
            </p:cNvSpPr>
            <p:nvPr/>
          </p:nvSpPr>
          <p:spPr bwMode="auto">
            <a:xfrm>
              <a:off x="2352" y="1248"/>
              <a:ext cx="24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Text Box 15"/>
            <p:cNvSpPr txBox="1">
              <a:spLocks noChangeArrowheads="1"/>
            </p:cNvSpPr>
            <p:nvPr/>
          </p:nvSpPr>
          <p:spPr bwMode="auto">
            <a:xfrm>
              <a:off x="2976" y="624"/>
              <a:ext cx="816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人工费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9" name="Text Box 16"/>
            <p:cNvSpPr txBox="1">
              <a:spLocks noChangeArrowheads="1"/>
            </p:cNvSpPr>
            <p:nvPr/>
          </p:nvSpPr>
          <p:spPr bwMode="auto">
            <a:xfrm>
              <a:off x="2976" y="960"/>
              <a:ext cx="816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材料费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0" name="Text Box 17"/>
            <p:cNvSpPr txBox="1">
              <a:spLocks noChangeArrowheads="1"/>
            </p:cNvSpPr>
            <p:nvPr/>
          </p:nvSpPr>
          <p:spPr bwMode="auto">
            <a:xfrm>
              <a:off x="2976" y="1344"/>
              <a:ext cx="816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设备费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1" name="Text Box 18"/>
            <p:cNvSpPr txBox="1">
              <a:spLocks noChangeArrowheads="1"/>
            </p:cNvSpPr>
            <p:nvPr/>
          </p:nvSpPr>
          <p:spPr bwMode="auto">
            <a:xfrm>
              <a:off x="2976" y="1728"/>
              <a:ext cx="1152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分包合同费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2" name="Line 19"/>
            <p:cNvSpPr>
              <a:spLocks noChangeShapeType="1"/>
            </p:cNvSpPr>
            <p:nvPr/>
          </p:nvSpPr>
          <p:spPr bwMode="auto">
            <a:xfrm>
              <a:off x="2592" y="768"/>
              <a:ext cx="0" cy="110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20"/>
            <p:cNvSpPr>
              <a:spLocks noChangeShapeType="1"/>
            </p:cNvSpPr>
            <p:nvPr/>
          </p:nvSpPr>
          <p:spPr bwMode="auto">
            <a:xfrm>
              <a:off x="2592" y="768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Line 21"/>
            <p:cNvSpPr>
              <a:spLocks noChangeShapeType="1"/>
            </p:cNvSpPr>
            <p:nvPr/>
          </p:nvSpPr>
          <p:spPr bwMode="auto">
            <a:xfrm>
              <a:off x="2592" y="1104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22"/>
            <p:cNvSpPr>
              <a:spLocks noChangeShapeType="1"/>
            </p:cNvSpPr>
            <p:nvPr/>
          </p:nvSpPr>
          <p:spPr bwMode="auto">
            <a:xfrm>
              <a:off x="2592" y="1488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Line 23"/>
            <p:cNvSpPr>
              <a:spLocks noChangeShapeType="1"/>
            </p:cNvSpPr>
            <p:nvPr/>
          </p:nvSpPr>
          <p:spPr bwMode="auto">
            <a:xfrm>
              <a:off x="2592" y="1872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7" name="Line 24"/>
            <p:cNvSpPr>
              <a:spLocks noChangeShapeType="1"/>
            </p:cNvSpPr>
            <p:nvPr/>
          </p:nvSpPr>
          <p:spPr bwMode="auto">
            <a:xfrm>
              <a:off x="2352" y="2688"/>
              <a:ext cx="576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Line 25"/>
            <p:cNvSpPr>
              <a:spLocks noChangeShapeType="1"/>
            </p:cNvSpPr>
            <p:nvPr/>
          </p:nvSpPr>
          <p:spPr bwMode="auto">
            <a:xfrm>
              <a:off x="2544" y="2304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26"/>
            <p:cNvSpPr>
              <a:spLocks noChangeShapeType="1"/>
            </p:cNvSpPr>
            <p:nvPr/>
          </p:nvSpPr>
          <p:spPr bwMode="auto">
            <a:xfrm>
              <a:off x="2544" y="3120"/>
              <a:ext cx="38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Text Box 27"/>
            <p:cNvSpPr txBox="1">
              <a:spLocks noChangeArrowheads="1"/>
            </p:cNvSpPr>
            <p:nvPr/>
          </p:nvSpPr>
          <p:spPr bwMode="auto">
            <a:xfrm>
              <a:off x="2928" y="2536"/>
              <a:ext cx="1152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施工管理费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1" name="Text Box 28"/>
            <p:cNvSpPr txBox="1">
              <a:spLocks noChangeArrowheads="1"/>
            </p:cNvSpPr>
            <p:nvPr/>
          </p:nvSpPr>
          <p:spPr bwMode="auto">
            <a:xfrm>
              <a:off x="2928" y="2152"/>
              <a:ext cx="1104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公司管理费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2" name="Text Box 29"/>
            <p:cNvSpPr txBox="1">
              <a:spLocks noChangeArrowheads="1"/>
            </p:cNvSpPr>
            <p:nvPr/>
          </p:nvSpPr>
          <p:spPr bwMode="auto">
            <a:xfrm>
              <a:off x="2928" y="3024"/>
              <a:ext cx="720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预备费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3" name="Line 30"/>
            <p:cNvSpPr>
              <a:spLocks noChangeShapeType="1"/>
            </p:cNvSpPr>
            <p:nvPr/>
          </p:nvSpPr>
          <p:spPr bwMode="auto">
            <a:xfrm>
              <a:off x="2544" y="2304"/>
              <a:ext cx="0" cy="81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4" name="Line 31"/>
            <p:cNvSpPr>
              <a:spLocks noChangeShapeType="1"/>
            </p:cNvSpPr>
            <p:nvPr/>
          </p:nvSpPr>
          <p:spPr bwMode="auto">
            <a:xfrm>
              <a:off x="3648" y="3168"/>
              <a:ext cx="52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Text Box 32"/>
            <p:cNvSpPr txBox="1">
              <a:spLocks noChangeArrowheads="1"/>
            </p:cNvSpPr>
            <p:nvPr/>
          </p:nvSpPr>
          <p:spPr bwMode="auto">
            <a:xfrm>
              <a:off x="4320" y="3352"/>
              <a:ext cx="1152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涨价预备费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6" name="Text Box 33"/>
            <p:cNvSpPr txBox="1">
              <a:spLocks noChangeArrowheads="1"/>
            </p:cNvSpPr>
            <p:nvPr/>
          </p:nvSpPr>
          <p:spPr bwMode="auto">
            <a:xfrm>
              <a:off x="4320" y="2736"/>
              <a:ext cx="1152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基本预备费</a:t>
              </a: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7" name="Line 34"/>
            <p:cNvSpPr>
              <a:spLocks noChangeShapeType="1"/>
            </p:cNvSpPr>
            <p:nvPr/>
          </p:nvSpPr>
          <p:spPr bwMode="auto">
            <a:xfrm>
              <a:off x="4176" y="2880"/>
              <a:ext cx="0" cy="62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Line 35"/>
            <p:cNvSpPr>
              <a:spLocks noChangeShapeType="1"/>
            </p:cNvSpPr>
            <p:nvPr/>
          </p:nvSpPr>
          <p:spPr bwMode="auto">
            <a:xfrm>
              <a:off x="4176" y="3504"/>
              <a:ext cx="14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Line 36"/>
            <p:cNvSpPr>
              <a:spLocks noChangeShapeType="1"/>
            </p:cNvSpPr>
            <p:nvPr/>
          </p:nvSpPr>
          <p:spPr bwMode="auto">
            <a:xfrm>
              <a:off x="4176" y="2880"/>
              <a:ext cx="144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Text Box 37"/>
            <p:cNvSpPr txBox="1">
              <a:spLocks noChangeArrowheads="1"/>
            </p:cNvSpPr>
            <p:nvPr/>
          </p:nvSpPr>
          <p:spPr bwMode="auto">
            <a:xfrm>
              <a:off x="1344" y="3792"/>
              <a:ext cx="2928" cy="296"/>
            </a:xfrm>
            <a:prstGeom prst="rect">
              <a:avLst/>
            </a:prstGeom>
            <a:noFill/>
            <a:ln w="12700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楷体_GB2312"/>
                  <a:cs typeface="楷体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699" name="Text Box 38"/>
          <p:cNvSpPr txBox="1">
            <a:spLocks noChangeArrowheads="1"/>
          </p:cNvSpPr>
          <p:nvPr/>
        </p:nvSpPr>
        <p:spPr bwMode="auto">
          <a:xfrm>
            <a:off x="1101725" y="255588"/>
            <a:ext cx="3740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000" b="0">
                <a:latin typeface="Times New Roman" panose="02020603050405020304" pitchFamily="18" charset="0"/>
                <a:ea typeface="宋体" panose="02010600030101010101" pitchFamily="2" charset="-122"/>
              </a:rPr>
              <a:t>项目费用的构成</a:t>
            </a:r>
            <a:endParaRPr lang="zh-CN" altLang="en-US" sz="40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北京万科</a:t>
            </a:r>
            <a:endParaRPr lang="zh-CN" alt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8" t="19444" r="5859" b="17188"/>
          <a:stretch>
            <a:fillRect/>
          </a:stretch>
        </p:blipFill>
        <p:spPr bwMode="auto">
          <a:xfrm>
            <a:off x="0" y="990600"/>
            <a:ext cx="91440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成本发生在不同层面</a:t>
            </a:r>
            <a:endParaRPr lang="zh-CN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3733800" y="1798638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万科总部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3733800" y="29845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北京万科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76200" y="3009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……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1866900" y="29845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深圳万科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 flipH="1">
            <a:off x="711200" y="2265363"/>
            <a:ext cx="3683000" cy="7445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4394200" y="2265363"/>
            <a:ext cx="0" cy="719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4" name="Line 10"/>
          <p:cNvSpPr>
            <a:spLocks noChangeShapeType="1"/>
          </p:cNvSpPr>
          <p:nvPr/>
        </p:nvSpPr>
        <p:spPr bwMode="auto">
          <a:xfrm flipH="1">
            <a:off x="2597150" y="2265363"/>
            <a:ext cx="1797050" cy="7445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2108200" y="4406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假日风景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3733800" y="4406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紫台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5359400" y="4406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四季花城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7035800" y="4406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假日风景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444500" y="4406900"/>
            <a:ext cx="1422400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东第</a:t>
            </a:r>
            <a:endParaRPr kumimoji="0" lang="zh-CN" altLang="en-US" sz="2400">
              <a:ea typeface="宋体" panose="02010600030101010101" pitchFamily="2" charset="-122"/>
            </a:endParaRPr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1244600" y="3451225"/>
            <a:ext cx="3149600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 flipH="1">
            <a:off x="2844800" y="3451225"/>
            <a:ext cx="1549400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4394200" y="3451225"/>
            <a:ext cx="0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3" name="Line 19"/>
          <p:cNvSpPr>
            <a:spLocks noChangeShapeType="1"/>
          </p:cNvSpPr>
          <p:nvPr/>
        </p:nvSpPr>
        <p:spPr bwMode="auto">
          <a:xfrm>
            <a:off x="4394200" y="3451225"/>
            <a:ext cx="1727200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4" name="Line 20"/>
          <p:cNvSpPr>
            <a:spLocks noChangeShapeType="1"/>
          </p:cNvSpPr>
          <p:nvPr/>
        </p:nvSpPr>
        <p:spPr bwMode="auto">
          <a:xfrm>
            <a:off x="4394200" y="3451225"/>
            <a:ext cx="3352800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5" name="Oval 23"/>
          <p:cNvSpPr>
            <a:spLocks noChangeArrowheads="1"/>
          </p:cNvSpPr>
          <p:nvPr/>
        </p:nvSpPr>
        <p:spPr bwMode="auto">
          <a:xfrm>
            <a:off x="1136650" y="5645150"/>
            <a:ext cx="1460500" cy="8699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990000"/>
                </a:solidFill>
                <a:latin typeface="楷体_GB2312"/>
              </a:rPr>
              <a:t>土地成本</a:t>
            </a:r>
            <a:endParaRPr kumimoji="0" lang="zh-CN" altLang="en-US" sz="2000">
              <a:solidFill>
                <a:srgbClr val="990000"/>
              </a:solidFill>
              <a:latin typeface="楷体_GB2312"/>
            </a:endParaRPr>
          </a:p>
        </p:txBody>
      </p:sp>
      <p:sp>
        <p:nvSpPr>
          <p:cNvPr id="31766" name="Oval 24"/>
          <p:cNvSpPr>
            <a:spLocks noChangeArrowheads="1"/>
          </p:cNvSpPr>
          <p:nvPr/>
        </p:nvSpPr>
        <p:spPr bwMode="auto">
          <a:xfrm>
            <a:off x="2844800" y="5645150"/>
            <a:ext cx="1422400" cy="8699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990000"/>
                </a:solidFill>
                <a:latin typeface="楷体_GB2312"/>
              </a:rPr>
              <a:t>建安成本</a:t>
            </a:r>
            <a:endParaRPr kumimoji="0" lang="zh-CN" altLang="en-US" sz="2000">
              <a:solidFill>
                <a:srgbClr val="990000"/>
              </a:solidFill>
              <a:latin typeface="楷体_GB2312"/>
            </a:endParaRPr>
          </a:p>
        </p:txBody>
      </p:sp>
      <p:sp>
        <p:nvSpPr>
          <p:cNvPr id="31767" name="Oval 25"/>
          <p:cNvSpPr>
            <a:spLocks noChangeArrowheads="1"/>
          </p:cNvSpPr>
          <p:nvPr/>
        </p:nvSpPr>
        <p:spPr bwMode="auto">
          <a:xfrm>
            <a:off x="4467225" y="5645150"/>
            <a:ext cx="1784350" cy="8699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990000"/>
                </a:solidFill>
                <a:latin typeface="楷体_GB2312"/>
              </a:rPr>
              <a:t>公共配套</a:t>
            </a:r>
            <a:endParaRPr kumimoji="0" lang="zh-CN" altLang="en-US" sz="2000">
              <a:solidFill>
                <a:srgbClr val="990000"/>
              </a:solidFill>
              <a:latin typeface="楷体_GB231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990000"/>
                </a:solidFill>
                <a:latin typeface="楷体_GB2312"/>
              </a:rPr>
              <a:t>设施成本</a:t>
            </a:r>
            <a:endParaRPr kumimoji="0" lang="zh-CN" altLang="en-US" sz="2000">
              <a:solidFill>
                <a:srgbClr val="990000"/>
              </a:solidFill>
              <a:latin typeface="楷体_GB2312"/>
            </a:endParaRPr>
          </a:p>
        </p:txBody>
      </p:sp>
      <p:sp>
        <p:nvSpPr>
          <p:cNvPr id="31768" name="Line 26"/>
          <p:cNvSpPr>
            <a:spLocks noChangeShapeType="1"/>
          </p:cNvSpPr>
          <p:nvPr/>
        </p:nvSpPr>
        <p:spPr bwMode="auto">
          <a:xfrm flipH="1">
            <a:off x="1866900" y="4873625"/>
            <a:ext cx="2527300" cy="771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9" name="Line 27"/>
          <p:cNvSpPr>
            <a:spLocks noChangeShapeType="1"/>
          </p:cNvSpPr>
          <p:nvPr/>
        </p:nvSpPr>
        <p:spPr bwMode="auto">
          <a:xfrm flipH="1">
            <a:off x="3530600" y="4873625"/>
            <a:ext cx="863600" cy="771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0" name="Line 28"/>
          <p:cNvSpPr>
            <a:spLocks noChangeShapeType="1"/>
          </p:cNvSpPr>
          <p:nvPr/>
        </p:nvSpPr>
        <p:spPr bwMode="auto">
          <a:xfrm>
            <a:off x="4394200" y="4873625"/>
            <a:ext cx="965200" cy="771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1" name="Oval 29"/>
          <p:cNvSpPr>
            <a:spLocks noChangeArrowheads="1"/>
          </p:cNvSpPr>
          <p:nvPr/>
        </p:nvSpPr>
        <p:spPr bwMode="auto">
          <a:xfrm>
            <a:off x="6416675" y="5603875"/>
            <a:ext cx="1784350" cy="8699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990000"/>
                </a:solidFill>
                <a:latin typeface="楷体_GB2312"/>
              </a:rPr>
              <a:t>项目销售费用</a:t>
            </a:r>
            <a:endParaRPr kumimoji="0" lang="zh-CN" altLang="en-US" sz="2000">
              <a:solidFill>
                <a:srgbClr val="990000"/>
              </a:solidFill>
              <a:latin typeface="楷体_GB2312"/>
            </a:endParaRPr>
          </a:p>
        </p:txBody>
      </p:sp>
      <p:sp>
        <p:nvSpPr>
          <p:cNvPr id="31772" name="Line 30"/>
          <p:cNvSpPr>
            <a:spLocks noChangeShapeType="1"/>
          </p:cNvSpPr>
          <p:nvPr/>
        </p:nvSpPr>
        <p:spPr bwMode="auto">
          <a:xfrm>
            <a:off x="4394200" y="4873625"/>
            <a:ext cx="2908300" cy="730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3" name="Oval 31"/>
          <p:cNvSpPr>
            <a:spLocks noChangeArrowheads="1"/>
          </p:cNvSpPr>
          <p:nvPr/>
        </p:nvSpPr>
        <p:spPr bwMode="auto">
          <a:xfrm>
            <a:off x="5699125" y="2679700"/>
            <a:ext cx="1435100" cy="511175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3333FF"/>
                </a:solidFill>
                <a:latin typeface="楷体_GB2312"/>
              </a:rPr>
              <a:t>管理费用</a:t>
            </a:r>
            <a:endParaRPr kumimoji="0" lang="zh-CN" altLang="en-US" sz="2000">
              <a:solidFill>
                <a:srgbClr val="3333FF"/>
              </a:solidFill>
              <a:latin typeface="楷体_GB2312"/>
            </a:endParaRPr>
          </a:p>
        </p:txBody>
      </p:sp>
      <p:sp>
        <p:nvSpPr>
          <p:cNvPr id="31774" name="Oval 32"/>
          <p:cNvSpPr>
            <a:spLocks noChangeArrowheads="1"/>
          </p:cNvSpPr>
          <p:nvPr/>
        </p:nvSpPr>
        <p:spPr bwMode="auto">
          <a:xfrm>
            <a:off x="7197725" y="3009900"/>
            <a:ext cx="1435100" cy="441325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3333FF"/>
                </a:solidFill>
                <a:latin typeface="楷体_GB2312"/>
              </a:rPr>
              <a:t>销售费用</a:t>
            </a:r>
            <a:endParaRPr kumimoji="0" lang="zh-CN" altLang="en-US" sz="2000">
              <a:solidFill>
                <a:srgbClr val="3333FF"/>
              </a:solidFill>
              <a:latin typeface="楷体_GB2312"/>
            </a:endParaRPr>
          </a:p>
        </p:txBody>
      </p:sp>
      <p:sp>
        <p:nvSpPr>
          <p:cNvPr id="31775" name="Oval 33"/>
          <p:cNvSpPr>
            <a:spLocks noChangeArrowheads="1"/>
          </p:cNvSpPr>
          <p:nvPr/>
        </p:nvSpPr>
        <p:spPr bwMode="auto">
          <a:xfrm>
            <a:off x="5762625" y="3302000"/>
            <a:ext cx="1435100" cy="4699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3333FF"/>
                </a:solidFill>
                <a:latin typeface="楷体_GB2312"/>
              </a:rPr>
              <a:t>财务费用</a:t>
            </a:r>
            <a:endParaRPr kumimoji="0" lang="zh-CN" altLang="en-US" sz="2000">
              <a:solidFill>
                <a:srgbClr val="3333FF"/>
              </a:solidFill>
              <a:latin typeface="楷体_GB2312"/>
            </a:endParaRPr>
          </a:p>
        </p:txBody>
      </p:sp>
      <p:sp>
        <p:nvSpPr>
          <p:cNvPr id="31776" name="Line 34"/>
          <p:cNvSpPr>
            <a:spLocks noChangeShapeType="1"/>
          </p:cNvSpPr>
          <p:nvPr/>
        </p:nvSpPr>
        <p:spPr bwMode="auto">
          <a:xfrm flipV="1">
            <a:off x="5156200" y="2984500"/>
            <a:ext cx="542925" cy="241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7" name="Line 35"/>
          <p:cNvSpPr>
            <a:spLocks noChangeShapeType="1"/>
          </p:cNvSpPr>
          <p:nvPr/>
        </p:nvSpPr>
        <p:spPr bwMode="auto">
          <a:xfrm flipV="1">
            <a:off x="5156200" y="3225800"/>
            <a:ext cx="2041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8" name="Line 36"/>
          <p:cNvSpPr>
            <a:spLocks noChangeShapeType="1"/>
          </p:cNvSpPr>
          <p:nvPr/>
        </p:nvSpPr>
        <p:spPr bwMode="auto">
          <a:xfrm>
            <a:off x="5156200" y="3225800"/>
            <a:ext cx="606425" cy="250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79" name="Oval 37"/>
          <p:cNvSpPr>
            <a:spLocks noChangeArrowheads="1"/>
          </p:cNvSpPr>
          <p:nvPr/>
        </p:nvSpPr>
        <p:spPr bwMode="auto">
          <a:xfrm>
            <a:off x="5699125" y="1431925"/>
            <a:ext cx="1435100" cy="511175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8000"/>
                </a:solidFill>
                <a:latin typeface="楷体_GB2312"/>
              </a:rPr>
              <a:t>管理费用</a:t>
            </a:r>
            <a:endParaRPr kumimoji="0" lang="zh-CN" altLang="en-US" sz="2000">
              <a:solidFill>
                <a:srgbClr val="008000"/>
              </a:solidFill>
              <a:latin typeface="楷体_GB2312"/>
            </a:endParaRPr>
          </a:p>
        </p:txBody>
      </p:sp>
      <p:sp>
        <p:nvSpPr>
          <p:cNvPr id="31780" name="Oval 38"/>
          <p:cNvSpPr>
            <a:spLocks noChangeArrowheads="1"/>
          </p:cNvSpPr>
          <p:nvPr/>
        </p:nvSpPr>
        <p:spPr bwMode="auto">
          <a:xfrm>
            <a:off x="7197725" y="1798638"/>
            <a:ext cx="1435100" cy="441325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8000"/>
                </a:solidFill>
                <a:latin typeface="楷体_GB2312"/>
              </a:rPr>
              <a:t>销售费用</a:t>
            </a:r>
            <a:endParaRPr kumimoji="0" lang="zh-CN" altLang="en-US" sz="2000">
              <a:solidFill>
                <a:srgbClr val="008000"/>
              </a:solidFill>
              <a:latin typeface="楷体_GB2312"/>
            </a:endParaRPr>
          </a:p>
        </p:txBody>
      </p:sp>
      <p:sp>
        <p:nvSpPr>
          <p:cNvPr id="31781" name="Oval 39"/>
          <p:cNvSpPr>
            <a:spLocks noChangeArrowheads="1"/>
          </p:cNvSpPr>
          <p:nvPr/>
        </p:nvSpPr>
        <p:spPr bwMode="auto">
          <a:xfrm>
            <a:off x="5762625" y="2093913"/>
            <a:ext cx="1435100" cy="4699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008000"/>
                </a:solidFill>
                <a:latin typeface="楷体_GB2312"/>
              </a:rPr>
              <a:t>财务费用</a:t>
            </a:r>
            <a:endParaRPr kumimoji="0" lang="zh-CN" altLang="en-US" sz="2000">
              <a:solidFill>
                <a:srgbClr val="008000"/>
              </a:solidFill>
              <a:latin typeface="楷体_GB2312"/>
            </a:endParaRPr>
          </a:p>
        </p:txBody>
      </p:sp>
      <p:sp>
        <p:nvSpPr>
          <p:cNvPr id="31782" name="Line 40"/>
          <p:cNvSpPr>
            <a:spLocks noChangeShapeType="1"/>
          </p:cNvSpPr>
          <p:nvPr/>
        </p:nvSpPr>
        <p:spPr bwMode="auto">
          <a:xfrm flipV="1">
            <a:off x="5156200" y="1706563"/>
            <a:ext cx="542925" cy="323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3" name="Line 41"/>
          <p:cNvSpPr>
            <a:spLocks noChangeShapeType="1"/>
          </p:cNvSpPr>
          <p:nvPr/>
        </p:nvSpPr>
        <p:spPr bwMode="auto">
          <a:xfrm flipV="1">
            <a:off x="5156200" y="2030413"/>
            <a:ext cx="2041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4" name="Line 42"/>
          <p:cNvSpPr>
            <a:spLocks noChangeShapeType="1"/>
          </p:cNvSpPr>
          <p:nvPr/>
        </p:nvSpPr>
        <p:spPr bwMode="auto">
          <a:xfrm>
            <a:off x="5156200" y="2043113"/>
            <a:ext cx="606425" cy="222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861425" cy="1181100"/>
          </a:xfrm>
        </p:spPr>
        <p:txBody>
          <a:bodyPr/>
          <a:lstStyle/>
          <a:p>
            <a:pPr eaLnBrk="1" hangingPunct="1"/>
            <a:r>
              <a:rPr lang="zh-CN" altLang="en-US"/>
              <a:t>机会成本</a:t>
            </a:r>
            <a:endParaRPr lang="zh-CN" altLang="en-US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机会成本 </a:t>
            </a:r>
            <a:r>
              <a:rPr lang="en-US" altLang="zh-CN"/>
              <a:t>Opportunity Cost</a:t>
            </a:r>
            <a:endParaRPr lang="zh-CN" altLang="en-US">
              <a:solidFill>
                <a:srgbClr val="99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利用这些资源，还能做哪些其它的事情，最大的收益为何？</a:t>
            </a: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为了做这件事情，我要牺牲掉的最大收益。</a:t>
            </a:r>
            <a:endParaRPr lang="zh-CN" altLang="en-US" sz="2800"/>
          </a:p>
          <a:p>
            <a:pPr eaLnBrk="1" hangingPunct="1">
              <a:lnSpc>
                <a:spcPct val="90000"/>
              </a:lnSpc>
            </a:pPr>
            <a:endParaRPr lang="zh-CN" altLang="en-US" sz="3200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机会成本的例子</a:t>
            </a:r>
            <a:endParaRPr lang="zh-CN" altLang="en-US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课余时间是认真学习，还是出去兼职？</a:t>
            </a: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买了一套房子自住的机会成本就是租金收入</a:t>
            </a: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一块地上是盖写字楼、住宅还是商场？</a:t>
            </a: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r>
              <a:rPr lang="zh-CN" altLang="en-US" sz="2800"/>
              <a:t>读研的机会成本</a:t>
            </a:r>
            <a:r>
              <a:rPr lang="en-US" altLang="zh-CN" sz="2800"/>
              <a:t>(</a:t>
            </a:r>
            <a:r>
              <a:rPr lang="zh-CN" altLang="en-US" sz="2800"/>
              <a:t>放弃工作</a:t>
            </a:r>
            <a:r>
              <a:rPr lang="en-US" altLang="zh-CN" sz="2800"/>
              <a:t>80000</a:t>
            </a:r>
            <a:r>
              <a:rPr lang="zh-CN" altLang="en-US" sz="2800"/>
              <a:t>元</a:t>
            </a:r>
            <a:r>
              <a:rPr lang="en-US" altLang="zh-CN" sz="2800"/>
              <a:t>/</a:t>
            </a:r>
            <a:r>
              <a:rPr lang="zh-CN" altLang="en-US" sz="2800"/>
              <a:t>年</a:t>
            </a:r>
            <a:r>
              <a:rPr lang="en-US" altLang="zh-CN" sz="2800"/>
              <a:t>)</a:t>
            </a:r>
            <a:endParaRPr lang="en-US" altLang="zh-CN" sz="2800"/>
          </a:p>
          <a:p>
            <a:pPr eaLnBrk="1" hangingPunct="1">
              <a:lnSpc>
                <a:spcPct val="90000"/>
              </a:lnSpc>
            </a:pPr>
            <a:endParaRPr lang="zh-CN" altLang="en-US" sz="2800"/>
          </a:p>
          <a:p>
            <a:pPr lvl="1" eaLnBrk="1" hangingPunct="1">
              <a:lnSpc>
                <a:spcPct val="90000"/>
              </a:lnSpc>
            </a:pPr>
            <a:endParaRPr lang="zh-CN" altLang="en-US" sz="2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0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40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沉没成本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0"/>
              <a:t>Sunk cost </a:t>
            </a:r>
            <a:r>
              <a:rPr lang="en-US" altLang="zh-CN" sz="3200"/>
              <a:t>is money that has been spent in the past; when deciding what projects to invest in or continue, you should </a:t>
            </a:r>
            <a:r>
              <a:rPr lang="en-US" altLang="zh-CN" sz="3200" i="1"/>
              <a:t>not</a:t>
            </a:r>
            <a:r>
              <a:rPr lang="en-US" altLang="zh-CN" sz="3200"/>
              <a:t> include sunk costs.</a:t>
            </a:r>
            <a:endParaRPr lang="en-US" altLang="zh-CN" sz="3200"/>
          </a:p>
          <a:p>
            <a:pPr lvl="1" eaLnBrk="1" hangingPunct="1"/>
            <a:r>
              <a:rPr lang="zh-CN" altLang="en-US"/>
              <a:t>已经花费掉，不可能再恢复的成本。无论选择哪种方案都会存在。</a:t>
            </a:r>
            <a:endParaRPr lang="zh-CN" altLang="en-US"/>
          </a:p>
          <a:p>
            <a:pPr lvl="1" eaLnBrk="1" hangingPunct="1"/>
            <a:r>
              <a:rPr lang="zh-CN" altLang="en-US"/>
              <a:t>在方案比选时可忽略（对于所有的备选方案都相同）</a:t>
            </a:r>
            <a:endParaRPr lang="zh-CN" altLang="en-US"/>
          </a:p>
          <a:p>
            <a:pPr lvl="1" eaLnBrk="1" hangingPunct="1">
              <a:buFontTx/>
              <a:buNone/>
            </a:pPr>
            <a:endParaRPr lang="zh-CN" altLang="en-US" sz="360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CASE:</a:t>
            </a:r>
            <a:r>
              <a:rPr lang="zh-CN" altLang="en-US" sz="4000"/>
              <a:t>中国取消与空客约百亿美元飞机订单</a:t>
            </a:r>
            <a:endParaRPr lang="zh-CN" altLang="en-US" sz="400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800" b="0"/>
              <a:t>订金</a:t>
            </a:r>
            <a:r>
              <a:rPr lang="en-US" altLang="zh-CN" sz="2800" b="0"/>
              <a:t>:</a:t>
            </a:r>
            <a:r>
              <a:rPr lang="zh-CN" altLang="en-US" sz="2800" b="0"/>
              <a:t>达赖访问巴黎后，</a:t>
            </a:r>
            <a:r>
              <a:rPr lang="zh-CN" altLang="en-US" sz="2800"/>
              <a:t>东航集团总经理刘绍勇告诉记者，东航将会取消部分空客的飞机订单，并会向制造商作出赔偿。 </a:t>
            </a:r>
            <a:endParaRPr lang="zh-CN" altLang="en-US" sz="2800"/>
          </a:p>
          <a:p>
            <a:pPr lvl="1" eaLnBrk="1" hangingPunct="1"/>
            <a:r>
              <a:rPr lang="zh-CN" altLang="en-US" sz="2800" b="0"/>
              <a:t>企业在进入一个行业或一个市场时的先期投入</a:t>
            </a:r>
            <a:endParaRPr lang="zh-CN" altLang="en-US" sz="2800" b="0"/>
          </a:p>
          <a:p>
            <a:pPr lvl="2" eaLnBrk="1" hangingPunct="1"/>
            <a:r>
              <a:rPr lang="zh-CN" altLang="en-US"/>
              <a:t>中国是空客海外市场的重中之重，为此空客专门为中国在天津建厂 </a:t>
            </a:r>
            <a:r>
              <a:rPr lang="en-US" altLang="zh-CN"/>
              <a:t>. </a:t>
            </a:r>
            <a:r>
              <a:rPr lang="zh-CN" altLang="en-US"/>
              <a:t>空客市场部负责人曾经对外表示，</a:t>
            </a:r>
            <a:r>
              <a:rPr lang="en-US" altLang="zh-CN"/>
              <a:t> </a:t>
            </a:r>
            <a:r>
              <a:rPr lang="zh-CN" altLang="en-US"/>
              <a:t>当年空客预计没法与中国签署出口</a:t>
            </a:r>
            <a:r>
              <a:rPr lang="en-US" altLang="zh-CN"/>
              <a:t>150</a:t>
            </a:r>
            <a:r>
              <a:rPr lang="zh-CN" altLang="en-US"/>
              <a:t>架飞机的合同，空客为此要损失近</a:t>
            </a:r>
            <a:r>
              <a:rPr lang="en-US" altLang="zh-CN"/>
              <a:t>100</a:t>
            </a:r>
            <a:r>
              <a:rPr lang="zh-CN" altLang="en-US"/>
              <a:t>亿美元。</a:t>
            </a:r>
            <a:endParaRPr lang="zh-CN" altLang="en-US"/>
          </a:p>
          <a:p>
            <a:pPr lvl="2" eaLnBrk="1" hangingPunct="1"/>
            <a:r>
              <a:rPr lang="zh-CN" altLang="en-US"/>
              <a:t>美国某纯净水公司</a:t>
            </a:r>
            <a:r>
              <a:rPr lang="en-US" altLang="zh-CN"/>
              <a:t>1990</a:t>
            </a:r>
            <a:r>
              <a:rPr lang="zh-CN" altLang="en-US"/>
              <a:t>年投资</a:t>
            </a:r>
            <a:r>
              <a:rPr lang="en-US" altLang="zh-CN"/>
              <a:t>5</a:t>
            </a:r>
            <a:r>
              <a:rPr lang="zh-CN" altLang="en-US"/>
              <a:t>亿元在上海和天津建纯净水厂后放弃</a:t>
            </a:r>
            <a:endParaRPr lang="zh-CN" altLang="en-US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/>
          <p:cNvSpPr txBox="1">
            <a:spLocks noChangeArrowheads="1"/>
          </p:cNvSpPr>
          <p:nvPr/>
        </p:nvSpPr>
        <p:spPr bwMode="auto">
          <a:xfrm>
            <a:off x="900113" y="549275"/>
            <a:ext cx="57118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4400">
                <a:solidFill>
                  <a:schemeClr val="accent2"/>
                </a:solidFill>
                <a:ea typeface="宋体" panose="02010600030101010101" pitchFamily="2" charset="-122"/>
              </a:rPr>
              <a:t>WHOLE LIFE COSTS</a:t>
            </a:r>
            <a:endParaRPr kumimoji="0" lang="en-GB" altLang="zh-CN" sz="44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6867" name="Object 5"/>
          <p:cNvGraphicFramePr>
            <a:graphicFrameLocks noChangeAspect="1"/>
          </p:cNvGraphicFramePr>
          <p:nvPr/>
        </p:nvGraphicFramePr>
        <p:xfrm>
          <a:off x="381000" y="2057400"/>
          <a:ext cx="30194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2" name="Clip" r:id="rId1" imgW="8322945" imgH="1995805" progId="MS_ClipArt_Gallery.2">
                  <p:embed/>
                </p:oleObj>
              </mc:Choice>
              <mc:Fallback>
                <p:oleObj name="Clip" r:id="rId1" imgW="8322945" imgH="1995805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57400"/>
                        <a:ext cx="301942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Freeform 6"/>
          <p:cNvSpPr/>
          <p:nvPr/>
        </p:nvSpPr>
        <p:spPr bwMode="auto">
          <a:xfrm>
            <a:off x="180975" y="2695575"/>
            <a:ext cx="8186738" cy="265113"/>
          </a:xfrm>
          <a:custGeom>
            <a:avLst/>
            <a:gdLst>
              <a:gd name="T0" fmla="*/ 0 w 5157"/>
              <a:gd name="T1" fmla="*/ 2147483646 h 167"/>
              <a:gd name="T2" fmla="*/ 2147483646 w 5157"/>
              <a:gd name="T3" fmla="*/ 2147483646 h 167"/>
              <a:gd name="T4" fmla="*/ 2147483646 w 5157"/>
              <a:gd name="T5" fmla="*/ 2147483646 h 167"/>
              <a:gd name="T6" fmla="*/ 2147483646 w 5157"/>
              <a:gd name="T7" fmla="*/ 2147483646 h 167"/>
              <a:gd name="T8" fmla="*/ 2147483646 w 5157"/>
              <a:gd name="T9" fmla="*/ 2147483646 h 167"/>
              <a:gd name="T10" fmla="*/ 2147483646 w 5157"/>
              <a:gd name="T11" fmla="*/ 2147483646 h 167"/>
              <a:gd name="T12" fmla="*/ 2147483646 w 5157"/>
              <a:gd name="T13" fmla="*/ 2147483646 h 167"/>
              <a:gd name="T14" fmla="*/ 2147483646 w 5157"/>
              <a:gd name="T15" fmla="*/ 2147483646 h 167"/>
              <a:gd name="T16" fmla="*/ 2147483646 w 5157"/>
              <a:gd name="T17" fmla="*/ 2147483646 h 167"/>
              <a:gd name="T18" fmla="*/ 2147483646 w 5157"/>
              <a:gd name="T19" fmla="*/ 2147483646 h 167"/>
              <a:gd name="T20" fmla="*/ 2147483646 w 5157"/>
              <a:gd name="T21" fmla="*/ 2147483646 h 167"/>
              <a:gd name="T22" fmla="*/ 2147483646 w 5157"/>
              <a:gd name="T23" fmla="*/ 2147483646 h 167"/>
              <a:gd name="T24" fmla="*/ 2147483646 w 5157"/>
              <a:gd name="T25" fmla="*/ 2147483646 h 167"/>
              <a:gd name="T26" fmla="*/ 2147483646 w 5157"/>
              <a:gd name="T27" fmla="*/ 2147483646 h 167"/>
              <a:gd name="T28" fmla="*/ 2147483646 w 5157"/>
              <a:gd name="T29" fmla="*/ 2147483646 h 167"/>
              <a:gd name="T30" fmla="*/ 2147483646 w 5157"/>
              <a:gd name="T31" fmla="*/ 2147483646 h 167"/>
              <a:gd name="T32" fmla="*/ 2147483646 w 5157"/>
              <a:gd name="T33" fmla="*/ 2147483646 h 167"/>
              <a:gd name="T34" fmla="*/ 2147483646 w 5157"/>
              <a:gd name="T35" fmla="*/ 2147483646 h 167"/>
              <a:gd name="T36" fmla="*/ 2147483646 w 5157"/>
              <a:gd name="T37" fmla="*/ 2147483646 h 167"/>
              <a:gd name="T38" fmla="*/ 2147483646 w 5157"/>
              <a:gd name="T39" fmla="*/ 2147483646 h 167"/>
              <a:gd name="T40" fmla="*/ 2147483646 w 5157"/>
              <a:gd name="T41" fmla="*/ 2147483646 h 167"/>
              <a:gd name="T42" fmla="*/ 2147483646 w 5157"/>
              <a:gd name="T43" fmla="*/ 2147483646 h 167"/>
              <a:gd name="T44" fmla="*/ 2147483646 w 5157"/>
              <a:gd name="T45" fmla="*/ 2147483646 h 167"/>
              <a:gd name="T46" fmla="*/ 2147483646 w 5157"/>
              <a:gd name="T47" fmla="*/ 2147483646 h 167"/>
              <a:gd name="T48" fmla="*/ 2147483646 w 5157"/>
              <a:gd name="T49" fmla="*/ 2147483646 h 167"/>
              <a:gd name="T50" fmla="*/ 2147483646 w 5157"/>
              <a:gd name="T51" fmla="*/ 2147483646 h 167"/>
              <a:gd name="T52" fmla="*/ 2147483646 w 5157"/>
              <a:gd name="T53" fmla="*/ 2147483646 h 167"/>
              <a:gd name="T54" fmla="*/ 2147483646 w 5157"/>
              <a:gd name="T55" fmla="*/ 2147483646 h 167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5157"/>
              <a:gd name="T85" fmla="*/ 0 h 167"/>
              <a:gd name="T86" fmla="*/ 5157 w 5157"/>
              <a:gd name="T87" fmla="*/ 167 h 167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5157" h="167">
                <a:moveTo>
                  <a:pt x="0" y="102"/>
                </a:moveTo>
                <a:cubicBezTo>
                  <a:pt x="348" y="119"/>
                  <a:pt x="477" y="132"/>
                  <a:pt x="843" y="119"/>
                </a:cubicBezTo>
                <a:cubicBezTo>
                  <a:pt x="1086" y="124"/>
                  <a:pt x="1330" y="135"/>
                  <a:pt x="1573" y="135"/>
                </a:cubicBezTo>
                <a:cubicBezTo>
                  <a:pt x="2132" y="135"/>
                  <a:pt x="1455" y="123"/>
                  <a:pt x="1735" y="102"/>
                </a:cubicBezTo>
                <a:cubicBezTo>
                  <a:pt x="1864" y="92"/>
                  <a:pt x="1994" y="91"/>
                  <a:pt x="2124" y="86"/>
                </a:cubicBezTo>
                <a:cubicBezTo>
                  <a:pt x="2194" y="63"/>
                  <a:pt x="2251" y="80"/>
                  <a:pt x="2319" y="102"/>
                </a:cubicBezTo>
                <a:cubicBezTo>
                  <a:pt x="2431" y="74"/>
                  <a:pt x="2417" y="68"/>
                  <a:pt x="2546" y="86"/>
                </a:cubicBezTo>
                <a:cubicBezTo>
                  <a:pt x="2696" y="136"/>
                  <a:pt x="2733" y="114"/>
                  <a:pt x="2935" y="102"/>
                </a:cubicBezTo>
                <a:cubicBezTo>
                  <a:pt x="2984" y="108"/>
                  <a:pt x="3032" y="119"/>
                  <a:pt x="3081" y="119"/>
                </a:cubicBezTo>
                <a:cubicBezTo>
                  <a:pt x="3268" y="119"/>
                  <a:pt x="3007" y="68"/>
                  <a:pt x="3227" y="119"/>
                </a:cubicBezTo>
                <a:cubicBezTo>
                  <a:pt x="3270" y="129"/>
                  <a:pt x="3314" y="140"/>
                  <a:pt x="3357" y="151"/>
                </a:cubicBezTo>
                <a:cubicBezTo>
                  <a:pt x="3378" y="156"/>
                  <a:pt x="3421" y="167"/>
                  <a:pt x="3421" y="167"/>
                </a:cubicBezTo>
                <a:cubicBezTo>
                  <a:pt x="3443" y="162"/>
                  <a:pt x="3469" y="165"/>
                  <a:pt x="3486" y="151"/>
                </a:cubicBezTo>
                <a:cubicBezTo>
                  <a:pt x="3500" y="140"/>
                  <a:pt x="3493" y="116"/>
                  <a:pt x="3503" y="102"/>
                </a:cubicBezTo>
                <a:cubicBezTo>
                  <a:pt x="3516" y="83"/>
                  <a:pt x="3535" y="70"/>
                  <a:pt x="3551" y="54"/>
                </a:cubicBezTo>
                <a:cubicBezTo>
                  <a:pt x="3556" y="38"/>
                  <a:pt x="3550" y="7"/>
                  <a:pt x="3567" y="5"/>
                </a:cubicBezTo>
                <a:cubicBezTo>
                  <a:pt x="3601" y="0"/>
                  <a:pt x="3632" y="27"/>
                  <a:pt x="3665" y="38"/>
                </a:cubicBezTo>
                <a:cubicBezTo>
                  <a:pt x="3681" y="43"/>
                  <a:pt x="3713" y="54"/>
                  <a:pt x="3713" y="54"/>
                </a:cubicBezTo>
                <a:cubicBezTo>
                  <a:pt x="3834" y="41"/>
                  <a:pt x="3907" y="42"/>
                  <a:pt x="4022" y="70"/>
                </a:cubicBezTo>
                <a:cubicBezTo>
                  <a:pt x="4070" y="65"/>
                  <a:pt x="4121" y="71"/>
                  <a:pt x="4167" y="54"/>
                </a:cubicBezTo>
                <a:cubicBezTo>
                  <a:pt x="4185" y="47"/>
                  <a:pt x="4181" y="9"/>
                  <a:pt x="4200" y="5"/>
                </a:cubicBezTo>
                <a:cubicBezTo>
                  <a:pt x="4219" y="1"/>
                  <a:pt x="4231" y="31"/>
                  <a:pt x="4249" y="38"/>
                </a:cubicBezTo>
                <a:cubicBezTo>
                  <a:pt x="4305" y="59"/>
                  <a:pt x="4384" y="71"/>
                  <a:pt x="4443" y="86"/>
                </a:cubicBezTo>
                <a:cubicBezTo>
                  <a:pt x="4459" y="81"/>
                  <a:pt x="4477" y="78"/>
                  <a:pt x="4492" y="70"/>
                </a:cubicBezTo>
                <a:cubicBezTo>
                  <a:pt x="4509" y="61"/>
                  <a:pt x="4521" y="39"/>
                  <a:pt x="4540" y="38"/>
                </a:cubicBezTo>
                <a:cubicBezTo>
                  <a:pt x="4594" y="34"/>
                  <a:pt x="4649" y="49"/>
                  <a:pt x="4703" y="54"/>
                </a:cubicBezTo>
                <a:cubicBezTo>
                  <a:pt x="4788" y="111"/>
                  <a:pt x="4825" y="101"/>
                  <a:pt x="4930" y="86"/>
                </a:cubicBezTo>
                <a:cubicBezTo>
                  <a:pt x="5002" y="110"/>
                  <a:pt x="5157" y="78"/>
                  <a:pt x="5157" y="135"/>
                </a:cubicBezTo>
              </a:path>
            </a:pathLst>
          </a:custGeom>
          <a:noFill/>
          <a:ln w="508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69" name="Freeform 7"/>
          <p:cNvSpPr/>
          <p:nvPr/>
        </p:nvSpPr>
        <p:spPr bwMode="auto">
          <a:xfrm>
            <a:off x="2257425" y="1312863"/>
            <a:ext cx="6907213" cy="5494337"/>
          </a:xfrm>
          <a:custGeom>
            <a:avLst/>
            <a:gdLst>
              <a:gd name="T0" fmla="*/ 2147483646 w 4351"/>
              <a:gd name="T1" fmla="*/ 2147483646 h 3461"/>
              <a:gd name="T2" fmla="*/ 2147483646 w 4351"/>
              <a:gd name="T3" fmla="*/ 2147483646 h 3461"/>
              <a:gd name="T4" fmla="*/ 2147483646 w 4351"/>
              <a:gd name="T5" fmla="*/ 2147483646 h 3461"/>
              <a:gd name="T6" fmla="*/ 2147483646 w 4351"/>
              <a:gd name="T7" fmla="*/ 2147483646 h 3461"/>
              <a:gd name="T8" fmla="*/ 2147483646 w 4351"/>
              <a:gd name="T9" fmla="*/ 2147483646 h 3461"/>
              <a:gd name="T10" fmla="*/ 2147483646 w 4351"/>
              <a:gd name="T11" fmla="*/ 2147483646 h 3461"/>
              <a:gd name="T12" fmla="*/ 2147483646 w 4351"/>
              <a:gd name="T13" fmla="*/ 2147483646 h 3461"/>
              <a:gd name="T14" fmla="*/ 2147483646 w 4351"/>
              <a:gd name="T15" fmla="*/ 2147483646 h 3461"/>
              <a:gd name="T16" fmla="*/ 2147483646 w 4351"/>
              <a:gd name="T17" fmla="*/ 2147483646 h 3461"/>
              <a:gd name="T18" fmla="*/ 2147483646 w 4351"/>
              <a:gd name="T19" fmla="*/ 2147483646 h 3461"/>
              <a:gd name="T20" fmla="*/ 2147483646 w 4351"/>
              <a:gd name="T21" fmla="*/ 2147483646 h 3461"/>
              <a:gd name="T22" fmla="*/ 2147483646 w 4351"/>
              <a:gd name="T23" fmla="*/ 2147483646 h 3461"/>
              <a:gd name="T24" fmla="*/ 2147483646 w 4351"/>
              <a:gd name="T25" fmla="*/ 2147483646 h 3461"/>
              <a:gd name="T26" fmla="*/ 2147483646 w 4351"/>
              <a:gd name="T27" fmla="*/ 2147483646 h 3461"/>
              <a:gd name="T28" fmla="*/ 2147483646 w 4351"/>
              <a:gd name="T29" fmla="*/ 2147483646 h 3461"/>
              <a:gd name="T30" fmla="*/ 2147483646 w 4351"/>
              <a:gd name="T31" fmla="*/ 2147483646 h 3461"/>
              <a:gd name="T32" fmla="*/ 2147483646 w 4351"/>
              <a:gd name="T33" fmla="*/ 2147483646 h 3461"/>
              <a:gd name="T34" fmla="*/ 2147483646 w 4351"/>
              <a:gd name="T35" fmla="*/ 2147483646 h 3461"/>
              <a:gd name="T36" fmla="*/ 2147483646 w 4351"/>
              <a:gd name="T37" fmla="*/ 2147483646 h 3461"/>
              <a:gd name="T38" fmla="*/ 2147483646 w 4351"/>
              <a:gd name="T39" fmla="*/ 2147483646 h 3461"/>
              <a:gd name="T40" fmla="*/ 2147483646 w 4351"/>
              <a:gd name="T41" fmla="*/ 2147483646 h 3461"/>
              <a:gd name="T42" fmla="*/ 2147483646 w 4351"/>
              <a:gd name="T43" fmla="*/ 2147483646 h 3461"/>
              <a:gd name="T44" fmla="*/ 2147483646 w 4351"/>
              <a:gd name="T45" fmla="*/ 2147483646 h 3461"/>
              <a:gd name="T46" fmla="*/ 2147483646 w 4351"/>
              <a:gd name="T47" fmla="*/ 2147483646 h 3461"/>
              <a:gd name="T48" fmla="*/ 2147483646 w 4351"/>
              <a:gd name="T49" fmla="*/ 2147483646 h 3461"/>
              <a:gd name="T50" fmla="*/ 2147483646 w 4351"/>
              <a:gd name="T51" fmla="*/ 2147483646 h 3461"/>
              <a:gd name="T52" fmla="*/ 2147483646 w 4351"/>
              <a:gd name="T53" fmla="*/ 2147483646 h 3461"/>
              <a:gd name="T54" fmla="*/ 2147483646 w 4351"/>
              <a:gd name="T55" fmla="*/ 2147483646 h 3461"/>
              <a:gd name="T56" fmla="*/ 2147483646 w 4351"/>
              <a:gd name="T57" fmla="*/ 2147483646 h 3461"/>
              <a:gd name="T58" fmla="*/ 2147483646 w 4351"/>
              <a:gd name="T59" fmla="*/ 2147483646 h 3461"/>
              <a:gd name="T60" fmla="*/ 2147483646 w 4351"/>
              <a:gd name="T61" fmla="*/ 2147483646 h 3461"/>
              <a:gd name="T62" fmla="*/ 2147483646 w 4351"/>
              <a:gd name="T63" fmla="*/ 2147483646 h 3461"/>
              <a:gd name="T64" fmla="*/ 2147483646 w 4351"/>
              <a:gd name="T65" fmla="*/ 2147483646 h 3461"/>
              <a:gd name="T66" fmla="*/ 2147483646 w 4351"/>
              <a:gd name="T67" fmla="*/ 2147483646 h 3461"/>
              <a:gd name="T68" fmla="*/ 2147483646 w 4351"/>
              <a:gd name="T69" fmla="*/ 2147483646 h 3461"/>
              <a:gd name="T70" fmla="*/ 2147483646 w 4351"/>
              <a:gd name="T71" fmla="*/ 2147483646 h 3461"/>
              <a:gd name="T72" fmla="*/ 2147483646 w 4351"/>
              <a:gd name="T73" fmla="*/ 2147483646 h 3461"/>
              <a:gd name="T74" fmla="*/ 2147483646 w 4351"/>
              <a:gd name="T75" fmla="*/ 2147483646 h 3461"/>
              <a:gd name="T76" fmla="*/ 2147483646 w 4351"/>
              <a:gd name="T77" fmla="*/ 0 h 3461"/>
              <a:gd name="T78" fmla="*/ 2147483646 w 4351"/>
              <a:gd name="T79" fmla="*/ 2147483646 h 3461"/>
              <a:gd name="T80" fmla="*/ 2147483646 w 4351"/>
              <a:gd name="T81" fmla="*/ 2147483646 h 3461"/>
              <a:gd name="T82" fmla="*/ 2147483646 w 4351"/>
              <a:gd name="T83" fmla="*/ 2147483646 h 3461"/>
              <a:gd name="T84" fmla="*/ 2147483646 w 4351"/>
              <a:gd name="T85" fmla="*/ 2147483646 h 3461"/>
              <a:gd name="T86" fmla="*/ 2147483646 w 4351"/>
              <a:gd name="T87" fmla="*/ 2147483646 h 3461"/>
              <a:gd name="T88" fmla="*/ 2147483646 w 4351"/>
              <a:gd name="T89" fmla="*/ 2147483646 h 3461"/>
              <a:gd name="T90" fmla="*/ 2147483646 w 4351"/>
              <a:gd name="T91" fmla="*/ 2147483646 h 3461"/>
              <a:gd name="T92" fmla="*/ 2147483646 w 4351"/>
              <a:gd name="T93" fmla="*/ 2147483646 h 3461"/>
              <a:gd name="T94" fmla="*/ 2147483646 w 4351"/>
              <a:gd name="T95" fmla="*/ 2147483646 h 3461"/>
              <a:gd name="T96" fmla="*/ 2147483646 w 4351"/>
              <a:gd name="T97" fmla="*/ 2147483646 h 3461"/>
              <a:gd name="T98" fmla="*/ 2147483646 w 4351"/>
              <a:gd name="T99" fmla="*/ 2147483646 h 3461"/>
              <a:gd name="T100" fmla="*/ 2147483646 w 4351"/>
              <a:gd name="T101" fmla="*/ 2147483646 h 3461"/>
              <a:gd name="T102" fmla="*/ 2147483646 w 4351"/>
              <a:gd name="T103" fmla="*/ 2147483646 h 3461"/>
              <a:gd name="T104" fmla="*/ 2147483646 w 4351"/>
              <a:gd name="T105" fmla="*/ 2147483646 h 3461"/>
              <a:gd name="T106" fmla="*/ 2147483646 w 4351"/>
              <a:gd name="T107" fmla="*/ 2147483646 h 3461"/>
              <a:gd name="T108" fmla="*/ 2147483646 w 4351"/>
              <a:gd name="T109" fmla="*/ 2147483646 h 3461"/>
              <a:gd name="T110" fmla="*/ 2147483646 w 4351"/>
              <a:gd name="T111" fmla="*/ 2147483646 h 3461"/>
              <a:gd name="T112" fmla="*/ 2147483646 w 4351"/>
              <a:gd name="T113" fmla="*/ 2147483646 h 3461"/>
              <a:gd name="T114" fmla="*/ 2147483646 w 4351"/>
              <a:gd name="T115" fmla="*/ 2147483646 h 3461"/>
              <a:gd name="T116" fmla="*/ 2147483646 w 4351"/>
              <a:gd name="T117" fmla="*/ 2147483646 h 3461"/>
              <a:gd name="T118" fmla="*/ 2147483646 w 4351"/>
              <a:gd name="T119" fmla="*/ 2147483646 h 3461"/>
              <a:gd name="T120" fmla="*/ 2147483646 w 4351"/>
              <a:gd name="T121" fmla="*/ 2147483646 h 3461"/>
              <a:gd name="T122" fmla="*/ 2147483646 w 4351"/>
              <a:gd name="T123" fmla="*/ 2147483646 h 3461"/>
              <a:gd name="T124" fmla="*/ 2147483646 w 4351"/>
              <a:gd name="T125" fmla="*/ 2147483646 h 3461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4351"/>
              <a:gd name="T190" fmla="*/ 0 h 3461"/>
              <a:gd name="T191" fmla="*/ 4351 w 4351"/>
              <a:gd name="T192" fmla="*/ 3461 h 3461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4351" h="3461">
                <a:moveTo>
                  <a:pt x="86" y="3179"/>
                </a:moveTo>
                <a:cubicBezTo>
                  <a:pt x="113" y="3152"/>
                  <a:pt x="140" y="3125"/>
                  <a:pt x="167" y="3098"/>
                </a:cubicBezTo>
                <a:cubicBezTo>
                  <a:pt x="179" y="3086"/>
                  <a:pt x="175" y="3065"/>
                  <a:pt x="184" y="3050"/>
                </a:cubicBezTo>
                <a:cubicBezTo>
                  <a:pt x="192" y="3037"/>
                  <a:pt x="205" y="3028"/>
                  <a:pt x="216" y="3017"/>
                </a:cubicBezTo>
                <a:cubicBezTo>
                  <a:pt x="226" y="2965"/>
                  <a:pt x="232" y="2869"/>
                  <a:pt x="265" y="2823"/>
                </a:cubicBezTo>
                <a:cubicBezTo>
                  <a:pt x="283" y="2798"/>
                  <a:pt x="330" y="2758"/>
                  <a:pt x="330" y="2758"/>
                </a:cubicBezTo>
                <a:cubicBezTo>
                  <a:pt x="366" y="2647"/>
                  <a:pt x="371" y="2615"/>
                  <a:pt x="443" y="2531"/>
                </a:cubicBezTo>
                <a:cubicBezTo>
                  <a:pt x="463" y="2508"/>
                  <a:pt x="508" y="2466"/>
                  <a:pt x="508" y="2466"/>
                </a:cubicBezTo>
                <a:cubicBezTo>
                  <a:pt x="513" y="2450"/>
                  <a:pt x="512" y="2429"/>
                  <a:pt x="524" y="2417"/>
                </a:cubicBezTo>
                <a:cubicBezTo>
                  <a:pt x="607" y="2334"/>
                  <a:pt x="546" y="2485"/>
                  <a:pt x="605" y="2352"/>
                </a:cubicBezTo>
                <a:cubicBezTo>
                  <a:pt x="639" y="2276"/>
                  <a:pt x="660" y="2189"/>
                  <a:pt x="686" y="2109"/>
                </a:cubicBezTo>
                <a:cubicBezTo>
                  <a:pt x="722" y="1997"/>
                  <a:pt x="738" y="2040"/>
                  <a:pt x="784" y="1979"/>
                </a:cubicBezTo>
                <a:cubicBezTo>
                  <a:pt x="807" y="1948"/>
                  <a:pt x="821" y="1909"/>
                  <a:pt x="848" y="1882"/>
                </a:cubicBezTo>
                <a:cubicBezTo>
                  <a:pt x="859" y="1871"/>
                  <a:pt x="871" y="1861"/>
                  <a:pt x="881" y="1849"/>
                </a:cubicBezTo>
                <a:cubicBezTo>
                  <a:pt x="893" y="1834"/>
                  <a:pt x="904" y="1818"/>
                  <a:pt x="913" y="1801"/>
                </a:cubicBezTo>
                <a:cubicBezTo>
                  <a:pt x="921" y="1786"/>
                  <a:pt x="920" y="1766"/>
                  <a:pt x="930" y="1752"/>
                </a:cubicBezTo>
                <a:cubicBezTo>
                  <a:pt x="953" y="1722"/>
                  <a:pt x="984" y="1698"/>
                  <a:pt x="1011" y="1671"/>
                </a:cubicBezTo>
                <a:cubicBezTo>
                  <a:pt x="1049" y="1633"/>
                  <a:pt x="1062" y="1570"/>
                  <a:pt x="1092" y="1525"/>
                </a:cubicBezTo>
                <a:cubicBezTo>
                  <a:pt x="1128" y="1344"/>
                  <a:pt x="1001" y="1074"/>
                  <a:pt x="1205" y="1006"/>
                </a:cubicBezTo>
                <a:cubicBezTo>
                  <a:pt x="1216" y="990"/>
                  <a:pt x="1229" y="975"/>
                  <a:pt x="1238" y="957"/>
                </a:cubicBezTo>
                <a:cubicBezTo>
                  <a:pt x="1246" y="942"/>
                  <a:pt x="1241" y="920"/>
                  <a:pt x="1254" y="909"/>
                </a:cubicBezTo>
                <a:cubicBezTo>
                  <a:pt x="1285" y="884"/>
                  <a:pt x="1330" y="888"/>
                  <a:pt x="1367" y="876"/>
                </a:cubicBezTo>
                <a:cubicBezTo>
                  <a:pt x="1378" y="860"/>
                  <a:pt x="1391" y="845"/>
                  <a:pt x="1400" y="827"/>
                </a:cubicBezTo>
                <a:cubicBezTo>
                  <a:pt x="1408" y="812"/>
                  <a:pt x="1404" y="791"/>
                  <a:pt x="1416" y="779"/>
                </a:cubicBezTo>
                <a:cubicBezTo>
                  <a:pt x="1444" y="751"/>
                  <a:pt x="1492" y="756"/>
                  <a:pt x="1530" y="746"/>
                </a:cubicBezTo>
                <a:cubicBezTo>
                  <a:pt x="1580" y="670"/>
                  <a:pt x="1641" y="623"/>
                  <a:pt x="1708" y="568"/>
                </a:cubicBezTo>
                <a:cubicBezTo>
                  <a:pt x="1839" y="460"/>
                  <a:pt x="1681" y="570"/>
                  <a:pt x="1805" y="487"/>
                </a:cubicBezTo>
                <a:cubicBezTo>
                  <a:pt x="1821" y="442"/>
                  <a:pt x="1821" y="417"/>
                  <a:pt x="1870" y="390"/>
                </a:cubicBezTo>
                <a:cubicBezTo>
                  <a:pt x="1900" y="373"/>
                  <a:pt x="1968" y="357"/>
                  <a:pt x="1968" y="357"/>
                </a:cubicBezTo>
                <a:cubicBezTo>
                  <a:pt x="1984" y="346"/>
                  <a:pt x="2001" y="337"/>
                  <a:pt x="2016" y="325"/>
                </a:cubicBezTo>
                <a:cubicBezTo>
                  <a:pt x="2028" y="315"/>
                  <a:pt x="2035" y="299"/>
                  <a:pt x="2049" y="292"/>
                </a:cubicBezTo>
                <a:cubicBezTo>
                  <a:pt x="2079" y="277"/>
                  <a:pt x="2114" y="271"/>
                  <a:pt x="2146" y="260"/>
                </a:cubicBezTo>
                <a:cubicBezTo>
                  <a:pt x="2162" y="255"/>
                  <a:pt x="2195" y="244"/>
                  <a:pt x="2195" y="244"/>
                </a:cubicBezTo>
                <a:cubicBezTo>
                  <a:pt x="2206" y="233"/>
                  <a:pt x="2215" y="221"/>
                  <a:pt x="2227" y="211"/>
                </a:cubicBezTo>
                <a:cubicBezTo>
                  <a:pt x="2242" y="199"/>
                  <a:pt x="2265" y="195"/>
                  <a:pt x="2276" y="179"/>
                </a:cubicBezTo>
                <a:cubicBezTo>
                  <a:pt x="2343" y="78"/>
                  <a:pt x="2215" y="129"/>
                  <a:pt x="2373" y="98"/>
                </a:cubicBezTo>
                <a:cubicBezTo>
                  <a:pt x="2575" y="127"/>
                  <a:pt x="2778" y="131"/>
                  <a:pt x="2973" y="65"/>
                </a:cubicBezTo>
                <a:cubicBezTo>
                  <a:pt x="2991" y="59"/>
                  <a:pt x="3003" y="38"/>
                  <a:pt x="3022" y="33"/>
                </a:cubicBezTo>
                <a:cubicBezTo>
                  <a:pt x="3085" y="16"/>
                  <a:pt x="3216" y="0"/>
                  <a:pt x="3216" y="0"/>
                </a:cubicBezTo>
                <a:cubicBezTo>
                  <a:pt x="3270" y="5"/>
                  <a:pt x="3324" y="8"/>
                  <a:pt x="3378" y="16"/>
                </a:cubicBezTo>
                <a:cubicBezTo>
                  <a:pt x="3395" y="19"/>
                  <a:pt x="3415" y="21"/>
                  <a:pt x="3427" y="33"/>
                </a:cubicBezTo>
                <a:cubicBezTo>
                  <a:pt x="3439" y="45"/>
                  <a:pt x="3433" y="68"/>
                  <a:pt x="3443" y="81"/>
                </a:cubicBezTo>
                <a:cubicBezTo>
                  <a:pt x="3466" y="112"/>
                  <a:pt x="3497" y="135"/>
                  <a:pt x="3524" y="162"/>
                </a:cubicBezTo>
                <a:cubicBezTo>
                  <a:pt x="3535" y="173"/>
                  <a:pt x="3557" y="195"/>
                  <a:pt x="3557" y="195"/>
                </a:cubicBezTo>
                <a:cubicBezTo>
                  <a:pt x="3585" y="280"/>
                  <a:pt x="3582" y="286"/>
                  <a:pt x="3622" y="357"/>
                </a:cubicBezTo>
                <a:cubicBezTo>
                  <a:pt x="3632" y="374"/>
                  <a:pt x="3646" y="388"/>
                  <a:pt x="3654" y="406"/>
                </a:cubicBezTo>
                <a:cubicBezTo>
                  <a:pt x="3668" y="437"/>
                  <a:pt x="3687" y="503"/>
                  <a:pt x="3687" y="503"/>
                </a:cubicBezTo>
                <a:cubicBezTo>
                  <a:pt x="3697" y="668"/>
                  <a:pt x="3684" y="987"/>
                  <a:pt x="3784" y="1136"/>
                </a:cubicBezTo>
                <a:cubicBezTo>
                  <a:pt x="3789" y="1152"/>
                  <a:pt x="3792" y="1169"/>
                  <a:pt x="3800" y="1184"/>
                </a:cubicBezTo>
                <a:cubicBezTo>
                  <a:pt x="3809" y="1202"/>
                  <a:pt x="3825" y="1215"/>
                  <a:pt x="3833" y="1233"/>
                </a:cubicBezTo>
                <a:cubicBezTo>
                  <a:pt x="3866" y="1308"/>
                  <a:pt x="3859" y="1357"/>
                  <a:pt x="3914" y="1411"/>
                </a:cubicBezTo>
                <a:cubicBezTo>
                  <a:pt x="3924" y="1442"/>
                  <a:pt x="3948" y="1517"/>
                  <a:pt x="3962" y="1557"/>
                </a:cubicBezTo>
                <a:cubicBezTo>
                  <a:pt x="3968" y="1573"/>
                  <a:pt x="3979" y="1606"/>
                  <a:pt x="3979" y="1606"/>
                </a:cubicBezTo>
                <a:cubicBezTo>
                  <a:pt x="3998" y="1739"/>
                  <a:pt x="4033" y="1929"/>
                  <a:pt x="4108" y="2044"/>
                </a:cubicBezTo>
                <a:cubicBezTo>
                  <a:pt x="4139" y="2234"/>
                  <a:pt x="4141" y="2220"/>
                  <a:pt x="4141" y="2514"/>
                </a:cubicBezTo>
                <a:cubicBezTo>
                  <a:pt x="4141" y="3213"/>
                  <a:pt x="4351" y="3232"/>
                  <a:pt x="3979" y="3293"/>
                </a:cubicBezTo>
                <a:cubicBezTo>
                  <a:pt x="3809" y="3404"/>
                  <a:pt x="3490" y="3352"/>
                  <a:pt x="3346" y="3358"/>
                </a:cubicBezTo>
                <a:cubicBezTo>
                  <a:pt x="3102" y="3367"/>
                  <a:pt x="3008" y="3375"/>
                  <a:pt x="2778" y="3390"/>
                </a:cubicBezTo>
                <a:cubicBezTo>
                  <a:pt x="2419" y="3461"/>
                  <a:pt x="1963" y="3396"/>
                  <a:pt x="1611" y="3390"/>
                </a:cubicBezTo>
                <a:cubicBezTo>
                  <a:pt x="1205" y="3383"/>
                  <a:pt x="800" y="3379"/>
                  <a:pt x="394" y="3374"/>
                </a:cubicBezTo>
                <a:cubicBezTo>
                  <a:pt x="281" y="3369"/>
                  <a:pt x="166" y="3373"/>
                  <a:pt x="54" y="3358"/>
                </a:cubicBezTo>
                <a:cubicBezTo>
                  <a:pt x="0" y="3351"/>
                  <a:pt x="16" y="3246"/>
                  <a:pt x="38" y="3196"/>
                </a:cubicBezTo>
                <a:cubicBezTo>
                  <a:pt x="45" y="3180"/>
                  <a:pt x="70" y="3185"/>
                  <a:pt x="86" y="3179"/>
                </a:cubicBezTo>
                <a:close/>
              </a:path>
            </a:pathLst>
          </a:custGeom>
          <a:noFill/>
          <a:ln w="857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0" name="Text Box 8"/>
          <p:cNvSpPr txBox="1">
            <a:spLocks noChangeArrowheads="1"/>
          </p:cNvSpPr>
          <p:nvPr/>
        </p:nvSpPr>
        <p:spPr bwMode="auto">
          <a:xfrm>
            <a:off x="3581400" y="1524000"/>
            <a:ext cx="11985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2400">
                <a:solidFill>
                  <a:srgbClr val="FF0066"/>
                </a:solidFill>
                <a:ea typeface="宋体" panose="02010600030101010101" pitchFamily="2" charset="-122"/>
              </a:rPr>
              <a:t>Known</a:t>
            </a:r>
            <a:endParaRPr kumimoji="0" lang="en-GB" altLang="zh-CN" sz="240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2400">
                <a:solidFill>
                  <a:srgbClr val="FF0066"/>
                </a:solidFill>
                <a:ea typeface="宋体" panose="02010600030101010101" pitchFamily="2" charset="-122"/>
              </a:rPr>
              <a:t>Costs</a:t>
            </a:r>
            <a:endParaRPr kumimoji="0" lang="en-GB" altLang="zh-CN" sz="24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71" name="Line 9"/>
          <p:cNvSpPr>
            <a:spLocks noChangeShapeType="1"/>
          </p:cNvSpPr>
          <p:nvPr/>
        </p:nvSpPr>
        <p:spPr bwMode="auto">
          <a:xfrm>
            <a:off x="457200" y="6477000"/>
            <a:ext cx="167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Line 10"/>
          <p:cNvSpPr>
            <a:spLocks noChangeShapeType="1"/>
          </p:cNvSpPr>
          <p:nvPr/>
        </p:nvSpPr>
        <p:spPr bwMode="auto">
          <a:xfrm>
            <a:off x="3352800" y="1219200"/>
            <a:ext cx="0" cy="1600200"/>
          </a:xfrm>
          <a:prstGeom prst="line">
            <a:avLst/>
          </a:prstGeom>
          <a:noFill/>
          <a:ln w="76200">
            <a:solidFill>
              <a:srgbClr val="3366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3" name="Line 11"/>
          <p:cNvSpPr>
            <a:spLocks noChangeShapeType="1"/>
          </p:cNvSpPr>
          <p:nvPr/>
        </p:nvSpPr>
        <p:spPr bwMode="auto">
          <a:xfrm>
            <a:off x="1447800" y="2971800"/>
            <a:ext cx="0" cy="3505200"/>
          </a:xfrm>
          <a:prstGeom prst="line">
            <a:avLst/>
          </a:prstGeom>
          <a:noFill/>
          <a:ln w="76200">
            <a:solidFill>
              <a:srgbClr val="336600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Line 12"/>
          <p:cNvSpPr>
            <a:spLocks noChangeShapeType="1"/>
          </p:cNvSpPr>
          <p:nvPr/>
        </p:nvSpPr>
        <p:spPr bwMode="auto">
          <a:xfrm>
            <a:off x="2971800" y="1219200"/>
            <a:ext cx="449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Text Box 13"/>
          <p:cNvSpPr txBox="1">
            <a:spLocks noChangeArrowheads="1"/>
          </p:cNvSpPr>
          <p:nvPr/>
        </p:nvSpPr>
        <p:spPr bwMode="auto">
          <a:xfrm>
            <a:off x="228600" y="4067175"/>
            <a:ext cx="13001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2400">
                <a:solidFill>
                  <a:srgbClr val="FF0066"/>
                </a:solidFill>
                <a:ea typeface="宋体" panose="02010600030101010101" pitchFamily="2" charset="-122"/>
              </a:rPr>
              <a:t>Hidden </a:t>
            </a:r>
            <a:endParaRPr kumimoji="0" lang="en-GB" altLang="zh-CN" sz="2400">
              <a:solidFill>
                <a:srgbClr val="FF0066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2400">
                <a:solidFill>
                  <a:srgbClr val="FF0066"/>
                </a:solidFill>
                <a:ea typeface="宋体" panose="02010600030101010101" pitchFamily="2" charset="-122"/>
              </a:rPr>
              <a:t>Costs</a:t>
            </a:r>
            <a:endParaRPr kumimoji="0" lang="en-GB" altLang="zh-CN" sz="24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76" name="Text Box 14"/>
          <p:cNvSpPr txBox="1">
            <a:spLocks noChangeArrowheads="1"/>
          </p:cNvSpPr>
          <p:nvPr/>
        </p:nvSpPr>
        <p:spPr bwMode="auto">
          <a:xfrm>
            <a:off x="5257800" y="1905000"/>
            <a:ext cx="2817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1600">
                <a:solidFill>
                  <a:schemeClr val="tx1"/>
                </a:solidFill>
                <a:ea typeface="宋体" panose="02010600030101010101" pitchFamily="2" charset="-122"/>
              </a:rPr>
              <a:t>Price      Engineering Costs</a:t>
            </a:r>
            <a:endParaRPr kumimoji="0" lang="en-GB" altLang="zh-CN" sz="16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6877" name="Text Box 15"/>
          <p:cNvSpPr txBox="1">
            <a:spLocks noChangeArrowheads="1"/>
          </p:cNvSpPr>
          <p:nvPr/>
        </p:nvSpPr>
        <p:spPr bwMode="auto">
          <a:xfrm>
            <a:off x="4876800" y="2286000"/>
            <a:ext cx="33131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1600">
                <a:solidFill>
                  <a:schemeClr val="tx1"/>
                </a:solidFill>
                <a:ea typeface="宋体" panose="02010600030101010101" pitchFamily="2" charset="-122"/>
              </a:rPr>
              <a:t>Construction Costs    Inspection</a:t>
            </a:r>
            <a:endParaRPr kumimoji="0" lang="en-GB" altLang="zh-CN" sz="16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6878" name="Text Box 16"/>
          <p:cNvSpPr txBox="1">
            <a:spLocks noChangeArrowheads="1"/>
          </p:cNvSpPr>
          <p:nvPr/>
        </p:nvSpPr>
        <p:spPr bwMode="auto">
          <a:xfrm>
            <a:off x="4191000" y="2971800"/>
            <a:ext cx="4038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Performance Problems       Safety Costs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79" name="Text Box 17"/>
          <p:cNvSpPr txBox="1">
            <a:spLocks noChangeArrowheads="1"/>
          </p:cNvSpPr>
          <p:nvPr/>
        </p:nvSpPr>
        <p:spPr bwMode="auto">
          <a:xfrm>
            <a:off x="4038600" y="3276600"/>
            <a:ext cx="4049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Customer Dissatisfaction    Spare Parts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0" name="Text Box 18"/>
          <p:cNvSpPr txBox="1">
            <a:spLocks noChangeArrowheads="1"/>
          </p:cNvSpPr>
          <p:nvPr/>
        </p:nvSpPr>
        <p:spPr bwMode="auto">
          <a:xfrm>
            <a:off x="3962400" y="3733800"/>
            <a:ext cx="4391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Duplication of Effort    Debugging      Scrap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1" name="Text Box 19"/>
          <p:cNvSpPr txBox="1">
            <a:spLocks noChangeArrowheads="1"/>
          </p:cNvSpPr>
          <p:nvPr/>
        </p:nvSpPr>
        <p:spPr bwMode="auto">
          <a:xfrm>
            <a:off x="3886200" y="4191000"/>
            <a:ext cx="464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Air Freight          Liability Costs        Insurance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2" name="Text Box 20"/>
          <p:cNvSpPr txBox="1">
            <a:spLocks noChangeArrowheads="1"/>
          </p:cNvSpPr>
          <p:nvPr/>
        </p:nvSpPr>
        <p:spPr bwMode="auto">
          <a:xfrm>
            <a:off x="3581400" y="4572000"/>
            <a:ext cx="5197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Late Delivery Costs   Overtime         Start Up Delays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3" name="Text Box 21"/>
          <p:cNvSpPr txBox="1">
            <a:spLocks noChangeArrowheads="1"/>
          </p:cNvSpPr>
          <p:nvPr/>
        </p:nvSpPr>
        <p:spPr bwMode="auto">
          <a:xfrm>
            <a:off x="3276600" y="5029200"/>
            <a:ext cx="5106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Equipment Shutdown Costs  High Inventory Costs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4" name="Text Box 22"/>
          <p:cNvSpPr txBox="1">
            <a:spLocks noChangeArrowheads="1"/>
          </p:cNvSpPr>
          <p:nvPr/>
        </p:nvSpPr>
        <p:spPr bwMode="auto">
          <a:xfrm>
            <a:off x="2895600" y="5410200"/>
            <a:ext cx="5743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Training Costs  Rework   Maintenance Costs   Paperwork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5" name="Text Box 23"/>
          <p:cNvSpPr txBox="1">
            <a:spLocks noChangeArrowheads="1"/>
          </p:cNvSpPr>
          <p:nvPr/>
        </p:nvSpPr>
        <p:spPr bwMode="auto">
          <a:xfrm>
            <a:off x="2819400" y="5791200"/>
            <a:ext cx="5395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Energy Costs    Stress   Frustration   Operating Costs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6" name="Text Box 24"/>
          <p:cNvSpPr txBox="1">
            <a:spLocks noChangeArrowheads="1"/>
          </p:cNvSpPr>
          <p:nvPr/>
        </p:nvSpPr>
        <p:spPr bwMode="auto">
          <a:xfrm>
            <a:off x="2667000" y="6096000"/>
            <a:ext cx="594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GB" sz="1600">
                <a:solidFill>
                  <a:srgbClr val="FF0066"/>
                </a:solidFill>
                <a:ea typeface="宋体" panose="02010600030101010101" pitchFamily="2" charset="-122"/>
              </a:rPr>
              <a:t> </a:t>
            </a:r>
            <a:r>
              <a:rPr kumimoji="0" lang="en-GB" altLang="zh-CN" sz="1600">
                <a:solidFill>
                  <a:srgbClr val="FF0066"/>
                </a:solidFill>
                <a:ea typeface="宋体" panose="02010600030101010101" pitchFamily="2" charset="-122"/>
              </a:rPr>
              <a:t>Outage Costs   Toxic Emissions   Regulatory Compliance   </a:t>
            </a:r>
            <a:endParaRPr kumimoji="0" lang="en-GB" altLang="zh-CN" sz="1600">
              <a:solidFill>
                <a:srgbClr val="FF0066"/>
              </a:solidFill>
              <a:ea typeface="宋体" panose="02010600030101010101" pitchFamily="2" charset="-122"/>
            </a:endParaRPr>
          </a:p>
        </p:txBody>
      </p:sp>
      <p:sp>
        <p:nvSpPr>
          <p:cNvPr id="36887" name="Freeform 25"/>
          <p:cNvSpPr/>
          <p:nvPr/>
        </p:nvSpPr>
        <p:spPr bwMode="auto">
          <a:xfrm>
            <a:off x="1981200" y="35052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8" name="Freeform 26"/>
          <p:cNvSpPr/>
          <p:nvPr/>
        </p:nvSpPr>
        <p:spPr bwMode="auto">
          <a:xfrm>
            <a:off x="1219200" y="38862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9" name="Freeform 27"/>
          <p:cNvSpPr/>
          <p:nvPr/>
        </p:nvSpPr>
        <p:spPr bwMode="auto">
          <a:xfrm>
            <a:off x="152400" y="50292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0" name="Freeform 28"/>
          <p:cNvSpPr/>
          <p:nvPr/>
        </p:nvSpPr>
        <p:spPr bwMode="auto">
          <a:xfrm>
            <a:off x="1447800" y="45720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1" name="Freeform 29"/>
          <p:cNvSpPr/>
          <p:nvPr/>
        </p:nvSpPr>
        <p:spPr bwMode="auto">
          <a:xfrm>
            <a:off x="2819400" y="32766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2" name="Freeform 30"/>
          <p:cNvSpPr/>
          <p:nvPr/>
        </p:nvSpPr>
        <p:spPr bwMode="auto">
          <a:xfrm>
            <a:off x="2362200" y="41910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3" name="Freeform 31"/>
          <p:cNvSpPr/>
          <p:nvPr/>
        </p:nvSpPr>
        <p:spPr bwMode="auto">
          <a:xfrm>
            <a:off x="1752600" y="51816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4" name="Freeform 32"/>
          <p:cNvSpPr/>
          <p:nvPr/>
        </p:nvSpPr>
        <p:spPr bwMode="auto">
          <a:xfrm>
            <a:off x="533400" y="56388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5" name="Freeform 33"/>
          <p:cNvSpPr/>
          <p:nvPr/>
        </p:nvSpPr>
        <p:spPr bwMode="auto">
          <a:xfrm>
            <a:off x="1752600" y="57912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6" name="Freeform 34"/>
          <p:cNvSpPr/>
          <p:nvPr/>
        </p:nvSpPr>
        <p:spPr bwMode="auto">
          <a:xfrm>
            <a:off x="8229600" y="32004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7" name="Freeform 35"/>
          <p:cNvSpPr/>
          <p:nvPr/>
        </p:nvSpPr>
        <p:spPr bwMode="auto">
          <a:xfrm>
            <a:off x="8229600" y="281940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508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98" name="Freeform 36"/>
          <p:cNvSpPr/>
          <p:nvPr/>
        </p:nvSpPr>
        <p:spPr bwMode="auto">
          <a:xfrm>
            <a:off x="309563" y="3473450"/>
            <a:ext cx="952500" cy="79375"/>
          </a:xfrm>
          <a:custGeom>
            <a:avLst/>
            <a:gdLst>
              <a:gd name="T0" fmla="*/ 0 w 600"/>
              <a:gd name="T1" fmla="*/ 2147483646 h 50"/>
              <a:gd name="T2" fmla="*/ 2147483646 w 600"/>
              <a:gd name="T3" fmla="*/ 2147483646 h 50"/>
              <a:gd name="T4" fmla="*/ 2147483646 w 600"/>
              <a:gd name="T5" fmla="*/ 2147483646 h 50"/>
              <a:gd name="T6" fmla="*/ 2147483646 w 600"/>
              <a:gd name="T7" fmla="*/ 2147483646 h 50"/>
              <a:gd name="T8" fmla="*/ 2147483646 w 600"/>
              <a:gd name="T9" fmla="*/ 2147483646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0"/>
              <a:gd name="T16" fmla="*/ 0 h 50"/>
              <a:gd name="T17" fmla="*/ 600 w 600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0" h="50">
                <a:moveTo>
                  <a:pt x="0" y="34"/>
                </a:moveTo>
                <a:cubicBezTo>
                  <a:pt x="101" y="0"/>
                  <a:pt x="208" y="17"/>
                  <a:pt x="308" y="50"/>
                </a:cubicBezTo>
                <a:cubicBezTo>
                  <a:pt x="346" y="41"/>
                  <a:pt x="382" y="18"/>
                  <a:pt x="421" y="18"/>
                </a:cubicBezTo>
                <a:cubicBezTo>
                  <a:pt x="443" y="18"/>
                  <a:pt x="464" y="32"/>
                  <a:pt x="486" y="34"/>
                </a:cubicBezTo>
                <a:cubicBezTo>
                  <a:pt x="524" y="37"/>
                  <a:pt x="562" y="34"/>
                  <a:pt x="600" y="34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304800" y="0"/>
            <a:ext cx="854075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Life Cycle Costs</a:t>
            </a:r>
            <a:endParaRPr lang="zh-CN" altLang="en-US"/>
          </a:p>
        </p:txBody>
      </p:sp>
      <p:sp>
        <p:nvSpPr>
          <p:cNvPr id="37891" name="Rectangle 5"/>
          <p:cNvSpPr>
            <a:spLocks noGrp="1" noRot="1" noChangeArrowheads="1"/>
          </p:cNvSpPr>
          <p:nvPr>
            <p:ph type="body" idx="1"/>
          </p:nvPr>
        </p:nvSpPr>
        <p:spPr>
          <a:xfrm>
            <a:off x="307975" y="1295400"/>
            <a:ext cx="8540750" cy="3886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Initiation and definition</a:t>
            </a:r>
            <a:endParaRPr lang="en-US" altLang="zh-CN"/>
          </a:p>
          <a:p>
            <a:pPr eaLnBrk="1" hangingPunct="1"/>
            <a:r>
              <a:rPr lang="en-US" altLang="zh-CN"/>
              <a:t>Design</a:t>
            </a:r>
            <a:endParaRPr lang="en-US" altLang="zh-CN"/>
          </a:p>
          <a:p>
            <a:pPr eaLnBrk="1" hangingPunct="1"/>
            <a:r>
              <a:rPr lang="en-US" altLang="zh-CN"/>
              <a:t>Procurement</a:t>
            </a:r>
            <a:endParaRPr lang="en-US" altLang="zh-CN"/>
          </a:p>
          <a:p>
            <a:pPr eaLnBrk="1" hangingPunct="1"/>
            <a:r>
              <a:rPr lang="en-US" altLang="zh-CN"/>
              <a:t>Delivery</a:t>
            </a:r>
            <a:endParaRPr lang="en-US" altLang="zh-CN"/>
          </a:p>
          <a:p>
            <a:pPr eaLnBrk="1" hangingPunct="1"/>
            <a:r>
              <a:rPr lang="en-US" altLang="zh-CN"/>
              <a:t>Operation and maintenance 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Financing cost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endParaRPr lang="en-US" altLang="zh-CN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成本视角</a:t>
            </a: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会计学  </a:t>
            </a:r>
            <a:r>
              <a:rPr lang="en-US" altLang="zh-CN"/>
              <a:t>Accounting</a:t>
            </a:r>
            <a:endParaRPr lang="en-US" altLang="zh-CN"/>
          </a:p>
          <a:p>
            <a:pPr lvl="1" eaLnBrk="1" hangingPunct="1"/>
            <a:r>
              <a:rPr lang="zh-CN" altLang="en-US" sz="2800"/>
              <a:t>主要功能是详细记录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将各项费用和各项生产活动对应起来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“向后看” </a:t>
            </a:r>
            <a:r>
              <a:rPr lang="en-US" altLang="zh-CN" sz="2800"/>
              <a:t>(backward-looking)</a:t>
            </a:r>
            <a:endParaRPr lang="en-US" altLang="zh-CN" sz="2800"/>
          </a:p>
          <a:p>
            <a:pPr lvl="1" eaLnBrk="1" hangingPunct="1"/>
            <a:endParaRPr lang="en-US" altLang="zh-CN" sz="2800"/>
          </a:p>
          <a:p>
            <a:pPr eaLnBrk="1" hangingPunct="1"/>
            <a:r>
              <a:rPr lang="zh-CN" altLang="en-US"/>
              <a:t>工程经济学  </a:t>
            </a:r>
            <a:r>
              <a:rPr lang="en-US" altLang="zh-CN"/>
              <a:t>Engineering Economics</a:t>
            </a:r>
            <a:endParaRPr lang="en-US" altLang="zh-CN"/>
          </a:p>
          <a:p>
            <a:pPr lvl="1" eaLnBrk="1" hangingPunct="1"/>
            <a:r>
              <a:rPr lang="zh-CN" altLang="en-US" sz="2800"/>
              <a:t>对项目未来的成本进行预测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利用预测的成本和收益进行项目可行性评价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“向前看” </a:t>
            </a:r>
            <a:r>
              <a:rPr lang="en-US" altLang="zh-CN" sz="2800"/>
              <a:t>(forward-looking)</a:t>
            </a:r>
            <a:endParaRPr lang="en-US" altLang="zh-CN" sz="280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会计学中的成本</a:t>
            </a: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每一个公司或机构，都会有某种会计系统来详细记录</a:t>
            </a:r>
            <a:r>
              <a:rPr lang="zh-CN" altLang="en-US" sz="3200" u="sng"/>
              <a:t>已经发生的</a:t>
            </a:r>
            <a:r>
              <a:rPr lang="zh-CN" altLang="en-US" sz="3200"/>
              <a:t>各项经济活动的成本和费用</a:t>
            </a:r>
            <a:endParaRPr lang="zh-CN" altLang="en-US" sz="3200"/>
          </a:p>
          <a:p>
            <a:pPr lvl="1" eaLnBrk="1" hangingPunct="1"/>
            <a:r>
              <a:rPr lang="zh-CN" altLang="en-US" sz="2600"/>
              <a:t>标准的会计准则，以增加会计信息的可信性和可比性</a:t>
            </a:r>
            <a:endParaRPr lang="zh-CN" altLang="en-US" sz="2600"/>
          </a:p>
          <a:p>
            <a:pPr lvl="2" eaLnBrk="1" hangingPunct="1"/>
            <a:r>
              <a:rPr lang="zh-CN" altLang="en-US" sz="2200"/>
              <a:t>投资者判断企业绩效的“尺子”</a:t>
            </a:r>
            <a:endParaRPr lang="zh-CN" altLang="en-US" sz="2200"/>
          </a:p>
          <a:p>
            <a:pPr lvl="2" eaLnBrk="1" hangingPunct="1"/>
            <a:r>
              <a:rPr lang="zh-CN" altLang="en-US" sz="2200"/>
              <a:t>上市公司信息公开透明的基础，公司股东和管理者通过阅读会计报表来了解公司经营情况</a:t>
            </a:r>
            <a:endParaRPr lang="zh-CN" altLang="en-US" sz="2200"/>
          </a:p>
          <a:p>
            <a:pPr lvl="1" eaLnBrk="1" hangingPunct="1"/>
            <a:endParaRPr lang="zh-CN" altLang="en-US" sz="2600"/>
          </a:p>
          <a:p>
            <a:pPr lvl="1" eaLnBrk="1" hangingPunct="1"/>
            <a:r>
              <a:rPr lang="zh-CN" altLang="en-US" sz="2600"/>
              <a:t>每项成本和费用都和某项经济活动相关联，通常有数量和单价</a:t>
            </a:r>
            <a:endParaRPr lang="zh-CN" altLang="en-US" sz="2600"/>
          </a:p>
          <a:p>
            <a:pPr lvl="1" eaLnBrk="1" hangingPunct="1"/>
            <a:endParaRPr lang="zh-CN" altLang="en-US" sz="2600"/>
          </a:p>
          <a:p>
            <a:pPr eaLnBrk="1" hangingPunct="1"/>
            <a:endParaRPr lang="zh-CN" altLang="en-US" sz="2800"/>
          </a:p>
          <a:p>
            <a:pPr lvl="1" eaLnBrk="1" hangingPunct="1"/>
            <a:endParaRPr lang="zh-CN" altLang="en-US" sz="240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万科Ａ</a:t>
            </a:r>
            <a:r>
              <a:rPr lang="en-US" altLang="zh-CN" sz="4000"/>
              <a:t>(000002):2007</a:t>
            </a:r>
            <a:r>
              <a:rPr lang="zh-CN" altLang="en-US" sz="4000"/>
              <a:t>年半年度报告</a:t>
            </a:r>
            <a:endParaRPr lang="zh-CN" altLang="en-US" sz="400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3" t="15799" r="25000" b="19444"/>
          <a:stretch>
            <a:fillRect/>
          </a:stretch>
        </p:blipFill>
        <p:spPr bwMode="auto">
          <a:xfrm>
            <a:off x="190500" y="1193800"/>
            <a:ext cx="8623300" cy="570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工程经济学中的成本</a:t>
            </a: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工程师和经济学家需要考察</a:t>
            </a:r>
            <a:r>
              <a:rPr lang="zh-CN" altLang="en-US" u="sng"/>
              <a:t>还未实施</a:t>
            </a:r>
            <a:r>
              <a:rPr lang="zh-CN" altLang="en-US"/>
              <a:t>的工程经济活动的不同方案的成本和收益，从而进行决策</a:t>
            </a:r>
            <a:endParaRPr lang="zh-CN" altLang="en-US"/>
          </a:p>
          <a:p>
            <a:pPr lvl="1" eaLnBrk="1" hangingPunct="1"/>
            <a:r>
              <a:rPr lang="zh-CN" altLang="en-US" sz="2800"/>
              <a:t>历史的成本和绩效作为参考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对未来可能发生的成本和费用进行估计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选择成本最低</a:t>
            </a:r>
            <a:r>
              <a:rPr lang="en-US" altLang="zh-CN" sz="2800"/>
              <a:t>/</a:t>
            </a:r>
            <a:r>
              <a:rPr lang="zh-CN" altLang="en-US" sz="2800"/>
              <a:t>收益最高的方案</a:t>
            </a:r>
            <a:endParaRPr lang="zh-CN" altLang="en-US" sz="2800"/>
          </a:p>
          <a:p>
            <a:pPr lvl="1" eaLnBrk="1" hangingPunct="1"/>
            <a:r>
              <a:rPr lang="zh-CN" altLang="en-US" sz="2800"/>
              <a:t>尽可能地利用先进的技术和组织方式来降低成本</a:t>
            </a:r>
            <a:endParaRPr lang="zh-CN" altLang="en-US" sz="280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“会计师”与“经济学家”</a:t>
            </a:r>
            <a:endParaRPr lang="en-US" altLang="zh-CN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会计人员喜欢回顾企业的财务状况，因此他们必须记录资产和负债，对以往经济活动作出评价。</a:t>
            </a:r>
            <a:endParaRPr lang="zh-CN" altLang="en-US" sz="3200"/>
          </a:p>
          <a:p>
            <a:pPr eaLnBrk="1" hangingPunct="1"/>
            <a:endParaRPr lang="zh-CN" altLang="en-US" sz="3200"/>
          </a:p>
          <a:p>
            <a:pPr eaLnBrk="1" hangingPunct="1"/>
            <a:r>
              <a:rPr lang="zh-CN" altLang="en-US" sz="3200"/>
              <a:t>经济学家（以及企业的管理者）注意企业的前景，所关心的是将来成本预计是多少，以及企业如何通过重组资源来降低生产成本并提高企业利润率。</a:t>
            </a:r>
            <a:endParaRPr lang="zh-CN" altLang="en-US" sz="320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131" name="Rectangle 4"/>
          <p:cNvSpPr>
            <a:spLocks noChangeArrowheads="1"/>
          </p:cNvSpPr>
          <p:nvPr/>
        </p:nvSpPr>
        <p:spPr bwMode="auto">
          <a:xfrm>
            <a:off x="282575" y="12700"/>
            <a:ext cx="8178800" cy="11811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>
                <a:solidFill>
                  <a:srgbClr val="990000"/>
                </a:solidFill>
              </a:rPr>
              <a:t>一家制造企业的模拟“资产负债表”</a:t>
            </a:r>
            <a:endParaRPr kumimoji="0" lang="zh-CN" altLang="en-US" sz="4000">
              <a:solidFill>
                <a:srgbClr val="990000"/>
              </a:solidFill>
            </a:endParaRPr>
          </a:p>
        </p:txBody>
      </p:sp>
      <p:graphicFrame>
        <p:nvGraphicFramePr>
          <p:cNvPr id="526382" name="Group 46"/>
          <p:cNvGraphicFramePr>
            <a:graphicFrameLocks noGrp="1"/>
          </p:cNvGraphicFramePr>
          <p:nvPr/>
        </p:nvGraphicFramePr>
        <p:xfrm>
          <a:off x="546100" y="1371600"/>
          <a:ext cx="4648200" cy="4816479"/>
        </p:xfrm>
        <a:graphic>
          <a:graphicData uri="http://schemas.openxmlformats.org/drawingml/2006/table">
            <a:tbl>
              <a:tblPr/>
              <a:tblGrid>
                <a:gridCol w="4648200"/>
              </a:tblGrid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负债和所有者权益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负债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银行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贷款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银行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贷款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15,000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    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发放公司债券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应付账款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380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负债总计      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33,380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所有者权益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股东权益  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18,000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留存收益    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2,370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156" name="Text Box 47"/>
          <p:cNvSpPr txBox="1">
            <a:spLocks noChangeArrowheads="1"/>
          </p:cNvSpPr>
          <p:nvPr/>
        </p:nvSpPr>
        <p:spPr bwMode="auto">
          <a:xfrm>
            <a:off x="5661025" y="1658938"/>
            <a:ext cx="3248025" cy="192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8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该企业资产</a:t>
            </a:r>
            <a:endParaRPr lang="zh-CN" altLang="en-US" sz="480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48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为多少</a:t>
            </a:r>
            <a:r>
              <a:rPr lang="en-US" altLang="zh-CN" sz="48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en-US" altLang="zh-CN" sz="480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会计学中的基本名词 </a:t>
            </a:r>
            <a:r>
              <a:rPr lang="en-US" altLang="zh-CN"/>
              <a:t>(1)</a:t>
            </a:r>
            <a:br>
              <a:rPr lang="en-US" altLang="zh-CN"/>
            </a:br>
            <a:endParaRPr lang="zh-CN" altLang="en-US"/>
          </a:p>
        </p:txBody>
      </p:sp>
      <p:sp>
        <p:nvSpPr>
          <p:cNvPr id="4915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346200"/>
            <a:ext cx="6400800" cy="4959350"/>
          </a:xfrm>
        </p:spPr>
        <p:txBody>
          <a:bodyPr/>
          <a:lstStyle/>
          <a:p>
            <a:pPr eaLnBrk="1" hangingPunct="1"/>
            <a:r>
              <a:rPr lang="zh-CN" altLang="en-US"/>
              <a:t>表征存量的指标</a:t>
            </a:r>
            <a:endParaRPr lang="zh-CN" altLang="en-US"/>
          </a:p>
          <a:p>
            <a:pPr lvl="1" eaLnBrk="1" hangingPunct="1"/>
            <a:r>
              <a:rPr lang="zh-CN" altLang="en-US"/>
              <a:t>资产</a:t>
            </a:r>
            <a:endParaRPr lang="zh-CN" altLang="en-US"/>
          </a:p>
          <a:p>
            <a:pPr lvl="2" eaLnBrk="1" hangingPunct="1"/>
            <a:r>
              <a:rPr lang="zh-CN" altLang="en-US"/>
              <a:t>能够给企业持续带来利益的经济资源</a:t>
            </a:r>
            <a:endParaRPr lang="zh-CN" altLang="en-US"/>
          </a:p>
          <a:p>
            <a:pPr lvl="2" eaLnBrk="1" hangingPunct="1"/>
            <a:r>
              <a:rPr lang="zh-CN" altLang="en-US"/>
              <a:t>如：土地、建筑物、机械设备</a:t>
            </a:r>
            <a:endParaRPr lang="zh-CN" altLang="en-US"/>
          </a:p>
          <a:p>
            <a:pPr lvl="1" eaLnBrk="1" hangingPunct="1"/>
            <a:r>
              <a:rPr lang="zh-CN" altLang="en-US"/>
              <a:t>负债</a:t>
            </a:r>
            <a:endParaRPr lang="zh-CN" altLang="en-US"/>
          </a:p>
          <a:p>
            <a:pPr lvl="2" eaLnBrk="1" hangingPunct="1"/>
            <a:r>
              <a:rPr lang="zh-CN" altLang="en-US"/>
              <a:t>企业的债务</a:t>
            </a:r>
            <a:endParaRPr lang="zh-CN" altLang="en-US"/>
          </a:p>
          <a:p>
            <a:pPr lvl="1" eaLnBrk="1" hangingPunct="1"/>
            <a:r>
              <a:rPr lang="zh-CN" altLang="en-US"/>
              <a:t>所有者权益</a:t>
            </a:r>
            <a:endParaRPr lang="zh-CN" altLang="en-US"/>
          </a:p>
          <a:p>
            <a:pPr lvl="2" eaLnBrk="1" hangingPunct="1"/>
            <a:r>
              <a:rPr lang="zh-CN" altLang="en-US"/>
              <a:t>所有者对企业资产拥有的权利</a:t>
            </a:r>
            <a:endParaRPr lang="zh-CN" altLang="en-US"/>
          </a:p>
          <a:p>
            <a:pPr eaLnBrk="1" hangingPunct="1"/>
            <a:endParaRPr lang="zh-CN" altLang="en-US" sz="2400"/>
          </a:p>
        </p:txBody>
      </p:sp>
      <p:sp>
        <p:nvSpPr>
          <p:cNvPr id="49156" name="Rectangle 6"/>
          <p:cNvSpPr>
            <a:spLocks noChangeArrowheads="1"/>
          </p:cNvSpPr>
          <p:nvPr/>
        </p:nvSpPr>
        <p:spPr bwMode="auto">
          <a:xfrm>
            <a:off x="6400800" y="3924300"/>
            <a:ext cx="552450" cy="2381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 b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7" name="Rectangle 7"/>
          <p:cNvSpPr>
            <a:spLocks noChangeArrowheads="1"/>
          </p:cNvSpPr>
          <p:nvPr/>
        </p:nvSpPr>
        <p:spPr bwMode="auto">
          <a:xfrm>
            <a:off x="7410450" y="3924300"/>
            <a:ext cx="552450" cy="16954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 b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8" name="Rectangle 8"/>
          <p:cNvSpPr>
            <a:spLocks noChangeArrowheads="1"/>
          </p:cNvSpPr>
          <p:nvPr/>
        </p:nvSpPr>
        <p:spPr bwMode="auto">
          <a:xfrm>
            <a:off x="7410450" y="5619750"/>
            <a:ext cx="552450" cy="6858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 b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9" name="Text Box 9"/>
          <p:cNvSpPr txBox="1">
            <a:spLocks noChangeArrowheads="1"/>
          </p:cNvSpPr>
          <p:nvPr/>
        </p:nvSpPr>
        <p:spPr bwMode="auto">
          <a:xfrm>
            <a:off x="6248400" y="3352800"/>
            <a:ext cx="93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 b="0">
                <a:ea typeface="宋体" panose="02010600030101010101" pitchFamily="2" charset="-122"/>
              </a:rPr>
              <a:t>资产</a:t>
            </a:r>
            <a:endParaRPr kumimoji="0"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49160" name="Text Box 10"/>
          <p:cNvSpPr txBox="1">
            <a:spLocks noChangeArrowheads="1"/>
          </p:cNvSpPr>
          <p:nvPr/>
        </p:nvSpPr>
        <p:spPr bwMode="auto">
          <a:xfrm>
            <a:off x="7315200" y="3352800"/>
            <a:ext cx="93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 b="0">
                <a:ea typeface="宋体" panose="02010600030101010101" pitchFamily="2" charset="-122"/>
              </a:rPr>
              <a:t>负债</a:t>
            </a:r>
            <a:endParaRPr kumimoji="0" lang="zh-CN" altLang="en-US" sz="2400" b="0">
              <a:ea typeface="宋体" panose="02010600030101010101" pitchFamily="2" charset="-122"/>
            </a:endParaRPr>
          </a:p>
        </p:txBody>
      </p:sp>
      <p:sp>
        <p:nvSpPr>
          <p:cNvPr id="49161" name="Text Box 11"/>
          <p:cNvSpPr txBox="1">
            <a:spLocks noChangeArrowheads="1"/>
          </p:cNvSpPr>
          <p:nvPr/>
        </p:nvSpPr>
        <p:spPr bwMode="auto">
          <a:xfrm>
            <a:off x="7934325" y="5619750"/>
            <a:ext cx="12096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 b="0">
                <a:ea typeface="宋体" panose="02010600030101010101" pitchFamily="2" charset="-122"/>
              </a:rPr>
              <a:t>所有者权益</a:t>
            </a:r>
            <a:endParaRPr kumimoji="0" lang="zh-CN" altLang="en-US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一家制造企业的模拟“资产负债表”</a:t>
            </a:r>
            <a:endParaRPr lang="zh-CN" altLang="en-US" sz="4000"/>
          </a:p>
        </p:txBody>
      </p:sp>
      <p:graphicFrame>
        <p:nvGraphicFramePr>
          <p:cNvPr id="472174" name="Group 110"/>
          <p:cNvGraphicFramePr>
            <a:graphicFrameLocks noGrp="1"/>
          </p:cNvGraphicFramePr>
          <p:nvPr>
            <p:ph idx="1"/>
          </p:nvPr>
        </p:nvGraphicFramePr>
        <p:xfrm>
          <a:off x="282575" y="1511300"/>
          <a:ext cx="8683625" cy="4694239"/>
        </p:xfrm>
        <a:graphic>
          <a:graphicData uri="http://schemas.openxmlformats.org/drawingml/2006/table">
            <a:tbl>
              <a:tblPr/>
              <a:tblGrid>
                <a:gridCol w="4476750"/>
                <a:gridCol w="4206875"/>
              </a:tblGrid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资产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负债和所有者权益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银行存款  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负债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土地使用权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递延资产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) 17,000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银行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贷款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办公楼及附属设备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银行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贷款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15,000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    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厂房及附属设备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发放公司债券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产品流水线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              2,000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   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应付账款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380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产品专利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无形资产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)      8,000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 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负债总计      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33,380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存货            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300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所有者权益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应收账款     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450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股东权益               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18,000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留存收益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2,370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资产总计                           </a:t>
                      </a: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53750</a:t>
                      </a: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负债与所有者权益合计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53750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万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800000"/>
                </a:solidFill>
              </a:rPr>
              <a:t>三峡总公司资产</a:t>
            </a:r>
            <a:endParaRPr lang="zh-CN" altLang="en-US">
              <a:solidFill>
                <a:srgbClr val="800000"/>
              </a:solidFill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0">
                <a:solidFill>
                  <a:srgbClr val="0000FF"/>
                </a:solidFill>
              </a:rPr>
              <a:t>三峡总公司</a:t>
            </a:r>
            <a:r>
              <a:rPr lang="en-US" altLang="zh-CN" b="0">
                <a:solidFill>
                  <a:srgbClr val="0000FF"/>
                </a:solidFill>
              </a:rPr>
              <a:t>1993</a:t>
            </a:r>
            <a:r>
              <a:rPr lang="zh-CN" altLang="en-US" b="0">
                <a:solidFill>
                  <a:srgbClr val="0000FF"/>
                </a:solidFill>
              </a:rPr>
              <a:t>年成立</a:t>
            </a:r>
            <a:r>
              <a:rPr lang="en-US" altLang="zh-CN" b="0">
                <a:solidFill>
                  <a:srgbClr val="0000FF"/>
                </a:solidFill>
              </a:rPr>
              <a:t>, </a:t>
            </a:r>
            <a:r>
              <a:rPr lang="zh-CN" altLang="en-US" b="0">
                <a:solidFill>
                  <a:srgbClr val="0000FF"/>
                </a:solidFill>
              </a:rPr>
              <a:t>注册资本金</a:t>
            </a:r>
            <a:r>
              <a:rPr lang="en-US" altLang="zh-CN" b="0">
                <a:solidFill>
                  <a:srgbClr val="0000FF"/>
                </a:solidFill>
              </a:rPr>
              <a:t>39.36</a:t>
            </a:r>
            <a:r>
              <a:rPr lang="zh-CN" altLang="en-US" b="0">
                <a:solidFill>
                  <a:srgbClr val="0000FF"/>
                </a:solidFill>
              </a:rPr>
              <a:t>亿元。 </a:t>
            </a:r>
            <a:endParaRPr lang="zh-CN" altLang="en-US" b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b="0">
                <a:solidFill>
                  <a:srgbClr val="0000FF"/>
                </a:solidFill>
              </a:rPr>
              <a:t>至</a:t>
            </a:r>
            <a:r>
              <a:rPr lang="en-US" altLang="zh-CN" b="0">
                <a:solidFill>
                  <a:srgbClr val="0000FF"/>
                </a:solidFill>
              </a:rPr>
              <a:t>截止2009年12月31日，集团资产总额</a:t>
            </a:r>
            <a:r>
              <a:rPr lang="en-US" altLang="zh-CN">
                <a:solidFill>
                  <a:srgbClr val="FF0000"/>
                </a:solidFill>
              </a:rPr>
              <a:t>2810</a:t>
            </a:r>
            <a:r>
              <a:rPr lang="en-US" altLang="zh-CN" b="0">
                <a:solidFill>
                  <a:srgbClr val="0000FF"/>
                </a:solidFill>
              </a:rPr>
              <a:t>亿元，</a:t>
            </a:r>
            <a:r>
              <a:rPr lang="zh-CN" altLang="en-US" b="0">
                <a:solidFill>
                  <a:srgbClr val="0000FF"/>
                </a:solidFill>
              </a:rPr>
              <a:t>净资产</a:t>
            </a:r>
            <a:r>
              <a:rPr lang="en-US" altLang="zh-CN">
                <a:solidFill>
                  <a:srgbClr val="FF0000"/>
                </a:solidFill>
              </a:rPr>
              <a:t>1699</a:t>
            </a:r>
            <a:r>
              <a:rPr lang="en-US" altLang="zh-CN" b="0">
                <a:solidFill>
                  <a:srgbClr val="0000FF"/>
                </a:solidFill>
              </a:rPr>
              <a:t>亿元</a:t>
            </a:r>
            <a:r>
              <a:rPr lang="zh-CN" altLang="en-US" b="0">
                <a:solidFill>
                  <a:srgbClr val="0000FF"/>
                </a:solidFill>
              </a:rPr>
              <a:t>。</a:t>
            </a:r>
            <a:endParaRPr lang="en-US" altLang="zh-CN" b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b="0">
                <a:solidFill>
                  <a:srgbClr val="0000FF"/>
                </a:solidFill>
              </a:rPr>
              <a:t>至</a:t>
            </a:r>
            <a:r>
              <a:rPr lang="en-US" altLang="zh-CN" b="0">
                <a:solidFill>
                  <a:srgbClr val="0000FF"/>
                </a:solidFill>
              </a:rPr>
              <a:t>截止2012年12月31日，集团资产总额</a:t>
            </a:r>
            <a:r>
              <a:rPr lang="en-US" altLang="zh-CN">
                <a:solidFill>
                  <a:srgbClr val="FF0000"/>
                </a:solidFill>
              </a:rPr>
              <a:t>3749</a:t>
            </a:r>
            <a:r>
              <a:rPr lang="en-US" altLang="zh-CN" b="0">
                <a:solidFill>
                  <a:srgbClr val="0000FF"/>
                </a:solidFill>
              </a:rPr>
              <a:t>亿元，</a:t>
            </a:r>
            <a:r>
              <a:rPr lang="zh-CN" altLang="en-US" b="0">
                <a:solidFill>
                  <a:srgbClr val="0000FF"/>
                </a:solidFill>
              </a:rPr>
              <a:t>净资产</a:t>
            </a:r>
            <a:r>
              <a:rPr lang="en-US" altLang="zh-CN">
                <a:solidFill>
                  <a:srgbClr val="FF0000"/>
                </a:solidFill>
              </a:rPr>
              <a:t>2250</a:t>
            </a:r>
            <a:r>
              <a:rPr lang="en-US" altLang="zh-CN" b="0">
                <a:solidFill>
                  <a:srgbClr val="0000FF"/>
                </a:solidFill>
              </a:rPr>
              <a:t>亿元</a:t>
            </a:r>
            <a:r>
              <a:rPr lang="zh-CN" altLang="en-US" b="0">
                <a:solidFill>
                  <a:srgbClr val="0000FF"/>
                </a:solidFill>
              </a:rPr>
              <a:t>。</a:t>
            </a:r>
            <a:endParaRPr lang="en-US" altLang="zh-CN" b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会计学中的基本名词 </a:t>
            </a:r>
            <a:r>
              <a:rPr lang="en-US" altLang="zh-CN"/>
              <a:t>(2)</a:t>
            </a:r>
            <a:endParaRPr lang="zh-CN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46200"/>
            <a:ext cx="9144000" cy="4997450"/>
          </a:xfrm>
        </p:spPr>
        <p:txBody>
          <a:bodyPr/>
          <a:lstStyle/>
          <a:p>
            <a:pPr eaLnBrk="1" hangingPunct="1"/>
            <a:r>
              <a:rPr lang="zh-CN" altLang="en-US"/>
              <a:t>表征流量的指标</a:t>
            </a:r>
            <a:endParaRPr lang="zh-CN" altLang="en-US"/>
          </a:p>
          <a:p>
            <a:pPr lvl="1" eaLnBrk="1" hangingPunct="1"/>
            <a:r>
              <a:rPr lang="en-US" altLang="zh-CN" sz="2800"/>
              <a:t>1. </a:t>
            </a:r>
            <a:r>
              <a:rPr lang="zh-CN" altLang="en-US" sz="2800"/>
              <a:t>投资   </a:t>
            </a:r>
            <a:r>
              <a:rPr lang="en-US" altLang="zh-CN" sz="2800">
                <a:solidFill>
                  <a:srgbClr val="990000"/>
                </a:solidFill>
              </a:rPr>
              <a:t>[</a:t>
            </a:r>
            <a:r>
              <a:rPr lang="zh-CN" altLang="en-US" sz="2800">
                <a:solidFill>
                  <a:srgbClr val="990000"/>
                </a:solidFill>
              </a:rPr>
              <a:t>现金流出</a:t>
            </a:r>
            <a:r>
              <a:rPr lang="en-US" altLang="zh-CN" sz="2800">
                <a:solidFill>
                  <a:srgbClr val="990000"/>
                </a:solidFill>
              </a:rPr>
              <a:t>]</a:t>
            </a:r>
            <a:endParaRPr lang="en-US" altLang="zh-CN" sz="2800">
              <a:solidFill>
                <a:srgbClr val="990000"/>
              </a:solidFill>
            </a:endParaRPr>
          </a:p>
          <a:p>
            <a:pPr lvl="2" eaLnBrk="1" hangingPunct="1"/>
            <a:r>
              <a:rPr lang="zh-CN" altLang="en-US" sz="2600"/>
              <a:t>某项工程从筹建开始到全部竣工投产为止所发生的全部资金投入，形成</a:t>
            </a:r>
            <a:r>
              <a:rPr lang="zh-CN" altLang="en-US" sz="2600" u="sng"/>
              <a:t>资产</a:t>
            </a:r>
            <a:r>
              <a:rPr lang="zh-CN" altLang="en-US" sz="2600"/>
              <a:t>（固定资产、无形资产、递延资产）。</a:t>
            </a:r>
            <a:endParaRPr lang="zh-CN" altLang="en-US" sz="2600"/>
          </a:p>
          <a:p>
            <a:pPr lvl="2" eaLnBrk="1" hangingPunct="1"/>
            <a:r>
              <a:rPr lang="zh-CN" altLang="en-US" sz="2600"/>
              <a:t>例如：购买土地使用权、建设办公楼和生产车间、购置生产流水线。</a:t>
            </a:r>
            <a:endParaRPr lang="zh-CN" altLang="en-US" sz="2600"/>
          </a:p>
          <a:p>
            <a:pPr lvl="2" eaLnBrk="1" hangingPunct="1"/>
            <a:r>
              <a:rPr lang="zh-CN" altLang="en-US" sz="2600"/>
              <a:t>特点：集中在经营前期发生现金流出，但却是在整个经营期内被使用。每件产品上都体现了投资的贡献。</a:t>
            </a:r>
            <a:endParaRPr lang="zh-CN" altLang="en-US" sz="2600"/>
          </a:p>
          <a:p>
            <a:pPr lvl="2" eaLnBrk="1" hangingPunct="1"/>
            <a:endParaRPr lang="zh-CN" altLang="en-US" sz="260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会计学中的基本名词 </a:t>
            </a:r>
            <a:r>
              <a:rPr lang="en-US" altLang="zh-CN"/>
              <a:t>(2)</a:t>
            </a:r>
            <a:endParaRPr lang="zh-CN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zh-CN" sz="2800"/>
              <a:t>2. </a:t>
            </a:r>
            <a:r>
              <a:rPr lang="zh-CN" altLang="en-US" sz="2800"/>
              <a:t>成本（费用） </a:t>
            </a:r>
            <a:r>
              <a:rPr lang="en-US" altLang="zh-CN" sz="2800">
                <a:solidFill>
                  <a:srgbClr val="990000"/>
                </a:solidFill>
              </a:rPr>
              <a:t>[</a:t>
            </a:r>
            <a:r>
              <a:rPr lang="zh-CN" altLang="en-US" sz="2800">
                <a:solidFill>
                  <a:srgbClr val="990000"/>
                </a:solidFill>
              </a:rPr>
              <a:t>现金流出</a:t>
            </a:r>
            <a:r>
              <a:rPr lang="en-US" altLang="zh-CN" sz="2800">
                <a:solidFill>
                  <a:srgbClr val="990000"/>
                </a:solidFill>
              </a:rPr>
              <a:t>]</a:t>
            </a:r>
            <a:endParaRPr lang="zh-CN" altLang="en-US" sz="2800"/>
          </a:p>
          <a:p>
            <a:pPr lvl="2" eaLnBrk="1" hangingPunct="1"/>
            <a:r>
              <a:rPr lang="zh-CN" altLang="en-US" sz="2400"/>
              <a:t>企业为销售商品、提供劳务等活动所发生的资金流出。</a:t>
            </a:r>
            <a:endParaRPr lang="zh-CN" altLang="en-US" sz="2400"/>
          </a:p>
          <a:p>
            <a:pPr lvl="2" eaLnBrk="1" hangingPunct="1"/>
            <a:r>
              <a:rPr lang="zh-CN" altLang="en-US" sz="2400"/>
              <a:t>主要包括：材料费用、人工费用、管理费用等</a:t>
            </a:r>
            <a:endParaRPr lang="zh-CN" altLang="en-US" sz="2400"/>
          </a:p>
          <a:p>
            <a:pPr lvl="2" eaLnBrk="1" hangingPunct="1"/>
            <a:r>
              <a:rPr lang="zh-CN" altLang="en-US" sz="2400"/>
              <a:t>特点：每期均发生，比较容易和当期的产品相对应。</a:t>
            </a:r>
            <a:endParaRPr lang="zh-CN" altLang="en-US" sz="2400"/>
          </a:p>
          <a:p>
            <a:pPr lvl="1" eaLnBrk="1" hangingPunct="1"/>
            <a:r>
              <a:rPr lang="en-US" altLang="zh-CN" sz="2800"/>
              <a:t>3. </a:t>
            </a:r>
            <a:r>
              <a:rPr lang="zh-CN" altLang="en-US" sz="2800"/>
              <a:t>收入 </a:t>
            </a:r>
            <a:r>
              <a:rPr lang="en-US" altLang="zh-CN" sz="2800">
                <a:solidFill>
                  <a:srgbClr val="990000"/>
                </a:solidFill>
              </a:rPr>
              <a:t>[</a:t>
            </a:r>
            <a:r>
              <a:rPr lang="zh-CN" altLang="en-US" sz="2800">
                <a:solidFill>
                  <a:srgbClr val="990000"/>
                </a:solidFill>
              </a:rPr>
              <a:t>现金流入</a:t>
            </a:r>
            <a:r>
              <a:rPr lang="en-US" altLang="zh-CN" sz="2800">
                <a:solidFill>
                  <a:srgbClr val="990000"/>
                </a:solidFill>
              </a:rPr>
              <a:t>]</a:t>
            </a:r>
            <a:endParaRPr lang="zh-CN" altLang="en-US" sz="2800"/>
          </a:p>
          <a:p>
            <a:pPr lvl="2" eaLnBrk="1" hangingPunct="1"/>
            <a:r>
              <a:rPr lang="zh-CN" altLang="en-US" sz="2400"/>
              <a:t>企业在销售产品、提供劳务等活动中所形成的资金流入。</a:t>
            </a:r>
            <a:endParaRPr lang="zh-CN" altLang="en-US" sz="2400"/>
          </a:p>
          <a:p>
            <a:pPr lvl="2" eaLnBrk="1" hangingPunct="1"/>
            <a:r>
              <a:rPr lang="zh-CN" altLang="en-US" sz="2400"/>
              <a:t>特点：每期均发生，比较容易和当期的产品相对应。</a:t>
            </a:r>
            <a:endParaRPr lang="zh-CN" altLang="en-US" sz="2400"/>
          </a:p>
          <a:p>
            <a:pPr lvl="1" eaLnBrk="1" hangingPunct="1"/>
            <a:r>
              <a:rPr lang="en-US" altLang="zh-CN" sz="2800"/>
              <a:t>4. </a:t>
            </a:r>
            <a:r>
              <a:rPr lang="zh-CN" altLang="en-US" sz="2800"/>
              <a:t>利润 </a:t>
            </a:r>
            <a:r>
              <a:rPr lang="en-US" altLang="zh-CN" sz="2800">
                <a:solidFill>
                  <a:srgbClr val="990000"/>
                </a:solidFill>
              </a:rPr>
              <a:t>[</a:t>
            </a:r>
            <a:r>
              <a:rPr lang="zh-CN" altLang="en-US" sz="2800">
                <a:solidFill>
                  <a:srgbClr val="990000"/>
                </a:solidFill>
              </a:rPr>
              <a:t>现金净流入</a:t>
            </a:r>
            <a:r>
              <a:rPr lang="en-US" altLang="zh-CN" sz="2800">
                <a:solidFill>
                  <a:srgbClr val="990000"/>
                </a:solidFill>
              </a:rPr>
              <a:t>]</a:t>
            </a:r>
            <a:endParaRPr lang="zh-CN" altLang="en-US" sz="2800"/>
          </a:p>
          <a:p>
            <a:pPr lvl="2" eaLnBrk="1" hangingPunct="1"/>
            <a:r>
              <a:rPr lang="zh-CN" altLang="en-US" sz="2400"/>
              <a:t>企业在一个时期内生产经营活动的最终财务成果。</a:t>
            </a:r>
            <a:endParaRPr lang="zh-CN" altLang="en-US" sz="2400"/>
          </a:p>
          <a:p>
            <a:pPr lvl="2" eaLnBrk="1" hangingPunct="1"/>
            <a:r>
              <a:rPr lang="zh-CN" altLang="en-US" sz="2400">
                <a:solidFill>
                  <a:srgbClr val="800000"/>
                </a:solidFill>
              </a:rPr>
              <a:t>利润 </a:t>
            </a:r>
            <a:r>
              <a:rPr lang="en-US" altLang="zh-CN" sz="2400">
                <a:solidFill>
                  <a:srgbClr val="800000"/>
                </a:solidFill>
              </a:rPr>
              <a:t>= </a:t>
            </a:r>
            <a:r>
              <a:rPr lang="zh-CN" altLang="en-US" sz="2400">
                <a:solidFill>
                  <a:srgbClr val="800000"/>
                </a:solidFill>
              </a:rPr>
              <a:t>产品销售（营业）收入－成本费用－？</a:t>
            </a:r>
            <a:endParaRPr lang="en-US" altLang="zh-CN" sz="2400">
              <a:solidFill>
                <a:srgbClr val="800000"/>
              </a:solidFill>
            </a:endParaRPr>
          </a:p>
          <a:p>
            <a:pPr eaLnBrk="1" hangingPunct="1"/>
            <a:endParaRPr lang="zh-CN" altLang="en-US" sz="2400">
              <a:solidFill>
                <a:srgbClr val="800000"/>
              </a:solidFill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折旧  </a:t>
            </a:r>
            <a:r>
              <a:rPr lang="en-US" altLang="zh-CN"/>
              <a:t>Depreciation (1)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折旧是会计体系中的一种特殊的成本概念</a:t>
            </a:r>
            <a:endParaRPr lang="zh-CN" altLang="en-US"/>
          </a:p>
          <a:p>
            <a:pPr lvl="1" eaLnBrk="1" hangingPunct="1"/>
            <a:r>
              <a:rPr lang="zh-CN" altLang="en-US" sz="2800"/>
              <a:t>将</a:t>
            </a:r>
            <a:r>
              <a:rPr lang="zh-CN" altLang="en-US" sz="2800" u="sng"/>
              <a:t>一笔</a:t>
            </a:r>
            <a:r>
              <a:rPr lang="zh-CN" altLang="en-US" sz="2800"/>
              <a:t>初始投资所形成的</a:t>
            </a:r>
            <a:r>
              <a:rPr lang="zh-CN" altLang="en-US" sz="2800" u="sng"/>
              <a:t>固定资产</a:t>
            </a:r>
            <a:r>
              <a:rPr lang="zh-CN" altLang="en-US" sz="2800"/>
              <a:t>转化为</a:t>
            </a:r>
            <a:r>
              <a:rPr lang="zh-CN" altLang="en-US" sz="2800" u="sng"/>
              <a:t>每年</a:t>
            </a:r>
            <a:r>
              <a:rPr lang="zh-CN" altLang="en-US" sz="2800"/>
              <a:t>的费用</a:t>
            </a:r>
            <a:endParaRPr lang="zh-CN" altLang="en-US" sz="2800"/>
          </a:p>
          <a:p>
            <a:pPr lvl="2" eaLnBrk="1" hangingPunct="1"/>
            <a:r>
              <a:rPr lang="zh-CN" altLang="en-US" sz="2400"/>
              <a:t>固定资产：有形的长期资产，包括土地、建筑物、机器设备等。</a:t>
            </a:r>
            <a:endParaRPr lang="zh-CN" altLang="en-US" sz="2400"/>
          </a:p>
          <a:p>
            <a:pPr lvl="2" eaLnBrk="1" hangingPunct="1"/>
            <a:r>
              <a:rPr lang="zh-CN" altLang="en-US" sz="2400"/>
              <a:t>固定资产的有用性一般随使用而降低（</a:t>
            </a:r>
            <a:r>
              <a:rPr lang="zh-CN" altLang="en-US" sz="2400">
                <a:solidFill>
                  <a:srgbClr val="800000"/>
                </a:solidFill>
              </a:rPr>
              <a:t>除了</a:t>
            </a:r>
            <a:r>
              <a:rPr lang="en-US" altLang="zh-CN" sz="3200" b="0">
                <a:solidFill>
                  <a:srgbClr val="800000"/>
                </a:solidFill>
              </a:rPr>
              <a:t>?</a:t>
            </a:r>
            <a:r>
              <a:rPr lang="zh-CN" altLang="en-US" sz="2400"/>
              <a:t>）。</a:t>
            </a:r>
            <a:endParaRPr lang="zh-CN" altLang="en-US" sz="2400"/>
          </a:p>
          <a:p>
            <a:pPr lvl="2" eaLnBrk="1" hangingPunct="1"/>
            <a:r>
              <a:rPr lang="zh-CN" altLang="en-US" sz="2400"/>
              <a:t>这笔初始投资被称为“资本性支出”（</a:t>
            </a:r>
            <a:r>
              <a:rPr lang="en-US" altLang="zh-CN" sz="2400"/>
              <a:t>Capital Expenditure</a:t>
            </a:r>
            <a:r>
              <a:rPr lang="zh-CN" altLang="en-US" sz="2400"/>
              <a:t>），它 是一种现金流（</a:t>
            </a:r>
            <a:r>
              <a:rPr lang="en-US" altLang="zh-CN" sz="2400"/>
              <a:t>Cash flow</a:t>
            </a:r>
            <a:r>
              <a:rPr lang="zh-CN" altLang="en-US" sz="2400"/>
              <a:t>），但不是费用（</a:t>
            </a:r>
            <a:r>
              <a:rPr lang="en-US" altLang="zh-CN" sz="2400"/>
              <a:t>expense</a:t>
            </a:r>
            <a:r>
              <a:rPr lang="zh-CN" altLang="en-US" sz="2400"/>
              <a:t>）。</a:t>
            </a:r>
            <a:endParaRPr lang="zh-CN" altLang="en-US" sz="2400"/>
          </a:p>
          <a:p>
            <a:pPr lvl="2"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lvl="1"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折旧  </a:t>
            </a:r>
            <a:r>
              <a:rPr lang="en-US" altLang="zh-CN"/>
              <a:t>Depreciation (2)</a:t>
            </a: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400"/>
              <a:t>将形成该固定资产的资本性支出在使用期间的每年（或每月）进行分摊，形成“折旧”。</a:t>
            </a:r>
            <a:endParaRPr lang="zh-CN" altLang="en-US" sz="3400"/>
          </a:p>
          <a:p>
            <a:pPr lvl="1" eaLnBrk="1" hangingPunct="1"/>
            <a:endParaRPr lang="zh-CN" altLang="en-US" sz="2600"/>
          </a:p>
          <a:p>
            <a:pPr lvl="1" eaLnBrk="1" hangingPunct="1"/>
            <a:r>
              <a:rPr lang="zh-CN" altLang="en-US" sz="2600"/>
              <a:t>“折旧”是一种会计方法，将资产成本转化为费用，用于反映对该固定资产的消费（或消耗）情况。</a:t>
            </a:r>
            <a:endParaRPr lang="zh-CN" altLang="en-US" sz="2600"/>
          </a:p>
          <a:p>
            <a:pPr lvl="1" eaLnBrk="1" hangingPunct="1"/>
            <a:r>
              <a:rPr lang="zh-CN" altLang="en-US" sz="2600"/>
              <a:t>“折旧”是一种费用（</a:t>
            </a:r>
            <a:r>
              <a:rPr lang="en-US" altLang="zh-CN" sz="2600"/>
              <a:t>Expense</a:t>
            </a:r>
            <a:r>
              <a:rPr lang="zh-CN" altLang="en-US" sz="2600"/>
              <a:t>），但不是一种现金流（</a:t>
            </a:r>
            <a:r>
              <a:rPr lang="en-US" altLang="zh-CN" sz="2600"/>
              <a:t>Cash flow</a:t>
            </a:r>
            <a:r>
              <a:rPr lang="zh-CN" altLang="en-US" sz="2600"/>
              <a:t>）。</a:t>
            </a:r>
            <a:endParaRPr lang="zh-CN" altLang="en-US" sz="2600"/>
          </a:p>
          <a:p>
            <a:pPr lvl="1" eaLnBrk="1" hangingPunct="1"/>
            <a:r>
              <a:rPr lang="zh-CN" altLang="en-US" sz="2600"/>
              <a:t>计提折旧反映了“配比原则”。</a:t>
            </a:r>
            <a:endParaRPr lang="zh-CN" altLang="en-US" sz="2600"/>
          </a:p>
          <a:p>
            <a:pPr lvl="1" eaLnBrk="1" hangingPunct="1"/>
            <a:r>
              <a:rPr lang="en-US" altLang="zh-CN" sz="2600"/>
              <a:t>“</a:t>
            </a:r>
            <a:r>
              <a:rPr lang="zh-CN" altLang="en-US" sz="2600"/>
              <a:t>折旧”被从收入中扣除，用于计算利润和所得税。</a:t>
            </a:r>
            <a:endParaRPr lang="zh-CN" altLang="en-US" sz="2600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例子：汽车的折旧</a:t>
            </a:r>
            <a:endParaRPr lang="zh-CN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小郝买了一辆新车，１８万元，打算开</a:t>
            </a:r>
            <a:r>
              <a:rPr lang="en-US" altLang="zh-CN" sz="3200"/>
              <a:t>7</a:t>
            </a:r>
            <a:r>
              <a:rPr lang="zh-CN" altLang="en-US" sz="3200"/>
              <a:t>年。根据市场行情，</a:t>
            </a:r>
            <a:r>
              <a:rPr lang="en-US" altLang="zh-CN" sz="3200"/>
              <a:t>7</a:t>
            </a:r>
            <a:r>
              <a:rPr lang="zh-CN" altLang="en-US" sz="3200"/>
              <a:t>年后的旧车，在旧车市场上大概能卖到原价的</a:t>
            </a:r>
            <a:r>
              <a:rPr lang="en-US" altLang="zh-CN" sz="3200"/>
              <a:t>30%</a:t>
            </a:r>
            <a:r>
              <a:rPr lang="zh-CN" altLang="en-US" sz="3200"/>
              <a:t>。</a:t>
            </a:r>
            <a:endParaRPr lang="zh-CN" altLang="en-US" sz="320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5" y="12700"/>
            <a:ext cx="8861425" cy="1181100"/>
          </a:xfrm>
        </p:spPr>
        <p:txBody>
          <a:bodyPr/>
          <a:lstStyle/>
          <a:p>
            <a:pPr eaLnBrk="1" hangingPunct="1"/>
            <a:r>
              <a:rPr lang="zh-CN" altLang="en-US" sz="4000"/>
              <a:t>为什么要折旧？</a:t>
            </a:r>
            <a:r>
              <a:rPr lang="en-US" altLang="zh-CN" sz="4000"/>
              <a:t>——</a:t>
            </a:r>
            <a:r>
              <a:rPr lang="zh-CN" altLang="en-US" sz="4000"/>
              <a:t>三种角度的思考</a:t>
            </a:r>
            <a:endParaRPr lang="zh-CN" altLang="en-US" sz="400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工程的角度</a:t>
            </a:r>
            <a:endParaRPr lang="zh-CN" altLang="en-US" sz="3200"/>
          </a:p>
          <a:p>
            <a:pPr lvl="1" eaLnBrk="1" hangingPunct="1"/>
            <a:r>
              <a:rPr lang="zh-CN" altLang="en-US" sz="2200"/>
              <a:t>随着使用时间的增长，固定资产（房屋、设备等）的生产能力下降。</a:t>
            </a:r>
            <a:endParaRPr lang="zh-CN" altLang="en-US" sz="2200"/>
          </a:p>
          <a:p>
            <a:pPr lvl="1" eaLnBrk="1" hangingPunct="1"/>
            <a:r>
              <a:rPr lang="zh-CN" altLang="en-US" sz="2200"/>
              <a:t>利用工程学来确定折旧期和折旧率（如汽车</a:t>
            </a:r>
            <a:r>
              <a:rPr lang="en-US" altLang="zh-CN" sz="2200"/>
              <a:t>10</a:t>
            </a:r>
            <a:r>
              <a:rPr lang="zh-CN" altLang="en-US" sz="2200"/>
              <a:t>年，</a:t>
            </a:r>
            <a:r>
              <a:rPr lang="en-US" altLang="zh-CN" sz="2200"/>
              <a:t>30</a:t>
            </a:r>
            <a:r>
              <a:rPr lang="zh-CN" altLang="en-US" sz="2200"/>
              <a:t>万公里）</a:t>
            </a:r>
            <a:endParaRPr lang="zh-CN" altLang="en-US" sz="2200"/>
          </a:p>
          <a:p>
            <a:pPr eaLnBrk="1" hangingPunct="1"/>
            <a:r>
              <a:rPr lang="zh-CN" altLang="en-US" sz="3200"/>
              <a:t>会计的角度</a:t>
            </a:r>
            <a:endParaRPr lang="zh-CN" altLang="en-US" sz="3200"/>
          </a:p>
          <a:p>
            <a:pPr lvl="1" eaLnBrk="1" hangingPunct="1"/>
            <a:r>
              <a:rPr lang="zh-CN" altLang="en-US" sz="2200"/>
              <a:t>使收入和成本得以更好的匹配，利润和税赋的计算更加科学。</a:t>
            </a:r>
            <a:endParaRPr lang="zh-CN" altLang="en-US" sz="2200"/>
          </a:p>
          <a:p>
            <a:pPr lvl="1" eaLnBrk="1" hangingPunct="1"/>
            <a:r>
              <a:rPr lang="zh-CN" altLang="en-US" sz="2200"/>
              <a:t>用更为简单的方法确定折旧期和折旧率（如汽车</a:t>
            </a:r>
            <a:r>
              <a:rPr lang="en-US" altLang="zh-CN" sz="2200"/>
              <a:t>10</a:t>
            </a:r>
            <a:r>
              <a:rPr lang="zh-CN" altLang="en-US" sz="2200"/>
              <a:t>年，房屋</a:t>
            </a:r>
            <a:r>
              <a:rPr lang="en-US" altLang="zh-CN" sz="2200"/>
              <a:t>50</a:t>
            </a:r>
            <a:r>
              <a:rPr lang="zh-CN" altLang="en-US" sz="2200"/>
              <a:t>年）。</a:t>
            </a:r>
            <a:endParaRPr lang="zh-CN" altLang="en-US" sz="2200"/>
          </a:p>
          <a:p>
            <a:pPr eaLnBrk="1" hangingPunct="1"/>
            <a:r>
              <a:rPr lang="zh-CN" altLang="en-US" sz="3200"/>
              <a:t>政策的角度</a:t>
            </a:r>
            <a:endParaRPr lang="zh-CN" altLang="en-US" sz="3200"/>
          </a:p>
          <a:p>
            <a:pPr lvl="1" eaLnBrk="1" hangingPunct="1"/>
            <a:r>
              <a:rPr lang="zh-CN" altLang="en-US" sz="2200"/>
              <a:t>用折旧的方法鼓励投资。资本的回收。</a:t>
            </a:r>
            <a:endParaRPr lang="zh-CN" altLang="en-US" sz="2200"/>
          </a:p>
          <a:p>
            <a:pPr lvl="1" eaLnBrk="1" hangingPunct="1"/>
            <a:r>
              <a:rPr lang="zh-CN" altLang="en-US" sz="2200"/>
              <a:t>用不同的折旧期、折旧率鼓励投资。</a:t>
            </a:r>
            <a:endParaRPr lang="zh-CN" altLang="en-US" sz="2200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四种计算折旧方法</a:t>
            </a:r>
            <a:endParaRPr lang="zh-CN" alt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000" y="4533900"/>
            <a:ext cx="8775700" cy="1860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四种计算每年折旧额的方法：</a:t>
            </a:r>
            <a:endParaRPr lang="zh-CN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1. </a:t>
            </a:r>
            <a:r>
              <a:rPr lang="zh-CN" altLang="en-US" sz="2000"/>
              <a:t>直线折旧法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工作量法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3.</a:t>
            </a:r>
            <a:r>
              <a:rPr lang="zh-CN" altLang="en-US" sz="2000"/>
              <a:t>双倍余额递减法</a:t>
            </a:r>
            <a:endParaRPr lang="zh-CN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zh-CN" sz="2000"/>
              <a:t>4.</a:t>
            </a:r>
            <a:r>
              <a:rPr lang="zh-CN" altLang="en-US" sz="2000"/>
              <a:t>年数总和法</a:t>
            </a:r>
            <a:endParaRPr lang="zh-CN" altLang="en-US" sz="2000"/>
          </a:p>
          <a:p>
            <a:pPr eaLnBrk="1" hangingPunct="1">
              <a:lnSpc>
                <a:spcPct val="90000"/>
              </a:lnSpc>
            </a:pPr>
            <a:endParaRPr lang="en-US" altLang="zh-CN" sz="2800"/>
          </a:p>
        </p:txBody>
      </p:sp>
      <p:graphicFrame>
        <p:nvGraphicFramePr>
          <p:cNvPr id="370770" name="Group 82"/>
          <p:cNvGraphicFramePr>
            <a:graphicFrameLocks noGrp="1"/>
          </p:cNvGraphicFramePr>
          <p:nvPr>
            <p:ph sz="half" idx="2"/>
          </p:nvPr>
        </p:nvGraphicFramePr>
        <p:xfrm>
          <a:off x="228600" y="1524000"/>
          <a:ext cx="8674100" cy="2830595"/>
        </p:xfrm>
        <a:graphic>
          <a:graphicData uri="http://schemas.openxmlformats.org/drawingml/2006/table">
            <a:tbl>
              <a:tblPr/>
              <a:tblGrid>
                <a:gridCol w="3759200"/>
                <a:gridCol w="3454400"/>
                <a:gridCol w="1460500"/>
              </a:tblGrid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项目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金额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39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汽车的固定资产原值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￥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预计净残值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￥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折旧总额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￥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19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折旧年限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年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(2003.1.1~2007.12.31)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规定的总行驶里程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100,000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公里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</a:t>
            </a:r>
            <a:r>
              <a:rPr lang="zh-CN" altLang="en-US"/>
              <a:t>直线折旧法（年限平均法）</a:t>
            </a:r>
            <a:endParaRPr lang="zh-CN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8461375" cy="1562100"/>
          </a:xfrm>
        </p:spPr>
        <p:txBody>
          <a:bodyPr/>
          <a:lstStyle/>
          <a:p>
            <a:pPr eaLnBrk="1" hangingPunct="1"/>
            <a:r>
              <a:rPr lang="zh-CN" altLang="en-US" sz="2800"/>
              <a:t>每年折旧额</a:t>
            </a:r>
            <a:r>
              <a:rPr lang="en-US" altLang="zh-CN" sz="2800"/>
              <a:t>=(</a:t>
            </a:r>
            <a:r>
              <a:rPr lang="zh-CN" altLang="en-US" sz="2800"/>
              <a:t>固定资产原值</a:t>
            </a:r>
            <a:r>
              <a:rPr lang="en-US" altLang="zh-CN" sz="2800"/>
              <a:t>-</a:t>
            </a:r>
            <a:r>
              <a:rPr lang="zh-CN" altLang="en-US" sz="2800"/>
              <a:t>残值</a:t>
            </a:r>
            <a:r>
              <a:rPr lang="en-US" altLang="zh-CN" sz="2800"/>
              <a:t>)/</a:t>
            </a:r>
            <a:r>
              <a:rPr lang="zh-CN" altLang="en-US" sz="2800"/>
              <a:t>折旧年限</a:t>
            </a:r>
            <a:endParaRPr lang="zh-CN" altLang="en-US" sz="2800"/>
          </a:p>
          <a:p>
            <a:pPr eaLnBrk="1" hangingPunct="1">
              <a:buFontTx/>
              <a:buNone/>
            </a:pPr>
            <a:r>
              <a:rPr lang="zh-CN" altLang="en-US" sz="2800"/>
              <a:t>                     </a:t>
            </a:r>
            <a:r>
              <a:rPr lang="en-US" altLang="zh-CN" sz="2800"/>
              <a:t>=(410,000-10,000)/5</a:t>
            </a:r>
            <a:endParaRPr lang="en-US" altLang="zh-CN" sz="2800"/>
          </a:p>
          <a:p>
            <a:pPr eaLnBrk="1" hangingPunct="1">
              <a:buFontTx/>
              <a:buNone/>
            </a:pPr>
            <a:r>
              <a:rPr lang="en-US" altLang="zh-CN" sz="2800"/>
              <a:t>                     =</a:t>
            </a:r>
            <a:r>
              <a:rPr lang="zh-CN" altLang="en-US" sz="2800"/>
              <a:t>￥</a:t>
            </a:r>
            <a:r>
              <a:rPr lang="en-US" altLang="zh-CN" sz="2800"/>
              <a:t>80,000</a:t>
            </a:r>
            <a:endParaRPr lang="en-US" altLang="zh-CN" sz="2800"/>
          </a:p>
          <a:p>
            <a:pPr eaLnBrk="1" hangingPunct="1">
              <a:buFontTx/>
              <a:buNone/>
            </a:pPr>
            <a:endParaRPr lang="en-US" altLang="zh-CN" sz="2800"/>
          </a:p>
        </p:txBody>
      </p:sp>
      <p:graphicFrame>
        <p:nvGraphicFramePr>
          <p:cNvPr id="434416" name="Group 240"/>
          <p:cNvGraphicFramePr>
            <a:graphicFrameLocks noGrp="1"/>
          </p:cNvGraphicFramePr>
          <p:nvPr>
            <p:ph sz="half" idx="2"/>
          </p:nvPr>
        </p:nvGraphicFramePr>
        <p:xfrm>
          <a:off x="282575" y="3200400"/>
          <a:ext cx="8696325" cy="2928940"/>
        </p:xfrm>
        <a:graphic>
          <a:graphicData uri="http://schemas.openxmlformats.org/drawingml/2006/table">
            <a:tbl>
              <a:tblPr/>
              <a:tblGrid>
                <a:gridCol w="1095375"/>
                <a:gridCol w="1111250"/>
                <a:gridCol w="1382713"/>
                <a:gridCol w="950912"/>
                <a:gridCol w="1419225"/>
                <a:gridCol w="1149350"/>
                <a:gridCol w="1587500"/>
              </a:tblGrid>
              <a:tr h="3658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日期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原始购置价值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各年折旧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累计折旧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固定资产净值（账面价值）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折旧总额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本年折旧额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36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03.1.1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330,000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04.12.31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160,000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250,000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05.12.31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170,000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06.12.31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320,000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90,000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07.12.31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 </a:t>
            </a:r>
            <a:r>
              <a:rPr lang="zh-CN" altLang="en-US"/>
              <a:t>工作量法</a:t>
            </a:r>
            <a:endParaRPr lang="zh-CN" altLang="en-US"/>
          </a:p>
        </p:txBody>
      </p:sp>
      <p:sp>
        <p:nvSpPr>
          <p:cNvPr id="67587" name="Rectangle 6"/>
          <p:cNvSpPr>
            <a:spLocks noChangeArrowheads="1"/>
          </p:cNvSpPr>
          <p:nvPr/>
        </p:nvSpPr>
        <p:spPr bwMode="auto">
          <a:xfrm>
            <a:off x="282575" y="1465263"/>
            <a:ext cx="8178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每年折旧额</a:t>
            </a:r>
            <a:r>
              <a:rPr kumimoji="0" lang="en-US" altLang="zh-CN" sz="2400">
                <a:ea typeface="宋体" panose="02010600030101010101" pitchFamily="2" charset="-122"/>
              </a:rPr>
              <a:t>=(</a:t>
            </a:r>
            <a:r>
              <a:rPr kumimoji="0" lang="zh-CN" altLang="en-US" sz="2400">
                <a:ea typeface="宋体" panose="02010600030101010101" pitchFamily="2" charset="-122"/>
              </a:rPr>
              <a:t>固定资产原值</a:t>
            </a:r>
            <a:r>
              <a:rPr kumimoji="0" lang="en-US" altLang="zh-CN" sz="2400">
                <a:ea typeface="宋体" panose="02010600030101010101" pitchFamily="2" charset="-122"/>
              </a:rPr>
              <a:t>-</a:t>
            </a:r>
            <a:r>
              <a:rPr kumimoji="0" lang="zh-CN" altLang="en-US" sz="2400">
                <a:ea typeface="宋体" panose="02010600030101010101" pitchFamily="2" charset="-122"/>
              </a:rPr>
              <a:t>残值</a:t>
            </a:r>
            <a:r>
              <a:rPr kumimoji="0" lang="en-US" altLang="zh-CN" sz="2400">
                <a:ea typeface="宋体" panose="02010600030101010101" pitchFamily="2" charset="-122"/>
              </a:rPr>
              <a:t>)/</a:t>
            </a:r>
            <a:r>
              <a:rPr kumimoji="0" lang="zh-CN" altLang="en-US" sz="2400">
                <a:ea typeface="宋体" panose="02010600030101010101" pitchFamily="2" charset="-122"/>
              </a:rPr>
              <a:t>规定的总行驶里程</a:t>
            </a:r>
            <a:endParaRPr kumimoji="0" lang="zh-CN" altLang="en-US" sz="24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ea typeface="宋体" panose="02010600030101010101" pitchFamily="2" charset="-122"/>
              </a:rPr>
              <a:t>                     </a:t>
            </a:r>
            <a:r>
              <a:rPr kumimoji="0" lang="en-US" altLang="zh-CN" sz="2400">
                <a:ea typeface="宋体" panose="02010600030101010101" pitchFamily="2" charset="-122"/>
              </a:rPr>
              <a:t>=(410,000-10,000)/100,000</a:t>
            </a:r>
            <a:endParaRPr kumimoji="0" lang="en-US" altLang="zh-CN" sz="240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>
                <a:ea typeface="宋体" panose="02010600030101010101" pitchFamily="2" charset="-122"/>
              </a:rPr>
              <a:t>                     =</a:t>
            </a:r>
            <a:r>
              <a:rPr kumimoji="0" lang="zh-CN" altLang="en-US" sz="2400">
                <a:ea typeface="宋体" panose="02010600030101010101" pitchFamily="2" charset="-122"/>
              </a:rPr>
              <a:t>￥</a:t>
            </a:r>
            <a:r>
              <a:rPr kumimoji="0" lang="en-US" altLang="zh-CN" sz="2400">
                <a:ea typeface="宋体" panose="02010600030101010101" pitchFamily="2" charset="-122"/>
              </a:rPr>
              <a:t>4</a:t>
            </a:r>
            <a:endParaRPr kumimoji="0" lang="en-US" altLang="zh-CN" sz="2400">
              <a:ea typeface="宋体" panose="02010600030101010101" pitchFamily="2" charset="-122"/>
            </a:endParaRPr>
          </a:p>
        </p:txBody>
      </p:sp>
      <p:graphicFrame>
        <p:nvGraphicFramePr>
          <p:cNvPr id="438353" name="Group 81"/>
          <p:cNvGraphicFramePr>
            <a:graphicFrameLocks noGrp="1"/>
          </p:cNvGraphicFramePr>
          <p:nvPr>
            <p:ph idx="1"/>
          </p:nvPr>
        </p:nvGraphicFramePr>
        <p:xfrm>
          <a:off x="282575" y="2652713"/>
          <a:ext cx="8696325" cy="3532188"/>
        </p:xfrm>
        <a:graphic>
          <a:graphicData uri="http://schemas.openxmlformats.org/drawingml/2006/table">
            <a:tbl>
              <a:tblPr/>
              <a:tblGrid>
                <a:gridCol w="1095375"/>
                <a:gridCol w="1111250"/>
                <a:gridCol w="1382713"/>
                <a:gridCol w="950912"/>
                <a:gridCol w="1419225"/>
                <a:gridCol w="1149350"/>
                <a:gridCol w="1587500"/>
              </a:tblGrid>
              <a:tr h="40644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日期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原始购置价值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各年折旧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累计折旧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固定资产净值（账面价值）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5019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单位里程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产量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本年折旧额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4064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03.1.1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2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330,000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04.12.31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120,000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05.12.31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25,000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06.12.31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15,000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360,000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07.12.31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</a:t>
            </a:r>
            <a:r>
              <a:rPr lang="zh-CN" altLang="en-US"/>
              <a:t>双倍余额递减法</a:t>
            </a:r>
            <a:endParaRPr lang="zh-CN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346200"/>
            <a:ext cx="8953500" cy="4838700"/>
          </a:xfrm>
        </p:spPr>
        <p:txBody>
          <a:bodyPr/>
          <a:lstStyle/>
          <a:p>
            <a:pPr eaLnBrk="1" hangingPunct="1"/>
            <a:r>
              <a:rPr lang="zh-CN" altLang="en-US" sz="2400"/>
              <a:t>是一种加速折旧的方法。 在资产使用初期，每年的折旧率为直线法的两倍（</a:t>
            </a:r>
            <a:r>
              <a:rPr lang="zh-CN" altLang="en-US" sz="2400" u="sng"/>
              <a:t>忽略残值</a:t>
            </a:r>
            <a:r>
              <a:rPr lang="zh-CN" altLang="en-US" sz="2400"/>
              <a:t>），折旧基数为折旧后的资产账面价值，最后两年将剩余的应折旧额（</a:t>
            </a:r>
            <a:r>
              <a:rPr lang="zh-CN" altLang="en-US" sz="2400" u="sng"/>
              <a:t>考虑残值</a:t>
            </a:r>
            <a:r>
              <a:rPr lang="zh-CN" altLang="en-US" sz="2400"/>
              <a:t>）平均分摊。</a:t>
            </a:r>
            <a:endParaRPr lang="zh-CN" altLang="en-US" sz="2400"/>
          </a:p>
          <a:p>
            <a:pPr eaLnBrk="1" hangingPunct="1"/>
            <a:endParaRPr lang="zh-CN" altLang="en-US" sz="2400"/>
          </a:p>
          <a:p>
            <a:pPr eaLnBrk="1" hangingPunct="1"/>
            <a:endParaRPr lang="zh-CN" altLang="en-US" sz="2400"/>
          </a:p>
          <a:p>
            <a:pPr eaLnBrk="1" hangingPunct="1"/>
            <a:r>
              <a:rPr lang="zh-CN" altLang="en-US" sz="2400"/>
              <a:t>每年的折旧率（除了最后两年）</a:t>
            </a:r>
            <a:r>
              <a:rPr lang="en-US" altLang="zh-CN" sz="2400"/>
              <a:t>= (1/</a:t>
            </a:r>
            <a:r>
              <a:rPr lang="zh-CN" altLang="en-US" sz="2400"/>
              <a:t>折旧年限</a:t>
            </a:r>
            <a:r>
              <a:rPr lang="en-US" altLang="zh-CN" sz="2400"/>
              <a:t>)×2</a:t>
            </a:r>
            <a:endParaRPr lang="en-US" altLang="zh-CN" sz="2400"/>
          </a:p>
          <a:p>
            <a:pPr eaLnBrk="1" hangingPunct="1"/>
            <a:r>
              <a:rPr lang="zh-CN" altLang="en-US" sz="2400"/>
              <a:t>每年的折旧额（除了最后两年）</a:t>
            </a:r>
            <a:r>
              <a:rPr lang="en-US" altLang="zh-CN" sz="2400"/>
              <a:t>= (</a:t>
            </a:r>
            <a:r>
              <a:rPr lang="zh-CN" altLang="en-US" sz="2400"/>
              <a:t>固定资产净值</a:t>
            </a:r>
            <a:r>
              <a:rPr lang="en-US" altLang="zh-CN" sz="2400"/>
              <a:t>)×</a:t>
            </a:r>
            <a:r>
              <a:rPr lang="zh-CN" altLang="en-US" sz="2400"/>
              <a:t>折旧率</a:t>
            </a:r>
            <a:endParaRPr lang="zh-CN" altLang="en-US" sz="2400"/>
          </a:p>
          <a:p>
            <a:pPr eaLnBrk="1" hangingPunct="1"/>
            <a:r>
              <a:rPr lang="zh-CN" altLang="en-US" sz="2400"/>
              <a:t>最后两年的每年折旧额</a:t>
            </a:r>
            <a:r>
              <a:rPr lang="en-US" altLang="zh-CN" sz="2400"/>
              <a:t>=(</a:t>
            </a:r>
            <a:r>
              <a:rPr lang="zh-CN" altLang="en-US" sz="2400"/>
              <a:t>固定资产净值</a:t>
            </a:r>
            <a:r>
              <a:rPr lang="en-US" altLang="zh-CN" sz="2400"/>
              <a:t>-</a:t>
            </a:r>
            <a:r>
              <a:rPr lang="zh-CN" altLang="en-US" sz="2400"/>
              <a:t>残值</a:t>
            </a:r>
            <a:r>
              <a:rPr lang="en-US" altLang="zh-CN" sz="2400"/>
              <a:t>)/2</a:t>
            </a:r>
            <a:endParaRPr lang="en-US" altLang="zh-CN" sz="2400"/>
          </a:p>
          <a:p>
            <a:pPr eaLnBrk="1" hangingPunct="1"/>
            <a:endParaRPr lang="zh-CN" altLang="en-US" sz="200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</a:t>
            </a:r>
            <a:r>
              <a:rPr lang="zh-CN" altLang="en-US"/>
              <a:t>双倍余额递减法</a:t>
            </a:r>
            <a:endParaRPr lang="zh-CN" altLang="en-US"/>
          </a:p>
        </p:txBody>
      </p:sp>
      <p:sp>
        <p:nvSpPr>
          <p:cNvPr id="71683" name="Rectangle 73"/>
          <p:cNvSpPr>
            <a:spLocks noChangeArrowheads="1"/>
          </p:cNvSpPr>
          <p:nvPr/>
        </p:nvSpPr>
        <p:spPr bwMode="auto">
          <a:xfrm>
            <a:off x="0" y="1346200"/>
            <a:ext cx="8953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defRPr>
            </a:lvl9pPr>
          </a:lstStyle>
          <a:p>
            <a:pPr eaLnBrk="1" hangingPunct="1"/>
            <a:r>
              <a:rPr kumimoji="0" lang="zh-CN" altLang="en-US" sz="2000"/>
              <a:t>年折旧率</a:t>
            </a:r>
            <a:r>
              <a:rPr kumimoji="0" lang="en-US" altLang="zh-CN" sz="2000"/>
              <a:t>=(1/5)×2</a:t>
            </a:r>
            <a:r>
              <a:rPr kumimoji="0" lang="zh-CN" altLang="en-US" sz="2000"/>
              <a:t>＝</a:t>
            </a:r>
            <a:r>
              <a:rPr kumimoji="0" lang="en-US" altLang="zh-CN" sz="2000"/>
              <a:t>40%</a:t>
            </a:r>
            <a:endParaRPr kumimoji="0" lang="en-US" altLang="zh-CN" sz="2000"/>
          </a:p>
          <a:p>
            <a:pPr eaLnBrk="1" hangingPunct="1"/>
            <a:r>
              <a:rPr kumimoji="0" lang="zh-CN" altLang="en-US" sz="2000"/>
              <a:t>最后两年的折旧额</a:t>
            </a:r>
            <a:r>
              <a:rPr kumimoji="0" lang="en-US" altLang="zh-CN" sz="2000"/>
              <a:t>=(88,560-10000)/2=</a:t>
            </a:r>
            <a:r>
              <a:rPr kumimoji="0" lang="zh-CN" altLang="en-US" sz="2000"/>
              <a:t>￥</a:t>
            </a:r>
            <a:r>
              <a:rPr kumimoji="0" lang="en-US" altLang="zh-CN" sz="2000"/>
              <a:t>39,280</a:t>
            </a:r>
            <a:endParaRPr kumimoji="0" lang="en-US" altLang="zh-CN" sz="2000"/>
          </a:p>
          <a:p>
            <a:pPr eaLnBrk="1" hangingPunct="1"/>
            <a:endParaRPr kumimoji="0" lang="en-US" altLang="zh-CN" sz="2000"/>
          </a:p>
        </p:txBody>
      </p:sp>
      <p:graphicFrame>
        <p:nvGraphicFramePr>
          <p:cNvPr id="447639" name="Group 151"/>
          <p:cNvGraphicFramePr>
            <a:graphicFrameLocks noGrp="1"/>
          </p:cNvGraphicFramePr>
          <p:nvPr>
            <p:ph idx="1"/>
          </p:nvPr>
        </p:nvGraphicFramePr>
        <p:xfrm>
          <a:off x="92075" y="2619375"/>
          <a:ext cx="8861425" cy="3473452"/>
        </p:xfrm>
        <a:graphic>
          <a:graphicData uri="http://schemas.openxmlformats.org/drawingml/2006/table">
            <a:tbl>
              <a:tblPr/>
              <a:tblGrid>
                <a:gridCol w="1152525"/>
                <a:gridCol w="1095375"/>
                <a:gridCol w="1409700"/>
                <a:gridCol w="968375"/>
                <a:gridCol w="1446213"/>
                <a:gridCol w="1171575"/>
                <a:gridCol w="1617662"/>
              </a:tblGrid>
              <a:tr h="36583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日期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原始购置价值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各年折旧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累计折旧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固定资产净值（账面价值）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5084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固定资产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净值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本年折旧额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3658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03.1.1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164,000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164,000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246,000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6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04.12.31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246,000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98,400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262,400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147,600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8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05.12.31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147,600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0.4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59,040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321,440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88,560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9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06.12.31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39,280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360,720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49,280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07.12.31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39,280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</a:t>
            </a:r>
            <a:r>
              <a:rPr lang="zh-CN" altLang="en-US"/>
              <a:t>年数总和法</a:t>
            </a:r>
            <a:endParaRPr lang="zh-CN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折旧率以年数总和作为分母</a:t>
            </a:r>
            <a:endParaRPr lang="en-US" altLang="zh-CN" sz="2800"/>
          </a:p>
          <a:p>
            <a:pPr lvl="1" eaLnBrk="1" hangingPunct="1"/>
            <a:r>
              <a:rPr lang="en-US" altLang="zh-CN" sz="2400"/>
              <a:t>(N(N+1))/2</a:t>
            </a:r>
            <a:endParaRPr lang="en-US" altLang="zh-CN" sz="2400"/>
          </a:p>
          <a:p>
            <a:pPr lvl="1" eaLnBrk="1" hangingPunct="1">
              <a:buFontTx/>
              <a:buNone/>
            </a:pPr>
            <a:r>
              <a:rPr lang="en-US" altLang="zh-CN" sz="2400"/>
              <a:t>   = 1+2+3+4+5 =15</a:t>
            </a:r>
            <a:endParaRPr lang="en-US" altLang="zh-CN" sz="2400"/>
          </a:p>
          <a:p>
            <a:pPr eaLnBrk="1" hangingPunct="1"/>
            <a:r>
              <a:rPr lang="zh-CN" altLang="en-US" sz="2800"/>
              <a:t>折旧率的分子为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第</a:t>
            </a:r>
            <a:r>
              <a:rPr lang="en-US" altLang="zh-CN" sz="2400"/>
              <a:t>1</a:t>
            </a:r>
            <a:r>
              <a:rPr lang="zh-CN" altLang="en-US" sz="2400"/>
              <a:t>年为</a:t>
            </a:r>
            <a:r>
              <a:rPr lang="en-US" altLang="zh-CN" sz="2400"/>
              <a:t>5</a:t>
            </a:r>
            <a:r>
              <a:rPr lang="zh-CN" altLang="en-US" sz="2400"/>
              <a:t>；第</a:t>
            </a:r>
            <a:r>
              <a:rPr lang="en-US" altLang="zh-CN" sz="2400"/>
              <a:t>2</a:t>
            </a:r>
            <a:r>
              <a:rPr lang="zh-CN" altLang="en-US" sz="2400"/>
              <a:t>年为</a:t>
            </a:r>
            <a:r>
              <a:rPr lang="en-US" altLang="zh-CN" sz="2400"/>
              <a:t>4</a:t>
            </a:r>
            <a:r>
              <a:rPr lang="zh-CN" altLang="en-US" sz="2400"/>
              <a:t>；第</a:t>
            </a:r>
            <a:r>
              <a:rPr lang="en-US" altLang="zh-CN" sz="2400"/>
              <a:t>3</a:t>
            </a:r>
            <a:r>
              <a:rPr lang="zh-CN" altLang="en-US" sz="2400"/>
              <a:t>年为</a:t>
            </a:r>
            <a:r>
              <a:rPr lang="en-US" altLang="zh-CN" sz="2400"/>
              <a:t>3</a:t>
            </a:r>
            <a:r>
              <a:rPr lang="zh-CN" altLang="en-US" sz="2400"/>
              <a:t>，第</a:t>
            </a:r>
            <a:r>
              <a:rPr lang="en-US" altLang="zh-CN" sz="2400"/>
              <a:t>4</a:t>
            </a:r>
            <a:r>
              <a:rPr lang="zh-CN" altLang="en-US" sz="2400"/>
              <a:t>年为</a:t>
            </a:r>
            <a:r>
              <a:rPr lang="en-US" altLang="zh-CN" sz="2400"/>
              <a:t>2</a:t>
            </a:r>
            <a:r>
              <a:rPr lang="zh-CN" altLang="en-US" sz="2400"/>
              <a:t>，第</a:t>
            </a:r>
            <a:r>
              <a:rPr lang="en-US" altLang="zh-CN" sz="2400"/>
              <a:t>5</a:t>
            </a:r>
            <a:r>
              <a:rPr lang="zh-CN" altLang="en-US" sz="2400"/>
              <a:t>年为</a:t>
            </a:r>
            <a:r>
              <a:rPr lang="en-US" altLang="zh-CN" sz="2400"/>
              <a:t>1</a:t>
            </a:r>
            <a:endParaRPr lang="en-US" altLang="zh-CN" sz="2400"/>
          </a:p>
          <a:p>
            <a:pPr eaLnBrk="1" hangingPunct="1"/>
            <a:r>
              <a:rPr lang="en-US" altLang="zh-CN" sz="2800"/>
              <a:t>5</a:t>
            </a:r>
            <a:r>
              <a:rPr lang="zh-CN" altLang="en-US" sz="2800"/>
              <a:t>年的折旧率分别为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5/15; 4/15; 3/15; 2/15; 1/15</a:t>
            </a:r>
            <a:endParaRPr lang="en-US" altLang="zh-CN" sz="2400"/>
          </a:p>
          <a:p>
            <a:pPr eaLnBrk="1" hangingPunct="1"/>
            <a:endParaRPr lang="en-US" altLang="zh-CN" sz="2800"/>
          </a:p>
          <a:p>
            <a:pPr eaLnBrk="1" hangingPunct="1"/>
            <a:r>
              <a:rPr lang="zh-CN" altLang="en-US" sz="2600"/>
              <a:t>折旧额</a:t>
            </a:r>
            <a:r>
              <a:rPr lang="en-US" altLang="zh-CN" sz="2600"/>
              <a:t>=(</a:t>
            </a:r>
            <a:r>
              <a:rPr lang="zh-CN" altLang="en-US" sz="2600"/>
              <a:t>原始购置价值</a:t>
            </a:r>
            <a:r>
              <a:rPr lang="en-US" altLang="zh-CN" sz="2600"/>
              <a:t>-</a:t>
            </a:r>
            <a:r>
              <a:rPr lang="zh-CN" altLang="en-US" sz="2600"/>
              <a:t>残值</a:t>
            </a:r>
            <a:r>
              <a:rPr lang="en-US" altLang="zh-CN" sz="2600"/>
              <a:t>)×(</a:t>
            </a:r>
            <a:r>
              <a:rPr lang="zh-CN" altLang="en-US" sz="2600"/>
              <a:t>尚可使用年数</a:t>
            </a:r>
            <a:r>
              <a:rPr lang="en-US" altLang="zh-CN" sz="2600"/>
              <a:t>/</a:t>
            </a:r>
            <a:r>
              <a:rPr lang="zh-CN" altLang="en-US" sz="2600"/>
              <a:t>年数总和</a:t>
            </a:r>
            <a:r>
              <a:rPr lang="en-US" altLang="zh-CN" sz="2600"/>
              <a:t>)</a:t>
            </a:r>
            <a:endParaRPr lang="en-US" altLang="zh-CN" sz="2600"/>
          </a:p>
          <a:p>
            <a:pPr lvl="1" eaLnBrk="1" hangingPunct="1"/>
            <a:endParaRPr lang="en-US" altLang="zh-CN" sz="2600"/>
          </a:p>
          <a:p>
            <a:pPr eaLnBrk="1" hangingPunct="1">
              <a:buFontTx/>
              <a:buNone/>
            </a:pPr>
            <a:endParaRPr lang="en-US" altLang="zh-CN" sz="2400"/>
          </a:p>
          <a:p>
            <a:pPr eaLnBrk="1" hangingPunct="1">
              <a:buFontTx/>
              <a:buNone/>
            </a:pPr>
            <a:endParaRPr lang="en-US" altLang="zh-CN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 </a:t>
            </a:r>
            <a:r>
              <a:rPr lang="zh-CN" altLang="en-US"/>
              <a:t>年数总和法</a:t>
            </a:r>
            <a:endParaRPr lang="zh-CN" altLang="en-US"/>
          </a:p>
        </p:txBody>
      </p:sp>
      <p:graphicFrame>
        <p:nvGraphicFramePr>
          <p:cNvPr id="451661" name="Group 77"/>
          <p:cNvGraphicFramePr>
            <a:graphicFrameLocks noGrp="1"/>
          </p:cNvGraphicFramePr>
          <p:nvPr>
            <p:ph type="tbl" idx="1"/>
          </p:nvPr>
        </p:nvGraphicFramePr>
        <p:xfrm>
          <a:off x="152400" y="2362200"/>
          <a:ext cx="8861425" cy="3543300"/>
        </p:xfrm>
        <a:graphic>
          <a:graphicData uri="http://schemas.openxmlformats.org/drawingml/2006/table">
            <a:tbl>
              <a:tblPr/>
              <a:tblGrid>
                <a:gridCol w="1116013"/>
                <a:gridCol w="1131887"/>
                <a:gridCol w="1409700"/>
                <a:gridCol w="968375"/>
                <a:gridCol w="1446213"/>
                <a:gridCol w="1171575"/>
                <a:gridCol w="1617662"/>
              </a:tblGrid>
              <a:tr h="44767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日期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原始购置价值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各年折旧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累计折旧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固定资产净值（账面价值）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折旧总额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折旧率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本年折旧额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03.1.1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03.12.31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5/15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133,330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133,330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276,670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04.12.31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4/15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106,670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240,000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170,000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05.12.31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3/15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320,000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90,000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06.12.31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2/15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53,330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373,330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36,670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07.12.31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  ×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1/15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26,670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400,000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10,000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为什么采用加速折旧的方法？</a:t>
            </a:r>
            <a:endParaRPr lang="zh-CN" altLang="en-US"/>
          </a:p>
        </p:txBody>
      </p:sp>
      <p:sp>
        <p:nvSpPr>
          <p:cNvPr id="7782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31775" y="1484313"/>
            <a:ext cx="4843463" cy="4840287"/>
          </a:xfrm>
        </p:spPr>
        <p:txBody>
          <a:bodyPr/>
          <a:lstStyle/>
          <a:p>
            <a:pPr eaLnBrk="1" hangingPunct="1"/>
            <a:r>
              <a:rPr lang="zh-CN" altLang="en-US"/>
              <a:t>双倍余额递减法和年数</a:t>
            </a:r>
            <a:r>
              <a:rPr lang="zh-CN" altLang="en-US" sz="2400"/>
              <a:t>总和法都是加速折旧的方法。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在资产使用期的早些年份要冲销更多的资产成本。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适用于那些在寿命早起能够产生较高收益的资产。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一般而言，加速折旧有利于新兴企业积累资金，更好地进一步发展。</a:t>
            </a:r>
            <a:endParaRPr lang="zh-CN" altLang="en-US" sz="2400"/>
          </a:p>
        </p:txBody>
      </p:sp>
      <p:grpSp>
        <p:nvGrpSpPr>
          <p:cNvPr id="77828" name="Group 6"/>
          <p:cNvGrpSpPr/>
          <p:nvPr/>
        </p:nvGrpSpPr>
        <p:grpSpPr bwMode="auto">
          <a:xfrm>
            <a:off x="5075238" y="2589213"/>
            <a:ext cx="3744912" cy="3103562"/>
            <a:chOff x="3379" y="1570"/>
            <a:chExt cx="2359" cy="1955"/>
          </a:xfrm>
        </p:grpSpPr>
        <p:grpSp>
          <p:nvGrpSpPr>
            <p:cNvPr id="77829" name="Group 7"/>
            <p:cNvGrpSpPr/>
            <p:nvPr/>
          </p:nvGrpSpPr>
          <p:grpSpPr bwMode="auto">
            <a:xfrm>
              <a:off x="3379" y="1570"/>
              <a:ext cx="2359" cy="1955"/>
              <a:chOff x="3152" y="1570"/>
              <a:chExt cx="2359" cy="1955"/>
            </a:xfrm>
          </p:grpSpPr>
          <p:sp>
            <p:nvSpPr>
              <p:cNvPr id="77831" name="Line 8"/>
              <p:cNvSpPr>
                <a:spLocks noChangeShapeType="1"/>
              </p:cNvSpPr>
              <p:nvPr/>
            </p:nvSpPr>
            <p:spPr bwMode="auto">
              <a:xfrm flipV="1">
                <a:off x="3560" y="1570"/>
                <a:ext cx="0" cy="16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2" name="Line 9"/>
              <p:cNvSpPr>
                <a:spLocks noChangeShapeType="1"/>
              </p:cNvSpPr>
              <p:nvPr/>
            </p:nvSpPr>
            <p:spPr bwMode="auto">
              <a:xfrm>
                <a:off x="3560" y="3203"/>
                <a:ext cx="195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3" name="Text Box 10"/>
              <p:cNvSpPr txBox="1">
                <a:spLocks noChangeArrowheads="1"/>
              </p:cNvSpPr>
              <p:nvPr/>
            </p:nvSpPr>
            <p:spPr bwMode="auto">
              <a:xfrm>
                <a:off x="3288" y="3113"/>
                <a:ext cx="18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8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800" b="0">
                    <a:ea typeface="宋体" panose="02010600030101010101" pitchFamily="2" charset="-122"/>
                  </a:rPr>
                  <a:t>0</a:t>
                </a:r>
                <a:endParaRPr kumimoji="0" lang="en-US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77834" name="Line 11"/>
              <p:cNvSpPr>
                <a:spLocks noChangeShapeType="1"/>
              </p:cNvSpPr>
              <p:nvPr/>
            </p:nvSpPr>
            <p:spPr bwMode="auto">
              <a:xfrm>
                <a:off x="3560" y="1843"/>
                <a:ext cx="1543" cy="1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5" name="Line 12"/>
              <p:cNvSpPr>
                <a:spLocks noChangeShapeType="1"/>
              </p:cNvSpPr>
              <p:nvPr/>
            </p:nvSpPr>
            <p:spPr bwMode="auto">
              <a:xfrm>
                <a:off x="4105" y="2251"/>
                <a:ext cx="0" cy="9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6" name="Line 13"/>
              <p:cNvSpPr>
                <a:spLocks noChangeShapeType="1"/>
              </p:cNvSpPr>
              <p:nvPr/>
            </p:nvSpPr>
            <p:spPr bwMode="auto">
              <a:xfrm>
                <a:off x="4286" y="2387"/>
                <a:ext cx="0" cy="8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7" name="Text Box 14"/>
              <p:cNvSpPr txBox="1">
                <a:spLocks noChangeArrowheads="1"/>
              </p:cNvSpPr>
              <p:nvPr/>
            </p:nvSpPr>
            <p:spPr bwMode="auto">
              <a:xfrm>
                <a:off x="3969" y="3294"/>
                <a:ext cx="127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8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800" b="0">
                    <a:ea typeface="宋体" panose="02010600030101010101" pitchFamily="2" charset="-122"/>
                  </a:rPr>
                  <a:t>t    t+1                N</a:t>
                </a:r>
                <a:endParaRPr kumimoji="0" lang="en-US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77838" name="Line 15"/>
              <p:cNvSpPr>
                <a:spLocks noChangeShapeType="1"/>
              </p:cNvSpPr>
              <p:nvPr/>
            </p:nvSpPr>
            <p:spPr bwMode="auto">
              <a:xfrm>
                <a:off x="3560" y="2977"/>
                <a:ext cx="15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9" name="Text Box 16"/>
              <p:cNvSpPr txBox="1">
                <a:spLocks noChangeArrowheads="1"/>
              </p:cNvSpPr>
              <p:nvPr/>
            </p:nvSpPr>
            <p:spPr bwMode="auto">
              <a:xfrm>
                <a:off x="3152" y="1752"/>
                <a:ext cx="318" cy="1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8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00"/>
                    </a:solidFill>
                    <a:latin typeface="Arial" panose="020B0604020202020204" pitchFamily="34" charset="0"/>
                    <a:ea typeface="楷体_GB2312"/>
                    <a:cs typeface="楷体_GB231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800" b="0">
                    <a:ea typeface="宋体" panose="02010600030101010101" pitchFamily="2" charset="-122"/>
                  </a:rPr>
                  <a:t>V</a:t>
                </a:r>
                <a:r>
                  <a:rPr kumimoji="0" lang="en-US" altLang="zh-CN" sz="1800" b="0" baseline="-25000">
                    <a:ea typeface="宋体" panose="02010600030101010101" pitchFamily="2" charset="-122"/>
                  </a:rPr>
                  <a:t>o</a:t>
                </a:r>
                <a:endParaRPr kumimoji="0" lang="en-US" altLang="zh-CN" sz="1800" b="0" baseline="-25000"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kumimoji="0" lang="en-US" altLang="zh-CN" sz="1800" b="0"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kumimoji="0" lang="en-US" altLang="zh-CN" sz="1800" b="0"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kumimoji="0" lang="en-US" altLang="zh-CN" sz="1800" b="0"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1800" b="0">
                    <a:ea typeface="宋体" panose="02010600030101010101" pitchFamily="2" charset="-122"/>
                  </a:rPr>
                  <a:t>V</a:t>
                </a:r>
                <a:r>
                  <a:rPr kumimoji="0" lang="en-US" altLang="zh-CN" sz="1800" b="0" baseline="-25000">
                    <a:ea typeface="宋体" panose="02010600030101010101" pitchFamily="2" charset="-122"/>
                  </a:rPr>
                  <a:t>R</a:t>
                </a:r>
                <a:endParaRPr kumimoji="0" lang="en-US" altLang="zh-CN" sz="1800" b="0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77840" name="Line 17"/>
              <p:cNvSpPr>
                <a:spLocks noChangeShapeType="1"/>
              </p:cNvSpPr>
              <p:nvPr/>
            </p:nvSpPr>
            <p:spPr bwMode="auto">
              <a:xfrm>
                <a:off x="5103" y="2977"/>
                <a:ext cx="0" cy="22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1" name="Line 18"/>
              <p:cNvSpPr>
                <a:spLocks noChangeShapeType="1"/>
              </p:cNvSpPr>
              <p:nvPr/>
            </p:nvSpPr>
            <p:spPr bwMode="auto">
              <a:xfrm>
                <a:off x="3560" y="2251"/>
                <a:ext cx="5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42" name="Line 19"/>
              <p:cNvSpPr>
                <a:spLocks noChangeShapeType="1"/>
              </p:cNvSpPr>
              <p:nvPr/>
            </p:nvSpPr>
            <p:spPr bwMode="auto">
              <a:xfrm>
                <a:off x="3560" y="2387"/>
                <a:ext cx="72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830" name="Freeform 20"/>
            <p:cNvSpPr/>
            <p:nvPr/>
          </p:nvSpPr>
          <p:spPr bwMode="auto">
            <a:xfrm>
              <a:off x="3787" y="1842"/>
              <a:ext cx="1543" cy="1134"/>
            </a:xfrm>
            <a:custGeom>
              <a:avLst/>
              <a:gdLst>
                <a:gd name="T0" fmla="*/ 0 w 1543"/>
                <a:gd name="T1" fmla="*/ 0 h 1134"/>
                <a:gd name="T2" fmla="*/ 499 w 1543"/>
                <a:gd name="T3" fmla="*/ 771 h 1134"/>
                <a:gd name="T4" fmla="*/ 1543 w 1543"/>
                <a:gd name="T5" fmla="*/ 1134 h 1134"/>
                <a:gd name="T6" fmla="*/ 0 60000 65536"/>
                <a:gd name="T7" fmla="*/ 0 60000 65536"/>
                <a:gd name="T8" fmla="*/ 0 60000 65536"/>
                <a:gd name="T9" fmla="*/ 0 w 1543"/>
                <a:gd name="T10" fmla="*/ 0 h 1134"/>
                <a:gd name="T11" fmla="*/ 1543 w 1543"/>
                <a:gd name="T12" fmla="*/ 1134 h 11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43" h="1134">
                  <a:moveTo>
                    <a:pt x="0" y="0"/>
                  </a:moveTo>
                  <a:cubicBezTo>
                    <a:pt x="121" y="291"/>
                    <a:pt x="242" y="582"/>
                    <a:pt x="499" y="771"/>
                  </a:cubicBezTo>
                  <a:cubicBezTo>
                    <a:pt x="756" y="960"/>
                    <a:pt x="1369" y="1074"/>
                    <a:pt x="1543" y="1134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“</a:t>
            </a:r>
            <a:r>
              <a:rPr lang="zh-CN" altLang="en-US"/>
              <a:t>折旧”概念在工程经济学中的应用</a:t>
            </a:r>
            <a:endParaRPr lang="zh-CN" altLang="en-US"/>
          </a:p>
        </p:txBody>
      </p:sp>
      <p:sp>
        <p:nvSpPr>
          <p:cNvPr id="7885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懂得“折旧”概念能够帮助我们：</a:t>
            </a:r>
            <a:endParaRPr lang="zh-CN" altLang="en-US"/>
          </a:p>
          <a:p>
            <a:pPr lvl="1" eaLnBrk="1" hangingPunct="1"/>
            <a:r>
              <a:rPr lang="zh-CN" altLang="en-US"/>
              <a:t>正确计算企业所得税等现金流量的信息</a:t>
            </a:r>
            <a:endParaRPr lang="zh-CN" altLang="en-US"/>
          </a:p>
          <a:p>
            <a:pPr lvl="2" eaLnBrk="1" hangingPunct="1"/>
            <a:r>
              <a:rPr lang="zh-CN" altLang="en-US"/>
              <a:t>企业所得税 ＝ 企业税前会计利润 </a:t>
            </a:r>
            <a:r>
              <a:rPr lang="en-US" altLang="zh-CN"/>
              <a:t>× </a:t>
            </a:r>
            <a:r>
              <a:rPr lang="zh-CN" altLang="en-US"/>
              <a:t>所得税率</a:t>
            </a:r>
            <a:endParaRPr lang="zh-CN" altLang="en-US"/>
          </a:p>
          <a:p>
            <a:pPr lvl="2" eaLnBrk="1" hangingPunct="1"/>
            <a:r>
              <a:rPr lang="zh-CN" altLang="en-US"/>
              <a:t>企业所得税是一种真实的现金流出</a:t>
            </a:r>
            <a:endParaRPr lang="zh-CN" altLang="en-US"/>
          </a:p>
          <a:p>
            <a:pPr lvl="2" eaLnBrk="1" hangingPunct="1"/>
            <a:endParaRPr lang="zh-CN" altLang="en-US"/>
          </a:p>
          <a:p>
            <a:pPr lvl="2" eaLnBrk="1" hangingPunct="1"/>
            <a:r>
              <a:rPr lang="zh-CN" altLang="en-US"/>
              <a:t>应纳税所得＝总收入－费用－折旧额</a:t>
            </a:r>
            <a:endParaRPr lang="zh-CN" altLang="en-US"/>
          </a:p>
          <a:p>
            <a:pPr lvl="2" eaLnBrk="1" hangingPunct="1"/>
            <a:r>
              <a:rPr lang="zh-CN" altLang="en-US"/>
              <a:t>所得税＝应纳所得</a:t>
            </a:r>
            <a:r>
              <a:rPr lang="en-US" altLang="en-US"/>
              <a:t>*</a:t>
            </a:r>
            <a:r>
              <a:rPr lang="zh-CN" altLang="en-US"/>
              <a:t>所得税率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课堂习题</a:t>
            </a:r>
            <a:endParaRPr lang="zh-CN" altLang="en-US"/>
          </a:p>
        </p:txBody>
      </p:sp>
      <p:sp>
        <p:nvSpPr>
          <p:cNvPr id="798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某设备，原始购置价值为</a:t>
            </a:r>
            <a:r>
              <a:rPr lang="en-US" altLang="zh-CN"/>
              <a:t>100</a:t>
            </a:r>
            <a:r>
              <a:rPr lang="zh-CN" altLang="en-US"/>
              <a:t>万元，残值为</a:t>
            </a:r>
            <a:r>
              <a:rPr lang="en-US" altLang="zh-CN"/>
              <a:t>5</a:t>
            </a:r>
            <a:r>
              <a:rPr lang="zh-CN" altLang="en-US"/>
              <a:t>万元。预计使用年限为：</a:t>
            </a:r>
            <a:endParaRPr lang="zh-CN" altLang="en-US"/>
          </a:p>
          <a:p>
            <a:pPr lvl="1" eaLnBrk="1" hangingPunct="1"/>
            <a:r>
              <a:rPr lang="zh-CN" altLang="en-US"/>
              <a:t>（</a:t>
            </a:r>
            <a:r>
              <a:rPr lang="en-US" altLang="zh-CN"/>
              <a:t>10</a:t>
            </a:r>
            <a:r>
              <a:rPr lang="zh-CN" altLang="en-US"/>
              <a:t>＋你的学号的最后一位数字）年</a:t>
            </a:r>
            <a:endParaRPr lang="zh-CN" altLang="en-US"/>
          </a:p>
          <a:p>
            <a:pPr lvl="1" eaLnBrk="1" hangingPunct="1"/>
            <a:endParaRPr lang="zh-CN" altLang="en-US"/>
          </a:p>
          <a:p>
            <a:pPr eaLnBrk="1" hangingPunct="1"/>
            <a:r>
              <a:rPr lang="zh-CN" altLang="en-US"/>
              <a:t>试以下面方式计算折旧：</a:t>
            </a:r>
            <a:endParaRPr lang="zh-CN" altLang="en-US"/>
          </a:p>
          <a:p>
            <a:pPr lvl="1" eaLnBrk="1" hangingPunct="1"/>
            <a:r>
              <a:rPr lang="en-US" altLang="zh-CN"/>
              <a:t>1. </a:t>
            </a:r>
            <a:r>
              <a:rPr lang="zh-CN" altLang="en-US"/>
              <a:t>直线折旧法的每年折旧额</a:t>
            </a:r>
            <a:endParaRPr lang="zh-CN" altLang="en-US"/>
          </a:p>
          <a:p>
            <a:pPr lvl="1" eaLnBrk="1" hangingPunct="1"/>
            <a:r>
              <a:rPr lang="en-US" altLang="zh-CN"/>
              <a:t>2. </a:t>
            </a:r>
            <a:r>
              <a:rPr lang="zh-CN" altLang="en-US"/>
              <a:t>年数总和法的第</a:t>
            </a:r>
            <a:r>
              <a:rPr lang="en-US" altLang="zh-CN"/>
              <a:t>2</a:t>
            </a:r>
            <a:r>
              <a:rPr lang="zh-CN" altLang="en-US"/>
              <a:t>年的折旧额</a:t>
            </a:r>
            <a:endParaRPr lang="zh-CN" altLang="en-US"/>
          </a:p>
          <a:p>
            <a:pPr lvl="1" eaLnBrk="1" hangingPunct="1"/>
            <a:r>
              <a:rPr lang="en-US" altLang="zh-CN"/>
              <a:t>3.</a:t>
            </a:r>
            <a:r>
              <a:rPr lang="zh-CN" altLang="en-US"/>
              <a:t>双倍余额递减法第</a:t>
            </a:r>
            <a:r>
              <a:rPr lang="en-US" altLang="zh-CN"/>
              <a:t>2</a:t>
            </a:r>
            <a:r>
              <a:rPr lang="zh-CN" altLang="en-US"/>
              <a:t>年的折旧额</a:t>
            </a:r>
            <a:endParaRPr lang="zh-CN" altLang="en-US"/>
          </a:p>
          <a:p>
            <a:pPr lvl="1"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eaLnBrk="1" hangingPunct="1">
              <a:buFontTx/>
              <a:buNone/>
            </a:pPr>
            <a:endParaRPr lang="zh-CN" altLang="en-US" sz="3200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zh-CN" sz="6600"/>
              <a:t>Question?</a:t>
            </a:r>
            <a:endParaRPr lang="en-US" altLang="zh-CN" sz="66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ank Presentation">
  <a:themeElements>
    <a:clrScheme name="Blank Presentation 11">
      <a:dk1>
        <a:srgbClr val="3E3E5C"/>
      </a:dk1>
      <a:lt1>
        <a:srgbClr val="FFFFFF"/>
      </a:lt1>
      <a:dk2>
        <a:srgbClr val="666699"/>
      </a:dk2>
      <a:lt2>
        <a:srgbClr val="FFFFFF"/>
      </a:lt2>
      <a:accent1>
        <a:srgbClr val="60597B"/>
      </a:accent1>
      <a:accent2>
        <a:srgbClr val="6666FF"/>
      </a:accent2>
      <a:accent3>
        <a:srgbClr val="B8B8CA"/>
      </a:accent3>
      <a:accent4>
        <a:srgbClr val="DADADA"/>
      </a:accent4>
      <a:accent5>
        <a:srgbClr val="B6B5BF"/>
      </a:accent5>
      <a:accent6>
        <a:srgbClr val="5C5CE7"/>
      </a:accent6>
      <a:hlink>
        <a:srgbClr val="99CCFF"/>
      </a:hlink>
      <a:folHlink>
        <a:srgbClr val="FFFF99"/>
      </a:folHlink>
    </a:clrScheme>
    <a:fontScheme name="Blank Presentation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9329</Words>
  <Application>WPS 演示</Application>
  <PresentationFormat>全屏显示(4:3)</PresentationFormat>
  <Paragraphs>1064</Paragraphs>
  <Slides>59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6" baseType="lpstr">
      <vt:lpstr>Arial</vt:lpstr>
      <vt:lpstr>宋体</vt:lpstr>
      <vt:lpstr>Wingdings</vt:lpstr>
      <vt:lpstr>Times New Roman</vt:lpstr>
      <vt:lpstr>Times</vt:lpstr>
      <vt:lpstr>楷体_GB2312</vt:lpstr>
      <vt:lpstr>楷体_GB2312</vt:lpstr>
      <vt:lpstr>仿宋</vt:lpstr>
      <vt:lpstr>华文新魏</vt:lpstr>
      <vt:lpstr>方正舒体</vt:lpstr>
      <vt:lpstr>新宋体</vt:lpstr>
      <vt:lpstr>微软雅黑</vt:lpstr>
      <vt:lpstr>Arial Unicode MS</vt:lpstr>
      <vt:lpstr>黑体</vt:lpstr>
      <vt:lpstr>方正姚体</vt:lpstr>
      <vt:lpstr>Blank Presentation</vt:lpstr>
      <vt:lpstr>MS_ClipArt_Gallery.2</vt:lpstr>
      <vt:lpstr>港珠澳大桥</vt:lpstr>
      <vt:lpstr>港珠澳大桥</vt:lpstr>
      <vt:lpstr>港珠澳大桥</vt:lpstr>
      <vt:lpstr>港珠澳大桥海外造岛</vt:lpstr>
      <vt:lpstr>港珠澳大桥</vt:lpstr>
      <vt:lpstr>港珠澳大桥</vt:lpstr>
      <vt:lpstr>港珠澳大桥</vt:lpstr>
      <vt:lpstr>PowerPoint 演示文稿</vt:lpstr>
      <vt:lpstr>北川新县城重建资金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固定成本与可变成本</vt:lpstr>
      <vt:lpstr>固定成本 与 可变成本</vt:lpstr>
      <vt:lpstr>一个简单的线性成本函数</vt:lpstr>
      <vt:lpstr>一个简单的线性成本函数</vt:lpstr>
      <vt:lpstr>Case:同学A送三个同学回家, 距离400英里,该收多少? </vt:lpstr>
      <vt:lpstr>同学A计算</vt:lpstr>
      <vt:lpstr>三同学计算</vt:lpstr>
      <vt:lpstr>同学A 再次计算</vt:lpstr>
      <vt:lpstr>直接成本和间接成本</vt:lpstr>
      <vt:lpstr>以房地产开发项目为例：成本构成</vt:lpstr>
      <vt:lpstr>以房地产开发项目为例：成本构成</vt:lpstr>
      <vt:lpstr>PowerPoint 演示文稿</vt:lpstr>
      <vt:lpstr>北京万科</vt:lpstr>
      <vt:lpstr>成本发生在不同层面</vt:lpstr>
      <vt:lpstr>机会成本</vt:lpstr>
      <vt:lpstr>沉没成本</vt:lpstr>
      <vt:lpstr>CASE:中国取消与空客约百亿美元飞机订单</vt:lpstr>
      <vt:lpstr>PowerPoint 演示文稿</vt:lpstr>
      <vt:lpstr>Life Cycle Costs</vt:lpstr>
      <vt:lpstr>成本视角</vt:lpstr>
      <vt:lpstr>会计学中的成本</vt:lpstr>
      <vt:lpstr>万科Ａ(000002):2007年半年度报告</vt:lpstr>
      <vt:lpstr>工程经济学中的成本</vt:lpstr>
      <vt:lpstr>“会计师”与“经济学家”</vt:lpstr>
      <vt:lpstr>PowerPoint 演示文稿</vt:lpstr>
      <vt:lpstr>会计学中的基本名词 (1) </vt:lpstr>
      <vt:lpstr>一家制造企业的模拟“资产负债表”</vt:lpstr>
      <vt:lpstr>三峡总公司资产</vt:lpstr>
      <vt:lpstr>会计学中的基本名词 (2)</vt:lpstr>
      <vt:lpstr>会计学中的基本名词 (2)</vt:lpstr>
      <vt:lpstr>折旧  Depreciation (1)</vt:lpstr>
      <vt:lpstr>折旧  Depreciation (2)</vt:lpstr>
      <vt:lpstr>例子：汽车的折旧</vt:lpstr>
      <vt:lpstr>为什么要折旧？——三种角度的思考</vt:lpstr>
      <vt:lpstr>四种计算折旧方法</vt:lpstr>
      <vt:lpstr>1.直线折旧法（年限平均法）</vt:lpstr>
      <vt:lpstr>2. 工作量法</vt:lpstr>
      <vt:lpstr>3.双倍余额递减法</vt:lpstr>
      <vt:lpstr>3.双倍余额递减法</vt:lpstr>
      <vt:lpstr>4. 年数总和法</vt:lpstr>
      <vt:lpstr>4. 年数总和法</vt:lpstr>
      <vt:lpstr>为什么采用加速折旧的方法？</vt:lpstr>
      <vt:lpstr>“折旧”概念在工程经济学中的应用</vt:lpstr>
      <vt:lpstr>课堂习题</vt:lpstr>
      <vt:lpstr>PowerPoint 演示文稿</vt:lpstr>
    </vt:vector>
  </TitlesOfParts>
  <Company>KAGAN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LESLIE KAGAN</dc:creator>
  <cp:lastModifiedBy>Administrator</cp:lastModifiedBy>
  <cp:revision>1075</cp:revision>
  <dcterms:created xsi:type="dcterms:W3CDTF">2006-03-30T18:33:00Z</dcterms:created>
  <dcterms:modified xsi:type="dcterms:W3CDTF">2019-09-18T08:21:28Z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2052-11.1.0.8986</vt:lpwstr>
  </property>
</Properties>
</file>